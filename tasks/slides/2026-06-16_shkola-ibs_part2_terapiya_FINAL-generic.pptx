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10.bin" ContentType="image/x-emf"/>
  <Override PartName="/ppt/tags/tag6.xml" ContentType="application/vnd.openxmlformats-officedocument.presentationml.tags+xml"/>
  <Override PartName="/ppt/media/image11.bin" ContentType="image/svg+xml"/>
  <Override PartName="/ppt/media/image12.bin" ContentType="image/svg+xml"/>
  <Override PartName="/ppt/tags/tag7.xml" ContentType="application/vnd.openxmlformats-officedocument.presentationml.tags+xml"/>
  <Override PartName="/ppt/media/image13.bin" ContentType="image/sv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heme/theme6.xml" ContentType="application/vnd.openxmlformats-officedocument.theme+xml"/>
  <Override PartName="/ppt/tags/tag1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0.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1.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1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notesSlides/notesSlide2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3.xml" ContentType="application/vnd.openxmlformats-officedocument.drawingml.chartshapes+xml"/>
  <Override PartName="/ppt/tags/tag113.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7.xml" ContentType="application/vnd.openxmlformats-officedocument.drawingml.chart+xml"/>
  <Override PartName="/ppt/theme/themeOverride1.xml" ContentType="application/vnd.openxmlformats-officedocument.themeOverride+xml"/>
  <Override PartName="/ppt/charts/chart8.xml" ContentType="application/vnd.openxmlformats-officedocument.drawingml.chart+xml"/>
  <Override PartName="/ppt/theme/themeOverride2.xml" ContentType="application/vnd.openxmlformats-officedocument.themeOverride+xml"/>
  <Override PartName="/ppt/charts/chart9.xml" ContentType="application/vnd.openxmlformats-officedocument.drawingml.chart+xml"/>
  <Override PartName="/ppt/theme/themeOverride3.xml" ContentType="application/vnd.openxmlformats-officedocument.themeOverride+xml"/>
  <Override PartName="/ppt/tags/tag11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15.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16.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17.xml" ContentType="application/vnd.openxmlformats-officedocument.presentationml.tags+xml"/>
  <Override PartName="/ppt/notesSlides/notesSlide43.xml" ContentType="application/vnd.openxmlformats-officedocument.presentationml.notesSlid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705" r:id="rId3"/>
    <p:sldMasterId id="2147483709" r:id="rId4"/>
    <p:sldMasterId id="2147483765" r:id="rId5"/>
  </p:sldMasterIdLst>
  <p:notesMasterIdLst>
    <p:notesMasterId r:id="rId83"/>
  </p:notesMasterIdLst>
  <p:sldIdLst>
    <p:sldId id="2147483547" r:id="rId6"/>
    <p:sldId id="2147483548" r:id="rId7"/>
    <p:sldId id="2147483506" r:id="rId8"/>
    <p:sldId id="2147473270" r:id="rId9"/>
    <p:sldId id="2147473248" r:id="rId10"/>
    <p:sldId id="2147473171" r:id="rId11"/>
    <p:sldId id="2147483546" r:id="rId12"/>
    <p:sldId id="3512" r:id="rId13"/>
    <p:sldId id="2147473664" r:id="rId14"/>
    <p:sldId id="259" r:id="rId15"/>
    <p:sldId id="2147483495" r:id="rId16"/>
    <p:sldId id="5578" r:id="rId17"/>
    <p:sldId id="394" r:id="rId18"/>
    <p:sldId id="4173" r:id="rId19"/>
    <p:sldId id="2141411992" r:id="rId20"/>
    <p:sldId id="2147483497" r:id="rId21"/>
    <p:sldId id="2144447618" r:id="rId22"/>
    <p:sldId id="2147483524" r:id="rId23"/>
    <p:sldId id="2147483498" r:id="rId24"/>
    <p:sldId id="2147483527" r:id="rId25"/>
    <p:sldId id="642" r:id="rId26"/>
    <p:sldId id="2147483514" r:id="rId27"/>
    <p:sldId id="2147483528" r:id="rId28"/>
    <p:sldId id="2147483529" r:id="rId29"/>
    <p:sldId id="2147483526" r:id="rId30"/>
    <p:sldId id="2147483503" r:id="rId31"/>
    <p:sldId id="2147483505" r:id="rId32"/>
    <p:sldId id="2147483499" r:id="rId33"/>
    <p:sldId id="2147483500" r:id="rId34"/>
    <p:sldId id="2147483502" r:id="rId35"/>
    <p:sldId id="2147483496" r:id="rId36"/>
    <p:sldId id="2147483555" r:id="rId37"/>
    <p:sldId id="2147483516" r:id="rId38"/>
    <p:sldId id="2147483509" r:id="rId39"/>
    <p:sldId id="2147483510" r:id="rId40"/>
    <p:sldId id="2147483511" r:id="rId41"/>
    <p:sldId id="2147483512" r:id="rId42"/>
    <p:sldId id="3515" r:id="rId43"/>
    <p:sldId id="2141411542" r:id="rId44"/>
    <p:sldId id="2141412010" r:id="rId45"/>
    <p:sldId id="2141411546" r:id="rId46"/>
    <p:sldId id="2147483530" r:id="rId47"/>
    <p:sldId id="271" r:id="rId48"/>
    <p:sldId id="263" r:id="rId49"/>
    <p:sldId id="264" r:id="rId50"/>
    <p:sldId id="265" r:id="rId51"/>
    <p:sldId id="2147483531" r:id="rId52"/>
    <p:sldId id="269" r:id="rId53"/>
    <p:sldId id="5579" r:id="rId54"/>
    <p:sldId id="2147483536" r:id="rId55"/>
    <p:sldId id="2141411554" r:id="rId56"/>
    <p:sldId id="2147483517" r:id="rId57"/>
    <p:sldId id="256" r:id="rId58"/>
    <p:sldId id="2147483554" r:id="rId59"/>
    <p:sldId id="258" r:id="rId60"/>
    <p:sldId id="2147483537" r:id="rId61"/>
    <p:sldId id="2147483507" r:id="rId62"/>
    <p:sldId id="257" r:id="rId63"/>
    <p:sldId id="2147483545" r:id="rId64"/>
    <p:sldId id="2147483543" r:id="rId65"/>
    <p:sldId id="2147483550" r:id="rId66"/>
    <p:sldId id="2147483551" r:id="rId67"/>
    <p:sldId id="2147483538" r:id="rId68"/>
    <p:sldId id="2147483542" r:id="rId69"/>
    <p:sldId id="1948345360" r:id="rId70"/>
    <p:sldId id="261" r:id="rId71"/>
    <p:sldId id="2147483552" r:id="rId72"/>
    <p:sldId id="260" r:id="rId73"/>
    <p:sldId id="1948345361" r:id="rId74"/>
    <p:sldId id="2147473335" r:id="rId75"/>
    <p:sldId id="2147483539" r:id="rId76"/>
    <p:sldId id="2147483540" r:id="rId77"/>
    <p:sldId id="2147483553" r:id="rId78"/>
    <p:sldId id="2147483541" r:id="rId79"/>
    <p:sldId id="2147483520" r:id="rId80"/>
    <p:sldId id="2147483549" r:id="rId81"/>
    <p:sldId id="2147474080" r:id="rId8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F802D0-B917-44CD-8262-BEC0ED4192CE}" v="1" dt="2026-08-26T18:43:49.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1225" y="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geny Aronov" userId="5a3f2c2d-7cb3-4639-98f6-49ea1b95a8be" providerId="ADAL" clId="{7A0B7755-50D3-447F-A517-839583F34A5D}"/>
    <pc:docChg chg="undo custSel addSld delSld modSld sldOrd delMainMaster modMainMaster">
      <pc:chgData name="Evgeny Aronov" userId="5a3f2c2d-7cb3-4639-98f6-49ea1b95a8be" providerId="ADAL" clId="{7A0B7755-50D3-447F-A517-839583F34A5D}" dt="2026-08-26T18:43:53.170" v="813" actId="47"/>
      <pc:docMkLst>
        <pc:docMk/>
      </pc:docMkLst>
      <pc:sldChg chg="add">
        <pc:chgData name="Evgeny Aronov" userId="5a3f2c2d-7cb3-4639-98f6-49ea1b95a8be" providerId="ADAL" clId="{7A0B7755-50D3-447F-A517-839583F34A5D}" dt="2026-08-19T10:58:23.631" v="808"/>
        <pc:sldMkLst>
          <pc:docMk/>
          <pc:sldMk cId="0" sldId="256"/>
        </pc:sldMkLst>
      </pc:sldChg>
      <pc:sldChg chg="add del">
        <pc:chgData name="Evgeny Aronov" userId="5a3f2c2d-7cb3-4639-98f6-49ea1b95a8be" providerId="ADAL" clId="{7A0B7755-50D3-447F-A517-839583F34A5D}" dt="2026-08-19T10:58:23.631" v="808"/>
        <pc:sldMkLst>
          <pc:docMk/>
          <pc:sldMk cId="0" sldId="258"/>
        </pc:sldMkLst>
      </pc:sldChg>
      <pc:sldChg chg="modSp mod modClrScheme chgLayout">
        <pc:chgData name="Evgeny Aronov" userId="5a3f2c2d-7cb3-4639-98f6-49ea1b95a8be" providerId="ADAL" clId="{7A0B7755-50D3-447F-A517-839583F34A5D}" dt="2026-08-19T10:45:56.159" v="750"/>
        <pc:sldMkLst>
          <pc:docMk/>
          <pc:sldMk cId="2248755173" sldId="2141412010"/>
        </pc:sldMkLst>
        <pc:spChg chg="mod ord">
          <ac:chgData name="Evgeny Aronov" userId="5a3f2c2d-7cb3-4639-98f6-49ea1b95a8be" providerId="ADAL" clId="{7A0B7755-50D3-447F-A517-839583F34A5D}" dt="2026-08-19T10:45:56.159" v="750"/>
          <ac:spMkLst>
            <pc:docMk/>
            <pc:sldMk cId="2248755173" sldId="2141412010"/>
            <ac:spMk id="10" creationId="{569BC739-A190-316F-EE9C-FB5ED68D8E91}"/>
          </ac:spMkLst>
        </pc:spChg>
        <pc:spChg chg="mod ord">
          <ac:chgData name="Evgeny Aronov" userId="5a3f2c2d-7cb3-4639-98f6-49ea1b95a8be" providerId="ADAL" clId="{7A0B7755-50D3-447F-A517-839583F34A5D}" dt="2026-08-19T10:45:56.159" v="750"/>
          <ac:spMkLst>
            <pc:docMk/>
            <pc:sldMk cId="2248755173" sldId="2141412010"/>
            <ac:spMk id="17" creationId="{1F14B9AC-4480-5F55-3E2F-33FFADE67D9E}"/>
          </ac:spMkLst>
        </pc:spChg>
      </pc:sldChg>
      <pc:sldChg chg="mod modClrScheme chgLayout">
        <pc:chgData name="Evgeny Aronov" userId="5a3f2c2d-7cb3-4639-98f6-49ea1b95a8be" providerId="ADAL" clId="{7A0B7755-50D3-447F-A517-839583F34A5D}" dt="2026-08-19T10:45:56.159" v="750"/>
        <pc:sldMkLst>
          <pc:docMk/>
          <pc:sldMk cId="2763822162" sldId="2147473335"/>
        </pc:sldMkLst>
      </pc:sldChg>
      <pc:sldChg chg="modSp mod">
        <pc:chgData name="Evgeny Aronov" userId="5a3f2c2d-7cb3-4639-98f6-49ea1b95a8be" providerId="ADAL" clId="{7A0B7755-50D3-447F-A517-839583F34A5D}" dt="2026-08-19T10:46:35.846" v="770" actId="20577"/>
        <pc:sldMkLst>
          <pc:docMk/>
          <pc:sldMk cId="21470255" sldId="2147483514"/>
        </pc:sldMkLst>
        <pc:spChg chg="mod">
          <ac:chgData name="Evgeny Aronov" userId="5a3f2c2d-7cb3-4639-98f6-49ea1b95a8be" providerId="ADAL" clId="{7A0B7755-50D3-447F-A517-839583F34A5D}" dt="2026-08-19T10:46:35.846" v="770" actId="20577"/>
          <ac:spMkLst>
            <pc:docMk/>
            <pc:sldMk cId="21470255" sldId="2147483514"/>
            <ac:spMk id="227" creationId="{00000000-0000-0000-0000-000000000000}"/>
          </ac:spMkLst>
        </pc:spChg>
      </pc:sldChg>
      <pc:sldChg chg="del">
        <pc:chgData name="Evgeny Aronov" userId="5a3f2c2d-7cb3-4639-98f6-49ea1b95a8be" providerId="ADAL" clId="{7A0B7755-50D3-447F-A517-839583F34A5D}" dt="2026-08-26T18:43:53.170" v="813" actId="47"/>
        <pc:sldMkLst>
          <pc:docMk/>
          <pc:sldMk cId="3974678207" sldId="2147483518"/>
        </pc:sldMkLst>
      </pc:sldChg>
      <pc:sldChg chg="modSp mod modClrScheme chgLayout">
        <pc:chgData name="Evgeny Aronov" userId="5a3f2c2d-7cb3-4639-98f6-49ea1b95a8be" providerId="ADAL" clId="{7A0B7755-50D3-447F-A517-839583F34A5D}" dt="2026-08-19T10:45:56.159" v="750"/>
        <pc:sldMkLst>
          <pc:docMk/>
          <pc:sldMk cId="2215765106" sldId="2147483539"/>
        </pc:sldMkLst>
        <pc:spChg chg="mod ord">
          <ac:chgData name="Evgeny Aronov" userId="5a3f2c2d-7cb3-4639-98f6-49ea1b95a8be" providerId="ADAL" clId="{7A0B7755-50D3-447F-A517-839583F34A5D}" dt="2026-08-19T10:45:56.159" v="750"/>
          <ac:spMkLst>
            <pc:docMk/>
            <pc:sldMk cId="2215765106" sldId="2147483539"/>
            <ac:spMk id="2" creationId="{8DE96189-526A-8D02-F5C0-3F57AC9CE25F}"/>
          </ac:spMkLst>
        </pc:spChg>
      </pc:sldChg>
      <pc:sldChg chg="addSp delSp modSp add mod">
        <pc:chgData name="Evgeny Aronov" userId="5a3f2c2d-7cb3-4639-98f6-49ea1b95a8be" providerId="ADAL" clId="{7A0B7755-50D3-447F-A517-839583F34A5D}" dt="2026-08-21T09:28:19.700" v="809" actId="478"/>
        <pc:sldMkLst>
          <pc:docMk/>
          <pc:sldMk cId="1152746219" sldId="2147483547"/>
        </pc:sldMkLst>
        <pc:spChg chg="add mod">
          <ac:chgData name="Evgeny Aronov" userId="5a3f2c2d-7cb3-4639-98f6-49ea1b95a8be" providerId="ADAL" clId="{7A0B7755-50D3-447F-A517-839583F34A5D}" dt="2026-08-19T10:46:01.172" v="752" actId="1076"/>
          <ac:spMkLst>
            <pc:docMk/>
            <pc:sldMk cId="1152746219" sldId="2147483547"/>
            <ac:spMk id="2" creationId="{2226377C-1327-5A57-0C9D-1CD8576BF87A}"/>
          </ac:spMkLst>
        </pc:spChg>
      </pc:sldChg>
      <pc:sldChg chg="modSp add mod">
        <pc:chgData name="Evgeny Aronov" userId="5a3f2c2d-7cb3-4639-98f6-49ea1b95a8be" providerId="ADAL" clId="{7A0B7755-50D3-447F-A517-839583F34A5D}" dt="2026-08-19T10:56:08.250" v="802" actId="207"/>
        <pc:sldMkLst>
          <pc:docMk/>
          <pc:sldMk cId="0" sldId="2147483550"/>
        </pc:sldMkLst>
        <pc:spChg chg="mod">
          <ac:chgData name="Evgeny Aronov" userId="5a3f2c2d-7cb3-4639-98f6-49ea1b95a8be" providerId="ADAL" clId="{7A0B7755-50D3-447F-A517-839583F34A5D}" dt="2026-08-19T10:55:59.226" v="800" actId="948"/>
          <ac:spMkLst>
            <pc:docMk/>
            <pc:sldMk cId="0" sldId="2147483550"/>
            <ac:spMk id="20" creationId="{00000000-0000-0000-0000-000000000000}"/>
          </ac:spMkLst>
        </pc:spChg>
        <pc:spChg chg="mod">
          <ac:chgData name="Evgeny Aronov" userId="5a3f2c2d-7cb3-4639-98f6-49ea1b95a8be" providerId="ADAL" clId="{7A0B7755-50D3-447F-A517-839583F34A5D}" dt="2026-08-19T10:56:08.250" v="802" actId="207"/>
          <ac:spMkLst>
            <pc:docMk/>
            <pc:sldMk cId="0" sldId="2147483550"/>
            <ac:spMk id="21" creationId="{00000000-0000-0000-0000-000000000000}"/>
          </ac:spMkLst>
        </pc:spChg>
      </pc:sldChg>
      <pc:sldChg chg="modSp add mod">
        <pc:chgData name="Evgeny Aronov" userId="5a3f2c2d-7cb3-4639-98f6-49ea1b95a8be" providerId="ADAL" clId="{7A0B7755-50D3-447F-A517-839583F34A5D}" dt="2026-08-19T10:56:24.034" v="804" actId="14100"/>
        <pc:sldMkLst>
          <pc:docMk/>
          <pc:sldMk cId="0" sldId="2147483551"/>
        </pc:sldMkLst>
        <pc:spChg chg="mod">
          <ac:chgData name="Evgeny Aronov" userId="5a3f2c2d-7cb3-4639-98f6-49ea1b95a8be" providerId="ADAL" clId="{7A0B7755-50D3-447F-A517-839583F34A5D}" dt="2026-08-19T10:54:20.269" v="788" actId="20577"/>
          <ac:spMkLst>
            <pc:docMk/>
            <pc:sldMk cId="0" sldId="2147483551"/>
            <ac:spMk id="7" creationId="{00000000-0000-0000-0000-000000000000}"/>
          </ac:spMkLst>
        </pc:spChg>
        <pc:spChg chg="mod">
          <ac:chgData name="Evgeny Aronov" userId="5a3f2c2d-7cb3-4639-98f6-49ea1b95a8be" providerId="ADAL" clId="{7A0B7755-50D3-447F-A517-839583F34A5D}" dt="2026-08-19T10:54:48.247" v="793" actId="255"/>
          <ac:spMkLst>
            <pc:docMk/>
            <pc:sldMk cId="0" sldId="2147483551"/>
            <ac:spMk id="12" creationId="{00000000-0000-0000-0000-000000000000}"/>
          </ac:spMkLst>
        </pc:spChg>
        <pc:spChg chg="mod">
          <ac:chgData name="Evgeny Aronov" userId="5a3f2c2d-7cb3-4639-98f6-49ea1b95a8be" providerId="ADAL" clId="{7A0B7755-50D3-447F-A517-839583F34A5D}" dt="2026-08-19T10:56:24.034" v="804" actId="14100"/>
          <ac:spMkLst>
            <pc:docMk/>
            <pc:sldMk cId="0" sldId="2147483551"/>
            <ac:spMk id="14" creationId="{00000000-0000-0000-0000-000000000000}"/>
          </ac:spMkLst>
        </pc:spChg>
        <pc:spChg chg="mod">
          <ac:chgData name="Evgeny Aronov" userId="5a3f2c2d-7cb3-4639-98f6-49ea1b95a8be" providerId="ADAL" clId="{7A0B7755-50D3-447F-A517-839583F34A5D}" dt="2026-08-19T10:55:09.606" v="795" actId="255"/>
          <ac:spMkLst>
            <pc:docMk/>
            <pc:sldMk cId="0" sldId="2147483551"/>
            <ac:spMk id="18" creationId="{00000000-0000-0000-0000-000000000000}"/>
          </ac:spMkLst>
        </pc:spChg>
        <pc:spChg chg="mod">
          <ac:chgData name="Evgeny Aronov" userId="5a3f2c2d-7cb3-4639-98f6-49ea1b95a8be" providerId="ADAL" clId="{7A0B7755-50D3-447F-A517-839583F34A5D}" dt="2026-08-19T10:55:21.719" v="797" actId="255"/>
          <ac:spMkLst>
            <pc:docMk/>
            <pc:sldMk cId="0" sldId="2147483551"/>
            <ac:spMk id="19" creationId="{00000000-0000-0000-0000-000000000000}"/>
          </ac:spMkLst>
        </pc:spChg>
      </pc:sldChg>
      <pc:sldChg chg="add">
        <pc:chgData name="Evgeny Aronov" userId="5a3f2c2d-7cb3-4639-98f6-49ea1b95a8be" providerId="ADAL" clId="{7A0B7755-50D3-447F-A517-839583F34A5D}" dt="2026-08-19T10:57:09.826" v="805"/>
        <pc:sldMkLst>
          <pc:docMk/>
          <pc:sldMk cId="0" sldId="2147483552"/>
        </pc:sldMkLst>
      </pc:sldChg>
      <pc:sldChg chg="add">
        <pc:chgData name="Evgeny Aronov" userId="5a3f2c2d-7cb3-4639-98f6-49ea1b95a8be" providerId="ADAL" clId="{7A0B7755-50D3-447F-A517-839583F34A5D}" dt="2026-08-19T10:57:42.297" v="807"/>
        <pc:sldMkLst>
          <pc:docMk/>
          <pc:sldMk cId="0" sldId="2147483553"/>
        </pc:sldMkLst>
      </pc:sldChg>
      <pc:sldChg chg="add">
        <pc:chgData name="Evgeny Aronov" userId="5a3f2c2d-7cb3-4639-98f6-49ea1b95a8be" providerId="ADAL" clId="{7A0B7755-50D3-447F-A517-839583F34A5D}" dt="2026-08-19T10:58:23.631" v="808"/>
        <pc:sldMkLst>
          <pc:docMk/>
          <pc:sldMk cId="0" sldId="2147483554"/>
        </pc:sldMkLst>
      </pc:sldChg>
      <pc:sldChg chg="add">
        <pc:chgData name="Evgeny Aronov" userId="5a3f2c2d-7cb3-4639-98f6-49ea1b95a8be" providerId="ADAL" clId="{7A0B7755-50D3-447F-A517-839583F34A5D}" dt="2026-08-26T18:43:49.333" v="812"/>
        <pc:sldMkLst>
          <pc:docMk/>
          <pc:sldMk cId="1144765058" sldId="2147483555"/>
        </pc:sldMkLst>
      </pc:sldChg>
      <pc:sldMasterChg chg="modSldLayout sldLayoutOrd">
        <pc:chgData name="Evgeny Aronov" userId="5a3f2c2d-7cb3-4639-98f6-49ea1b95a8be" providerId="ADAL" clId="{7A0B7755-50D3-447F-A517-839583F34A5D}" dt="2026-08-19T10:45:56.102" v="748"/>
        <pc:sldMasterMkLst>
          <pc:docMk/>
          <pc:sldMasterMk cId="3203799579" sldId="2147483660"/>
        </pc:sldMasterMkLst>
        <pc:sldLayoutChg chg="modSp mod ord">
          <pc:chgData name="Evgeny Aronov" userId="5a3f2c2d-7cb3-4639-98f6-49ea1b95a8be" providerId="ADAL" clId="{7A0B7755-50D3-447F-A517-839583F34A5D}" dt="2026-08-19T10:45:56.102" v="748"/>
          <pc:sldLayoutMkLst>
            <pc:docMk/>
            <pc:sldMasterMk cId="3203799579" sldId="2147483660"/>
            <pc:sldLayoutMk cId="3816946497" sldId="2147483676"/>
          </pc:sldLayoutMkLst>
          <pc:spChg chg="mod">
            <ac:chgData name="Evgeny Aronov" userId="5a3f2c2d-7cb3-4639-98f6-49ea1b95a8be" providerId="ADAL" clId="{7A0B7755-50D3-447F-A517-839583F34A5D}" dt="2026-08-19T10:45:56.102" v="748"/>
            <ac:spMkLst>
              <pc:docMk/>
              <pc:sldMasterMk cId="3203799579" sldId="2147483660"/>
              <pc:sldLayoutMk cId="3816946497" sldId="2147483676"/>
              <ac:spMk id="2" creationId="{65072846-C629-ED64-D3C1-FD5EEDC158F2}"/>
            </ac:spMkLst>
          </pc:spChg>
          <pc:spChg chg="mod">
            <ac:chgData name="Evgeny Aronov" userId="5a3f2c2d-7cb3-4639-98f6-49ea1b95a8be" providerId="ADAL" clId="{7A0B7755-50D3-447F-A517-839583F34A5D}" dt="2026-08-19T10:45:56.102" v="748"/>
            <ac:spMkLst>
              <pc:docMk/>
              <pc:sldMasterMk cId="3203799579" sldId="2147483660"/>
              <pc:sldLayoutMk cId="3816946497" sldId="2147483676"/>
              <ac:spMk id="3" creationId="{558941CE-3213-81D2-42D9-2BEABCD65617}"/>
            </ac:spMkLst>
          </pc:spChg>
          <pc:spChg chg="mod">
            <ac:chgData name="Evgeny Aronov" userId="5a3f2c2d-7cb3-4639-98f6-49ea1b95a8be" providerId="ADAL" clId="{7A0B7755-50D3-447F-A517-839583F34A5D}" dt="2026-08-19T10:45:56.102" v="748"/>
            <ac:spMkLst>
              <pc:docMk/>
              <pc:sldMasterMk cId="3203799579" sldId="2147483660"/>
              <pc:sldLayoutMk cId="3816946497" sldId="2147483676"/>
              <ac:spMk id="4" creationId="{885B90EB-691A-4D66-8305-6E174F3B8FD9}"/>
            </ac:spMkLst>
          </pc:spChg>
          <pc:spChg chg="mod">
            <ac:chgData name="Evgeny Aronov" userId="5a3f2c2d-7cb3-4639-98f6-49ea1b95a8be" providerId="ADAL" clId="{7A0B7755-50D3-447F-A517-839583F34A5D}" dt="2026-08-19T10:45:56.102" v="748"/>
            <ac:spMkLst>
              <pc:docMk/>
              <pc:sldMasterMk cId="3203799579" sldId="2147483660"/>
              <pc:sldLayoutMk cId="3816946497" sldId="2147483676"/>
              <ac:spMk id="5" creationId="{D110032E-FC0B-0666-20EC-9D1984357463}"/>
            </ac:spMkLst>
          </pc:spChg>
          <pc:spChg chg="mod">
            <ac:chgData name="Evgeny Aronov" userId="5a3f2c2d-7cb3-4639-98f6-49ea1b95a8be" providerId="ADAL" clId="{7A0B7755-50D3-447F-A517-839583F34A5D}" dt="2026-08-19T10:45:56.102" v="748"/>
            <ac:spMkLst>
              <pc:docMk/>
              <pc:sldMasterMk cId="3203799579" sldId="2147483660"/>
              <pc:sldLayoutMk cId="3816946497" sldId="2147483676"/>
              <ac:spMk id="6" creationId="{3C695B60-912C-F8EB-BFB8-1B661765C8EB}"/>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2569143769" sldId="2147483677"/>
          </pc:sldLayoutMkLst>
          <pc:spChg chg="mod">
            <ac:chgData name="Evgeny Aronov" userId="5a3f2c2d-7cb3-4639-98f6-49ea1b95a8be" providerId="ADAL" clId="{7A0B7755-50D3-447F-A517-839583F34A5D}" dt="2026-08-19T10:45:56.102" v="748"/>
            <ac:spMkLst>
              <pc:docMk/>
              <pc:sldMasterMk cId="3203799579" sldId="2147483660"/>
              <pc:sldLayoutMk cId="2569143769" sldId="2147483677"/>
              <ac:spMk id="2" creationId="{83A4B9B8-7D64-6A81-70CF-210CED6862E2}"/>
            </ac:spMkLst>
          </pc:spChg>
          <pc:spChg chg="mod">
            <ac:chgData name="Evgeny Aronov" userId="5a3f2c2d-7cb3-4639-98f6-49ea1b95a8be" providerId="ADAL" clId="{7A0B7755-50D3-447F-A517-839583F34A5D}" dt="2026-08-19T10:45:56.102" v="748"/>
            <ac:spMkLst>
              <pc:docMk/>
              <pc:sldMasterMk cId="3203799579" sldId="2147483660"/>
              <pc:sldLayoutMk cId="2569143769" sldId="2147483677"/>
              <ac:spMk id="3" creationId="{02CDF28A-7975-95D1-4E3F-589311E6FAD7}"/>
            </ac:spMkLst>
          </pc:spChg>
          <pc:spChg chg="mod">
            <ac:chgData name="Evgeny Aronov" userId="5a3f2c2d-7cb3-4639-98f6-49ea1b95a8be" providerId="ADAL" clId="{7A0B7755-50D3-447F-A517-839583F34A5D}" dt="2026-08-19T10:45:56.102" v="748"/>
            <ac:spMkLst>
              <pc:docMk/>
              <pc:sldMasterMk cId="3203799579" sldId="2147483660"/>
              <pc:sldLayoutMk cId="2569143769" sldId="2147483677"/>
              <ac:spMk id="4" creationId="{14147639-720F-6376-BE49-945C1896DC5A}"/>
            </ac:spMkLst>
          </pc:spChg>
          <pc:spChg chg="mod">
            <ac:chgData name="Evgeny Aronov" userId="5a3f2c2d-7cb3-4639-98f6-49ea1b95a8be" providerId="ADAL" clId="{7A0B7755-50D3-447F-A517-839583F34A5D}" dt="2026-08-19T10:45:56.102" v="748"/>
            <ac:spMkLst>
              <pc:docMk/>
              <pc:sldMasterMk cId="3203799579" sldId="2147483660"/>
              <pc:sldLayoutMk cId="2569143769" sldId="2147483677"/>
              <ac:spMk id="5" creationId="{0BD5AA2E-8F26-8E11-A384-2E1A975D62B5}"/>
            </ac:spMkLst>
          </pc:spChg>
          <pc:spChg chg="mod">
            <ac:chgData name="Evgeny Aronov" userId="5a3f2c2d-7cb3-4639-98f6-49ea1b95a8be" providerId="ADAL" clId="{7A0B7755-50D3-447F-A517-839583F34A5D}" dt="2026-08-19T10:45:56.102" v="748"/>
            <ac:spMkLst>
              <pc:docMk/>
              <pc:sldMasterMk cId="3203799579" sldId="2147483660"/>
              <pc:sldLayoutMk cId="2569143769" sldId="2147483677"/>
              <ac:spMk id="6" creationId="{1655E316-7FBC-602D-2DDF-CC03115AFE8C}"/>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226220643" sldId="2147483678"/>
          </pc:sldLayoutMkLst>
          <pc:spChg chg="mod">
            <ac:chgData name="Evgeny Aronov" userId="5a3f2c2d-7cb3-4639-98f6-49ea1b95a8be" providerId="ADAL" clId="{7A0B7755-50D3-447F-A517-839583F34A5D}" dt="2026-08-19T10:45:56.102" v="748"/>
            <ac:spMkLst>
              <pc:docMk/>
              <pc:sldMasterMk cId="3203799579" sldId="2147483660"/>
              <pc:sldLayoutMk cId="226220643" sldId="2147483678"/>
              <ac:spMk id="2" creationId="{4E8813BE-2AB6-95C6-DF84-C5E87DEB84A8}"/>
            </ac:spMkLst>
          </pc:spChg>
          <pc:spChg chg="mod">
            <ac:chgData name="Evgeny Aronov" userId="5a3f2c2d-7cb3-4639-98f6-49ea1b95a8be" providerId="ADAL" clId="{7A0B7755-50D3-447F-A517-839583F34A5D}" dt="2026-08-19T10:45:56.102" v="748"/>
            <ac:spMkLst>
              <pc:docMk/>
              <pc:sldMasterMk cId="3203799579" sldId="2147483660"/>
              <pc:sldLayoutMk cId="226220643" sldId="2147483678"/>
              <ac:spMk id="3" creationId="{27B2A917-2C36-BF19-98EC-EE4671A2D742}"/>
            </ac:spMkLst>
          </pc:spChg>
          <pc:spChg chg="mod">
            <ac:chgData name="Evgeny Aronov" userId="5a3f2c2d-7cb3-4639-98f6-49ea1b95a8be" providerId="ADAL" clId="{7A0B7755-50D3-447F-A517-839583F34A5D}" dt="2026-08-19T10:45:56.102" v="748"/>
            <ac:spMkLst>
              <pc:docMk/>
              <pc:sldMasterMk cId="3203799579" sldId="2147483660"/>
              <pc:sldLayoutMk cId="226220643" sldId="2147483678"/>
              <ac:spMk id="4" creationId="{9C80683C-8C7F-7210-BAC6-9C2DA9454627}"/>
            </ac:spMkLst>
          </pc:spChg>
          <pc:spChg chg="mod">
            <ac:chgData name="Evgeny Aronov" userId="5a3f2c2d-7cb3-4639-98f6-49ea1b95a8be" providerId="ADAL" clId="{7A0B7755-50D3-447F-A517-839583F34A5D}" dt="2026-08-19T10:45:56.102" v="748"/>
            <ac:spMkLst>
              <pc:docMk/>
              <pc:sldMasterMk cId="3203799579" sldId="2147483660"/>
              <pc:sldLayoutMk cId="226220643" sldId="2147483678"/>
              <ac:spMk id="5" creationId="{CB4849CB-26D8-75E4-28CB-0F7730019FC5}"/>
            </ac:spMkLst>
          </pc:spChg>
          <pc:spChg chg="mod">
            <ac:chgData name="Evgeny Aronov" userId="5a3f2c2d-7cb3-4639-98f6-49ea1b95a8be" providerId="ADAL" clId="{7A0B7755-50D3-447F-A517-839583F34A5D}" dt="2026-08-19T10:45:56.102" v="748"/>
            <ac:spMkLst>
              <pc:docMk/>
              <pc:sldMasterMk cId="3203799579" sldId="2147483660"/>
              <pc:sldLayoutMk cId="226220643" sldId="2147483678"/>
              <ac:spMk id="6" creationId="{7DA49CE1-7C48-CC1B-9899-78D497D1447B}"/>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3906230152" sldId="2147483679"/>
          </pc:sldLayoutMkLst>
          <pc:spChg chg="mod">
            <ac:chgData name="Evgeny Aronov" userId="5a3f2c2d-7cb3-4639-98f6-49ea1b95a8be" providerId="ADAL" clId="{7A0B7755-50D3-447F-A517-839583F34A5D}" dt="2026-08-19T10:45:56.102" v="748"/>
            <ac:spMkLst>
              <pc:docMk/>
              <pc:sldMasterMk cId="3203799579" sldId="2147483660"/>
              <pc:sldLayoutMk cId="3906230152" sldId="2147483679"/>
              <ac:spMk id="2" creationId="{37A7B8E6-BCA2-61A0-BA6B-BDE3025747BF}"/>
            </ac:spMkLst>
          </pc:spChg>
          <pc:spChg chg="mod">
            <ac:chgData name="Evgeny Aronov" userId="5a3f2c2d-7cb3-4639-98f6-49ea1b95a8be" providerId="ADAL" clId="{7A0B7755-50D3-447F-A517-839583F34A5D}" dt="2026-08-19T10:45:56.102" v="748"/>
            <ac:spMkLst>
              <pc:docMk/>
              <pc:sldMasterMk cId="3203799579" sldId="2147483660"/>
              <pc:sldLayoutMk cId="3906230152" sldId="2147483679"/>
              <ac:spMk id="3" creationId="{DFF8049B-A502-360F-213D-1A4E3DB90FF3}"/>
            </ac:spMkLst>
          </pc:spChg>
          <pc:spChg chg="mod">
            <ac:chgData name="Evgeny Aronov" userId="5a3f2c2d-7cb3-4639-98f6-49ea1b95a8be" providerId="ADAL" clId="{7A0B7755-50D3-447F-A517-839583F34A5D}" dt="2026-08-19T10:45:56.102" v="748"/>
            <ac:spMkLst>
              <pc:docMk/>
              <pc:sldMasterMk cId="3203799579" sldId="2147483660"/>
              <pc:sldLayoutMk cId="3906230152" sldId="2147483679"/>
              <ac:spMk id="4" creationId="{0177E7FD-B854-6F44-8764-62BF04AECB85}"/>
            </ac:spMkLst>
          </pc:spChg>
          <pc:spChg chg="mod">
            <ac:chgData name="Evgeny Aronov" userId="5a3f2c2d-7cb3-4639-98f6-49ea1b95a8be" providerId="ADAL" clId="{7A0B7755-50D3-447F-A517-839583F34A5D}" dt="2026-08-19T10:45:56.102" v="748"/>
            <ac:spMkLst>
              <pc:docMk/>
              <pc:sldMasterMk cId="3203799579" sldId="2147483660"/>
              <pc:sldLayoutMk cId="3906230152" sldId="2147483679"/>
              <ac:spMk id="5" creationId="{0360BDB7-960F-E978-AA77-632C6C31353D}"/>
            </ac:spMkLst>
          </pc:spChg>
          <pc:spChg chg="mod">
            <ac:chgData name="Evgeny Aronov" userId="5a3f2c2d-7cb3-4639-98f6-49ea1b95a8be" providerId="ADAL" clId="{7A0B7755-50D3-447F-A517-839583F34A5D}" dt="2026-08-19T10:45:56.102" v="748"/>
            <ac:spMkLst>
              <pc:docMk/>
              <pc:sldMasterMk cId="3203799579" sldId="2147483660"/>
              <pc:sldLayoutMk cId="3906230152" sldId="2147483679"/>
              <ac:spMk id="6" creationId="{647FC55B-B126-C5A7-D101-4F325BC21644}"/>
            </ac:spMkLst>
          </pc:spChg>
          <pc:spChg chg="mod">
            <ac:chgData name="Evgeny Aronov" userId="5a3f2c2d-7cb3-4639-98f6-49ea1b95a8be" providerId="ADAL" clId="{7A0B7755-50D3-447F-A517-839583F34A5D}" dt="2026-08-19T10:45:56.102" v="748"/>
            <ac:spMkLst>
              <pc:docMk/>
              <pc:sldMasterMk cId="3203799579" sldId="2147483660"/>
              <pc:sldLayoutMk cId="3906230152" sldId="2147483679"/>
              <ac:spMk id="7" creationId="{CBAD79CE-024D-22B8-93A7-3D31402F62E0}"/>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673494479" sldId="2147483680"/>
          </pc:sldLayoutMkLst>
          <pc:spChg chg="mod">
            <ac:chgData name="Evgeny Aronov" userId="5a3f2c2d-7cb3-4639-98f6-49ea1b95a8be" providerId="ADAL" clId="{7A0B7755-50D3-447F-A517-839583F34A5D}" dt="2026-08-19T10:45:56.102" v="748"/>
            <ac:spMkLst>
              <pc:docMk/>
              <pc:sldMasterMk cId="3203799579" sldId="2147483660"/>
              <pc:sldLayoutMk cId="673494479" sldId="2147483680"/>
              <ac:spMk id="2" creationId="{29386408-D06D-FD35-2582-CAF220DF50CB}"/>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3" creationId="{533BA3C0-8D94-6EFC-0EA6-72DA62454C45}"/>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4" creationId="{E7FB9EB7-6045-EC37-4BAF-A4258303C9DB}"/>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5" creationId="{0FBFBFA2-1F65-93A2-5AE2-837E7DFBA5C4}"/>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6" creationId="{5F372254-4FBB-1602-749E-BC597ECE6242}"/>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7" creationId="{70C3440A-7344-46B1-2B96-039721669BBE}"/>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8" creationId="{B55FD689-A1BE-9E91-D843-33217ACFE4B6}"/>
            </ac:spMkLst>
          </pc:spChg>
          <pc:spChg chg="mod">
            <ac:chgData name="Evgeny Aronov" userId="5a3f2c2d-7cb3-4639-98f6-49ea1b95a8be" providerId="ADAL" clId="{7A0B7755-50D3-447F-A517-839583F34A5D}" dt="2026-08-19T10:45:56.102" v="748"/>
            <ac:spMkLst>
              <pc:docMk/>
              <pc:sldMasterMk cId="3203799579" sldId="2147483660"/>
              <pc:sldLayoutMk cId="673494479" sldId="2147483680"/>
              <ac:spMk id="9" creationId="{1BF673E0-8636-5247-9808-9BA93E6DB67E}"/>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1423184700" sldId="2147483681"/>
          </pc:sldLayoutMkLst>
          <pc:spChg chg="mod">
            <ac:chgData name="Evgeny Aronov" userId="5a3f2c2d-7cb3-4639-98f6-49ea1b95a8be" providerId="ADAL" clId="{7A0B7755-50D3-447F-A517-839583F34A5D}" dt="2026-08-19T10:45:56.102" v="748"/>
            <ac:spMkLst>
              <pc:docMk/>
              <pc:sldMasterMk cId="3203799579" sldId="2147483660"/>
              <pc:sldLayoutMk cId="1423184700" sldId="2147483681"/>
              <ac:spMk id="2" creationId="{B30832DF-3DFA-9FB6-DB09-BBA8A37E7925}"/>
            </ac:spMkLst>
          </pc:spChg>
          <pc:spChg chg="mod">
            <ac:chgData name="Evgeny Aronov" userId="5a3f2c2d-7cb3-4639-98f6-49ea1b95a8be" providerId="ADAL" clId="{7A0B7755-50D3-447F-A517-839583F34A5D}" dt="2026-08-19T10:45:56.102" v="748"/>
            <ac:spMkLst>
              <pc:docMk/>
              <pc:sldMasterMk cId="3203799579" sldId="2147483660"/>
              <pc:sldLayoutMk cId="1423184700" sldId="2147483681"/>
              <ac:spMk id="3" creationId="{E835AF66-30DE-C608-B80D-622084520BEB}"/>
            </ac:spMkLst>
          </pc:spChg>
          <pc:spChg chg="mod">
            <ac:chgData name="Evgeny Aronov" userId="5a3f2c2d-7cb3-4639-98f6-49ea1b95a8be" providerId="ADAL" clId="{7A0B7755-50D3-447F-A517-839583F34A5D}" dt="2026-08-19T10:45:56.102" v="748"/>
            <ac:spMkLst>
              <pc:docMk/>
              <pc:sldMasterMk cId="3203799579" sldId="2147483660"/>
              <pc:sldLayoutMk cId="1423184700" sldId="2147483681"/>
              <ac:spMk id="4" creationId="{583A8FE3-B4D7-8EC2-DD82-CE007931BD7F}"/>
            </ac:spMkLst>
          </pc:spChg>
          <pc:spChg chg="mod">
            <ac:chgData name="Evgeny Aronov" userId="5a3f2c2d-7cb3-4639-98f6-49ea1b95a8be" providerId="ADAL" clId="{7A0B7755-50D3-447F-A517-839583F34A5D}" dt="2026-08-19T10:45:56.102" v="748"/>
            <ac:spMkLst>
              <pc:docMk/>
              <pc:sldMasterMk cId="3203799579" sldId="2147483660"/>
              <pc:sldLayoutMk cId="1423184700" sldId="2147483681"/>
              <ac:spMk id="5" creationId="{6BEA3A4B-1AB2-AA18-5BCC-E488F94CA942}"/>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2342192296" sldId="2147483682"/>
          </pc:sldLayoutMkLst>
          <pc:spChg chg="mod">
            <ac:chgData name="Evgeny Aronov" userId="5a3f2c2d-7cb3-4639-98f6-49ea1b95a8be" providerId="ADAL" clId="{7A0B7755-50D3-447F-A517-839583F34A5D}" dt="2026-08-19T10:45:56.102" v="748"/>
            <ac:spMkLst>
              <pc:docMk/>
              <pc:sldMasterMk cId="3203799579" sldId="2147483660"/>
              <pc:sldLayoutMk cId="2342192296" sldId="2147483682"/>
              <ac:spMk id="2" creationId="{C9F3932F-9781-2E77-9474-E46E62AF9984}"/>
            </ac:spMkLst>
          </pc:spChg>
          <pc:spChg chg="mod">
            <ac:chgData name="Evgeny Aronov" userId="5a3f2c2d-7cb3-4639-98f6-49ea1b95a8be" providerId="ADAL" clId="{7A0B7755-50D3-447F-A517-839583F34A5D}" dt="2026-08-19T10:45:56.102" v="748"/>
            <ac:spMkLst>
              <pc:docMk/>
              <pc:sldMasterMk cId="3203799579" sldId="2147483660"/>
              <pc:sldLayoutMk cId="2342192296" sldId="2147483682"/>
              <ac:spMk id="3" creationId="{E9F7F105-12FF-1FBC-5B22-4A8194253C5F}"/>
            </ac:spMkLst>
          </pc:spChg>
          <pc:spChg chg="mod">
            <ac:chgData name="Evgeny Aronov" userId="5a3f2c2d-7cb3-4639-98f6-49ea1b95a8be" providerId="ADAL" clId="{7A0B7755-50D3-447F-A517-839583F34A5D}" dt="2026-08-19T10:45:56.102" v="748"/>
            <ac:spMkLst>
              <pc:docMk/>
              <pc:sldMasterMk cId="3203799579" sldId="2147483660"/>
              <pc:sldLayoutMk cId="2342192296" sldId="2147483682"/>
              <ac:spMk id="4" creationId="{2AB84ACF-799A-357F-8249-E7D1055D6720}"/>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3451329343" sldId="2147483683"/>
          </pc:sldLayoutMkLst>
          <pc:spChg chg="mod">
            <ac:chgData name="Evgeny Aronov" userId="5a3f2c2d-7cb3-4639-98f6-49ea1b95a8be" providerId="ADAL" clId="{7A0B7755-50D3-447F-A517-839583F34A5D}" dt="2026-08-19T10:45:56.102" v="748"/>
            <ac:spMkLst>
              <pc:docMk/>
              <pc:sldMasterMk cId="3203799579" sldId="2147483660"/>
              <pc:sldLayoutMk cId="3451329343" sldId="2147483683"/>
              <ac:spMk id="2" creationId="{F6E8E987-8275-A08A-D95C-2A45006DC07F}"/>
            </ac:spMkLst>
          </pc:spChg>
          <pc:spChg chg="mod">
            <ac:chgData name="Evgeny Aronov" userId="5a3f2c2d-7cb3-4639-98f6-49ea1b95a8be" providerId="ADAL" clId="{7A0B7755-50D3-447F-A517-839583F34A5D}" dt="2026-08-19T10:45:56.102" v="748"/>
            <ac:spMkLst>
              <pc:docMk/>
              <pc:sldMasterMk cId="3203799579" sldId="2147483660"/>
              <pc:sldLayoutMk cId="3451329343" sldId="2147483683"/>
              <ac:spMk id="3" creationId="{F248B719-9C8F-6F10-174C-CE22F3AB543A}"/>
            </ac:spMkLst>
          </pc:spChg>
          <pc:spChg chg="mod">
            <ac:chgData name="Evgeny Aronov" userId="5a3f2c2d-7cb3-4639-98f6-49ea1b95a8be" providerId="ADAL" clId="{7A0B7755-50D3-447F-A517-839583F34A5D}" dt="2026-08-19T10:45:56.102" v="748"/>
            <ac:spMkLst>
              <pc:docMk/>
              <pc:sldMasterMk cId="3203799579" sldId="2147483660"/>
              <pc:sldLayoutMk cId="3451329343" sldId="2147483683"/>
              <ac:spMk id="4" creationId="{246FB585-7D91-834D-4193-A851B15F3E11}"/>
            </ac:spMkLst>
          </pc:spChg>
          <pc:spChg chg="mod">
            <ac:chgData name="Evgeny Aronov" userId="5a3f2c2d-7cb3-4639-98f6-49ea1b95a8be" providerId="ADAL" clId="{7A0B7755-50D3-447F-A517-839583F34A5D}" dt="2026-08-19T10:45:56.102" v="748"/>
            <ac:spMkLst>
              <pc:docMk/>
              <pc:sldMasterMk cId="3203799579" sldId="2147483660"/>
              <pc:sldLayoutMk cId="3451329343" sldId="2147483683"/>
              <ac:spMk id="5" creationId="{306571E1-6811-737F-7C44-9E4364DBAFF7}"/>
            </ac:spMkLst>
          </pc:spChg>
          <pc:spChg chg="mod">
            <ac:chgData name="Evgeny Aronov" userId="5a3f2c2d-7cb3-4639-98f6-49ea1b95a8be" providerId="ADAL" clId="{7A0B7755-50D3-447F-A517-839583F34A5D}" dt="2026-08-19T10:45:56.102" v="748"/>
            <ac:spMkLst>
              <pc:docMk/>
              <pc:sldMasterMk cId="3203799579" sldId="2147483660"/>
              <pc:sldLayoutMk cId="3451329343" sldId="2147483683"/>
              <ac:spMk id="6" creationId="{40DF30FA-2104-A9C2-61EB-A4C7D1E0E5F4}"/>
            </ac:spMkLst>
          </pc:spChg>
          <pc:spChg chg="mod">
            <ac:chgData name="Evgeny Aronov" userId="5a3f2c2d-7cb3-4639-98f6-49ea1b95a8be" providerId="ADAL" clId="{7A0B7755-50D3-447F-A517-839583F34A5D}" dt="2026-08-19T10:45:56.102" v="748"/>
            <ac:spMkLst>
              <pc:docMk/>
              <pc:sldMasterMk cId="3203799579" sldId="2147483660"/>
              <pc:sldLayoutMk cId="3451329343" sldId="2147483683"/>
              <ac:spMk id="7" creationId="{571A1565-DFFF-FDE8-56CE-C7FABFA3E4AC}"/>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3009815881" sldId="2147483684"/>
          </pc:sldLayoutMkLst>
          <pc:spChg chg="mod">
            <ac:chgData name="Evgeny Aronov" userId="5a3f2c2d-7cb3-4639-98f6-49ea1b95a8be" providerId="ADAL" clId="{7A0B7755-50D3-447F-A517-839583F34A5D}" dt="2026-08-19T10:45:56.102" v="748"/>
            <ac:spMkLst>
              <pc:docMk/>
              <pc:sldMasterMk cId="3203799579" sldId="2147483660"/>
              <pc:sldLayoutMk cId="3009815881" sldId="2147483684"/>
              <ac:spMk id="2" creationId="{601A9DFA-FF2B-90B7-D881-3AA83EA22BC7}"/>
            </ac:spMkLst>
          </pc:spChg>
          <pc:spChg chg="mod">
            <ac:chgData name="Evgeny Aronov" userId="5a3f2c2d-7cb3-4639-98f6-49ea1b95a8be" providerId="ADAL" clId="{7A0B7755-50D3-447F-A517-839583F34A5D}" dt="2026-08-19T10:45:56.102" v="748"/>
            <ac:spMkLst>
              <pc:docMk/>
              <pc:sldMasterMk cId="3203799579" sldId="2147483660"/>
              <pc:sldLayoutMk cId="3009815881" sldId="2147483684"/>
              <ac:spMk id="3" creationId="{298A8FE9-8770-4ED1-10F0-50579BF7C836}"/>
            </ac:spMkLst>
          </pc:spChg>
          <pc:spChg chg="mod">
            <ac:chgData name="Evgeny Aronov" userId="5a3f2c2d-7cb3-4639-98f6-49ea1b95a8be" providerId="ADAL" clId="{7A0B7755-50D3-447F-A517-839583F34A5D}" dt="2026-08-19T10:45:56.102" v="748"/>
            <ac:spMkLst>
              <pc:docMk/>
              <pc:sldMasterMk cId="3203799579" sldId="2147483660"/>
              <pc:sldLayoutMk cId="3009815881" sldId="2147483684"/>
              <ac:spMk id="4" creationId="{9150ACD1-8551-C7D3-2EDD-85142A914E3D}"/>
            </ac:spMkLst>
          </pc:spChg>
          <pc:spChg chg="mod">
            <ac:chgData name="Evgeny Aronov" userId="5a3f2c2d-7cb3-4639-98f6-49ea1b95a8be" providerId="ADAL" clId="{7A0B7755-50D3-447F-A517-839583F34A5D}" dt="2026-08-19T10:45:56.102" v="748"/>
            <ac:spMkLst>
              <pc:docMk/>
              <pc:sldMasterMk cId="3203799579" sldId="2147483660"/>
              <pc:sldLayoutMk cId="3009815881" sldId="2147483684"/>
              <ac:spMk id="5" creationId="{3D1B1B28-788D-82A7-6640-30924A484802}"/>
            </ac:spMkLst>
          </pc:spChg>
          <pc:spChg chg="mod">
            <ac:chgData name="Evgeny Aronov" userId="5a3f2c2d-7cb3-4639-98f6-49ea1b95a8be" providerId="ADAL" clId="{7A0B7755-50D3-447F-A517-839583F34A5D}" dt="2026-08-19T10:45:56.102" v="748"/>
            <ac:spMkLst>
              <pc:docMk/>
              <pc:sldMasterMk cId="3203799579" sldId="2147483660"/>
              <pc:sldLayoutMk cId="3009815881" sldId="2147483684"/>
              <ac:spMk id="6" creationId="{E12FAA88-E471-CDE2-9B3B-C6EB65B0C50E}"/>
            </ac:spMkLst>
          </pc:spChg>
          <pc:spChg chg="mod">
            <ac:chgData name="Evgeny Aronov" userId="5a3f2c2d-7cb3-4639-98f6-49ea1b95a8be" providerId="ADAL" clId="{7A0B7755-50D3-447F-A517-839583F34A5D}" dt="2026-08-19T10:45:56.102" v="748"/>
            <ac:spMkLst>
              <pc:docMk/>
              <pc:sldMasterMk cId="3203799579" sldId="2147483660"/>
              <pc:sldLayoutMk cId="3009815881" sldId="2147483684"/>
              <ac:spMk id="7" creationId="{917A70B5-7BCF-4C36-49A1-DB8D3147B15E}"/>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4159368817" sldId="2147483685"/>
          </pc:sldLayoutMkLst>
          <pc:spChg chg="mod">
            <ac:chgData name="Evgeny Aronov" userId="5a3f2c2d-7cb3-4639-98f6-49ea1b95a8be" providerId="ADAL" clId="{7A0B7755-50D3-447F-A517-839583F34A5D}" dt="2026-08-19T10:45:56.102" v="748"/>
            <ac:spMkLst>
              <pc:docMk/>
              <pc:sldMasterMk cId="3203799579" sldId="2147483660"/>
              <pc:sldLayoutMk cId="4159368817" sldId="2147483685"/>
              <ac:spMk id="2" creationId="{F73FF3B7-155A-F4EB-1B6F-7C6AEDE61D07}"/>
            </ac:spMkLst>
          </pc:spChg>
          <pc:spChg chg="mod">
            <ac:chgData name="Evgeny Aronov" userId="5a3f2c2d-7cb3-4639-98f6-49ea1b95a8be" providerId="ADAL" clId="{7A0B7755-50D3-447F-A517-839583F34A5D}" dt="2026-08-19T10:45:56.102" v="748"/>
            <ac:spMkLst>
              <pc:docMk/>
              <pc:sldMasterMk cId="3203799579" sldId="2147483660"/>
              <pc:sldLayoutMk cId="4159368817" sldId="2147483685"/>
              <ac:spMk id="3" creationId="{7C77A298-E30A-5ACB-C7DB-0AD0D6970FC0}"/>
            </ac:spMkLst>
          </pc:spChg>
          <pc:spChg chg="mod">
            <ac:chgData name="Evgeny Aronov" userId="5a3f2c2d-7cb3-4639-98f6-49ea1b95a8be" providerId="ADAL" clId="{7A0B7755-50D3-447F-A517-839583F34A5D}" dt="2026-08-19T10:45:56.102" v="748"/>
            <ac:spMkLst>
              <pc:docMk/>
              <pc:sldMasterMk cId="3203799579" sldId="2147483660"/>
              <pc:sldLayoutMk cId="4159368817" sldId="2147483685"/>
              <ac:spMk id="4" creationId="{5D8BDF02-2B5E-556C-AC5A-044C6D25165B}"/>
            </ac:spMkLst>
          </pc:spChg>
          <pc:spChg chg="mod">
            <ac:chgData name="Evgeny Aronov" userId="5a3f2c2d-7cb3-4639-98f6-49ea1b95a8be" providerId="ADAL" clId="{7A0B7755-50D3-447F-A517-839583F34A5D}" dt="2026-08-19T10:45:56.102" v="748"/>
            <ac:spMkLst>
              <pc:docMk/>
              <pc:sldMasterMk cId="3203799579" sldId="2147483660"/>
              <pc:sldLayoutMk cId="4159368817" sldId="2147483685"/>
              <ac:spMk id="5" creationId="{FE218424-54A6-452F-B511-FDB6BD19CAE1}"/>
            </ac:spMkLst>
          </pc:spChg>
          <pc:spChg chg="mod">
            <ac:chgData name="Evgeny Aronov" userId="5a3f2c2d-7cb3-4639-98f6-49ea1b95a8be" providerId="ADAL" clId="{7A0B7755-50D3-447F-A517-839583F34A5D}" dt="2026-08-19T10:45:56.102" v="748"/>
            <ac:spMkLst>
              <pc:docMk/>
              <pc:sldMasterMk cId="3203799579" sldId="2147483660"/>
              <pc:sldLayoutMk cId="4159368817" sldId="2147483685"/>
              <ac:spMk id="6" creationId="{08888E79-8E0D-BB2E-70A9-0A14968DDA17}"/>
            </ac:spMkLst>
          </pc:spChg>
        </pc:sldLayoutChg>
        <pc:sldLayoutChg chg="modSp mod ord">
          <pc:chgData name="Evgeny Aronov" userId="5a3f2c2d-7cb3-4639-98f6-49ea1b95a8be" providerId="ADAL" clId="{7A0B7755-50D3-447F-A517-839583F34A5D}" dt="2026-08-19T10:45:56.102" v="748"/>
          <pc:sldLayoutMkLst>
            <pc:docMk/>
            <pc:sldMasterMk cId="3203799579" sldId="2147483660"/>
            <pc:sldLayoutMk cId="758223097" sldId="2147483686"/>
          </pc:sldLayoutMkLst>
          <pc:spChg chg="mod">
            <ac:chgData name="Evgeny Aronov" userId="5a3f2c2d-7cb3-4639-98f6-49ea1b95a8be" providerId="ADAL" clId="{7A0B7755-50D3-447F-A517-839583F34A5D}" dt="2026-08-19T10:45:56.102" v="748"/>
            <ac:spMkLst>
              <pc:docMk/>
              <pc:sldMasterMk cId="3203799579" sldId="2147483660"/>
              <pc:sldLayoutMk cId="758223097" sldId="2147483686"/>
              <ac:spMk id="2" creationId="{BF4EE493-9170-1CAD-EA35-9364A2725CD6}"/>
            </ac:spMkLst>
          </pc:spChg>
          <pc:spChg chg="mod">
            <ac:chgData name="Evgeny Aronov" userId="5a3f2c2d-7cb3-4639-98f6-49ea1b95a8be" providerId="ADAL" clId="{7A0B7755-50D3-447F-A517-839583F34A5D}" dt="2026-08-19T10:45:56.102" v="748"/>
            <ac:spMkLst>
              <pc:docMk/>
              <pc:sldMasterMk cId="3203799579" sldId="2147483660"/>
              <pc:sldLayoutMk cId="758223097" sldId="2147483686"/>
              <ac:spMk id="3" creationId="{701EC598-D5D8-B3D3-AD9D-1573145F2F69}"/>
            </ac:spMkLst>
          </pc:spChg>
          <pc:spChg chg="mod">
            <ac:chgData name="Evgeny Aronov" userId="5a3f2c2d-7cb3-4639-98f6-49ea1b95a8be" providerId="ADAL" clId="{7A0B7755-50D3-447F-A517-839583F34A5D}" dt="2026-08-19T10:45:56.102" v="748"/>
            <ac:spMkLst>
              <pc:docMk/>
              <pc:sldMasterMk cId="3203799579" sldId="2147483660"/>
              <pc:sldLayoutMk cId="758223097" sldId="2147483686"/>
              <ac:spMk id="4" creationId="{57BC5C17-B13A-AC0E-C864-8714FA8EB9D8}"/>
            </ac:spMkLst>
          </pc:spChg>
          <pc:spChg chg="mod">
            <ac:chgData name="Evgeny Aronov" userId="5a3f2c2d-7cb3-4639-98f6-49ea1b95a8be" providerId="ADAL" clId="{7A0B7755-50D3-447F-A517-839583F34A5D}" dt="2026-08-19T10:45:56.102" v="748"/>
            <ac:spMkLst>
              <pc:docMk/>
              <pc:sldMasterMk cId="3203799579" sldId="2147483660"/>
              <pc:sldLayoutMk cId="758223097" sldId="2147483686"/>
              <ac:spMk id="5" creationId="{955696AD-0DF7-4CA1-5B4F-51B192BF9E2D}"/>
            </ac:spMkLst>
          </pc:spChg>
          <pc:spChg chg="mod">
            <ac:chgData name="Evgeny Aronov" userId="5a3f2c2d-7cb3-4639-98f6-49ea1b95a8be" providerId="ADAL" clId="{7A0B7755-50D3-447F-A517-839583F34A5D}" dt="2026-08-19T10:45:56.102" v="748"/>
            <ac:spMkLst>
              <pc:docMk/>
              <pc:sldMasterMk cId="3203799579" sldId="2147483660"/>
              <pc:sldLayoutMk cId="758223097" sldId="2147483686"/>
              <ac:spMk id="6" creationId="{D588A53C-49B3-F62E-04A3-2E7B0805A790}"/>
            </ac:spMkLst>
          </pc:spChg>
        </pc:sldLayoutChg>
      </pc:sldMasterChg>
      <pc:sldMasterChg chg="modSldLayout sldLayoutOrd">
        <pc:chgData name="Evgeny Aronov" userId="5a3f2c2d-7cb3-4639-98f6-49ea1b95a8be" providerId="ADAL" clId="{7A0B7755-50D3-447F-A517-839583F34A5D}" dt="2026-08-21T09:28:22.989" v="810"/>
        <pc:sldMasterMkLst>
          <pc:docMk/>
          <pc:sldMasterMk cId="674728817" sldId="2147483705"/>
        </pc:sldMasterMkLst>
        <pc:sldLayoutChg chg="mod ord">
          <pc:chgData name="Evgeny Aronov" userId="5a3f2c2d-7cb3-4639-98f6-49ea1b95a8be" providerId="ADAL" clId="{7A0B7755-50D3-447F-A517-839583F34A5D}" dt="2026-08-21T09:28:22.989" v="810"/>
          <pc:sldLayoutMkLst>
            <pc:docMk/>
            <pc:sldMasterMk cId="674728817" sldId="2147483705"/>
            <pc:sldLayoutMk cId="3034288615" sldId="2147483779"/>
          </pc:sldLayoutMkLst>
        </pc:sldLayoutChg>
        <pc:sldLayoutChg chg="modSp mod ord">
          <pc:chgData name="Evgeny Aronov" userId="5a3f2c2d-7cb3-4639-98f6-49ea1b95a8be" providerId="ADAL" clId="{7A0B7755-50D3-447F-A517-839583F34A5D}" dt="2026-08-21T09:28:22.989" v="810"/>
          <pc:sldLayoutMkLst>
            <pc:docMk/>
            <pc:sldMasterMk cId="674728817" sldId="2147483705"/>
            <pc:sldLayoutMk cId="3959879477" sldId="2147483780"/>
          </pc:sldLayoutMkLst>
          <pc:spChg chg="mod">
            <ac:chgData name="Evgeny Aronov" userId="5a3f2c2d-7cb3-4639-98f6-49ea1b95a8be" providerId="ADAL" clId="{7A0B7755-50D3-447F-A517-839583F34A5D}" dt="2026-08-21T09:28:22.989" v="810"/>
            <ac:spMkLst>
              <pc:docMk/>
              <pc:sldMasterMk cId="674728817" sldId="2147483705"/>
              <pc:sldLayoutMk cId="3959879477" sldId="2147483780"/>
              <ac:spMk id="6" creationId="{52812879-4A0B-421F-A730-4384137DAF06}"/>
            </ac:spMkLst>
          </pc:spChg>
        </pc:sldLayoutChg>
        <pc:sldLayoutChg chg="modSp mod ord">
          <pc:chgData name="Evgeny Aronov" userId="5a3f2c2d-7cb3-4639-98f6-49ea1b95a8be" providerId="ADAL" clId="{7A0B7755-50D3-447F-A517-839583F34A5D}" dt="2026-08-21T09:28:22.989" v="810"/>
          <pc:sldLayoutMkLst>
            <pc:docMk/>
            <pc:sldMasterMk cId="674728817" sldId="2147483705"/>
            <pc:sldLayoutMk cId="404936670" sldId="2147483781"/>
          </pc:sldLayoutMkLst>
          <pc:spChg chg="mod">
            <ac:chgData name="Evgeny Aronov" userId="5a3f2c2d-7cb3-4639-98f6-49ea1b95a8be" providerId="ADAL" clId="{7A0B7755-50D3-447F-A517-839583F34A5D}" dt="2026-08-21T09:28:22.989" v="810"/>
            <ac:spMkLst>
              <pc:docMk/>
              <pc:sldMasterMk cId="674728817" sldId="2147483705"/>
              <pc:sldLayoutMk cId="404936670" sldId="2147483781"/>
              <ac:spMk id="2" creationId="{A6DA696D-1132-B417-D230-84ABFE1A0CF7}"/>
            </ac:spMkLst>
          </pc:spChg>
          <pc:spChg chg="mod">
            <ac:chgData name="Evgeny Aronov" userId="5a3f2c2d-7cb3-4639-98f6-49ea1b95a8be" providerId="ADAL" clId="{7A0B7755-50D3-447F-A517-839583F34A5D}" dt="2026-08-21T09:28:22.989" v="810"/>
            <ac:spMkLst>
              <pc:docMk/>
              <pc:sldMasterMk cId="674728817" sldId="2147483705"/>
              <pc:sldLayoutMk cId="404936670" sldId="2147483781"/>
              <ac:spMk id="3" creationId="{AB2FFF11-583D-21E0-4CE8-1212D001079C}"/>
            </ac:spMkLst>
          </pc:spChg>
          <pc:spChg chg="mod">
            <ac:chgData name="Evgeny Aronov" userId="5a3f2c2d-7cb3-4639-98f6-49ea1b95a8be" providerId="ADAL" clId="{7A0B7755-50D3-447F-A517-839583F34A5D}" dt="2026-08-21T09:28:22.989" v="810"/>
            <ac:spMkLst>
              <pc:docMk/>
              <pc:sldMasterMk cId="674728817" sldId="2147483705"/>
              <pc:sldLayoutMk cId="404936670" sldId="2147483781"/>
              <ac:spMk id="4" creationId="{887E85FB-099F-320C-C423-F42AD9546005}"/>
            </ac:spMkLst>
          </pc:spChg>
        </pc:sldLayoutChg>
        <pc:sldLayoutChg chg="mod ord">
          <pc:chgData name="Evgeny Aronov" userId="5a3f2c2d-7cb3-4639-98f6-49ea1b95a8be" providerId="ADAL" clId="{7A0B7755-50D3-447F-A517-839583F34A5D}" dt="2026-08-21T09:28:22.989" v="810"/>
          <pc:sldLayoutMkLst>
            <pc:docMk/>
            <pc:sldMasterMk cId="674728817" sldId="2147483705"/>
            <pc:sldLayoutMk cId="1988108098" sldId="2147483782"/>
          </pc:sldLayoutMkLst>
        </pc:sldLayoutChg>
        <pc:sldLayoutChg chg="mod ord">
          <pc:chgData name="Evgeny Aronov" userId="5a3f2c2d-7cb3-4639-98f6-49ea1b95a8be" providerId="ADAL" clId="{7A0B7755-50D3-447F-A517-839583F34A5D}" dt="2026-08-21T09:28:22.989" v="810"/>
          <pc:sldLayoutMkLst>
            <pc:docMk/>
            <pc:sldMasterMk cId="674728817" sldId="2147483705"/>
            <pc:sldLayoutMk cId="188304719" sldId="2147483783"/>
          </pc:sldLayoutMkLst>
        </pc:sldLayoutChg>
      </pc:sldMasterChg>
      <pc:sldMasterChg chg="delSldLayout">
        <pc:chgData name="Evgeny Aronov" userId="5a3f2c2d-7cb3-4639-98f6-49ea1b95a8be" providerId="ADAL" clId="{7A0B7755-50D3-447F-A517-839583F34A5D}" dt="2026-08-19T10:45:56.127" v="749"/>
        <pc:sldMasterMkLst>
          <pc:docMk/>
          <pc:sldMasterMk cId="2460827355" sldId="2147483709"/>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themeOverride" Target="../theme/themeOverride1.xml"/></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2.xm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8.xlsx"/><Relationship Id="rId1" Type="http://schemas.openxmlformats.org/officeDocument/2006/relationships/themeOverride" Target="../theme/themeOverride3.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Столбец3</c:v>
                </c:pt>
              </c:strCache>
            </c:strRef>
          </c:tx>
          <c:spPr>
            <a:solidFill>
              <a:srgbClr val="24B8CD"/>
            </a:solidFill>
            <a:ln>
              <a:noFill/>
            </a:ln>
            <a:effectLst/>
          </c:spPr>
          <c:invertIfNegative val="0"/>
          <c:dPt>
            <c:idx val="0"/>
            <c:invertIfNegative val="0"/>
            <c:bubble3D val="0"/>
            <c:spPr>
              <a:solidFill>
                <a:srgbClr val="398ACB"/>
              </a:solidFill>
              <a:ln>
                <a:noFill/>
              </a:ln>
              <a:effectLst/>
            </c:spPr>
            <c:extLst>
              <c:ext xmlns:c16="http://schemas.microsoft.com/office/drawing/2014/chart" uri="{C3380CC4-5D6E-409C-BE32-E72D297353CC}">
                <c16:uniqueId val="{00000003-A537-4D42-93D2-A86DE02CC428}"/>
              </c:ext>
            </c:extLst>
          </c:dPt>
          <c:dPt>
            <c:idx val="1"/>
            <c:invertIfNegative val="0"/>
            <c:bubble3D val="0"/>
            <c:spPr>
              <a:solidFill>
                <a:srgbClr val="28BECD"/>
              </a:solidFill>
              <a:ln>
                <a:noFill/>
              </a:ln>
              <a:effectLst/>
            </c:spPr>
            <c:extLst>
              <c:ext xmlns:c16="http://schemas.microsoft.com/office/drawing/2014/chart" uri="{C3380CC4-5D6E-409C-BE32-E72D297353CC}">
                <c16:uniqueId val="{00000004-A537-4D42-93D2-A86DE02CC428}"/>
              </c:ext>
            </c:extLst>
          </c:dPt>
          <c:dPt>
            <c:idx val="2"/>
            <c:invertIfNegative val="0"/>
            <c:bubble3D val="0"/>
            <c:spPr>
              <a:solidFill>
                <a:srgbClr val="1E8E9A"/>
              </a:solidFill>
              <a:ln>
                <a:noFill/>
              </a:ln>
              <a:effectLst/>
            </c:spPr>
            <c:extLst>
              <c:ext xmlns:c16="http://schemas.microsoft.com/office/drawing/2014/chart" uri="{C3380CC4-5D6E-409C-BE32-E72D297353CC}">
                <c16:uniqueId val="{00000005-A537-4D42-93D2-A86DE02CC428}"/>
              </c:ext>
            </c:extLst>
          </c:dPt>
          <c:dPt>
            <c:idx val="3"/>
            <c:invertIfNegative val="0"/>
            <c:bubble3D val="0"/>
            <c:spPr>
              <a:solidFill>
                <a:srgbClr val="C1D82E"/>
              </a:solidFill>
              <a:ln>
                <a:noFill/>
              </a:ln>
              <a:effectLst/>
            </c:spPr>
            <c:extLst>
              <c:ext xmlns:c16="http://schemas.microsoft.com/office/drawing/2014/chart" uri="{C3380CC4-5D6E-409C-BE32-E72D297353CC}">
                <c16:uniqueId val="{00000006-A537-4D42-93D2-A86DE02CC428}"/>
              </c:ext>
            </c:extLst>
          </c:dPt>
          <c:dPt>
            <c:idx val="4"/>
            <c:invertIfNegative val="0"/>
            <c:bubble3D val="0"/>
            <c:spPr>
              <a:solidFill>
                <a:srgbClr val="9272CE"/>
              </a:solidFill>
              <a:ln>
                <a:noFill/>
              </a:ln>
              <a:effectLst/>
            </c:spPr>
            <c:extLst>
              <c:ext xmlns:c16="http://schemas.microsoft.com/office/drawing/2014/chart" uri="{C3380CC4-5D6E-409C-BE32-E72D297353CC}">
                <c16:uniqueId val="{00000001-A537-4D42-93D2-A86DE02CC428}"/>
              </c:ext>
            </c:extLst>
          </c:dPt>
          <c:dPt>
            <c:idx val="5"/>
            <c:invertIfNegative val="0"/>
            <c:bubble3D val="0"/>
            <c:spPr>
              <a:solidFill>
                <a:srgbClr val="EC736A"/>
              </a:solidFill>
              <a:ln>
                <a:noFill/>
              </a:ln>
              <a:effectLst/>
            </c:spPr>
            <c:extLst>
              <c:ext xmlns:c16="http://schemas.microsoft.com/office/drawing/2014/chart" uri="{C3380CC4-5D6E-409C-BE32-E72D297353CC}">
                <c16:uniqueId val="{00000002-A537-4D42-93D2-A86DE02CC428}"/>
              </c:ext>
            </c:extLst>
          </c:dPt>
          <c:dLbls>
            <c:dLbl>
              <c:idx val="4"/>
              <c:tx>
                <c:rich>
                  <a:bodyPr/>
                  <a:lstStyle/>
                  <a:p>
                    <a:fld id="{3AA2C564-66D5-49DD-A1DC-53628A359569}" type="VALUE">
                      <a:rPr lang="en-US">
                        <a:solidFill>
                          <a:schemeClr val="tx2"/>
                        </a:solidFill>
                      </a:rPr>
                      <a:pPr/>
                      <a:t>[VALUE]</a:t>
                    </a:fld>
                    <a:endParaRPr lang="ru-RU"/>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537-4D42-93D2-A86DE02CC428}"/>
                </c:ext>
              </c:extLst>
            </c:dLbl>
            <c:dLbl>
              <c:idx val="5"/>
              <c:tx>
                <c:rich>
                  <a:bodyPr/>
                  <a:lstStyle/>
                  <a:p>
                    <a:fld id="{5A01BC39-FBFC-4240-AD4C-25AD8F836629}" type="VALUE">
                      <a:rPr lang="en-US">
                        <a:solidFill>
                          <a:schemeClr val="tx2"/>
                        </a:solidFill>
                      </a:rPr>
                      <a:pPr/>
                      <a:t>[VALUE]</a:t>
                    </a:fld>
                    <a:endParaRPr lang="ru-RU"/>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537-4D42-93D2-A86DE02CC428}"/>
                </c:ext>
              </c:extLst>
            </c:dLbl>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Лист1!$A$2:$A$7</c:f>
              <c:strCache>
                <c:ptCount val="6"/>
                <c:pt idx="0">
                  <c:v>Бисопролол</c:v>
                </c:pt>
                <c:pt idx="1">
                  <c:v>Бетаксолол</c:v>
                </c:pt>
                <c:pt idx="2">
                  <c:v>Метопролол</c:v>
                </c:pt>
                <c:pt idx="3">
                  <c:v>Атенолол</c:v>
                </c:pt>
                <c:pt idx="4">
                  <c:v>Карведилол</c:v>
                </c:pt>
                <c:pt idx="5">
                  <c:v>Пропанолол</c:v>
                </c:pt>
              </c:strCache>
            </c:strRef>
          </c:cat>
          <c:val>
            <c:numRef>
              <c:f>Лист1!$B$2:$B$7</c:f>
              <c:numCache>
                <c:formatCode>General</c:formatCode>
                <c:ptCount val="6"/>
                <c:pt idx="0">
                  <c:v>19.600000000000001</c:v>
                </c:pt>
                <c:pt idx="1">
                  <c:v>7.5</c:v>
                </c:pt>
                <c:pt idx="2">
                  <c:v>6</c:v>
                </c:pt>
                <c:pt idx="3">
                  <c:v>5.7</c:v>
                </c:pt>
                <c:pt idx="4">
                  <c:v>0.6</c:v>
                </c:pt>
                <c:pt idx="5">
                  <c:v>0.3</c:v>
                </c:pt>
              </c:numCache>
            </c:numRef>
          </c:val>
          <c:extLst>
            <c:ext xmlns:c16="http://schemas.microsoft.com/office/drawing/2014/chart" uri="{C3380CC4-5D6E-409C-BE32-E72D297353CC}">
              <c16:uniqueId val="{00000000-A537-4D42-93D2-A86DE02CC428}"/>
            </c:ext>
          </c:extLst>
        </c:ser>
        <c:dLbls>
          <c:showLegendKey val="0"/>
          <c:showVal val="0"/>
          <c:showCatName val="0"/>
          <c:showSerName val="0"/>
          <c:showPercent val="0"/>
          <c:showBubbleSize val="0"/>
        </c:dLbls>
        <c:gapWidth val="73"/>
        <c:axId val="1318385760"/>
        <c:axId val="1318388056"/>
      </c:barChart>
      <c:catAx>
        <c:axId val="131838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1318388056"/>
        <c:crosses val="autoZero"/>
        <c:auto val="1"/>
        <c:lblAlgn val="ctr"/>
        <c:lblOffset val="100"/>
        <c:noMultiLvlLbl val="0"/>
      </c:catAx>
      <c:valAx>
        <c:axId val="1318388056"/>
        <c:scaling>
          <c:orientation val="minMax"/>
          <c:max val="20"/>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13183857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Verdana" panose="020B0604030504040204" pitchFamily="34" charset="0"/>
          <a:ea typeface="Verdana" panose="020B060403050404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Фиксированная комбинация</c:v>
                </c:pt>
              </c:strCache>
            </c:strRef>
          </c:tx>
          <c:spPr>
            <a:solidFill>
              <a:srgbClr val="398ACB"/>
            </a:solidFill>
            <a:ln>
              <a:noFill/>
            </a:ln>
            <a:effectLst/>
          </c:spPr>
          <c:invertIfNegative val="0"/>
          <c:dLbls>
            <c:dLbl>
              <c:idx val="0"/>
              <c:tx>
                <c:rich>
                  <a:bodyPr/>
                  <a:lstStyle/>
                  <a:p>
                    <a:fld id="{76E4037A-DD50-4004-AB16-BEA117335BCE}"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B22-445E-9A64-9E3B47241D72}"/>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Через 7 дней</c:v>
                </c:pt>
                <c:pt idx="1">
                  <c:v>Через 4 недели</c:v>
                </c:pt>
                <c:pt idx="2">
                  <c:v>Через 12 недель</c:v>
                </c:pt>
              </c:strCache>
            </c:strRef>
          </c:cat>
          <c:val>
            <c:numRef>
              <c:f>Sheet1!$B$2:$B$4</c:f>
              <c:numCache>
                <c:formatCode>General</c:formatCode>
                <c:ptCount val="3"/>
                <c:pt idx="0">
                  <c:v>70</c:v>
                </c:pt>
                <c:pt idx="1">
                  <c:v>86.7</c:v>
                </c:pt>
                <c:pt idx="2">
                  <c:v>96.7</c:v>
                </c:pt>
              </c:numCache>
            </c:numRef>
          </c:val>
          <c:extLst>
            <c:ext xmlns:c16="http://schemas.microsoft.com/office/drawing/2014/chart" uri="{C3380CC4-5D6E-409C-BE32-E72D297353CC}">
              <c16:uniqueId val="{00000001-8B22-445E-9A64-9E3B47241D72}"/>
            </c:ext>
          </c:extLst>
        </c:ser>
        <c:ser>
          <c:idx val="1"/>
          <c:order val="1"/>
          <c:tx>
            <c:strRef>
              <c:f>Sheet1!$C$1</c:f>
              <c:strCache>
                <c:ptCount val="1"/>
                <c:pt idx="0">
                  <c:v>Контроль</c:v>
                </c:pt>
              </c:strCache>
            </c:strRef>
          </c:tx>
          <c:spPr>
            <a:solidFill>
              <a:srgbClr val="EC736A"/>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Через 7 дней</c:v>
                </c:pt>
                <c:pt idx="1">
                  <c:v>Через 4 недели</c:v>
                </c:pt>
                <c:pt idx="2">
                  <c:v>Через 12 недель</c:v>
                </c:pt>
              </c:strCache>
            </c:strRef>
          </c:cat>
          <c:val>
            <c:numRef>
              <c:f>Sheet1!$C$2:$C$4</c:f>
              <c:numCache>
                <c:formatCode>General</c:formatCode>
                <c:ptCount val="3"/>
                <c:pt idx="0">
                  <c:v>67.7</c:v>
                </c:pt>
                <c:pt idx="1">
                  <c:v>71</c:v>
                </c:pt>
                <c:pt idx="2">
                  <c:v>87.1</c:v>
                </c:pt>
              </c:numCache>
            </c:numRef>
          </c:val>
          <c:extLst>
            <c:ext xmlns:c16="http://schemas.microsoft.com/office/drawing/2014/chart" uri="{C3380CC4-5D6E-409C-BE32-E72D297353CC}">
              <c16:uniqueId val="{00000002-8B22-445E-9A64-9E3B47241D72}"/>
            </c:ext>
          </c:extLst>
        </c:ser>
        <c:dLbls>
          <c:dLblPos val="outEnd"/>
          <c:showLegendKey val="0"/>
          <c:showVal val="1"/>
          <c:showCatName val="0"/>
          <c:showSerName val="0"/>
          <c:showPercent val="0"/>
          <c:showBubbleSize val="0"/>
        </c:dLbls>
        <c:gapWidth val="100"/>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9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max val="100"/>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majorUnit val="20"/>
      </c:valAx>
      <c:spPr>
        <a:noFill/>
        <a:ln>
          <a:noFill/>
        </a:ln>
        <a:effectLst/>
      </c:spPr>
    </c:plotArea>
    <c:legend>
      <c:legendPos val="b"/>
      <c:layout>
        <c:manualLayout>
          <c:xMode val="edge"/>
          <c:yMode val="edge"/>
          <c:x val="0.10221060563531899"/>
          <c:y val="0.91897236680546235"/>
          <c:w val="0.71417401338657382"/>
          <c:h val="8.1027633194537624E-2"/>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Исходно</c:v>
                </c:pt>
              </c:strCache>
            </c:strRef>
          </c:tx>
          <c:spPr>
            <a:solidFill>
              <a:srgbClr val="28BECD"/>
            </a:solidFill>
            <a:ln>
              <a:noFill/>
            </a:ln>
            <a:effectLst/>
          </c:spPr>
          <c:invertIfNegative val="0"/>
          <c:dLbls>
            <c:dLbl>
              <c:idx val="0"/>
              <c:tx>
                <c:rich>
                  <a:bodyPr/>
                  <a:lstStyle/>
                  <a:p>
                    <a:fld id="{76E4037A-DD50-4004-AB16-BEA117335BCE}"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B22-445E-9A64-9E3B47241D72}"/>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dipper</c:v>
                </c:pt>
                <c:pt idx="1">
                  <c:v>non-dipper</c:v>
                </c:pt>
                <c:pt idx="2">
                  <c:v>over-dipper</c:v>
                </c:pt>
                <c:pt idx="3">
                  <c:v>night-peaker</c:v>
                </c:pt>
              </c:strCache>
            </c:strRef>
          </c:cat>
          <c:val>
            <c:numRef>
              <c:f>Sheet1!$B$2:$B$5</c:f>
              <c:numCache>
                <c:formatCode>General</c:formatCode>
                <c:ptCount val="4"/>
                <c:pt idx="0">
                  <c:v>9</c:v>
                </c:pt>
                <c:pt idx="1">
                  <c:v>14</c:v>
                </c:pt>
                <c:pt idx="2">
                  <c:v>5</c:v>
                </c:pt>
                <c:pt idx="3">
                  <c:v>2</c:v>
                </c:pt>
              </c:numCache>
            </c:numRef>
          </c:val>
          <c:extLst>
            <c:ext xmlns:c16="http://schemas.microsoft.com/office/drawing/2014/chart" uri="{C3380CC4-5D6E-409C-BE32-E72D297353CC}">
              <c16:uniqueId val="{00000001-8B22-445E-9A64-9E3B47241D72}"/>
            </c:ext>
          </c:extLst>
        </c:ser>
        <c:ser>
          <c:idx val="1"/>
          <c:order val="1"/>
          <c:tx>
            <c:strRef>
              <c:f>Sheet1!$C$1</c:f>
              <c:strCache>
                <c:ptCount val="1"/>
                <c:pt idx="0">
                  <c:v>Через 12 недель после терапии</c:v>
                </c:pt>
              </c:strCache>
            </c:strRef>
          </c:tx>
          <c:spPr>
            <a:solidFill>
              <a:srgbClr val="C1D82E"/>
            </a:solidFill>
            <a:ln>
              <a:noFill/>
            </a:ln>
            <a:effectLst/>
          </c:spPr>
          <c:invertIfNegative val="0"/>
          <c:dLbls>
            <c:dLbl>
              <c:idx val="3"/>
              <c:layout>
                <c:manualLayout>
                  <c:x val="0"/>
                  <c:y val="6.089160406620424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2-4154-A925-C17F1A67BFA1}"/>
                </c:ext>
              </c:extLst>
            </c:dLbl>
            <c:spPr>
              <a:noFill/>
              <a:ln>
                <a:noFill/>
              </a:ln>
              <a:effectLst/>
            </c:spPr>
            <c:txPr>
              <a:bodyPr rot="0" spcFirstLastPara="1" vertOverflow="ellipsis" vert="horz" wrap="square" anchor="ctr" anchorCtr="1"/>
              <a:lstStyle/>
              <a:p>
                <a:pPr>
                  <a:defRPr sz="11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dipper</c:v>
                </c:pt>
                <c:pt idx="1">
                  <c:v>non-dipper</c:v>
                </c:pt>
                <c:pt idx="2">
                  <c:v>over-dipper</c:v>
                </c:pt>
                <c:pt idx="3">
                  <c:v>night-peaker</c:v>
                </c:pt>
              </c:strCache>
            </c:strRef>
          </c:cat>
          <c:val>
            <c:numRef>
              <c:f>Sheet1!$C$2:$C$5</c:f>
              <c:numCache>
                <c:formatCode>General</c:formatCode>
                <c:ptCount val="4"/>
                <c:pt idx="0">
                  <c:v>22</c:v>
                </c:pt>
                <c:pt idx="1">
                  <c:v>5</c:v>
                </c:pt>
                <c:pt idx="2">
                  <c:v>2</c:v>
                </c:pt>
                <c:pt idx="3">
                  <c:v>1</c:v>
                </c:pt>
              </c:numCache>
            </c:numRef>
          </c:val>
          <c:extLst>
            <c:ext xmlns:c16="http://schemas.microsoft.com/office/drawing/2014/chart" uri="{C3380CC4-5D6E-409C-BE32-E72D297353CC}">
              <c16:uniqueId val="{00000002-8B22-445E-9A64-9E3B47241D72}"/>
            </c:ext>
          </c:extLst>
        </c:ser>
        <c:dLbls>
          <c:dLblPos val="outEnd"/>
          <c:showLegendKey val="0"/>
          <c:showVal val="1"/>
          <c:showCatName val="0"/>
          <c:showSerName val="0"/>
          <c:showPercent val="0"/>
          <c:showBubbleSize val="0"/>
        </c:dLbls>
        <c:gapWidth val="35"/>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9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max val="25"/>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majorUnit val="5"/>
      </c:valAx>
      <c:spPr>
        <a:noFill/>
        <a:ln>
          <a:noFill/>
        </a:ln>
        <a:effectLst/>
      </c:spPr>
    </c:plotArea>
    <c:legend>
      <c:legendPos val="b"/>
      <c:layout>
        <c:manualLayout>
          <c:xMode val="edge"/>
          <c:yMode val="edge"/>
          <c:x val="0.10221060563531899"/>
          <c:y val="0.91897236680546235"/>
          <c:w val="0.71417401338657382"/>
          <c:h val="8.1027633194537624E-2"/>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САД (мм рт. ст.)</c:v>
                </c:pt>
              </c:strCache>
            </c:strRef>
          </c:tx>
          <c:spPr>
            <a:solidFill>
              <a:srgbClr val="28BECD"/>
            </a:solidFill>
            <a:ln>
              <a:noFill/>
            </a:ln>
            <a:effectLst/>
          </c:spPr>
          <c:invertIfNegative val="0"/>
          <c:dLbls>
            <c:dLbl>
              <c:idx val="1"/>
              <c:tx>
                <c:rich>
                  <a:bodyPr/>
                  <a:lstStyle/>
                  <a:p>
                    <a:fld id="{81DE04E1-534E-480B-B288-58313AFCDAD3}"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542-4271-A70D-9419F21B29FD}"/>
                </c:ext>
              </c:extLst>
            </c:dLbl>
            <c:dLbl>
              <c:idx val="2"/>
              <c:tx>
                <c:rich>
                  <a:bodyPr/>
                  <a:lstStyle/>
                  <a:p>
                    <a:fld id="{7A2F157E-BE06-4A5A-AF68-F585AEEAFE99}"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542-4271-A70D-9419F21B29FD}"/>
                </c:ext>
              </c:extLst>
            </c:dLbl>
            <c:dLbl>
              <c:idx val="3"/>
              <c:tx>
                <c:rich>
                  <a:bodyPr/>
                  <a:lstStyle/>
                  <a:p>
                    <a:fld id="{5A2A41A5-2E06-425B-BD95-CB2B8FF253C5}"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Лист1!$B$2:$B$5</c:f>
              <c:numCache>
                <c:formatCode>General</c:formatCode>
                <c:ptCount val="4"/>
                <c:pt idx="0">
                  <c:v>154</c:v>
                </c:pt>
                <c:pt idx="1">
                  <c:v>129</c:v>
                </c:pt>
                <c:pt idx="2">
                  <c:v>128</c:v>
                </c:pt>
                <c:pt idx="3">
                  <c:v>125</c:v>
                </c:pt>
              </c:numCache>
            </c:numRef>
          </c:val>
          <c:extLst>
            <c:ext xmlns:c16="http://schemas.microsoft.com/office/drawing/2014/chart" uri="{C3380CC4-5D6E-409C-BE32-E72D297353CC}">
              <c16:uniqueId val="{00000000-2B3C-4F8F-A25F-9F391B1F4C7B}"/>
            </c:ext>
          </c:extLst>
        </c:ser>
        <c:ser>
          <c:idx val="1"/>
          <c:order val="1"/>
          <c:tx>
            <c:strRef>
              <c:f>Лист1!$C$1</c:f>
              <c:strCache>
                <c:ptCount val="1"/>
                <c:pt idx="0">
                  <c:v>ДАД (мм рт. ст.)</c:v>
                </c:pt>
              </c:strCache>
            </c:strRef>
          </c:tx>
          <c:spPr>
            <a:solidFill>
              <a:srgbClr val="398ACB"/>
            </a:solidFill>
            <a:ln>
              <a:noFill/>
            </a:ln>
            <a:effectLst/>
          </c:spPr>
          <c:invertIfNegative val="0"/>
          <c:dLbls>
            <c:dLbl>
              <c:idx val="1"/>
              <c:tx>
                <c:rich>
                  <a:bodyPr/>
                  <a:lstStyle/>
                  <a:p>
                    <a:fld id="{6288C33E-F8F9-4EB1-BCE0-1FA31BECE3E9}" type="VALUE">
                      <a:rPr lang="en-US" smtClean="0"/>
                      <a:pPr/>
                      <a:t>[VALUE]</a:t>
                    </a:fld>
                    <a:r>
                      <a:rPr lang="en-US"/>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542-4271-A70D-9419F21B29FD}"/>
                </c:ext>
              </c:extLst>
            </c:dLbl>
            <c:dLbl>
              <c:idx val="2"/>
              <c:tx>
                <c:rich>
                  <a:bodyPr/>
                  <a:lstStyle/>
                  <a:p>
                    <a:fld id="{851CC7D2-8DAF-4055-BBA2-C1162A900210}"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2542-4271-A70D-9419F21B29FD}"/>
                </c:ext>
              </c:extLst>
            </c:dLbl>
            <c:dLbl>
              <c:idx val="3"/>
              <c:tx>
                <c:rich>
                  <a:bodyPr/>
                  <a:lstStyle/>
                  <a:p>
                    <a:fld id="{78EA1F53-0A66-404A-B2C6-550AECA9DCD6}"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Лист1!$C$2:$C$5</c:f>
              <c:numCache>
                <c:formatCode>General</c:formatCode>
                <c:ptCount val="4"/>
                <c:pt idx="0">
                  <c:v>95</c:v>
                </c:pt>
                <c:pt idx="1">
                  <c:v>80</c:v>
                </c:pt>
                <c:pt idx="2">
                  <c:v>79</c:v>
                </c:pt>
                <c:pt idx="3">
                  <c:v>78</c:v>
                </c:pt>
              </c:numCache>
            </c:numRef>
          </c:val>
          <c:extLst>
            <c:ext xmlns:c16="http://schemas.microsoft.com/office/drawing/2014/chart" uri="{C3380CC4-5D6E-409C-BE32-E72D297353CC}">
              <c16:uniqueId val="{00000001-2B3C-4F8F-A25F-9F391B1F4C7B}"/>
            </c:ext>
          </c:extLst>
        </c:ser>
        <c:ser>
          <c:idx val="2"/>
          <c:order val="2"/>
          <c:tx>
            <c:strRef>
              <c:f>Лист1!$D$1</c:f>
              <c:strCache>
                <c:ptCount val="1"/>
                <c:pt idx="0">
                  <c:v>ЧСС (уд.мин.)</c:v>
                </c:pt>
              </c:strCache>
            </c:strRef>
          </c:tx>
          <c:spPr>
            <a:solidFill>
              <a:srgbClr val="C1D82E"/>
            </a:solidFill>
            <a:ln>
              <a:noFill/>
            </a:ln>
            <a:effectLst/>
          </c:spPr>
          <c:invertIfNegative val="0"/>
          <c:dLbls>
            <c:dLbl>
              <c:idx val="1"/>
              <c:tx>
                <c:rich>
                  <a:bodyPr/>
                  <a:lstStyle/>
                  <a:p>
                    <a:fld id="{CBBF1EB8-A8A9-48B1-B983-BEE2E823AB97}"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542-4271-A70D-9419F21B29FD}"/>
                </c:ext>
              </c:extLst>
            </c:dLbl>
            <c:dLbl>
              <c:idx val="2"/>
              <c:tx>
                <c:rich>
                  <a:bodyPr/>
                  <a:lstStyle/>
                  <a:p>
                    <a:fld id="{6C5A5107-FB13-406C-8096-32A988BC85DC}" type="VALUE">
                      <a:rPr lang="en-US" smtClean="0"/>
                      <a:pPr/>
                      <a:t>[VALUE]</a:t>
                    </a:fld>
                    <a:r>
                      <a:rPr lang="en-US" sz="1000" b="0" i="0" u="none" strike="noStrike" kern="1200" baseline="0" dirty="0">
                        <a:solidFill>
                          <a:prstClr val="black">
                            <a:lumMod val="75000"/>
                            <a:lumOff val="25000"/>
                          </a:prstClr>
                        </a:solidFill>
                      </a:rPr>
                      <a:t>*</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542-4271-A70D-9419F21B29FD}"/>
                </c:ext>
              </c:extLst>
            </c:dLbl>
            <c:dLbl>
              <c:idx val="3"/>
              <c:tx>
                <c:rich>
                  <a:bodyPr/>
                  <a:lstStyle/>
                  <a:p>
                    <a:r>
                      <a:rPr lang="en-US"/>
                      <a:t>58*</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542-4271-A70D-9419F21B29FD}"/>
                </c:ext>
              </c:extLst>
            </c:dLbl>
            <c:spPr>
              <a:no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Лист1!$A$2:$A$5</c:f>
              <c:strCache>
                <c:ptCount val="4"/>
                <c:pt idx="0">
                  <c:v>Исходно</c:v>
                </c:pt>
                <c:pt idx="1">
                  <c:v>Через 7 дней</c:v>
                </c:pt>
                <c:pt idx="2">
                  <c:v>Через 4 нед.</c:v>
                </c:pt>
                <c:pt idx="3">
                  <c:v>Через 12 нед.</c:v>
                </c:pt>
              </c:strCache>
            </c:strRef>
          </c:cat>
          <c:val>
            <c:numRef>
              <c:f>Лист1!$D$2:$D$5</c:f>
              <c:numCache>
                <c:formatCode>General</c:formatCode>
                <c:ptCount val="4"/>
                <c:pt idx="0">
                  <c:v>78</c:v>
                </c:pt>
                <c:pt idx="1">
                  <c:v>61</c:v>
                </c:pt>
                <c:pt idx="2">
                  <c:v>60</c:v>
                </c:pt>
                <c:pt idx="3">
                  <c:v>58</c:v>
                </c:pt>
              </c:numCache>
            </c:numRef>
          </c:val>
          <c:extLst>
            <c:ext xmlns:c16="http://schemas.microsoft.com/office/drawing/2014/chart" uri="{C3380CC4-5D6E-409C-BE32-E72D297353CC}">
              <c16:uniqueId val="{00000002-2B3C-4F8F-A25F-9F391B1F4C7B}"/>
            </c:ext>
          </c:extLst>
        </c:ser>
        <c:dLbls>
          <c:dLblPos val="outEnd"/>
          <c:showLegendKey val="0"/>
          <c:showVal val="1"/>
          <c:showCatName val="0"/>
          <c:showSerName val="0"/>
          <c:showPercent val="0"/>
          <c:showBubbleSize val="0"/>
        </c:dLbls>
        <c:gapWidth val="175"/>
        <c:overlap val="-1"/>
        <c:axId val="978355104"/>
        <c:axId val="978357064"/>
      </c:barChart>
      <c:catAx>
        <c:axId val="978355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978357064"/>
        <c:crosses val="autoZero"/>
        <c:auto val="1"/>
        <c:lblAlgn val="ctr"/>
        <c:lblOffset val="100"/>
        <c:noMultiLvlLbl val="0"/>
      </c:catAx>
      <c:valAx>
        <c:axId val="978357064"/>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97835510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Фиксированная комбинация</c:v>
                </c:pt>
              </c:strCache>
            </c:strRef>
          </c:tx>
          <c:spPr>
            <a:solidFill>
              <a:srgbClr val="398ACB"/>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Постоянство* через 12 месяцев</c:v>
                </c:pt>
                <c:pt idx="1">
                  <c:v>Приверженность** через 12 месяцев</c:v>
                </c:pt>
              </c:strCache>
            </c:strRef>
          </c:cat>
          <c:val>
            <c:numRef>
              <c:f>Лист1!$B$2:$B$3</c:f>
              <c:numCache>
                <c:formatCode>0.00%</c:formatCode>
                <c:ptCount val="2"/>
                <c:pt idx="0">
                  <c:v>0.58299999999999996</c:v>
                </c:pt>
                <c:pt idx="1">
                  <c:v>0.76900000000000002</c:v>
                </c:pt>
              </c:numCache>
            </c:numRef>
          </c:val>
          <c:extLst>
            <c:ext xmlns:c16="http://schemas.microsoft.com/office/drawing/2014/chart" uri="{C3380CC4-5D6E-409C-BE32-E72D297353CC}">
              <c16:uniqueId val="{00000000-CDF3-4BBD-AB05-E577C13FBA7E}"/>
            </c:ext>
          </c:extLst>
        </c:ser>
        <c:ser>
          <c:idx val="1"/>
          <c:order val="1"/>
          <c:tx>
            <c:strRef>
              <c:f>Лист1!$C$1</c:f>
              <c:strCache>
                <c:ptCount val="1"/>
                <c:pt idx="0">
                  <c:v>Свободная комбинация</c:v>
                </c:pt>
              </c:strCache>
            </c:strRef>
          </c:tx>
          <c:spPr>
            <a:solidFill>
              <a:srgbClr val="28BECD"/>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Лист1!$A$2:$A$3</c:f>
              <c:strCache>
                <c:ptCount val="2"/>
                <c:pt idx="0">
                  <c:v>Постоянство* через 12 месяцев</c:v>
                </c:pt>
                <c:pt idx="1">
                  <c:v>Приверженность** через 12 месяцев</c:v>
                </c:pt>
              </c:strCache>
            </c:strRef>
          </c:cat>
          <c:val>
            <c:numRef>
              <c:f>Лист1!$C$2:$C$3</c:f>
              <c:numCache>
                <c:formatCode>0.00%</c:formatCode>
                <c:ptCount val="2"/>
                <c:pt idx="0">
                  <c:v>0.14899999999999999</c:v>
                </c:pt>
                <c:pt idx="1">
                  <c:v>0.54400000000000004</c:v>
                </c:pt>
              </c:numCache>
            </c:numRef>
          </c:val>
          <c:extLst>
            <c:ext xmlns:c16="http://schemas.microsoft.com/office/drawing/2014/chart" uri="{C3380CC4-5D6E-409C-BE32-E72D297353CC}">
              <c16:uniqueId val="{00000001-CDF3-4BBD-AB05-E577C13FBA7E}"/>
            </c:ext>
          </c:extLst>
        </c:ser>
        <c:dLbls>
          <c:showLegendKey val="0"/>
          <c:showVal val="0"/>
          <c:showCatName val="0"/>
          <c:showSerName val="0"/>
          <c:showPercent val="0"/>
          <c:showBubbleSize val="0"/>
        </c:dLbls>
        <c:gapWidth val="106"/>
        <c:axId val="766880552"/>
        <c:axId val="766877928"/>
      </c:barChart>
      <c:catAx>
        <c:axId val="766880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766877928"/>
        <c:crosses val="autoZero"/>
        <c:auto val="1"/>
        <c:lblAlgn val="ctr"/>
        <c:lblOffset val="100"/>
        <c:noMultiLvlLbl val="0"/>
      </c:catAx>
      <c:valAx>
        <c:axId val="766877928"/>
        <c:scaling>
          <c:orientation val="minMax"/>
          <c:max val="0.9"/>
        </c:scaling>
        <c:delete val="0"/>
        <c:axPos val="l"/>
        <c:majorGridlines>
          <c:spPr>
            <a:ln w="9525" cap="flat" cmpd="sng" algn="ctr">
              <a:solidFill>
                <a:schemeClr val="bg1">
                  <a:lumMod val="7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766880552"/>
        <c:crosses val="autoZero"/>
        <c:crossBetween val="between"/>
      </c:valAx>
      <c:spPr>
        <a:noFill/>
        <a:ln>
          <a:noFill/>
        </a:ln>
        <a:effectLst/>
      </c:spPr>
    </c:plotArea>
    <c:legend>
      <c:legendPos val="b"/>
      <c:layout>
        <c:manualLayout>
          <c:xMode val="edge"/>
          <c:yMode val="edge"/>
          <c:x val="0.10588162112429263"/>
          <c:y val="0.91223450061391953"/>
          <c:w val="0.81128892092315386"/>
          <c:h val="8.738520259346301E-2"/>
        </c:manualLayout>
      </c:layout>
      <c:overlay val="0"/>
      <c:spPr>
        <a:noFill/>
        <a:ln>
          <a:noFill/>
        </a:ln>
        <a:effectLst/>
      </c:spPr>
      <c:txPr>
        <a:bodyPr rot="0" spcFirstLastPara="1" vertOverflow="ellipsis" vert="horz" wrap="square" anchor="ctr" anchorCtr="1"/>
        <a:lstStyle/>
        <a:p>
          <a:pPr>
            <a:defRPr sz="1100"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1.1555158742844927E-4"/>
          <c:y val="2.862734624573306E-2"/>
          <c:w val="0.972864628878639"/>
          <c:h val="0.77313968380823572"/>
        </c:manualLayout>
      </c:layout>
      <c:barChart>
        <c:barDir val="col"/>
        <c:grouping val="clustered"/>
        <c:varyColors val="0"/>
        <c:ser>
          <c:idx val="0"/>
          <c:order val="0"/>
          <c:tx>
            <c:strRef>
              <c:f>Sheet1!$B$1</c:f>
              <c:strCache>
                <c:ptCount val="1"/>
                <c:pt idx="0">
                  <c:v>Свободная комбинация</c:v>
                </c:pt>
              </c:strCache>
            </c:strRef>
          </c:tx>
          <c:spPr>
            <a:solidFill>
              <a:srgbClr val="28BECD"/>
            </a:solidFill>
            <a:ln>
              <a:noFill/>
            </a:ln>
            <a:effectLst/>
          </c:spPr>
          <c:invertIfNegative val="0"/>
          <c:dLbls>
            <c:dLbl>
              <c:idx val="0"/>
              <c:tx>
                <c:rich>
                  <a:bodyPr/>
                  <a:lstStyle/>
                  <a:p>
                    <a:fld id="{76E4037A-DD50-4004-AB16-BEA117335BCE}"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EB2C-4601-AA7A-B36D1A8A0ADA}"/>
                </c:ext>
              </c:extLst>
            </c:dLbl>
            <c:spPr>
              <a:solidFill>
                <a:schemeClr val="bg1"/>
              </a:solid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САД (среднее)</c:v>
                </c:pt>
                <c:pt idx="1">
                  <c:v>ДАД (среднее)</c:v>
                </c:pt>
                <c:pt idx="2">
                  <c:v>Пульсовое давление (среднее)</c:v>
                </c:pt>
                <c:pt idx="3">
                  <c:v>ЧСС (средняя)</c:v>
                </c:pt>
              </c:strCache>
            </c:strRef>
          </c:cat>
          <c:val>
            <c:numRef>
              <c:f>Sheet1!$B$2:$B$5</c:f>
              <c:numCache>
                <c:formatCode>General</c:formatCode>
                <c:ptCount val="4"/>
                <c:pt idx="0">
                  <c:v>147.6</c:v>
                </c:pt>
                <c:pt idx="1">
                  <c:v>88.3</c:v>
                </c:pt>
                <c:pt idx="2">
                  <c:v>59.3</c:v>
                </c:pt>
                <c:pt idx="3">
                  <c:v>75.8</c:v>
                </c:pt>
              </c:numCache>
            </c:numRef>
          </c:val>
          <c:extLst>
            <c:ext xmlns:c16="http://schemas.microsoft.com/office/drawing/2014/chart" uri="{C3380CC4-5D6E-409C-BE32-E72D297353CC}">
              <c16:uniqueId val="{00000001-EB2C-4601-AA7A-B36D1A8A0ADA}"/>
            </c:ext>
          </c:extLst>
        </c:ser>
        <c:ser>
          <c:idx val="1"/>
          <c:order val="1"/>
          <c:tx>
            <c:strRef>
              <c:f>Sheet1!$C$1</c:f>
              <c:strCache>
                <c:ptCount val="1"/>
                <c:pt idx="0">
                  <c:v>Конкор® АМ</c:v>
                </c:pt>
              </c:strCache>
            </c:strRef>
          </c:tx>
          <c:spPr>
            <a:solidFill>
              <a:srgbClr val="398ACB"/>
            </a:solidFill>
            <a:ln>
              <a:noFill/>
            </a:ln>
            <a:effectLst/>
          </c:spPr>
          <c:invertIfNegative val="0"/>
          <c:dLbls>
            <c:spPr>
              <a:solidFill>
                <a:schemeClr val="bg1"/>
              </a:solidFill>
              <a:ln>
                <a:noFill/>
              </a:ln>
              <a:effectLst/>
            </c:spPr>
            <c:txPr>
              <a:bodyPr rot="0" spcFirstLastPara="1" vertOverflow="ellipsis" vert="horz" wrap="square" anchor="ctr" anchorCtr="1"/>
              <a:lstStyle/>
              <a:p>
                <a:pPr>
                  <a:defRPr sz="1197"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САД (среднее)</c:v>
                </c:pt>
                <c:pt idx="1">
                  <c:v>ДАД (среднее)</c:v>
                </c:pt>
                <c:pt idx="2">
                  <c:v>Пульсовое давление (среднее)</c:v>
                </c:pt>
                <c:pt idx="3">
                  <c:v>ЧСС (средняя)</c:v>
                </c:pt>
              </c:strCache>
            </c:strRef>
          </c:cat>
          <c:val>
            <c:numRef>
              <c:f>Sheet1!$C$2:$C$5</c:f>
              <c:numCache>
                <c:formatCode>General</c:formatCode>
                <c:ptCount val="4"/>
                <c:pt idx="0">
                  <c:v>131.19999999999999</c:v>
                </c:pt>
                <c:pt idx="1">
                  <c:v>78.900000000000006</c:v>
                </c:pt>
                <c:pt idx="2">
                  <c:v>52.3</c:v>
                </c:pt>
                <c:pt idx="3">
                  <c:v>68.400000000000006</c:v>
                </c:pt>
              </c:numCache>
            </c:numRef>
          </c:val>
          <c:extLst>
            <c:ext xmlns:c16="http://schemas.microsoft.com/office/drawing/2014/chart" uri="{C3380CC4-5D6E-409C-BE32-E72D297353CC}">
              <c16:uniqueId val="{00000002-EB2C-4601-AA7A-B36D1A8A0ADA}"/>
            </c:ext>
          </c:extLst>
        </c:ser>
        <c:dLbls>
          <c:dLblPos val="outEnd"/>
          <c:showLegendKey val="0"/>
          <c:showVal val="1"/>
          <c:showCatName val="0"/>
          <c:showSerName val="0"/>
          <c:showPercent val="0"/>
          <c:showBubbleSize val="0"/>
        </c:dLbls>
        <c:gapWidth val="100"/>
        <c:axId val="251820672"/>
        <c:axId val="251826560"/>
      </c:barChart>
      <c:catAx>
        <c:axId val="251820672"/>
        <c:scaling>
          <c:orientation val="minMax"/>
        </c:scaling>
        <c:delete val="0"/>
        <c:axPos val="b"/>
        <c:numFmt formatCode="General" sourceLinked="1"/>
        <c:majorTickMark val="none"/>
        <c:minorTickMark val="none"/>
        <c:tickLblPos val="nextTo"/>
        <c:spPr>
          <a:noFill/>
          <a:ln w="12700" cap="flat" cmpd="sng" algn="ctr">
            <a:solidFill>
              <a:schemeClr val="bg1">
                <a:lumMod val="75000"/>
              </a:schemeClr>
            </a:solidFill>
            <a:round/>
          </a:ln>
          <a:effectLst/>
        </c:spPr>
        <c:txPr>
          <a:bodyPr rot="-60000000" spcFirstLastPara="1" vertOverflow="ellipsis" vert="horz" wrap="square" anchor="ctr" anchorCtr="1"/>
          <a:lstStyle/>
          <a:p>
            <a:pPr>
              <a:defRPr sz="1000" b="1"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6560"/>
        <c:crosses val="autoZero"/>
        <c:auto val="1"/>
        <c:lblAlgn val="ctr"/>
        <c:lblOffset val="100"/>
        <c:noMultiLvlLbl val="0"/>
      </c:catAx>
      <c:valAx>
        <c:axId val="251826560"/>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crossAx val="251820672"/>
        <c:crosses val="autoZero"/>
        <c:crossBetween val="between"/>
      </c:valAx>
      <c:spPr>
        <a:noFill/>
        <a:ln>
          <a:noFill/>
        </a:ln>
        <a:effectLst/>
      </c:spPr>
    </c:plotArea>
    <c:legend>
      <c:legendPos val="b"/>
      <c:layout>
        <c:manualLayout>
          <c:xMode val="edge"/>
          <c:yMode val="edge"/>
          <c:x val="0.69396748846297762"/>
          <c:y val="0.22259610903260754"/>
          <c:w val="0.30603251153702243"/>
          <c:h val="0.10035018663076656"/>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265374"/>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Verdana" panose="020B0604030504040204" pitchFamily="34" charset="0"/>
          <a:ea typeface="Verdana" panose="020B0604030504040204" pitchFamily="34" charset="0"/>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CACED0"/>
            </a:solidFill>
            <a:ln w="38100" cap="rnd">
              <a:solidFill>
                <a:sysClr val="window" lastClr="FFFFFF"/>
              </a:solidFill>
            </a:ln>
          </c:spPr>
          <c:dPt>
            <c:idx val="0"/>
            <c:bubble3D val="0"/>
            <c:spPr>
              <a:solidFill>
                <a:srgbClr val="00BFB3"/>
              </a:solidFill>
              <a:ln w="38100" cap="rnd">
                <a:solidFill>
                  <a:sysClr val="window" lastClr="FFFFFF"/>
                </a:solidFill>
              </a:ln>
            </c:spPr>
            <c:extLst>
              <c:ext xmlns:c16="http://schemas.microsoft.com/office/drawing/2014/chart" uri="{C3380CC4-5D6E-409C-BE32-E72D297353CC}">
                <c16:uniqueId val="{00000001-6DEB-4A54-8989-CCBCDD0D08A5}"/>
              </c:ext>
            </c:extLst>
          </c:dPt>
          <c:dPt>
            <c:idx val="1"/>
            <c:bubble3D val="0"/>
            <c:extLst>
              <c:ext xmlns:c16="http://schemas.microsoft.com/office/drawing/2014/chart" uri="{C3380CC4-5D6E-409C-BE32-E72D297353CC}">
                <c16:uniqueId val="{00000002-6DEB-4A54-8989-CCBCDD0D08A5}"/>
              </c:ext>
            </c:extLst>
          </c:dPt>
          <c:dPt>
            <c:idx val="2"/>
            <c:bubble3D val="0"/>
            <c:extLst>
              <c:ext xmlns:c16="http://schemas.microsoft.com/office/drawing/2014/chart" uri="{C3380CC4-5D6E-409C-BE32-E72D297353CC}">
                <c16:uniqueId val="{00000003-6DEB-4A54-8989-CCBCDD0D08A5}"/>
              </c:ext>
            </c:extLst>
          </c:dPt>
          <c:dPt>
            <c:idx val="3"/>
            <c:bubble3D val="0"/>
            <c:extLst>
              <c:ext xmlns:c16="http://schemas.microsoft.com/office/drawing/2014/chart" uri="{C3380CC4-5D6E-409C-BE32-E72D297353CC}">
                <c16:uniqueId val="{00000004-6DEB-4A54-8989-CCBCDD0D08A5}"/>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5-6DEB-4A54-8989-CCBCDD0D08A5}"/>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CACED0"/>
            </a:solidFill>
            <a:ln w="38100" cap="rnd">
              <a:solidFill>
                <a:sysClr val="window" lastClr="FFFFFF"/>
              </a:solidFill>
            </a:ln>
          </c:spPr>
          <c:dPt>
            <c:idx val="0"/>
            <c:bubble3D val="0"/>
            <c:extLst>
              <c:ext xmlns:c16="http://schemas.microsoft.com/office/drawing/2014/chart" uri="{C3380CC4-5D6E-409C-BE32-E72D297353CC}">
                <c16:uniqueId val="{00000000-06FC-4E5A-9A5A-61D20AD1E6B7}"/>
              </c:ext>
            </c:extLst>
          </c:dPt>
          <c:dPt>
            <c:idx val="1"/>
            <c:bubble3D val="0"/>
            <c:spPr>
              <a:solidFill>
                <a:srgbClr val="00BFB3"/>
              </a:solidFill>
              <a:ln w="38100" cap="rnd">
                <a:solidFill>
                  <a:sysClr val="window" lastClr="FFFFFF"/>
                </a:solidFill>
              </a:ln>
            </c:spPr>
            <c:extLst>
              <c:ext xmlns:c16="http://schemas.microsoft.com/office/drawing/2014/chart" uri="{C3380CC4-5D6E-409C-BE32-E72D297353CC}">
                <c16:uniqueId val="{00000002-06FC-4E5A-9A5A-61D20AD1E6B7}"/>
              </c:ext>
            </c:extLst>
          </c:dPt>
          <c:dPt>
            <c:idx val="2"/>
            <c:bubble3D val="0"/>
            <c:extLst>
              <c:ext xmlns:c16="http://schemas.microsoft.com/office/drawing/2014/chart" uri="{C3380CC4-5D6E-409C-BE32-E72D297353CC}">
                <c16:uniqueId val="{00000003-06FC-4E5A-9A5A-61D20AD1E6B7}"/>
              </c:ext>
            </c:extLst>
          </c:dPt>
          <c:dPt>
            <c:idx val="3"/>
            <c:bubble3D val="0"/>
            <c:extLst>
              <c:ext xmlns:c16="http://schemas.microsoft.com/office/drawing/2014/chart" uri="{C3380CC4-5D6E-409C-BE32-E72D297353CC}">
                <c16:uniqueId val="{00000004-06FC-4E5A-9A5A-61D20AD1E6B7}"/>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5-06FC-4E5A-9A5A-61D20AD1E6B7}"/>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79918066883096"/>
          <c:y val="1.6116976252206566E-2"/>
          <c:w val="0.70879094255996655"/>
          <c:h val="0.98388302374779346"/>
        </c:manualLayout>
      </c:layout>
      <c:doughnutChart>
        <c:varyColors val="1"/>
        <c:ser>
          <c:idx val="0"/>
          <c:order val="0"/>
          <c:tx>
            <c:strRef>
              <c:f>Sheet1!$B$1</c:f>
              <c:strCache>
                <c:ptCount val="1"/>
                <c:pt idx="0">
                  <c:v>Series 1</c:v>
                </c:pt>
              </c:strCache>
            </c:strRef>
          </c:tx>
          <c:spPr>
            <a:solidFill>
              <a:srgbClr val="00BFB3"/>
            </a:solidFill>
            <a:ln w="38100" cap="rnd">
              <a:solidFill>
                <a:sysClr val="window" lastClr="FFFFFF"/>
              </a:solidFill>
            </a:ln>
          </c:spPr>
          <c:dPt>
            <c:idx val="0"/>
            <c:bubble3D val="0"/>
            <c:spPr>
              <a:solidFill>
                <a:srgbClr val="CACED0"/>
              </a:solidFill>
              <a:ln w="38100" cap="rnd">
                <a:solidFill>
                  <a:sysClr val="window" lastClr="FFFFFF"/>
                </a:solidFill>
              </a:ln>
            </c:spPr>
            <c:extLst>
              <c:ext xmlns:c16="http://schemas.microsoft.com/office/drawing/2014/chart" uri="{C3380CC4-5D6E-409C-BE32-E72D297353CC}">
                <c16:uniqueId val="{00000001-8573-4EE0-BCC1-003DFE1CE974}"/>
              </c:ext>
            </c:extLst>
          </c:dPt>
          <c:dPt>
            <c:idx val="1"/>
            <c:bubble3D val="0"/>
            <c:spPr>
              <a:solidFill>
                <a:srgbClr val="CACED0"/>
              </a:solidFill>
              <a:ln w="38100" cap="rnd">
                <a:solidFill>
                  <a:sysClr val="window" lastClr="FFFFFF"/>
                </a:solidFill>
              </a:ln>
            </c:spPr>
            <c:extLst>
              <c:ext xmlns:c16="http://schemas.microsoft.com/office/drawing/2014/chart" uri="{C3380CC4-5D6E-409C-BE32-E72D297353CC}">
                <c16:uniqueId val="{00000003-8573-4EE0-BCC1-003DFE1CE974}"/>
              </c:ext>
            </c:extLst>
          </c:dPt>
          <c:dPt>
            <c:idx val="2"/>
            <c:bubble3D val="0"/>
            <c:extLst>
              <c:ext xmlns:c16="http://schemas.microsoft.com/office/drawing/2014/chart" uri="{C3380CC4-5D6E-409C-BE32-E72D297353CC}">
                <c16:uniqueId val="{00000004-8573-4EE0-BCC1-003DFE1CE974}"/>
              </c:ext>
            </c:extLst>
          </c:dPt>
          <c:dPt>
            <c:idx val="3"/>
            <c:bubble3D val="0"/>
            <c:spPr>
              <a:solidFill>
                <a:srgbClr val="CACED0"/>
              </a:solidFill>
              <a:ln w="38100" cap="rnd">
                <a:solidFill>
                  <a:sysClr val="window" lastClr="FFFFFF"/>
                </a:solidFill>
              </a:ln>
            </c:spPr>
            <c:extLst>
              <c:ext xmlns:c16="http://schemas.microsoft.com/office/drawing/2014/chart" uri="{C3380CC4-5D6E-409C-BE32-E72D297353CC}">
                <c16:uniqueId val="{00000006-8573-4EE0-BCC1-003DFE1CE974}"/>
              </c:ext>
            </c:extLst>
          </c:dPt>
          <c:cat>
            <c:strRef>
              <c:f>Sheet1!$A$2:$A$4</c:f>
              <c:strCache>
                <c:ptCount val="3"/>
                <c:pt idx="0">
                  <c:v>Category 1</c:v>
                </c:pt>
                <c:pt idx="1">
                  <c:v>Category 2</c:v>
                </c:pt>
                <c:pt idx="2">
                  <c:v>Category 3</c:v>
                </c:pt>
              </c:strCache>
            </c:strRef>
          </c:cat>
          <c:val>
            <c:numRef>
              <c:f>Sheet1!$B$2:$B$4</c:f>
              <c:numCache>
                <c:formatCode>General</c:formatCode>
                <c:ptCount val="3"/>
                <c:pt idx="0">
                  <c:v>25</c:v>
                </c:pt>
                <c:pt idx="1">
                  <c:v>25</c:v>
                </c:pt>
                <c:pt idx="2">
                  <c:v>25</c:v>
                </c:pt>
              </c:numCache>
            </c:numRef>
          </c:val>
          <c:extLst>
            <c:ext xmlns:c16="http://schemas.microsoft.com/office/drawing/2014/chart" uri="{C3380CC4-5D6E-409C-BE32-E72D297353CC}">
              <c16:uniqueId val="{00000007-8573-4EE0-BCC1-003DFE1CE974}"/>
            </c:ext>
          </c:extLst>
        </c:ser>
        <c:dLbls>
          <c:showLegendKey val="0"/>
          <c:showVal val="0"/>
          <c:showCatName val="0"/>
          <c:showSerName val="0"/>
          <c:showPercent val="0"/>
          <c:showBubbleSize val="0"/>
          <c:showLeaderLines val="1"/>
        </c:dLbls>
        <c:firstSliceAng val="0"/>
        <c:holeSize val="75"/>
      </c:doughnutChart>
      <c:spPr>
        <a:noFill/>
        <a:ln w="25400">
          <a:noFill/>
        </a:ln>
      </c:spPr>
    </c:plotArea>
    <c:plotVisOnly val="1"/>
    <c:dispBlanksAs val="zero"/>
    <c:showDLblsOverMax val="0"/>
  </c:chart>
  <c:txPr>
    <a:bodyPr/>
    <a:lstStyle/>
    <a:p>
      <a:pPr>
        <a:defRPr sz="1800"/>
      </a:pPr>
      <a:endParaRPr lang="en-US"/>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r>
              <a:rPr lang="ru-RU" sz="2400" b="1"/>
              <a:t>Доля</a:t>
            </a:r>
            <a:r>
              <a:rPr lang="en-US" sz="2400" b="1"/>
              <a:t> </a:t>
            </a:r>
            <a:r>
              <a:rPr lang="ru-RU" sz="2400" b="1"/>
              <a:t>сопутствующих</a:t>
            </a:r>
            <a:r>
              <a:rPr lang="ru-RU" sz="2400" b="1" baseline="0"/>
              <a:t> заболеваний у пациентов с ИБС</a:t>
            </a:r>
            <a:r>
              <a:rPr lang="ru-RU" sz="2400" b="1"/>
              <a:t>, %</a:t>
            </a:r>
          </a:p>
        </c:rich>
      </c:tx>
      <c:overlay val="0"/>
      <c:spPr>
        <a:noFill/>
        <a:ln>
          <a:noFill/>
        </a:ln>
        <a:effectLst/>
      </c:spPr>
      <c:txPr>
        <a:bodyPr rot="0" spcFirstLastPara="1" vertOverflow="ellipsis" vert="horz" wrap="square" anchor="ctr" anchorCtr="1"/>
        <a:lstStyle/>
        <a:p>
          <a:pPr>
            <a:defRPr sz="2400" b="1"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barChart>
        <c:barDir val="bar"/>
        <c:grouping val="clustered"/>
        <c:varyColors val="0"/>
        <c:ser>
          <c:idx val="0"/>
          <c:order val="0"/>
          <c:tx>
            <c:strRef>
              <c:f>Диаграмма!$B$4</c:f>
              <c:strCache>
                <c:ptCount val="1"/>
                <c:pt idx="0">
                  <c:v>Доля, %</c:v>
                </c:pt>
              </c:strCache>
            </c:strRef>
          </c:tx>
          <c:spPr>
            <a:solidFill>
              <a:schemeClr val="accent1"/>
            </a:solidFill>
            <a:ln>
              <a:noFill/>
            </a:ln>
            <a:effectLst/>
          </c:spPr>
          <c:invertIfNegative val="0"/>
          <c:cat>
            <c:strRef>
              <c:f>Диаграмма!$A$5:$A$11</c:f>
              <c:strCache>
                <c:ptCount val="7"/>
                <c:pt idx="0">
                  <c:v>Артериальная гипертензия [1,2]</c:v>
                </c:pt>
                <c:pt idx="1">
                  <c:v>Дислипидемия [2]</c:v>
                </c:pt>
                <c:pt idx="2">
                  <c:v>Ожирение (ИМТ ≥ 30) [3]</c:v>
                </c:pt>
                <c:pt idx="3">
                  <c:v>Сахарный диабет 2 типа [2]</c:v>
                </c:pt>
                <c:pt idx="4">
                  <c:v>ХБП (рСКФ &lt; 60 мл/мин/1,73 м²) [2]</c:v>
                </c:pt>
                <c:pt idx="5">
                  <c:v>Атеросклероз периферических артерий [4]</c:v>
                </c:pt>
                <c:pt idx="6">
                  <c:v>ХОБЛ [5]</c:v>
                </c:pt>
              </c:strCache>
            </c:strRef>
          </c:cat>
          <c:val>
            <c:numRef>
              <c:f>Диаграмма!$B$5:$B$11</c:f>
              <c:numCache>
                <c:formatCode>General</c:formatCode>
                <c:ptCount val="7"/>
                <c:pt idx="0">
                  <c:v>85</c:v>
                </c:pt>
                <c:pt idx="1">
                  <c:v>75</c:v>
                </c:pt>
                <c:pt idx="2">
                  <c:v>38</c:v>
                </c:pt>
                <c:pt idx="3">
                  <c:v>30</c:v>
                </c:pt>
                <c:pt idx="4">
                  <c:v>22</c:v>
                </c:pt>
                <c:pt idx="5">
                  <c:v>15</c:v>
                </c:pt>
                <c:pt idx="6">
                  <c:v>14</c:v>
                </c:pt>
              </c:numCache>
            </c:numRef>
          </c:val>
          <c:extLst>
            <c:ext xmlns:c16="http://schemas.microsoft.com/office/drawing/2014/chart" uri="{C3380CC4-5D6E-409C-BE32-E72D297353CC}">
              <c16:uniqueId val="{00000000-6C8E-4119-BDB9-9ED26AB78946}"/>
            </c:ext>
          </c:extLst>
        </c:ser>
        <c:dLbls>
          <c:showLegendKey val="0"/>
          <c:showVal val="0"/>
          <c:showCatName val="0"/>
          <c:showSerName val="0"/>
          <c:showPercent val="0"/>
          <c:showBubbleSize val="0"/>
        </c:dLbls>
        <c:gapWidth val="182"/>
        <c:axId val="1494587776"/>
        <c:axId val="1494609856"/>
      </c:barChart>
      <c:catAx>
        <c:axId val="14945877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ru-RU"/>
          </a:p>
        </c:txPr>
        <c:crossAx val="1494609856"/>
        <c:crosses val="autoZero"/>
        <c:auto val="1"/>
        <c:lblAlgn val="ctr"/>
        <c:lblOffset val="100"/>
        <c:noMultiLvlLbl val="0"/>
      </c:catAx>
      <c:valAx>
        <c:axId val="14946098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ru-RU"/>
          </a:p>
        </c:txPr>
        <c:crossAx val="1494587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withinLinearReversed" id="25">
  <a:schemeClr val="accent5"/>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Reversed" id="25">
  <a:schemeClr val="accent5"/>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cdr:x>
      <cdr:y>0.84997</cdr:y>
    </cdr:from>
    <cdr:to>
      <cdr:x>0.97776</cdr:x>
      <cdr:y>0.90421</cdr:y>
    </cdr:to>
    <cdr:sp macro="" textlink="">
      <cdr:nvSpPr>
        <cdr:cNvPr id="2" name="TextBox 1">
          <a:extLst xmlns:a="http://schemas.openxmlformats.org/drawingml/2006/main">
            <a:ext uri="{FF2B5EF4-FFF2-40B4-BE49-F238E27FC236}">
              <a16:creationId xmlns:a16="http://schemas.microsoft.com/office/drawing/2014/main" id="{2F7A103E-C840-4338-B1A9-308ECAF3E060}"/>
            </a:ext>
          </a:extLst>
        </cdr:cNvPr>
        <cdr:cNvSpPr txBox="1"/>
      </cdr:nvSpPr>
      <cdr:spPr>
        <a:xfrm xmlns:a="http://schemas.openxmlformats.org/drawingml/2006/main">
          <a:off x="0" y="4147807"/>
          <a:ext cx="10067543" cy="264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ru-RU" sz="1100" dirty="0"/>
            <a:t>          </a:t>
          </a:r>
        </a:p>
        <a:p xmlns:a="http://schemas.openxmlformats.org/drawingml/2006/main">
          <a:r>
            <a:rPr lang="ru-RU" sz="900" dirty="0"/>
            <a:t>            Коэффициент Коэна 1,26                 </a:t>
          </a:r>
          <a:r>
            <a:rPr lang="en-US" sz="900" dirty="0"/>
            <a:t>           </a:t>
          </a:r>
          <a:r>
            <a:rPr lang="ru-RU" sz="900" dirty="0"/>
            <a:t>Коэффициент Коэна 1,04              </a:t>
          </a:r>
          <a:r>
            <a:rPr lang="en-US" sz="900" dirty="0"/>
            <a:t>          </a:t>
          </a:r>
          <a:r>
            <a:rPr lang="ru-RU" sz="900" dirty="0"/>
            <a:t>Коэффициент Коэна 0,6                 </a:t>
          </a:r>
          <a:r>
            <a:rPr lang="en-US" sz="900" dirty="0"/>
            <a:t>        </a:t>
          </a:r>
          <a:r>
            <a:rPr lang="ru-RU" sz="900" dirty="0"/>
            <a:t> Коэффициент Коэна 0,85 </a:t>
          </a:r>
          <a:endParaRPr lang="ru-RU" dirty="0"/>
        </a:p>
        <a:p xmlns:a="http://schemas.openxmlformats.org/drawingml/2006/main">
          <a:r>
            <a:rPr lang="ru-RU" dirty="0"/>
            <a:t> </a:t>
          </a:r>
        </a:p>
        <a:p xmlns:a="http://schemas.openxmlformats.org/drawingml/2006/main">
          <a:r>
            <a:rPr lang="ru-RU" dirty="0"/>
            <a:t> </a:t>
          </a:r>
        </a:p>
        <a:p xmlns:a="http://schemas.openxmlformats.org/drawingml/2006/main">
          <a:r>
            <a:rPr lang="ru-RU" sz="1100" dirty="0"/>
            <a:t>6 </a:t>
          </a:r>
          <a:endParaRPr lang="en-US" sz="1100" dirty="0"/>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4T11:58:56.006"/>
    </inkml:context>
    <inkml:brush xml:id="br0">
      <inkml:brushProperty name="width" value="0.05" units="cm"/>
      <inkml:brushProperty name="height" value="0.05" units="cm"/>
      <inkml:brushProperty name="color" value="#E71224"/>
    </inkml:brush>
  </inkml:definitions>
  <inkml:trace contextRef="#ctx0" brushRef="#br0">0 0 11464 0 0,'0'0'320'0'0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7AEE64-B5D4-49FC-ADE8-3616F51E0C75}" type="datetimeFigureOut">
              <a:rPr lang="ru-RU" smtClean="0"/>
              <a:t>27.08.2026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7442E-13BB-4B0E-98E5-D0E84D3A47E7}" type="slidenum">
              <a:rPr lang="ru-RU" smtClean="0"/>
              <a:t>‹#›</a:t>
            </a:fld>
            <a:endParaRPr lang="ru-RU"/>
          </a:p>
        </p:txBody>
      </p:sp>
    </p:spTree>
    <p:extLst>
      <p:ext uri="{BB962C8B-B14F-4D97-AF65-F5344CB8AC3E}">
        <p14:creationId xmlns:p14="http://schemas.microsoft.com/office/powerpoint/2010/main" val="236602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q=sepsis&amp;newwindow=1&amp;sca_esv=44ef909211c6f503&amp;rlz=1C1GCEA_enDE1010DE1010&amp;sxsrf=AE3TifPy81YH9LsWafOJBeZrcsD-d6dzKA%3A1765293696801&amp;ei=gD44abnSMKyQxc8P6Ji5kAs&amp;ved=2ahUKEwij5_Tn57CRAxUvSvEDHVd_N4QQgK4QegQIARAC&amp;uact=5&amp;oq=Intravascular+plugging%0D%0A&amp;gs_lp=Egxnd3Mtd2l6LXNlcnAiF0ludHJhdmFzY3VsYXIgcGx1Z2dpbmcKSABQAFgAcAB4AZABAJgBAKABAKoBALgBA8gBAPgBAvgBAZgCAKACAJgDAJIHAKAHALIHALgHAMIHAMgHAIAIAA&amp;sclient=gws-wiz-serp&amp;mstk=AUtExfAQqg1w4zcNijxgqR7cu0bqji8TSo6VPiruXBHq3qmGapHUa9Oxx0eRDKK39gPX2kCWT9os63Indc_gpzIbR_IP8redxkhomSMeRVWoY0XBFZNfZ4vMU0Rw6axZ1Hn6MenhOkK3KQ6KLGMaPoBeV9V01xnedfll0qqjNtAcb4TybrxvneCQfa-LYgP8xw4z-LEOGVitCs-5y_u3Vx9fC6e7gskKTZprm7iJJgVrN-iMwPovuPr-MSSF5lzSZsg1FMWMjit0TTgBPUFh-SonA1EEbh7G4zI9Ja1HPkNqiAPynw&amp;csui=3"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sym typeface="Helvetica Neue"/>
              </a:rPr>
              <a:pPr marL="0" marR="0" lvl="0" indent="0" algn="l" defTabSz="914377"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dirty="0">
              <a:ln>
                <a:noFill/>
              </a:ln>
              <a:solidFill>
                <a:srgbClr val="000000"/>
              </a:solidFill>
              <a:effectLst/>
              <a:uLnTx/>
              <a:uFillTx/>
              <a:latin typeface="Verdana"/>
              <a:ea typeface="+mn-ea"/>
              <a:cs typeface="+mn-cs"/>
              <a:sym typeface="Helvetica Neue"/>
            </a:endParaRPr>
          </a:p>
        </p:txBody>
      </p:sp>
    </p:spTree>
    <p:extLst>
      <p:ext uri="{BB962C8B-B14F-4D97-AF65-F5344CB8AC3E}">
        <p14:creationId xmlns:p14="http://schemas.microsoft.com/office/powerpoint/2010/main" val="104350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function of the coronary arteries is to supply blood to the heart muscle. Like all other tissues in the body, the heart muscle needs oxygen-rich blood to function, and oxygen-depleted blood must be re-circulated to the lungs. The coronary arteries are made up of two large branches called the right and left coronary arteries. The left coronary artery system branches into the circumflex artery and the left anterior descending artery.</a:t>
            </a:r>
          </a:p>
          <a:p>
            <a:r>
              <a:rPr lang="en-US" sz="1200" b="0" i="0" kern="1200" dirty="0">
                <a:solidFill>
                  <a:schemeClr val="tx1"/>
                </a:solidFill>
                <a:effectLst/>
                <a:latin typeface="+mn-lt"/>
                <a:ea typeface="+mn-ea"/>
                <a:cs typeface="+mn-cs"/>
              </a:rPr>
              <a:t>The two main coronary arteries are the left main and right coronary arteries. The left main coronary artery (LMCA), which divides into the left anterior descending artery and the circumflex branch, supplies blood to the left ventricle and left atrium. The right coronary artery (RCA), which divides into the right posterior descending and acute marginal arteries, supplies blood to the right ventricle, right atrium, and sinoatrial node (cluster of cells in the right atrial wall that regulates the heart's rhythmic rate).</a:t>
            </a:r>
          </a:p>
          <a:p>
            <a:r>
              <a:rPr lang="en-US" sz="1200" b="0" i="0" kern="1200" dirty="0">
                <a:solidFill>
                  <a:schemeClr val="tx1"/>
                </a:solidFill>
                <a:effectLst/>
                <a:latin typeface="+mn-lt"/>
                <a:ea typeface="+mn-ea"/>
                <a:cs typeface="+mn-cs"/>
              </a:rPr>
              <a:t>A myocardial bridge is a congenital condition where a segment of a coronary artery tunnels through the heart muscle instead of lying on its surface. This can cause the artery to compress during heart contractions, reducing blood flow and potentially leading to symptoms like chest pain (angina), shortness of breath, or heart palpitations.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Verdana" panose="020B0604030504040204" pitchFamily="34" charset="0"/>
                <a:ea typeface="+mn-ea"/>
                <a:cs typeface="+mn-cs"/>
              </a:rPr>
              <a:t>Capillary rarefaction is the </a:t>
            </a:r>
            <a:r>
              <a:rPr lang="en-US" dirty="0"/>
              <a:t>harmful loss or thinning of tiny blood vessels (capillaries) in tissues, reducing their density, which impairs oxygen and nutrient delivery, leading to tissue damage and organ dysfunction, and is a hallmark of diseases like hypertension, diabetes, and chronic kidney disease (CKD)</a:t>
            </a:r>
          </a:p>
          <a:p>
            <a:r>
              <a:rPr lang="en-US" dirty="0"/>
              <a:t>Intravascular plugging refers to small blood clots (thrombi) forming and obstructing blood vessels, often within the microcirculation</a:t>
            </a:r>
            <a:r>
              <a:rPr lang="en-US" sz="1200" b="0" i="0" kern="1200" dirty="0">
                <a:solidFill>
                  <a:schemeClr val="tx1"/>
                </a:solidFill>
                <a:effectLst/>
                <a:latin typeface="+mn-lt"/>
                <a:ea typeface="+mn-ea"/>
                <a:cs typeface="+mn-cs"/>
              </a:rPr>
              <a:t>, a hallmark of severe conditions like </a:t>
            </a:r>
            <a:r>
              <a:rPr lang="en-US" sz="1200" b="1" i="0" kern="1200" dirty="0">
                <a:solidFill>
                  <a:schemeClr val="tx1"/>
                </a:solidFill>
                <a:effectLst/>
                <a:latin typeface="+mn-lt"/>
                <a:ea typeface="+mn-ea"/>
                <a:cs typeface="+mn-cs"/>
              </a:rPr>
              <a:t>Disseminated Intravascular Coagulation (DIC)</a:t>
            </a:r>
            <a:r>
              <a:rPr lang="en-US" sz="1200" b="0" i="0" kern="1200" dirty="0">
                <a:solidFill>
                  <a:schemeClr val="tx1"/>
                </a:solidFill>
                <a:effectLst/>
                <a:latin typeface="+mn-lt"/>
                <a:ea typeface="+mn-ea"/>
                <a:cs typeface="+mn-cs"/>
              </a:rPr>
              <a:t>, where widespread clotting depletes clotting factors, paradoxically leading to bleeding. Caused by major trauma, severe infections (</a:t>
            </a:r>
            <a:r>
              <a:rPr lang="en-US" sz="1200" b="0" i="0" kern="1200" dirty="0">
                <a:solidFill>
                  <a:schemeClr val="tx1"/>
                </a:solidFill>
                <a:effectLst/>
                <a:latin typeface="+mn-lt"/>
                <a:ea typeface="+mn-ea"/>
                <a:cs typeface="+mn-cs"/>
                <a:hlinkClick r:id="rId3"/>
              </a:rPr>
              <a:t>sepsis</a:t>
            </a:r>
            <a:r>
              <a:rPr lang="en-US" sz="1200" b="0" i="0" kern="1200" dirty="0">
                <a:solidFill>
                  <a:schemeClr val="tx1"/>
                </a:solidFill>
                <a:effectLst/>
                <a:latin typeface="+mn-lt"/>
                <a:ea typeface="+mn-ea"/>
                <a:cs typeface="+mn-cs"/>
              </a:rPr>
              <a:t>), cancer, or obstetric issues, these clots starve organs like kidneys or brain of oxygen, causing dysfunction, while the body's clotting system becomes exhausted, leading to spontaneous hemorrhage.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8C1BB8-69D1-41DF-B2D4-4B31DF971AF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9095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10D86-D0D0-3AAE-DFE0-48209D95C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353CA-2F6C-72B3-C2D3-D25AE40AF6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67DDE-0B7B-A4AD-B89E-83A03BB72632}"/>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3ED10A9-D294-6D31-26F1-F89D58401892}"/>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7</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1227452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Просьба проверить</a:t>
            </a:r>
            <a:r>
              <a:rPr lang="en-US" dirty="0"/>
              <a:t> (!)</a:t>
            </a:r>
            <a:r>
              <a:rPr lang="ru-RU" dirty="0"/>
              <a:t>, текст </a:t>
            </a:r>
            <a:r>
              <a:rPr lang="ru-RU" dirty="0" err="1"/>
              <a:t>перенабирала</a:t>
            </a:r>
            <a:r>
              <a:rPr lang="ru-RU" dirty="0"/>
              <a:t> полностью</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Селективные β-АБ в большей степени действуют на β1-рецепторы сердца и в меньшей степени</a:t>
            </a:r>
            <a:r>
              <a:rPr lang="ru-RU" baseline="0" dirty="0"/>
              <a:t> </a:t>
            </a:r>
            <a:r>
              <a:rPr lang="ru-RU" dirty="0"/>
              <a:t>оказывают влияние на β2-рецепторы других органов и систем. [2]</a:t>
            </a:r>
          </a:p>
          <a:p>
            <a:r>
              <a:rPr lang="ru-RU" dirty="0"/>
              <a:t>β1-селективные β-АБ более безопасны у больных с </a:t>
            </a:r>
            <a:r>
              <a:rPr lang="ru-RU" dirty="0" err="1"/>
              <a:t>обструктивными</a:t>
            </a:r>
            <a:r>
              <a:rPr lang="ru-RU" dirty="0"/>
              <a:t> заболеваниями легких, оказывают минимальное действие в отношении липидного обмена [1]; а, также, избирательность действия на β1-рецепторы (</a:t>
            </a:r>
            <a:r>
              <a:rPr lang="ru-RU" dirty="0" err="1"/>
              <a:t>кардиоселективность</a:t>
            </a:r>
            <a:r>
              <a:rPr lang="ru-RU" dirty="0"/>
              <a:t>) позволяет избежать ряда таких побочных эффектов, как: [1, 2]</a:t>
            </a:r>
          </a:p>
          <a:p>
            <a:r>
              <a:rPr lang="ru-RU" dirty="0"/>
              <a:t>• бронхоспастические реакции;</a:t>
            </a:r>
          </a:p>
          <a:p>
            <a:r>
              <a:rPr lang="ru-RU" dirty="0"/>
              <a:t>• вазоспастические реакции;</a:t>
            </a:r>
          </a:p>
          <a:p>
            <a:r>
              <a:rPr lang="ru-RU" dirty="0"/>
              <a:t>• развитие гипогликемии у больных с сопутствующим </a:t>
            </a:r>
            <a:r>
              <a:rPr lang="ru-RU" dirty="0" err="1"/>
              <a:t>инсулинзависимым</a:t>
            </a:r>
            <a:r>
              <a:rPr lang="ru-RU" dirty="0"/>
              <a:t> СД; </a:t>
            </a:r>
          </a:p>
          <a:p>
            <a:r>
              <a:rPr lang="ru-RU" dirty="0"/>
              <a:t>• синдром отмены.</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1365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lienbildplatzhalter 1">
            <a:extLst>
              <a:ext uri="{FF2B5EF4-FFF2-40B4-BE49-F238E27FC236}">
                <a16:creationId xmlns:a16="http://schemas.microsoft.com/office/drawing/2014/main" id="{4820F6B9-C5A5-41D8-BEE8-EFA3247BC12A}"/>
              </a:ext>
            </a:extLst>
          </p:cNvPr>
          <p:cNvSpPr>
            <a:spLocks noGrp="1" noRot="1" noChangeAspect="1" noChangeArrowheads="1" noTextEdit="1"/>
          </p:cNvSpPr>
          <p:nvPr>
            <p:ph type="sldImg"/>
          </p:nvPr>
        </p:nvSpPr>
        <p:spPr bwMode="auto">
          <a:xfrm>
            <a:off x="444500" y="357188"/>
            <a:ext cx="4511675" cy="25384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izenplatzhalter 2">
            <a:extLst>
              <a:ext uri="{FF2B5EF4-FFF2-40B4-BE49-F238E27FC236}">
                <a16:creationId xmlns:a16="http://schemas.microsoft.com/office/drawing/2014/main" id="{7A070E1A-277B-4D85-B451-CFC9C10955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p>
        </p:txBody>
      </p:sp>
      <p:sp>
        <p:nvSpPr>
          <p:cNvPr id="4" name="Foliennummernplatzhalter 3">
            <a:extLst>
              <a:ext uri="{FF2B5EF4-FFF2-40B4-BE49-F238E27FC236}">
                <a16:creationId xmlns:a16="http://schemas.microsoft.com/office/drawing/2014/main" id="{792C173C-71A6-4893-87C0-597539500E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2BDD14-7414-4DDC-82A5-8916EE231689}" type="slidenum">
              <a:rPr kumimoji="0" lang="en-US" sz="1200" b="0" i="0" u="none" strike="noStrike" kern="1200" cap="none" spc="0" normalizeH="0" baseline="0" noProof="0" smtClean="0">
                <a:ln>
                  <a:noFill/>
                </a:ln>
                <a:solidFill>
                  <a:srgbClr val="52328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52328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9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dirty="0" err="1">
                <a:latin typeface="Calibri" panose="020F0502020204030204" pitchFamily="34" charset="0"/>
              </a:rPr>
              <a:t>Pharmacological</a:t>
            </a:r>
            <a:r>
              <a:rPr lang="it-IT" altLang="it-IT" dirty="0">
                <a:latin typeface="Calibri" panose="020F0502020204030204" pitchFamily="34" charset="0"/>
              </a:rPr>
              <a:t> </a:t>
            </a:r>
            <a:r>
              <a:rPr lang="it-IT" altLang="it-IT" dirty="0" err="1">
                <a:latin typeface="Calibri" panose="020F0502020204030204" pitchFamily="34" charset="0"/>
              </a:rPr>
              <a:t>differences</a:t>
            </a:r>
            <a:r>
              <a:rPr lang="it-IT" altLang="it-IT" dirty="0">
                <a:latin typeface="Calibri" panose="020F0502020204030204" pitchFamily="34" charset="0"/>
              </a:rPr>
              <a:t> </a:t>
            </a:r>
            <a:r>
              <a:rPr lang="it-IT" altLang="it-IT" dirty="0" err="1">
                <a:latin typeface="Calibri" panose="020F0502020204030204" pitchFamily="34" charset="0"/>
              </a:rPr>
              <a:t>among</a:t>
            </a:r>
            <a:r>
              <a:rPr lang="it-IT" altLang="it-IT" dirty="0">
                <a:latin typeface="Calibri" panose="020F0502020204030204" pitchFamily="34" charset="0"/>
              </a:rPr>
              <a:t> the </a:t>
            </a:r>
            <a:r>
              <a:rPr lang="it-IT" altLang="it-IT" dirty="0" err="1">
                <a:latin typeface="Calibri" panose="020F0502020204030204" pitchFamily="34" charset="0"/>
              </a:rPr>
              <a:t>most</a:t>
            </a:r>
            <a:r>
              <a:rPr lang="it-IT" altLang="it-IT" dirty="0">
                <a:latin typeface="Calibri" panose="020F0502020204030204" pitchFamily="34" charset="0"/>
              </a:rPr>
              <a:t> </a:t>
            </a:r>
            <a:r>
              <a:rPr lang="it-IT" altLang="it-IT" dirty="0" err="1">
                <a:latin typeface="Calibri" panose="020F0502020204030204" pitchFamily="34" charset="0"/>
              </a:rPr>
              <a:t>used</a:t>
            </a:r>
            <a:r>
              <a:rPr lang="it-IT" altLang="it-IT" dirty="0">
                <a:latin typeface="Calibri" panose="020F0502020204030204" pitchFamily="34" charset="0"/>
              </a:rPr>
              <a:t> beta-</a:t>
            </a:r>
            <a:r>
              <a:rPr lang="it-IT" altLang="it-IT" dirty="0" err="1">
                <a:latin typeface="Calibri" panose="020F0502020204030204" pitchFamily="34" charset="0"/>
              </a:rPr>
              <a:t>blockers</a:t>
            </a:r>
            <a:r>
              <a:rPr lang="it-IT" altLang="it-IT" dirty="0">
                <a:latin typeface="Calibri" panose="020F0502020204030204" pitchFamily="34" charset="0"/>
              </a:rPr>
              <a:t>.</a:t>
            </a: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15</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88238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Преимущества </a:t>
            </a:r>
            <a:r>
              <a:rPr lang="ru-RU" sz="1200" b="1" i="0" kern="1200" dirty="0" err="1">
                <a:solidFill>
                  <a:schemeClr val="tx1"/>
                </a:solidFill>
                <a:effectLst/>
                <a:latin typeface="+mn-lt"/>
                <a:ea typeface="+mn-ea"/>
                <a:cs typeface="+mn-cs"/>
              </a:rPr>
              <a:t>амфофильных</a:t>
            </a:r>
            <a:r>
              <a:rPr lang="ru-RU" sz="1200" b="1" i="0" kern="1200" dirty="0">
                <a:solidFill>
                  <a:schemeClr val="tx1"/>
                </a:solidFill>
                <a:effectLst/>
                <a:latin typeface="+mn-lt"/>
                <a:ea typeface="+mn-ea"/>
                <a:cs typeface="+mn-cs"/>
              </a:rPr>
              <a:t> β-блокаторов. </a:t>
            </a:r>
            <a:r>
              <a:rPr lang="ru-RU" sz="1200" b="1" i="0" kern="1200" baseline="30000" dirty="0">
                <a:solidFill>
                  <a:schemeClr val="tx1"/>
                </a:solidFill>
                <a:effectLst/>
                <a:latin typeface="+mn-lt"/>
                <a:ea typeface="+mn-ea"/>
                <a:cs typeface="+mn-cs"/>
              </a:rPr>
              <a:t>[1]</a:t>
            </a:r>
          </a:p>
          <a:p>
            <a:r>
              <a:rPr lang="ru-RU" sz="1200" kern="1200" dirty="0">
                <a:solidFill>
                  <a:schemeClr val="tx1"/>
                </a:solidFill>
                <a:effectLst/>
                <a:latin typeface="+mn-lt"/>
                <a:ea typeface="+mn-ea"/>
                <a:cs typeface="+mn-cs"/>
              </a:rPr>
              <a:t>Жиро- и водорастворимые β-блокаторы имеют два пути элиминации – печеночный метаболизм и почечная экскреция. </a:t>
            </a:r>
            <a:r>
              <a:rPr lang="ru-RU" sz="1200" kern="1200" dirty="0" err="1">
                <a:solidFill>
                  <a:schemeClr val="tx1"/>
                </a:solidFill>
                <a:effectLst/>
                <a:latin typeface="+mn-lt"/>
                <a:ea typeface="+mn-ea"/>
                <a:cs typeface="+mn-cs"/>
              </a:rPr>
              <a:t>Бисопролол</a:t>
            </a:r>
            <a:r>
              <a:rPr lang="ru-RU" sz="1200" kern="1200" dirty="0">
                <a:solidFill>
                  <a:schemeClr val="tx1"/>
                </a:solidFill>
                <a:effectLst/>
                <a:latin typeface="+mn-lt"/>
                <a:ea typeface="+mn-ea"/>
                <a:cs typeface="+mn-cs"/>
              </a:rPr>
              <a:t> является </a:t>
            </a:r>
            <a:r>
              <a:rPr lang="ru-RU" sz="1200" kern="1200" dirty="0" err="1">
                <a:solidFill>
                  <a:schemeClr val="tx1"/>
                </a:solidFill>
                <a:effectLst/>
                <a:latin typeface="+mn-lt"/>
                <a:ea typeface="+mn-ea"/>
                <a:cs typeface="+mn-cs"/>
              </a:rPr>
              <a:t>амфофильным</a:t>
            </a:r>
            <a:r>
              <a:rPr lang="ru-RU" sz="1200" kern="1200" dirty="0">
                <a:solidFill>
                  <a:schemeClr val="tx1"/>
                </a:solidFill>
                <a:effectLst/>
                <a:latin typeface="+mn-lt"/>
                <a:ea typeface="+mn-ea"/>
                <a:cs typeface="+mn-cs"/>
              </a:rPr>
              <a:t> β-блокатором, т.к. растворяется и в жирах, и в воде. Вследствие этого, он незначительно проникает через гематоэнцефалический барьер,</a:t>
            </a:r>
            <a:r>
              <a:rPr lang="ru-RU" sz="1200" dirty="0">
                <a:latin typeface="+mn-lt"/>
              </a:rPr>
              <a:t> хорошо всасывается в желудочно-кишечном тракте, обладает высокой </a:t>
            </a:r>
            <a:r>
              <a:rPr lang="ru-RU" sz="1200" dirty="0" err="1">
                <a:latin typeface="+mn-lt"/>
              </a:rPr>
              <a:t>биодоступностью</a:t>
            </a:r>
            <a:r>
              <a:rPr lang="ru-RU" sz="1200" kern="1200" dirty="0">
                <a:solidFill>
                  <a:schemeClr val="tx1"/>
                </a:solidFill>
                <a:effectLst/>
                <a:latin typeface="+mn-lt"/>
                <a:ea typeface="+mn-ea"/>
                <a:cs typeface="+mn-cs"/>
              </a:rPr>
              <a:t> и имеет два равноценных пути элиминации. </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9925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Антиишемическое действие β-блокаторов: </a:t>
            </a:r>
            <a:r>
              <a:rPr lang="ru-RU" sz="1200" b="1" kern="1200" baseline="30000" dirty="0">
                <a:solidFill>
                  <a:schemeClr val="tx1"/>
                </a:solidFill>
                <a:effectLst/>
                <a:latin typeface="+mn-lt"/>
                <a:ea typeface="+mn-ea"/>
                <a:cs typeface="+mn-cs"/>
              </a:rPr>
              <a:t>[1]</a:t>
            </a:r>
          </a:p>
          <a:p>
            <a:r>
              <a:rPr lang="ru-RU" sz="1200" kern="1200" dirty="0">
                <a:solidFill>
                  <a:schemeClr val="tx1"/>
                </a:solidFill>
                <a:effectLst/>
                <a:latin typeface="+mn-lt"/>
                <a:ea typeface="+mn-ea"/>
                <a:cs typeface="+mn-cs"/>
              </a:rPr>
              <a:t>• снижают потребление миокардом кислорода за счет уменьшения ЧСС, сократительной способности сердечной мышцы, систолического артериального давления; </a:t>
            </a:r>
          </a:p>
          <a:p>
            <a:r>
              <a:rPr lang="ru-RU" sz="1200" kern="1200" dirty="0">
                <a:solidFill>
                  <a:schemeClr val="tx1"/>
                </a:solidFill>
                <a:effectLst/>
                <a:latin typeface="+mn-lt"/>
                <a:ea typeface="+mn-ea"/>
                <a:cs typeface="+mn-cs"/>
              </a:rPr>
              <a:t>• удлинение диастолы, вызванное уменьшением ЧСС, может увеличить перфузию миокарда.</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5486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82C2-78DF-FF61-C2DF-6D4625038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F828B-3487-F3BB-6AC3-299B24EBD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79045-5A04-681E-AB93-72E9827FEF44}"/>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E07A730-E701-149D-0DC6-0AA5F46194F4}"/>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18</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619612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a:extLst>
              <a:ext uri="{FF2B5EF4-FFF2-40B4-BE49-F238E27FC236}">
                <a16:creationId xmlns:a16="http://schemas.microsoft.com/office/drawing/2014/main" id="{05E9F43B-E102-5281-8E7E-82D09281F1B3}"/>
              </a:ext>
            </a:extLst>
          </p:cNvPr>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3255723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016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5D64-3A26-B650-2572-78A04E540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44F36-A891-48BA-D7D2-FC8794088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9D958-5465-B32F-2493-0F49C85CA771}"/>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41E9F533-E49A-D1EB-5096-AB0C5E1A3AB2}"/>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25</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52744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ru-RU" dirty="0"/>
          </a:p>
        </p:txBody>
      </p:sp>
    </p:spTree>
    <p:extLst>
      <p:ext uri="{BB962C8B-B14F-4D97-AF65-F5344CB8AC3E}">
        <p14:creationId xmlns:p14="http://schemas.microsoft.com/office/powerpoint/2010/main" val="2258477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Дизайн исследования. </a:t>
            </a:r>
            <a:r>
              <a:rPr lang="ru-RU" sz="1200" dirty="0">
                <a:latin typeface="Calibri" panose="020F0502020204030204" pitchFamily="34" charset="0"/>
                <a:cs typeface="Calibri" panose="020F0502020204030204" pitchFamily="34" charset="0"/>
              </a:rPr>
              <a:t>[1]</a:t>
            </a:r>
          </a:p>
          <a:p>
            <a:pPr algn="just"/>
            <a:endParaRPr lang="ru-RU" sz="1200" b="1" dirty="0"/>
          </a:p>
          <a:p>
            <a:pPr algn="just"/>
            <a:r>
              <a:rPr lang="ru-RU" sz="1200" dirty="0"/>
              <a:t>В работе (</a:t>
            </a:r>
            <a:r>
              <a:rPr lang="ru-RU" sz="1200" dirty="0" err="1"/>
              <a:t>неинтервенционное</a:t>
            </a:r>
            <a:r>
              <a:rPr lang="ru-RU" sz="1200" dirty="0"/>
              <a:t> исследование) были использованы данные по 10 430 пациентам с </a:t>
            </a:r>
            <a:r>
              <a:rPr lang="ru-RU" sz="1200" dirty="0">
                <a:latin typeface="Calibri" panose="020F0502020204030204" pitchFamily="34" charset="0"/>
                <a:cs typeface="Calibri" panose="020F0502020204030204" pitchFamily="34" charset="0"/>
              </a:rPr>
              <a:t>гипертонической болезнью старше 18 лет</a:t>
            </a:r>
            <a:r>
              <a:rPr lang="ru-RU" sz="1200" dirty="0"/>
              <a:t>. Были выделены 4 группы: группа 1 – без сопутствующих заболеваний; группа 2 – с диабетом 2 типа; группа 3 – с сердечно-сосудистыми заболеваниями; группа 4 – с диабетом 2 типа и сердечно-сосудистыми заболеваниями. Приверженность к лечению определялась на основе потребления назначенных таблеток: «отлично» – &gt;90%, «хорошо» – 76-90%, «умеренно» – 51-75%, «плохо» – ≤50%. Эффективность терапии оценивали на основании снижения значений артериального и пульсового давления, а, также, из расчета доли пациентов с целевым значением артериального давления (АД) – &lt;140/90 мм рт. </a:t>
            </a:r>
            <a:r>
              <a:rPr lang="ru-RU" sz="1200" dirty="0">
                <a:cs typeface="Calibri" panose="020F0502020204030204" pitchFamily="34" charset="0"/>
              </a:rPr>
              <a:t>через 6 месяцев применения фиксированной комбинации (в сравнении с данными начала исследования). Пациенты были переведены из режима свободной комбинации препаратов </a:t>
            </a:r>
            <a:r>
              <a:rPr lang="ru-RU" sz="1200" dirty="0" err="1">
                <a:cs typeface="Calibri" panose="020F0502020204030204" pitchFamily="34" charset="0"/>
              </a:rPr>
              <a:t>Бисопролола</a:t>
            </a:r>
            <a:r>
              <a:rPr lang="ru-RU" sz="1200" dirty="0">
                <a:cs typeface="Calibri" panose="020F0502020204030204" pitchFamily="34" charset="0"/>
              </a:rPr>
              <a:t> и </a:t>
            </a:r>
            <a:r>
              <a:rPr lang="ru-RU" sz="1200" dirty="0" err="1">
                <a:cs typeface="Calibri" panose="020F0502020204030204" pitchFamily="34" charset="0"/>
              </a:rPr>
              <a:t>Амлодипина</a:t>
            </a:r>
            <a:r>
              <a:rPr lang="ru-RU" sz="1200" dirty="0">
                <a:cs typeface="Calibri" panose="020F0502020204030204" pitchFamily="34" charset="0"/>
              </a:rPr>
              <a:t> в режим фиксированной комбинации не менее, чем за 4 недели до формирования групп.</a:t>
            </a:r>
          </a:p>
          <a:p>
            <a:pPr marL="0" marR="0" indent="0" algn="just" defTabSz="914400" rtl="0" eaLnBrk="1" fontAlgn="auto" latinLnBrk="0" hangingPunct="1">
              <a:lnSpc>
                <a:spcPct val="100000"/>
              </a:lnSpc>
              <a:spcBef>
                <a:spcPts val="0"/>
              </a:spcBef>
              <a:spcAft>
                <a:spcPts val="0"/>
              </a:spcAft>
              <a:buClrTx/>
              <a:buSzTx/>
              <a:buFontTx/>
              <a:buNone/>
              <a:tabLst/>
              <a:defRPr/>
            </a:pPr>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Результаты исследования.</a:t>
            </a:r>
            <a:r>
              <a:rPr lang="ru-RU" sz="1200" dirty="0">
                <a:latin typeface="Calibri" panose="020F0502020204030204" pitchFamily="34" charset="0"/>
                <a:cs typeface="Calibri" panose="020F0502020204030204" pitchFamily="34" charset="0"/>
              </a:rPr>
              <a:t> [1]</a:t>
            </a:r>
          </a:p>
          <a:p>
            <a:pPr algn="just"/>
            <a:endParaRPr lang="ru-RU" sz="1200" i="1" dirty="0"/>
          </a:p>
          <a:p>
            <a:pPr algn="just"/>
            <a:r>
              <a:rPr lang="ru-RU" sz="1200" i="1" dirty="0"/>
              <a:t>В начале исследования </a:t>
            </a:r>
            <a:r>
              <a:rPr lang="ru-RU" sz="1200" dirty="0"/>
              <a:t>(табл. 1).</a:t>
            </a:r>
          </a:p>
          <a:p>
            <a:pPr algn="just"/>
            <a:r>
              <a:rPr lang="ru-RU" sz="1200" dirty="0"/>
              <a:t>Группа 1 (53% пациентов) – среднее систолическое АД: 145,5/88,3 мм рт. ст., доля пациентов с уровнем АД&gt;140/90 мм рт. ст. составила 28%. </a:t>
            </a:r>
          </a:p>
          <a:p>
            <a:pPr algn="just"/>
            <a:r>
              <a:rPr lang="ru-RU" sz="1200" dirty="0"/>
              <a:t>Группа 2 (8%): ​​среднее систолическое АД: 149,3 / 89,2 мм рт. ст.; 33% – с уровнем АД&gt;140/90 мм рт. ст.;</a:t>
            </a:r>
          </a:p>
          <a:p>
            <a:pPr algn="just"/>
            <a:r>
              <a:rPr lang="ru-RU" sz="1200" dirty="0"/>
              <a:t>Группа 3 (25%): среднее систолическое АД: 148,5/88,3 мм рт. ст.; 31% – с уровнем АД&gt;140/90 мм рт. ст.;</a:t>
            </a:r>
          </a:p>
          <a:p>
            <a:pPr algn="just"/>
            <a:r>
              <a:rPr lang="ru-RU" sz="1200" dirty="0"/>
              <a:t>Группа 4 (14%): среднее систолическое АД : 151,5/90,1 мм рт. ст.; 38% – с уровнем АД&gt;140/90 мм рт. ст.</a:t>
            </a:r>
          </a:p>
          <a:p>
            <a:pPr algn="just"/>
            <a:endParaRPr lang="ru-RU" sz="1200" dirty="0"/>
          </a:p>
          <a:p>
            <a:pPr algn="just"/>
            <a:r>
              <a:rPr lang="ru-RU" sz="1200" dirty="0"/>
              <a:t>Средняя доза препарата в виде фиксированной комбинации в группе 1 составила: </a:t>
            </a:r>
            <a:r>
              <a:rPr lang="en-US" sz="1200" dirty="0"/>
              <a:t>5.7±2 mg/</a:t>
            </a:r>
            <a:r>
              <a:rPr lang="ru-RU" sz="1200" dirty="0"/>
              <a:t>день</a:t>
            </a:r>
            <a:r>
              <a:rPr lang="en-US" sz="1200" dirty="0"/>
              <a:t> </a:t>
            </a:r>
            <a:r>
              <a:rPr lang="ru-RU" sz="1200" dirty="0"/>
              <a:t>для </a:t>
            </a:r>
            <a:r>
              <a:rPr lang="ru-RU" sz="1200" dirty="0" err="1"/>
              <a:t>Бисопролола</a:t>
            </a:r>
            <a:r>
              <a:rPr lang="ru-RU" sz="1200" dirty="0"/>
              <a:t> и</a:t>
            </a:r>
            <a:r>
              <a:rPr lang="en-US" sz="1200" dirty="0"/>
              <a:t> 6.3±2 mg/</a:t>
            </a:r>
            <a:r>
              <a:rPr lang="ru-RU" sz="1200" dirty="0"/>
              <a:t> день для </a:t>
            </a:r>
            <a:r>
              <a:rPr lang="ru-RU" sz="1200" dirty="0" err="1"/>
              <a:t>Амлодипина</a:t>
            </a:r>
            <a:r>
              <a:rPr lang="ru-RU" sz="1200" dirty="0"/>
              <a:t>. Самая высокая доза была назначена в группе 4: </a:t>
            </a:r>
            <a:r>
              <a:rPr lang="en-US" sz="1200" dirty="0"/>
              <a:t>6.0±2/6.6±2 mg/</a:t>
            </a:r>
            <a:r>
              <a:rPr lang="ru-RU" sz="1200" dirty="0"/>
              <a:t> день</a:t>
            </a:r>
            <a:r>
              <a:rPr lang="en-US" sz="1200" dirty="0"/>
              <a:t>.</a:t>
            </a:r>
            <a:endParaRPr lang="ru-RU" sz="1200" dirty="0"/>
          </a:p>
          <a:p>
            <a:endParaRPr lang="ru-RU"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i="1" dirty="0"/>
              <a:t>Через 6 месяцев </a:t>
            </a:r>
            <a:r>
              <a:rPr lang="ru-RU" sz="1200" dirty="0"/>
              <a:t>(табл. 2, 3). </a:t>
            </a:r>
            <a:r>
              <a:rPr lang="ru-RU" sz="1200" dirty="0">
                <a:latin typeface="Calibri" panose="020F0502020204030204" pitchFamily="34" charset="0"/>
                <a:cs typeface="Calibri" panose="020F0502020204030204" pitchFamily="34" charset="0"/>
              </a:rPr>
              <a:t>[1]</a:t>
            </a:r>
          </a:p>
          <a:p>
            <a:pPr algn="just"/>
            <a:endParaRPr lang="ru-RU" sz="1200" i="1" dirty="0"/>
          </a:p>
          <a:p>
            <a:pPr algn="just"/>
            <a:r>
              <a:rPr lang="ru-RU" sz="1200" dirty="0"/>
              <a:t>1. В отношении приверженности – оценки «хорошо» или «отлично» были зафиксированы у 95% пациентов по всем группам; </a:t>
            </a:r>
          </a:p>
          <a:p>
            <a:pPr algn="just"/>
            <a:endParaRPr lang="ru-RU" sz="1200" dirty="0"/>
          </a:p>
          <a:p>
            <a:pPr algn="just"/>
            <a:r>
              <a:rPr lang="ru-RU" sz="1200" dirty="0"/>
              <a:t>2. Среднее систолическое АД снизилось более, чем на 10% во всех группах (что привело к высоким значениям силы эффекта) и составило: в группе 1 – </a:t>
            </a:r>
            <a:r>
              <a:rPr lang="en-US" sz="1200" dirty="0"/>
              <a:t>130±9</a:t>
            </a:r>
            <a:r>
              <a:rPr lang="ru-RU" sz="1200" dirty="0"/>
              <a:t>, в группе 2 – </a:t>
            </a:r>
            <a:r>
              <a:rPr lang="en-US" sz="1200" dirty="0"/>
              <a:t>131.7±11</a:t>
            </a:r>
            <a:r>
              <a:rPr lang="ru-RU" sz="1200" dirty="0"/>
              <a:t>, в группе 3 – </a:t>
            </a:r>
            <a:r>
              <a:rPr lang="en-US" sz="1200" dirty="0"/>
              <a:t>131.3±10</a:t>
            </a:r>
            <a:r>
              <a:rPr lang="ru-RU" sz="1200" dirty="0"/>
              <a:t>, в группе 4 – </a:t>
            </a:r>
            <a:r>
              <a:rPr lang="en-US" sz="1200" dirty="0"/>
              <a:t>132.3±10 </a:t>
            </a:r>
            <a:r>
              <a:rPr lang="ru-RU" sz="1200" dirty="0"/>
              <a:t>мм рт. ст.</a:t>
            </a:r>
          </a:p>
          <a:p>
            <a:pPr algn="just"/>
            <a:endParaRPr lang="ru-RU" sz="1200" dirty="0"/>
          </a:p>
          <a:p>
            <a:pPr algn="just"/>
            <a:r>
              <a:rPr lang="ru-RU" sz="1200" dirty="0"/>
              <a:t>3. Произошло снижение доли пациентов с уровнем АД&gt;140/90 мм рт. ст. во всех 4-х группах.</a:t>
            </a:r>
          </a:p>
          <a:p>
            <a:pPr algn="just"/>
            <a:endParaRPr lang="ru-RU" sz="1200" dirty="0"/>
          </a:p>
          <a:p>
            <a:pPr algn="just"/>
            <a:r>
              <a:rPr lang="ru-RU" sz="1200" dirty="0"/>
              <a:t>4. Пульсовое давление уменьшилось соотносительно с силой эффекта d&gt;0,5 во всех группах.</a:t>
            </a:r>
          </a:p>
          <a:p>
            <a:pPr algn="just"/>
            <a:endParaRPr lang="ru-RU" sz="1200" dirty="0"/>
          </a:p>
          <a:p>
            <a:pPr algn="just"/>
            <a:r>
              <a:rPr lang="ru-RU" sz="1200" dirty="0"/>
              <a:t>5. В силу того факта, что применение фиксированной комбинации у пациентов с гипертонической болезнью (как без сопутствующих заболеваний, так и с сопутствующими заболеваниями) приводило к сопоставимому снижению значений артериального и пульсового давления – </a:t>
            </a:r>
            <a:r>
              <a:rPr lang="ru-RU" sz="1200" i="1" dirty="0"/>
              <a:t>появляется обоснованная возможность таким путём значительно сократить риск сердечно-сосудистых осложнений у пациентов с артериальной гипертонией (АГ), страдающих диабетом и ишемической болезнью сердца</a:t>
            </a:r>
            <a:r>
              <a:rPr lang="ru-RU" sz="1200" dirty="0"/>
              <a:t>.</a:t>
            </a:r>
          </a:p>
          <a:p>
            <a:pPr algn="just"/>
            <a:endParaRPr lang="ru-RU" sz="1200" b="1" dirty="0"/>
          </a:p>
          <a:p>
            <a:pPr marL="0" marR="0" indent="0" algn="just" defTabSz="914400" rtl="0" eaLnBrk="1" fontAlgn="auto" latinLnBrk="0" hangingPunct="1">
              <a:lnSpc>
                <a:spcPct val="100000"/>
              </a:lnSpc>
              <a:spcBef>
                <a:spcPts val="0"/>
              </a:spcBef>
              <a:spcAft>
                <a:spcPts val="0"/>
              </a:spcAft>
              <a:buClrTx/>
              <a:buSzTx/>
              <a:buFontTx/>
              <a:buNone/>
              <a:tabLst/>
              <a:defRPr/>
            </a:pPr>
            <a:r>
              <a:rPr lang="ru-RU" sz="1200" b="1" dirty="0"/>
              <a:t>Вывод:</a:t>
            </a:r>
            <a:r>
              <a:rPr lang="ru-RU" sz="1200" dirty="0"/>
              <a:t> </a:t>
            </a:r>
            <a:r>
              <a:rPr lang="ru-RU" sz="1200" dirty="0">
                <a:latin typeface="Calibri" panose="020F0502020204030204" pitchFamily="34" charset="0"/>
                <a:cs typeface="Calibri" panose="020F0502020204030204" pitchFamily="34" charset="0"/>
              </a:rPr>
              <a:t>[1]</a:t>
            </a:r>
          </a:p>
          <a:p>
            <a:pPr algn="just"/>
            <a:endParaRPr lang="ru-RU" sz="1200" dirty="0"/>
          </a:p>
          <a:p>
            <a:pPr algn="just"/>
            <a:r>
              <a:rPr lang="ru-RU" sz="1200" dirty="0"/>
              <a:t>• переход от свободной к фиксированной комбинации препаратов </a:t>
            </a:r>
            <a:r>
              <a:rPr lang="ru-RU" sz="1200" dirty="0" err="1"/>
              <a:t>Бисопролола</a:t>
            </a:r>
            <a:r>
              <a:rPr lang="ru-RU" sz="1200" dirty="0"/>
              <a:t> и </a:t>
            </a:r>
            <a:r>
              <a:rPr lang="ru-RU" sz="1200" dirty="0" err="1"/>
              <a:t>Амлодипина</a:t>
            </a:r>
            <a:r>
              <a:rPr lang="ru-RU" sz="1200" dirty="0"/>
              <a:t> способствует формированию очень хорошей приверженности к лечению среди пациентов;</a:t>
            </a:r>
          </a:p>
          <a:p>
            <a:pPr algn="just"/>
            <a:r>
              <a:rPr lang="ru-RU" sz="1200" dirty="0"/>
              <a:t>• отмечается значительное снижение ранее повышенных значений АД в большинстве случаев до значений, ниже целевых (140/90 мм рт. ст.), независимо от сопутствующей патологии (диабет и сердечно-сосудистые заболевания); </a:t>
            </a:r>
            <a:r>
              <a:rPr lang="ru-RU" sz="1200" i="1" dirty="0"/>
              <a:t>это указывает на снижение риска наступления фатальных событий</a:t>
            </a:r>
            <a:r>
              <a:rPr lang="ru-RU" sz="1200" dirty="0"/>
              <a:t>.</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50796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dirty="0"/>
              <a:t>Повышенная ЧСС (&gt;80 в 1 мин.), как маркер повышения активности симпатоадреналовой системы – имеет место приблизительно у 30% больных АГ [1]. Повышение ЧСС (&gt;70 в 1 мин.) – имеет место уже более, чем у 60% пациентов с АГ. [3] </a:t>
            </a:r>
          </a:p>
          <a:p>
            <a:r>
              <a:rPr lang="ru-RU" sz="1400" dirty="0"/>
              <a:t>При этом, по данным ВОЗ, гипертонией в той или иной форме страдает, практически, треть населения земного шара; в России, от гипертонии и её последствий – ежегодно умирает свыше 1,5 миллионов человек; 40 % гипертоников – это люди в возрасте до 50 лет. [2]</a:t>
            </a:r>
          </a:p>
          <a:p>
            <a:endParaRPr lang="ru-RU" sz="1400" dirty="0"/>
          </a:p>
          <a:p>
            <a:pPr>
              <a:spcAft>
                <a:spcPts val="0"/>
              </a:spcAft>
            </a:pPr>
            <a:r>
              <a:rPr lang="ru-RU" sz="2000" b="1" dirty="0">
                <a:solidFill>
                  <a:srgbClr val="065DA6"/>
                </a:solidFill>
                <a:latin typeface="Calibri"/>
              </a:rPr>
              <a:t>Название и дозировка препаратов:</a:t>
            </a:r>
          </a:p>
          <a:p>
            <a:pPr>
              <a:spcAft>
                <a:spcPts val="0"/>
              </a:spcAft>
            </a:pPr>
            <a:endParaRPr lang="ru-RU" sz="1400" dirty="0">
              <a:solidFill>
                <a:srgbClr val="0070C0"/>
              </a:solidFill>
              <a:latin typeface="Calibri"/>
            </a:endParaRPr>
          </a:p>
          <a:p>
            <a:pPr>
              <a:spcAft>
                <a:spcPts val="0"/>
              </a:spcAft>
            </a:pPr>
            <a:r>
              <a:rPr lang="ru-RU" sz="1400" b="1" dirty="0">
                <a:latin typeface="Calibri" panose="020F0502020204030204" pitchFamily="34" charset="0"/>
                <a:ea typeface="Calibri" panose="020F0502020204030204" pitchFamily="34" charset="0"/>
                <a:cs typeface="Times New Roman" panose="02020603050405020304" pitchFamily="18" charset="0"/>
              </a:rPr>
              <a:t>1-ая группа: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дозу фиксированной комбинации </a:t>
            </a:r>
            <a:r>
              <a:rPr lang="ru-RU" sz="1400" dirty="0" err="1">
                <a:latin typeface="Calibri" panose="020F0502020204030204" pitchFamily="34" charset="0"/>
                <a:ea typeface="Calibri" panose="020F0502020204030204" pitchFamily="34" charset="0"/>
                <a:cs typeface="Times New Roman" panose="02020603050405020304" pitchFamily="18" charset="0"/>
              </a:rPr>
              <a:t>Бисопролола</a:t>
            </a:r>
            <a:r>
              <a:rPr lang="ru-RU" sz="1400" dirty="0">
                <a:latin typeface="Calibri" panose="020F0502020204030204" pitchFamily="34" charset="0"/>
                <a:ea typeface="Calibri" panose="020F0502020204030204" pitchFamily="34" charset="0"/>
                <a:cs typeface="Times New Roman" panose="02020603050405020304" pitchFamily="18" charset="0"/>
              </a:rPr>
              <a:t> и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Амлодипина</a:t>
            </a:r>
            <a:r>
              <a:rPr lang="ru-RU" sz="1400" dirty="0">
                <a:latin typeface="Calibri" panose="020F0502020204030204" pitchFamily="34" charset="0"/>
                <a:ea typeface="Calibri" panose="020F0502020204030204" pitchFamily="34" charset="0"/>
                <a:cs typeface="Times New Roman" panose="02020603050405020304" pitchFamily="18" charset="0"/>
              </a:rPr>
              <a:t> (оригинальный препарат) 5+5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принимали 23,4% пациентов, 10+5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40%, 10+10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33,3%, 5+10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 3,3%.</a:t>
            </a:r>
          </a:p>
          <a:p>
            <a:pPr>
              <a:spcAft>
                <a:spcPts val="0"/>
              </a:spcAft>
            </a:pPr>
            <a:endParaRPr lang="ru-RU" sz="14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ru-RU" sz="1400" b="1" dirty="0">
                <a:latin typeface="Calibri" panose="020F0502020204030204" pitchFamily="34" charset="0"/>
                <a:ea typeface="Calibri" panose="020F0502020204030204" pitchFamily="34" charset="0"/>
                <a:cs typeface="Times New Roman" panose="02020603050405020304" pitchFamily="18" charset="0"/>
              </a:rPr>
              <a:t>2-ая группа: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45,2% пациентов получали </a:t>
            </a:r>
            <a:r>
              <a:rPr lang="ru-RU" sz="1400" dirty="0" err="1">
                <a:latin typeface="Calibri" panose="020F0502020204030204" pitchFamily="34" charset="0"/>
                <a:ea typeface="Calibri" panose="020F0502020204030204" pitchFamily="34" charset="0"/>
                <a:cs typeface="Times New Roman" panose="02020603050405020304" pitchFamily="18" charset="0"/>
              </a:rPr>
              <a:t>генерический</a:t>
            </a:r>
            <a:r>
              <a:rPr lang="ru-RU" sz="1400" dirty="0">
                <a:latin typeface="Calibri" panose="020F0502020204030204" pitchFamily="34" charset="0"/>
                <a:ea typeface="Calibri" panose="020F0502020204030204" pitchFamily="34" charset="0"/>
                <a:cs typeface="Times New Roman" panose="02020603050405020304" pitchFamily="18" charset="0"/>
              </a:rPr>
              <a:t> </a:t>
            </a:r>
            <a:r>
              <a:rPr lang="ru-RU" sz="1400" dirty="0" err="1">
                <a:latin typeface="Calibri" panose="020F0502020204030204" pitchFamily="34" charset="0"/>
                <a:ea typeface="Calibri" panose="020F0502020204030204" pitchFamily="34" charset="0"/>
                <a:cs typeface="Times New Roman" panose="02020603050405020304" pitchFamily="18" charset="0"/>
              </a:rPr>
              <a:t>бисопролол</a:t>
            </a:r>
            <a:r>
              <a:rPr lang="ru-RU" sz="1400" dirty="0">
                <a:latin typeface="Calibri" panose="020F0502020204030204" pitchFamily="34" charset="0"/>
                <a:ea typeface="Calibri" panose="020F0502020204030204" pitchFamily="34" charset="0"/>
                <a:cs typeface="Times New Roman" panose="02020603050405020304" pitchFamily="18" charset="0"/>
              </a:rPr>
              <a:t>, средняя стартовая доза которого составила 9,3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Более 1/2 больных (54,8%) принимали </a:t>
            </a:r>
            <a:r>
              <a:rPr lang="ru-RU" sz="1400" dirty="0" err="1">
                <a:latin typeface="Calibri" panose="020F0502020204030204" pitchFamily="34" charset="0"/>
                <a:ea typeface="Calibri" panose="020F0502020204030204" pitchFamily="34" charset="0"/>
                <a:cs typeface="Times New Roman" panose="02020603050405020304" pitchFamily="18" charset="0"/>
              </a:rPr>
              <a:t>метопролола</a:t>
            </a:r>
            <a:r>
              <a:rPr lang="ru-RU" sz="1400" dirty="0">
                <a:latin typeface="Calibri" panose="020F0502020204030204" pitchFamily="34" charset="0"/>
                <a:ea typeface="Calibri" panose="020F0502020204030204" pitchFamily="34" charset="0"/>
                <a:cs typeface="Times New Roman" panose="02020603050405020304" pitchFamily="18" charset="0"/>
              </a:rPr>
              <a:t> тартрат в средней суточной дозе 75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Всем пациентам был назначен </a:t>
            </a:r>
            <a:r>
              <a:rPr lang="ru-RU" sz="1400" dirty="0" err="1">
                <a:latin typeface="Calibri" panose="020F0502020204030204" pitchFamily="34" charset="0"/>
                <a:ea typeface="Calibri" panose="020F0502020204030204" pitchFamily="34" charset="0"/>
                <a:cs typeface="Times New Roman" panose="02020603050405020304" pitchFamily="18" charset="0"/>
              </a:rPr>
              <a:t>генерический</a:t>
            </a:r>
            <a:r>
              <a:rPr lang="ru-RU" sz="1400" dirty="0">
                <a:latin typeface="Calibri" panose="020F0502020204030204" pitchFamily="34" charset="0"/>
                <a:ea typeface="Calibri" panose="020F0502020204030204" pitchFamily="34" charset="0"/>
                <a:cs typeface="Times New Roman" panose="02020603050405020304" pitchFamily="18" charset="0"/>
              </a:rPr>
              <a:t>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a:t>
            </a:r>
            <a:r>
              <a:rPr lang="ru-RU" sz="1400" dirty="0">
                <a:latin typeface="Calibri" panose="020F0502020204030204" pitchFamily="34" charset="0"/>
                <a:ea typeface="Calibri" panose="020F0502020204030204" pitchFamily="34" charset="0"/>
                <a:cs typeface="Times New Roman" panose="02020603050405020304" pitchFamily="18" charset="0"/>
              </a:rPr>
              <a:t>: 71% – 5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29% –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На втором визите 3 больным была увеличена доза </a:t>
            </a:r>
          </a:p>
          <a:p>
            <a:pPr>
              <a:spcAft>
                <a:spcPts val="0"/>
              </a:spcAft>
            </a:pPr>
            <a:r>
              <a:rPr lang="ru-RU" sz="1400" dirty="0">
                <a:latin typeface="Calibri" panose="020F0502020204030204" pitchFamily="34" charset="0"/>
                <a:ea typeface="Calibri" panose="020F0502020204030204" pitchFamily="34" charset="0"/>
                <a:cs typeface="Times New Roman" panose="02020603050405020304" pitchFamily="18" charset="0"/>
              </a:rPr>
              <a:t>β-АБ, доза </a:t>
            </a:r>
            <a:r>
              <a:rPr lang="ru-RU" sz="1400" dirty="0" err="1">
                <a:latin typeface="Calibri" panose="020F0502020204030204" pitchFamily="34" charset="0"/>
                <a:ea typeface="Calibri" panose="020F0502020204030204" pitchFamily="34" charset="0"/>
                <a:cs typeface="Times New Roman" panose="02020603050405020304" pitchFamily="18" charset="0"/>
              </a:rPr>
              <a:t>амлодипина</a:t>
            </a:r>
            <a:r>
              <a:rPr lang="ru-RU" sz="1400" dirty="0">
                <a:latin typeface="Calibri" panose="020F0502020204030204" pitchFamily="34" charset="0"/>
                <a:ea typeface="Calibri" panose="020F0502020204030204" pitchFamily="34" charset="0"/>
                <a:cs typeface="Times New Roman" panose="02020603050405020304" pitchFamily="18" charset="0"/>
              </a:rPr>
              <a:t> увеличена до 10 мг/</a:t>
            </a:r>
            <a:r>
              <a:rPr lang="ru-RU" sz="1400" dirty="0" err="1">
                <a:latin typeface="Calibri" panose="020F0502020204030204" pitchFamily="34" charset="0"/>
                <a:ea typeface="Calibri" panose="020F0502020204030204" pitchFamily="34" charset="0"/>
                <a:cs typeface="Times New Roman" panose="02020603050405020304" pitchFamily="18" charset="0"/>
              </a:rPr>
              <a:t>сут</a:t>
            </a:r>
            <a:r>
              <a:rPr lang="ru-RU" sz="1400" dirty="0">
                <a:latin typeface="Calibri" panose="020F0502020204030204" pitchFamily="34" charset="0"/>
                <a:ea typeface="Calibri" panose="020F0502020204030204" pitchFamily="34" charset="0"/>
                <a:cs typeface="Times New Roman" panose="02020603050405020304" pitchFamily="18" charset="0"/>
              </a:rPr>
              <a:t> у 8 человек.</a:t>
            </a:r>
          </a:p>
          <a:p>
            <a:endParaRPr lang="ru-RU" sz="1400" dirty="0"/>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076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b="1" dirty="0"/>
              <a:t>Дизайн исследования.</a:t>
            </a:r>
          </a:p>
          <a:p>
            <a:pPr algn="just"/>
            <a:endParaRPr lang="ru-RU" sz="1200" dirty="0"/>
          </a:p>
          <a:p>
            <a:pPr algn="just"/>
            <a:r>
              <a:rPr lang="ru-RU" sz="1200" dirty="0"/>
              <a:t>Было проведено открытое исследование в параллельных группах пациентов с артериальной гипертонией (АГ) 1-2-й степени и </a:t>
            </a:r>
            <a:r>
              <a:rPr lang="ru-RU" sz="1200" dirty="0">
                <a:cs typeface="Calibri" panose="020F0502020204030204" pitchFamily="34" charset="0"/>
              </a:rPr>
              <a:t>метаболическим синдромом (</a:t>
            </a:r>
            <a:r>
              <a:rPr lang="ru-RU" sz="1200" dirty="0"/>
              <a:t>МС). Исследование состояло из трех фаз: вводной (1 </a:t>
            </a:r>
            <a:r>
              <a:rPr lang="ru-RU" sz="1200" dirty="0" err="1"/>
              <a:t>нед</a:t>
            </a:r>
            <a:r>
              <a:rPr lang="ru-RU" sz="1200" dirty="0"/>
              <a:t>.), фазы подбора (титрования) дозы препарата (4 </a:t>
            </a:r>
            <a:r>
              <a:rPr lang="ru-RU" sz="1200" dirty="0" err="1"/>
              <a:t>нед</a:t>
            </a:r>
            <a:r>
              <a:rPr lang="ru-RU" sz="1200" dirty="0"/>
              <a:t>.) и фазы активного лечения и наблюдения (20 </a:t>
            </a:r>
            <a:r>
              <a:rPr lang="ru-RU" sz="1200" dirty="0" err="1"/>
              <a:t>нед</a:t>
            </a:r>
            <a:r>
              <a:rPr lang="ru-RU" sz="1200" dirty="0"/>
              <a:t>.). Общая продолжительность исследования составила 24 </a:t>
            </a:r>
            <a:r>
              <a:rPr lang="ru-RU" sz="1200" dirty="0" err="1"/>
              <a:t>нед</a:t>
            </a:r>
            <a:r>
              <a:rPr lang="ru-RU" sz="1200" dirty="0"/>
              <a:t>. В исследование были включены 30 пациентов с АГ 1-2-й степени и МС в возрасте от 25 до 67 лет (средний возраст составил 47,20±0,22 года, из них мужчин 43,3%, женщин – 56,7%).</a:t>
            </a:r>
          </a:p>
          <a:p>
            <a:pPr algn="just"/>
            <a:endParaRPr lang="ru-RU" sz="1200" dirty="0"/>
          </a:p>
          <a:p>
            <a:pPr algn="just"/>
            <a:r>
              <a:rPr lang="ru-RU" sz="1200" dirty="0"/>
              <a:t>Критериями МС являлись: основной признак – центральный (абдоминальный) тип ожирения – окружность талии (ОТ) более 80 см у женщин и более 94 см у мужчин. Дополнительные критерии: АГ (АД≥140/90 мм рт. ст.), повышение уровня ТГ (≥1,7 </a:t>
            </a:r>
            <a:r>
              <a:rPr lang="ru-RU" sz="1200" dirty="0" err="1"/>
              <a:t>ммоль</a:t>
            </a:r>
            <a:r>
              <a:rPr lang="ru-RU" sz="1200" dirty="0"/>
              <a:t>/л), снижение уровня ХС ЛПВП (менее 1,0 </a:t>
            </a:r>
            <a:r>
              <a:rPr lang="ru-RU" sz="1200" dirty="0" err="1"/>
              <a:t>ммоль</a:t>
            </a:r>
            <a:r>
              <a:rPr lang="ru-RU" sz="1200" dirty="0"/>
              <a:t>/л у мужчин, менее 1,2 </a:t>
            </a:r>
            <a:r>
              <a:rPr lang="ru-RU" sz="1200" dirty="0" err="1"/>
              <a:t>ммоль</a:t>
            </a:r>
            <a:r>
              <a:rPr lang="ru-RU" sz="1200" dirty="0"/>
              <a:t>/л у женщин), повышение уровня ХС ЛПНП более 3,0 </a:t>
            </a:r>
            <a:r>
              <a:rPr lang="ru-RU" sz="1200" dirty="0" err="1"/>
              <a:t>ммоль</a:t>
            </a:r>
            <a:r>
              <a:rPr lang="ru-RU" sz="1200" dirty="0"/>
              <a:t>/л, гипергликемия натощак, нарушение толерантности к глюкозе.</a:t>
            </a:r>
          </a:p>
          <a:p>
            <a:pPr algn="just"/>
            <a:endParaRPr lang="ru-RU" sz="1200" dirty="0"/>
          </a:p>
          <a:p>
            <a:pPr algn="just"/>
            <a:r>
              <a:rPr lang="ru-RU" sz="1200" dirty="0"/>
              <a:t>К окончанию исследования 47,2% пациентов принимали 5 мг </a:t>
            </a:r>
            <a:r>
              <a:rPr lang="ru-RU" sz="1200" dirty="0" err="1"/>
              <a:t>амлодипина</a:t>
            </a:r>
            <a:r>
              <a:rPr lang="ru-RU" sz="1200" dirty="0"/>
              <a:t> и 5 мг </a:t>
            </a:r>
            <a:r>
              <a:rPr lang="ru-RU" sz="1200" dirty="0" err="1"/>
              <a:t>бисопролола</a:t>
            </a:r>
            <a:r>
              <a:rPr lang="ru-RU" sz="1200" dirty="0"/>
              <a:t>, 27,7% – 5 мг </a:t>
            </a:r>
            <a:r>
              <a:rPr lang="ru-RU" sz="1200" dirty="0" err="1"/>
              <a:t>амлодипина</a:t>
            </a:r>
            <a:r>
              <a:rPr lang="ru-RU" sz="1200" dirty="0"/>
              <a:t> и 10 мг </a:t>
            </a:r>
            <a:r>
              <a:rPr lang="ru-RU" sz="1200" dirty="0" err="1"/>
              <a:t>бисопролола</a:t>
            </a:r>
            <a:r>
              <a:rPr lang="ru-RU" sz="1200" dirty="0"/>
              <a:t>, 15,1% – 10 мг </a:t>
            </a:r>
            <a:r>
              <a:rPr lang="ru-RU" sz="1200" dirty="0" err="1"/>
              <a:t>амлодипина</a:t>
            </a:r>
            <a:r>
              <a:rPr lang="ru-RU" sz="1200" dirty="0"/>
              <a:t> и 5 мг </a:t>
            </a:r>
            <a:r>
              <a:rPr lang="ru-RU" sz="1200" dirty="0" err="1"/>
              <a:t>бисопролола</a:t>
            </a:r>
            <a:r>
              <a:rPr lang="ru-RU" sz="1200" dirty="0"/>
              <a:t> и 10% принимали 10 мг </a:t>
            </a:r>
            <a:r>
              <a:rPr lang="ru-RU" sz="1200" dirty="0" err="1"/>
              <a:t>амлодипина</a:t>
            </a:r>
            <a:r>
              <a:rPr lang="ru-RU" sz="1200" dirty="0"/>
              <a:t> и 10 мг </a:t>
            </a:r>
            <a:r>
              <a:rPr lang="ru-RU" sz="1200" dirty="0" err="1"/>
              <a:t>бисопролола</a:t>
            </a:r>
            <a:r>
              <a:rPr lang="ru-RU" sz="1200" dirty="0"/>
              <a:t>.</a:t>
            </a:r>
          </a:p>
          <a:p>
            <a:pPr algn="just"/>
            <a:endParaRPr lang="ru-RU" sz="1200" b="1" dirty="0"/>
          </a:p>
          <a:p>
            <a:pPr algn="just"/>
            <a:r>
              <a:rPr lang="ru-RU" sz="1200" dirty="0"/>
              <a:t>Всем пациентам проводилась оценка клинического артериального давления (АД), определялся уровень общего холестерина (ХС), ХС липопротеидов высокой плотности, ХС липопротеидов низкой плотности, триглицеридов, </a:t>
            </a:r>
            <a:r>
              <a:rPr lang="ru-RU" sz="1200" dirty="0" err="1"/>
              <a:t>креатинина</a:t>
            </a:r>
            <a:r>
              <a:rPr lang="ru-RU" sz="1200" dirty="0"/>
              <a:t>, уровень глюкозы в ходе теста толерантности к углеводам, проводилось суточное </a:t>
            </a:r>
            <a:r>
              <a:rPr lang="ru-RU" sz="1200" dirty="0" err="1"/>
              <a:t>мониторирование</a:t>
            </a:r>
            <a:r>
              <a:rPr lang="ru-RU" sz="1200" dirty="0"/>
              <a:t> АД, оценивались центральное систолическое давление в аорте (</a:t>
            </a:r>
            <a:r>
              <a:rPr lang="ru-RU" sz="1200" dirty="0" err="1"/>
              <a:t>ЦДАс</a:t>
            </a:r>
            <a:r>
              <a:rPr lang="ru-RU" sz="1200" dirty="0"/>
              <a:t>), скорость пульсовой волны на каротидно-</a:t>
            </a:r>
            <a:r>
              <a:rPr lang="ru-RU" sz="1200" dirty="0" err="1"/>
              <a:t>феморальном</a:t>
            </a:r>
            <a:r>
              <a:rPr lang="ru-RU" sz="1200" dirty="0"/>
              <a:t> сегменте (</a:t>
            </a:r>
            <a:r>
              <a:rPr lang="ru-RU" sz="1200" dirty="0" err="1"/>
              <a:t>СПВкф</a:t>
            </a:r>
            <a:r>
              <a:rPr lang="ru-RU" sz="1200" dirty="0"/>
              <a:t>) и определялась толщина комплекса интима-медиа исходно и через 6 мес. терапии.</a:t>
            </a:r>
          </a:p>
          <a:p>
            <a:pPr algn="just"/>
            <a:endParaRPr lang="ru-RU" sz="1200" b="1" dirty="0"/>
          </a:p>
          <a:p>
            <a:pPr algn="just"/>
            <a:r>
              <a:rPr lang="ru-RU" sz="1200" b="1" dirty="0"/>
              <a:t>Результаты исследования.</a:t>
            </a:r>
          </a:p>
          <a:p>
            <a:pPr algn="just"/>
            <a:endParaRPr lang="ru-RU" sz="1200" b="1" dirty="0"/>
          </a:p>
          <a:p>
            <a:pPr algn="just"/>
            <a:r>
              <a:rPr lang="ru-RU" sz="1200" dirty="0"/>
              <a:t>1. Был отмечен хороший </a:t>
            </a:r>
            <a:r>
              <a:rPr lang="ru-RU" sz="1200" dirty="0" err="1"/>
              <a:t>антигипертензивный</a:t>
            </a:r>
            <a:r>
              <a:rPr lang="ru-RU" sz="1200" dirty="0"/>
              <a:t> эффект со снижением систолического и диастолического артериального давления (АД) до целевых значений у 88% пациентов, а также уменьшением центрального давления в аорте.</a:t>
            </a:r>
          </a:p>
          <a:p>
            <a:pPr algn="just"/>
            <a:r>
              <a:rPr lang="ru-RU" sz="1200" dirty="0"/>
              <a:t>2. Наблюдалось значимое улучшение показателей суточного профиля АД: индекса времени (ИВ), вариабельности АД.</a:t>
            </a:r>
          </a:p>
          <a:p>
            <a:pPr algn="just"/>
            <a:r>
              <a:rPr lang="ru-RU" sz="1200" dirty="0"/>
              <a:t>3. Терапия сопровождалась улучшением показателей углеводного обмена в виде достоверного снижения </a:t>
            </a:r>
            <a:r>
              <a:rPr lang="ru-RU" sz="1200" dirty="0" err="1"/>
              <a:t>постпрандиального</a:t>
            </a:r>
            <a:r>
              <a:rPr lang="ru-RU" sz="1200" dirty="0"/>
              <a:t> уровня глюкозы</a:t>
            </a:r>
            <a:r>
              <a:rPr lang="ru-RU" sz="1200" baseline="0" dirty="0"/>
              <a:t> (рис. 1).</a:t>
            </a:r>
            <a:endParaRPr lang="ru-RU" sz="1200" dirty="0"/>
          </a:p>
          <a:p>
            <a:pPr algn="just"/>
            <a:r>
              <a:rPr lang="ru-RU" sz="1200" dirty="0"/>
              <a:t>4. Терапия привела к снижению ригидности артериальной стенки, оцененной по скорости пульсовой волны, измеренной каротидно-</a:t>
            </a:r>
            <a:r>
              <a:rPr lang="ru-RU" sz="1200" dirty="0" err="1"/>
              <a:t>феморальным</a:t>
            </a:r>
            <a:r>
              <a:rPr lang="ru-RU" sz="1200" dirty="0"/>
              <a:t> методом (</a:t>
            </a:r>
            <a:r>
              <a:rPr lang="ru-RU" sz="1200" dirty="0" err="1"/>
              <a:t>СПВкф</a:t>
            </a:r>
            <a:r>
              <a:rPr lang="ru-RU" sz="1200" dirty="0"/>
              <a:t>).</a:t>
            </a:r>
          </a:p>
          <a:p>
            <a:pPr algn="just"/>
            <a:r>
              <a:rPr lang="ru-RU" sz="1200" dirty="0"/>
              <a:t>5. Терапия сопровождалась хорошей переносимостью препарата, количество нежелательных явлений максимально составило 2,8%.</a:t>
            </a:r>
          </a:p>
          <a:p>
            <a:pPr algn="just"/>
            <a:r>
              <a:rPr lang="ru-RU" sz="1200" dirty="0"/>
              <a:t>6. У больных наблюдалась высокая приверженность к терапии – 98%. При этом, отмечалась хорошая оценка проводимого лечения, как врачами, так и пациентами.</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757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b="1" dirty="0"/>
              <a:t>Дизайн исследования.</a:t>
            </a:r>
          </a:p>
          <a:p>
            <a:pPr algn="just"/>
            <a:endParaRPr lang="ru-RU" sz="1200" dirty="0"/>
          </a:p>
          <a:p>
            <a:pPr algn="just"/>
            <a:r>
              <a:rPr lang="ru-RU" sz="1200" dirty="0"/>
              <a:t>Было проведено открытое исследование в параллельных группах пациентов с артериальной гипертонией (АГ) 1-2-й степени и </a:t>
            </a:r>
            <a:r>
              <a:rPr lang="ru-RU" sz="1200" dirty="0">
                <a:cs typeface="Calibri" panose="020F0502020204030204" pitchFamily="34" charset="0"/>
              </a:rPr>
              <a:t>метаболическим синдромом (</a:t>
            </a:r>
            <a:r>
              <a:rPr lang="ru-RU" sz="1200" dirty="0"/>
              <a:t>МС). Исследование состояло из трех фаз: вводной (1 </a:t>
            </a:r>
            <a:r>
              <a:rPr lang="ru-RU" sz="1200" dirty="0" err="1"/>
              <a:t>нед</a:t>
            </a:r>
            <a:r>
              <a:rPr lang="ru-RU" sz="1200" dirty="0"/>
              <a:t>.), фазы подбора (титрования) дозы препарата (4 </a:t>
            </a:r>
            <a:r>
              <a:rPr lang="ru-RU" sz="1200" dirty="0" err="1"/>
              <a:t>нед</a:t>
            </a:r>
            <a:r>
              <a:rPr lang="ru-RU" sz="1200" dirty="0"/>
              <a:t>.) и фазы активного лечения и наблюдения (20 </a:t>
            </a:r>
            <a:r>
              <a:rPr lang="ru-RU" sz="1200" dirty="0" err="1"/>
              <a:t>нед</a:t>
            </a:r>
            <a:r>
              <a:rPr lang="ru-RU" sz="1200" dirty="0"/>
              <a:t>.). Общая продолжительность исследования составила 24 </a:t>
            </a:r>
            <a:r>
              <a:rPr lang="ru-RU" sz="1200" dirty="0" err="1"/>
              <a:t>нед</a:t>
            </a:r>
            <a:r>
              <a:rPr lang="ru-RU" sz="1200" dirty="0"/>
              <a:t>. В исследование были включены 30 пациентов с АГ 1-2-й степени и МС в возрасте от 25 до 67 лет (средний возраст составил 47,20±0,22 года, из них мужчин 43,3%, женщин – 56,7%).</a:t>
            </a:r>
          </a:p>
          <a:p>
            <a:pPr algn="just"/>
            <a:endParaRPr lang="ru-RU" sz="1200" dirty="0"/>
          </a:p>
          <a:p>
            <a:pPr algn="just"/>
            <a:r>
              <a:rPr lang="ru-RU" sz="1200" dirty="0"/>
              <a:t>Критериями МС являлись: основной признак – центральный (абдоминальный) тип ожирения – окружность талии (ОТ) более 80 см у женщин и более 94 см у мужчин. Дополнительные критерии: АГ (АД≥140/90 мм рт. ст.), повышение уровня ТГ (≥1,7 </a:t>
            </a:r>
            <a:r>
              <a:rPr lang="ru-RU" sz="1200" dirty="0" err="1"/>
              <a:t>ммоль</a:t>
            </a:r>
            <a:r>
              <a:rPr lang="ru-RU" sz="1200" dirty="0"/>
              <a:t>/л), снижение уровня ХС ЛПВП (менее 1,0 </a:t>
            </a:r>
            <a:r>
              <a:rPr lang="ru-RU" sz="1200" dirty="0" err="1"/>
              <a:t>ммоль</a:t>
            </a:r>
            <a:r>
              <a:rPr lang="ru-RU" sz="1200" dirty="0"/>
              <a:t>/л у мужчин, менее 1,2 </a:t>
            </a:r>
            <a:r>
              <a:rPr lang="ru-RU" sz="1200" dirty="0" err="1"/>
              <a:t>ммоль</a:t>
            </a:r>
            <a:r>
              <a:rPr lang="ru-RU" sz="1200" dirty="0"/>
              <a:t>/л у женщин), повышение уровня ХС ЛПНП более 3,0 </a:t>
            </a:r>
            <a:r>
              <a:rPr lang="ru-RU" sz="1200" dirty="0" err="1"/>
              <a:t>ммоль</a:t>
            </a:r>
            <a:r>
              <a:rPr lang="ru-RU" sz="1200" dirty="0"/>
              <a:t>/л, гипергликемия натощак, нарушение толерантности к глюкозе.</a:t>
            </a:r>
          </a:p>
          <a:p>
            <a:pPr algn="just"/>
            <a:endParaRPr lang="ru-RU" sz="1200" dirty="0"/>
          </a:p>
          <a:p>
            <a:pPr algn="just"/>
            <a:r>
              <a:rPr lang="ru-RU" sz="1200" dirty="0"/>
              <a:t>К окончанию исследования 47,2% пациентов принимали 5 мг </a:t>
            </a:r>
            <a:r>
              <a:rPr lang="ru-RU" sz="1200" dirty="0" err="1"/>
              <a:t>амлодипина</a:t>
            </a:r>
            <a:r>
              <a:rPr lang="ru-RU" sz="1200" dirty="0"/>
              <a:t> и 5 мг </a:t>
            </a:r>
            <a:r>
              <a:rPr lang="ru-RU" sz="1200" dirty="0" err="1"/>
              <a:t>бисопролола</a:t>
            </a:r>
            <a:r>
              <a:rPr lang="ru-RU" sz="1200" dirty="0"/>
              <a:t>, 27,7% – 5 мг </a:t>
            </a:r>
            <a:r>
              <a:rPr lang="ru-RU" sz="1200" dirty="0" err="1"/>
              <a:t>амлодипина</a:t>
            </a:r>
            <a:r>
              <a:rPr lang="ru-RU" sz="1200" dirty="0"/>
              <a:t> и 10 мг </a:t>
            </a:r>
            <a:r>
              <a:rPr lang="ru-RU" sz="1200" dirty="0" err="1"/>
              <a:t>бисопролола</a:t>
            </a:r>
            <a:r>
              <a:rPr lang="ru-RU" sz="1200" dirty="0"/>
              <a:t>, 15,1% – 10 мг </a:t>
            </a:r>
            <a:r>
              <a:rPr lang="ru-RU" sz="1200" dirty="0" err="1"/>
              <a:t>амлодипина</a:t>
            </a:r>
            <a:r>
              <a:rPr lang="ru-RU" sz="1200" dirty="0"/>
              <a:t> и 5 мг </a:t>
            </a:r>
            <a:r>
              <a:rPr lang="ru-RU" sz="1200" dirty="0" err="1"/>
              <a:t>бисопролола</a:t>
            </a:r>
            <a:r>
              <a:rPr lang="ru-RU" sz="1200" dirty="0"/>
              <a:t> и 10% принимали 10 мг </a:t>
            </a:r>
            <a:r>
              <a:rPr lang="ru-RU" sz="1200" dirty="0" err="1"/>
              <a:t>амлодипина</a:t>
            </a:r>
            <a:r>
              <a:rPr lang="ru-RU" sz="1200" dirty="0"/>
              <a:t> и 10 мг </a:t>
            </a:r>
            <a:r>
              <a:rPr lang="ru-RU" sz="1200" dirty="0" err="1"/>
              <a:t>бисопролола</a:t>
            </a:r>
            <a:r>
              <a:rPr lang="ru-RU" sz="1200" dirty="0"/>
              <a:t>.</a:t>
            </a:r>
          </a:p>
          <a:p>
            <a:pPr algn="just"/>
            <a:endParaRPr lang="ru-RU" sz="1200" b="1" dirty="0"/>
          </a:p>
          <a:p>
            <a:pPr algn="just"/>
            <a:r>
              <a:rPr lang="ru-RU" sz="1200" dirty="0"/>
              <a:t>Всем пациентам проводилась оценка клинического артериального давления (АД), определялся уровень общего холестерина (ХС), ХС липопротеидов высокой плотности, ХС липопротеидов низкой плотности, триглицеридов, </a:t>
            </a:r>
            <a:r>
              <a:rPr lang="ru-RU" sz="1200" dirty="0" err="1"/>
              <a:t>креатинина</a:t>
            </a:r>
            <a:r>
              <a:rPr lang="ru-RU" sz="1200" dirty="0"/>
              <a:t>, уровень глюкозы в ходе теста толерантности к углеводам, проводилось суточное </a:t>
            </a:r>
            <a:r>
              <a:rPr lang="ru-RU" sz="1200" dirty="0" err="1"/>
              <a:t>мониторирование</a:t>
            </a:r>
            <a:r>
              <a:rPr lang="ru-RU" sz="1200" dirty="0"/>
              <a:t> АД, оценивались центральное систолическое давление в аорте (</a:t>
            </a:r>
            <a:r>
              <a:rPr lang="ru-RU" sz="1200" dirty="0" err="1"/>
              <a:t>ЦДАс</a:t>
            </a:r>
            <a:r>
              <a:rPr lang="ru-RU" sz="1200" dirty="0"/>
              <a:t>), скорость пульсовой волны на каротидно-</a:t>
            </a:r>
            <a:r>
              <a:rPr lang="ru-RU" sz="1200" dirty="0" err="1"/>
              <a:t>феморальном</a:t>
            </a:r>
            <a:r>
              <a:rPr lang="ru-RU" sz="1200" dirty="0"/>
              <a:t> сегменте (</a:t>
            </a:r>
            <a:r>
              <a:rPr lang="ru-RU" sz="1200" dirty="0" err="1"/>
              <a:t>СПВкф</a:t>
            </a:r>
            <a:r>
              <a:rPr lang="ru-RU" sz="1200" dirty="0"/>
              <a:t>) и определялась толщина комплекса интима-медиа исходно и через 6 мес. терапии.</a:t>
            </a:r>
          </a:p>
          <a:p>
            <a:pPr algn="just"/>
            <a:endParaRPr lang="ru-RU" sz="1200" b="1" dirty="0"/>
          </a:p>
          <a:p>
            <a:pPr algn="just"/>
            <a:r>
              <a:rPr lang="ru-RU" sz="1200" b="1" dirty="0"/>
              <a:t>Результаты исследования.</a:t>
            </a:r>
          </a:p>
          <a:p>
            <a:pPr algn="just"/>
            <a:endParaRPr lang="ru-RU" sz="1200" b="1" dirty="0"/>
          </a:p>
          <a:p>
            <a:pPr algn="just"/>
            <a:r>
              <a:rPr lang="ru-RU" sz="1200" dirty="0"/>
              <a:t>1. Был отмечен хороший </a:t>
            </a:r>
            <a:r>
              <a:rPr lang="ru-RU" sz="1200" dirty="0" err="1"/>
              <a:t>антигипертензивный</a:t>
            </a:r>
            <a:r>
              <a:rPr lang="ru-RU" sz="1200" dirty="0"/>
              <a:t> эффект со снижением систолического и диастолического артериального давления (АД) до целевых значений у 88% пациентов, а также уменьшением центрального давления в аорте.</a:t>
            </a:r>
          </a:p>
          <a:p>
            <a:pPr algn="just"/>
            <a:r>
              <a:rPr lang="ru-RU" sz="1200" dirty="0"/>
              <a:t>2. Наблюдалось значимое улучшение показателей суточного профиля АД: индекса времени (ИВ), вариабельности АД.</a:t>
            </a:r>
          </a:p>
          <a:p>
            <a:pPr algn="just"/>
            <a:r>
              <a:rPr lang="ru-RU" sz="1200" dirty="0"/>
              <a:t>3. Терапия сопровождалась улучшением показателей углеводного обмена в виде достоверного снижения </a:t>
            </a:r>
            <a:r>
              <a:rPr lang="ru-RU" sz="1200" dirty="0" err="1"/>
              <a:t>постпрандиального</a:t>
            </a:r>
            <a:r>
              <a:rPr lang="ru-RU" sz="1200" dirty="0"/>
              <a:t> уровня глюкозы</a:t>
            </a:r>
            <a:r>
              <a:rPr lang="ru-RU" sz="1200" baseline="0" dirty="0"/>
              <a:t> (рис. 1).</a:t>
            </a:r>
            <a:endParaRPr lang="ru-RU" sz="1200" dirty="0"/>
          </a:p>
          <a:p>
            <a:pPr algn="just"/>
            <a:r>
              <a:rPr lang="ru-RU" sz="1200" dirty="0"/>
              <a:t>4. Терапия привела к снижению ригидности артериальной стенки, оцененной по скорости пульсовой волны, измеренной каротидно-</a:t>
            </a:r>
            <a:r>
              <a:rPr lang="ru-RU" sz="1200" dirty="0" err="1"/>
              <a:t>феморальным</a:t>
            </a:r>
            <a:r>
              <a:rPr lang="ru-RU" sz="1200" dirty="0"/>
              <a:t> методом (</a:t>
            </a:r>
            <a:r>
              <a:rPr lang="ru-RU" sz="1200" dirty="0" err="1"/>
              <a:t>СПВкф</a:t>
            </a:r>
            <a:r>
              <a:rPr lang="ru-RU" sz="1200" dirty="0"/>
              <a:t>).</a:t>
            </a:r>
          </a:p>
          <a:p>
            <a:pPr algn="just"/>
            <a:r>
              <a:rPr lang="ru-RU" sz="1200" dirty="0"/>
              <a:t>5. Терапия сопровождалась хорошей переносимостью препарата, количество нежелательных явлений максимально составило 2,8%.</a:t>
            </a:r>
          </a:p>
          <a:p>
            <a:pPr algn="just"/>
            <a:r>
              <a:rPr lang="ru-RU" sz="1200" dirty="0"/>
              <a:t>6. У больных наблюдалась высокая приверженность к терапии – 98%. При этом, отмечалась хорошая оценка проводимого лечения, как врачами, так и пациентами.</a:t>
            </a:r>
          </a:p>
          <a:p>
            <a:endParaRPr lang="ru-RU" dirty="0"/>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1559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egnaposto immagine diapositiva 1">
            <a:extLst>
              <a:ext uri="{FF2B5EF4-FFF2-40B4-BE49-F238E27FC236}">
                <a16:creationId xmlns:a16="http://schemas.microsoft.com/office/drawing/2014/main" id="{458E30A4-CB74-20F5-C35F-FD2F979B8674}"/>
              </a:ext>
            </a:extLst>
          </p:cNvPr>
          <p:cNvSpPr>
            <a:spLocks noGrp="1" noRot="1" noChangeAspect="1" noChangeArrowheads="1" noTextEdit="1"/>
          </p:cNvSpPr>
          <p:nvPr>
            <p:ph type="sldImg"/>
          </p:nvPr>
        </p:nvSpPr>
        <p:spPr>
          <a:ln/>
        </p:spPr>
      </p:sp>
      <p:sp>
        <p:nvSpPr>
          <p:cNvPr id="11266" name="Segnaposto note 2">
            <a:extLst>
              <a:ext uri="{FF2B5EF4-FFF2-40B4-BE49-F238E27FC236}">
                <a16:creationId xmlns:a16="http://schemas.microsoft.com/office/drawing/2014/main" id="{E6169D83-84C9-92C0-726D-18A32B5C3B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dirty="0">
              <a:latin typeface="Calibri" panose="020F0502020204030204" pitchFamily="34" charset="0"/>
            </a:endParaRPr>
          </a:p>
        </p:txBody>
      </p:sp>
      <p:sp>
        <p:nvSpPr>
          <p:cNvPr id="11267" name="Segnaposto numero diapositiva 3">
            <a:extLst>
              <a:ext uri="{FF2B5EF4-FFF2-40B4-BE49-F238E27FC236}">
                <a16:creationId xmlns:a16="http://schemas.microsoft.com/office/drawing/2014/main" id="{8299DC41-F60D-A66B-C70F-46B594378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defRPr>
                <a:solidFill>
                  <a:schemeClr val="tx1"/>
                </a:solidFill>
                <a:latin typeface="Arial" panose="020B0604020202020204" pitchFamily="34" charset="0"/>
                <a:ea typeface="ＭＳ Ｐゴシック" panose="020B0600070205080204" pitchFamily="34" charset="-128"/>
              </a:defRPr>
            </a:lvl1pPr>
            <a:lvl2pPr marL="742950" indent="-285750" defTabSz="947738">
              <a:defRPr>
                <a:solidFill>
                  <a:schemeClr val="tx1"/>
                </a:solidFill>
                <a:latin typeface="Arial" panose="020B0604020202020204" pitchFamily="34" charset="0"/>
                <a:ea typeface="ＭＳ Ｐゴシック" panose="020B0600070205080204" pitchFamily="34" charset="-128"/>
              </a:defRPr>
            </a:lvl2pPr>
            <a:lvl3pPr marL="1143000" indent="-228600" defTabSz="947738">
              <a:defRPr>
                <a:solidFill>
                  <a:schemeClr val="tx1"/>
                </a:solidFill>
                <a:latin typeface="Arial" panose="020B0604020202020204" pitchFamily="34" charset="0"/>
                <a:ea typeface="ＭＳ Ｐゴシック" panose="020B0600070205080204" pitchFamily="34" charset="-128"/>
              </a:defRPr>
            </a:lvl3pPr>
            <a:lvl4pPr marL="1600200" indent="-228600" defTabSz="947738">
              <a:defRPr>
                <a:solidFill>
                  <a:schemeClr val="tx1"/>
                </a:solidFill>
                <a:latin typeface="Arial" panose="020B0604020202020204" pitchFamily="34" charset="0"/>
                <a:ea typeface="ＭＳ Ｐゴシック" panose="020B0600070205080204" pitchFamily="34" charset="-128"/>
              </a:defRPr>
            </a:lvl4pPr>
            <a:lvl5pPr marL="2057400" indent="-228600" defTabSz="947738">
              <a:defRPr>
                <a:solidFill>
                  <a:schemeClr val="tx1"/>
                </a:solidFill>
                <a:latin typeface="Arial" panose="020B0604020202020204" pitchFamily="34" charset="0"/>
                <a:ea typeface="ＭＳ Ｐゴシック" panose="020B0600070205080204" pitchFamily="34" charset="-128"/>
              </a:defRPr>
            </a:lvl5pPr>
            <a:lvl6pPr marL="25146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773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47738" rtl="0" eaLnBrk="1" fontAlgn="auto" latinLnBrk="0" hangingPunct="1">
              <a:lnSpc>
                <a:spcPct val="100000"/>
              </a:lnSpc>
              <a:spcBef>
                <a:spcPts val="0"/>
              </a:spcBef>
              <a:spcAft>
                <a:spcPts val="0"/>
              </a:spcAft>
              <a:buClrTx/>
              <a:buSzTx/>
              <a:buFontTx/>
              <a:buNone/>
              <a:tabLst/>
              <a:defRPr/>
            </a:pPr>
            <a:fld id="{6ADE9333-4CC9-0549-B2F7-1193842EC3A0}" type="slidenum">
              <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47738" rtl="0" eaLnBrk="1" fontAlgn="auto" latinLnBrk="0" hangingPunct="1">
                <a:lnSpc>
                  <a:spcPct val="100000"/>
                </a:lnSpc>
                <a:spcBef>
                  <a:spcPts val="0"/>
                </a:spcBef>
                <a:spcAft>
                  <a:spcPts val="0"/>
                </a:spcAft>
                <a:buClrTx/>
                <a:buSzTx/>
                <a:buFontTx/>
                <a:buNone/>
                <a:tabLst/>
                <a:defRPr/>
              </a:pPr>
              <a:t>40</a:t>
            </a:fld>
            <a:endParaRPr kumimoji="0" lang="hu-HU" altLang="it-IT"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064945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D69D-C3F7-C970-79BE-90B03AA09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0A521-359A-BBFF-5ACE-0ADBEF279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AFF94-64DA-3FC0-B465-E4257604549D}"/>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C2239237-48B0-9F22-7645-B2F9C3859873}"/>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42</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3181815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0835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11675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E17DE-72D6-93DB-B5B3-374BA7939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254BB-9465-8ABA-C9BB-C677A973C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3B2D6-9C94-C6C0-8BF0-21219C6BFDE0}"/>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DC80F7F0-C80A-FF73-3152-1F84E4AA75BF}"/>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50</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28979562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A16902-46BA-4511-9CEC-1A8F04D946B1}"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2709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68566-ACE1-02E5-A37E-C8F97EE09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48226-60EB-D89A-5A23-102BA07C1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35CAE-C788-23CB-314D-A3F9F1583A5C}"/>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E0D64AB0-77F1-A7E4-D0F4-29D16BF720BD}"/>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56</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13937566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Рамка — ЦЕЛЬ пробы. Левая ветка (диагностика) → отменяем, и логика разворачивается ВНИЗ (стрелка). Правая ветка (оценка эффективности) → не отменяем, ветка терминальная (маркер 'дальше не разворачиваем'). Регистр намеренно НЕ директивный: формального стандартизированного протокола отмены не существует (это и в AHA-заявлениях) — решение клиническое. КР РФ дают лишь слабые рекомендации класса IIb (B — диагностика вне терапии; C — эффективность на фоне). Классы EOK по записям прошлой проработки; в этой сессии не переподтверждены (PDF КР РФ без текстового слоя). «Насколько»: ориентир по T1/2 бисопролола 10–12 ч. Утренний пропуск (~24–30 ч) — остаётся ориентировочно 10–25% по T1/2 (оценка, не данные исследования) → частичная блокада. ~48 ч ≈ 4–5 T1/2 — почти полная отмывка. Безопасность (fair balance): резкая отмена → рикошет; половинная доза утром — предложенный, НЕ стандартизированный подход (Koracevic 2021).</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Приоритет — отмена β-АБ. Конкор-АМ — фиксированная комбинация: 'отменить только β-АБ' технически невозможно → снять всю таблетку ИЛИ перейти на монокомпонент амлодипина. Амлодипин отменять НЕ обязательно: не влияет на ЧСС (ДГП); вазодилататорная маскировка возможна, величина не установлена; короткая отмена малоэффективна (T1/2 30–50 ч); рикошета нет → это выбор. НЕ говорить 'амлодипин нейтрален'. Нитраты — мост в отмывку, но не перед самой пробой. Вид пробы: нагрузочная ЭКГ — отмена β-АБ важна; добутаминовая стресс-ЭхоКГ — β-АБ притупляют ответ, компенсируют атропином (устоявшийся факт; спорное ретроспективное исследование 2026 не приводим); вазодилататорные пробы — критична отмена кофеина/метилксантинов.</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3E477-F9F6-5879-7626-3D9EE243A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8FE61-42F9-39D6-A884-92F9E24F5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162B4-BF25-2E93-6FAD-73E6A93637A7}"/>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7F018D0B-5C43-5C9E-B0B1-0A8E7096AD90}"/>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59</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6318581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6DC3-1B96-C247-B35C-B6237317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41231-11EF-943F-BB14-B9D3A2BFF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E9132-3EB4-C785-7FCA-19818672DD69}"/>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66C0A70D-C7CB-7D4F-A519-C874DAD5499C}"/>
              </a:ext>
            </a:extLst>
          </p:cNvPr>
          <p:cNvSpPr>
            <a:spLocks noGrp="1"/>
          </p:cNvSpPr>
          <p:nvPr>
            <p:ph type="sldNum" sz="quarter" idx="5"/>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fld id="{28182E2C-AC48-45A1-A539-1D63FC6BDE45}" type="slidenum">
              <a:rPr kumimoji="0" lang="de-DE" sz="1000" b="0" i="0" u="none" strike="noStrike" kern="1200" cap="none" spc="0" normalizeH="0" baseline="0" noProof="0" smtClean="0">
                <a:ln>
                  <a:noFill/>
                </a:ln>
                <a:solidFill>
                  <a:srgbClr val="000000"/>
                </a:solidFill>
                <a:effectLst/>
                <a:uLnTx/>
                <a:uFillTx/>
                <a:latin typeface="Verdana"/>
                <a:ea typeface="+mn-ea"/>
                <a:cs typeface="+mn-cs"/>
              </a:rPr>
              <a:pPr marL="0" marR="0" lvl="0" indent="0" algn="l" defTabSz="914377" rtl="0" eaLnBrk="1" fontAlgn="auto" latinLnBrk="0" hangingPunct="1">
                <a:lnSpc>
                  <a:spcPct val="100000"/>
                </a:lnSpc>
                <a:spcBef>
                  <a:spcPts val="0"/>
                </a:spcBef>
                <a:spcAft>
                  <a:spcPts val="0"/>
                </a:spcAft>
                <a:buClrTx/>
                <a:buSzTx/>
                <a:buFontTx/>
                <a:buNone/>
                <a:tabLst/>
                <a:defRPr/>
              </a:pPr>
              <a:t>63</a:t>
            </a:fld>
            <a:endParaRPr kumimoji="0" lang="de-DE" sz="1000" b="0" i="0" u="none" strike="noStrike" kern="1200" cap="none" spc="0" normalizeH="0" baseline="0" noProof="0" dirty="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6718289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6.xml"/><Relationship Id="rId5" Type="http://schemas.openxmlformats.org/officeDocument/2006/relationships/image" Target="../media/image11.bin"/><Relationship Id="rId4" Type="http://schemas.openxmlformats.org/officeDocument/2006/relationships/image" Target="../media/image10.bin"/></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bin"/><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7.xml"/><Relationship Id="rId5" Type="http://schemas.openxmlformats.org/officeDocument/2006/relationships/image" Target="../media/image13.bin"/><Relationship Id="rId4" Type="http://schemas.openxmlformats.org/officeDocument/2006/relationships/image" Target="../media/image10.bin"/></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bin"/><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8.xml"/><Relationship Id="rId4" Type="http://schemas.openxmlformats.org/officeDocument/2006/relationships/image" Target="../media/image10.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0.bin"/><Relationship Id="rId4" Type="http://schemas.openxmlformats.org/officeDocument/2006/relationships/oleObject" Target="../embeddings/oleObject2.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6.xml"/><Relationship Id="rId5" Type="http://schemas.openxmlformats.org/officeDocument/2006/relationships/image" Target="../media/image11.bin"/><Relationship Id="rId4" Type="http://schemas.openxmlformats.org/officeDocument/2006/relationships/image" Target="../media/image10.bin"/></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1540-36E6-874E-9402-DE1CCD121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3572B1-1A8D-3E26-D9B0-B7E831BE73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577706-6783-D324-14A3-B7AE085B9D1F}"/>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6" name="Slide Number Placeholder 5">
            <a:extLst>
              <a:ext uri="{FF2B5EF4-FFF2-40B4-BE49-F238E27FC236}">
                <a16:creationId xmlns:a16="http://schemas.microsoft.com/office/drawing/2014/main" id="{48807810-FAED-CAC0-69AF-A42AE7E8CC96}"/>
              </a:ext>
            </a:extLst>
          </p:cNvPr>
          <p:cNvSpPr>
            <a:spLocks noGrp="1"/>
          </p:cNvSpPr>
          <p:nvPr>
            <p:ph type="sldNum" sz="quarter" idx="12"/>
          </p:nvPr>
        </p:nvSpPr>
        <p:spPr/>
        <p:txBody>
          <a:bodyPr/>
          <a:lstStyle/>
          <a:p>
            <a:fld id="{43D8F547-B9A0-4BD7-ADD7-907807ED13A7}" type="slidenum">
              <a:rPr lang="en-US" smtClean="0"/>
              <a:t>‹#›</a:t>
            </a:fld>
            <a:endParaRPr lang="en-US"/>
          </a:p>
        </p:txBody>
      </p:sp>
      <p:sp>
        <p:nvSpPr>
          <p:cNvPr id="7" name="TextBox 6">
            <a:extLst>
              <a:ext uri="{FF2B5EF4-FFF2-40B4-BE49-F238E27FC236}">
                <a16:creationId xmlns:a16="http://schemas.microsoft.com/office/drawing/2014/main" id="{69805826-5A3E-A3A3-A644-9E6DEB30B128}"/>
              </a:ext>
            </a:extLst>
          </p:cNvPr>
          <p:cNvSpPr txBox="1"/>
          <p:nvPr userDrawn="1"/>
        </p:nvSpPr>
        <p:spPr>
          <a:xfrm>
            <a:off x="3181350" y="6567586"/>
            <a:ext cx="7486650" cy="307777"/>
          </a:xfrm>
          <a:prstGeom prst="rect">
            <a:avLst/>
          </a:prstGeom>
          <a:noFill/>
        </p:spPr>
        <p:txBody>
          <a:bodyPr wrap="square" rtlCol="0">
            <a:spAutoFit/>
          </a:bodyPr>
          <a:lstStyle/>
          <a:p>
            <a:r>
              <a:rPr lang="en-US" sz="1400" dirty="0"/>
              <a:t>Please don´t distribute slides externally, for internal discussion only</a:t>
            </a:r>
          </a:p>
        </p:txBody>
      </p:sp>
    </p:spTree>
    <p:extLst>
      <p:ext uri="{BB962C8B-B14F-4D97-AF65-F5344CB8AC3E}">
        <p14:creationId xmlns:p14="http://schemas.microsoft.com/office/powerpoint/2010/main" val="1769862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DBD9-C9B4-4BF4-1B2D-E986A039A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D316B1-17D2-D6A4-4CF8-2368DE432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142D8-C72F-F895-9979-B3E97EA1F08B}"/>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5" name="Footer Placeholder 4">
            <a:extLst>
              <a:ext uri="{FF2B5EF4-FFF2-40B4-BE49-F238E27FC236}">
                <a16:creationId xmlns:a16="http://schemas.microsoft.com/office/drawing/2014/main" id="{703C2039-618A-4F37-8C14-6DCF6D84E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DABA4-9BAD-CEC7-A95D-54323A60B50E}"/>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82884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1C90-6925-6792-4A17-0E5B841E89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85EA0-E4BA-9402-5CF7-40A3F57F1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652C84-6091-9765-8F52-93245C6D336D}"/>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5" name="Footer Placeholder 4">
            <a:extLst>
              <a:ext uri="{FF2B5EF4-FFF2-40B4-BE49-F238E27FC236}">
                <a16:creationId xmlns:a16="http://schemas.microsoft.com/office/drawing/2014/main" id="{B173D4DE-A90A-E9C5-A31A-B168EE7FC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8E7BC-08E1-6B13-4132-49BED45526E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409593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01838-F413-320D-2ED5-1227FFB122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97740-702A-B132-7E0A-FB069C6A83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961C47-A0D6-530A-20E1-508E36ABC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4FE36-1996-8B51-FD5E-37CEEC0E546D}"/>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6" name="Footer Placeholder 5">
            <a:extLst>
              <a:ext uri="{FF2B5EF4-FFF2-40B4-BE49-F238E27FC236}">
                <a16:creationId xmlns:a16="http://schemas.microsoft.com/office/drawing/2014/main" id="{0A2F862A-042A-23E8-C01C-74E1698A22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59BEBA-5614-B159-631D-83369538F2E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523846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9C50-3381-5834-CE6E-7931F44697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797A30-7836-BAF0-9EEA-914841D29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03B973-88F1-D0A2-C890-829BFF5F2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3D4330-D16E-E647-3A98-A1D38B5BE3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16A2ED-B88E-CACD-3FA0-A0EBBE3D69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7F5AD-3802-C08D-476B-4AA29A96EED5}"/>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8" name="Footer Placeholder 7">
            <a:extLst>
              <a:ext uri="{FF2B5EF4-FFF2-40B4-BE49-F238E27FC236}">
                <a16:creationId xmlns:a16="http://schemas.microsoft.com/office/drawing/2014/main" id="{B2A1C301-3982-FF6E-EB86-AAC4B377BD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8541B6-9B83-769F-3900-584475469869}"/>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76820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78C0-7AD4-DD95-FBA0-FB9D2ED120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84C53-C830-16FF-51DE-333B4FA941CF}"/>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4" name="Footer Placeholder 3">
            <a:extLst>
              <a:ext uri="{FF2B5EF4-FFF2-40B4-BE49-F238E27FC236}">
                <a16:creationId xmlns:a16="http://schemas.microsoft.com/office/drawing/2014/main" id="{6D4ED537-B3F8-4791-EA63-C8B839BAD2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65D6FC-D2D1-B14C-C693-7048F3746413}"/>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513125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A696D-1132-B417-D230-84ABFE1A0CF7}"/>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3" name="Footer Placeholder 2">
            <a:extLst>
              <a:ext uri="{FF2B5EF4-FFF2-40B4-BE49-F238E27FC236}">
                <a16:creationId xmlns:a16="http://schemas.microsoft.com/office/drawing/2014/main" id="{AB2FFF11-583D-21E0-4CE8-1212D001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E85FB-099F-320C-C423-F42AD9546005}"/>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301683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CF37-47F4-22AA-7C3D-BBB2AC2C74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51A700-8C8D-21A6-ED2A-53451D2C6A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B61A38-A929-D6E4-DA77-FA816E02E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6E4195-F205-CEE4-3B03-01D52496D2C7}"/>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6" name="Footer Placeholder 5">
            <a:extLst>
              <a:ext uri="{FF2B5EF4-FFF2-40B4-BE49-F238E27FC236}">
                <a16:creationId xmlns:a16="http://schemas.microsoft.com/office/drawing/2014/main" id="{36967983-372E-B6C7-8131-3D36334D7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6A0575-90DC-4E1C-9546-B8C9F5F1446C}"/>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422749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B159-20B4-B068-E56F-DB5364265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5DFF90-B4F0-EE83-CDE0-E5174BE29F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3801B0-A05C-C3FB-BCFB-7F7B75744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668A5-E8AB-E852-F141-C336E4587541}"/>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6" name="Footer Placeholder 5">
            <a:extLst>
              <a:ext uri="{FF2B5EF4-FFF2-40B4-BE49-F238E27FC236}">
                <a16:creationId xmlns:a16="http://schemas.microsoft.com/office/drawing/2014/main" id="{BC1EFEBC-C560-D5E5-6F33-80CCAB239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C37034-21EA-35A2-E0E1-D945DA1CADD1}"/>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4030270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062D3-D02F-4868-2106-517B5EB85F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2FEBAF-061C-7615-18F4-2712630EE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4A7EF-1F76-B197-1FD6-7524BEBD1634}"/>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5" name="Footer Placeholder 4">
            <a:extLst>
              <a:ext uri="{FF2B5EF4-FFF2-40B4-BE49-F238E27FC236}">
                <a16:creationId xmlns:a16="http://schemas.microsoft.com/office/drawing/2014/main" id="{45A48B82-CE41-80D0-CEE1-4AFE90DA7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AAD4D-9609-CBE3-C5DB-0C969B6B7E63}"/>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18289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E3B73-EF89-9DD6-A334-939E1A479C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DF07F6-4E13-2CD5-FFCC-0EB0761C9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4C8349-B64C-55E7-EFD7-61DB2AD20C04}"/>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5" name="Footer Placeholder 4">
            <a:extLst>
              <a:ext uri="{FF2B5EF4-FFF2-40B4-BE49-F238E27FC236}">
                <a16:creationId xmlns:a16="http://schemas.microsoft.com/office/drawing/2014/main" id="{4990D17C-1EA8-39A1-77A1-A7DC58A46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9DA03-550C-84D9-293B-270DD8E38266}"/>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3986995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t with Subject Lin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01F3407-B351-47E8-9F28-4EA4D5C49B7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455"/>
          <a:stretch/>
        </p:blipFill>
        <p:spPr>
          <a:xfrm>
            <a:off x="0" y="6261261"/>
            <a:ext cx="1203184" cy="596739"/>
          </a:xfrm>
          <a:prstGeom prst="rect">
            <a:avLst/>
          </a:prstGeom>
        </p:spPr>
      </p:pic>
      <p:sp>
        <p:nvSpPr>
          <p:cNvPr id="4" name="Slide Number Placeholder 7">
            <a:extLst>
              <a:ext uri="{FF2B5EF4-FFF2-40B4-BE49-F238E27FC236}">
                <a16:creationId xmlns:a16="http://schemas.microsoft.com/office/drawing/2014/main" id="{5C289F63-EAA9-4BD0-93C7-7F4F954A776F}"/>
              </a:ext>
            </a:extLst>
          </p:cNvPr>
          <p:cNvSpPr>
            <a:spLocks noGrp="1"/>
          </p:cNvSpPr>
          <p:nvPr>
            <p:ph type="sldNum" sz="quarter" idx="12"/>
          </p:nvPr>
        </p:nvSpPr>
        <p:spPr bwMode="gray">
          <a:xfrm>
            <a:off x="532448" y="6422157"/>
            <a:ext cx="370522" cy="224625"/>
          </a:xfrm>
        </p:spPr>
        <p:txBody>
          <a:bodyPr/>
          <a:lstStyle>
            <a:lvl1pPr>
              <a:defRPr>
                <a:solidFill>
                  <a:srgbClr val="FFC832"/>
                </a:solidFill>
              </a:defRPr>
            </a:lvl1pPr>
          </a:lstStyle>
          <a:p>
            <a:fld id="{FD5E7EB4-4CDF-47BB-AF16-07782904B863}" type="slidenum">
              <a:rPr lang="en-US" smtClean="0"/>
              <a:pPr/>
              <a:t>‹#›</a:t>
            </a:fld>
            <a:endParaRPr lang="en-US" dirty="0"/>
          </a:p>
        </p:txBody>
      </p:sp>
      <p:sp>
        <p:nvSpPr>
          <p:cNvPr id="6" name="Text Placeholder 5">
            <a:extLst>
              <a:ext uri="{FF2B5EF4-FFF2-40B4-BE49-F238E27FC236}">
                <a16:creationId xmlns:a16="http://schemas.microsoft.com/office/drawing/2014/main" id="{39345B3F-4F68-4DD7-B4DD-9887716EF246}"/>
              </a:ext>
            </a:extLst>
          </p:cNvPr>
          <p:cNvSpPr>
            <a:spLocks noGrp="1"/>
          </p:cNvSpPr>
          <p:nvPr>
            <p:ph type="body" sz="quarter" idx="13" hasCustomPrompt="1"/>
          </p:nvPr>
        </p:nvSpPr>
        <p:spPr>
          <a:xfrm>
            <a:off x="1203184" y="6422159"/>
            <a:ext cx="9746756" cy="224623"/>
          </a:xfrm>
        </p:spPr>
        <p:txBody>
          <a:bodyPr/>
          <a:lstStyle>
            <a:lvl1pPr>
              <a:defRPr sz="800">
                <a:solidFill>
                  <a:srgbClr val="E61E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03291"/>
                </a:solidFill>
                <a:effectLst/>
                <a:uLnTx/>
                <a:uFillTx/>
                <a:latin typeface="Verdana" panose="020B0604030504040204" pitchFamily="34" charset="0"/>
                <a:ea typeface="Verdana" panose="020B0604030504040204" pitchFamily="34" charset="0"/>
              </a:rPr>
              <a:t>References:</a:t>
            </a:r>
          </a:p>
        </p:txBody>
      </p:sp>
      <p:sp>
        <p:nvSpPr>
          <p:cNvPr id="13" name="Title 4">
            <a:extLst>
              <a:ext uri="{FF2B5EF4-FFF2-40B4-BE49-F238E27FC236}">
                <a16:creationId xmlns:a16="http://schemas.microsoft.com/office/drawing/2014/main" id="{5A9E1DBA-BF4C-4DC5-BDD4-7E26B3379025}"/>
              </a:ext>
            </a:extLst>
          </p:cNvPr>
          <p:cNvSpPr>
            <a:spLocks noGrp="1"/>
          </p:cNvSpPr>
          <p:nvPr>
            <p:ph type="title" hasCustomPrompt="1"/>
          </p:nvPr>
        </p:nvSpPr>
        <p:spPr bwMode="gray">
          <a:xfrm>
            <a:off x="623888" y="562067"/>
            <a:ext cx="10944225" cy="364056"/>
          </a:xfrm>
        </p:spPr>
        <p:txBody>
          <a:bodyPr/>
          <a:lstStyle>
            <a:lvl1pPr>
              <a:defRPr/>
            </a:lvl1pPr>
          </a:lstStyle>
          <a:p>
            <a:r>
              <a:rPr lang="en-US" dirty="0"/>
              <a:t>Insert slide title here (max. 2 lines | max. 1 line with Action Title)</a:t>
            </a:r>
          </a:p>
        </p:txBody>
      </p:sp>
      <p:pic>
        <p:nvPicPr>
          <p:cNvPr id="3" name="Picture 2">
            <a:extLst>
              <a:ext uri="{FF2B5EF4-FFF2-40B4-BE49-F238E27FC236}">
                <a16:creationId xmlns:a16="http://schemas.microsoft.com/office/drawing/2014/main" id="{12AF1174-5768-4F6F-B4F4-0DE07CD217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6488"/>
            <a:ext cx="474380" cy="1087503"/>
          </a:xfrm>
          <a:prstGeom prst="rect">
            <a:avLst/>
          </a:prstGeom>
        </p:spPr>
      </p:pic>
    </p:spTree>
    <p:extLst>
      <p:ext uri="{BB962C8B-B14F-4D97-AF65-F5344CB8AC3E}">
        <p14:creationId xmlns:p14="http://schemas.microsoft.com/office/powerpoint/2010/main" val="1131986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DB594F-BA72-C2A6-012B-06DAB414C57E}"/>
              </a:ext>
            </a:extLst>
          </p:cNvPr>
          <p:cNvPicPr>
            <a:picLocks noChangeAspect="1"/>
          </p:cNvPicPr>
          <p:nvPr userDrawn="1"/>
        </p:nvPicPr>
        <p:blipFill>
          <a:blip r:embed="rId2"/>
          <a:stretch>
            <a:fillRect/>
          </a:stretch>
        </p:blipFill>
        <p:spPr>
          <a:xfrm>
            <a:off x="0" y="6286500"/>
            <a:ext cx="12192000" cy="571500"/>
          </a:xfrm>
          <a:prstGeom prst="rect">
            <a:avLst/>
          </a:prstGeom>
        </p:spPr>
      </p:pic>
      <p:sp>
        <p:nvSpPr>
          <p:cNvPr id="2" name="Title 1">
            <a:extLst>
              <a:ext uri="{FF2B5EF4-FFF2-40B4-BE49-F238E27FC236}">
                <a16:creationId xmlns:a16="http://schemas.microsoft.com/office/drawing/2014/main" id="{E16B40C4-DC97-1149-22DD-19F4B3F97D18}"/>
              </a:ext>
            </a:extLst>
          </p:cNvPr>
          <p:cNvSpPr>
            <a:spLocks noGrp="1"/>
          </p:cNvSpPr>
          <p:nvPr>
            <p:ph type="title" hasCustomPrompt="1"/>
          </p:nvPr>
        </p:nvSpPr>
        <p:spPr>
          <a:xfrm>
            <a:off x="838200" y="440792"/>
            <a:ext cx="10083800" cy="388938"/>
          </a:xfrm>
        </p:spPr>
        <p:txBody>
          <a:bodyPr lIns="0" tIns="0" rIns="0" bIns="0" anchor="t">
            <a:normAutofit/>
          </a:bodyPr>
          <a:lstStyle>
            <a:lvl1pPr marL="0" algn="l" defTabSz="914400" rtl="0" eaLnBrk="1" latinLnBrk="0" hangingPunct="1">
              <a:lnSpc>
                <a:spcPct val="90000"/>
              </a:lnSpc>
              <a:spcBef>
                <a:spcPct val="0"/>
              </a:spcBef>
              <a:buNone/>
              <a:defRPr lang="en-LB" sz="3000" kern="1200" dirty="0">
                <a:solidFill>
                  <a:srgbClr val="E61D4F"/>
                </a:solidFill>
                <a:latin typeface="Merck" panose="02060803030401040103" pitchFamily="18" charset="77"/>
                <a:ea typeface="+mj-ea"/>
                <a:cs typeface="+mj-cs"/>
              </a:defRPr>
            </a:lvl1pPr>
          </a:lstStyle>
          <a:p>
            <a:r>
              <a:rPr lang="en-US" dirty="0"/>
              <a:t>TITLE GOES HERE</a:t>
            </a:r>
            <a:endParaRPr lang="en-LB" dirty="0"/>
          </a:p>
        </p:txBody>
      </p:sp>
      <p:sp>
        <p:nvSpPr>
          <p:cNvPr id="3" name="Content Placeholder 2">
            <a:extLst>
              <a:ext uri="{FF2B5EF4-FFF2-40B4-BE49-F238E27FC236}">
                <a16:creationId xmlns:a16="http://schemas.microsoft.com/office/drawing/2014/main" id="{0B52E5E2-CAAD-C24E-E559-8C3B5175E77F}"/>
              </a:ext>
            </a:extLst>
          </p:cNvPr>
          <p:cNvSpPr>
            <a:spLocks noGrp="1"/>
          </p:cNvSpPr>
          <p:nvPr>
            <p:ph idx="1"/>
          </p:nvPr>
        </p:nvSpPr>
        <p:spPr>
          <a:xfrm>
            <a:off x="838200" y="1439282"/>
            <a:ext cx="5257800" cy="4740850"/>
          </a:xfrm>
        </p:spPr>
        <p:txBody>
          <a:bodyPr/>
          <a:lstStyle>
            <a:lvl1pPr>
              <a:defRPr b="0" i="0">
                <a:latin typeface="Verdana" panose="020B0604030504040204" pitchFamily="34" charset="0"/>
                <a:ea typeface="Verdana" panose="020B0604030504040204" pitchFamily="34" charset="0"/>
                <a:cs typeface="Verdana" panose="020B0604030504040204" pitchFamily="34" charset="0"/>
              </a:defRPr>
            </a:lvl1pPr>
            <a:lvl2pPr>
              <a:defRPr b="0" i="0">
                <a:latin typeface="Verdana" panose="020B0604030504040204" pitchFamily="34" charset="0"/>
                <a:ea typeface="Verdana" panose="020B0604030504040204" pitchFamily="34" charset="0"/>
                <a:cs typeface="Verdana" panose="020B0604030504040204" pitchFamily="34" charset="0"/>
              </a:defRPr>
            </a:lvl2pPr>
            <a:lvl3pPr>
              <a:defRPr b="0" i="0">
                <a:latin typeface="Verdana" panose="020B0604030504040204" pitchFamily="34" charset="0"/>
                <a:ea typeface="Verdana" panose="020B0604030504040204" pitchFamily="34" charset="0"/>
                <a:cs typeface="Verdana" panose="020B0604030504040204" pitchFamily="34" charset="0"/>
              </a:defRPr>
            </a:lvl3pPr>
            <a:lvl4pPr>
              <a:defRPr b="0" i="0">
                <a:latin typeface="Verdana" panose="020B0604030504040204" pitchFamily="34" charset="0"/>
                <a:ea typeface="Verdana" panose="020B0604030504040204" pitchFamily="34" charset="0"/>
                <a:cs typeface="Verdana" panose="020B0604030504040204" pitchFamily="34" charset="0"/>
              </a:defRPr>
            </a:lvl4pPr>
            <a:lvl5pPr>
              <a:defRPr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LB" dirty="0"/>
          </a:p>
        </p:txBody>
      </p:sp>
      <p:pic>
        <p:nvPicPr>
          <p:cNvPr id="12" name="Picture 11" descr="A yellow lines on a black background&#10;&#10;AI-generated content may be incorrect.">
            <a:extLst>
              <a:ext uri="{FF2B5EF4-FFF2-40B4-BE49-F238E27FC236}">
                <a16:creationId xmlns:a16="http://schemas.microsoft.com/office/drawing/2014/main" id="{716BE581-591E-FF28-FE96-C0A113CD2BD1}"/>
              </a:ext>
            </a:extLst>
          </p:cNvPr>
          <p:cNvPicPr>
            <a:picLocks noChangeAspect="1"/>
          </p:cNvPicPr>
          <p:nvPr userDrawn="1"/>
        </p:nvPicPr>
        <p:blipFill>
          <a:blip r:embed="rId3"/>
          <a:stretch>
            <a:fillRect/>
          </a:stretch>
        </p:blipFill>
        <p:spPr>
          <a:xfrm>
            <a:off x="11103041" y="0"/>
            <a:ext cx="1088959" cy="2133600"/>
          </a:xfrm>
          <a:prstGeom prst="rect">
            <a:avLst/>
          </a:prstGeom>
        </p:spPr>
      </p:pic>
      <p:pic>
        <p:nvPicPr>
          <p:cNvPr id="14" name="Picture 13" descr="A close up of a black and pink background&#10;&#10;AI-generated content may be incorrect.">
            <a:extLst>
              <a:ext uri="{FF2B5EF4-FFF2-40B4-BE49-F238E27FC236}">
                <a16:creationId xmlns:a16="http://schemas.microsoft.com/office/drawing/2014/main" id="{C9A8639A-7C60-8798-91AE-DE4626FC1536}"/>
              </a:ext>
            </a:extLst>
          </p:cNvPr>
          <p:cNvPicPr>
            <a:picLocks noChangeAspect="1"/>
          </p:cNvPicPr>
          <p:nvPr userDrawn="1"/>
        </p:nvPicPr>
        <p:blipFill>
          <a:blip r:embed="rId4"/>
          <a:stretch>
            <a:fillRect/>
          </a:stretch>
        </p:blipFill>
        <p:spPr>
          <a:xfrm>
            <a:off x="0" y="0"/>
            <a:ext cx="838200" cy="1470074"/>
          </a:xfrm>
          <a:prstGeom prst="rect">
            <a:avLst/>
          </a:prstGeom>
        </p:spPr>
      </p:pic>
      <p:sp>
        <p:nvSpPr>
          <p:cNvPr id="17" name="Text Placeholder 16">
            <a:extLst>
              <a:ext uri="{FF2B5EF4-FFF2-40B4-BE49-F238E27FC236}">
                <a16:creationId xmlns:a16="http://schemas.microsoft.com/office/drawing/2014/main" id="{523F0FBB-93FE-70EF-39B3-0E9B2B3400DC}"/>
              </a:ext>
            </a:extLst>
          </p:cNvPr>
          <p:cNvSpPr>
            <a:spLocks noGrp="1"/>
          </p:cNvSpPr>
          <p:nvPr>
            <p:ph type="body" sz="quarter" idx="10" hasCustomPrompt="1"/>
          </p:nvPr>
        </p:nvSpPr>
        <p:spPr>
          <a:xfrm>
            <a:off x="838199" y="829731"/>
            <a:ext cx="10083799" cy="388938"/>
          </a:xfrm>
        </p:spPr>
        <p:txBody>
          <a:bodyPr lIns="0" tIns="0" rIns="0" bIns="0">
            <a:normAutofit/>
          </a:bodyPr>
          <a:lstStyle>
            <a:lvl1pPr marL="0" indent="0">
              <a:buNone/>
              <a:defRPr sz="2200" b="0" i="0">
                <a:solidFill>
                  <a:srgbClr val="96D7D3"/>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SUBTITLE GOES HERE</a:t>
            </a:r>
          </a:p>
        </p:txBody>
      </p:sp>
      <p:sp>
        <p:nvSpPr>
          <p:cNvPr id="7" name="Content Placeholder 6">
            <a:extLst>
              <a:ext uri="{FF2B5EF4-FFF2-40B4-BE49-F238E27FC236}">
                <a16:creationId xmlns:a16="http://schemas.microsoft.com/office/drawing/2014/main" id="{3945BFC2-98A3-FE09-D99A-0D6FF2134B53}"/>
              </a:ext>
            </a:extLst>
          </p:cNvPr>
          <p:cNvSpPr>
            <a:spLocks noGrp="1"/>
          </p:cNvSpPr>
          <p:nvPr>
            <p:ph sz="quarter" idx="11"/>
          </p:nvPr>
        </p:nvSpPr>
        <p:spPr>
          <a:xfrm>
            <a:off x="6285508" y="1439863"/>
            <a:ext cx="5457230" cy="4740275"/>
          </a:xfrm>
        </p:spPr>
        <p:txBody>
          <a:bodyPr/>
          <a:lstStyle>
            <a:lvl1pPr>
              <a:defRPr b="0" i="0">
                <a:latin typeface="Verdana" panose="020B0604030504040204" pitchFamily="34" charset="0"/>
                <a:ea typeface="Verdana" panose="020B0604030504040204" pitchFamily="34" charset="0"/>
                <a:cs typeface="Verdana" panose="020B0604030504040204" pitchFamily="34" charset="0"/>
              </a:defRPr>
            </a:lvl1pPr>
            <a:lvl2pPr>
              <a:defRPr b="0" i="0">
                <a:latin typeface="Verdana" panose="020B0604030504040204" pitchFamily="34" charset="0"/>
                <a:ea typeface="Verdana" panose="020B0604030504040204" pitchFamily="34" charset="0"/>
                <a:cs typeface="Verdana" panose="020B0604030504040204" pitchFamily="34" charset="0"/>
              </a:defRPr>
            </a:lvl2pPr>
            <a:lvl3pPr>
              <a:defRPr b="0" i="0">
                <a:latin typeface="Verdana" panose="020B0604030504040204" pitchFamily="34" charset="0"/>
                <a:ea typeface="Verdana" panose="020B0604030504040204" pitchFamily="34" charset="0"/>
                <a:cs typeface="Verdana" panose="020B0604030504040204" pitchFamily="34" charset="0"/>
              </a:defRPr>
            </a:lvl3pPr>
            <a:lvl4pPr>
              <a:defRPr b="0" i="0">
                <a:latin typeface="Verdana" panose="020B0604030504040204" pitchFamily="34" charset="0"/>
                <a:ea typeface="Verdana" panose="020B0604030504040204" pitchFamily="34" charset="0"/>
                <a:cs typeface="Verdana" panose="020B0604030504040204" pitchFamily="34" charset="0"/>
              </a:defRPr>
            </a:lvl4pPr>
            <a:lvl5pPr>
              <a:defRPr b="0" i="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LB" dirty="0"/>
          </a:p>
        </p:txBody>
      </p:sp>
    </p:spTree>
    <p:extLst>
      <p:ext uri="{BB962C8B-B14F-4D97-AF65-F5344CB8AC3E}">
        <p14:creationId xmlns:p14="http://schemas.microsoft.com/office/powerpoint/2010/main" val="320200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ol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B3F57C-78AC-754B-B22A-C707C825260A}"/>
              </a:ext>
            </a:extLst>
          </p:cNvPr>
          <p:cNvPicPr>
            <a:picLocks noChangeAspect="1"/>
          </p:cNvPicPr>
          <p:nvPr userDrawn="1"/>
        </p:nvPicPr>
        <p:blipFill>
          <a:blip r:embed="rId2"/>
          <a:stretch>
            <a:fillRect/>
          </a:stretch>
        </p:blipFill>
        <p:spPr>
          <a:xfrm>
            <a:off x="0" y="159604"/>
            <a:ext cx="533304" cy="980502"/>
          </a:xfrm>
          <a:prstGeom prst="rect">
            <a:avLst/>
          </a:prstGeom>
        </p:spPr>
      </p:pic>
      <p:sp>
        <p:nvSpPr>
          <p:cNvPr id="8" name="Text Placeholder 3">
            <a:extLst>
              <a:ext uri="{FF2B5EF4-FFF2-40B4-BE49-F238E27FC236}">
                <a16:creationId xmlns:a16="http://schemas.microsoft.com/office/drawing/2014/main" id="{836EBD35-A83D-224B-BAA9-63A573478886}"/>
              </a:ext>
            </a:extLst>
          </p:cNvPr>
          <p:cNvSpPr>
            <a:spLocks noGrp="1"/>
          </p:cNvSpPr>
          <p:nvPr>
            <p:ph type="body" sz="quarter" idx="11" hasCustomPrompt="1"/>
          </p:nvPr>
        </p:nvSpPr>
        <p:spPr>
          <a:xfrm>
            <a:off x="637038" y="466499"/>
            <a:ext cx="10494788" cy="366712"/>
          </a:xfrm>
        </p:spPr>
        <p:txBody>
          <a:bodyPr>
            <a:noAutofit/>
          </a:bodyPr>
          <a:lstStyle>
            <a:lvl1pPr marL="0" indent="0">
              <a:buNone/>
              <a:defRPr sz="2000" b="1">
                <a:solidFill>
                  <a:srgbClr val="503292"/>
                </a:solidFill>
                <a:latin typeface="Verdana" panose="020B0604030504040204" pitchFamily="34" charset="0"/>
                <a:ea typeface="Verdana" panose="020B0604030504040204" pitchFamily="34" charset="0"/>
                <a:cs typeface="Verdana" panose="020B0604030504040204" pitchFamily="34" charset="0"/>
              </a:defRPr>
            </a:lvl1pPr>
          </a:lstStyle>
          <a:p>
            <a:r>
              <a:rPr lang="en-LB" dirty="0"/>
              <a:t>Subtitle Goes Here</a:t>
            </a:r>
          </a:p>
        </p:txBody>
      </p:sp>
    </p:spTree>
    <p:extLst>
      <p:ext uri="{BB962C8B-B14F-4D97-AF65-F5344CB8AC3E}">
        <p14:creationId xmlns:p14="http://schemas.microsoft.com/office/powerpoint/2010/main" val="3501724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2846-C629-ED64-D3C1-FD5EEDC15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558941CE-3213-81D2-42D9-2BEABCD65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885B90EB-691A-4D66-8305-6E174F3B8FD9}"/>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5" name="Footer Placeholder 4">
            <a:extLst>
              <a:ext uri="{FF2B5EF4-FFF2-40B4-BE49-F238E27FC236}">
                <a16:creationId xmlns:a16="http://schemas.microsoft.com/office/drawing/2014/main" id="{D110032E-FC0B-0666-20EC-9D1984357463}"/>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3C695B60-912C-F8EB-BFB8-1B661765C8EB}"/>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3816946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B9B8-7D64-6A81-70CF-210CED6862E2}"/>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02CDF28A-7975-95D1-4E3F-589311E6F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4147639-720F-6376-BE49-945C1896DC5A}"/>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5" name="Footer Placeholder 4">
            <a:extLst>
              <a:ext uri="{FF2B5EF4-FFF2-40B4-BE49-F238E27FC236}">
                <a16:creationId xmlns:a16="http://schemas.microsoft.com/office/drawing/2014/main" id="{0BD5AA2E-8F26-8E11-A384-2E1A975D62B5}"/>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1655E316-7FBC-602D-2DDF-CC03115AFE8C}"/>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2569143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813BE-2AB6-95C6-DF84-C5E87DEB84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27B2A917-2C36-BF19-98EC-EE4671A2D7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80683C-8C7F-7210-BAC6-9C2DA9454627}"/>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5" name="Footer Placeholder 4">
            <a:extLst>
              <a:ext uri="{FF2B5EF4-FFF2-40B4-BE49-F238E27FC236}">
                <a16:creationId xmlns:a16="http://schemas.microsoft.com/office/drawing/2014/main" id="{CB4849CB-26D8-75E4-28CB-0F7730019FC5}"/>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DA49CE1-7C48-CC1B-9899-78D497D1447B}"/>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2262206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7B8E6-BCA2-61A0-BA6B-BDE3025747BF}"/>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DFF8049B-A502-360F-213D-1A4E3DB90F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0177E7FD-B854-6F44-8764-62BF04AEC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0360BDB7-960F-E978-AA77-632C6C31353D}"/>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6" name="Footer Placeholder 5">
            <a:extLst>
              <a:ext uri="{FF2B5EF4-FFF2-40B4-BE49-F238E27FC236}">
                <a16:creationId xmlns:a16="http://schemas.microsoft.com/office/drawing/2014/main" id="{647FC55B-B126-C5A7-D101-4F325BC21644}"/>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CBAD79CE-024D-22B8-93A7-3D31402F62E0}"/>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3906230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6408-D06D-FD35-2582-CAF220DF50CB}"/>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533BA3C0-8D94-6EFC-0EA6-72DA62454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B9EB7-6045-EC37-4BAF-A4258303C9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0FBFBFA2-1F65-93A2-5AE2-837E7DFBA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372254-4FBB-1602-749E-BC597ECE62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70C3440A-7344-46B1-2B96-039721669BBE}"/>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8" name="Footer Placeholder 7">
            <a:extLst>
              <a:ext uri="{FF2B5EF4-FFF2-40B4-BE49-F238E27FC236}">
                <a16:creationId xmlns:a16="http://schemas.microsoft.com/office/drawing/2014/main" id="{B55FD689-A1BE-9E91-D843-33217ACFE4B6}"/>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1BF673E0-8636-5247-9808-9BA93E6DB67E}"/>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673494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832DF-3DFA-9FB6-DB09-BBA8A37E7925}"/>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E835AF66-30DE-C608-B80D-622084520BEB}"/>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4" name="Footer Placeholder 3">
            <a:extLst>
              <a:ext uri="{FF2B5EF4-FFF2-40B4-BE49-F238E27FC236}">
                <a16:creationId xmlns:a16="http://schemas.microsoft.com/office/drawing/2014/main" id="{583A8FE3-B4D7-8EC2-DD82-CE007931BD7F}"/>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6BEA3A4B-1AB2-AA18-5BCC-E488F94CA942}"/>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14231847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F3932F-9781-2E77-9474-E46E62AF9984}"/>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3" name="Footer Placeholder 2">
            <a:extLst>
              <a:ext uri="{FF2B5EF4-FFF2-40B4-BE49-F238E27FC236}">
                <a16:creationId xmlns:a16="http://schemas.microsoft.com/office/drawing/2014/main" id="{E9F7F105-12FF-1FBC-5B22-4A8194253C5F}"/>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2AB84ACF-799A-357F-8249-E7D1055D6720}"/>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2342192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E987-8275-A08A-D95C-2A45006DC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F248B719-9C8F-6F10-174C-CE22F3AB54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246FB585-7D91-834D-4193-A851B15F3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571E1-6811-737F-7C44-9E4364DBAFF7}"/>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6" name="Footer Placeholder 5">
            <a:extLst>
              <a:ext uri="{FF2B5EF4-FFF2-40B4-BE49-F238E27FC236}">
                <a16:creationId xmlns:a16="http://schemas.microsoft.com/office/drawing/2014/main" id="{40DF30FA-2104-A9C2-61EB-A4C7D1E0E5F4}"/>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571A1565-DFFF-FDE8-56CE-C7FABFA3E4AC}"/>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34513293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9DFA-FF2B-90B7-D881-3AA83EA22B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298A8FE9-8770-4ED1-10F0-50579BF7C8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9150ACD1-8551-C7D3-2EDD-85142A914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B1B28-788D-82A7-6640-30924A484802}"/>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6" name="Footer Placeholder 5">
            <a:extLst>
              <a:ext uri="{FF2B5EF4-FFF2-40B4-BE49-F238E27FC236}">
                <a16:creationId xmlns:a16="http://schemas.microsoft.com/office/drawing/2014/main" id="{E12FAA88-E471-CDE2-9B3B-C6EB65B0C50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917A70B5-7BCF-4C36-49A1-DB8D3147B15E}"/>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3009815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F3B7-155A-F4EB-1B6F-7C6AEDE61D07}"/>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7C77A298-E30A-5ACB-C7DB-0AD0D6970F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D8BDF02-2B5E-556C-AC5A-044C6D25165B}"/>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5" name="Footer Placeholder 4">
            <a:extLst>
              <a:ext uri="{FF2B5EF4-FFF2-40B4-BE49-F238E27FC236}">
                <a16:creationId xmlns:a16="http://schemas.microsoft.com/office/drawing/2014/main" id="{FE218424-54A6-452F-B511-FDB6BD19CAE1}"/>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08888E79-8E0D-BB2E-70A9-0A14968DDA17}"/>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41593688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4EE493-9170-1CAD-EA35-9364A2725C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701EC598-D5D8-B3D3-AD9D-1573145F2F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7BC5C17-B13A-AC0E-C864-8714FA8EB9D8}"/>
              </a:ext>
            </a:extLst>
          </p:cNvPr>
          <p:cNvSpPr>
            <a:spLocks noGrp="1"/>
          </p:cNvSpPr>
          <p:nvPr>
            <p:ph type="dt" sz="half" idx="10"/>
          </p:nvPr>
        </p:nvSpPr>
        <p:spPr/>
        <p:txBody>
          <a:bodyPr/>
          <a:lstStyle/>
          <a:p>
            <a:fld id="{DF6F1EB0-BF14-411B-910B-D0F23EBF088B}" type="datetimeFigureOut">
              <a:rPr lang="ru-RU" smtClean="0"/>
              <a:t>27.08.2026</a:t>
            </a:fld>
            <a:endParaRPr lang="ru-RU"/>
          </a:p>
        </p:txBody>
      </p:sp>
      <p:sp>
        <p:nvSpPr>
          <p:cNvPr id="5" name="Footer Placeholder 4">
            <a:extLst>
              <a:ext uri="{FF2B5EF4-FFF2-40B4-BE49-F238E27FC236}">
                <a16:creationId xmlns:a16="http://schemas.microsoft.com/office/drawing/2014/main" id="{955696AD-0DF7-4CA1-5B4F-51B192BF9E2D}"/>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D588A53C-49B3-F62E-04A3-2E7B0805A790}"/>
              </a:ext>
            </a:extLst>
          </p:cNvPr>
          <p:cNvSpPr>
            <a:spLocks noGrp="1"/>
          </p:cNvSpPr>
          <p:nvPr>
            <p:ph type="sldNum" sz="quarter" idx="12"/>
          </p:nvPr>
        </p:nvSpPr>
        <p:spPr/>
        <p:txBody>
          <a:bodyPr/>
          <a:lstStyle/>
          <a:p>
            <a:fld id="{61489402-3194-4AE3-A671-742BDCC53E50}" type="slidenum">
              <a:rPr lang="ru-RU" smtClean="0"/>
              <a:t>‹#›</a:t>
            </a:fld>
            <a:endParaRPr lang="ru-RU"/>
          </a:p>
        </p:txBody>
      </p:sp>
    </p:spTree>
    <p:extLst>
      <p:ext uri="{BB962C8B-B14F-4D97-AF65-F5344CB8AC3E}">
        <p14:creationId xmlns:p14="http://schemas.microsoft.com/office/powerpoint/2010/main" val="7582230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27" name="Freihandform: Form 27">
            <a:extLst>
              <a:ext uri="{FF2B5EF4-FFF2-40B4-BE49-F238E27FC236}">
                <a16:creationId xmlns:a16="http://schemas.microsoft.com/office/drawing/2014/main" id="{F94C42B7-5921-4211-80A3-E402BB3E8A5C}"/>
              </a:ext>
            </a:extLst>
          </p:cNvPr>
          <p:cNvSpPr>
            <a:spLocks noGrp="1"/>
          </p:cNvSpPr>
          <p:nvPr>
            <p:ph type="pic" sz="quarter" idx="10"/>
          </p:nvPr>
        </p:nvSpPr>
        <p:spPr bwMode="auto">
          <a:xfrm>
            <a:off x="1" y="-11695"/>
            <a:ext cx="10727870" cy="5857324"/>
          </a:xfrm>
          <a:custGeom>
            <a:avLst/>
            <a:gdLst>
              <a:gd name="connsiteX0" fmla="*/ 0 w 11618517"/>
              <a:gd name="connsiteY0" fmla="*/ 0 h 5102648"/>
              <a:gd name="connsiteX1" fmla="*/ 10936453 w 11618517"/>
              <a:gd name="connsiteY1" fmla="*/ 0 h 5102648"/>
              <a:gd name="connsiteX2" fmla="*/ 10937350 w 11618517"/>
              <a:gd name="connsiteY2" fmla="*/ 4319 h 5102648"/>
              <a:gd name="connsiteX3" fmla="*/ 11569401 w 11618517"/>
              <a:gd name="connsiteY3" fmla="*/ 3057010 h 5102648"/>
              <a:gd name="connsiteX4" fmla="*/ 7953960 w 11618517"/>
              <a:gd name="connsiteY4" fmla="*/ 4996506 h 5102648"/>
              <a:gd name="connsiteX5" fmla="*/ 86246 w 11618517"/>
              <a:gd name="connsiteY5" fmla="*/ 3698730 h 5102648"/>
              <a:gd name="connsiteX6" fmla="*/ 0 w 11618517"/>
              <a:gd name="connsiteY6" fmla="*/ 3684244 h 51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18517" h="5102648">
                <a:moveTo>
                  <a:pt x="0" y="0"/>
                </a:moveTo>
                <a:lnTo>
                  <a:pt x="10936453" y="0"/>
                </a:lnTo>
                <a:lnTo>
                  <a:pt x="10937350" y="4319"/>
                </a:lnTo>
                <a:cubicBezTo>
                  <a:pt x="11247430" y="1497930"/>
                  <a:pt x="11569401" y="3057010"/>
                  <a:pt x="11569401" y="3057010"/>
                </a:cubicBezTo>
                <a:cubicBezTo>
                  <a:pt x="11856638" y="4341692"/>
                  <a:pt x="10913751" y="5457994"/>
                  <a:pt x="7953960" y="4996506"/>
                </a:cubicBezTo>
                <a:cubicBezTo>
                  <a:pt x="5970620" y="4685470"/>
                  <a:pt x="1238329" y="3892190"/>
                  <a:pt x="86246" y="3698730"/>
                </a:cubicBezTo>
                <a:lnTo>
                  <a:pt x="0" y="3684244"/>
                </a:lnTo>
                <a:close/>
              </a:path>
            </a:pathLst>
          </a:custGeom>
          <a:solidFill>
            <a:srgbClr val="BDDFEB"/>
          </a:solidFill>
          <a:ln>
            <a:noFill/>
          </a:ln>
        </p:spPr>
        <p:txBody>
          <a:bodyPr vert="horz" wrap="square" lIns="91440" tIns="45720" rIns="91440" bIns="45720" numCol="1" anchor="t" anchorCtr="0" compatLnSpc="1">
            <a:prstTxWarp prst="textNoShape">
              <a:avLst/>
            </a:prstTxWarp>
            <a:noAutofit/>
          </a:bodyPr>
          <a:lstStyle/>
          <a:p>
            <a:endParaRPr lang="en-US" dirty="0"/>
          </a:p>
        </p:txBody>
      </p:sp>
    </p:spTree>
    <p:extLst>
      <p:ext uri="{BB962C8B-B14F-4D97-AF65-F5344CB8AC3E}">
        <p14:creationId xmlns:p14="http://schemas.microsoft.com/office/powerpoint/2010/main" val="336588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27" name="Freihandform: Form 27">
            <a:extLst>
              <a:ext uri="{FF2B5EF4-FFF2-40B4-BE49-F238E27FC236}">
                <a16:creationId xmlns:a16="http://schemas.microsoft.com/office/drawing/2014/main" id="{F94C42B7-5921-4211-80A3-E402BB3E8A5C}"/>
              </a:ext>
            </a:extLst>
          </p:cNvPr>
          <p:cNvSpPr>
            <a:spLocks noGrp="1"/>
          </p:cNvSpPr>
          <p:nvPr>
            <p:ph type="pic" sz="quarter" idx="10"/>
          </p:nvPr>
        </p:nvSpPr>
        <p:spPr bwMode="auto">
          <a:xfrm>
            <a:off x="1" y="-11695"/>
            <a:ext cx="10727870" cy="5857324"/>
          </a:xfrm>
          <a:custGeom>
            <a:avLst/>
            <a:gdLst>
              <a:gd name="connsiteX0" fmla="*/ 0 w 11618517"/>
              <a:gd name="connsiteY0" fmla="*/ 0 h 5102648"/>
              <a:gd name="connsiteX1" fmla="*/ 10936453 w 11618517"/>
              <a:gd name="connsiteY1" fmla="*/ 0 h 5102648"/>
              <a:gd name="connsiteX2" fmla="*/ 10937350 w 11618517"/>
              <a:gd name="connsiteY2" fmla="*/ 4319 h 5102648"/>
              <a:gd name="connsiteX3" fmla="*/ 11569401 w 11618517"/>
              <a:gd name="connsiteY3" fmla="*/ 3057010 h 5102648"/>
              <a:gd name="connsiteX4" fmla="*/ 7953960 w 11618517"/>
              <a:gd name="connsiteY4" fmla="*/ 4996506 h 5102648"/>
              <a:gd name="connsiteX5" fmla="*/ 86246 w 11618517"/>
              <a:gd name="connsiteY5" fmla="*/ 3698730 h 5102648"/>
              <a:gd name="connsiteX6" fmla="*/ 0 w 11618517"/>
              <a:gd name="connsiteY6" fmla="*/ 3684244 h 510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18517" h="5102648">
                <a:moveTo>
                  <a:pt x="0" y="0"/>
                </a:moveTo>
                <a:lnTo>
                  <a:pt x="10936453" y="0"/>
                </a:lnTo>
                <a:lnTo>
                  <a:pt x="10937350" y="4319"/>
                </a:lnTo>
                <a:cubicBezTo>
                  <a:pt x="11247430" y="1497930"/>
                  <a:pt x="11569401" y="3057010"/>
                  <a:pt x="11569401" y="3057010"/>
                </a:cubicBezTo>
                <a:cubicBezTo>
                  <a:pt x="11856638" y="4341692"/>
                  <a:pt x="10913751" y="5457994"/>
                  <a:pt x="7953960" y="4996506"/>
                </a:cubicBezTo>
                <a:cubicBezTo>
                  <a:pt x="5970620" y="4685470"/>
                  <a:pt x="1238329" y="3892190"/>
                  <a:pt x="86246" y="3698730"/>
                </a:cubicBezTo>
                <a:lnTo>
                  <a:pt x="0" y="3684244"/>
                </a:lnTo>
                <a:close/>
              </a:path>
            </a:pathLst>
          </a:custGeom>
          <a:solidFill>
            <a:srgbClr val="BDDFEB"/>
          </a:solidFill>
          <a:ln>
            <a:noFill/>
          </a:ln>
        </p:spPr>
        <p:txBody>
          <a:bodyPr vert="horz" wrap="square" lIns="91440" tIns="45720" rIns="91440" bIns="45720" numCol="1" anchor="t" anchorCtr="0" compatLnSpc="1">
            <a:prstTxWarp prst="textNoShape">
              <a:avLst/>
            </a:prstTxWarp>
            <a:noAutofit/>
          </a:bodyPr>
          <a:lstStyle/>
          <a:p>
            <a:endParaRPr lang="en-US" dirty="0"/>
          </a:p>
        </p:txBody>
      </p:sp>
    </p:spTree>
    <p:extLst>
      <p:ext uri="{BB962C8B-B14F-4D97-AF65-F5344CB8AC3E}">
        <p14:creationId xmlns:p14="http://schemas.microsoft.com/office/powerpoint/2010/main" val="182529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497766"/>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128175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47521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3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621000"/>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marL="179388" indent="-179388">
              <a:lnSpc>
                <a:spcPct val="110000"/>
              </a:lnSpc>
              <a:defRPr/>
            </a:lvl1pPr>
            <a:lvl2pPr marL="625475" indent="-168275">
              <a:lnSpc>
                <a:spcPct val="110000"/>
              </a:lnSpc>
              <a:defRPr/>
            </a:lvl2pPr>
            <a:lvl3pPr marL="1077913" indent="-163513">
              <a:lnSpc>
                <a:spcPct val="110000"/>
              </a:lnSpc>
              <a:defRPr/>
            </a:lvl3pPr>
            <a:lvl4pPr marL="1524000" indent="-152400">
              <a:lnSpc>
                <a:spcPct val="110000"/>
              </a:lnSpc>
              <a:defRPr/>
            </a:lvl4pPr>
            <a:lvl5pPr marL="1976438" indent="-147638">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80930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4_Заголовок и объект">
    <p:spTree>
      <p:nvGrpSpPr>
        <p:cNvPr id="1" name=""/>
        <p:cNvGrpSpPr/>
        <p:nvPr/>
      </p:nvGrpSpPr>
      <p:grpSpPr>
        <a:xfrm>
          <a:off x="0" y="0"/>
          <a:ext cx="0" cy="0"/>
          <a:chOff x="0" y="0"/>
          <a:chExt cx="0" cy="0"/>
        </a:xfrm>
      </p:grpSpPr>
      <p:sp>
        <p:nvSpPr>
          <p:cNvPr id="4" name="Полилиния: фигура 3">
            <a:extLst>
              <a:ext uri="{FF2B5EF4-FFF2-40B4-BE49-F238E27FC236}">
                <a16:creationId xmlns:a16="http://schemas.microsoft.com/office/drawing/2014/main" id="{21530C11-7445-2790-2907-850DFBA918EF}"/>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5" name="Полилиния: фигура 4">
            <a:extLst>
              <a:ext uri="{FF2B5EF4-FFF2-40B4-BE49-F238E27FC236}">
                <a16:creationId xmlns:a16="http://schemas.microsoft.com/office/drawing/2014/main" id="{6B645F25-3158-EF92-B965-F02F8DB0DD6F}"/>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621000"/>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marL="179388" indent="-179388">
              <a:lnSpc>
                <a:spcPct val="110000"/>
              </a:lnSpc>
              <a:defRPr/>
            </a:lvl1pPr>
            <a:lvl2pPr marL="625475" indent="-168275">
              <a:lnSpc>
                <a:spcPct val="110000"/>
              </a:lnSpc>
              <a:defRPr/>
            </a:lvl2pPr>
            <a:lvl3pPr marL="1077913" indent="-163513">
              <a:lnSpc>
                <a:spcPct val="110000"/>
              </a:lnSpc>
              <a:defRPr/>
            </a:lvl3pPr>
            <a:lvl4pPr marL="1524000" indent="-152400">
              <a:lnSpc>
                <a:spcPct val="110000"/>
              </a:lnSpc>
              <a:defRPr/>
            </a:lvl4pPr>
            <a:lvl5pPr marL="1976438" indent="-147638">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54496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3619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 name="Заголовок 1">
            <a:extLst>
              <a:ext uri="{FF2B5EF4-FFF2-40B4-BE49-F238E27FC236}">
                <a16:creationId xmlns:a16="http://schemas.microsoft.com/office/drawing/2014/main" id="{A269540D-4B84-4D48-B17E-A752B4EEAF6F}"/>
              </a:ext>
            </a:extLst>
          </p:cNvPr>
          <p:cNvSpPr>
            <a:spLocks noGrp="1"/>
          </p:cNvSpPr>
          <p:nvPr>
            <p:ph type="title"/>
          </p:nvPr>
        </p:nvSpPr>
        <p:spPr>
          <a:xfrm>
            <a:off x="924971" y="497766"/>
            <a:ext cx="10909300" cy="783083"/>
          </a:xfrm>
          <a:prstGeom prst="rect">
            <a:avLst/>
          </a:prstGeom>
        </p:spPr>
        <p:txBody>
          <a:bodyPr/>
          <a:lstStyle/>
          <a:p>
            <a:r>
              <a:rPr lang="ru-RU" dirty="0"/>
              <a:t>Образец заголовка</a:t>
            </a:r>
          </a:p>
        </p:txBody>
      </p:sp>
      <p:sp>
        <p:nvSpPr>
          <p:cNvPr id="3" name="Объект 2">
            <a:extLst>
              <a:ext uri="{FF2B5EF4-FFF2-40B4-BE49-F238E27FC236}">
                <a16:creationId xmlns:a16="http://schemas.microsoft.com/office/drawing/2014/main" id="{A0A6F06F-C669-43A6-800C-BFBE16B846FB}"/>
              </a:ext>
            </a:extLst>
          </p:cNvPr>
          <p:cNvSpPr>
            <a:spLocks noGrp="1"/>
          </p:cNvSpPr>
          <p:nvPr>
            <p:ph idx="1"/>
          </p:nvPr>
        </p:nvSpPr>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
        <p:nvSpPr>
          <p:cNvPr id="28" name="Рисунок 27">
            <a:extLst>
              <a:ext uri="{FF2B5EF4-FFF2-40B4-BE49-F238E27FC236}">
                <a16:creationId xmlns:a16="http://schemas.microsoft.com/office/drawing/2014/main" id="{498123F7-DA78-4230-9BC5-1959ABA9C875}"/>
              </a:ext>
            </a:extLst>
          </p:cNvPr>
          <p:cNvSpPr>
            <a:spLocks noGrp="1"/>
          </p:cNvSpPr>
          <p:nvPr>
            <p:ph type="pic" sz="quarter" idx="13"/>
          </p:nvPr>
        </p:nvSpPr>
        <p:spPr>
          <a:xfrm>
            <a:off x="6818612" y="2857146"/>
            <a:ext cx="4448417" cy="3210859"/>
          </a:xfrm>
          <a:custGeom>
            <a:avLst/>
            <a:gdLst>
              <a:gd name="connsiteX0" fmla="*/ 2334530 w 5313129"/>
              <a:gd name="connsiteY0" fmla="*/ 952 h 3835006"/>
              <a:gd name="connsiteX1" fmla="*/ 3193135 w 5313129"/>
              <a:gd name="connsiteY1" fmla="*/ 52223 h 3835006"/>
              <a:gd name="connsiteX2" fmla="*/ 5308816 w 5313129"/>
              <a:gd name="connsiteY2" fmla="*/ 1506499 h 3835006"/>
              <a:gd name="connsiteX3" fmla="*/ 3538747 w 5313129"/>
              <a:gd name="connsiteY3" fmla="*/ 3520529 h 3835006"/>
              <a:gd name="connsiteX4" fmla="*/ 250702 w 5313129"/>
              <a:gd name="connsiteY4" fmla="*/ 2943156 h 3835006"/>
              <a:gd name="connsiteX5" fmla="*/ 2334530 w 5313129"/>
              <a:gd name="connsiteY5" fmla="*/ 952 h 3835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3129" h="3835006">
                <a:moveTo>
                  <a:pt x="2334530" y="952"/>
                </a:moveTo>
                <a:cubicBezTo>
                  <a:pt x="2594142" y="-4244"/>
                  <a:pt x="2879672" y="11690"/>
                  <a:pt x="3193135" y="52223"/>
                </a:cubicBezTo>
                <a:cubicBezTo>
                  <a:pt x="4963204" y="281275"/>
                  <a:pt x="5276288" y="1098542"/>
                  <a:pt x="5308816" y="1506499"/>
                </a:cubicBezTo>
                <a:cubicBezTo>
                  <a:pt x="5341344" y="1914455"/>
                  <a:pt x="5230206" y="2850993"/>
                  <a:pt x="3538747" y="3520529"/>
                </a:cubicBezTo>
                <a:cubicBezTo>
                  <a:pt x="1847287" y="4190065"/>
                  <a:pt x="695252" y="3692656"/>
                  <a:pt x="250702" y="2943156"/>
                </a:cubicBezTo>
                <a:cubicBezTo>
                  <a:pt x="-262716" y="2075994"/>
                  <a:pt x="-175048" y="51186"/>
                  <a:pt x="2334530" y="952"/>
                </a:cubicBezTo>
                <a:close/>
              </a:path>
            </a:pathLst>
          </a:custGeom>
          <a:solidFill>
            <a:srgbClr val="BDDFEB"/>
          </a:solidFill>
        </p:spPr>
        <p:txBody>
          <a:bodyPr wrap="square">
            <a:noAutofit/>
          </a:bodyPr>
          <a:lstStyle/>
          <a:p>
            <a:endParaRPr lang="ru-RU" dirty="0"/>
          </a:p>
        </p:txBody>
      </p:sp>
    </p:spTree>
    <p:extLst>
      <p:ext uri="{BB962C8B-B14F-4D97-AF65-F5344CB8AC3E}">
        <p14:creationId xmlns:p14="http://schemas.microsoft.com/office/powerpoint/2010/main" val="132857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фигура 9">
            <a:extLst>
              <a:ext uri="{FF2B5EF4-FFF2-40B4-BE49-F238E27FC236}">
                <a16:creationId xmlns:a16="http://schemas.microsoft.com/office/drawing/2014/main" id="{F519098C-1D8F-410A-8DE0-C4E55CFCCB80}"/>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Полилиния: фигура 10">
            <a:extLst>
              <a:ext uri="{FF2B5EF4-FFF2-40B4-BE49-F238E27FC236}">
                <a16:creationId xmlns:a16="http://schemas.microsoft.com/office/drawing/2014/main" id="{933ECDC1-506B-4DB5-A533-B75154608A60}"/>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2" name="Полилиния: фигура 11">
            <a:extLst>
              <a:ext uri="{FF2B5EF4-FFF2-40B4-BE49-F238E27FC236}">
                <a16:creationId xmlns:a16="http://schemas.microsoft.com/office/drawing/2014/main" id="{55A6FE03-D351-4480-8C0B-3E8C014239A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3" name="Полилиния: фигура 12">
            <a:extLst>
              <a:ext uri="{FF2B5EF4-FFF2-40B4-BE49-F238E27FC236}">
                <a16:creationId xmlns:a16="http://schemas.microsoft.com/office/drawing/2014/main" id="{AE364247-1447-4A8C-AFD7-2F81D1395CB3}"/>
              </a:ext>
            </a:extLst>
          </p:cNvPr>
          <p:cNvSpPr>
            <a:spLocks/>
          </p:cNvSpPr>
          <p:nvPr userDrawn="1"/>
        </p:nvSpPr>
        <p:spPr bwMode="auto">
          <a:xfrm rot="8577572">
            <a:off x="11447855" y="557825"/>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14" name="Полилиния: фигура 13">
            <a:extLst>
              <a:ext uri="{FF2B5EF4-FFF2-40B4-BE49-F238E27FC236}">
                <a16:creationId xmlns:a16="http://schemas.microsoft.com/office/drawing/2014/main" id="{6D003CC3-599C-4B2A-A31D-0023379A8150}"/>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3" name="Текст 2">
            <a:extLst>
              <a:ext uri="{FF2B5EF4-FFF2-40B4-BE49-F238E27FC236}">
                <a16:creationId xmlns:a16="http://schemas.microsoft.com/office/drawing/2014/main" id="{A53CDF69-9E9F-4CA4-BD30-BAD8F3C479F4}"/>
              </a:ext>
            </a:extLst>
          </p:cNvPr>
          <p:cNvSpPr>
            <a:spLocks noGrp="1"/>
          </p:cNvSpPr>
          <p:nvPr>
            <p:ph type="body" idx="1"/>
          </p:nvPr>
        </p:nvSpPr>
        <p:spPr>
          <a:xfrm>
            <a:off x="911225" y="510246"/>
            <a:ext cx="5157787"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079832C3-14E0-4AF8-B61C-0BBCEF3AAAE0}"/>
              </a:ext>
            </a:extLst>
          </p:cNvPr>
          <p:cNvSpPr>
            <a:spLocks noGrp="1"/>
          </p:cNvSpPr>
          <p:nvPr>
            <p:ph sz="half" idx="2"/>
          </p:nvPr>
        </p:nvSpPr>
        <p:spPr>
          <a:xfrm>
            <a:off x="911225" y="1586706"/>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7183873C-ECFE-421A-9AB9-4663978AB0FF}"/>
              </a:ext>
            </a:extLst>
          </p:cNvPr>
          <p:cNvSpPr>
            <a:spLocks noGrp="1"/>
          </p:cNvSpPr>
          <p:nvPr>
            <p:ph type="body" sz="quarter" idx="3"/>
          </p:nvPr>
        </p:nvSpPr>
        <p:spPr>
          <a:xfrm>
            <a:off x="6243637" y="510246"/>
            <a:ext cx="5183188"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6" name="Объект 5">
            <a:extLst>
              <a:ext uri="{FF2B5EF4-FFF2-40B4-BE49-F238E27FC236}">
                <a16:creationId xmlns:a16="http://schemas.microsoft.com/office/drawing/2014/main" id="{4AE5FF87-8F7D-4E74-95BD-76A4B01CC799}"/>
              </a:ext>
            </a:extLst>
          </p:cNvPr>
          <p:cNvSpPr>
            <a:spLocks noGrp="1"/>
          </p:cNvSpPr>
          <p:nvPr>
            <p:ph sz="quarter" idx="4"/>
          </p:nvPr>
        </p:nvSpPr>
        <p:spPr>
          <a:xfrm>
            <a:off x="6243637" y="1586706"/>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 name="Номер слайда 8">
            <a:extLst>
              <a:ext uri="{FF2B5EF4-FFF2-40B4-BE49-F238E27FC236}">
                <a16:creationId xmlns:a16="http://schemas.microsoft.com/office/drawing/2014/main" id="{49C6E9D8-1CF2-4076-95AB-3463CEF9BB02}"/>
              </a:ext>
            </a:extLst>
          </p:cNvPr>
          <p:cNvSpPr>
            <a:spLocks noGrp="1"/>
          </p:cNvSpPr>
          <p:nvPr>
            <p:ph type="sldNum" sz="quarter" idx="12"/>
          </p:nvPr>
        </p:nvSpPr>
        <p:spPr/>
        <p:txBody>
          <a:bodyPr/>
          <a:lstStyle/>
          <a:p>
            <a:fld id="{E05DA353-F16A-46E9-BF3A-5C7883ED105A}" type="slidenum">
              <a:rPr lang="ru-RU" smtClean="0"/>
              <a:t>‹#›</a:t>
            </a:fld>
            <a:endParaRPr lang="ru-RU"/>
          </a:p>
        </p:txBody>
      </p:sp>
    </p:spTree>
    <p:extLst>
      <p:ext uri="{BB962C8B-B14F-4D97-AF65-F5344CB8AC3E}">
        <p14:creationId xmlns:p14="http://schemas.microsoft.com/office/powerpoint/2010/main" val="1599800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spTree>
      <p:nvGrpSpPr>
        <p:cNvPr id="1" name=""/>
        <p:cNvGrpSpPr/>
        <p:nvPr/>
      </p:nvGrpSpPr>
      <p:grpSpPr>
        <a:xfrm>
          <a:off x="0" y="0"/>
          <a:ext cx="0" cy="0"/>
          <a:chOff x="0" y="0"/>
          <a:chExt cx="0" cy="0"/>
        </a:xfrm>
      </p:grpSpPr>
      <p:sp>
        <p:nvSpPr>
          <p:cNvPr id="8" name="Полилиния: фигура 7">
            <a:extLst>
              <a:ext uri="{FF2B5EF4-FFF2-40B4-BE49-F238E27FC236}">
                <a16:creationId xmlns:a16="http://schemas.microsoft.com/office/drawing/2014/main" id="{2AF8A1DB-1F60-45E6-B768-B8A852786D19}"/>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9" name="Полилиния: фигура 8">
            <a:extLst>
              <a:ext uri="{FF2B5EF4-FFF2-40B4-BE49-F238E27FC236}">
                <a16:creationId xmlns:a16="http://schemas.microsoft.com/office/drawing/2014/main" id="{E2914E09-D443-477D-A3D1-D46F9DCB191B}"/>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Полилиния: фигура 9">
            <a:extLst>
              <a:ext uri="{FF2B5EF4-FFF2-40B4-BE49-F238E27FC236}">
                <a16:creationId xmlns:a16="http://schemas.microsoft.com/office/drawing/2014/main" id="{7BD8E4EE-45D6-4022-A50E-7DDC33C2C55B}"/>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1" name="Полилиния: фигура 10">
            <a:extLst>
              <a:ext uri="{FF2B5EF4-FFF2-40B4-BE49-F238E27FC236}">
                <a16:creationId xmlns:a16="http://schemas.microsoft.com/office/drawing/2014/main" id="{E58AE2DF-C43C-463F-87E0-B0EF7EB302FB}"/>
              </a:ext>
            </a:extLst>
          </p:cNvPr>
          <p:cNvSpPr>
            <a:spLocks/>
          </p:cNvSpPr>
          <p:nvPr userDrawn="1"/>
        </p:nvSpPr>
        <p:spPr bwMode="auto">
          <a:xfrm rot="8577572">
            <a:off x="11447855" y="557825"/>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12" name="Полилиния: фигура 11">
            <a:extLst>
              <a:ext uri="{FF2B5EF4-FFF2-40B4-BE49-F238E27FC236}">
                <a16:creationId xmlns:a16="http://schemas.microsoft.com/office/drawing/2014/main" id="{CD37E6BC-C40C-470C-A33E-9F5C9EAA3506}"/>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 name="Заголовок 1">
            <a:extLst>
              <a:ext uri="{FF2B5EF4-FFF2-40B4-BE49-F238E27FC236}">
                <a16:creationId xmlns:a16="http://schemas.microsoft.com/office/drawing/2014/main" id="{1329B07A-9B72-4316-A92D-9EE308D311E1}"/>
              </a:ext>
            </a:extLst>
          </p:cNvPr>
          <p:cNvSpPr>
            <a:spLocks noGrp="1"/>
          </p:cNvSpPr>
          <p:nvPr>
            <p:ph type="title"/>
          </p:nvPr>
        </p:nvSpPr>
        <p:spPr>
          <a:xfrm>
            <a:off x="924971" y="898144"/>
            <a:ext cx="3932237" cy="898906"/>
          </a:xfrm>
          <a:prstGeom prst="rect">
            <a:avLst/>
          </a:prstGeom>
        </p:spPr>
        <p:txBody>
          <a:bodyPr anchor="b">
            <a:normAutofit/>
          </a:bodyPr>
          <a:lstStyle>
            <a:lvl1pPr>
              <a:defRPr sz="2600"/>
            </a:lvl1pPr>
          </a:lstStyle>
          <a:p>
            <a:r>
              <a:rPr lang="ru-RU" dirty="0"/>
              <a:t>Образец заголовка</a:t>
            </a:r>
          </a:p>
        </p:txBody>
      </p:sp>
      <p:sp>
        <p:nvSpPr>
          <p:cNvPr id="4" name="Текст 3">
            <a:extLst>
              <a:ext uri="{FF2B5EF4-FFF2-40B4-BE49-F238E27FC236}">
                <a16:creationId xmlns:a16="http://schemas.microsoft.com/office/drawing/2014/main" id="{16EE1CC9-0645-497F-9D9E-6C47154BC861}"/>
              </a:ext>
            </a:extLst>
          </p:cNvPr>
          <p:cNvSpPr>
            <a:spLocks noGrp="1"/>
          </p:cNvSpPr>
          <p:nvPr>
            <p:ph type="body" sz="half" idx="2"/>
          </p:nvPr>
        </p:nvSpPr>
        <p:spPr>
          <a:xfrm>
            <a:off x="924971" y="204946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7" name="Номер слайда 6">
            <a:extLst>
              <a:ext uri="{FF2B5EF4-FFF2-40B4-BE49-F238E27FC236}">
                <a16:creationId xmlns:a16="http://schemas.microsoft.com/office/drawing/2014/main" id="{3C690643-CBC2-458D-B90C-6D589EECDF2B}"/>
              </a:ext>
            </a:extLst>
          </p:cNvPr>
          <p:cNvSpPr>
            <a:spLocks noGrp="1"/>
          </p:cNvSpPr>
          <p:nvPr>
            <p:ph type="sldNum" sz="quarter" idx="12"/>
          </p:nvPr>
        </p:nvSpPr>
        <p:spPr/>
        <p:txBody>
          <a:bodyPr/>
          <a:lstStyle/>
          <a:p>
            <a:fld id="{E05DA353-F16A-46E9-BF3A-5C7883ED105A}" type="slidenum">
              <a:rPr lang="ru-RU" smtClean="0"/>
              <a:t>‹#›</a:t>
            </a:fld>
            <a:endParaRPr lang="ru-RU"/>
          </a:p>
        </p:txBody>
      </p:sp>
      <p:sp>
        <p:nvSpPr>
          <p:cNvPr id="13" name="Рисунок 12">
            <a:extLst>
              <a:ext uri="{FF2B5EF4-FFF2-40B4-BE49-F238E27FC236}">
                <a16:creationId xmlns:a16="http://schemas.microsoft.com/office/drawing/2014/main" id="{CA2F8305-A510-4D86-890A-26567AABB199}"/>
              </a:ext>
            </a:extLst>
          </p:cNvPr>
          <p:cNvSpPr>
            <a:spLocks noGrp="1"/>
          </p:cNvSpPr>
          <p:nvPr>
            <p:ph type="pic" sz="quarter" idx="13"/>
          </p:nvPr>
        </p:nvSpPr>
        <p:spPr>
          <a:xfrm>
            <a:off x="6046452" y="1441734"/>
            <a:ext cx="5946312" cy="4292037"/>
          </a:xfrm>
          <a:custGeom>
            <a:avLst/>
            <a:gdLst>
              <a:gd name="connsiteX0" fmla="*/ 2334530 w 5313129"/>
              <a:gd name="connsiteY0" fmla="*/ 952 h 3835006"/>
              <a:gd name="connsiteX1" fmla="*/ 3193135 w 5313129"/>
              <a:gd name="connsiteY1" fmla="*/ 52223 h 3835006"/>
              <a:gd name="connsiteX2" fmla="*/ 5308816 w 5313129"/>
              <a:gd name="connsiteY2" fmla="*/ 1506499 h 3835006"/>
              <a:gd name="connsiteX3" fmla="*/ 3538747 w 5313129"/>
              <a:gd name="connsiteY3" fmla="*/ 3520529 h 3835006"/>
              <a:gd name="connsiteX4" fmla="*/ 250702 w 5313129"/>
              <a:gd name="connsiteY4" fmla="*/ 2943156 h 3835006"/>
              <a:gd name="connsiteX5" fmla="*/ 2334530 w 5313129"/>
              <a:gd name="connsiteY5" fmla="*/ 952 h 3835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3129" h="3835006">
                <a:moveTo>
                  <a:pt x="2334530" y="952"/>
                </a:moveTo>
                <a:cubicBezTo>
                  <a:pt x="2594142" y="-4244"/>
                  <a:pt x="2879672" y="11690"/>
                  <a:pt x="3193135" y="52223"/>
                </a:cubicBezTo>
                <a:cubicBezTo>
                  <a:pt x="4963204" y="281275"/>
                  <a:pt x="5276288" y="1098542"/>
                  <a:pt x="5308816" y="1506499"/>
                </a:cubicBezTo>
                <a:cubicBezTo>
                  <a:pt x="5341344" y="1914455"/>
                  <a:pt x="5230206" y="2850993"/>
                  <a:pt x="3538747" y="3520529"/>
                </a:cubicBezTo>
                <a:cubicBezTo>
                  <a:pt x="1847287" y="4190065"/>
                  <a:pt x="695252" y="3692656"/>
                  <a:pt x="250702" y="2943156"/>
                </a:cubicBezTo>
                <a:cubicBezTo>
                  <a:pt x="-262716" y="2075994"/>
                  <a:pt x="-175048" y="51186"/>
                  <a:pt x="2334530" y="952"/>
                </a:cubicBezTo>
                <a:close/>
              </a:path>
            </a:pathLst>
          </a:custGeom>
          <a:solidFill>
            <a:srgbClr val="BDDFEB"/>
          </a:solidFill>
        </p:spPr>
        <p:txBody>
          <a:bodyPr wrap="square">
            <a:noAutofit/>
          </a:bodyPr>
          <a:lstStyle/>
          <a:p>
            <a:endParaRPr lang="ru-RU" dirty="0"/>
          </a:p>
        </p:txBody>
      </p:sp>
    </p:spTree>
    <p:extLst>
      <p:ext uri="{BB962C8B-B14F-4D97-AF65-F5344CB8AC3E}">
        <p14:creationId xmlns:p14="http://schemas.microsoft.com/office/powerpoint/2010/main" val="239966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Объект с подписью">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84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23D8AA9-5A8C-49C9-BF21-CF422F2EB022}"/>
              </a:ext>
            </a:extLst>
          </p:cNvPr>
          <p:cNvPicPr>
            <a:picLocks noChangeAspect="1"/>
          </p:cNvPicPr>
          <p:nvPr userDrawn="1"/>
        </p:nvPicPr>
        <p:blipFill rotWithShape="1">
          <a:blip r:embed="rId2" cstate="print"/>
          <a:srcRect r="26167" b="22632"/>
          <a:stretch/>
        </p:blipFill>
        <p:spPr>
          <a:xfrm>
            <a:off x="6705600" y="1113013"/>
            <a:ext cx="5486400" cy="5744987"/>
          </a:xfrm>
          <a:prstGeom prst="rect">
            <a:avLst/>
          </a:prstGeom>
        </p:spPr>
      </p:pic>
      <p:sp>
        <p:nvSpPr>
          <p:cNvPr id="10" name="Прямоугольник 9">
            <a:extLst>
              <a:ext uri="{FF2B5EF4-FFF2-40B4-BE49-F238E27FC236}">
                <a16:creationId xmlns:a16="http://schemas.microsoft.com/office/drawing/2014/main" id="{021AF58F-6D0E-4F8B-9FD3-2228C590E28F}"/>
              </a:ext>
            </a:extLst>
          </p:cNvPr>
          <p:cNvSpPr/>
          <p:nvPr userDrawn="1"/>
        </p:nvSpPr>
        <p:spPr>
          <a:xfrm>
            <a:off x="6689558" y="1097280"/>
            <a:ext cx="5502442" cy="576072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Овал 10">
            <a:extLst>
              <a:ext uri="{FF2B5EF4-FFF2-40B4-BE49-F238E27FC236}">
                <a16:creationId xmlns:a16="http://schemas.microsoft.com/office/drawing/2014/main" id="{97F6474D-5D27-4750-9A67-7CC38A5634F2}"/>
              </a:ext>
            </a:extLst>
          </p:cNvPr>
          <p:cNvSpPr/>
          <p:nvPr userDrawn="1"/>
        </p:nvSpPr>
        <p:spPr>
          <a:xfrm rot="20651627">
            <a:off x="-347810" y="-824901"/>
            <a:ext cx="2562326" cy="1724226"/>
          </a:xfrm>
          <a:prstGeom prst="ellipse">
            <a:avLst/>
          </a:prstGeom>
          <a:solidFill>
            <a:srgbClr val="ECF5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35997019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2C115-0495-4076-9936-ED8C63184C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E8FD1F-4783-4EAA-9222-B0886506070A}"/>
              </a:ext>
            </a:extLst>
          </p:cNvPr>
          <p:cNvSpPr>
            <a:spLocks noGrp="1"/>
          </p:cNvSpPr>
          <p:nvPr>
            <p:ph type="dt" sz="half" idx="10"/>
          </p:nvPr>
        </p:nvSpPr>
        <p:spPr/>
        <p:txBody>
          <a:bodyPr/>
          <a:lstStyle/>
          <a:p>
            <a:fld id="{6573E8FC-83F1-46FF-80AF-4832ADAA5C57}" type="datetimeFigureOut">
              <a:rPr lang="en-US" smtClean="0"/>
              <a:t>8/27/2026</a:t>
            </a:fld>
            <a:endParaRPr lang="en-US"/>
          </a:p>
        </p:txBody>
      </p:sp>
      <p:sp>
        <p:nvSpPr>
          <p:cNvPr id="4" name="Footer Placeholder 3">
            <a:extLst>
              <a:ext uri="{FF2B5EF4-FFF2-40B4-BE49-F238E27FC236}">
                <a16:creationId xmlns:a16="http://schemas.microsoft.com/office/drawing/2014/main" id="{F8275BE8-4AD5-472B-A01D-089735FED9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887627-9D01-42C8-B25C-BAB4627F07F5}"/>
              </a:ext>
            </a:extLst>
          </p:cNvPr>
          <p:cNvSpPr>
            <a:spLocks noGrp="1"/>
          </p:cNvSpPr>
          <p:nvPr>
            <p:ph type="sldNum" sz="quarter" idx="12"/>
          </p:nvPr>
        </p:nvSpPr>
        <p:spPr/>
        <p:txBody>
          <a:bodyPr/>
          <a:lstStyle/>
          <a:p>
            <a:fld id="{DA22F6C6-F679-4153-8683-5166282730A0}" type="slidenum">
              <a:rPr lang="en-US" smtClean="0"/>
              <a:t>‹#›</a:t>
            </a:fld>
            <a:endParaRPr lang="en-US"/>
          </a:p>
        </p:txBody>
      </p:sp>
    </p:spTree>
    <p:extLst>
      <p:ext uri="{BB962C8B-B14F-4D97-AF65-F5344CB8AC3E}">
        <p14:creationId xmlns:p14="http://schemas.microsoft.com/office/powerpoint/2010/main" val="20706781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Only Title with Elements">
  <p:cSld name="Only Title with Elements">
    <p:bg>
      <p:bgPr>
        <a:solidFill>
          <a:schemeClr val="lt1"/>
        </a:solidFill>
        <a:effectLst/>
      </p:bgPr>
    </p:bg>
    <p:spTree>
      <p:nvGrpSpPr>
        <p:cNvPr id="1" name="Shape 75"/>
        <p:cNvGrpSpPr/>
        <p:nvPr/>
      </p:nvGrpSpPr>
      <p:grpSpPr>
        <a:xfrm>
          <a:off x="0" y="0"/>
          <a:ext cx="0" cy="0"/>
          <a:chOff x="0" y="0"/>
          <a:chExt cx="0" cy="0"/>
        </a:xfrm>
      </p:grpSpPr>
      <p:sp>
        <p:nvSpPr>
          <p:cNvPr id="76" name="Google Shape;76;p8"/>
          <p:cNvSpPr/>
          <p:nvPr/>
        </p:nvSpPr>
        <p:spPr>
          <a:xfrm>
            <a:off x="1" y="6331916"/>
            <a:ext cx="1246337" cy="526085"/>
          </a:xfrm>
          <a:custGeom>
            <a:avLst/>
            <a:gdLst/>
            <a:ahLst/>
            <a:cxnLst/>
            <a:rect l="l" t="t" r="r" b="b"/>
            <a:pathLst>
              <a:path w="1246337" h="526085" extrusionOk="0">
                <a:moveTo>
                  <a:pt x="464152" y="50"/>
                </a:moveTo>
                <a:cubicBezTo>
                  <a:pt x="746849" y="-2552"/>
                  <a:pt x="923534" y="96974"/>
                  <a:pt x="1175880" y="429161"/>
                </a:cubicBezTo>
                <a:cubicBezTo>
                  <a:pt x="1246337" y="526085"/>
                  <a:pt x="1246337" y="526085"/>
                  <a:pt x="1246337" y="526085"/>
                </a:cubicBezTo>
                <a:lnTo>
                  <a:pt x="1009931" y="526085"/>
                </a:lnTo>
                <a:lnTo>
                  <a:pt x="803034" y="526085"/>
                </a:lnTo>
                <a:lnTo>
                  <a:pt x="623680" y="526085"/>
                </a:lnTo>
                <a:lnTo>
                  <a:pt x="469901" y="526085"/>
                </a:lnTo>
                <a:lnTo>
                  <a:pt x="339730" y="526085"/>
                </a:lnTo>
                <a:lnTo>
                  <a:pt x="231199" y="526085"/>
                </a:lnTo>
                <a:lnTo>
                  <a:pt x="142342" y="526085"/>
                </a:lnTo>
                <a:lnTo>
                  <a:pt x="71190" y="526085"/>
                </a:lnTo>
                <a:lnTo>
                  <a:pt x="0" y="526085"/>
                </a:lnTo>
                <a:lnTo>
                  <a:pt x="0" y="54115"/>
                </a:lnTo>
                <a:lnTo>
                  <a:pt x="91701" y="39202"/>
                </a:lnTo>
                <a:cubicBezTo>
                  <a:pt x="237131" y="16394"/>
                  <a:pt x="358141" y="1026"/>
                  <a:pt x="464152" y="5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Verdana"/>
              <a:ea typeface="Verdana"/>
              <a:cs typeface="Verdana"/>
              <a:sym typeface="Verdana"/>
            </a:endParaRPr>
          </a:p>
        </p:txBody>
      </p:sp>
      <p:sp>
        <p:nvSpPr>
          <p:cNvPr id="77" name="Google Shape;77;p8"/>
          <p:cNvSpPr/>
          <p:nvPr/>
        </p:nvSpPr>
        <p:spPr>
          <a:xfrm>
            <a:off x="1" y="4811181"/>
            <a:ext cx="503411" cy="1443357"/>
          </a:xfrm>
          <a:custGeom>
            <a:avLst/>
            <a:gdLst/>
            <a:ahLst/>
            <a:cxnLst/>
            <a:rect l="l" t="t" r="r" b="b"/>
            <a:pathLst>
              <a:path w="503411" h="1443357" extrusionOk="0">
                <a:moveTo>
                  <a:pt x="0" y="0"/>
                </a:moveTo>
                <a:lnTo>
                  <a:pt x="37739" y="54036"/>
                </a:lnTo>
                <a:cubicBezTo>
                  <a:pt x="71346" y="113239"/>
                  <a:pt x="102672" y="179647"/>
                  <a:pt x="133728" y="254288"/>
                </a:cubicBezTo>
                <a:cubicBezTo>
                  <a:pt x="212342" y="443869"/>
                  <a:pt x="467298" y="1071979"/>
                  <a:pt x="486843" y="1182044"/>
                </a:cubicBezTo>
                <a:cubicBezTo>
                  <a:pt x="508126" y="1288643"/>
                  <a:pt x="538312" y="1333493"/>
                  <a:pt x="365663" y="1376609"/>
                </a:cubicBezTo>
                <a:cubicBezTo>
                  <a:pt x="302793" y="1393184"/>
                  <a:pt x="193747" y="1412927"/>
                  <a:pt x="66287" y="1433189"/>
                </a:cubicBezTo>
                <a:lnTo>
                  <a:pt x="0" y="1443357"/>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Verdana"/>
              <a:ea typeface="Verdana"/>
              <a:cs typeface="Verdana"/>
              <a:sym typeface="Verdana"/>
            </a:endParaRPr>
          </a:p>
        </p:txBody>
      </p:sp>
      <p:sp>
        <p:nvSpPr>
          <p:cNvPr id="78" name="Google Shape;78;p8"/>
          <p:cNvSpPr txBox="1">
            <a:spLocks noGrp="1"/>
          </p:cNvSpPr>
          <p:nvPr>
            <p:ph type="sldNum" idx="12"/>
          </p:nvPr>
        </p:nvSpPr>
        <p:spPr>
          <a:xfrm>
            <a:off x="624001" y="6380999"/>
            <a:ext cx="648000" cy="216172"/>
          </a:xfrm>
          <a:prstGeom prst="rect">
            <a:avLst/>
          </a:prstGeom>
          <a:noFill/>
          <a:ln>
            <a:noFill/>
          </a:ln>
        </p:spPr>
        <p:txBody>
          <a:bodyPr spcFirstLastPara="1" wrap="square" lIns="0" tIns="0" rIns="0" bIns="36000" anchor="b" anchorCtr="0">
            <a:noAutofit/>
          </a:bodyPr>
          <a:lstStyle>
            <a:lvl1pPr marL="0" lvl="0" indent="0" algn="l">
              <a:spcBef>
                <a:spcPts val="0"/>
              </a:spcBef>
              <a:buNone/>
              <a:defRPr sz="800">
                <a:solidFill>
                  <a:schemeClr val="lt1"/>
                </a:solidFill>
                <a:latin typeface="Verdana"/>
                <a:ea typeface="Verdana"/>
                <a:cs typeface="Verdana"/>
                <a:sym typeface="Verdana"/>
              </a:defRPr>
            </a:lvl1pPr>
            <a:lvl2pPr marL="0" lvl="1" indent="0" algn="l">
              <a:spcBef>
                <a:spcPts val="0"/>
              </a:spcBef>
              <a:buNone/>
              <a:defRPr sz="800">
                <a:solidFill>
                  <a:schemeClr val="lt1"/>
                </a:solidFill>
                <a:latin typeface="Verdana"/>
                <a:ea typeface="Verdana"/>
                <a:cs typeface="Verdana"/>
                <a:sym typeface="Verdana"/>
              </a:defRPr>
            </a:lvl2pPr>
            <a:lvl3pPr marL="0" lvl="2" indent="0" algn="l">
              <a:spcBef>
                <a:spcPts val="0"/>
              </a:spcBef>
              <a:buNone/>
              <a:defRPr sz="800">
                <a:solidFill>
                  <a:schemeClr val="lt1"/>
                </a:solidFill>
                <a:latin typeface="Verdana"/>
                <a:ea typeface="Verdana"/>
                <a:cs typeface="Verdana"/>
                <a:sym typeface="Verdana"/>
              </a:defRPr>
            </a:lvl3pPr>
            <a:lvl4pPr marL="0" lvl="3" indent="0" algn="l">
              <a:spcBef>
                <a:spcPts val="0"/>
              </a:spcBef>
              <a:buNone/>
              <a:defRPr sz="800">
                <a:solidFill>
                  <a:schemeClr val="lt1"/>
                </a:solidFill>
                <a:latin typeface="Verdana"/>
                <a:ea typeface="Verdana"/>
                <a:cs typeface="Verdana"/>
                <a:sym typeface="Verdana"/>
              </a:defRPr>
            </a:lvl4pPr>
            <a:lvl5pPr marL="0" lvl="4" indent="0" algn="l">
              <a:spcBef>
                <a:spcPts val="0"/>
              </a:spcBef>
              <a:buNone/>
              <a:defRPr sz="800">
                <a:solidFill>
                  <a:schemeClr val="lt1"/>
                </a:solidFill>
                <a:latin typeface="Verdana"/>
                <a:ea typeface="Verdana"/>
                <a:cs typeface="Verdana"/>
                <a:sym typeface="Verdana"/>
              </a:defRPr>
            </a:lvl5pPr>
            <a:lvl6pPr marL="0" lvl="5" indent="0" algn="l">
              <a:spcBef>
                <a:spcPts val="0"/>
              </a:spcBef>
              <a:buNone/>
              <a:defRPr sz="800">
                <a:solidFill>
                  <a:schemeClr val="lt1"/>
                </a:solidFill>
                <a:latin typeface="Verdana"/>
                <a:ea typeface="Verdana"/>
                <a:cs typeface="Verdana"/>
                <a:sym typeface="Verdana"/>
              </a:defRPr>
            </a:lvl6pPr>
            <a:lvl7pPr marL="0" lvl="6" indent="0" algn="l">
              <a:spcBef>
                <a:spcPts val="0"/>
              </a:spcBef>
              <a:buNone/>
              <a:defRPr sz="800">
                <a:solidFill>
                  <a:schemeClr val="lt1"/>
                </a:solidFill>
                <a:latin typeface="Verdana"/>
                <a:ea typeface="Verdana"/>
                <a:cs typeface="Verdana"/>
                <a:sym typeface="Verdana"/>
              </a:defRPr>
            </a:lvl7pPr>
            <a:lvl8pPr marL="0" lvl="7" indent="0" algn="l">
              <a:spcBef>
                <a:spcPts val="0"/>
              </a:spcBef>
              <a:buNone/>
              <a:defRPr sz="800">
                <a:solidFill>
                  <a:schemeClr val="lt1"/>
                </a:solidFill>
                <a:latin typeface="Verdana"/>
                <a:ea typeface="Verdana"/>
                <a:cs typeface="Verdana"/>
                <a:sym typeface="Verdana"/>
              </a:defRPr>
            </a:lvl8pPr>
            <a:lvl9pPr marL="0" lvl="8" indent="0" algn="l">
              <a:spcBef>
                <a:spcPts val="0"/>
              </a:spcBef>
              <a:buNone/>
              <a:defRPr sz="800">
                <a:solidFill>
                  <a:schemeClr val="lt1"/>
                </a:solidFill>
                <a:latin typeface="Verdana"/>
                <a:ea typeface="Verdana"/>
                <a:cs typeface="Verdana"/>
                <a:sym typeface="Verdana"/>
              </a:defRPr>
            </a:lvl9pPr>
          </a:lstStyle>
          <a:p>
            <a:pPr marL="0" lvl="0" indent="0" algn="l" rtl="0">
              <a:spcBef>
                <a:spcPts val="0"/>
              </a:spcBef>
              <a:spcAft>
                <a:spcPts val="0"/>
              </a:spcAft>
              <a:buNone/>
            </a:pPr>
            <a:fld id="{00000000-1234-1234-1234-123412341234}" type="slidenum">
              <a:rPr lang="en-US"/>
              <a:t>‹#›</a:t>
            </a:fld>
            <a:endParaRPr/>
          </a:p>
        </p:txBody>
      </p:sp>
      <p:sp>
        <p:nvSpPr>
          <p:cNvPr id="79" name="Google Shape;79;p8"/>
          <p:cNvSpPr txBox="1">
            <a:spLocks noGrp="1"/>
          </p:cNvSpPr>
          <p:nvPr>
            <p:ph type="title"/>
          </p:nvPr>
        </p:nvSpPr>
        <p:spPr>
          <a:xfrm>
            <a:off x="623888" y="685801"/>
            <a:ext cx="10944225" cy="798512"/>
          </a:xfrm>
          <a:prstGeom prst="rect">
            <a:avLst/>
          </a:prstGeom>
          <a:solidFill>
            <a:schemeClr val="lt1"/>
          </a:solid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1"/>
              </a:buClr>
              <a:buSzPts val="1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6763884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DB594F-BA72-C2A6-012B-06DAB414C57E}"/>
              </a:ext>
            </a:extLst>
          </p:cNvPr>
          <p:cNvPicPr>
            <a:picLocks noChangeAspect="1"/>
          </p:cNvPicPr>
          <p:nvPr userDrawn="1"/>
        </p:nvPicPr>
        <p:blipFill>
          <a:blip r:embed="rId2"/>
          <a:stretch>
            <a:fillRect/>
          </a:stretch>
        </p:blipFill>
        <p:spPr>
          <a:xfrm>
            <a:off x="0" y="6286500"/>
            <a:ext cx="12192000" cy="571500"/>
          </a:xfrm>
          <a:prstGeom prst="rect">
            <a:avLst/>
          </a:prstGeom>
        </p:spPr>
      </p:pic>
      <p:pic>
        <p:nvPicPr>
          <p:cNvPr id="12" name="Picture 11" descr="A yellow lines on a black background&#10;&#10;AI-generated content may be incorrect.">
            <a:extLst>
              <a:ext uri="{FF2B5EF4-FFF2-40B4-BE49-F238E27FC236}">
                <a16:creationId xmlns:a16="http://schemas.microsoft.com/office/drawing/2014/main" id="{716BE581-591E-FF28-FE96-C0A113CD2BD1}"/>
              </a:ext>
            </a:extLst>
          </p:cNvPr>
          <p:cNvPicPr>
            <a:picLocks noChangeAspect="1"/>
          </p:cNvPicPr>
          <p:nvPr userDrawn="1"/>
        </p:nvPicPr>
        <p:blipFill>
          <a:blip r:embed="rId3"/>
          <a:stretch>
            <a:fillRect/>
          </a:stretch>
        </p:blipFill>
        <p:spPr>
          <a:xfrm>
            <a:off x="11103041" y="0"/>
            <a:ext cx="1088959" cy="2133600"/>
          </a:xfrm>
          <a:prstGeom prst="rect">
            <a:avLst/>
          </a:prstGeom>
        </p:spPr>
      </p:pic>
      <p:pic>
        <p:nvPicPr>
          <p:cNvPr id="14" name="Picture 13" descr="A close up of a black and pink background&#10;&#10;AI-generated content may be incorrect.">
            <a:extLst>
              <a:ext uri="{FF2B5EF4-FFF2-40B4-BE49-F238E27FC236}">
                <a16:creationId xmlns:a16="http://schemas.microsoft.com/office/drawing/2014/main" id="{C9A8639A-7C60-8798-91AE-DE4626FC1536}"/>
              </a:ext>
            </a:extLst>
          </p:cNvPr>
          <p:cNvPicPr>
            <a:picLocks noChangeAspect="1"/>
          </p:cNvPicPr>
          <p:nvPr userDrawn="1"/>
        </p:nvPicPr>
        <p:blipFill>
          <a:blip r:embed="rId4"/>
          <a:stretch>
            <a:fillRect/>
          </a:stretch>
        </p:blipFill>
        <p:spPr>
          <a:xfrm>
            <a:off x="0" y="0"/>
            <a:ext cx="838200" cy="1470074"/>
          </a:xfrm>
          <a:prstGeom prst="rect">
            <a:avLst/>
          </a:prstGeom>
        </p:spPr>
      </p:pic>
    </p:spTree>
    <p:extLst>
      <p:ext uri="{BB962C8B-B14F-4D97-AF65-F5344CB8AC3E}">
        <p14:creationId xmlns:p14="http://schemas.microsoft.com/office/powerpoint/2010/main" val="39754575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0745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2_Titolo">
  <p:cSld name="2_Titolo">
    <p:spTree>
      <p:nvGrpSpPr>
        <p:cNvPr id="1"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a:stretch/>
        </p:blipFill>
        <p:spPr>
          <a:xfrm>
            <a:off x="0" y="159604"/>
            <a:ext cx="533304" cy="980502"/>
          </a:xfrm>
          <a:prstGeom prst="rect">
            <a:avLst/>
          </a:prstGeom>
          <a:noFill/>
          <a:ln>
            <a:noFill/>
          </a:ln>
        </p:spPr>
      </p:pic>
      <p:sp>
        <p:nvSpPr>
          <p:cNvPr id="30" name="Google Shape;30;p4"/>
          <p:cNvSpPr txBox="1">
            <a:spLocks noGrp="1"/>
          </p:cNvSpPr>
          <p:nvPr>
            <p:ph type="body" idx="1"/>
          </p:nvPr>
        </p:nvSpPr>
        <p:spPr>
          <a:xfrm>
            <a:off x="637037" y="466499"/>
            <a:ext cx="10931075" cy="36671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503292"/>
              </a:buClr>
              <a:buSzPts val="2000"/>
              <a:buNone/>
              <a:defRPr sz="2000" b="1">
                <a:solidFill>
                  <a:srgbClr val="503292"/>
                </a:solidFill>
                <a:latin typeface="Verdana"/>
                <a:ea typeface="Verdana"/>
                <a:cs typeface="Verdana"/>
                <a:sym typeface="Verdana"/>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1" name="Google Shape;31;p4"/>
          <p:cNvPicPr preferRelativeResize="0"/>
          <p:nvPr/>
        </p:nvPicPr>
        <p:blipFill rotWithShape="1">
          <a:blip r:embed="rId3">
            <a:alphaModFix/>
          </a:blip>
          <a:srcRect/>
          <a:stretch/>
        </p:blipFill>
        <p:spPr>
          <a:xfrm>
            <a:off x="10509812" y="6402474"/>
            <a:ext cx="1099595" cy="217720"/>
          </a:xfrm>
          <a:prstGeom prst="rect">
            <a:avLst/>
          </a:prstGeom>
          <a:noFill/>
          <a:ln>
            <a:noFill/>
          </a:ln>
        </p:spPr>
      </p:pic>
      <p:sp>
        <p:nvSpPr>
          <p:cNvPr id="32" name="Google Shape;32;p4"/>
          <p:cNvSpPr txBox="1">
            <a:spLocks noGrp="1"/>
          </p:cNvSpPr>
          <p:nvPr>
            <p:ph type="body" idx="2"/>
          </p:nvPr>
        </p:nvSpPr>
        <p:spPr>
          <a:xfrm>
            <a:off x="636588" y="1411358"/>
            <a:ext cx="10931256" cy="484021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0"/>
              </a:spcBef>
              <a:spcAft>
                <a:spcPts val="0"/>
              </a:spcAft>
              <a:buClr>
                <a:srgbClr val="503192"/>
              </a:buClr>
              <a:buSzPts val="1800"/>
              <a:buChar char="•"/>
              <a:defRPr sz="1800">
                <a:solidFill>
                  <a:srgbClr val="503192"/>
                </a:solidFill>
                <a:latin typeface="Verdana"/>
                <a:ea typeface="Verdana"/>
                <a:cs typeface="Verdana"/>
                <a:sym typeface="Verdana"/>
              </a:defRPr>
            </a:lvl1pPr>
            <a:lvl2pPr marL="914400" lvl="1" indent="-330200" algn="l">
              <a:lnSpc>
                <a:spcPct val="100000"/>
              </a:lnSpc>
              <a:spcBef>
                <a:spcPts val="0"/>
              </a:spcBef>
              <a:spcAft>
                <a:spcPts val="0"/>
              </a:spcAft>
              <a:buClr>
                <a:srgbClr val="503192"/>
              </a:buClr>
              <a:buSzPts val="1600"/>
              <a:buChar char="•"/>
              <a:defRPr sz="1600">
                <a:solidFill>
                  <a:srgbClr val="503192"/>
                </a:solidFill>
                <a:latin typeface="Verdana"/>
                <a:ea typeface="Verdana"/>
                <a:cs typeface="Verdana"/>
                <a:sym typeface="Verdana"/>
              </a:defRPr>
            </a:lvl2pPr>
            <a:lvl3pPr marL="1371600" lvl="2" indent="-317500" algn="l">
              <a:lnSpc>
                <a:spcPct val="100000"/>
              </a:lnSpc>
              <a:spcBef>
                <a:spcPts val="0"/>
              </a:spcBef>
              <a:spcAft>
                <a:spcPts val="0"/>
              </a:spcAft>
              <a:buClr>
                <a:srgbClr val="503192"/>
              </a:buClr>
              <a:buSzPts val="1400"/>
              <a:buChar char="•"/>
              <a:defRPr sz="1400">
                <a:solidFill>
                  <a:srgbClr val="503192"/>
                </a:solidFill>
                <a:latin typeface="Verdana"/>
                <a:ea typeface="Verdana"/>
                <a:cs typeface="Verdana"/>
                <a:sym typeface="Verdana"/>
              </a:defRPr>
            </a:lvl3pPr>
            <a:lvl4pPr marL="1828800" lvl="3" indent="-304800" algn="l">
              <a:lnSpc>
                <a:spcPct val="100000"/>
              </a:lnSpc>
              <a:spcBef>
                <a:spcPts val="0"/>
              </a:spcBef>
              <a:spcAft>
                <a:spcPts val="0"/>
              </a:spcAft>
              <a:buClr>
                <a:srgbClr val="503192"/>
              </a:buClr>
              <a:buSzPts val="1200"/>
              <a:buChar char="•"/>
              <a:defRPr sz="1200">
                <a:solidFill>
                  <a:srgbClr val="503192"/>
                </a:solidFill>
                <a:latin typeface="Verdana"/>
                <a:ea typeface="Verdana"/>
                <a:cs typeface="Verdana"/>
                <a:sym typeface="Verdana"/>
              </a:defRPr>
            </a:lvl4pPr>
            <a:lvl5pPr marL="2286000" lvl="4" indent="-304800" algn="l">
              <a:lnSpc>
                <a:spcPct val="100000"/>
              </a:lnSpc>
              <a:spcBef>
                <a:spcPts val="0"/>
              </a:spcBef>
              <a:spcAft>
                <a:spcPts val="0"/>
              </a:spcAft>
              <a:buClr>
                <a:srgbClr val="503192"/>
              </a:buClr>
              <a:buSzPts val="1200"/>
              <a:buChar char="•"/>
              <a:defRPr sz="1200">
                <a:solidFill>
                  <a:srgbClr val="503192"/>
                </a:solidFill>
                <a:latin typeface="Verdana"/>
                <a:ea typeface="Verdana"/>
                <a:cs typeface="Verdana"/>
                <a:sym typeface="Verdana"/>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
          <p:cNvSpPr txBox="1">
            <a:spLocks noGrp="1"/>
          </p:cNvSpPr>
          <p:nvPr>
            <p:ph type="ftr" idx="11"/>
          </p:nvPr>
        </p:nvSpPr>
        <p:spPr>
          <a:xfrm>
            <a:off x="636588" y="6380999"/>
            <a:ext cx="9354384" cy="21617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800">
                <a:solidFill>
                  <a:srgbClr val="060F18"/>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854224195"/>
      </p:ext>
    </p:extLst>
  </p:cSld>
  <p:clrMapOvr>
    <a:masterClrMapping/>
  </p:clrMapOvr>
  <p:extLst>
    <p:ext uri="{DCECCB84-F9BA-43D5-87BE-67443E8EF086}">
      <p15:sldGuideLst xmlns:p15="http://schemas.microsoft.com/office/powerpoint/2012/main">
        <p15:guide id="1" pos="7296">
          <p15:clr>
            <a:srgbClr val="FBAE40"/>
          </p15:clr>
        </p15:guide>
        <p15:guide id="2" pos="393">
          <p15:clr>
            <a:srgbClr val="FBAE40"/>
          </p15:clr>
        </p15:guide>
        <p15:guide id="3" orient="horz" pos="890">
          <p15:clr>
            <a:srgbClr val="FBAE40"/>
          </p15:clr>
        </p15:guide>
        <p15:guide id="4" orient="horz" pos="394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62067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290609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A696D-1132-B417-D230-84ABFE1A0CF7}"/>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3" name="Footer Placeholder 2">
            <a:extLst>
              <a:ext uri="{FF2B5EF4-FFF2-40B4-BE49-F238E27FC236}">
                <a16:creationId xmlns:a16="http://schemas.microsoft.com/office/drawing/2014/main" id="{AB2FFF11-583D-21E0-4CE8-1212D001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E85FB-099F-320C-C423-F42AD9546005}"/>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4129468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2886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_Заголовок и объект">
    <p:spTree>
      <p:nvGrpSpPr>
        <p:cNvPr id="1" name=""/>
        <p:cNvGrpSpPr/>
        <p:nvPr/>
      </p:nvGrpSpPr>
      <p:grpSpPr>
        <a:xfrm>
          <a:off x="0" y="0"/>
          <a:ext cx="0" cy="0"/>
          <a:chOff x="0" y="0"/>
          <a:chExt cx="0" cy="0"/>
        </a:xfrm>
      </p:grpSpPr>
      <p:sp>
        <p:nvSpPr>
          <p:cNvPr id="23" name="Полилиния: фигура 22">
            <a:extLst>
              <a:ext uri="{FF2B5EF4-FFF2-40B4-BE49-F238E27FC236}">
                <a16:creationId xmlns:a16="http://schemas.microsoft.com/office/drawing/2014/main" id="{CB4F5692-ACBE-4155-A563-B123939F81BC}"/>
              </a:ext>
            </a:extLst>
          </p:cNvPr>
          <p:cNvSpPr/>
          <p:nvPr userDrawn="1"/>
        </p:nvSpPr>
        <p:spPr>
          <a:xfrm flipH="1" flipV="1">
            <a:off x="10166464" y="-2"/>
            <a:ext cx="2062186" cy="960184"/>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9" name="Полилиния: фигура 18">
            <a:extLst>
              <a:ext uri="{FF2B5EF4-FFF2-40B4-BE49-F238E27FC236}">
                <a16:creationId xmlns:a16="http://schemas.microsoft.com/office/drawing/2014/main" id="{F9774D38-0B4E-4EAE-927A-07F8A112FA16}"/>
              </a:ext>
            </a:extLst>
          </p:cNvPr>
          <p:cNvSpPr/>
          <p:nvPr userDrawn="1"/>
        </p:nvSpPr>
        <p:spPr>
          <a:xfrm>
            <a:off x="-1730" y="5818909"/>
            <a:ext cx="3734145" cy="1039091"/>
          </a:xfrm>
          <a:custGeom>
            <a:avLst/>
            <a:gdLst>
              <a:gd name="connsiteX0" fmla="*/ 1573352 w 4492234"/>
              <a:gd name="connsiteY0" fmla="*/ 1156 h 1442145"/>
              <a:gd name="connsiteX1" fmla="*/ 4488913 w 4492234"/>
              <a:gd name="connsiteY1" fmla="*/ 1393672 h 1442145"/>
              <a:gd name="connsiteX2" fmla="*/ 4492234 w 4492234"/>
              <a:gd name="connsiteY2" fmla="*/ 1442145 h 1442145"/>
              <a:gd name="connsiteX3" fmla="*/ 0 w 4492234"/>
              <a:gd name="connsiteY3" fmla="*/ 1442145 h 1442145"/>
              <a:gd name="connsiteX4" fmla="*/ 0 w 4492234"/>
              <a:gd name="connsiteY4" fmla="*/ 139377 h 1442145"/>
              <a:gd name="connsiteX5" fmla="*/ 254017 w 4492234"/>
              <a:gd name="connsiteY5" fmla="*/ 101642 h 1442145"/>
              <a:gd name="connsiteX6" fmla="*/ 1189986 w 4492234"/>
              <a:gd name="connsiteY6" fmla="*/ 15161 h 1442145"/>
              <a:gd name="connsiteX7" fmla="*/ 1573352 w 4492234"/>
              <a:gd name="connsiteY7" fmla="*/ 1156 h 144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92234" h="1442145">
                <a:moveTo>
                  <a:pt x="1573352" y="1156"/>
                </a:moveTo>
                <a:cubicBezTo>
                  <a:pt x="3313092" y="-27080"/>
                  <a:pt x="4357404" y="462522"/>
                  <a:pt x="4488913" y="1393672"/>
                </a:cubicBezTo>
                <a:lnTo>
                  <a:pt x="4492234" y="1442145"/>
                </a:lnTo>
                <a:lnTo>
                  <a:pt x="0" y="1442145"/>
                </a:lnTo>
                <a:lnTo>
                  <a:pt x="0" y="139377"/>
                </a:lnTo>
                <a:lnTo>
                  <a:pt x="254017" y="101642"/>
                </a:lnTo>
                <a:cubicBezTo>
                  <a:pt x="555703" y="61452"/>
                  <a:pt x="869981" y="33025"/>
                  <a:pt x="1189986" y="15161"/>
                </a:cubicBezTo>
                <a:cubicBezTo>
                  <a:pt x="1321270" y="7832"/>
                  <a:pt x="1449085" y="3173"/>
                  <a:pt x="1573352" y="1156"/>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21" name="Полилиния: фигура 20">
            <a:extLst>
              <a:ext uri="{FF2B5EF4-FFF2-40B4-BE49-F238E27FC236}">
                <a16:creationId xmlns:a16="http://schemas.microsoft.com/office/drawing/2014/main" id="{DC452AFA-2352-4479-938B-FA93E7EC8EFE}"/>
              </a:ext>
            </a:extLst>
          </p:cNvPr>
          <p:cNvSpPr/>
          <p:nvPr userDrawn="1"/>
        </p:nvSpPr>
        <p:spPr>
          <a:xfrm rot="19883963">
            <a:off x="-494636" y="5095599"/>
            <a:ext cx="1333758" cy="1671500"/>
          </a:xfrm>
          <a:custGeom>
            <a:avLst/>
            <a:gdLst>
              <a:gd name="connsiteX0" fmla="*/ 1653557 w 2179316"/>
              <a:gd name="connsiteY0" fmla="*/ 88090 h 2731176"/>
              <a:gd name="connsiteX1" fmla="*/ 2179316 w 2179316"/>
              <a:gd name="connsiteY1" fmla="*/ 995019 h 2731176"/>
              <a:gd name="connsiteX2" fmla="*/ 152408 w 2179316"/>
              <a:gd name="connsiteY2" fmla="*/ 2702427 h 2731176"/>
              <a:gd name="connsiteX3" fmla="*/ 0 w 2179316"/>
              <a:gd name="connsiteY3" fmla="*/ 2731176 h 2731176"/>
              <a:gd name="connsiteX4" fmla="*/ 1489124 w 2179316"/>
              <a:gd name="connsiteY4" fmla="*/ 0 h 2731176"/>
              <a:gd name="connsiteX5" fmla="*/ 1496595 w 2179316"/>
              <a:gd name="connsiteY5" fmla="*/ 3112 h 2731176"/>
              <a:gd name="connsiteX6" fmla="*/ 1653557 w 2179316"/>
              <a:gd name="connsiteY6" fmla="*/ 88090 h 273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16" h="2731176">
                <a:moveTo>
                  <a:pt x="1653557" y="88090"/>
                </a:moveTo>
                <a:cubicBezTo>
                  <a:pt x="1996946" y="299732"/>
                  <a:pt x="2179316" y="604539"/>
                  <a:pt x="2179316" y="995019"/>
                </a:cubicBezTo>
                <a:cubicBezTo>
                  <a:pt x="2179316" y="1775976"/>
                  <a:pt x="1287285" y="2454044"/>
                  <a:pt x="152408" y="2702427"/>
                </a:cubicBezTo>
                <a:lnTo>
                  <a:pt x="0" y="2731176"/>
                </a:lnTo>
                <a:lnTo>
                  <a:pt x="1489124" y="0"/>
                </a:lnTo>
                <a:lnTo>
                  <a:pt x="1496595" y="3112"/>
                </a:lnTo>
                <a:cubicBezTo>
                  <a:pt x="1552160" y="29522"/>
                  <a:pt x="1604502" y="57855"/>
                  <a:pt x="1653557" y="88090"/>
                </a:cubicBezTo>
                <a:close/>
              </a:path>
            </a:pathLst>
          </a:custGeom>
          <a:solidFill>
            <a:srgbClr val="BDDFEB">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grpSp>
        <p:nvGrpSpPr>
          <p:cNvPr id="8" name="Группа 7">
            <a:extLst>
              <a:ext uri="{FF2B5EF4-FFF2-40B4-BE49-F238E27FC236}">
                <a16:creationId xmlns:a16="http://schemas.microsoft.com/office/drawing/2014/main" id="{731B0DE8-632B-49C0-BA65-E35CCB03ED26}"/>
              </a:ext>
            </a:extLst>
          </p:cNvPr>
          <p:cNvGrpSpPr/>
          <p:nvPr userDrawn="1"/>
        </p:nvGrpSpPr>
        <p:grpSpPr>
          <a:xfrm>
            <a:off x="10753760" y="6379029"/>
            <a:ext cx="1155242" cy="182109"/>
            <a:chOff x="5409247" y="3315652"/>
            <a:chExt cx="1371600" cy="216217"/>
          </a:xfrm>
          <a:solidFill>
            <a:srgbClr val="398ACB"/>
          </a:solidFill>
        </p:grpSpPr>
        <p:sp>
          <p:nvSpPr>
            <p:cNvPr id="9" name="Полилиния: фигура 8">
              <a:extLst>
                <a:ext uri="{FF2B5EF4-FFF2-40B4-BE49-F238E27FC236}">
                  <a16:creationId xmlns:a16="http://schemas.microsoft.com/office/drawing/2014/main" id="{48AD9ABC-F5A0-44CB-815C-B2BF20C91B69}"/>
                </a:ext>
              </a:extLst>
            </p:cNvPr>
            <p:cNvSpPr/>
            <p:nvPr/>
          </p:nvSpPr>
          <p:spPr>
            <a:xfrm>
              <a:off x="6568440" y="3317557"/>
              <a:ext cx="212407" cy="213359"/>
            </a:xfrm>
            <a:custGeom>
              <a:avLst/>
              <a:gdLst>
                <a:gd name="connsiteX0" fmla="*/ 16192 w 212407"/>
                <a:gd name="connsiteY0" fmla="*/ 212407 h 213359"/>
                <a:gd name="connsiteX1" fmla="*/ 51435 w 212407"/>
                <a:gd name="connsiteY1" fmla="*/ 197167 h 213359"/>
                <a:gd name="connsiteX2" fmla="*/ 64770 w 212407"/>
                <a:gd name="connsiteY2" fmla="*/ 182880 h 213359"/>
                <a:gd name="connsiteX3" fmla="*/ 81915 w 212407"/>
                <a:gd name="connsiteY3" fmla="*/ 174307 h 213359"/>
                <a:gd name="connsiteX4" fmla="*/ 86677 w 212407"/>
                <a:gd name="connsiteY4" fmla="*/ 174307 h 213359"/>
                <a:gd name="connsiteX5" fmla="*/ 93345 w 212407"/>
                <a:gd name="connsiteY5" fmla="*/ 175260 h 213359"/>
                <a:gd name="connsiteX6" fmla="*/ 113347 w 212407"/>
                <a:gd name="connsiteY6" fmla="*/ 180975 h 213359"/>
                <a:gd name="connsiteX7" fmla="*/ 172402 w 212407"/>
                <a:gd name="connsiteY7" fmla="*/ 205740 h 213359"/>
                <a:gd name="connsiteX8" fmla="*/ 199072 w 212407"/>
                <a:gd name="connsiteY8" fmla="*/ 212407 h 213359"/>
                <a:gd name="connsiteX9" fmla="*/ 207645 w 212407"/>
                <a:gd name="connsiteY9" fmla="*/ 212407 h 213359"/>
                <a:gd name="connsiteX10" fmla="*/ 212407 w 212407"/>
                <a:gd name="connsiteY10" fmla="*/ 207645 h 213359"/>
                <a:gd name="connsiteX11" fmla="*/ 212407 w 212407"/>
                <a:gd name="connsiteY11" fmla="*/ 185738 h 213359"/>
                <a:gd name="connsiteX12" fmla="*/ 188595 w 212407"/>
                <a:gd name="connsiteY12" fmla="*/ 150495 h 213359"/>
                <a:gd name="connsiteX13" fmla="*/ 175260 w 212407"/>
                <a:gd name="connsiteY13" fmla="*/ 144780 h 213359"/>
                <a:gd name="connsiteX14" fmla="*/ 146685 w 212407"/>
                <a:gd name="connsiteY14" fmla="*/ 126682 h 213359"/>
                <a:gd name="connsiteX15" fmla="*/ 148590 w 212407"/>
                <a:gd name="connsiteY15" fmla="*/ 99060 h 213359"/>
                <a:gd name="connsiteX16" fmla="*/ 201930 w 212407"/>
                <a:gd name="connsiteY16" fmla="*/ 45720 h 213359"/>
                <a:gd name="connsiteX17" fmla="*/ 212407 w 212407"/>
                <a:gd name="connsiteY17" fmla="*/ 20002 h 213359"/>
                <a:gd name="connsiteX18" fmla="*/ 211455 w 212407"/>
                <a:gd name="connsiteY18" fmla="*/ 12382 h 213359"/>
                <a:gd name="connsiteX19" fmla="*/ 207645 w 212407"/>
                <a:gd name="connsiteY19" fmla="*/ 5715 h 213359"/>
                <a:gd name="connsiteX20" fmla="*/ 193357 w 212407"/>
                <a:gd name="connsiteY20" fmla="*/ 0 h 213359"/>
                <a:gd name="connsiteX21" fmla="*/ 184785 w 212407"/>
                <a:gd name="connsiteY21" fmla="*/ 0 h 213359"/>
                <a:gd name="connsiteX22" fmla="*/ 149542 w 212407"/>
                <a:gd name="connsiteY22" fmla="*/ 15240 h 213359"/>
                <a:gd name="connsiteX23" fmla="*/ 105727 w 212407"/>
                <a:gd name="connsiteY23" fmla="*/ 59055 h 213359"/>
                <a:gd name="connsiteX24" fmla="*/ 57150 w 212407"/>
                <a:gd name="connsiteY24" fmla="*/ 107632 h 213359"/>
                <a:gd name="connsiteX25" fmla="*/ 57150 w 212407"/>
                <a:gd name="connsiteY25" fmla="*/ 31432 h 213359"/>
                <a:gd name="connsiteX26" fmla="*/ 25717 w 212407"/>
                <a:gd name="connsiteY26" fmla="*/ 0 h 213359"/>
                <a:gd name="connsiteX27" fmla="*/ 13335 w 212407"/>
                <a:gd name="connsiteY27" fmla="*/ 0 h 213359"/>
                <a:gd name="connsiteX28" fmla="*/ 1905 w 212407"/>
                <a:gd name="connsiteY28" fmla="*/ 952 h 213359"/>
                <a:gd name="connsiteX29" fmla="*/ 0 w 212407"/>
                <a:gd name="connsiteY29" fmla="*/ 6667 h 213359"/>
                <a:gd name="connsiteX30" fmla="*/ 0 w 212407"/>
                <a:gd name="connsiteY30" fmla="*/ 208597 h 213359"/>
                <a:gd name="connsiteX31" fmla="*/ 4763 w 212407"/>
                <a:gd name="connsiteY31" fmla="*/ 213360 h 213359"/>
                <a:gd name="connsiteX32" fmla="*/ 16192 w 212407"/>
                <a:gd name="connsiteY32"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12407" h="213359">
                  <a:moveTo>
                    <a:pt x="16192" y="212407"/>
                  </a:moveTo>
                  <a:cubicBezTo>
                    <a:pt x="30480" y="212407"/>
                    <a:pt x="41910" y="205740"/>
                    <a:pt x="51435" y="197167"/>
                  </a:cubicBezTo>
                  <a:cubicBezTo>
                    <a:pt x="51435" y="197167"/>
                    <a:pt x="57150" y="190500"/>
                    <a:pt x="64770" y="182880"/>
                  </a:cubicBezTo>
                  <a:cubicBezTo>
                    <a:pt x="69532" y="178117"/>
                    <a:pt x="75247" y="175260"/>
                    <a:pt x="81915" y="174307"/>
                  </a:cubicBezTo>
                  <a:cubicBezTo>
                    <a:pt x="82867" y="174307"/>
                    <a:pt x="86677" y="174307"/>
                    <a:pt x="86677" y="174307"/>
                  </a:cubicBezTo>
                  <a:cubicBezTo>
                    <a:pt x="88582" y="174307"/>
                    <a:pt x="91440" y="174307"/>
                    <a:pt x="93345" y="175260"/>
                  </a:cubicBezTo>
                  <a:cubicBezTo>
                    <a:pt x="100965" y="176213"/>
                    <a:pt x="107632" y="178117"/>
                    <a:pt x="113347" y="180975"/>
                  </a:cubicBezTo>
                  <a:lnTo>
                    <a:pt x="172402" y="205740"/>
                  </a:lnTo>
                  <a:cubicBezTo>
                    <a:pt x="172402" y="205740"/>
                    <a:pt x="186690" y="212407"/>
                    <a:pt x="199072" y="212407"/>
                  </a:cubicBezTo>
                  <a:lnTo>
                    <a:pt x="207645" y="212407"/>
                  </a:lnTo>
                  <a:cubicBezTo>
                    <a:pt x="210502" y="212407"/>
                    <a:pt x="212407" y="209550"/>
                    <a:pt x="212407" y="207645"/>
                  </a:cubicBezTo>
                  <a:lnTo>
                    <a:pt x="212407" y="185738"/>
                  </a:lnTo>
                  <a:cubicBezTo>
                    <a:pt x="212407" y="170497"/>
                    <a:pt x="203835" y="156210"/>
                    <a:pt x="188595" y="150495"/>
                  </a:cubicBezTo>
                  <a:lnTo>
                    <a:pt x="175260" y="144780"/>
                  </a:lnTo>
                  <a:cubicBezTo>
                    <a:pt x="164782" y="140970"/>
                    <a:pt x="152400" y="132397"/>
                    <a:pt x="146685" y="126682"/>
                  </a:cubicBezTo>
                  <a:cubicBezTo>
                    <a:pt x="146685" y="126682"/>
                    <a:pt x="134302" y="112395"/>
                    <a:pt x="148590" y="99060"/>
                  </a:cubicBezTo>
                  <a:lnTo>
                    <a:pt x="201930" y="45720"/>
                  </a:lnTo>
                  <a:cubicBezTo>
                    <a:pt x="208597" y="38100"/>
                    <a:pt x="212407" y="29527"/>
                    <a:pt x="212407" y="20002"/>
                  </a:cubicBezTo>
                  <a:cubicBezTo>
                    <a:pt x="212407" y="20002"/>
                    <a:pt x="212407" y="16192"/>
                    <a:pt x="211455" y="12382"/>
                  </a:cubicBezTo>
                  <a:cubicBezTo>
                    <a:pt x="210502" y="9525"/>
                    <a:pt x="208597" y="6667"/>
                    <a:pt x="207645" y="5715"/>
                  </a:cubicBezTo>
                  <a:cubicBezTo>
                    <a:pt x="203835" y="1905"/>
                    <a:pt x="200025" y="952"/>
                    <a:pt x="193357" y="0"/>
                  </a:cubicBezTo>
                  <a:lnTo>
                    <a:pt x="184785" y="0"/>
                  </a:lnTo>
                  <a:cubicBezTo>
                    <a:pt x="170497" y="0"/>
                    <a:pt x="159067" y="6667"/>
                    <a:pt x="149542" y="15240"/>
                  </a:cubicBezTo>
                  <a:cubicBezTo>
                    <a:pt x="149542" y="15240"/>
                    <a:pt x="114300" y="50482"/>
                    <a:pt x="105727" y="59055"/>
                  </a:cubicBezTo>
                  <a:lnTo>
                    <a:pt x="57150" y="107632"/>
                  </a:lnTo>
                  <a:lnTo>
                    <a:pt x="57150" y="31432"/>
                  </a:lnTo>
                  <a:cubicBezTo>
                    <a:pt x="57150" y="14288"/>
                    <a:pt x="42863" y="0"/>
                    <a:pt x="25717" y="0"/>
                  </a:cubicBezTo>
                  <a:lnTo>
                    <a:pt x="13335" y="0"/>
                  </a:lnTo>
                  <a:cubicBezTo>
                    <a:pt x="9525" y="0"/>
                    <a:pt x="4763" y="0"/>
                    <a:pt x="1905" y="952"/>
                  </a:cubicBezTo>
                  <a:cubicBezTo>
                    <a:pt x="0" y="1905"/>
                    <a:pt x="0" y="3810"/>
                    <a:pt x="0" y="6667"/>
                  </a:cubicBezTo>
                  <a:lnTo>
                    <a:pt x="0" y="208597"/>
                  </a:lnTo>
                  <a:cubicBezTo>
                    <a:pt x="0" y="211455"/>
                    <a:pt x="1905" y="213360"/>
                    <a:pt x="4763" y="213360"/>
                  </a:cubicBezTo>
                  <a:lnTo>
                    <a:pt x="16192" y="213360"/>
                  </a:lnTo>
                  <a:close/>
                </a:path>
              </a:pathLst>
            </a:custGeom>
            <a:grpFill/>
            <a:ln w="9525"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A2B58CB1-F6A7-4EAA-9959-1CF154441928}"/>
                </a:ext>
              </a:extLst>
            </p:cNvPr>
            <p:cNvSpPr/>
            <p:nvPr/>
          </p:nvSpPr>
          <p:spPr>
            <a:xfrm>
              <a:off x="6104572" y="3315652"/>
              <a:ext cx="233362" cy="214312"/>
            </a:xfrm>
            <a:custGeom>
              <a:avLst/>
              <a:gdLst>
                <a:gd name="connsiteX0" fmla="*/ 228600 w 233362"/>
                <a:gd name="connsiteY0" fmla="*/ 188595 h 214312"/>
                <a:gd name="connsiteX1" fmla="*/ 195263 w 233362"/>
                <a:gd name="connsiteY1" fmla="*/ 167640 h 214312"/>
                <a:gd name="connsiteX2" fmla="*/ 171450 w 233362"/>
                <a:gd name="connsiteY2" fmla="*/ 148590 h 214312"/>
                <a:gd name="connsiteX3" fmla="*/ 200977 w 233362"/>
                <a:gd name="connsiteY3" fmla="*/ 126683 h 214312"/>
                <a:gd name="connsiteX4" fmla="*/ 212407 w 233362"/>
                <a:gd name="connsiteY4" fmla="*/ 93345 h 214312"/>
                <a:gd name="connsiteX5" fmla="*/ 200977 w 233362"/>
                <a:gd name="connsiteY5" fmla="*/ 57150 h 214312"/>
                <a:gd name="connsiteX6" fmla="*/ 172402 w 233362"/>
                <a:gd name="connsiteY6" fmla="*/ 27623 h 214312"/>
                <a:gd name="connsiteX7" fmla="*/ 133350 w 233362"/>
                <a:gd name="connsiteY7" fmla="*/ 7620 h 214312"/>
                <a:gd name="connsiteX8" fmla="*/ 90488 w 233362"/>
                <a:gd name="connsiteY8" fmla="*/ 0 h 214312"/>
                <a:gd name="connsiteX9" fmla="*/ 4763 w 233362"/>
                <a:gd name="connsiteY9" fmla="*/ 0 h 214312"/>
                <a:gd name="connsiteX10" fmla="*/ 0 w 233362"/>
                <a:gd name="connsiteY10" fmla="*/ 4763 h 214312"/>
                <a:gd name="connsiteX11" fmla="*/ 0 w 233362"/>
                <a:gd name="connsiteY11" fmla="*/ 148590 h 214312"/>
                <a:gd name="connsiteX12" fmla="*/ 0 w 233362"/>
                <a:gd name="connsiteY12" fmla="*/ 180975 h 214312"/>
                <a:gd name="connsiteX13" fmla="*/ 0 w 233362"/>
                <a:gd name="connsiteY13" fmla="*/ 192405 h 214312"/>
                <a:gd name="connsiteX14" fmla="*/ 0 w 233362"/>
                <a:gd name="connsiteY14" fmla="*/ 206693 h 214312"/>
                <a:gd name="connsiteX15" fmla="*/ 1905 w 233362"/>
                <a:gd name="connsiteY15" fmla="*/ 212408 h 214312"/>
                <a:gd name="connsiteX16" fmla="*/ 14288 w 233362"/>
                <a:gd name="connsiteY16" fmla="*/ 214313 h 214312"/>
                <a:gd name="connsiteX17" fmla="*/ 29527 w 233362"/>
                <a:gd name="connsiteY17" fmla="*/ 212408 h 214312"/>
                <a:gd name="connsiteX18" fmla="*/ 47625 w 233362"/>
                <a:gd name="connsiteY18" fmla="*/ 199073 h 214312"/>
                <a:gd name="connsiteX19" fmla="*/ 58102 w 233362"/>
                <a:gd name="connsiteY19" fmla="*/ 162877 h 214312"/>
                <a:gd name="connsiteX20" fmla="*/ 58102 w 233362"/>
                <a:gd name="connsiteY20" fmla="*/ 75248 h 214312"/>
                <a:gd name="connsiteX21" fmla="*/ 59055 w 233362"/>
                <a:gd name="connsiteY21" fmla="*/ 69533 h 214312"/>
                <a:gd name="connsiteX22" fmla="*/ 60960 w 233362"/>
                <a:gd name="connsiteY22" fmla="*/ 65723 h 214312"/>
                <a:gd name="connsiteX23" fmla="*/ 114300 w 233362"/>
                <a:gd name="connsiteY23" fmla="*/ 55245 h 214312"/>
                <a:gd name="connsiteX24" fmla="*/ 152400 w 233362"/>
                <a:gd name="connsiteY24" fmla="*/ 95250 h 214312"/>
                <a:gd name="connsiteX25" fmla="*/ 122873 w 233362"/>
                <a:gd name="connsiteY25" fmla="*/ 112395 h 214312"/>
                <a:gd name="connsiteX26" fmla="*/ 101917 w 233362"/>
                <a:gd name="connsiteY26" fmla="*/ 108585 h 214312"/>
                <a:gd name="connsiteX27" fmla="*/ 93345 w 233362"/>
                <a:gd name="connsiteY27" fmla="*/ 105727 h 214312"/>
                <a:gd name="connsiteX28" fmla="*/ 85725 w 233362"/>
                <a:gd name="connsiteY28" fmla="*/ 103823 h 214312"/>
                <a:gd name="connsiteX29" fmla="*/ 81915 w 233362"/>
                <a:gd name="connsiteY29" fmla="*/ 109538 h 214312"/>
                <a:gd name="connsiteX30" fmla="*/ 81915 w 233362"/>
                <a:gd name="connsiteY30" fmla="*/ 132398 h 214312"/>
                <a:gd name="connsiteX31" fmla="*/ 89535 w 233362"/>
                <a:gd name="connsiteY31" fmla="*/ 151448 h 214312"/>
                <a:gd name="connsiteX32" fmla="*/ 160020 w 233362"/>
                <a:gd name="connsiteY32" fmla="*/ 206693 h 214312"/>
                <a:gd name="connsiteX33" fmla="*/ 181927 w 233362"/>
                <a:gd name="connsiteY33" fmla="*/ 214313 h 214312"/>
                <a:gd name="connsiteX34" fmla="*/ 228600 w 233362"/>
                <a:gd name="connsiteY34" fmla="*/ 214313 h 214312"/>
                <a:gd name="connsiteX35" fmla="*/ 233363 w 233362"/>
                <a:gd name="connsiteY35" fmla="*/ 208598 h 214312"/>
                <a:gd name="connsiteX36" fmla="*/ 233363 w 233362"/>
                <a:gd name="connsiteY36" fmla="*/ 193358 h 214312"/>
                <a:gd name="connsiteX37" fmla="*/ 228600 w 233362"/>
                <a:gd name="connsiteY37" fmla="*/ 18859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3362" h="214312">
                  <a:moveTo>
                    <a:pt x="228600" y="188595"/>
                  </a:moveTo>
                  <a:cubicBezTo>
                    <a:pt x="228600" y="188595"/>
                    <a:pt x="217170" y="185738"/>
                    <a:pt x="195263" y="167640"/>
                  </a:cubicBezTo>
                  <a:cubicBezTo>
                    <a:pt x="183832" y="158115"/>
                    <a:pt x="175260" y="151448"/>
                    <a:pt x="171450" y="148590"/>
                  </a:cubicBezTo>
                  <a:cubicBezTo>
                    <a:pt x="175260" y="145733"/>
                    <a:pt x="188595" y="140970"/>
                    <a:pt x="200977" y="126683"/>
                  </a:cubicBezTo>
                  <a:cubicBezTo>
                    <a:pt x="208598" y="118110"/>
                    <a:pt x="212407" y="106680"/>
                    <a:pt x="212407" y="93345"/>
                  </a:cubicBezTo>
                  <a:cubicBezTo>
                    <a:pt x="212407" y="80963"/>
                    <a:pt x="208598" y="68580"/>
                    <a:pt x="200977" y="57150"/>
                  </a:cubicBezTo>
                  <a:cubicBezTo>
                    <a:pt x="193357" y="45720"/>
                    <a:pt x="183832" y="36195"/>
                    <a:pt x="172402" y="27623"/>
                  </a:cubicBezTo>
                  <a:cubicBezTo>
                    <a:pt x="160973" y="19050"/>
                    <a:pt x="147638" y="12383"/>
                    <a:pt x="133350" y="7620"/>
                  </a:cubicBezTo>
                  <a:cubicBezTo>
                    <a:pt x="119063" y="2858"/>
                    <a:pt x="104775" y="0"/>
                    <a:pt x="90488" y="0"/>
                  </a:cubicBezTo>
                  <a:cubicBezTo>
                    <a:pt x="90488" y="0"/>
                    <a:pt x="4763" y="0"/>
                    <a:pt x="4763" y="0"/>
                  </a:cubicBezTo>
                  <a:cubicBezTo>
                    <a:pt x="1905" y="0"/>
                    <a:pt x="0" y="1905"/>
                    <a:pt x="0" y="4763"/>
                  </a:cubicBezTo>
                  <a:lnTo>
                    <a:pt x="0" y="148590"/>
                  </a:lnTo>
                  <a:lnTo>
                    <a:pt x="0" y="180975"/>
                  </a:lnTo>
                  <a:lnTo>
                    <a:pt x="0" y="192405"/>
                  </a:lnTo>
                  <a:lnTo>
                    <a:pt x="0" y="206693"/>
                  </a:lnTo>
                  <a:cubicBezTo>
                    <a:pt x="0" y="208598"/>
                    <a:pt x="0" y="210502"/>
                    <a:pt x="1905" y="212408"/>
                  </a:cubicBezTo>
                  <a:cubicBezTo>
                    <a:pt x="4763" y="213360"/>
                    <a:pt x="10477" y="214313"/>
                    <a:pt x="14288" y="214313"/>
                  </a:cubicBezTo>
                  <a:cubicBezTo>
                    <a:pt x="19050" y="214313"/>
                    <a:pt x="24765" y="213360"/>
                    <a:pt x="29527" y="212408"/>
                  </a:cubicBezTo>
                  <a:cubicBezTo>
                    <a:pt x="37148" y="209550"/>
                    <a:pt x="42863" y="204788"/>
                    <a:pt x="47625" y="199073"/>
                  </a:cubicBezTo>
                  <a:cubicBezTo>
                    <a:pt x="56198" y="188595"/>
                    <a:pt x="58102" y="176213"/>
                    <a:pt x="58102" y="162877"/>
                  </a:cubicBezTo>
                  <a:lnTo>
                    <a:pt x="58102" y="75248"/>
                  </a:lnTo>
                  <a:cubicBezTo>
                    <a:pt x="58102" y="74295"/>
                    <a:pt x="58102" y="71438"/>
                    <a:pt x="59055" y="69533"/>
                  </a:cubicBezTo>
                  <a:cubicBezTo>
                    <a:pt x="60007" y="67627"/>
                    <a:pt x="60960" y="65723"/>
                    <a:pt x="60960" y="65723"/>
                  </a:cubicBezTo>
                  <a:cubicBezTo>
                    <a:pt x="67627" y="53340"/>
                    <a:pt x="89535" y="48577"/>
                    <a:pt x="114300" y="55245"/>
                  </a:cubicBezTo>
                  <a:cubicBezTo>
                    <a:pt x="146685" y="63818"/>
                    <a:pt x="156210" y="85725"/>
                    <a:pt x="152400" y="95250"/>
                  </a:cubicBezTo>
                  <a:cubicBezTo>
                    <a:pt x="148590" y="105727"/>
                    <a:pt x="137160" y="112395"/>
                    <a:pt x="122873" y="112395"/>
                  </a:cubicBezTo>
                  <a:cubicBezTo>
                    <a:pt x="116205" y="112395"/>
                    <a:pt x="108585" y="111443"/>
                    <a:pt x="101917" y="108585"/>
                  </a:cubicBezTo>
                  <a:cubicBezTo>
                    <a:pt x="101917" y="108585"/>
                    <a:pt x="97155" y="107633"/>
                    <a:pt x="93345" y="105727"/>
                  </a:cubicBezTo>
                  <a:cubicBezTo>
                    <a:pt x="91440" y="104775"/>
                    <a:pt x="88582" y="103823"/>
                    <a:pt x="85725" y="103823"/>
                  </a:cubicBezTo>
                  <a:cubicBezTo>
                    <a:pt x="82867" y="103823"/>
                    <a:pt x="81915" y="105727"/>
                    <a:pt x="81915" y="109538"/>
                  </a:cubicBezTo>
                  <a:lnTo>
                    <a:pt x="81915" y="132398"/>
                  </a:lnTo>
                  <a:cubicBezTo>
                    <a:pt x="81915" y="140018"/>
                    <a:pt x="84773" y="147638"/>
                    <a:pt x="89535" y="151448"/>
                  </a:cubicBezTo>
                  <a:cubicBezTo>
                    <a:pt x="89535" y="151448"/>
                    <a:pt x="160020" y="206693"/>
                    <a:pt x="160020" y="206693"/>
                  </a:cubicBezTo>
                  <a:cubicBezTo>
                    <a:pt x="166688" y="211455"/>
                    <a:pt x="174307" y="214313"/>
                    <a:pt x="181927" y="214313"/>
                  </a:cubicBezTo>
                  <a:lnTo>
                    <a:pt x="228600" y="214313"/>
                  </a:lnTo>
                  <a:cubicBezTo>
                    <a:pt x="231457" y="214313"/>
                    <a:pt x="233363" y="212408"/>
                    <a:pt x="233363" y="208598"/>
                  </a:cubicBezTo>
                  <a:lnTo>
                    <a:pt x="233363" y="193358"/>
                  </a:lnTo>
                  <a:cubicBezTo>
                    <a:pt x="231457" y="191452"/>
                    <a:pt x="230505" y="188595"/>
                    <a:pt x="228600" y="188595"/>
                  </a:cubicBezTo>
                </a:path>
              </a:pathLst>
            </a:custGeom>
            <a:grpFill/>
            <a:ln w="9525"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4A2172D-B5CA-44B5-8424-6F3873933518}"/>
                </a:ext>
              </a:extLst>
            </p:cNvPr>
            <p:cNvSpPr/>
            <p:nvPr/>
          </p:nvSpPr>
          <p:spPr>
            <a:xfrm>
              <a:off x="5873114" y="3315652"/>
              <a:ext cx="213360" cy="212407"/>
            </a:xfrm>
            <a:custGeom>
              <a:avLst/>
              <a:gdLst>
                <a:gd name="connsiteX0" fmla="*/ 180023 w 213360"/>
                <a:gd name="connsiteY0" fmla="*/ 159068 h 212407"/>
                <a:gd name="connsiteX1" fmla="*/ 118110 w 213360"/>
                <a:gd name="connsiteY1" fmla="*/ 159068 h 212407"/>
                <a:gd name="connsiteX2" fmla="*/ 93345 w 213360"/>
                <a:gd name="connsiteY2" fmla="*/ 153352 h 212407"/>
                <a:gd name="connsiteX3" fmla="*/ 73343 w 213360"/>
                <a:gd name="connsiteY3" fmla="*/ 138113 h 212407"/>
                <a:gd name="connsiteX4" fmla="*/ 60008 w 213360"/>
                <a:gd name="connsiteY4" fmla="*/ 116205 h 212407"/>
                <a:gd name="connsiteX5" fmla="*/ 55245 w 213360"/>
                <a:gd name="connsiteY5" fmla="*/ 91440 h 212407"/>
                <a:gd name="connsiteX6" fmla="*/ 64770 w 213360"/>
                <a:gd name="connsiteY6" fmla="*/ 65723 h 212407"/>
                <a:gd name="connsiteX7" fmla="*/ 71438 w 213360"/>
                <a:gd name="connsiteY7" fmla="*/ 60960 h 212407"/>
                <a:gd name="connsiteX8" fmla="*/ 80010 w 213360"/>
                <a:gd name="connsiteY8" fmla="*/ 58102 h 212407"/>
                <a:gd name="connsiteX9" fmla="*/ 92393 w 213360"/>
                <a:gd name="connsiteY9" fmla="*/ 57150 h 212407"/>
                <a:gd name="connsiteX10" fmla="*/ 104775 w 213360"/>
                <a:gd name="connsiteY10" fmla="*/ 58102 h 212407"/>
                <a:gd name="connsiteX11" fmla="*/ 124777 w 213360"/>
                <a:gd name="connsiteY11" fmla="*/ 66675 h 212407"/>
                <a:gd name="connsiteX12" fmla="*/ 151448 w 213360"/>
                <a:gd name="connsiteY12" fmla="*/ 90488 h 212407"/>
                <a:gd name="connsiteX13" fmla="*/ 87630 w 213360"/>
                <a:gd name="connsiteY13" fmla="*/ 90488 h 212407"/>
                <a:gd name="connsiteX14" fmla="*/ 81915 w 213360"/>
                <a:gd name="connsiteY14" fmla="*/ 95250 h 212407"/>
                <a:gd name="connsiteX15" fmla="*/ 85725 w 213360"/>
                <a:gd name="connsiteY15" fmla="*/ 111443 h 212407"/>
                <a:gd name="connsiteX16" fmla="*/ 125730 w 213360"/>
                <a:gd name="connsiteY16" fmla="*/ 135255 h 212407"/>
                <a:gd name="connsiteX17" fmla="*/ 185738 w 213360"/>
                <a:gd name="connsiteY17" fmla="*/ 135255 h 212407"/>
                <a:gd name="connsiteX18" fmla="*/ 207645 w 213360"/>
                <a:gd name="connsiteY18" fmla="*/ 126683 h 212407"/>
                <a:gd name="connsiteX19" fmla="*/ 212408 w 213360"/>
                <a:gd name="connsiteY19" fmla="*/ 108585 h 212407"/>
                <a:gd name="connsiteX20" fmla="*/ 202883 w 213360"/>
                <a:gd name="connsiteY20" fmla="*/ 71438 h 212407"/>
                <a:gd name="connsiteX21" fmla="*/ 176213 w 213360"/>
                <a:gd name="connsiteY21" fmla="*/ 36195 h 212407"/>
                <a:gd name="connsiteX22" fmla="*/ 138113 w 213360"/>
                <a:gd name="connsiteY22" fmla="*/ 10477 h 212407"/>
                <a:gd name="connsiteX23" fmla="*/ 92393 w 213360"/>
                <a:gd name="connsiteY23" fmla="*/ 0 h 212407"/>
                <a:gd name="connsiteX24" fmla="*/ 4763 w 213360"/>
                <a:gd name="connsiteY24" fmla="*/ 0 h 212407"/>
                <a:gd name="connsiteX25" fmla="*/ 0 w 213360"/>
                <a:gd name="connsiteY25" fmla="*/ 4763 h 212407"/>
                <a:gd name="connsiteX26" fmla="*/ 0 w 213360"/>
                <a:gd name="connsiteY26" fmla="*/ 92393 h 212407"/>
                <a:gd name="connsiteX27" fmla="*/ 9525 w 213360"/>
                <a:gd name="connsiteY27" fmla="*/ 139065 h 212407"/>
                <a:gd name="connsiteX28" fmla="*/ 35243 w 213360"/>
                <a:gd name="connsiteY28" fmla="*/ 177165 h 212407"/>
                <a:gd name="connsiteX29" fmla="*/ 73343 w 213360"/>
                <a:gd name="connsiteY29" fmla="*/ 202883 h 212407"/>
                <a:gd name="connsiteX30" fmla="*/ 120015 w 213360"/>
                <a:gd name="connsiteY30" fmla="*/ 212408 h 212407"/>
                <a:gd name="connsiteX31" fmla="*/ 208598 w 213360"/>
                <a:gd name="connsiteY31" fmla="*/ 212408 h 212407"/>
                <a:gd name="connsiteX32" fmla="*/ 213360 w 213360"/>
                <a:gd name="connsiteY32" fmla="*/ 207645 h 212407"/>
                <a:gd name="connsiteX33" fmla="*/ 213360 w 213360"/>
                <a:gd name="connsiteY33" fmla="*/ 189548 h 212407"/>
                <a:gd name="connsiteX34" fmla="*/ 204788 w 213360"/>
                <a:gd name="connsiteY34" fmla="*/ 165735 h 212407"/>
                <a:gd name="connsiteX35" fmla="*/ 180023 w 213360"/>
                <a:gd name="connsiteY35" fmla="*/ 159068 h 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360" h="212407">
                  <a:moveTo>
                    <a:pt x="180023" y="159068"/>
                  </a:moveTo>
                  <a:lnTo>
                    <a:pt x="118110" y="159068"/>
                  </a:lnTo>
                  <a:cubicBezTo>
                    <a:pt x="109538" y="159068"/>
                    <a:pt x="100965" y="157163"/>
                    <a:pt x="93345" y="153352"/>
                  </a:cubicBezTo>
                  <a:cubicBezTo>
                    <a:pt x="86677" y="150495"/>
                    <a:pt x="76200" y="141923"/>
                    <a:pt x="73343" y="138113"/>
                  </a:cubicBezTo>
                  <a:cubicBezTo>
                    <a:pt x="67627" y="131445"/>
                    <a:pt x="62865" y="124777"/>
                    <a:pt x="60008" y="116205"/>
                  </a:cubicBezTo>
                  <a:cubicBezTo>
                    <a:pt x="57150" y="107633"/>
                    <a:pt x="55245" y="100013"/>
                    <a:pt x="55245" y="91440"/>
                  </a:cubicBezTo>
                  <a:cubicBezTo>
                    <a:pt x="55245" y="80010"/>
                    <a:pt x="58102" y="71438"/>
                    <a:pt x="64770" y="65723"/>
                  </a:cubicBezTo>
                  <a:cubicBezTo>
                    <a:pt x="65723" y="64770"/>
                    <a:pt x="68580" y="62865"/>
                    <a:pt x="71438" y="60960"/>
                  </a:cubicBezTo>
                  <a:cubicBezTo>
                    <a:pt x="74295" y="59055"/>
                    <a:pt x="78105" y="58102"/>
                    <a:pt x="80010" y="58102"/>
                  </a:cubicBezTo>
                  <a:cubicBezTo>
                    <a:pt x="83820" y="57150"/>
                    <a:pt x="87630" y="57150"/>
                    <a:pt x="92393" y="57150"/>
                  </a:cubicBezTo>
                  <a:cubicBezTo>
                    <a:pt x="97155" y="57150"/>
                    <a:pt x="100965" y="58102"/>
                    <a:pt x="104775" y="58102"/>
                  </a:cubicBezTo>
                  <a:cubicBezTo>
                    <a:pt x="111443" y="59055"/>
                    <a:pt x="118110" y="61913"/>
                    <a:pt x="124777" y="66675"/>
                  </a:cubicBezTo>
                  <a:cubicBezTo>
                    <a:pt x="134302" y="72390"/>
                    <a:pt x="144780" y="81915"/>
                    <a:pt x="151448" y="90488"/>
                  </a:cubicBezTo>
                  <a:lnTo>
                    <a:pt x="87630" y="90488"/>
                  </a:lnTo>
                  <a:cubicBezTo>
                    <a:pt x="83820" y="90488"/>
                    <a:pt x="81915" y="92393"/>
                    <a:pt x="81915" y="95250"/>
                  </a:cubicBezTo>
                  <a:cubicBezTo>
                    <a:pt x="81915" y="101918"/>
                    <a:pt x="82868" y="105727"/>
                    <a:pt x="85725" y="111443"/>
                  </a:cubicBezTo>
                  <a:cubicBezTo>
                    <a:pt x="88583" y="117158"/>
                    <a:pt x="100965" y="135255"/>
                    <a:pt x="125730" y="135255"/>
                  </a:cubicBezTo>
                  <a:lnTo>
                    <a:pt x="185738" y="135255"/>
                  </a:lnTo>
                  <a:cubicBezTo>
                    <a:pt x="196215" y="135255"/>
                    <a:pt x="203835" y="132398"/>
                    <a:pt x="207645" y="126683"/>
                  </a:cubicBezTo>
                  <a:cubicBezTo>
                    <a:pt x="211455" y="120968"/>
                    <a:pt x="212408" y="116205"/>
                    <a:pt x="212408" y="108585"/>
                  </a:cubicBezTo>
                  <a:cubicBezTo>
                    <a:pt x="212408" y="96202"/>
                    <a:pt x="209550" y="84773"/>
                    <a:pt x="202883" y="71438"/>
                  </a:cubicBezTo>
                  <a:cubicBezTo>
                    <a:pt x="196215" y="58102"/>
                    <a:pt x="187643" y="46673"/>
                    <a:pt x="176213" y="36195"/>
                  </a:cubicBezTo>
                  <a:cubicBezTo>
                    <a:pt x="164783" y="25718"/>
                    <a:pt x="152400" y="17145"/>
                    <a:pt x="138113" y="10477"/>
                  </a:cubicBezTo>
                  <a:cubicBezTo>
                    <a:pt x="123825" y="3810"/>
                    <a:pt x="108585" y="0"/>
                    <a:pt x="92393" y="0"/>
                  </a:cubicBezTo>
                  <a:lnTo>
                    <a:pt x="4763" y="0"/>
                  </a:lnTo>
                  <a:cubicBezTo>
                    <a:pt x="1905" y="0"/>
                    <a:pt x="0" y="1905"/>
                    <a:pt x="0" y="4763"/>
                  </a:cubicBezTo>
                  <a:lnTo>
                    <a:pt x="0" y="92393"/>
                  </a:lnTo>
                  <a:cubicBezTo>
                    <a:pt x="0" y="108585"/>
                    <a:pt x="2858" y="123825"/>
                    <a:pt x="9525" y="139065"/>
                  </a:cubicBezTo>
                  <a:cubicBezTo>
                    <a:pt x="16193" y="153352"/>
                    <a:pt x="24765" y="166688"/>
                    <a:pt x="35243" y="177165"/>
                  </a:cubicBezTo>
                  <a:cubicBezTo>
                    <a:pt x="45720" y="188595"/>
                    <a:pt x="59055" y="197168"/>
                    <a:pt x="73343" y="202883"/>
                  </a:cubicBezTo>
                  <a:cubicBezTo>
                    <a:pt x="87630" y="209550"/>
                    <a:pt x="102870" y="212408"/>
                    <a:pt x="120015" y="212408"/>
                  </a:cubicBezTo>
                  <a:lnTo>
                    <a:pt x="208598" y="212408"/>
                  </a:lnTo>
                  <a:cubicBezTo>
                    <a:pt x="211455" y="212408"/>
                    <a:pt x="213360" y="210502"/>
                    <a:pt x="213360" y="207645"/>
                  </a:cubicBezTo>
                  <a:lnTo>
                    <a:pt x="213360" y="189548"/>
                  </a:lnTo>
                  <a:cubicBezTo>
                    <a:pt x="213360" y="179070"/>
                    <a:pt x="210502" y="171450"/>
                    <a:pt x="204788" y="165735"/>
                  </a:cubicBezTo>
                  <a:cubicBezTo>
                    <a:pt x="198120" y="161925"/>
                    <a:pt x="190500" y="159068"/>
                    <a:pt x="180023" y="159068"/>
                  </a:cubicBezTo>
                </a:path>
              </a:pathLst>
            </a:custGeom>
            <a:grpFill/>
            <a:ln w="9525"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D1900A6F-25E2-467E-8CA0-88491E91ED1D}"/>
                </a:ext>
              </a:extLst>
            </p:cNvPr>
            <p:cNvSpPr/>
            <p:nvPr/>
          </p:nvSpPr>
          <p:spPr>
            <a:xfrm>
              <a:off x="5409247" y="3315652"/>
              <a:ext cx="446722" cy="214312"/>
            </a:xfrm>
            <a:custGeom>
              <a:avLst/>
              <a:gdLst>
                <a:gd name="connsiteX0" fmla="*/ 444818 w 446722"/>
                <a:gd name="connsiteY0" fmla="*/ 32385 h 214312"/>
                <a:gd name="connsiteX1" fmla="*/ 413385 w 446722"/>
                <a:gd name="connsiteY1" fmla="*/ 952 h 214312"/>
                <a:gd name="connsiteX2" fmla="*/ 380048 w 446722"/>
                <a:gd name="connsiteY2" fmla="*/ 952 h 214312"/>
                <a:gd name="connsiteX3" fmla="*/ 376238 w 446722"/>
                <a:gd name="connsiteY3" fmla="*/ 2858 h 214312"/>
                <a:gd name="connsiteX4" fmla="*/ 309563 w 446722"/>
                <a:gd name="connsiteY4" fmla="*/ 64770 h 214312"/>
                <a:gd name="connsiteX5" fmla="*/ 222885 w 446722"/>
                <a:gd name="connsiteY5" fmla="*/ 98108 h 214312"/>
                <a:gd name="connsiteX6" fmla="*/ 133350 w 446722"/>
                <a:gd name="connsiteY6" fmla="*/ 61913 h 214312"/>
                <a:gd name="connsiteX7" fmla="*/ 83820 w 446722"/>
                <a:gd name="connsiteY7" fmla="*/ 15240 h 214312"/>
                <a:gd name="connsiteX8" fmla="*/ 46672 w 446722"/>
                <a:gd name="connsiteY8" fmla="*/ 0 h 214312"/>
                <a:gd name="connsiteX9" fmla="*/ 6668 w 446722"/>
                <a:gd name="connsiteY9" fmla="*/ 0 h 214312"/>
                <a:gd name="connsiteX10" fmla="*/ 0 w 446722"/>
                <a:gd name="connsiteY10" fmla="*/ 6668 h 214312"/>
                <a:gd name="connsiteX11" fmla="*/ 0 w 446722"/>
                <a:gd name="connsiteY11" fmla="*/ 181927 h 214312"/>
                <a:gd name="connsiteX12" fmla="*/ 31433 w 446722"/>
                <a:gd name="connsiteY12" fmla="*/ 213360 h 214312"/>
                <a:gd name="connsiteX13" fmla="*/ 43815 w 446722"/>
                <a:gd name="connsiteY13" fmla="*/ 213360 h 214312"/>
                <a:gd name="connsiteX14" fmla="*/ 52388 w 446722"/>
                <a:gd name="connsiteY14" fmla="*/ 213360 h 214312"/>
                <a:gd name="connsiteX15" fmla="*/ 59055 w 446722"/>
                <a:gd name="connsiteY15" fmla="*/ 206693 h 214312"/>
                <a:gd name="connsiteX16" fmla="*/ 59055 w 446722"/>
                <a:gd name="connsiteY16" fmla="*/ 144780 h 214312"/>
                <a:gd name="connsiteX17" fmla="*/ 88583 w 446722"/>
                <a:gd name="connsiteY17" fmla="*/ 115252 h 214312"/>
                <a:gd name="connsiteX18" fmla="*/ 159067 w 446722"/>
                <a:gd name="connsiteY18" fmla="*/ 158115 h 214312"/>
                <a:gd name="connsiteX19" fmla="*/ 223838 w 446722"/>
                <a:gd name="connsiteY19" fmla="*/ 199073 h 214312"/>
                <a:gd name="connsiteX20" fmla="*/ 288608 w 446722"/>
                <a:gd name="connsiteY20" fmla="*/ 158115 h 214312"/>
                <a:gd name="connsiteX21" fmla="*/ 359093 w 446722"/>
                <a:gd name="connsiteY21" fmla="*/ 115252 h 214312"/>
                <a:gd name="connsiteX22" fmla="*/ 388620 w 446722"/>
                <a:gd name="connsiteY22" fmla="*/ 144780 h 214312"/>
                <a:gd name="connsiteX23" fmla="*/ 388620 w 446722"/>
                <a:gd name="connsiteY23" fmla="*/ 182880 h 214312"/>
                <a:gd name="connsiteX24" fmla="*/ 420053 w 446722"/>
                <a:gd name="connsiteY24" fmla="*/ 214313 h 214312"/>
                <a:gd name="connsiteX25" fmla="*/ 433388 w 446722"/>
                <a:gd name="connsiteY25" fmla="*/ 214313 h 214312"/>
                <a:gd name="connsiteX26" fmla="*/ 440055 w 446722"/>
                <a:gd name="connsiteY26" fmla="*/ 214313 h 214312"/>
                <a:gd name="connsiteX27" fmla="*/ 440055 w 446722"/>
                <a:gd name="connsiteY27" fmla="*/ 214313 h 214312"/>
                <a:gd name="connsiteX28" fmla="*/ 446723 w 446722"/>
                <a:gd name="connsiteY28" fmla="*/ 207645 h 214312"/>
                <a:gd name="connsiteX29" fmla="*/ 444818 w 446722"/>
                <a:gd name="connsiteY29" fmla="*/ 32385 h 21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22" h="214312">
                  <a:moveTo>
                    <a:pt x="444818" y="32385"/>
                  </a:moveTo>
                  <a:cubicBezTo>
                    <a:pt x="444818" y="15240"/>
                    <a:pt x="430530" y="952"/>
                    <a:pt x="413385" y="952"/>
                  </a:cubicBezTo>
                  <a:lnTo>
                    <a:pt x="380048" y="952"/>
                  </a:lnTo>
                  <a:cubicBezTo>
                    <a:pt x="378143" y="952"/>
                    <a:pt x="377190" y="1905"/>
                    <a:pt x="376238" y="2858"/>
                  </a:cubicBezTo>
                  <a:lnTo>
                    <a:pt x="309563" y="64770"/>
                  </a:lnTo>
                  <a:cubicBezTo>
                    <a:pt x="286703" y="85725"/>
                    <a:pt x="256223" y="98108"/>
                    <a:pt x="222885" y="98108"/>
                  </a:cubicBezTo>
                  <a:cubicBezTo>
                    <a:pt x="187642" y="98108"/>
                    <a:pt x="156210" y="84773"/>
                    <a:pt x="133350" y="61913"/>
                  </a:cubicBezTo>
                  <a:cubicBezTo>
                    <a:pt x="133350" y="61913"/>
                    <a:pt x="84773" y="16193"/>
                    <a:pt x="83820" y="15240"/>
                  </a:cubicBezTo>
                  <a:cubicBezTo>
                    <a:pt x="74295" y="6668"/>
                    <a:pt x="61913" y="952"/>
                    <a:pt x="46672" y="0"/>
                  </a:cubicBezTo>
                  <a:lnTo>
                    <a:pt x="6668" y="0"/>
                  </a:lnTo>
                  <a:cubicBezTo>
                    <a:pt x="2858" y="0"/>
                    <a:pt x="0" y="2858"/>
                    <a:pt x="0" y="6668"/>
                  </a:cubicBezTo>
                  <a:lnTo>
                    <a:pt x="0" y="181927"/>
                  </a:lnTo>
                  <a:cubicBezTo>
                    <a:pt x="0" y="199073"/>
                    <a:pt x="14288" y="213360"/>
                    <a:pt x="31433" y="213360"/>
                  </a:cubicBezTo>
                  <a:lnTo>
                    <a:pt x="43815" y="213360"/>
                  </a:lnTo>
                  <a:lnTo>
                    <a:pt x="52388" y="213360"/>
                  </a:lnTo>
                  <a:cubicBezTo>
                    <a:pt x="56197" y="213360"/>
                    <a:pt x="59055" y="210502"/>
                    <a:pt x="59055" y="206693"/>
                  </a:cubicBezTo>
                  <a:lnTo>
                    <a:pt x="59055" y="144780"/>
                  </a:lnTo>
                  <a:cubicBezTo>
                    <a:pt x="59055" y="128588"/>
                    <a:pt x="72390" y="115252"/>
                    <a:pt x="88583" y="115252"/>
                  </a:cubicBezTo>
                  <a:cubicBezTo>
                    <a:pt x="118110" y="115252"/>
                    <a:pt x="140017" y="140970"/>
                    <a:pt x="159067" y="158115"/>
                  </a:cubicBezTo>
                  <a:cubicBezTo>
                    <a:pt x="182880" y="179070"/>
                    <a:pt x="200978" y="199073"/>
                    <a:pt x="223838" y="199073"/>
                  </a:cubicBezTo>
                  <a:cubicBezTo>
                    <a:pt x="246698" y="199073"/>
                    <a:pt x="264795" y="179070"/>
                    <a:pt x="288608" y="158115"/>
                  </a:cubicBezTo>
                  <a:cubicBezTo>
                    <a:pt x="307658" y="140970"/>
                    <a:pt x="329565" y="115252"/>
                    <a:pt x="359093" y="115252"/>
                  </a:cubicBezTo>
                  <a:cubicBezTo>
                    <a:pt x="375285" y="115252"/>
                    <a:pt x="388620" y="128588"/>
                    <a:pt x="388620" y="144780"/>
                  </a:cubicBezTo>
                  <a:lnTo>
                    <a:pt x="388620" y="182880"/>
                  </a:lnTo>
                  <a:cubicBezTo>
                    <a:pt x="388620" y="200025"/>
                    <a:pt x="402907" y="214313"/>
                    <a:pt x="420053" y="214313"/>
                  </a:cubicBezTo>
                  <a:lnTo>
                    <a:pt x="433388" y="214313"/>
                  </a:lnTo>
                  <a:cubicBezTo>
                    <a:pt x="437198" y="214313"/>
                    <a:pt x="440055" y="214313"/>
                    <a:pt x="440055" y="214313"/>
                  </a:cubicBezTo>
                  <a:lnTo>
                    <a:pt x="440055" y="214313"/>
                  </a:lnTo>
                  <a:cubicBezTo>
                    <a:pt x="443865" y="214313"/>
                    <a:pt x="446723" y="211455"/>
                    <a:pt x="446723" y="207645"/>
                  </a:cubicBezTo>
                  <a:cubicBezTo>
                    <a:pt x="444818" y="207645"/>
                    <a:pt x="444818" y="34290"/>
                    <a:pt x="444818" y="32385"/>
                  </a:cubicBezTo>
                </a:path>
              </a:pathLst>
            </a:custGeom>
            <a:grpFill/>
            <a:ln w="9525"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5E9D78A-7D5B-47F0-BCD6-2B9BDE22C856}"/>
                </a:ext>
              </a:extLst>
            </p:cNvPr>
            <p:cNvSpPr/>
            <p:nvPr/>
          </p:nvSpPr>
          <p:spPr>
            <a:xfrm>
              <a:off x="6336029" y="3315652"/>
              <a:ext cx="213360" cy="216217"/>
            </a:xfrm>
            <a:custGeom>
              <a:avLst/>
              <a:gdLst>
                <a:gd name="connsiteX0" fmla="*/ 208598 w 213360"/>
                <a:gd name="connsiteY0" fmla="*/ 124777 h 216217"/>
                <a:gd name="connsiteX1" fmla="*/ 176213 w 213360"/>
                <a:gd name="connsiteY1" fmla="*/ 124777 h 216217"/>
                <a:gd name="connsiteX2" fmla="*/ 153353 w 213360"/>
                <a:gd name="connsiteY2" fmla="*/ 140018 h 216217"/>
                <a:gd name="connsiteX3" fmla="*/ 142875 w 213360"/>
                <a:gd name="connsiteY3" fmla="*/ 156210 h 216217"/>
                <a:gd name="connsiteX4" fmla="*/ 122873 w 213360"/>
                <a:gd name="connsiteY4" fmla="*/ 161925 h 216217"/>
                <a:gd name="connsiteX5" fmla="*/ 100013 w 213360"/>
                <a:gd name="connsiteY5" fmla="*/ 155258 h 216217"/>
                <a:gd name="connsiteX6" fmla="*/ 79058 w 213360"/>
                <a:gd name="connsiteY6" fmla="*/ 139065 h 216217"/>
                <a:gd name="connsiteX7" fmla="*/ 63817 w 213360"/>
                <a:gd name="connsiteY7" fmla="*/ 116205 h 216217"/>
                <a:gd name="connsiteX8" fmla="*/ 58103 w 213360"/>
                <a:gd name="connsiteY8" fmla="*/ 91440 h 216217"/>
                <a:gd name="connsiteX9" fmla="*/ 67628 w 213360"/>
                <a:gd name="connsiteY9" fmla="*/ 65723 h 216217"/>
                <a:gd name="connsiteX10" fmla="*/ 91440 w 213360"/>
                <a:gd name="connsiteY10" fmla="*/ 56198 h 216217"/>
                <a:gd name="connsiteX11" fmla="*/ 123825 w 213360"/>
                <a:gd name="connsiteY11" fmla="*/ 68580 h 216217"/>
                <a:gd name="connsiteX12" fmla="*/ 138113 w 213360"/>
                <a:gd name="connsiteY12" fmla="*/ 73343 h 216217"/>
                <a:gd name="connsiteX13" fmla="*/ 153353 w 213360"/>
                <a:gd name="connsiteY13" fmla="*/ 64770 h 216217"/>
                <a:gd name="connsiteX14" fmla="*/ 175260 w 213360"/>
                <a:gd name="connsiteY14" fmla="*/ 42863 h 216217"/>
                <a:gd name="connsiteX15" fmla="*/ 177165 w 213360"/>
                <a:gd name="connsiteY15" fmla="*/ 39052 h 216217"/>
                <a:gd name="connsiteX16" fmla="*/ 174308 w 213360"/>
                <a:gd name="connsiteY16" fmla="*/ 35243 h 216217"/>
                <a:gd name="connsiteX17" fmla="*/ 135255 w 213360"/>
                <a:gd name="connsiteY17" fmla="*/ 9525 h 216217"/>
                <a:gd name="connsiteX18" fmla="*/ 91440 w 213360"/>
                <a:gd name="connsiteY18" fmla="*/ 0 h 216217"/>
                <a:gd name="connsiteX19" fmla="*/ 4763 w 213360"/>
                <a:gd name="connsiteY19" fmla="*/ 0 h 216217"/>
                <a:gd name="connsiteX20" fmla="*/ 0 w 213360"/>
                <a:gd name="connsiteY20" fmla="*/ 5715 h 216217"/>
                <a:gd name="connsiteX21" fmla="*/ 0 w 213360"/>
                <a:gd name="connsiteY21" fmla="*/ 91440 h 216217"/>
                <a:gd name="connsiteX22" fmla="*/ 10478 w 213360"/>
                <a:gd name="connsiteY22" fmla="*/ 139065 h 216217"/>
                <a:gd name="connsiteX23" fmla="*/ 38100 w 213360"/>
                <a:gd name="connsiteY23" fmla="*/ 178118 h 216217"/>
                <a:gd name="connsiteX24" fmla="*/ 77153 w 213360"/>
                <a:gd name="connsiteY24" fmla="*/ 205740 h 216217"/>
                <a:gd name="connsiteX25" fmla="*/ 122873 w 213360"/>
                <a:gd name="connsiteY25" fmla="*/ 216218 h 216217"/>
                <a:gd name="connsiteX26" fmla="*/ 158115 w 213360"/>
                <a:gd name="connsiteY26" fmla="*/ 209550 h 216217"/>
                <a:gd name="connsiteX27" fmla="*/ 185738 w 213360"/>
                <a:gd name="connsiteY27" fmla="*/ 191452 h 216217"/>
                <a:gd name="connsiteX28" fmla="*/ 204788 w 213360"/>
                <a:gd name="connsiteY28" fmla="*/ 163830 h 216217"/>
                <a:gd name="connsiteX29" fmla="*/ 213360 w 213360"/>
                <a:gd name="connsiteY29" fmla="*/ 129540 h 216217"/>
                <a:gd name="connsiteX30" fmla="*/ 208598 w 213360"/>
                <a:gd name="connsiteY30" fmla="*/ 124777 h 21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360" h="216217">
                  <a:moveTo>
                    <a:pt x="208598" y="124777"/>
                  </a:moveTo>
                  <a:lnTo>
                    <a:pt x="176213" y="124777"/>
                  </a:lnTo>
                  <a:cubicBezTo>
                    <a:pt x="164783" y="124777"/>
                    <a:pt x="156210" y="129540"/>
                    <a:pt x="153353" y="140018"/>
                  </a:cubicBezTo>
                  <a:cubicBezTo>
                    <a:pt x="151448" y="146685"/>
                    <a:pt x="147638" y="152400"/>
                    <a:pt x="142875" y="156210"/>
                  </a:cubicBezTo>
                  <a:cubicBezTo>
                    <a:pt x="138113" y="160020"/>
                    <a:pt x="131445" y="161925"/>
                    <a:pt x="122873" y="161925"/>
                  </a:cubicBezTo>
                  <a:cubicBezTo>
                    <a:pt x="115253" y="161925"/>
                    <a:pt x="107633" y="160020"/>
                    <a:pt x="100013" y="155258"/>
                  </a:cubicBezTo>
                  <a:cubicBezTo>
                    <a:pt x="92392" y="151448"/>
                    <a:pt x="85725" y="145733"/>
                    <a:pt x="79058" y="139065"/>
                  </a:cubicBezTo>
                  <a:cubicBezTo>
                    <a:pt x="73342" y="132398"/>
                    <a:pt x="67628" y="124777"/>
                    <a:pt x="63817" y="116205"/>
                  </a:cubicBezTo>
                  <a:cubicBezTo>
                    <a:pt x="60008" y="107633"/>
                    <a:pt x="58103" y="99060"/>
                    <a:pt x="58103" y="91440"/>
                  </a:cubicBezTo>
                  <a:cubicBezTo>
                    <a:pt x="58103" y="80963"/>
                    <a:pt x="60960" y="72390"/>
                    <a:pt x="67628" y="65723"/>
                  </a:cubicBezTo>
                  <a:cubicBezTo>
                    <a:pt x="74295" y="59055"/>
                    <a:pt x="81915" y="56198"/>
                    <a:pt x="91440" y="56198"/>
                  </a:cubicBezTo>
                  <a:cubicBezTo>
                    <a:pt x="102870" y="56198"/>
                    <a:pt x="113348" y="60008"/>
                    <a:pt x="123825" y="68580"/>
                  </a:cubicBezTo>
                  <a:cubicBezTo>
                    <a:pt x="128588" y="71438"/>
                    <a:pt x="133350" y="73343"/>
                    <a:pt x="138113" y="73343"/>
                  </a:cubicBezTo>
                  <a:cubicBezTo>
                    <a:pt x="142875" y="73343"/>
                    <a:pt x="148590" y="70485"/>
                    <a:pt x="153353" y="64770"/>
                  </a:cubicBezTo>
                  <a:lnTo>
                    <a:pt x="175260" y="42863"/>
                  </a:lnTo>
                  <a:cubicBezTo>
                    <a:pt x="176213" y="41910"/>
                    <a:pt x="177165" y="40005"/>
                    <a:pt x="177165" y="39052"/>
                  </a:cubicBezTo>
                  <a:cubicBezTo>
                    <a:pt x="177165" y="38100"/>
                    <a:pt x="176213" y="37148"/>
                    <a:pt x="174308" y="35243"/>
                  </a:cubicBezTo>
                  <a:cubicBezTo>
                    <a:pt x="162878" y="24765"/>
                    <a:pt x="149542" y="16193"/>
                    <a:pt x="135255" y="9525"/>
                  </a:cubicBezTo>
                  <a:cubicBezTo>
                    <a:pt x="120967" y="3810"/>
                    <a:pt x="106680" y="0"/>
                    <a:pt x="91440" y="0"/>
                  </a:cubicBezTo>
                  <a:lnTo>
                    <a:pt x="4763" y="0"/>
                  </a:lnTo>
                  <a:cubicBezTo>
                    <a:pt x="1905" y="0"/>
                    <a:pt x="0" y="1905"/>
                    <a:pt x="0" y="5715"/>
                  </a:cubicBezTo>
                  <a:lnTo>
                    <a:pt x="0" y="91440"/>
                  </a:lnTo>
                  <a:cubicBezTo>
                    <a:pt x="0" y="107633"/>
                    <a:pt x="3810" y="123825"/>
                    <a:pt x="10478" y="139065"/>
                  </a:cubicBezTo>
                  <a:cubicBezTo>
                    <a:pt x="17145" y="154305"/>
                    <a:pt x="26670" y="167640"/>
                    <a:pt x="38100" y="178118"/>
                  </a:cubicBezTo>
                  <a:cubicBezTo>
                    <a:pt x="49530" y="189548"/>
                    <a:pt x="62865" y="198120"/>
                    <a:pt x="77153" y="205740"/>
                  </a:cubicBezTo>
                  <a:cubicBezTo>
                    <a:pt x="91440" y="212408"/>
                    <a:pt x="106680" y="216218"/>
                    <a:pt x="122873" y="216218"/>
                  </a:cubicBezTo>
                  <a:cubicBezTo>
                    <a:pt x="135255" y="216218"/>
                    <a:pt x="147638" y="214313"/>
                    <a:pt x="158115" y="209550"/>
                  </a:cubicBezTo>
                  <a:cubicBezTo>
                    <a:pt x="168592" y="205740"/>
                    <a:pt x="178117" y="199073"/>
                    <a:pt x="185738" y="191452"/>
                  </a:cubicBezTo>
                  <a:cubicBezTo>
                    <a:pt x="193358" y="183833"/>
                    <a:pt x="200025" y="174308"/>
                    <a:pt x="204788" y="163830"/>
                  </a:cubicBezTo>
                  <a:cubicBezTo>
                    <a:pt x="209550" y="153352"/>
                    <a:pt x="212408" y="141923"/>
                    <a:pt x="213360" y="129540"/>
                  </a:cubicBezTo>
                  <a:cubicBezTo>
                    <a:pt x="213360" y="126683"/>
                    <a:pt x="212408" y="124777"/>
                    <a:pt x="208598" y="124777"/>
                  </a:cubicBezTo>
                </a:path>
              </a:pathLst>
            </a:custGeom>
            <a:grpFill/>
            <a:ln w="9525" cap="flat">
              <a:noFill/>
              <a:prstDash val="solid"/>
              <a:miter/>
            </a:ln>
          </p:spPr>
          <p:txBody>
            <a:bodyPr rtlCol="0" anchor="ctr"/>
            <a:lstStyle/>
            <a:p>
              <a:endParaRPr lang="ru-RU"/>
            </a:p>
          </p:txBody>
        </p:sp>
      </p:grpSp>
      <p:sp>
        <p:nvSpPr>
          <p:cNvPr id="27" name="Полилиния: фигура 26">
            <a:extLst>
              <a:ext uri="{FF2B5EF4-FFF2-40B4-BE49-F238E27FC236}">
                <a16:creationId xmlns:a16="http://schemas.microsoft.com/office/drawing/2014/main" id="{D2C061EF-8492-46AD-B925-36DFE8433EE3}"/>
              </a:ext>
            </a:extLst>
          </p:cNvPr>
          <p:cNvSpPr>
            <a:spLocks/>
          </p:cNvSpPr>
          <p:nvPr userDrawn="1"/>
        </p:nvSpPr>
        <p:spPr bwMode="auto">
          <a:xfrm rot="8577572">
            <a:off x="11479273" y="546141"/>
            <a:ext cx="1151816" cy="967694"/>
          </a:xfrm>
          <a:custGeom>
            <a:avLst/>
            <a:gdLst>
              <a:gd name="connsiteX0" fmla="*/ 0 w 1151816"/>
              <a:gd name="connsiteY0" fmla="*/ 967694 h 967694"/>
              <a:gd name="connsiteX1" fmla="*/ 730282 w 1151816"/>
              <a:gd name="connsiteY1" fmla="*/ 0 h 967694"/>
              <a:gd name="connsiteX2" fmla="*/ 763234 w 1151816"/>
              <a:gd name="connsiteY2" fmla="*/ 30926 h 967694"/>
              <a:gd name="connsiteX3" fmla="*/ 1099335 w 1151816"/>
              <a:gd name="connsiteY3" fmla="*/ 415702 h 967694"/>
              <a:gd name="connsiteX4" fmla="*/ 922766 w 1151816"/>
              <a:gd name="connsiteY4" fmla="*/ 859894 h 967694"/>
              <a:gd name="connsiteX5" fmla="*/ 64712 w 1151816"/>
              <a:gd name="connsiteY5" fmla="*/ 967064 h 96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816" h="967694">
                <a:moveTo>
                  <a:pt x="0" y="967694"/>
                </a:moveTo>
                <a:lnTo>
                  <a:pt x="730282" y="0"/>
                </a:lnTo>
                <a:lnTo>
                  <a:pt x="763234" y="30926"/>
                </a:lnTo>
                <a:cubicBezTo>
                  <a:pt x="895919" y="160395"/>
                  <a:pt x="1020860" y="302059"/>
                  <a:pt x="1099335" y="415702"/>
                </a:cubicBezTo>
                <a:cubicBezTo>
                  <a:pt x="1218080" y="586944"/>
                  <a:pt x="1125149" y="817343"/>
                  <a:pt x="922766" y="859894"/>
                </a:cubicBezTo>
                <a:cubicBezTo>
                  <a:pt x="587568" y="929817"/>
                  <a:pt x="265811" y="961601"/>
                  <a:pt x="64712" y="967064"/>
                </a:cubicBezTo>
                <a:close/>
              </a:path>
            </a:pathLst>
          </a:custGeom>
          <a:gradFill>
            <a:gsLst>
              <a:gs pos="0">
                <a:srgbClr val="B0D901"/>
              </a:gs>
              <a:gs pos="100000">
                <a:srgbClr val="398ACB"/>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29" name="Полилиния: фигура 28">
            <a:extLst>
              <a:ext uri="{FF2B5EF4-FFF2-40B4-BE49-F238E27FC236}">
                <a16:creationId xmlns:a16="http://schemas.microsoft.com/office/drawing/2014/main" id="{28240FCA-FBAE-48EF-9096-93BF98D7DCF4}"/>
              </a:ext>
            </a:extLst>
          </p:cNvPr>
          <p:cNvSpPr>
            <a:spLocks/>
          </p:cNvSpPr>
          <p:nvPr userDrawn="1"/>
        </p:nvSpPr>
        <p:spPr bwMode="auto">
          <a:xfrm rot="12148300">
            <a:off x="10957805" y="-230629"/>
            <a:ext cx="1175267" cy="740171"/>
          </a:xfrm>
          <a:custGeom>
            <a:avLst/>
            <a:gdLst>
              <a:gd name="connsiteX0" fmla="*/ 1175267 w 1175267"/>
              <a:gd name="connsiteY0" fmla="*/ 277935 h 740171"/>
              <a:gd name="connsiteX1" fmla="*/ 57768 w 1175267"/>
              <a:gd name="connsiteY1" fmla="*/ 740171 h 740171"/>
              <a:gd name="connsiteX2" fmla="*/ 13310 w 1175267"/>
              <a:gd name="connsiteY2" fmla="*/ 692603 h 740171"/>
              <a:gd name="connsiteX3" fmla="*/ 3614 w 1175267"/>
              <a:gd name="connsiteY3" fmla="*/ 608356 h 740171"/>
              <a:gd name="connsiteX4" fmla="*/ 300993 w 1175267"/>
              <a:gd name="connsiteY4" fmla="*/ 101578 h 740171"/>
              <a:gd name="connsiteX5" fmla="*/ 730541 w 1175267"/>
              <a:gd name="connsiteY5" fmla="*/ 39135 h 740171"/>
              <a:gd name="connsiteX6" fmla="*/ 1113107 w 1175267"/>
              <a:gd name="connsiteY6" fmla="*/ 236489 h 74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5267" h="740171">
                <a:moveTo>
                  <a:pt x="1175267" y="277935"/>
                </a:moveTo>
                <a:lnTo>
                  <a:pt x="57768" y="740171"/>
                </a:lnTo>
                <a:lnTo>
                  <a:pt x="13310" y="692603"/>
                </a:lnTo>
                <a:cubicBezTo>
                  <a:pt x="194" y="666444"/>
                  <a:pt x="-3614" y="637934"/>
                  <a:pt x="3614" y="608356"/>
                </a:cubicBezTo>
                <a:cubicBezTo>
                  <a:pt x="51112" y="421025"/>
                  <a:pt x="193606" y="216605"/>
                  <a:pt x="300993" y="101578"/>
                </a:cubicBezTo>
                <a:cubicBezTo>
                  <a:pt x="404250" y="-8848"/>
                  <a:pt x="548809" y="-28567"/>
                  <a:pt x="730541" y="39135"/>
                </a:cubicBezTo>
                <a:cubicBezTo>
                  <a:pt x="839994" y="80216"/>
                  <a:pt x="980422" y="154491"/>
                  <a:pt x="1113107" y="236489"/>
                </a:cubicBezTo>
                <a:close/>
              </a:path>
            </a:pathLst>
          </a:custGeom>
          <a:gradFill>
            <a:gsLst>
              <a:gs pos="0">
                <a:srgbClr val="B0D901"/>
              </a:gs>
              <a:gs pos="70000">
                <a:srgbClr val="73B5D7"/>
              </a:gs>
            </a:gsLst>
            <a:lin ang="0" scaled="1"/>
          </a:gradFill>
          <a:ln w="9525" cap="flat">
            <a:noFill/>
            <a:prstDash val="solid"/>
            <a:miter lim="800000"/>
            <a:headEnd/>
            <a:tailEnd/>
          </a:ln>
        </p:spPr>
        <p:txBody>
          <a:bodyPr vert="horz" wrap="square" lIns="91440" tIns="45720" rIns="91440" bIns="45720" numCol="1" anchor="t" anchorCtr="0" compatLnSpc="1">
            <a:prstTxWarp prst="textNoShape">
              <a:avLst/>
            </a:prstTxWarp>
            <a:noAutofit/>
          </a:bodyPr>
          <a:lstStyle/>
          <a:p>
            <a:endParaRPr lang="ru-RU"/>
          </a:p>
        </p:txBody>
      </p:sp>
      <p:sp>
        <p:nvSpPr>
          <p:cNvPr id="6" name="Номер слайда 5">
            <a:extLst>
              <a:ext uri="{FF2B5EF4-FFF2-40B4-BE49-F238E27FC236}">
                <a16:creationId xmlns:a16="http://schemas.microsoft.com/office/drawing/2014/main" id="{52812879-4A0B-421F-A730-4384137DAF06}"/>
              </a:ext>
            </a:extLst>
          </p:cNvPr>
          <p:cNvSpPr>
            <a:spLocks noGrp="1"/>
          </p:cNvSpPr>
          <p:nvPr>
            <p:ph type="sldNum" sz="quarter" idx="12"/>
          </p:nvPr>
        </p:nvSpPr>
        <p:spPr>
          <a:xfrm>
            <a:off x="88202" y="6334919"/>
            <a:ext cx="807741" cy="365125"/>
          </a:xfrm>
        </p:spPr>
        <p:txBody>
          <a:bodyPr/>
          <a:lstStyle>
            <a:lvl1pPr algn="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395987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A696D-1132-B417-D230-84ABFE1A0CF7}"/>
              </a:ext>
            </a:extLst>
          </p:cNvPr>
          <p:cNvSpPr>
            <a:spLocks noGrp="1"/>
          </p:cNvSpPr>
          <p:nvPr>
            <p:ph type="dt" sz="half" idx="10"/>
          </p:nvPr>
        </p:nvSpPr>
        <p:spPr/>
        <p:txBody>
          <a:bodyPr/>
          <a:lstStyle/>
          <a:p>
            <a:fld id="{E654D76E-BC91-4C30-BD87-DDEF40A030B9}" type="datetimeFigureOut">
              <a:rPr lang="en-US" smtClean="0"/>
              <a:t>8/27/2026</a:t>
            </a:fld>
            <a:endParaRPr lang="en-US"/>
          </a:p>
        </p:txBody>
      </p:sp>
      <p:sp>
        <p:nvSpPr>
          <p:cNvPr id="3" name="Footer Placeholder 2">
            <a:extLst>
              <a:ext uri="{FF2B5EF4-FFF2-40B4-BE49-F238E27FC236}">
                <a16:creationId xmlns:a16="http://schemas.microsoft.com/office/drawing/2014/main" id="{AB2FFF11-583D-21E0-4CE8-1212D001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7E85FB-099F-320C-C423-F42AD9546005}"/>
              </a:ext>
            </a:extLst>
          </p:cNvPr>
          <p:cNvSpPr>
            <a:spLocks noGrp="1"/>
          </p:cNvSpPr>
          <p:nvPr>
            <p:ph type="sldNum" sz="quarter" idx="12"/>
          </p:nvPr>
        </p:nvSpPr>
        <p:spPr/>
        <p:txBody>
          <a:bodyPr/>
          <a:lstStyle/>
          <a:p>
            <a:fld id="{43D8F547-B9A0-4BD7-ADD7-907807ED13A7}" type="slidenum">
              <a:rPr lang="en-US" smtClean="0"/>
              <a:t>‹#›</a:t>
            </a:fld>
            <a:endParaRPr lang="en-US"/>
          </a:p>
        </p:txBody>
      </p:sp>
    </p:spTree>
    <p:extLst>
      <p:ext uri="{BB962C8B-B14F-4D97-AF65-F5344CB8AC3E}">
        <p14:creationId xmlns:p14="http://schemas.microsoft.com/office/powerpoint/2010/main" val="4049366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1080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047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Rectangle 5"/>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pic>
        <p:nvPicPr>
          <p:cNvPr id="4" name="Grafik 3">
            <a:extLst>
              <a:ext uri="{FF2B5EF4-FFF2-40B4-BE49-F238E27FC236}">
                <a16:creationId xmlns:a16="http://schemas.microsoft.com/office/drawing/2014/main" id="{F4C228F8-C5FE-4286-B89D-B2A1A654621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044000" y="2391360"/>
            <a:ext cx="4104000" cy="2075280"/>
          </a:xfrm>
          <a:prstGeom prst="rect">
            <a:avLst/>
          </a:prstGeom>
        </p:spPr>
      </p:pic>
    </p:spTree>
    <p:extLst>
      <p:ext uri="{BB962C8B-B14F-4D97-AF65-F5344CB8AC3E}">
        <p14:creationId xmlns:p14="http://schemas.microsoft.com/office/powerpoint/2010/main" val="5231591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2DD0114F-03FB-4D6B-B922-2EE26B37D628}"/>
              </a:ext>
            </a:extLst>
          </p:cNvPr>
          <p:cNvSpPr/>
          <p:nvPr userDrawn="1"/>
        </p:nvSpPr>
        <p:spPr bwMode="gray">
          <a:xfrm>
            <a:off x="0" y="0"/>
            <a:ext cx="12192000" cy="6859983"/>
          </a:xfrm>
          <a:prstGeom prst="rect">
            <a:avLst/>
          </a:prstGeom>
          <a:solidFill>
            <a:schemeClr val="bg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41" name="Freihandform: Form 40">
            <a:extLst>
              <a:ext uri="{FF2B5EF4-FFF2-40B4-BE49-F238E27FC236}">
                <a16:creationId xmlns:a16="http://schemas.microsoft.com/office/drawing/2014/main" id="{EF2117F8-B09E-4640-9CBF-A78E3D245CFB}"/>
              </a:ext>
            </a:extLst>
          </p:cNvPr>
          <p:cNvSpPr/>
          <p:nvPr userDrawn="1"/>
        </p:nvSpPr>
        <p:spPr bwMode="gray">
          <a:xfrm>
            <a:off x="0" y="0"/>
            <a:ext cx="12192000" cy="6859983"/>
          </a:xfrm>
          <a:custGeom>
            <a:avLst/>
            <a:gdLst>
              <a:gd name="connsiteX0" fmla="*/ 0 w 12192000"/>
              <a:gd name="connsiteY0" fmla="*/ 0 h 6859983"/>
              <a:gd name="connsiteX1" fmla="*/ 3027733 w 12192000"/>
              <a:gd name="connsiteY1" fmla="*/ 0 h 6859983"/>
              <a:gd name="connsiteX2" fmla="*/ 3042541 w 12192000"/>
              <a:gd name="connsiteY2" fmla="*/ 92730 h 6859983"/>
              <a:gd name="connsiteX3" fmla="*/ 3003132 w 12192000"/>
              <a:gd name="connsiteY3" fmla="*/ 1019977 h 6859983"/>
              <a:gd name="connsiteX4" fmla="*/ 2998743 w 12192000"/>
              <a:gd name="connsiteY4" fmla="*/ 1040569 h 6859983"/>
              <a:gd name="connsiteX5" fmla="*/ 3421511 w 12192000"/>
              <a:gd name="connsiteY5" fmla="*/ 1873060 h 6859983"/>
              <a:gd name="connsiteX6" fmla="*/ 3449394 w 12192000"/>
              <a:gd name="connsiteY6" fmla="*/ 1886797 h 6859983"/>
              <a:gd name="connsiteX7" fmla="*/ 4524220 w 12192000"/>
              <a:gd name="connsiteY7" fmla="*/ 1664531 h 6859983"/>
              <a:gd name="connsiteX8" fmla="*/ 4541139 w 12192000"/>
              <a:gd name="connsiteY8" fmla="*/ 1644380 h 6859983"/>
              <a:gd name="connsiteX9" fmla="*/ 4941952 w 12192000"/>
              <a:gd name="connsiteY9" fmla="*/ 1242440 h 6859983"/>
              <a:gd name="connsiteX10" fmla="*/ 4949649 w 12192000"/>
              <a:gd name="connsiteY10" fmla="*/ 1235916 h 6859983"/>
              <a:gd name="connsiteX11" fmla="*/ 5020888 w 12192000"/>
              <a:gd name="connsiteY11" fmla="*/ 1176861 h 6859983"/>
              <a:gd name="connsiteX12" fmla="*/ 5049161 w 12192000"/>
              <a:gd name="connsiteY12" fmla="*/ 1153934 h 6859983"/>
              <a:gd name="connsiteX13" fmla="*/ 5102943 w 12192000"/>
              <a:gd name="connsiteY13" fmla="*/ 1112315 h 6859983"/>
              <a:gd name="connsiteX14" fmla="*/ 5150748 w 12192000"/>
              <a:gd name="connsiteY14" fmla="*/ 1076107 h 6859983"/>
              <a:gd name="connsiteX15" fmla="*/ 5189206 w 12192000"/>
              <a:gd name="connsiteY15" fmla="*/ 1047184 h 6859983"/>
              <a:gd name="connsiteX16" fmla="*/ 5254725 w 12192000"/>
              <a:gd name="connsiteY16" fmla="*/ 1001017 h 6859983"/>
              <a:gd name="connsiteX17" fmla="*/ 5263493 w 12192000"/>
              <a:gd name="connsiteY17" fmla="*/ 994722 h 6859983"/>
              <a:gd name="connsiteX18" fmla="*/ 5279430 w 12192000"/>
              <a:gd name="connsiteY18" fmla="*/ 984384 h 6859983"/>
              <a:gd name="connsiteX19" fmla="*/ 5357035 w 12192000"/>
              <a:gd name="connsiteY19" fmla="*/ 933738 h 6859983"/>
              <a:gd name="connsiteX20" fmla="*/ 5369022 w 12192000"/>
              <a:gd name="connsiteY20" fmla="*/ 926275 h 6859983"/>
              <a:gd name="connsiteX21" fmla="*/ 5460141 w 12192000"/>
              <a:gd name="connsiteY21" fmla="*/ 871459 h 6859983"/>
              <a:gd name="connsiteX22" fmla="*/ 6087980 w 12192000"/>
              <a:gd name="connsiteY22" fmla="*/ 579895 h 6859983"/>
              <a:gd name="connsiteX23" fmla="*/ 6094774 w 12192000"/>
              <a:gd name="connsiteY23" fmla="*/ 577631 h 6859983"/>
              <a:gd name="connsiteX24" fmla="*/ 6194739 w 12192000"/>
              <a:gd name="connsiteY24" fmla="*/ 544003 h 6859983"/>
              <a:gd name="connsiteX25" fmla="*/ 6214611 w 12192000"/>
              <a:gd name="connsiteY25" fmla="*/ 537845 h 6859983"/>
              <a:gd name="connsiteX26" fmla="*/ 6302158 w 12192000"/>
              <a:gd name="connsiteY26" fmla="*/ 511964 h 6859983"/>
              <a:gd name="connsiteX27" fmla="*/ 6336886 w 12192000"/>
              <a:gd name="connsiteY27" fmla="*/ 502289 h 6859983"/>
              <a:gd name="connsiteX28" fmla="*/ 6410040 w 12192000"/>
              <a:gd name="connsiteY28" fmla="*/ 482992 h 6859983"/>
              <a:gd name="connsiteX29" fmla="*/ 6460536 w 12192000"/>
              <a:gd name="connsiteY29" fmla="*/ 470742 h 6859983"/>
              <a:gd name="connsiteX30" fmla="*/ 6519092 w 12192000"/>
              <a:gd name="connsiteY30" fmla="*/ 457241 h 6859983"/>
              <a:gd name="connsiteX31" fmla="*/ 6585052 w 12192000"/>
              <a:gd name="connsiteY31" fmla="*/ 443829 h 6859983"/>
              <a:gd name="connsiteX32" fmla="*/ 6629161 w 12192000"/>
              <a:gd name="connsiteY32" fmla="*/ 435413 h 6859983"/>
              <a:gd name="connsiteX33" fmla="*/ 6709368 w 12192000"/>
              <a:gd name="connsiteY33" fmla="*/ 421331 h 6859983"/>
              <a:gd name="connsiteX34" fmla="*/ 6740121 w 12192000"/>
              <a:gd name="connsiteY34" fmla="*/ 416381 h 6859983"/>
              <a:gd name="connsiteX35" fmla="*/ 6832351 w 12192000"/>
              <a:gd name="connsiteY35" fmla="*/ 403375 h 6859983"/>
              <a:gd name="connsiteX36" fmla="*/ 6852177 w 12192000"/>
              <a:gd name="connsiteY36" fmla="*/ 400918 h 6859983"/>
              <a:gd name="connsiteX37" fmla="*/ 6953203 w 12192000"/>
              <a:gd name="connsiteY37" fmla="*/ 390158 h 6859983"/>
              <a:gd name="connsiteX38" fmla="*/ 6965325 w 12192000"/>
              <a:gd name="connsiteY38" fmla="*/ 389030 h 6859983"/>
              <a:gd name="connsiteX39" fmla="*/ 7071732 w 12192000"/>
              <a:gd name="connsiteY39" fmla="*/ 380899 h 6859983"/>
              <a:gd name="connsiteX40" fmla="*/ 7079996 w 12192000"/>
              <a:gd name="connsiteY40" fmla="*/ 380436 h 6859983"/>
              <a:gd name="connsiteX41" fmla="*/ 7187502 w 12192000"/>
              <a:gd name="connsiteY41" fmla="*/ 375882 h 6859983"/>
              <a:gd name="connsiteX42" fmla="*/ 7196122 w 12192000"/>
              <a:gd name="connsiteY42" fmla="*/ 375491 h 6859983"/>
              <a:gd name="connsiteX43" fmla="*/ 7301015 w 12192000"/>
              <a:gd name="connsiteY43" fmla="*/ 374463 h 6859983"/>
              <a:gd name="connsiteX44" fmla="*/ 7314048 w 12192000"/>
              <a:gd name="connsiteY44" fmla="*/ 374273 h 6859983"/>
              <a:gd name="connsiteX45" fmla="*/ 7411921 w 12192000"/>
              <a:gd name="connsiteY45" fmla="*/ 376575 h 6859983"/>
              <a:gd name="connsiteX46" fmla="*/ 7433272 w 12192000"/>
              <a:gd name="connsiteY46" fmla="*/ 377415 h 6859983"/>
              <a:gd name="connsiteX47" fmla="*/ 7521008 w 12192000"/>
              <a:gd name="connsiteY47" fmla="*/ 382010 h 6859983"/>
              <a:gd name="connsiteX48" fmla="*/ 7553945 w 12192000"/>
              <a:gd name="connsiteY48" fmla="*/ 384205 h 6859983"/>
              <a:gd name="connsiteX49" fmla="*/ 7628701 w 12192000"/>
              <a:gd name="connsiteY49" fmla="*/ 390488 h 6859983"/>
              <a:gd name="connsiteX50" fmla="*/ 7658570 w 12192000"/>
              <a:gd name="connsiteY50" fmla="*/ 393144 h 6859983"/>
              <a:gd name="connsiteX51" fmla="*/ 7675615 w 12192000"/>
              <a:gd name="connsiteY51" fmla="*/ 396777 h 6859983"/>
              <a:gd name="connsiteX52" fmla="*/ 7737541 w 12192000"/>
              <a:gd name="connsiteY52" fmla="*/ 404036 h 6859983"/>
              <a:gd name="connsiteX53" fmla="*/ 7801090 w 12192000"/>
              <a:gd name="connsiteY53" fmla="*/ 412384 h 6859983"/>
              <a:gd name="connsiteX54" fmla="*/ 7843085 w 12192000"/>
              <a:gd name="connsiteY54" fmla="*/ 419110 h 6859983"/>
              <a:gd name="connsiteX55" fmla="*/ 7927359 w 12192000"/>
              <a:gd name="connsiteY55" fmla="*/ 432987 h 6859983"/>
              <a:gd name="connsiteX56" fmla="*/ 7945467 w 12192000"/>
              <a:gd name="connsiteY56" fmla="*/ 436846 h 6859983"/>
              <a:gd name="connsiteX57" fmla="*/ 8600879 w 12192000"/>
              <a:gd name="connsiteY57" fmla="*/ 623687 h 6859983"/>
              <a:gd name="connsiteX58" fmla="*/ 8625106 w 12192000"/>
              <a:gd name="connsiteY58" fmla="*/ 633676 h 6859983"/>
              <a:gd name="connsiteX59" fmla="*/ 9677370 w 12192000"/>
              <a:gd name="connsiteY59" fmla="*/ 320483 h 6859983"/>
              <a:gd name="connsiteX60" fmla="*/ 9695345 w 12192000"/>
              <a:gd name="connsiteY60" fmla="*/ 295359 h 6859983"/>
              <a:gd name="connsiteX61" fmla="*/ 9807697 w 12192000"/>
              <a:gd name="connsiteY61" fmla="*/ 69393 h 6859983"/>
              <a:gd name="connsiteX62" fmla="*/ 9822952 w 12192000"/>
              <a:gd name="connsiteY62" fmla="*/ 0 h 6859983"/>
              <a:gd name="connsiteX63" fmla="*/ 12192000 w 12192000"/>
              <a:gd name="connsiteY63" fmla="*/ 0 h 6859983"/>
              <a:gd name="connsiteX64" fmla="*/ 12192000 w 12192000"/>
              <a:gd name="connsiteY64" fmla="*/ 474108 h 6859983"/>
              <a:gd name="connsiteX65" fmla="*/ 12149531 w 12192000"/>
              <a:gd name="connsiteY65" fmla="*/ 477591 h 6859983"/>
              <a:gd name="connsiteX66" fmla="*/ 10941388 w 12192000"/>
              <a:gd name="connsiteY66" fmla="*/ 272908 h 6859983"/>
              <a:gd name="connsiteX67" fmla="*/ 10921758 w 12192000"/>
              <a:gd name="connsiteY67" fmla="*/ 265754 h 6859983"/>
              <a:gd name="connsiteX68" fmla="*/ 10673739 w 12192000"/>
              <a:gd name="connsiteY68" fmla="*/ 217860 h 6859983"/>
              <a:gd name="connsiteX69" fmla="*/ 10028729 w 12192000"/>
              <a:gd name="connsiteY69" fmla="*/ 537171 h 6859983"/>
              <a:gd name="connsiteX70" fmla="*/ 10010678 w 12192000"/>
              <a:gd name="connsiteY70" fmla="*/ 562644 h 6859983"/>
              <a:gd name="connsiteX71" fmla="*/ 10042627 w 12192000"/>
              <a:gd name="connsiteY71" fmla="*/ 1659638 h 6859983"/>
              <a:gd name="connsiteX72" fmla="*/ 10059890 w 12192000"/>
              <a:gd name="connsiteY72" fmla="*/ 1679653 h 6859983"/>
              <a:gd name="connsiteX73" fmla="*/ 10572484 w 12192000"/>
              <a:gd name="connsiteY73" fmla="*/ 2503451 h 6859983"/>
              <a:gd name="connsiteX74" fmla="*/ 10861484 w 12192000"/>
              <a:gd name="connsiteY74" fmla="*/ 3549075 h 6859983"/>
              <a:gd name="connsiteX75" fmla="*/ 10863812 w 12192000"/>
              <a:gd name="connsiteY75" fmla="*/ 3567758 h 6859983"/>
              <a:gd name="connsiteX76" fmla="*/ 10882536 w 12192000"/>
              <a:gd name="connsiteY76" fmla="*/ 3788152 h 6859983"/>
              <a:gd name="connsiteX77" fmla="*/ 10884553 w 12192000"/>
              <a:gd name="connsiteY77" fmla="*/ 3825700 h 6859983"/>
              <a:gd name="connsiteX78" fmla="*/ 10886369 w 12192000"/>
              <a:gd name="connsiteY78" fmla="*/ 3885105 h 6859983"/>
              <a:gd name="connsiteX79" fmla="*/ 10887177 w 12192000"/>
              <a:gd name="connsiteY79" fmla="*/ 3928337 h 6859983"/>
              <a:gd name="connsiteX80" fmla="*/ 10887796 w 12192000"/>
              <a:gd name="connsiteY80" fmla="*/ 3986377 h 6859983"/>
              <a:gd name="connsiteX81" fmla="*/ 10887489 w 12192000"/>
              <a:gd name="connsiteY81" fmla="*/ 4027884 h 6859983"/>
              <a:gd name="connsiteX82" fmla="*/ 10883957 w 12192000"/>
              <a:gd name="connsiteY82" fmla="*/ 4138488 h 6859983"/>
              <a:gd name="connsiteX83" fmla="*/ 10882068 w 12192000"/>
              <a:gd name="connsiteY83" fmla="*/ 4175205 h 6859983"/>
              <a:gd name="connsiteX84" fmla="*/ 10877882 w 12192000"/>
              <a:gd name="connsiteY84" fmla="*/ 4241868 h 6859983"/>
              <a:gd name="connsiteX85" fmla="*/ 10875884 w 12192000"/>
              <a:gd name="connsiteY85" fmla="*/ 4270395 h 6859983"/>
              <a:gd name="connsiteX86" fmla="*/ 10314545 w 12192000"/>
              <a:gd name="connsiteY86" fmla="*/ 5928747 h 6859983"/>
              <a:gd name="connsiteX87" fmla="*/ 10289206 w 12192000"/>
              <a:gd name="connsiteY87" fmla="*/ 5967515 h 6859983"/>
              <a:gd name="connsiteX88" fmla="*/ 10263513 w 12192000"/>
              <a:gd name="connsiteY88" fmla="*/ 6006213 h 6859983"/>
              <a:gd name="connsiteX89" fmla="*/ 10206807 w 12192000"/>
              <a:gd name="connsiteY89" fmla="*/ 6087662 h 6859983"/>
              <a:gd name="connsiteX90" fmla="*/ 10205973 w 12192000"/>
              <a:gd name="connsiteY90" fmla="*/ 6091572 h 6859983"/>
              <a:gd name="connsiteX91" fmla="*/ 9604111 w 12192000"/>
              <a:gd name="connsiteY91" fmla="*/ 6739315 h 6859983"/>
              <a:gd name="connsiteX92" fmla="*/ 9450532 w 12192000"/>
              <a:gd name="connsiteY92" fmla="*/ 6858001 h 6859983"/>
              <a:gd name="connsiteX93" fmla="*/ 12192000 w 12192000"/>
              <a:gd name="connsiteY93" fmla="*/ 6858001 h 6859983"/>
              <a:gd name="connsiteX94" fmla="*/ 12192000 w 12192000"/>
              <a:gd name="connsiteY94" fmla="*/ 6859983 h 6859983"/>
              <a:gd name="connsiteX95" fmla="*/ 0 w 12192000"/>
              <a:gd name="connsiteY95" fmla="*/ 6859983 h 6859983"/>
              <a:gd name="connsiteX96" fmla="*/ 0 w 12192000"/>
              <a:gd name="connsiteY96" fmla="*/ 4409935 h 6859983"/>
              <a:gd name="connsiteX97" fmla="*/ 176030 w 12192000"/>
              <a:gd name="connsiteY97" fmla="*/ 4433416 h 6859983"/>
              <a:gd name="connsiteX98" fmla="*/ 2122430 w 12192000"/>
              <a:gd name="connsiteY98" fmla="*/ 6508958 h 6859983"/>
              <a:gd name="connsiteX99" fmla="*/ 2139246 w 12192000"/>
              <a:gd name="connsiteY99" fmla="*/ 6754020 h 6859983"/>
              <a:gd name="connsiteX100" fmla="*/ 2135867 w 12192000"/>
              <a:gd name="connsiteY100" fmla="*/ 6858001 h 6859983"/>
              <a:gd name="connsiteX101" fmla="*/ 5119582 w 12192000"/>
              <a:gd name="connsiteY101" fmla="*/ 6858001 h 6859983"/>
              <a:gd name="connsiteX102" fmla="*/ 4997148 w 12192000"/>
              <a:gd name="connsiteY102" fmla="*/ 6763600 h 6859983"/>
              <a:gd name="connsiteX103" fmla="*/ 4259188 w 12192000"/>
              <a:gd name="connsiteY103" fmla="*/ 5934625 h 6859983"/>
              <a:gd name="connsiteX104" fmla="*/ 4248292 w 12192000"/>
              <a:gd name="connsiteY104" fmla="*/ 5917826 h 6859983"/>
              <a:gd name="connsiteX105" fmla="*/ 4209561 w 12192000"/>
              <a:gd name="connsiteY105" fmla="*/ 5855749 h 6859983"/>
              <a:gd name="connsiteX106" fmla="*/ 4197008 w 12192000"/>
              <a:gd name="connsiteY106" fmla="*/ 5834514 h 6859983"/>
              <a:gd name="connsiteX107" fmla="*/ 4129918 w 12192000"/>
              <a:gd name="connsiteY107" fmla="*/ 5717394 h 6859983"/>
              <a:gd name="connsiteX108" fmla="*/ 4118637 w 12192000"/>
              <a:gd name="connsiteY108" fmla="*/ 5697173 h 6859983"/>
              <a:gd name="connsiteX109" fmla="*/ 4089365 w 12192000"/>
              <a:gd name="connsiteY109" fmla="*/ 5641196 h 6859983"/>
              <a:gd name="connsiteX110" fmla="*/ 4072346 w 12192000"/>
              <a:gd name="connsiteY110" fmla="*/ 5607871 h 6859983"/>
              <a:gd name="connsiteX111" fmla="*/ 4044009 w 12192000"/>
              <a:gd name="connsiteY111" fmla="*/ 5550978 h 6859983"/>
              <a:gd name="connsiteX112" fmla="*/ 4030766 w 12192000"/>
              <a:gd name="connsiteY112" fmla="*/ 5522545 h 6859983"/>
              <a:gd name="connsiteX113" fmla="*/ 3939922 w 12192000"/>
              <a:gd name="connsiteY113" fmla="*/ 5313133 h 6859983"/>
              <a:gd name="connsiteX114" fmla="*/ 3934401 w 12192000"/>
              <a:gd name="connsiteY114" fmla="*/ 5298962 h 6859983"/>
              <a:gd name="connsiteX115" fmla="*/ 3755190 w 12192000"/>
              <a:gd name="connsiteY115" fmla="*/ 3271559 h 6859983"/>
              <a:gd name="connsiteX116" fmla="*/ 3760639 w 12192000"/>
              <a:gd name="connsiteY116" fmla="*/ 3245995 h 6859983"/>
              <a:gd name="connsiteX117" fmla="*/ 3269830 w 12192000"/>
              <a:gd name="connsiteY117" fmla="*/ 2264259 h 6859983"/>
              <a:gd name="connsiteX118" fmla="*/ 3241594 w 12192000"/>
              <a:gd name="connsiteY118" fmla="*/ 2250447 h 6859983"/>
              <a:gd name="connsiteX119" fmla="*/ 2875628 w 12192000"/>
              <a:gd name="connsiteY119" fmla="*/ 2173713 h 6859983"/>
              <a:gd name="connsiteX120" fmla="*/ 2326464 w 12192000"/>
              <a:gd name="connsiteY120" fmla="*/ 2434001 h 6859983"/>
              <a:gd name="connsiteX121" fmla="*/ 2312662 w 12192000"/>
              <a:gd name="connsiteY121" fmla="*/ 2449990 h 6859983"/>
              <a:gd name="connsiteX122" fmla="*/ 103767 w 12192000"/>
              <a:gd name="connsiteY122" fmla="*/ 3520567 h 6859983"/>
              <a:gd name="connsiteX123" fmla="*/ 0 w 12192000"/>
              <a:gd name="connsiteY123" fmla="*/ 3520830 h 6859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2000" h="6859983">
                <a:moveTo>
                  <a:pt x="0" y="0"/>
                </a:moveTo>
                <a:lnTo>
                  <a:pt x="3027733" y="0"/>
                </a:lnTo>
                <a:lnTo>
                  <a:pt x="3042541" y="92730"/>
                </a:lnTo>
                <a:cubicBezTo>
                  <a:pt x="3075577" y="394506"/>
                  <a:pt x="3064280" y="706317"/>
                  <a:pt x="3003132" y="1019977"/>
                </a:cubicBezTo>
                <a:cubicBezTo>
                  <a:pt x="3001619" y="1027076"/>
                  <a:pt x="3000180" y="1033824"/>
                  <a:pt x="2998743" y="1040569"/>
                </a:cubicBezTo>
                <a:cubicBezTo>
                  <a:pt x="2936838" y="1381490"/>
                  <a:pt x="3109630" y="1721952"/>
                  <a:pt x="3421511" y="1873060"/>
                </a:cubicBezTo>
                <a:lnTo>
                  <a:pt x="3449394" y="1886797"/>
                </a:lnTo>
                <a:cubicBezTo>
                  <a:pt x="3816757" y="2064952"/>
                  <a:pt x="4257872" y="1973751"/>
                  <a:pt x="4524220" y="1664531"/>
                </a:cubicBezTo>
                <a:cubicBezTo>
                  <a:pt x="4530071" y="1657979"/>
                  <a:pt x="4535566" y="1651357"/>
                  <a:pt x="4541139" y="1644380"/>
                </a:cubicBezTo>
                <a:cubicBezTo>
                  <a:pt x="4663650" y="1499747"/>
                  <a:pt x="4797709" y="1365368"/>
                  <a:pt x="4941952" y="1242440"/>
                </a:cubicBezTo>
                <a:cubicBezTo>
                  <a:pt x="4944329" y="1239978"/>
                  <a:pt x="4946993" y="1237945"/>
                  <a:pt x="4949649" y="1235916"/>
                </a:cubicBezTo>
                <a:cubicBezTo>
                  <a:pt x="4972905" y="1215630"/>
                  <a:pt x="4996719" y="1196206"/>
                  <a:pt x="5020888" y="1176861"/>
                </a:cubicBezTo>
                <a:lnTo>
                  <a:pt x="5049161" y="1153934"/>
                </a:lnTo>
                <a:cubicBezTo>
                  <a:pt x="5066991" y="1139918"/>
                  <a:pt x="5084829" y="1125904"/>
                  <a:pt x="5102943" y="1112315"/>
                </a:cubicBezTo>
                <a:lnTo>
                  <a:pt x="5150748" y="1076107"/>
                </a:lnTo>
                <a:lnTo>
                  <a:pt x="5189206" y="1047184"/>
                </a:lnTo>
                <a:cubicBezTo>
                  <a:pt x="5210690" y="1031723"/>
                  <a:pt x="5232530" y="1016332"/>
                  <a:pt x="5254725" y="1001017"/>
                </a:cubicBezTo>
                <a:lnTo>
                  <a:pt x="5263493" y="994722"/>
                </a:lnTo>
                <a:lnTo>
                  <a:pt x="5279430" y="984384"/>
                </a:lnTo>
                <a:cubicBezTo>
                  <a:pt x="5304993" y="967192"/>
                  <a:pt x="5330837" y="950430"/>
                  <a:pt x="5357035" y="933738"/>
                </a:cubicBezTo>
                <a:lnTo>
                  <a:pt x="5369022" y="926275"/>
                </a:lnTo>
                <a:cubicBezTo>
                  <a:pt x="5398951" y="907783"/>
                  <a:pt x="5429228" y="889365"/>
                  <a:pt x="5460141" y="871459"/>
                </a:cubicBezTo>
                <a:cubicBezTo>
                  <a:pt x="5659561" y="754351"/>
                  <a:pt x="5869704" y="656607"/>
                  <a:pt x="6087980" y="579895"/>
                </a:cubicBezTo>
                <a:lnTo>
                  <a:pt x="6094774" y="577631"/>
                </a:lnTo>
                <a:cubicBezTo>
                  <a:pt x="6127874" y="566871"/>
                  <a:pt x="6161279" y="554688"/>
                  <a:pt x="6194739" y="544003"/>
                </a:cubicBezTo>
                <a:lnTo>
                  <a:pt x="6214611" y="537845"/>
                </a:lnTo>
                <a:cubicBezTo>
                  <a:pt x="6243632" y="528811"/>
                  <a:pt x="6272577" y="520136"/>
                  <a:pt x="6302158" y="511964"/>
                </a:cubicBezTo>
                <a:lnTo>
                  <a:pt x="6336886" y="502289"/>
                </a:lnTo>
                <a:cubicBezTo>
                  <a:pt x="6361321" y="495621"/>
                  <a:pt x="6385755" y="488954"/>
                  <a:pt x="6410040" y="482992"/>
                </a:cubicBezTo>
                <a:lnTo>
                  <a:pt x="6460536" y="470742"/>
                </a:lnTo>
                <a:lnTo>
                  <a:pt x="6519092" y="457241"/>
                </a:lnTo>
                <a:lnTo>
                  <a:pt x="6585052" y="443829"/>
                </a:lnTo>
                <a:cubicBezTo>
                  <a:pt x="6599754" y="441027"/>
                  <a:pt x="6614533" y="437865"/>
                  <a:pt x="6629161" y="435413"/>
                </a:cubicBezTo>
                <a:cubicBezTo>
                  <a:pt x="6655856" y="430342"/>
                  <a:pt x="6682473" y="425621"/>
                  <a:pt x="6709368" y="421331"/>
                </a:cubicBezTo>
                <a:lnTo>
                  <a:pt x="6740121" y="416381"/>
                </a:lnTo>
                <a:lnTo>
                  <a:pt x="6832351" y="403375"/>
                </a:lnTo>
                <a:lnTo>
                  <a:pt x="6852177" y="400918"/>
                </a:lnTo>
                <a:cubicBezTo>
                  <a:pt x="6885693" y="396923"/>
                  <a:pt x="6919483" y="393365"/>
                  <a:pt x="6953203" y="390158"/>
                </a:cubicBezTo>
                <a:lnTo>
                  <a:pt x="6965325" y="389030"/>
                </a:lnTo>
                <a:cubicBezTo>
                  <a:pt x="7000538" y="385770"/>
                  <a:pt x="7034257" y="382563"/>
                  <a:pt x="7071732" y="380899"/>
                </a:cubicBezTo>
                <a:lnTo>
                  <a:pt x="7079996" y="380436"/>
                </a:lnTo>
                <a:cubicBezTo>
                  <a:pt x="7115697" y="378394"/>
                  <a:pt x="7150255" y="376480"/>
                  <a:pt x="7187502" y="375882"/>
                </a:cubicBezTo>
                <a:lnTo>
                  <a:pt x="7196122" y="375491"/>
                </a:lnTo>
                <a:cubicBezTo>
                  <a:pt x="7231159" y="374794"/>
                  <a:pt x="7263994" y="373999"/>
                  <a:pt x="7301015" y="374463"/>
                </a:cubicBezTo>
                <a:lnTo>
                  <a:pt x="7314048" y="374273"/>
                </a:lnTo>
                <a:cubicBezTo>
                  <a:pt x="7346655" y="374540"/>
                  <a:pt x="7379109" y="375522"/>
                  <a:pt x="7411921" y="376575"/>
                </a:cubicBezTo>
                <a:lnTo>
                  <a:pt x="7433272" y="377415"/>
                </a:lnTo>
                <a:cubicBezTo>
                  <a:pt x="7462380" y="378422"/>
                  <a:pt x="7491695" y="380217"/>
                  <a:pt x="7521008" y="382010"/>
                </a:cubicBezTo>
                <a:lnTo>
                  <a:pt x="7553945" y="384205"/>
                </a:lnTo>
                <a:lnTo>
                  <a:pt x="7628701" y="390488"/>
                </a:lnTo>
                <a:lnTo>
                  <a:pt x="7658570" y="393144"/>
                </a:lnTo>
                <a:lnTo>
                  <a:pt x="7675615" y="396777"/>
                </a:lnTo>
                <a:lnTo>
                  <a:pt x="7737541" y="404036"/>
                </a:lnTo>
                <a:lnTo>
                  <a:pt x="7801090" y="412384"/>
                </a:lnTo>
                <a:lnTo>
                  <a:pt x="7843085" y="419110"/>
                </a:lnTo>
                <a:cubicBezTo>
                  <a:pt x="7871159" y="423236"/>
                  <a:pt x="7899662" y="427083"/>
                  <a:pt x="7927359" y="432987"/>
                </a:cubicBezTo>
                <a:lnTo>
                  <a:pt x="7945467" y="436846"/>
                </a:lnTo>
                <a:cubicBezTo>
                  <a:pt x="8169373" y="478263"/>
                  <a:pt x="8388852" y="540632"/>
                  <a:pt x="8600879" y="623687"/>
                </a:cubicBezTo>
                <a:lnTo>
                  <a:pt x="8625106" y="633676"/>
                </a:lnTo>
                <a:cubicBezTo>
                  <a:pt x="9006335" y="779522"/>
                  <a:pt x="9438089" y="651065"/>
                  <a:pt x="9677370" y="320483"/>
                </a:cubicBezTo>
                <a:lnTo>
                  <a:pt x="9695345" y="295359"/>
                </a:lnTo>
                <a:cubicBezTo>
                  <a:pt x="9745982" y="225234"/>
                  <a:pt x="9783408" y="148812"/>
                  <a:pt x="9807697" y="69393"/>
                </a:cubicBezTo>
                <a:lnTo>
                  <a:pt x="9822952" y="0"/>
                </a:lnTo>
                <a:lnTo>
                  <a:pt x="12192000" y="0"/>
                </a:lnTo>
                <a:lnTo>
                  <a:pt x="12192000" y="474108"/>
                </a:lnTo>
                <a:lnTo>
                  <a:pt x="12149531" y="477591"/>
                </a:lnTo>
                <a:cubicBezTo>
                  <a:pt x="11748908" y="490848"/>
                  <a:pt x="11339068" y="425786"/>
                  <a:pt x="10941388" y="272908"/>
                </a:cubicBezTo>
                <a:lnTo>
                  <a:pt x="10921758" y="265754"/>
                </a:lnTo>
                <a:cubicBezTo>
                  <a:pt x="10840557" y="235641"/>
                  <a:pt x="10756828" y="219998"/>
                  <a:pt x="10673739" y="217860"/>
                </a:cubicBezTo>
                <a:cubicBezTo>
                  <a:pt x="10424472" y="211448"/>
                  <a:pt x="10180963" y="326579"/>
                  <a:pt x="10028729" y="537171"/>
                </a:cubicBezTo>
                <a:lnTo>
                  <a:pt x="10010678" y="562644"/>
                </a:lnTo>
                <a:cubicBezTo>
                  <a:pt x="9771468" y="893242"/>
                  <a:pt x="9784626" y="1343331"/>
                  <a:pt x="10042627" y="1659638"/>
                </a:cubicBezTo>
                <a:cubicBezTo>
                  <a:pt x="10048238" y="1666402"/>
                  <a:pt x="10053849" y="1673167"/>
                  <a:pt x="10059890" y="1679653"/>
                </a:cubicBezTo>
                <a:cubicBezTo>
                  <a:pt x="10267281" y="1929865"/>
                  <a:pt x="10439766" y="2206793"/>
                  <a:pt x="10572484" y="2503451"/>
                </a:cubicBezTo>
                <a:cubicBezTo>
                  <a:pt x="10720780" y="2835351"/>
                  <a:pt x="10818190" y="3187960"/>
                  <a:pt x="10861484" y="3549075"/>
                </a:cubicBezTo>
                <a:cubicBezTo>
                  <a:pt x="10862405" y="3555206"/>
                  <a:pt x="10862968" y="3561266"/>
                  <a:pt x="10863812" y="3567758"/>
                </a:cubicBezTo>
                <a:cubicBezTo>
                  <a:pt x="10872361" y="3640846"/>
                  <a:pt x="10878853" y="3713129"/>
                  <a:pt x="10882536" y="3788152"/>
                </a:cubicBezTo>
                <a:lnTo>
                  <a:pt x="10884553" y="3825700"/>
                </a:lnTo>
                <a:lnTo>
                  <a:pt x="10886369" y="3885105"/>
                </a:lnTo>
                <a:lnTo>
                  <a:pt x="10887177" y="3928337"/>
                </a:lnTo>
                <a:cubicBezTo>
                  <a:pt x="10887199" y="3949131"/>
                  <a:pt x="10887757" y="3972635"/>
                  <a:pt x="10887796" y="3986377"/>
                </a:cubicBezTo>
                <a:cubicBezTo>
                  <a:pt x="10887838" y="4000120"/>
                  <a:pt x="10887523" y="4013786"/>
                  <a:pt x="10887489" y="4027884"/>
                </a:cubicBezTo>
                <a:cubicBezTo>
                  <a:pt x="10886666" y="4064827"/>
                  <a:pt x="10885845" y="4101772"/>
                  <a:pt x="10883957" y="4138488"/>
                </a:cubicBezTo>
                <a:cubicBezTo>
                  <a:pt x="10883363" y="4151724"/>
                  <a:pt x="10882716" y="4163463"/>
                  <a:pt x="10882068" y="4175205"/>
                </a:cubicBezTo>
                <a:cubicBezTo>
                  <a:pt x="10881004" y="4197620"/>
                  <a:pt x="10879582" y="4219959"/>
                  <a:pt x="10877882" y="4241868"/>
                </a:cubicBezTo>
                <a:cubicBezTo>
                  <a:pt x="10877334" y="4251401"/>
                  <a:pt x="10877852" y="4261163"/>
                  <a:pt x="10875884" y="4270395"/>
                </a:cubicBezTo>
                <a:cubicBezTo>
                  <a:pt x="10828816" y="4860945"/>
                  <a:pt x="10635932" y="5430814"/>
                  <a:pt x="10314545" y="5928747"/>
                </a:cubicBezTo>
                <a:cubicBezTo>
                  <a:pt x="10306192" y="5941810"/>
                  <a:pt x="10297560" y="5954448"/>
                  <a:pt x="10289206" y="5967515"/>
                </a:cubicBezTo>
                <a:cubicBezTo>
                  <a:pt x="10280854" y="5980584"/>
                  <a:pt x="10272145" y="5993576"/>
                  <a:pt x="10263513" y="6006213"/>
                </a:cubicBezTo>
                <a:cubicBezTo>
                  <a:pt x="10244652" y="6033743"/>
                  <a:pt x="10225869" y="6060918"/>
                  <a:pt x="10206807" y="6087662"/>
                </a:cubicBezTo>
                <a:lnTo>
                  <a:pt x="10205973" y="6091572"/>
                </a:lnTo>
                <a:cubicBezTo>
                  <a:pt x="10031669" y="6332951"/>
                  <a:pt x="9829223" y="6550166"/>
                  <a:pt x="9604111" y="6739315"/>
                </a:cubicBezTo>
                <a:lnTo>
                  <a:pt x="9450532" y="6858001"/>
                </a:lnTo>
                <a:lnTo>
                  <a:pt x="12192000" y="6858001"/>
                </a:lnTo>
                <a:lnTo>
                  <a:pt x="12192000" y="6859983"/>
                </a:lnTo>
                <a:lnTo>
                  <a:pt x="0" y="6859983"/>
                </a:lnTo>
                <a:lnTo>
                  <a:pt x="0" y="4409935"/>
                </a:lnTo>
                <a:lnTo>
                  <a:pt x="176030" y="4433416"/>
                </a:lnTo>
                <a:cubicBezTo>
                  <a:pt x="1182032" y="4619064"/>
                  <a:pt x="1994513" y="5439642"/>
                  <a:pt x="2122430" y="6508958"/>
                </a:cubicBezTo>
                <a:cubicBezTo>
                  <a:pt x="2132260" y="6591194"/>
                  <a:pt x="2137807" y="6672956"/>
                  <a:pt x="2139246" y="6754020"/>
                </a:cubicBezTo>
                <a:lnTo>
                  <a:pt x="2135867" y="6858001"/>
                </a:lnTo>
                <a:lnTo>
                  <a:pt x="5119582" y="6858001"/>
                </a:lnTo>
                <a:lnTo>
                  <a:pt x="4997148" y="6763600"/>
                </a:lnTo>
                <a:cubicBezTo>
                  <a:pt x="4710638" y="6528130"/>
                  <a:pt x="4461358" y="6248687"/>
                  <a:pt x="4259188" y="5934625"/>
                </a:cubicBezTo>
                <a:lnTo>
                  <a:pt x="4248292" y="5917826"/>
                </a:lnTo>
                <a:cubicBezTo>
                  <a:pt x="4235010" y="5898292"/>
                  <a:pt x="4222182" y="5876627"/>
                  <a:pt x="4209561" y="5855749"/>
                </a:cubicBezTo>
                <a:lnTo>
                  <a:pt x="4197008" y="5834514"/>
                </a:lnTo>
                <a:cubicBezTo>
                  <a:pt x="4174071" y="5795845"/>
                  <a:pt x="4151564" y="5756902"/>
                  <a:pt x="4129918" y="5717394"/>
                </a:cubicBezTo>
                <a:lnTo>
                  <a:pt x="4118637" y="5697173"/>
                </a:lnTo>
                <a:lnTo>
                  <a:pt x="4089365" y="5641196"/>
                </a:lnTo>
                <a:cubicBezTo>
                  <a:pt x="4083599" y="5629943"/>
                  <a:pt x="4077758" y="5619048"/>
                  <a:pt x="4072346" y="5607871"/>
                </a:cubicBezTo>
                <a:cubicBezTo>
                  <a:pt x="4062613" y="5589095"/>
                  <a:pt x="4053310" y="5570034"/>
                  <a:pt x="4044009" y="5550978"/>
                </a:cubicBezTo>
                <a:lnTo>
                  <a:pt x="4030766" y="5522545"/>
                </a:lnTo>
                <a:cubicBezTo>
                  <a:pt x="3998317" y="5453639"/>
                  <a:pt x="3967937" y="5383691"/>
                  <a:pt x="3939922" y="5313133"/>
                </a:cubicBezTo>
                <a:cubicBezTo>
                  <a:pt x="3937988" y="5308263"/>
                  <a:pt x="3935982" y="5303753"/>
                  <a:pt x="3934401" y="5298962"/>
                </a:cubicBezTo>
                <a:cubicBezTo>
                  <a:pt x="3680504" y="4654656"/>
                  <a:pt x="3618252" y="3950598"/>
                  <a:pt x="3755190" y="3271559"/>
                </a:cubicBezTo>
                <a:cubicBezTo>
                  <a:pt x="3757006" y="3263037"/>
                  <a:pt x="3758822" y="3254516"/>
                  <a:pt x="3760639" y="3245995"/>
                </a:cubicBezTo>
                <a:cubicBezTo>
                  <a:pt x="3838603" y="2845396"/>
                  <a:pt x="3637198" y="2442411"/>
                  <a:pt x="3269830" y="2264259"/>
                </a:cubicBezTo>
                <a:lnTo>
                  <a:pt x="3241594" y="2250447"/>
                </a:lnTo>
                <a:cubicBezTo>
                  <a:pt x="3124771" y="2193809"/>
                  <a:pt x="2999136" y="2168962"/>
                  <a:pt x="2875628" y="2173713"/>
                </a:cubicBezTo>
                <a:cubicBezTo>
                  <a:pt x="2669782" y="2181633"/>
                  <a:pt x="2469846" y="2271775"/>
                  <a:pt x="2326464" y="2434001"/>
                </a:cubicBezTo>
                <a:lnTo>
                  <a:pt x="2312662" y="2449990"/>
                </a:lnTo>
                <a:cubicBezTo>
                  <a:pt x="1741349" y="3113513"/>
                  <a:pt x="935526" y="3484765"/>
                  <a:pt x="103767" y="3520567"/>
                </a:cubicBezTo>
                <a:lnTo>
                  <a:pt x="0" y="3520830"/>
                </a:ln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28" name="Freihandform: Form 27">
            <a:extLst>
              <a:ext uri="{FF2B5EF4-FFF2-40B4-BE49-F238E27FC236}">
                <a16:creationId xmlns:a16="http://schemas.microsoft.com/office/drawing/2014/main" id="{6AF4B39F-77E3-4B43-9442-F486EDAC4C60}"/>
              </a:ext>
            </a:extLst>
          </p:cNvPr>
          <p:cNvSpPr/>
          <p:nvPr userDrawn="1"/>
        </p:nvSpPr>
        <p:spPr bwMode="gray">
          <a:xfrm>
            <a:off x="2" y="2"/>
            <a:ext cx="12191999" cy="6862697"/>
          </a:xfrm>
          <a:custGeom>
            <a:avLst/>
            <a:gdLst>
              <a:gd name="connsiteX0" fmla="*/ 12191999 w 12191999"/>
              <a:gd name="connsiteY0" fmla="*/ 2251579 h 6862697"/>
              <a:gd name="connsiteX1" fmla="*/ 12191999 w 12191999"/>
              <a:gd name="connsiteY1" fmla="*/ 6862697 h 6862697"/>
              <a:gd name="connsiteX2" fmla="*/ 6067946 w 12191999"/>
              <a:gd name="connsiteY2" fmla="*/ 6862697 h 6862697"/>
              <a:gd name="connsiteX3" fmla="*/ 6134284 w 12191999"/>
              <a:gd name="connsiteY3" fmla="*/ 6774576 h 6862697"/>
              <a:gd name="connsiteX4" fmla="*/ 7009041 w 12191999"/>
              <a:gd name="connsiteY4" fmla="*/ 6366151 h 6862697"/>
              <a:gd name="connsiteX5" fmla="*/ 7044407 w 12191999"/>
              <a:gd name="connsiteY5" fmla="*/ 6366035 h 6862697"/>
              <a:gd name="connsiteX6" fmla="*/ 7957935 w 12191999"/>
              <a:gd name="connsiteY6" fmla="*/ 6258988 h 6862697"/>
              <a:gd name="connsiteX7" fmla="*/ 7982500 w 12191999"/>
              <a:gd name="connsiteY7" fmla="*/ 6254408 h 6862697"/>
              <a:gd name="connsiteX8" fmla="*/ 8094700 w 12191999"/>
              <a:gd name="connsiteY8" fmla="*/ 6227999 h 6862697"/>
              <a:gd name="connsiteX9" fmla="*/ 8150513 w 12191999"/>
              <a:gd name="connsiteY9" fmla="*/ 6214604 h 6862697"/>
              <a:gd name="connsiteX10" fmla="*/ 8234027 w 12191999"/>
              <a:gd name="connsiteY10" fmla="*/ 6192054 h 6862697"/>
              <a:gd name="connsiteX11" fmla="*/ 8314949 w 12191999"/>
              <a:gd name="connsiteY11" fmla="*/ 6168987 h 6862697"/>
              <a:gd name="connsiteX12" fmla="*/ 8338069 w 12191999"/>
              <a:gd name="connsiteY12" fmla="*/ 6164676 h 6862697"/>
              <a:gd name="connsiteX13" fmla="*/ 8376665 w 12191999"/>
              <a:gd name="connsiteY13" fmla="*/ 6152497 h 6862697"/>
              <a:gd name="connsiteX14" fmla="*/ 8473068 w 12191999"/>
              <a:gd name="connsiteY14" fmla="*/ 6121563 h 6862697"/>
              <a:gd name="connsiteX15" fmla="*/ 8515246 w 12191999"/>
              <a:gd name="connsiteY15" fmla="*/ 6107217 h 6862697"/>
              <a:gd name="connsiteX16" fmla="*/ 8626948 w 12191999"/>
              <a:gd name="connsiteY16" fmla="*/ 6067449 h 6862697"/>
              <a:gd name="connsiteX17" fmla="*/ 8653986 w 12191999"/>
              <a:gd name="connsiteY17" fmla="*/ 6057426 h 6862697"/>
              <a:gd name="connsiteX18" fmla="*/ 8777130 w 12191999"/>
              <a:gd name="connsiteY18" fmla="*/ 6009544 h 6862697"/>
              <a:gd name="connsiteX19" fmla="*/ 8793271 w 12191999"/>
              <a:gd name="connsiteY19" fmla="*/ 6002548 h 6862697"/>
              <a:gd name="connsiteX20" fmla="*/ 8923435 w 12191999"/>
              <a:gd name="connsiteY20" fmla="*/ 5946878 h 6862697"/>
              <a:gd name="connsiteX21" fmla="*/ 8933973 w 12191999"/>
              <a:gd name="connsiteY21" fmla="*/ 5941921 h 6862697"/>
              <a:gd name="connsiteX22" fmla="*/ 9065565 w 12191999"/>
              <a:gd name="connsiteY22" fmla="*/ 5880501 h 6862697"/>
              <a:gd name="connsiteX23" fmla="*/ 9075621 w 12191999"/>
              <a:gd name="connsiteY23" fmla="*/ 5875639 h 6862697"/>
              <a:gd name="connsiteX24" fmla="*/ 9203988 w 12191999"/>
              <a:gd name="connsiteY24" fmla="*/ 5810332 h 6862697"/>
              <a:gd name="connsiteX25" fmla="*/ 9218507 w 12191999"/>
              <a:gd name="connsiteY25" fmla="*/ 5802643 h 6862697"/>
              <a:gd name="connsiteX26" fmla="*/ 9338807 w 12191999"/>
              <a:gd name="connsiteY26" fmla="*/ 5736850 h 6862697"/>
              <a:gd name="connsiteX27" fmla="*/ 9362236 w 12191999"/>
              <a:gd name="connsiteY27" fmla="*/ 5723508 h 6862697"/>
              <a:gd name="connsiteX28" fmla="*/ 9470411 w 12191999"/>
              <a:gd name="connsiteY28" fmla="*/ 5659478 h 6862697"/>
              <a:gd name="connsiteX29" fmla="*/ 9506162 w 12191999"/>
              <a:gd name="connsiteY29" fmla="*/ 5637365 h 6862697"/>
              <a:gd name="connsiteX30" fmla="*/ 9598798 w 12191999"/>
              <a:gd name="connsiteY30" fmla="*/ 5578227 h 6862697"/>
              <a:gd name="connsiteX31" fmla="*/ 9649395 w 12191999"/>
              <a:gd name="connsiteY31" fmla="*/ 5544871 h 6862697"/>
              <a:gd name="connsiteX32" fmla="*/ 9724626 w 12191999"/>
              <a:gd name="connsiteY32" fmla="*/ 5493956 h 6862697"/>
              <a:gd name="connsiteX33" fmla="*/ 9790587 w 12191999"/>
              <a:gd name="connsiteY33" fmla="*/ 5446771 h 6862697"/>
              <a:gd name="connsiteX34" fmla="*/ 9847153 w 12191999"/>
              <a:gd name="connsiteY34" fmla="*/ 5405324 h 6862697"/>
              <a:gd name="connsiteX35" fmla="*/ 9928297 w 12191999"/>
              <a:gd name="connsiteY35" fmla="*/ 5343347 h 6862697"/>
              <a:gd name="connsiteX36" fmla="*/ 9966549 w 12191999"/>
              <a:gd name="connsiteY36" fmla="*/ 5313283 h 6862697"/>
              <a:gd name="connsiteX37" fmla="*/ 10062215 w 12191999"/>
              <a:gd name="connsiteY37" fmla="*/ 5235641 h 6862697"/>
              <a:gd name="connsiteX38" fmla="*/ 10083781 w 12191999"/>
              <a:gd name="connsiteY38" fmla="*/ 5217662 h 6862697"/>
              <a:gd name="connsiteX39" fmla="*/ 10190902 w 12191999"/>
              <a:gd name="connsiteY39" fmla="*/ 5123926 h 6862697"/>
              <a:gd name="connsiteX40" fmla="*/ 10198193 w 12191999"/>
              <a:gd name="connsiteY40" fmla="*/ 5117584 h 6862697"/>
              <a:gd name="connsiteX41" fmla="*/ 10829297 w 12191999"/>
              <a:gd name="connsiteY41" fmla="*/ 4428741 h 6862697"/>
              <a:gd name="connsiteX42" fmla="*/ 10914408 w 12191999"/>
              <a:gd name="connsiteY42" fmla="*/ 4313191 h 6862697"/>
              <a:gd name="connsiteX43" fmla="*/ 10925472 w 12191999"/>
              <a:gd name="connsiteY43" fmla="*/ 4297678 h 6862697"/>
              <a:gd name="connsiteX44" fmla="*/ 10995907 w 12191999"/>
              <a:gd name="connsiteY44" fmla="*/ 4194331 h 6862697"/>
              <a:gd name="connsiteX45" fmla="*/ 11010405 w 12191999"/>
              <a:gd name="connsiteY45" fmla="*/ 4173187 h 6862697"/>
              <a:gd name="connsiteX46" fmla="*/ 11018067 w 12191999"/>
              <a:gd name="connsiteY46" fmla="*/ 4160796 h 6862697"/>
              <a:gd name="connsiteX47" fmla="*/ 11075764 w 12191999"/>
              <a:gd name="connsiteY47" fmla="*/ 4069298 h 6862697"/>
              <a:gd name="connsiteX48" fmla="*/ 11108686 w 12191999"/>
              <a:gd name="connsiteY48" fmla="*/ 4013319 h 6862697"/>
              <a:gd name="connsiteX49" fmla="*/ 11149476 w 12191999"/>
              <a:gd name="connsiteY49" fmla="*/ 3943414 h 6862697"/>
              <a:gd name="connsiteX50" fmla="*/ 11194909 w 12191999"/>
              <a:gd name="connsiteY50" fmla="*/ 3863669 h 6862697"/>
              <a:gd name="connsiteX51" fmla="*/ 11218247 w 12191999"/>
              <a:gd name="connsiteY51" fmla="*/ 3820441 h 6862697"/>
              <a:gd name="connsiteX52" fmla="*/ 11276389 w 12191999"/>
              <a:gd name="connsiteY52" fmla="*/ 3709921 h 6862697"/>
              <a:gd name="connsiteX53" fmla="*/ 11282597 w 12191999"/>
              <a:gd name="connsiteY53" fmla="*/ 3697800 h 6862697"/>
              <a:gd name="connsiteX54" fmla="*/ 11573592 w 12191999"/>
              <a:gd name="connsiteY54" fmla="*/ 2989149 h 6862697"/>
              <a:gd name="connsiteX55" fmla="*/ 11584224 w 12191999"/>
              <a:gd name="connsiteY55" fmla="*/ 2955267 h 6862697"/>
              <a:gd name="connsiteX56" fmla="*/ 12054247 w 12191999"/>
              <a:gd name="connsiteY56" fmla="*/ 2330045 h 6862697"/>
              <a:gd name="connsiteX57" fmla="*/ 11562019 w 12191999"/>
              <a:gd name="connsiteY57" fmla="*/ 0 h 6862697"/>
              <a:gd name="connsiteX58" fmla="*/ 12191999 w 12191999"/>
              <a:gd name="connsiteY58" fmla="*/ 0 h 6862697"/>
              <a:gd name="connsiteX59" fmla="*/ 12191999 w 12191999"/>
              <a:gd name="connsiteY59" fmla="*/ 1323014 h 6862697"/>
              <a:gd name="connsiteX60" fmla="*/ 12111088 w 12191999"/>
              <a:gd name="connsiteY60" fmla="*/ 1263725 h 6862697"/>
              <a:gd name="connsiteX61" fmla="*/ 11715611 w 12191999"/>
              <a:gd name="connsiteY61" fmla="*/ 588818 h 6862697"/>
              <a:gd name="connsiteX62" fmla="*/ 11709145 w 12191999"/>
              <a:gd name="connsiteY62" fmla="*/ 554142 h 6862697"/>
              <a:gd name="connsiteX63" fmla="*/ 11628953 w 12191999"/>
              <a:gd name="connsiteY63" fmla="*/ 213811 h 6862697"/>
              <a:gd name="connsiteX64" fmla="*/ 0 w 12191999"/>
              <a:gd name="connsiteY64" fmla="*/ 0 h 6862697"/>
              <a:gd name="connsiteX65" fmla="*/ 2316798 w 12191999"/>
              <a:gd name="connsiteY65" fmla="*/ 0 h 6862697"/>
              <a:gd name="connsiteX66" fmla="*/ 2209189 w 12191999"/>
              <a:gd name="connsiteY66" fmla="*/ 385330 h 6862697"/>
              <a:gd name="connsiteX67" fmla="*/ 2210178 w 12191999"/>
              <a:gd name="connsiteY67" fmla="*/ 390634 h 6862697"/>
              <a:gd name="connsiteX68" fmla="*/ 2181755 w 12191999"/>
              <a:gd name="connsiteY68" fmla="*/ 521524 h 6862697"/>
              <a:gd name="connsiteX69" fmla="*/ 2169807 w 12191999"/>
              <a:gd name="connsiteY69" fmla="*/ 583063 h 6862697"/>
              <a:gd name="connsiteX70" fmla="*/ 2158338 w 12191999"/>
              <a:gd name="connsiteY70" fmla="*/ 644507 h 6862697"/>
              <a:gd name="connsiteX71" fmla="*/ 2318815 w 12191999"/>
              <a:gd name="connsiteY71" fmla="*/ 3001889 h 6862697"/>
              <a:gd name="connsiteX72" fmla="*/ 2331118 w 12191999"/>
              <a:gd name="connsiteY72" fmla="*/ 3038472 h 6862697"/>
              <a:gd name="connsiteX73" fmla="*/ 2360468 w 12191999"/>
              <a:gd name="connsiteY73" fmla="*/ 3123704 h 6862697"/>
              <a:gd name="connsiteX74" fmla="*/ 2377154 w 12191999"/>
              <a:gd name="connsiteY74" fmla="*/ 3170431 h 6862697"/>
              <a:gd name="connsiteX75" fmla="*/ 2430105 w 12191999"/>
              <a:gd name="connsiteY75" fmla="*/ 3310076 h 6862697"/>
              <a:gd name="connsiteX76" fmla="*/ 2451244 w 12191999"/>
              <a:gd name="connsiteY76" fmla="*/ 3361954 h 6862697"/>
              <a:gd name="connsiteX77" fmla="*/ 2482112 w 12191999"/>
              <a:gd name="connsiteY77" fmla="*/ 3433950 h 6862697"/>
              <a:gd name="connsiteX78" fmla="*/ 2505536 w 12191999"/>
              <a:gd name="connsiteY78" fmla="*/ 3487398 h 6862697"/>
              <a:gd name="connsiteX79" fmla="*/ 2538600 w 12191999"/>
              <a:gd name="connsiteY79" fmla="*/ 3560475 h 6862697"/>
              <a:gd name="connsiteX80" fmla="*/ 2560584 w 12191999"/>
              <a:gd name="connsiteY80" fmla="*/ 3606215 h 6862697"/>
              <a:gd name="connsiteX81" fmla="*/ 2698197 w 12191999"/>
              <a:gd name="connsiteY81" fmla="*/ 3871116 h 6862697"/>
              <a:gd name="connsiteX82" fmla="*/ 2710783 w 12191999"/>
              <a:gd name="connsiteY82" fmla="*/ 3893190 h 6862697"/>
              <a:gd name="connsiteX83" fmla="*/ 3613067 w 12191999"/>
              <a:gd name="connsiteY83" fmla="*/ 5046184 h 6862697"/>
              <a:gd name="connsiteX84" fmla="*/ 4678925 w 12191999"/>
              <a:gd name="connsiteY84" fmla="*/ 5806842 h 6862697"/>
              <a:gd name="connsiteX85" fmla="*/ 4710813 w 12191999"/>
              <a:gd name="connsiteY85" fmla="*/ 5822828 h 6862697"/>
              <a:gd name="connsiteX86" fmla="*/ 5346042 w 12191999"/>
              <a:gd name="connsiteY86" fmla="*/ 6772637 h 6862697"/>
              <a:gd name="connsiteX87" fmla="*/ 5351367 w 12191999"/>
              <a:gd name="connsiteY87" fmla="*/ 6862697 h 6862697"/>
              <a:gd name="connsiteX88" fmla="*/ 3092752 w 12191999"/>
              <a:gd name="connsiteY88" fmla="*/ 6862697 h 6862697"/>
              <a:gd name="connsiteX89" fmla="*/ 3126134 w 12191999"/>
              <a:gd name="connsiteY89" fmla="*/ 6799654 h 6862697"/>
              <a:gd name="connsiteX90" fmla="*/ 3192259 w 12191999"/>
              <a:gd name="connsiteY90" fmla="*/ 5382449 h 6862697"/>
              <a:gd name="connsiteX91" fmla="*/ 819638 w 12191999"/>
              <a:gd name="connsiteY91" fmla="*/ 4267667 h 6862697"/>
              <a:gd name="connsiteX92" fmla="*/ 801429 w 12191999"/>
              <a:gd name="connsiteY92" fmla="*/ 4274139 h 6862697"/>
              <a:gd name="connsiteX93" fmla="*/ 286468 w 12191999"/>
              <a:gd name="connsiteY93" fmla="*/ 4122625 h 6862697"/>
              <a:gd name="connsiteX94" fmla="*/ 275987 w 12191999"/>
              <a:gd name="connsiteY94" fmla="*/ 4109212 h 6862697"/>
              <a:gd name="connsiteX95" fmla="*/ 248153 w 12191999"/>
              <a:gd name="connsiteY95" fmla="*/ 3385986 h 6862697"/>
              <a:gd name="connsiteX96" fmla="*/ 274484 w 12191999"/>
              <a:gd name="connsiteY96" fmla="*/ 3348797 h 6862697"/>
              <a:gd name="connsiteX97" fmla="*/ 277922 w 12191999"/>
              <a:gd name="connsiteY97" fmla="*/ 3346111 h 6862697"/>
              <a:gd name="connsiteX98" fmla="*/ 417802 w 12191999"/>
              <a:gd name="connsiteY98" fmla="*/ 3126037 h 6862697"/>
              <a:gd name="connsiteX99" fmla="*/ 431186 w 12191999"/>
              <a:gd name="connsiteY99" fmla="*/ 3100627 h 6862697"/>
              <a:gd name="connsiteX100" fmla="*/ 476191 w 12191999"/>
              <a:gd name="connsiteY100" fmla="*/ 3010074 h 6862697"/>
              <a:gd name="connsiteX101" fmla="*/ 493447 w 12191999"/>
              <a:gd name="connsiteY101" fmla="*/ 2973325 h 6862697"/>
              <a:gd name="connsiteX102" fmla="*/ 529405 w 12191999"/>
              <a:gd name="connsiteY102" fmla="*/ 2893163 h 6862697"/>
              <a:gd name="connsiteX103" fmla="*/ 535425 w 12191999"/>
              <a:gd name="connsiteY103" fmla="*/ 2879598 h 6862697"/>
              <a:gd name="connsiteX104" fmla="*/ 565611 w 12191999"/>
              <a:gd name="connsiteY104" fmla="*/ 2803393 h 6862697"/>
              <a:gd name="connsiteX105" fmla="*/ 572003 w 12191999"/>
              <a:gd name="connsiteY105" fmla="*/ 2786765 h 6862697"/>
              <a:gd name="connsiteX106" fmla="*/ 603154 w 12191999"/>
              <a:gd name="connsiteY106" fmla="*/ 2697623 h 6862697"/>
              <a:gd name="connsiteX107" fmla="*/ 611785 w 12191999"/>
              <a:gd name="connsiteY107" fmla="*/ 2670386 h 6862697"/>
              <a:gd name="connsiteX108" fmla="*/ 641603 w 12191999"/>
              <a:gd name="connsiteY108" fmla="*/ 2566773 h 6862697"/>
              <a:gd name="connsiteX109" fmla="*/ 646233 w 12191999"/>
              <a:gd name="connsiteY109" fmla="*/ 2549309 h 6862697"/>
              <a:gd name="connsiteX110" fmla="*/ 669293 w 12191999"/>
              <a:gd name="connsiteY110" fmla="*/ 2452640 h 6862697"/>
              <a:gd name="connsiteX111" fmla="*/ 672668 w 12191999"/>
              <a:gd name="connsiteY111" fmla="*/ 2437819 h 6862697"/>
              <a:gd name="connsiteX112" fmla="*/ 674334 w 12191999"/>
              <a:gd name="connsiteY112" fmla="*/ 2429317 h 6862697"/>
              <a:gd name="connsiteX113" fmla="*/ 693659 w 12191999"/>
              <a:gd name="connsiteY113" fmla="*/ 2325038 h 6862697"/>
              <a:gd name="connsiteX114" fmla="*/ 699095 w 12191999"/>
              <a:gd name="connsiteY114" fmla="*/ 2290883 h 6862697"/>
              <a:gd name="connsiteX115" fmla="*/ 709032 w 12191999"/>
              <a:gd name="connsiteY115" fmla="*/ 2214992 h 6862697"/>
              <a:gd name="connsiteX116" fmla="*/ 714478 w 12191999"/>
              <a:gd name="connsiteY116" fmla="*/ 2168087 h 6862697"/>
              <a:gd name="connsiteX117" fmla="*/ 721265 w 12191999"/>
              <a:gd name="connsiteY117" fmla="*/ 2087456 h 6862697"/>
              <a:gd name="connsiteX118" fmla="*/ 722598 w 12191999"/>
              <a:gd name="connsiteY118" fmla="*/ 2031027 h 6862697"/>
              <a:gd name="connsiteX119" fmla="*/ 724440 w 12191999"/>
              <a:gd name="connsiteY119" fmla="*/ 1983059 h 6862697"/>
              <a:gd name="connsiteX120" fmla="*/ 725068 w 12191999"/>
              <a:gd name="connsiteY120" fmla="*/ 1886747 h 6862697"/>
              <a:gd name="connsiteX121" fmla="*/ 724252 w 12191999"/>
              <a:gd name="connsiteY121" fmla="*/ 1845290 h 6862697"/>
              <a:gd name="connsiteX122" fmla="*/ 721741 w 12191999"/>
              <a:gd name="connsiteY122" fmla="*/ 1784663 h 6862697"/>
              <a:gd name="connsiteX123" fmla="*/ 718501 w 12191999"/>
              <a:gd name="connsiteY123" fmla="*/ 1740116 h 6862697"/>
              <a:gd name="connsiteX124" fmla="*/ 710847 w 12191999"/>
              <a:gd name="connsiteY124" fmla="*/ 1653045 h 6862697"/>
              <a:gd name="connsiteX125" fmla="*/ 704326 w 12191999"/>
              <a:gd name="connsiteY125" fmla="*/ 1597211 h 6862697"/>
              <a:gd name="connsiteX126" fmla="*/ 697638 w 12191999"/>
              <a:gd name="connsiteY126" fmla="*/ 1550371 h 6862697"/>
              <a:gd name="connsiteX127" fmla="*/ 683641 w 12191999"/>
              <a:gd name="connsiteY127" fmla="*/ 1469365 h 6862697"/>
              <a:gd name="connsiteX128" fmla="*/ 679297 w 12191999"/>
              <a:gd name="connsiteY128" fmla="*/ 1443955 h 6862697"/>
              <a:gd name="connsiteX129" fmla="*/ 658601 w 12191999"/>
              <a:gd name="connsiteY129" fmla="*/ 1346581 h 6862697"/>
              <a:gd name="connsiteX130" fmla="*/ 653192 w 12191999"/>
              <a:gd name="connsiteY130" fmla="*/ 1324774 h 6862697"/>
              <a:gd name="connsiteX131" fmla="*/ 330792 w 12191999"/>
              <a:gd name="connsiteY131" fmla="*/ 579693 h 6862697"/>
              <a:gd name="connsiteX132" fmla="*/ 322731 w 12191999"/>
              <a:gd name="connsiteY132" fmla="*/ 569376 h 6862697"/>
              <a:gd name="connsiteX133" fmla="*/ 263125 w 12191999"/>
              <a:gd name="connsiteY133" fmla="*/ 482465 h 6862697"/>
              <a:gd name="connsiteX134" fmla="*/ 257750 w 12191999"/>
              <a:gd name="connsiteY134" fmla="*/ 475586 h 6862697"/>
              <a:gd name="connsiteX135" fmla="*/ 199707 w 12191999"/>
              <a:gd name="connsiteY135" fmla="*/ 401302 h 6862697"/>
              <a:gd name="connsiteX136" fmla="*/ 192989 w 12191999"/>
              <a:gd name="connsiteY136" fmla="*/ 392704 h 6862697"/>
              <a:gd name="connsiteX137" fmla="*/ 144350 w 12191999"/>
              <a:gd name="connsiteY137" fmla="*/ 330455 h 6862697"/>
              <a:gd name="connsiteX138" fmla="*/ 117478 w 12191999"/>
              <a:gd name="connsiteY138" fmla="*/ 296063 h 6862697"/>
              <a:gd name="connsiteX139" fmla="*/ 60262 w 12191999"/>
              <a:gd name="connsiteY139" fmla="*/ 232762 h 6862697"/>
              <a:gd name="connsiteX140" fmla="*/ 34747 w 12191999"/>
              <a:gd name="connsiteY140" fmla="*/ 205065 h 6862697"/>
              <a:gd name="connsiteX141" fmla="*/ 0 w 12191999"/>
              <a:gd name="connsiteY141" fmla="*/ 170596 h 6862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1999" h="6862697">
                <a:moveTo>
                  <a:pt x="12191999" y="2251579"/>
                </a:moveTo>
                <a:lnTo>
                  <a:pt x="12191999" y="6862697"/>
                </a:lnTo>
                <a:lnTo>
                  <a:pt x="6067946" y="6862697"/>
                </a:lnTo>
                <a:lnTo>
                  <a:pt x="6134284" y="6774576"/>
                </a:lnTo>
                <a:cubicBezTo>
                  <a:pt x="6351712" y="6529837"/>
                  <a:pt x="6664892" y="6376123"/>
                  <a:pt x="7009041" y="6366151"/>
                </a:cubicBezTo>
                <a:lnTo>
                  <a:pt x="7044407" y="6366035"/>
                </a:lnTo>
                <a:cubicBezTo>
                  <a:pt x="7351660" y="6359580"/>
                  <a:pt x="7657472" y="6323484"/>
                  <a:pt x="7957935" y="6258988"/>
                </a:cubicBezTo>
                <a:lnTo>
                  <a:pt x="7982500" y="6254408"/>
                </a:lnTo>
                <a:cubicBezTo>
                  <a:pt x="8020070" y="6247403"/>
                  <a:pt x="8057580" y="6237415"/>
                  <a:pt x="8094700" y="6227999"/>
                </a:cubicBezTo>
                <a:lnTo>
                  <a:pt x="8150513" y="6214604"/>
                </a:lnTo>
                <a:lnTo>
                  <a:pt x="8234027" y="6192054"/>
                </a:lnTo>
                <a:lnTo>
                  <a:pt x="8314949" y="6168987"/>
                </a:lnTo>
                <a:lnTo>
                  <a:pt x="8338069" y="6164676"/>
                </a:lnTo>
                <a:lnTo>
                  <a:pt x="8376665" y="6152497"/>
                </a:lnTo>
                <a:lnTo>
                  <a:pt x="8473068" y="6121563"/>
                </a:lnTo>
                <a:lnTo>
                  <a:pt x="8515246" y="6107217"/>
                </a:lnTo>
                <a:cubicBezTo>
                  <a:pt x="8552700" y="6094253"/>
                  <a:pt x="8590157" y="6081289"/>
                  <a:pt x="8626948" y="6067449"/>
                </a:cubicBezTo>
                <a:lnTo>
                  <a:pt x="8653986" y="6057426"/>
                </a:lnTo>
                <a:cubicBezTo>
                  <a:pt x="8695416" y="6041724"/>
                  <a:pt x="8736363" y="6026119"/>
                  <a:pt x="8777130" y="6009544"/>
                </a:cubicBezTo>
                <a:lnTo>
                  <a:pt x="8793271" y="6002548"/>
                </a:lnTo>
                <a:cubicBezTo>
                  <a:pt x="8839639" y="5983932"/>
                  <a:pt x="8880138" y="5965915"/>
                  <a:pt x="8923435" y="5946878"/>
                </a:cubicBezTo>
                <a:lnTo>
                  <a:pt x="8933973" y="5941921"/>
                </a:lnTo>
                <a:cubicBezTo>
                  <a:pt x="8980072" y="5921861"/>
                  <a:pt x="9022141" y="5901557"/>
                  <a:pt x="9065565" y="5880501"/>
                </a:cubicBezTo>
                <a:lnTo>
                  <a:pt x="9075621" y="5875639"/>
                </a:lnTo>
                <a:cubicBezTo>
                  <a:pt x="9121452" y="5854135"/>
                  <a:pt x="9161803" y="5832653"/>
                  <a:pt x="9203988" y="5810332"/>
                </a:cubicBezTo>
                <a:lnTo>
                  <a:pt x="9218507" y="5802643"/>
                </a:lnTo>
                <a:cubicBezTo>
                  <a:pt x="9258859" y="5781162"/>
                  <a:pt x="9299116" y="5759205"/>
                  <a:pt x="9338807" y="5736850"/>
                </a:cubicBezTo>
                <a:lnTo>
                  <a:pt x="9362236" y="5723508"/>
                </a:lnTo>
                <a:lnTo>
                  <a:pt x="9470411" y="5659478"/>
                </a:lnTo>
                <a:lnTo>
                  <a:pt x="9506162" y="5637365"/>
                </a:lnTo>
                <a:cubicBezTo>
                  <a:pt x="9537449" y="5618073"/>
                  <a:pt x="9568165" y="5598389"/>
                  <a:pt x="9598798" y="5578227"/>
                </a:cubicBezTo>
                <a:cubicBezTo>
                  <a:pt x="9615753" y="5567590"/>
                  <a:pt x="9632529" y="5555986"/>
                  <a:pt x="9649395" y="5544871"/>
                </a:cubicBezTo>
                <a:lnTo>
                  <a:pt x="9724626" y="5493956"/>
                </a:lnTo>
                <a:lnTo>
                  <a:pt x="9790587" y="5446771"/>
                </a:lnTo>
                <a:lnTo>
                  <a:pt x="9847153" y="5405324"/>
                </a:lnTo>
                <a:cubicBezTo>
                  <a:pt x="9874320" y="5385304"/>
                  <a:pt x="9901308" y="5364325"/>
                  <a:pt x="9928297" y="5343347"/>
                </a:cubicBezTo>
                <a:lnTo>
                  <a:pt x="9966549" y="5313283"/>
                </a:lnTo>
                <a:cubicBezTo>
                  <a:pt x="9999170" y="5287762"/>
                  <a:pt x="10030737" y="5261945"/>
                  <a:pt x="10062215" y="5235641"/>
                </a:cubicBezTo>
                <a:lnTo>
                  <a:pt x="10083781" y="5217662"/>
                </a:lnTo>
                <a:cubicBezTo>
                  <a:pt x="10119934" y="5186999"/>
                  <a:pt x="10155238" y="5154498"/>
                  <a:pt x="10190902" y="5123926"/>
                </a:cubicBezTo>
                <a:lnTo>
                  <a:pt x="10198193" y="5117584"/>
                </a:lnTo>
                <a:cubicBezTo>
                  <a:pt x="10430388" y="4908817"/>
                  <a:pt x="10641545" y="4678061"/>
                  <a:pt x="10829297" y="4428741"/>
                </a:cubicBezTo>
                <a:cubicBezTo>
                  <a:pt x="10858530" y="4390401"/>
                  <a:pt x="10886707" y="4351752"/>
                  <a:pt x="10914408" y="4313191"/>
                </a:cubicBezTo>
                <a:lnTo>
                  <a:pt x="10925472" y="4297678"/>
                </a:lnTo>
                <a:cubicBezTo>
                  <a:pt x="10949462" y="4263295"/>
                  <a:pt x="10972971" y="4229009"/>
                  <a:pt x="10995907" y="4194331"/>
                </a:cubicBezTo>
                <a:lnTo>
                  <a:pt x="11010405" y="4173187"/>
                </a:lnTo>
                <a:lnTo>
                  <a:pt x="11018067" y="4160796"/>
                </a:lnTo>
                <a:cubicBezTo>
                  <a:pt x="11037780" y="4130204"/>
                  <a:pt x="11057013" y="4099702"/>
                  <a:pt x="11075764" y="4069298"/>
                </a:cubicBezTo>
                <a:lnTo>
                  <a:pt x="11108686" y="4013319"/>
                </a:lnTo>
                <a:lnTo>
                  <a:pt x="11149476" y="3943414"/>
                </a:lnTo>
                <a:cubicBezTo>
                  <a:pt x="11165003" y="3917090"/>
                  <a:pt x="11179959" y="3890379"/>
                  <a:pt x="11194909" y="3863669"/>
                </a:cubicBezTo>
                <a:lnTo>
                  <a:pt x="11218247" y="3820441"/>
                </a:lnTo>
                <a:cubicBezTo>
                  <a:pt x="11238331" y="3783807"/>
                  <a:pt x="11257932" y="3747256"/>
                  <a:pt x="11276389" y="3709921"/>
                </a:cubicBezTo>
                <a:cubicBezTo>
                  <a:pt x="11278647" y="3706014"/>
                  <a:pt x="11280911" y="3702100"/>
                  <a:pt x="11282597" y="3697800"/>
                </a:cubicBezTo>
                <a:cubicBezTo>
                  <a:pt x="11398581" y="3469837"/>
                  <a:pt x="11495939" y="3232887"/>
                  <a:pt x="11573592" y="2989149"/>
                </a:cubicBezTo>
                <a:cubicBezTo>
                  <a:pt x="11576919" y="2977565"/>
                  <a:pt x="11580332" y="2966465"/>
                  <a:pt x="11584224" y="2955267"/>
                </a:cubicBezTo>
                <a:cubicBezTo>
                  <a:pt x="11669989" y="2693568"/>
                  <a:pt x="11838457" y="2477126"/>
                  <a:pt x="12054247" y="2330045"/>
                </a:cubicBezTo>
                <a:close/>
                <a:moveTo>
                  <a:pt x="11562019" y="0"/>
                </a:moveTo>
                <a:lnTo>
                  <a:pt x="12191999" y="0"/>
                </a:lnTo>
                <a:lnTo>
                  <a:pt x="12191999" y="1323014"/>
                </a:lnTo>
                <a:lnTo>
                  <a:pt x="12111088" y="1263725"/>
                </a:lnTo>
                <a:cubicBezTo>
                  <a:pt x="11913523" y="1092920"/>
                  <a:pt x="11770901" y="858605"/>
                  <a:pt x="11715611" y="588818"/>
                </a:cubicBezTo>
                <a:cubicBezTo>
                  <a:pt x="11713455" y="577260"/>
                  <a:pt x="11711300" y="565701"/>
                  <a:pt x="11709145" y="554142"/>
                </a:cubicBezTo>
                <a:cubicBezTo>
                  <a:pt x="11686460" y="439505"/>
                  <a:pt x="11659695" y="325996"/>
                  <a:pt x="11628953" y="213811"/>
                </a:cubicBezTo>
                <a:close/>
                <a:moveTo>
                  <a:pt x="0" y="0"/>
                </a:moveTo>
                <a:lnTo>
                  <a:pt x="2316798" y="0"/>
                </a:lnTo>
                <a:lnTo>
                  <a:pt x="2209189" y="385330"/>
                </a:lnTo>
                <a:lnTo>
                  <a:pt x="2210178" y="390634"/>
                </a:lnTo>
                <a:cubicBezTo>
                  <a:pt x="2200293" y="433841"/>
                  <a:pt x="2190980" y="477441"/>
                  <a:pt x="2181755" y="521524"/>
                </a:cubicBezTo>
                <a:cubicBezTo>
                  <a:pt x="2177552" y="541745"/>
                  <a:pt x="2173438" y="562450"/>
                  <a:pt x="2169807" y="583063"/>
                </a:cubicBezTo>
                <a:cubicBezTo>
                  <a:pt x="2166174" y="603677"/>
                  <a:pt x="2161972" y="623899"/>
                  <a:pt x="2158338" y="644507"/>
                </a:cubicBezTo>
                <a:cubicBezTo>
                  <a:pt x="2016082" y="1431582"/>
                  <a:pt x="2071243" y="2241657"/>
                  <a:pt x="2318815" y="3001889"/>
                </a:cubicBezTo>
                <a:cubicBezTo>
                  <a:pt x="2321150" y="3014412"/>
                  <a:pt x="2326857" y="3026308"/>
                  <a:pt x="2331118" y="3038472"/>
                </a:cubicBezTo>
                <a:cubicBezTo>
                  <a:pt x="2340360" y="3066650"/>
                  <a:pt x="2350171" y="3095222"/>
                  <a:pt x="2360468" y="3123704"/>
                </a:cubicBezTo>
                <a:cubicBezTo>
                  <a:pt x="2365750" y="3138670"/>
                  <a:pt x="2371032" y="3153632"/>
                  <a:pt x="2377154" y="3170431"/>
                </a:cubicBezTo>
                <a:cubicBezTo>
                  <a:pt x="2393840" y="3217160"/>
                  <a:pt x="2411973" y="3263618"/>
                  <a:pt x="2430105" y="3310076"/>
                </a:cubicBezTo>
                <a:cubicBezTo>
                  <a:pt x="2437372" y="3327659"/>
                  <a:pt x="2444067" y="3344852"/>
                  <a:pt x="2451244" y="3361954"/>
                </a:cubicBezTo>
                <a:cubicBezTo>
                  <a:pt x="2458417" y="3379056"/>
                  <a:pt x="2471302" y="3408053"/>
                  <a:pt x="2482112" y="3433950"/>
                </a:cubicBezTo>
                <a:lnTo>
                  <a:pt x="2505536" y="3487398"/>
                </a:lnTo>
                <a:lnTo>
                  <a:pt x="2538600" y="3560475"/>
                </a:lnTo>
                <a:lnTo>
                  <a:pt x="2560584" y="3606215"/>
                </a:lnTo>
                <a:cubicBezTo>
                  <a:pt x="2604074" y="3697785"/>
                  <a:pt x="2649644" y="3784481"/>
                  <a:pt x="2698197" y="3871116"/>
                </a:cubicBezTo>
                <a:cubicBezTo>
                  <a:pt x="2702612" y="3878767"/>
                  <a:pt x="2706458" y="3886027"/>
                  <a:pt x="2710783" y="3893190"/>
                </a:cubicBezTo>
                <a:cubicBezTo>
                  <a:pt x="2951978" y="4320691"/>
                  <a:pt x="3256190" y="4709531"/>
                  <a:pt x="3613067" y="5046184"/>
                </a:cubicBezTo>
                <a:cubicBezTo>
                  <a:pt x="3932261" y="5347002"/>
                  <a:pt x="4290773" y="5602617"/>
                  <a:pt x="4678925" y="5806842"/>
                </a:cubicBezTo>
                <a:cubicBezTo>
                  <a:pt x="4689816" y="5811791"/>
                  <a:pt x="4700315" y="5817309"/>
                  <a:pt x="4710813" y="5822828"/>
                </a:cubicBezTo>
                <a:cubicBezTo>
                  <a:pt x="5074927" y="6018083"/>
                  <a:pt x="5306457" y="6378516"/>
                  <a:pt x="5346042" y="6772637"/>
                </a:cubicBezTo>
                <a:lnTo>
                  <a:pt x="5351367" y="6862697"/>
                </a:lnTo>
                <a:lnTo>
                  <a:pt x="3092752" y="6862697"/>
                </a:lnTo>
                <a:lnTo>
                  <a:pt x="3126134" y="6799654"/>
                </a:lnTo>
                <a:cubicBezTo>
                  <a:pt x="3327872" y="6370324"/>
                  <a:pt x="3365823" y="5864027"/>
                  <a:pt x="3192259" y="5382449"/>
                </a:cubicBezTo>
                <a:cubicBezTo>
                  <a:pt x="2844791" y="4419561"/>
                  <a:pt x="1782798" y="3920261"/>
                  <a:pt x="819638" y="4267667"/>
                </a:cubicBezTo>
                <a:cubicBezTo>
                  <a:pt x="813747" y="4270052"/>
                  <a:pt x="807588" y="4272096"/>
                  <a:pt x="801429" y="4274139"/>
                </a:cubicBezTo>
                <a:cubicBezTo>
                  <a:pt x="614971" y="4338187"/>
                  <a:pt x="408510" y="4277400"/>
                  <a:pt x="286468" y="4122625"/>
                </a:cubicBezTo>
                <a:lnTo>
                  <a:pt x="275987" y="4109212"/>
                </a:lnTo>
                <a:cubicBezTo>
                  <a:pt x="111959" y="3899286"/>
                  <a:pt x="100836" y="3607885"/>
                  <a:pt x="248153" y="3385986"/>
                </a:cubicBezTo>
                <a:cubicBezTo>
                  <a:pt x="256470" y="3373231"/>
                  <a:pt x="265130" y="3360926"/>
                  <a:pt x="274484" y="3348797"/>
                </a:cubicBezTo>
                <a:lnTo>
                  <a:pt x="277922" y="3346111"/>
                </a:lnTo>
                <a:cubicBezTo>
                  <a:pt x="328294" y="3275181"/>
                  <a:pt x="375001" y="3201688"/>
                  <a:pt x="417802" y="3126037"/>
                </a:cubicBezTo>
                <a:lnTo>
                  <a:pt x="431186" y="3100627"/>
                </a:lnTo>
                <a:cubicBezTo>
                  <a:pt x="445852" y="3069779"/>
                  <a:pt x="461594" y="3040309"/>
                  <a:pt x="476191" y="3010074"/>
                </a:cubicBezTo>
                <a:lnTo>
                  <a:pt x="493447" y="2973325"/>
                </a:lnTo>
                <a:cubicBezTo>
                  <a:pt x="505407" y="2946810"/>
                  <a:pt x="517984" y="2920366"/>
                  <a:pt x="529405" y="2893163"/>
                </a:cubicBezTo>
                <a:cubicBezTo>
                  <a:pt x="531232" y="2888413"/>
                  <a:pt x="533596" y="2884352"/>
                  <a:pt x="535425" y="2879598"/>
                </a:cubicBezTo>
                <a:cubicBezTo>
                  <a:pt x="546008" y="2854160"/>
                  <a:pt x="556251" y="2828986"/>
                  <a:pt x="565611" y="2803393"/>
                </a:cubicBezTo>
                <a:lnTo>
                  <a:pt x="572003" y="2786765"/>
                </a:lnTo>
                <a:cubicBezTo>
                  <a:pt x="582772" y="2757307"/>
                  <a:pt x="593270" y="2727503"/>
                  <a:pt x="603154" y="2697623"/>
                </a:cubicBezTo>
                <a:lnTo>
                  <a:pt x="611785" y="2670386"/>
                </a:lnTo>
                <a:cubicBezTo>
                  <a:pt x="622736" y="2636903"/>
                  <a:pt x="632339" y="2601705"/>
                  <a:pt x="641603" y="2566773"/>
                </a:cubicBezTo>
                <a:lnTo>
                  <a:pt x="646233" y="2549309"/>
                </a:lnTo>
                <a:cubicBezTo>
                  <a:pt x="654238" y="2517023"/>
                  <a:pt x="662245" y="2484732"/>
                  <a:pt x="669293" y="2452640"/>
                </a:cubicBezTo>
                <a:lnTo>
                  <a:pt x="672668" y="2437819"/>
                </a:lnTo>
                <a:lnTo>
                  <a:pt x="674334" y="2429317"/>
                </a:lnTo>
                <a:cubicBezTo>
                  <a:pt x="681683" y="2394772"/>
                  <a:pt x="688151" y="2359810"/>
                  <a:pt x="693659" y="2325038"/>
                </a:cubicBezTo>
                <a:lnTo>
                  <a:pt x="699095" y="2290883"/>
                </a:lnTo>
                <a:lnTo>
                  <a:pt x="709032" y="2214992"/>
                </a:lnTo>
                <a:lnTo>
                  <a:pt x="714478" y="2168087"/>
                </a:lnTo>
                <a:lnTo>
                  <a:pt x="721265" y="2087456"/>
                </a:lnTo>
                <a:lnTo>
                  <a:pt x="722598" y="2031027"/>
                </a:lnTo>
                <a:lnTo>
                  <a:pt x="724440" y="1983059"/>
                </a:lnTo>
                <a:cubicBezTo>
                  <a:pt x="725287" y="1950826"/>
                  <a:pt x="725181" y="1918787"/>
                  <a:pt x="725068" y="1886747"/>
                </a:cubicBezTo>
                <a:lnTo>
                  <a:pt x="724252" y="1845290"/>
                </a:lnTo>
                <a:lnTo>
                  <a:pt x="721741" y="1784663"/>
                </a:lnTo>
                <a:lnTo>
                  <a:pt x="718501" y="1740116"/>
                </a:lnTo>
                <a:cubicBezTo>
                  <a:pt x="716182" y="1710911"/>
                  <a:pt x="713859" y="1681709"/>
                  <a:pt x="710847" y="1653045"/>
                </a:cubicBezTo>
                <a:lnTo>
                  <a:pt x="704326" y="1597211"/>
                </a:lnTo>
                <a:lnTo>
                  <a:pt x="697638" y="1550371"/>
                </a:lnTo>
                <a:cubicBezTo>
                  <a:pt x="693523" y="1523124"/>
                  <a:pt x="688714" y="1496418"/>
                  <a:pt x="683641" y="1469365"/>
                </a:cubicBezTo>
                <a:lnTo>
                  <a:pt x="679297" y="1443955"/>
                </a:lnTo>
                <a:cubicBezTo>
                  <a:pt x="673404" y="1410896"/>
                  <a:pt x="666479" y="1378643"/>
                  <a:pt x="658601" y="1346581"/>
                </a:cubicBezTo>
                <a:lnTo>
                  <a:pt x="653192" y="1324774"/>
                </a:lnTo>
                <a:cubicBezTo>
                  <a:pt x="587748" y="1060252"/>
                  <a:pt x="478622" y="808591"/>
                  <a:pt x="330792" y="579693"/>
                </a:cubicBezTo>
                <a:lnTo>
                  <a:pt x="322731" y="569376"/>
                </a:lnTo>
                <a:cubicBezTo>
                  <a:pt x="303638" y="539983"/>
                  <a:pt x="284891" y="510322"/>
                  <a:pt x="263125" y="482465"/>
                </a:cubicBezTo>
                <a:lnTo>
                  <a:pt x="257750" y="475586"/>
                </a:lnTo>
                <a:cubicBezTo>
                  <a:pt x="238402" y="450825"/>
                  <a:pt x="219054" y="426062"/>
                  <a:pt x="199707" y="401302"/>
                </a:cubicBezTo>
                <a:lnTo>
                  <a:pt x="192989" y="392704"/>
                </a:lnTo>
                <a:cubicBezTo>
                  <a:pt x="176864" y="372067"/>
                  <a:pt x="160742" y="351433"/>
                  <a:pt x="144350" y="330455"/>
                </a:cubicBezTo>
                <a:lnTo>
                  <a:pt x="117478" y="296063"/>
                </a:lnTo>
                <a:cubicBezTo>
                  <a:pt x="98982" y="274511"/>
                  <a:pt x="79449" y="253770"/>
                  <a:pt x="60262" y="232762"/>
                </a:cubicBezTo>
                <a:lnTo>
                  <a:pt x="34747" y="205065"/>
                </a:lnTo>
                <a:lnTo>
                  <a:pt x="0" y="170596"/>
                </a:lnTo>
                <a:close/>
              </a:path>
            </a:pathLst>
          </a:custGeom>
          <a:solidFill>
            <a:schemeClr val="accent4"/>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7" name="Text Placeholder 12"/>
          <p:cNvSpPr>
            <a:spLocks noGrp="1"/>
          </p:cNvSpPr>
          <p:nvPr>
            <p:ph type="body" sz="quarter" idx="10" hasCustomPrompt="1"/>
          </p:nvPr>
        </p:nvSpPr>
        <p:spPr bwMode="gray">
          <a:xfrm>
            <a:off x="4656332" y="4220890"/>
            <a:ext cx="5904000"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4"/>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dirty="0"/>
              <a:t>Name</a:t>
            </a:r>
            <a:br>
              <a:rPr lang="en-US" noProof="0" dirty="0"/>
            </a:br>
            <a:r>
              <a:rPr lang="en-US" noProof="0" dirty="0"/>
              <a:t>Place, Date</a:t>
            </a:r>
          </a:p>
        </p:txBody>
      </p:sp>
      <p:sp>
        <p:nvSpPr>
          <p:cNvPr id="3" name="Subtitle 2"/>
          <p:cNvSpPr>
            <a:spLocks noGrp="1"/>
          </p:cNvSpPr>
          <p:nvPr>
            <p:ph type="subTitle" idx="1" hasCustomPrompt="1"/>
          </p:nvPr>
        </p:nvSpPr>
        <p:spPr bwMode="gray">
          <a:xfrm>
            <a:off x="4656332" y="3500882"/>
            <a:ext cx="5904000" cy="576000"/>
          </a:xfrm>
          <a:prstGeom prst="rect">
            <a:avLst/>
          </a:prstGeom>
        </p:spPr>
        <p:txBody>
          <a:bodyPr>
            <a:noAutofit/>
          </a:bodyPr>
          <a:lstStyle>
            <a:lvl1pPr marL="0" indent="0" algn="l">
              <a:spcBef>
                <a:spcPts val="0"/>
              </a:spcBef>
              <a:spcAft>
                <a:spcPts val="1200"/>
              </a:spcAft>
              <a:buNone/>
              <a:defRPr sz="1600" b="1" i="0" baseline="0">
                <a:solidFill>
                  <a:schemeClr val="accent4"/>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dirty="0"/>
              <a:t>Subtitle and other information of this presentation</a:t>
            </a:r>
            <a:endParaRPr lang="en-US" dirty="0"/>
          </a:p>
          <a:p>
            <a:pPr lvl="0"/>
            <a:endParaRPr lang="en-US" noProof="0" dirty="0"/>
          </a:p>
        </p:txBody>
      </p:sp>
      <p:sp>
        <p:nvSpPr>
          <p:cNvPr id="2" name="Title 1"/>
          <p:cNvSpPr>
            <a:spLocks noGrp="1"/>
          </p:cNvSpPr>
          <p:nvPr>
            <p:ph type="ctrTitle" hasCustomPrompt="1"/>
          </p:nvPr>
        </p:nvSpPr>
        <p:spPr bwMode="gray">
          <a:xfrm>
            <a:off x="4656332" y="2108469"/>
            <a:ext cx="5904000" cy="1249282"/>
          </a:xfrm>
          <a:prstGeom prst="rect">
            <a:avLst/>
          </a:prstGeom>
          <a:noFill/>
        </p:spPr>
        <p:txBody>
          <a:bodyPr anchor="b"/>
          <a:lstStyle>
            <a:lvl1pPr algn="l">
              <a:lnSpc>
                <a:spcPct val="100000"/>
              </a:lnSpc>
              <a:defRPr sz="4000" b="0" cap="none" baseline="0">
                <a:solidFill>
                  <a:schemeClr val="accent4"/>
                </a:solidFill>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pic>
        <p:nvPicPr>
          <p:cNvPr id="5" name="Grafik 4">
            <a:extLst>
              <a:ext uri="{FF2B5EF4-FFF2-40B4-BE49-F238E27FC236}">
                <a16:creationId xmlns:a16="http://schemas.microsoft.com/office/drawing/2014/main" id="{2504D60F-03BA-4FD7-B366-171F692AC7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376" y="5251086"/>
            <a:ext cx="2520000" cy="1274295"/>
          </a:xfrm>
          <a:prstGeom prst="rect">
            <a:avLst/>
          </a:prstGeom>
        </p:spPr>
      </p:pic>
    </p:spTree>
    <p:extLst>
      <p:ext uri="{BB962C8B-B14F-4D97-AF65-F5344CB8AC3E}">
        <p14:creationId xmlns:p14="http://schemas.microsoft.com/office/powerpoint/2010/main" val="115547962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8" name="Rechteck 37">
            <a:extLst>
              <a:ext uri="{FF2B5EF4-FFF2-40B4-BE49-F238E27FC236}">
                <a16:creationId xmlns:a16="http://schemas.microsoft.com/office/drawing/2014/main" id="{72E51C3F-45BF-4228-9D36-14DF5EDD2289}"/>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9" name="Bildplatzhalter 18">
            <a:extLst>
              <a:ext uri="{FF2B5EF4-FFF2-40B4-BE49-F238E27FC236}">
                <a16:creationId xmlns:a16="http://schemas.microsoft.com/office/drawing/2014/main" id="{DAADC5EB-60BE-4A4A-82C6-321BFA27F170}"/>
              </a:ext>
            </a:extLst>
          </p:cNvPr>
          <p:cNvSpPr>
            <a:spLocks noGrp="1"/>
          </p:cNvSpPr>
          <p:nvPr>
            <p:ph type="pic" sz="quarter" idx="20" hasCustomPrompt="1"/>
          </p:nvPr>
        </p:nvSpPr>
        <p:spPr bwMode="gray">
          <a:xfrm>
            <a:off x="1" y="0"/>
            <a:ext cx="8171891" cy="6858000"/>
          </a:xfrm>
          <a:custGeom>
            <a:avLst/>
            <a:gdLst>
              <a:gd name="connsiteX0" fmla="*/ 3582450 w 8171891"/>
              <a:gd name="connsiteY0" fmla="*/ 0 h 6858000"/>
              <a:gd name="connsiteX1" fmla="*/ 4024204 w 8171891"/>
              <a:gd name="connsiteY1" fmla="*/ 0 h 6858000"/>
              <a:gd name="connsiteX2" fmla="*/ 4012758 w 8171891"/>
              <a:gd name="connsiteY2" fmla="*/ 24610 h 6858000"/>
              <a:gd name="connsiteX3" fmla="*/ 4010258 w 8171891"/>
              <a:gd name="connsiteY3" fmla="*/ 31747 h 6858000"/>
              <a:gd name="connsiteX4" fmla="*/ 4278594 w 8171891"/>
              <a:gd name="connsiteY4" fmla="*/ 908834 h 6858000"/>
              <a:gd name="connsiteX5" fmla="*/ 4295364 w 8171891"/>
              <a:gd name="connsiteY5" fmla="*/ 920965 h 6858000"/>
              <a:gd name="connsiteX6" fmla="*/ 4523383 w 8171891"/>
              <a:gd name="connsiteY6" fmla="*/ 1099379 h 6858000"/>
              <a:gd name="connsiteX7" fmla="*/ 4528375 w 8171891"/>
              <a:gd name="connsiteY7" fmla="*/ 1103661 h 6858000"/>
              <a:gd name="connsiteX8" fmla="*/ 4964419 w 8171891"/>
              <a:gd name="connsiteY8" fmla="*/ 1566112 h 6858000"/>
              <a:gd name="connsiteX9" fmla="*/ 4969063 w 8171891"/>
              <a:gd name="connsiteY9" fmla="*/ 1571823 h 6858000"/>
              <a:gd name="connsiteX10" fmla="*/ 4993325 w 8171891"/>
              <a:gd name="connsiteY10" fmla="*/ 1603936 h 6858000"/>
              <a:gd name="connsiteX11" fmla="*/ 5072540 w 8171891"/>
              <a:gd name="connsiteY11" fmla="*/ 1718479 h 6858000"/>
              <a:gd name="connsiteX12" fmla="*/ 5083604 w 8171891"/>
              <a:gd name="connsiteY12" fmla="*/ 1734892 h 6858000"/>
              <a:gd name="connsiteX13" fmla="*/ 5117144 w 8171891"/>
              <a:gd name="connsiteY13" fmla="*/ 1788061 h 6858000"/>
              <a:gd name="connsiteX14" fmla="*/ 5138200 w 8171891"/>
              <a:gd name="connsiteY14" fmla="*/ 1821603 h 6858000"/>
              <a:gd name="connsiteX15" fmla="*/ 5158890 w 8171891"/>
              <a:gd name="connsiteY15" fmla="*/ 1857286 h 6858000"/>
              <a:gd name="connsiteX16" fmla="*/ 5188509 w 8171891"/>
              <a:gd name="connsiteY16" fmla="*/ 1908668 h 6858000"/>
              <a:gd name="connsiteX17" fmla="*/ 5197787 w 8171891"/>
              <a:gd name="connsiteY17" fmla="*/ 1925440 h 6858000"/>
              <a:gd name="connsiteX18" fmla="*/ 5027936 w 8171891"/>
              <a:gd name="connsiteY18" fmla="*/ 5140116 h 6858000"/>
              <a:gd name="connsiteX19" fmla="*/ 5089310 w 8171891"/>
              <a:gd name="connsiteY19" fmla="*/ 6046818 h 6858000"/>
              <a:gd name="connsiteX20" fmla="*/ 5096087 w 8171891"/>
              <a:gd name="connsiteY20" fmla="*/ 6054667 h 6858000"/>
              <a:gd name="connsiteX21" fmla="*/ 5671301 w 8171891"/>
              <a:gd name="connsiteY21" fmla="*/ 6192762 h 6858000"/>
              <a:gd name="connsiteX22" fmla="*/ 5706984 w 8171891"/>
              <a:gd name="connsiteY22" fmla="*/ 6177416 h 6858000"/>
              <a:gd name="connsiteX23" fmla="*/ 5749444 w 8171891"/>
              <a:gd name="connsiteY23" fmla="*/ 6159932 h 6858000"/>
              <a:gd name="connsiteX24" fmla="*/ 5771929 w 8171891"/>
              <a:gd name="connsiteY24" fmla="*/ 6150654 h 6858000"/>
              <a:gd name="connsiteX25" fmla="*/ 5843295 w 8171891"/>
              <a:gd name="connsiteY25" fmla="*/ 6123892 h 6858000"/>
              <a:gd name="connsiteX26" fmla="*/ 5870772 w 8171891"/>
              <a:gd name="connsiteY26" fmla="*/ 6114259 h 6858000"/>
              <a:gd name="connsiteX27" fmla="*/ 5937851 w 8171891"/>
              <a:gd name="connsiteY27" fmla="*/ 6092491 h 6858000"/>
              <a:gd name="connsiteX28" fmla="*/ 5973534 w 8171891"/>
              <a:gd name="connsiteY28" fmla="*/ 6082501 h 6858000"/>
              <a:gd name="connsiteX29" fmla="*/ 6034551 w 8171891"/>
              <a:gd name="connsiteY29" fmla="*/ 6065374 h 6858000"/>
              <a:gd name="connsiteX30" fmla="*/ 6085575 w 8171891"/>
              <a:gd name="connsiteY30" fmla="*/ 6053955 h 6858000"/>
              <a:gd name="connsiteX31" fmla="*/ 6127687 w 8171891"/>
              <a:gd name="connsiteY31" fmla="*/ 6044320 h 6858000"/>
              <a:gd name="connsiteX32" fmla="*/ 6134822 w 8171891"/>
              <a:gd name="connsiteY32" fmla="*/ 6044320 h 6858000"/>
              <a:gd name="connsiteX33" fmla="*/ 6144814 w 8171891"/>
              <a:gd name="connsiteY33" fmla="*/ 6044320 h 6858000"/>
              <a:gd name="connsiteX34" fmla="*/ 6220457 w 8171891"/>
              <a:gd name="connsiteY34" fmla="*/ 6031117 h 6858000"/>
              <a:gd name="connsiteX35" fmla="*/ 6245085 w 8171891"/>
              <a:gd name="connsiteY35" fmla="*/ 6027550 h 6858000"/>
              <a:gd name="connsiteX36" fmla="*/ 6326792 w 8171891"/>
              <a:gd name="connsiteY36" fmla="*/ 6017558 h 6858000"/>
              <a:gd name="connsiteX37" fmla="*/ 6351420 w 8171891"/>
              <a:gd name="connsiteY37" fmla="*/ 6015417 h 6858000"/>
              <a:gd name="connsiteX38" fmla="*/ 6414579 w 8171891"/>
              <a:gd name="connsiteY38" fmla="*/ 6011135 h 6858000"/>
              <a:gd name="connsiteX39" fmla="*/ 6444190 w 8171891"/>
              <a:gd name="connsiteY39" fmla="*/ 6011135 h 6858000"/>
              <a:gd name="connsiteX40" fmla="*/ 6526977 w 8171891"/>
              <a:gd name="connsiteY40" fmla="*/ 6009351 h 6858000"/>
              <a:gd name="connsiteX41" fmla="*/ 6546604 w 8171891"/>
              <a:gd name="connsiteY41" fmla="*/ 6009351 h 6858000"/>
              <a:gd name="connsiteX42" fmla="*/ 6624748 w 8171891"/>
              <a:gd name="connsiteY42" fmla="*/ 6011849 h 6858000"/>
              <a:gd name="connsiteX43" fmla="*/ 6639018 w 8171891"/>
              <a:gd name="connsiteY43" fmla="*/ 6011849 h 6858000"/>
              <a:gd name="connsiteX44" fmla="*/ 8062415 w 8171891"/>
              <a:gd name="connsiteY44" fmla="*/ 6712660 h 6858000"/>
              <a:gd name="connsiteX45" fmla="*/ 8103804 w 8171891"/>
              <a:gd name="connsiteY45" fmla="*/ 6763332 h 6858000"/>
              <a:gd name="connsiteX46" fmla="*/ 8107019 w 8171891"/>
              <a:gd name="connsiteY46" fmla="*/ 6767614 h 6858000"/>
              <a:gd name="connsiteX47" fmla="*/ 8171891 w 8171891"/>
              <a:gd name="connsiteY47" fmla="*/ 6858000 h 6858000"/>
              <a:gd name="connsiteX48" fmla="*/ 4874854 w 8171891"/>
              <a:gd name="connsiteY48" fmla="*/ 6858000 h 6858000"/>
              <a:gd name="connsiteX49" fmla="*/ 4881323 w 8171891"/>
              <a:gd name="connsiteY49" fmla="*/ 6844929 h 6858000"/>
              <a:gd name="connsiteX50" fmla="*/ 4795283 w 8171891"/>
              <a:gd name="connsiteY50" fmla="*/ 6327642 h 6858000"/>
              <a:gd name="connsiteX51" fmla="*/ 4788505 w 8171891"/>
              <a:gd name="connsiteY51" fmla="*/ 6319793 h 6858000"/>
              <a:gd name="connsiteX52" fmla="*/ 3891431 w 8171891"/>
              <a:gd name="connsiteY52" fmla="*/ 6127462 h 6858000"/>
              <a:gd name="connsiteX53" fmla="*/ 3872875 w 8171891"/>
              <a:gd name="connsiteY53" fmla="*/ 6136382 h 6858000"/>
              <a:gd name="connsiteX54" fmla="*/ 3865740 w 8171891"/>
              <a:gd name="connsiteY54" fmla="*/ 6139593 h 6858000"/>
              <a:gd name="connsiteX55" fmla="*/ 3763692 w 8171891"/>
              <a:gd name="connsiteY55" fmla="*/ 6186337 h 6858000"/>
              <a:gd name="connsiteX56" fmla="*/ 3756557 w 8171891"/>
              <a:gd name="connsiteY56" fmla="*/ 6189550 h 6858000"/>
              <a:gd name="connsiteX57" fmla="*/ 3655571 w 8171891"/>
              <a:gd name="connsiteY57" fmla="*/ 6231298 h 6858000"/>
              <a:gd name="connsiteX58" fmla="*/ 3634158 w 8171891"/>
              <a:gd name="connsiteY58" fmla="*/ 6239507 h 6858000"/>
              <a:gd name="connsiteX59" fmla="*/ 3533181 w 8171891"/>
              <a:gd name="connsiteY59" fmla="*/ 6275190 h 6858000"/>
              <a:gd name="connsiteX60" fmla="*/ 3515340 w 8171891"/>
              <a:gd name="connsiteY60" fmla="*/ 6280898 h 6858000"/>
              <a:gd name="connsiteX61" fmla="*/ 1752240 w 8171891"/>
              <a:gd name="connsiteY61" fmla="*/ 6331924 h 6858000"/>
              <a:gd name="connsiteX62" fmla="*/ 1735470 w 8171891"/>
              <a:gd name="connsiteY62" fmla="*/ 6327642 h 6858000"/>
              <a:gd name="connsiteX63" fmla="*/ 1685875 w 8171891"/>
              <a:gd name="connsiteY63" fmla="*/ 6313013 h 6858000"/>
              <a:gd name="connsiteX64" fmla="*/ 949731 w 8171891"/>
              <a:gd name="connsiteY64" fmla="*/ 5983301 h 6858000"/>
              <a:gd name="connsiteX65" fmla="*/ 790943 w 8171891"/>
              <a:gd name="connsiteY65" fmla="*/ 5876252 h 6858000"/>
              <a:gd name="connsiteX66" fmla="*/ 755261 w 8171891"/>
              <a:gd name="connsiteY66" fmla="*/ 5850919 h 6858000"/>
              <a:gd name="connsiteX67" fmla="*/ 727070 w 8171891"/>
              <a:gd name="connsiteY67" fmla="*/ 5829865 h 6858000"/>
              <a:gd name="connsiteX68" fmla="*/ 680684 w 8171891"/>
              <a:gd name="connsiteY68" fmla="*/ 5794182 h 6858000"/>
              <a:gd name="connsiteX69" fmla="*/ 661057 w 8171891"/>
              <a:gd name="connsiteY69" fmla="*/ 5778839 h 6858000"/>
              <a:gd name="connsiteX70" fmla="*/ 251775 w 8171891"/>
              <a:gd name="connsiteY70" fmla="*/ 5386327 h 6858000"/>
              <a:gd name="connsiteX71" fmla="*/ 249632 w 8171891"/>
              <a:gd name="connsiteY71" fmla="*/ 5384186 h 6858000"/>
              <a:gd name="connsiteX72" fmla="*/ 160067 w 8171891"/>
              <a:gd name="connsiteY72" fmla="*/ 5274282 h 6858000"/>
              <a:gd name="connsiteX73" fmla="*/ 145440 w 8171891"/>
              <a:gd name="connsiteY73" fmla="*/ 5255371 h 6858000"/>
              <a:gd name="connsiteX74" fmla="*/ 76927 w 8171891"/>
              <a:gd name="connsiteY74" fmla="*/ 5162239 h 6858000"/>
              <a:gd name="connsiteX75" fmla="*/ 45169 w 8171891"/>
              <a:gd name="connsiteY75" fmla="*/ 5116564 h 6858000"/>
              <a:gd name="connsiteX76" fmla="*/ 1637 w 8171891"/>
              <a:gd name="connsiteY76" fmla="*/ 5050909 h 6858000"/>
              <a:gd name="connsiteX77" fmla="*/ 0 w 8171891"/>
              <a:gd name="connsiteY77" fmla="*/ 5048101 h 6858000"/>
              <a:gd name="connsiteX78" fmla="*/ 0 w 8171891"/>
              <a:gd name="connsiteY78" fmla="*/ 1766380 h 6858000"/>
              <a:gd name="connsiteX79" fmla="*/ 12119 w 8171891"/>
              <a:gd name="connsiteY79" fmla="*/ 1746735 h 6858000"/>
              <a:gd name="connsiteX80" fmla="*/ 104761 w 8171891"/>
              <a:gd name="connsiteY80" fmla="*/ 1613214 h 6858000"/>
              <a:gd name="connsiteX81" fmla="*/ 120817 w 8171891"/>
              <a:gd name="connsiteY81" fmla="*/ 1591448 h 6858000"/>
              <a:gd name="connsiteX82" fmla="*/ 169702 w 8171891"/>
              <a:gd name="connsiteY82" fmla="*/ 1527219 h 6858000"/>
              <a:gd name="connsiteX83" fmla="*/ 231790 w 8171891"/>
              <a:gd name="connsiteY83" fmla="*/ 1451214 h 6858000"/>
              <a:gd name="connsiteX84" fmla="*/ 271041 w 8171891"/>
              <a:gd name="connsiteY84" fmla="*/ 1405896 h 6858000"/>
              <a:gd name="connsiteX85" fmla="*/ 325636 w 8171891"/>
              <a:gd name="connsiteY85" fmla="*/ 1345592 h 6858000"/>
              <a:gd name="connsiteX86" fmla="*/ 361319 w 8171891"/>
              <a:gd name="connsiteY86" fmla="*/ 1308126 h 6858000"/>
              <a:gd name="connsiteX87" fmla="*/ 441249 w 8171891"/>
              <a:gd name="connsiteY87" fmla="*/ 1228196 h 6858000"/>
              <a:gd name="connsiteX88" fmla="*/ 473722 w 8171891"/>
              <a:gd name="connsiteY88" fmla="*/ 1196795 h 6858000"/>
              <a:gd name="connsiteX89" fmla="*/ 562215 w 8171891"/>
              <a:gd name="connsiteY89" fmla="*/ 1116866 h 6858000"/>
              <a:gd name="connsiteX90" fmla="*/ 574346 w 8171891"/>
              <a:gd name="connsiteY90" fmla="*/ 1105802 h 6858000"/>
              <a:gd name="connsiteX91" fmla="*/ 598969 w 8171891"/>
              <a:gd name="connsiteY91" fmla="*/ 1085819 h 6858000"/>
              <a:gd name="connsiteX92" fmla="*/ 663553 w 8171891"/>
              <a:gd name="connsiteY92" fmla="*/ 1033009 h 6858000"/>
              <a:gd name="connsiteX93" fmla="*/ 743840 w 8171891"/>
              <a:gd name="connsiteY93" fmla="*/ 971636 h 6858000"/>
              <a:gd name="connsiteX94" fmla="*/ 781666 w 8171891"/>
              <a:gd name="connsiteY94" fmla="*/ 943445 h 6858000"/>
              <a:gd name="connsiteX95" fmla="*/ 1965623 w 8171891"/>
              <a:gd name="connsiteY95" fmla="*/ 430681 h 6858000"/>
              <a:gd name="connsiteX96" fmla="*/ 1981679 w 8171891"/>
              <a:gd name="connsiteY96" fmla="*/ 427471 h 6858000"/>
              <a:gd name="connsiteX97" fmla="*/ 2086236 w 8171891"/>
              <a:gd name="connsiteY97" fmla="*/ 409273 h 6858000"/>
              <a:gd name="connsiteX98" fmla="*/ 2125839 w 8171891"/>
              <a:gd name="connsiteY98" fmla="*/ 403562 h 6858000"/>
              <a:gd name="connsiteX99" fmla="*/ 2212198 w 8171891"/>
              <a:gd name="connsiteY99" fmla="*/ 392143 h 6858000"/>
              <a:gd name="connsiteX100" fmla="*/ 2342794 w 8171891"/>
              <a:gd name="connsiteY100" fmla="*/ 380012 h 6858000"/>
              <a:gd name="connsiteX101" fmla="*/ 2358850 w 8171891"/>
              <a:gd name="connsiteY101" fmla="*/ 380012 h 6858000"/>
              <a:gd name="connsiteX102" fmla="*/ 2484098 w 8171891"/>
              <a:gd name="connsiteY102" fmla="*/ 374302 h 6858000"/>
              <a:gd name="connsiteX103" fmla="*/ 2507297 w 8171891"/>
              <a:gd name="connsiteY103" fmla="*/ 374302 h 6858000"/>
              <a:gd name="connsiteX104" fmla="*/ 2626115 w 8171891"/>
              <a:gd name="connsiteY104" fmla="*/ 374302 h 6858000"/>
              <a:gd name="connsiteX105" fmla="*/ 2651091 w 8171891"/>
              <a:gd name="connsiteY105" fmla="*/ 374302 h 6858000"/>
              <a:gd name="connsiteX106" fmla="*/ 2768132 w 8171891"/>
              <a:gd name="connsiteY106" fmla="*/ 380369 h 6858000"/>
              <a:gd name="connsiteX107" fmla="*/ 2793466 w 8171891"/>
              <a:gd name="connsiteY107" fmla="*/ 382153 h 6858000"/>
              <a:gd name="connsiteX108" fmla="*/ 2838427 w 8171891"/>
              <a:gd name="connsiteY108" fmla="*/ 385721 h 6858000"/>
              <a:gd name="connsiteX109" fmla="*/ 2859126 w 8171891"/>
              <a:gd name="connsiteY109" fmla="*/ 387506 h 6858000"/>
              <a:gd name="connsiteX110" fmla="*/ 3579019 w 8171891"/>
              <a:gd name="connsiteY110" fmla="*/ 73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171891" h="6858000">
                <a:moveTo>
                  <a:pt x="3582450" y="0"/>
                </a:moveTo>
                <a:lnTo>
                  <a:pt x="4024204" y="0"/>
                </a:lnTo>
                <a:lnTo>
                  <a:pt x="4012758" y="24610"/>
                </a:lnTo>
                <a:lnTo>
                  <a:pt x="4010258" y="31747"/>
                </a:lnTo>
                <a:cubicBezTo>
                  <a:pt x="3892860" y="351216"/>
                  <a:pt x="4002409" y="709757"/>
                  <a:pt x="4278594" y="908834"/>
                </a:cubicBezTo>
                <a:lnTo>
                  <a:pt x="4295364" y="920965"/>
                </a:lnTo>
                <a:cubicBezTo>
                  <a:pt x="4374937" y="977701"/>
                  <a:pt x="4452017" y="1037291"/>
                  <a:pt x="4523383" y="1099379"/>
                </a:cubicBezTo>
                <a:lnTo>
                  <a:pt x="4528375" y="1103661"/>
                </a:lnTo>
                <a:cubicBezTo>
                  <a:pt x="4689663" y="1242041"/>
                  <a:pt x="4835609" y="1397048"/>
                  <a:pt x="4964419" y="1566112"/>
                </a:cubicBezTo>
                <a:lnTo>
                  <a:pt x="4969063" y="1571823"/>
                </a:lnTo>
                <a:cubicBezTo>
                  <a:pt x="4976912" y="1582527"/>
                  <a:pt x="4985476" y="1592875"/>
                  <a:pt x="4993325" y="1603936"/>
                </a:cubicBezTo>
                <a:cubicBezTo>
                  <a:pt x="5020801" y="1641403"/>
                  <a:pt x="5046849" y="1679941"/>
                  <a:pt x="5072540" y="1718479"/>
                </a:cubicBezTo>
                <a:lnTo>
                  <a:pt x="5083604" y="1734892"/>
                </a:lnTo>
                <a:lnTo>
                  <a:pt x="5117144" y="1788061"/>
                </a:lnTo>
                <a:lnTo>
                  <a:pt x="5138200" y="1821603"/>
                </a:lnTo>
                <a:lnTo>
                  <a:pt x="5158890" y="1857286"/>
                </a:lnTo>
                <a:lnTo>
                  <a:pt x="5188509" y="1908668"/>
                </a:lnTo>
                <a:lnTo>
                  <a:pt x="5197787" y="1925440"/>
                </a:lnTo>
                <a:cubicBezTo>
                  <a:pt x="5761580" y="2941118"/>
                  <a:pt x="5695563" y="4189485"/>
                  <a:pt x="5027936" y="5140116"/>
                </a:cubicBezTo>
                <a:cubicBezTo>
                  <a:pt x="4844887" y="5422473"/>
                  <a:pt x="4869863" y="5791684"/>
                  <a:pt x="5089310" y="6046818"/>
                </a:cubicBezTo>
                <a:lnTo>
                  <a:pt x="5096087" y="6054667"/>
                </a:lnTo>
                <a:cubicBezTo>
                  <a:pt x="5238105" y="6219844"/>
                  <a:pt x="5469687" y="6275510"/>
                  <a:pt x="5671301" y="6192762"/>
                </a:cubicBezTo>
                <a:cubicBezTo>
                  <a:pt x="5684142" y="6188123"/>
                  <a:pt x="5692705" y="6183841"/>
                  <a:pt x="5706984" y="6177416"/>
                </a:cubicBezTo>
                <a:cubicBezTo>
                  <a:pt x="5721253" y="6170994"/>
                  <a:pt x="5735532" y="6165643"/>
                  <a:pt x="5749444" y="6159932"/>
                </a:cubicBezTo>
                <a:lnTo>
                  <a:pt x="5771929" y="6150654"/>
                </a:lnTo>
                <a:cubicBezTo>
                  <a:pt x="5796548" y="6141379"/>
                  <a:pt x="5819739" y="6132458"/>
                  <a:pt x="5843295" y="6123892"/>
                </a:cubicBezTo>
                <a:lnTo>
                  <a:pt x="5870772" y="6114259"/>
                </a:lnTo>
                <a:cubicBezTo>
                  <a:pt x="5893248" y="6106765"/>
                  <a:pt x="5915375" y="6099271"/>
                  <a:pt x="5937851" y="6092491"/>
                </a:cubicBezTo>
                <a:cubicBezTo>
                  <a:pt x="5949987" y="6088924"/>
                  <a:pt x="5961756" y="6085713"/>
                  <a:pt x="5973534" y="6082501"/>
                </a:cubicBezTo>
                <a:cubicBezTo>
                  <a:pt x="5993876" y="6076435"/>
                  <a:pt x="6017424" y="6069298"/>
                  <a:pt x="6034551" y="6065374"/>
                </a:cubicBezTo>
                <a:cubicBezTo>
                  <a:pt x="6051678" y="6061447"/>
                  <a:pt x="6071662" y="6057165"/>
                  <a:pt x="6085575" y="6053955"/>
                </a:cubicBezTo>
                <a:cubicBezTo>
                  <a:pt x="6099496" y="6050743"/>
                  <a:pt x="6113409" y="6047175"/>
                  <a:pt x="6127687" y="6044320"/>
                </a:cubicBezTo>
                <a:cubicBezTo>
                  <a:pt x="6130178" y="6044141"/>
                  <a:pt x="6132322" y="6044141"/>
                  <a:pt x="6134822" y="6044320"/>
                </a:cubicBezTo>
                <a:cubicBezTo>
                  <a:pt x="6138036" y="6044320"/>
                  <a:pt x="6141599" y="6044320"/>
                  <a:pt x="6144814" y="6044320"/>
                </a:cubicBezTo>
                <a:cubicBezTo>
                  <a:pt x="6169790" y="6039324"/>
                  <a:pt x="6195124" y="6035042"/>
                  <a:pt x="6220457" y="6031117"/>
                </a:cubicBezTo>
                <a:cubicBezTo>
                  <a:pt x="6228664" y="6030046"/>
                  <a:pt x="6236870" y="6027550"/>
                  <a:pt x="6245085" y="6027550"/>
                </a:cubicBezTo>
                <a:cubicBezTo>
                  <a:pt x="6272205" y="6023623"/>
                  <a:pt x="6299315" y="6020413"/>
                  <a:pt x="6326792" y="6017558"/>
                </a:cubicBezTo>
                <a:lnTo>
                  <a:pt x="6351420" y="6015417"/>
                </a:lnTo>
                <a:cubicBezTo>
                  <a:pt x="6372467" y="6012562"/>
                  <a:pt x="6393523" y="6011135"/>
                  <a:pt x="6414579" y="6011135"/>
                </a:cubicBezTo>
                <a:cubicBezTo>
                  <a:pt x="6424563" y="6011135"/>
                  <a:pt x="6434555" y="6011135"/>
                  <a:pt x="6444190" y="6011135"/>
                </a:cubicBezTo>
                <a:cubicBezTo>
                  <a:pt x="6472024" y="6009351"/>
                  <a:pt x="6499500" y="6009351"/>
                  <a:pt x="6526977" y="6009351"/>
                </a:cubicBezTo>
                <a:cubicBezTo>
                  <a:pt x="6533398" y="6009351"/>
                  <a:pt x="6540175" y="6009351"/>
                  <a:pt x="6546604" y="6009351"/>
                </a:cubicBezTo>
                <a:cubicBezTo>
                  <a:pt x="6572652" y="6009708"/>
                  <a:pt x="6598700" y="6011849"/>
                  <a:pt x="6624748" y="6011849"/>
                </a:cubicBezTo>
                <a:cubicBezTo>
                  <a:pt x="6629383" y="6011849"/>
                  <a:pt x="6634383" y="6011849"/>
                  <a:pt x="6639018" y="6011849"/>
                </a:cubicBezTo>
                <a:cubicBezTo>
                  <a:pt x="7189255" y="6041251"/>
                  <a:pt x="7703443" y="6294458"/>
                  <a:pt x="8062415" y="6712660"/>
                </a:cubicBezTo>
                <a:cubicBezTo>
                  <a:pt x="8076685" y="6727649"/>
                  <a:pt x="8089891" y="6746560"/>
                  <a:pt x="8103804" y="6763332"/>
                </a:cubicBezTo>
                <a:lnTo>
                  <a:pt x="8107019" y="6767614"/>
                </a:lnTo>
                <a:lnTo>
                  <a:pt x="8171891" y="6858000"/>
                </a:lnTo>
                <a:lnTo>
                  <a:pt x="4874854" y="6858000"/>
                </a:lnTo>
                <a:lnTo>
                  <a:pt x="4881323" y="6844929"/>
                </a:lnTo>
                <a:cubicBezTo>
                  <a:pt x="4950382" y="6672058"/>
                  <a:pt x="4919548" y="6472203"/>
                  <a:pt x="4795283" y="6327642"/>
                </a:cubicBezTo>
                <a:lnTo>
                  <a:pt x="4788505" y="6319793"/>
                </a:lnTo>
                <a:cubicBezTo>
                  <a:pt x="4566558" y="6061769"/>
                  <a:pt x="4199736" y="5983125"/>
                  <a:pt x="3891431" y="6127462"/>
                </a:cubicBezTo>
                <a:cubicBezTo>
                  <a:pt x="3885010" y="6130317"/>
                  <a:pt x="3878947" y="6133170"/>
                  <a:pt x="3872875" y="6136382"/>
                </a:cubicBezTo>
                <a:lnTo>
                  <a:pt x="3865740" y="6139593"/>
                </a:lnTo>
                <a:cubicBezTo>
                  <a:pt x="3832200" y="6155650"/>
                  <a:pt x="3799375" y="6171351"/>
                  <a:pt x="3763692" y="6186337"/>
                </a:cubicBezTo>
                <a:cubicBezTo>
                  <a:pt x="3761549" y="6187622"/>
                  <a:pt x="3759049" y="6188694"/>
                  <a:pt x="3756557" y="6189550"/>
                </a:cubicBezTo>
                <a:cubicBezTo>
                  <a:pt x="3723366" y="6204179"/>
                  <a:pt x="3689468" y="6217738"/>
                  <a:pt x="3655571" y="6231298"/>
                </a:cubicBezTo>
                <a:cubicBezTo>
                  <a:pt x="3648437" y="6234153"/>
                  <a:pt x="3641293" y="6237009"/>
                  <a:pt x="3634158" y="6239507"/>
                </a:cubicBezTo>
                <a:cubicBezTo>
                  <a:pt x="3600618" y="6251280"/>
                  <a:pt x="3568864" y="6263414"/>
                  <a:pt x="3533181" y="6275190"/>
                </a:cubicBezTo>
                <a:cubicBezTo>
                  <a:pt x="3527466" y="6276973"/>
                  <a:pt x="3521403" y="6279114"/>
                  <a:pt x="3515340" y="6280898"/>
                </a:cubicBezTo>
                <a:cubicBezTo>
                  <a:pt x="2945833" y="6473051"/>
                  <a:pt x="2332088" y="6490820"/>
                  <a:pt x="1752240" y="6331924"/>
                </a:cubicBezTo>
                <a:lnTo>
                  <a:pt x="1735470" y="6327642"/>
                </a:lnTo>
                <a:cubicBezTo>
                  <a:pt x="1719057" y="6323003"/>
                  <a:pt x="1702287" y="6318007"/>
                  <a:pt x="1685875" y="6313013"/>
                </a:cubicBezTo>
                <a:cubicBezTo>
                  <a:pt x="1426816" y="6236508"/>
                  <a:pt x="1179170" y="6125606"/>
                  <a:pt x="949731" y="5983301"/>
                </a:cubicBezTo>
                <a:cubicBezTo>
                  <a:pt x="895849" y="5949047"/>
                  <a:pt x="843039" y="5913364"/>
                  <a:pt x="790943" y="5876252"/>
                </a:cubicBezTo>
                <a:lnTo>
                  <a:pt x="755261" y="5850919"/>
                </a:lnTo>
                <a:lnTo>
                  <a:pt x="727070" y="5829865"/>
                </a:lnTo>
                <a:cubicBezTo>
                  <a:pt x="711371" y="5818091"/>
                  <a:pt x="696026" y="5806315"/>
                  <a:pt x="680684" y="5794182"/>
                </a:cubicBezTo>
                <a:cubicBezTo>
                  <a:pt x="673902" y="5789186"/>
                  <a:pt x="667482" y="5783835"/>
                  <a:pt x="661057" y="5778839"/>
                </a:cubicBezTo>
                <a:cubicBezTo>
                  <a:pt x="512615" y="5661227"/>
                  <a:pt x="375593" y="5529807"/>
                  <a:pt x="251775" y="5386327"/>
                </a:cubicBezTo>
                <a:lnTo>
                  <a:pt x="249632" y="5384186"/>
                </a:lnTo>
                <a:cubicBezTo>
                  <a:pt x="218945" y="5348146"/>
                  <a:pt x="188972" y="5309965"/>
                  <a:pt x="160067" y="5274282"/>
                </a:cubicBezTo>
                <a:lnTo>
                  <a:pt x="145440" y="5255371"/>
                </a:lnTo>
                <a:cubicBezTo>
                  <a:pt x="121888" y="5225039"/>
                  <a:pt x="99051" y="5193640"/>
                  <a:pt x="76927" y="5162239"/>
                </a:cubicBezTo>
                <a:lnTo>
                  <a:pt x="45169" y="5116564"/>
                </a:lnTo>
                <a:cubicBezTo>
                  <a:pt x="30181" y="5094798"/>
                  <a:pt x="15911" y="5073032"/>
                  <a:pt x="1637" y="5050909"/>
                </a:cubicBezTo>
                <a:lnTo>
                  <a:pt x="0" y="5048101"/>
                </a:lnTo>
                <a:lnTo>
                  <a:pt x="0" y="1766380"/>
                </a:lnTo>
                <a:lnTo>
                  <a:pt x="12119" y="1746735"/>
                </a:lnTo>
                <a:cubicBezTo>
                  <a:pt x="41757" y="1701464"/>
                  <a:pt x="72646" y="1656939"/>
                  <a:pt x="104761" y="1613214"/>
                </a:cubicBezTo>
                <a:cubicBezTo>
                  <a:pt x="110114" y="1605720"/>
                  <a:pt x="115106" y="1598585"/>
                  <a:pt x="120817" y="1591448"/>
                </a:cubicBezTo>
                <a:cubicBezTo>
                  <a:pt x="136877" y="1569680"/>
                  <a:pt x="152932" y="1548271"/>
                  <a:pt x="169702" y="1527219"/>
                </a:cubicBezTo>
                <a:cubicBezTo>
                  <a:pt x="190044" y="1501526"/>
                  <a:pt x="210738" y="1476191"/>
                  <a:pt x="231790" y="1451214"/>
                </a:cubicBezTo>
                <a:cubicBezTo>
                  <a:pt x="244635" y="1435869"/>
                  <a:pt x="257838" y="1420883"/>
                  <a:pt x="271041" y="1405896"/>
                </a:cubicBezTo>
                <a:cubicBezTo>
                  <a:pt x="289954" y="1385557"/>
                  <a:pt x="307081" y="1365575"/>
                  <a:pt x="325636" y="1345592"/>
                </a:cubicBezTo>
                <a:cubicBezTo>
                  <a:pt x="337772" y="1333104"/>
                  <a:pt x="349188" y="1320614"/>
                  <a:pt x="361319" y="1308126"/>
                </a:cubicBezTo>
                <a:cubicBezTo>
                  <a:pt x="387367" y="1281006"/>
                  <a:pt x="414129" y="1254244"/>
                  <a:pt x="441249" y="1228196"/>
                </a:cubicBezTo>
                <a:cubicBezTo>
                  <a:pt x="451955" y="1217490"/>
                  <a:pt x="462662" y="1207142"/>
                  <a:pt x="473722" y="1196795"/>
                </a:cubicBezTo>
                <a:cubicBezTo>
                  <a:pt x="502627" y="1169676"/>
                  <a:pt x="532242" y="1142913"/>
                  <a:pt x="562215" y="1116866"/>
                </a:cubicBezTo>
                <a:cubicBezTo>
                  <a:pt x="566496" y="1113296"/>
                  <a:pt x="566496" y="1112582"/>
                  <a:pt x="574346" y="1105802"/>
                </a:cubicBezTo>
                <a:cubicBezTo>
                  <a:pt x="582199" y="1099024"/>
                  <a:pt x="590763" y="1092599"/>
                  <a:pt x="598969" y="1085819"/>
                </a:cubicBezTo>
                <a:cubicBezTo>
                  <a:pt x="620021" y="1068692"/>
                  <a:pt x="637148" y="1054063"/>
                  <a:pt x="663553" y="1033009"/>
                </a:cubicBezTo>
                <a:cubicBezTo>
                  <a:pt x="689962" y="1011958"/>
                  <a:pt x="716725" y="991618"/>
                  <a:pt x="743840" y="971636"/>
                </a:cubicBezTo>
                <a:cubicBezTo>
                  <a:pt x="756332" y="962001"/>
                  <a:pt x="768820" y="952723"/>
                  <a:pt x="781666" y="943445"/>
                </a:cubicBezTo>
                <a:cubicBezTo>
                  <a:pt x="1134570" y="689169"/>
                  <a:pt x="1538499" y="514252"/>
                  <a:pt x="1965623" y="430681"/>
                </a:cubicBezTo>
                <a:lnTo>
                  <a:pt x="1981679" y="427471"/>
                </a:lnTo>
                <a:cubicBezTo>
                  <a:pt x="2014870" y="421049"/>
                  <a:pt x="2050553" y="414624"/>
                  <a:pt x="2086236" y="409273"/>
                </a:cubicBezTo>
                <a:cubicBezTo>
                  <a:pt x="2099434" y="407132"/>
                  <a:pt x="2112641" y="405348"/>
                  <a:pt x="2125839" y="403562"/>
                </a:cubicBezTo>
                <a:cubicBezTo>
                  <a:pt x="2154745" y="399637"/>
                  <a:pt x="2183293" y="395356"/>
                  <a:pt x="2212198" y="392143"/>
                </a:cubicBezTo>
                <a:cubicBezTo>
                  <a:pt x="2255373" y="387149"/>
                  <a:pt x="2298905" y="383223"/>
                  <a:pt x="2342794" y="380012"/>
                </a:cubicBezTo>
                <a:cubicBezTo>
                  <a:pt x="2348143" y="380012"/>
                  <a:pt x="2353501" y="380012"/>
                  <a:pt x="2358850" y="380012"/>
                </a:cubicBezTo>
                <a:cubicBezTo>
                  <a:pt x="2400248" y="377157"/>
                  <a:pt x="2442351" y="374302"/>
                  <a:pt x="2484098" y="374302"/>
                </a:cubicBezTo>
                <a:lnTo>
                  <a:pt x="2507297" y="374302"/>
                </a:lnTo>
                <a:cubicBezTo>
                  <a:pt x="2546900" y="374302"/>
                  <a:pt x="2586512" y="374302"/>
                  <a:pt x="2626115" y="374302"/>
                </a:cubicBezTo>
                <a:cubicBezTo>
                  <a:pt x="2634321" y="374302"/>
                  <a:pt x="2642528" y="374302"/>
                  <a:pt x="2651091" y="374302"/>
                </a:cubicBezTo>
                <a:cubicBezTo>
                  <a:pt x="2689989" y="375730"/>
                  <a:pt x="2728886" y="377514"/>
                  <a:pt x="2768132" y="380369"/>
                </a:cubicBezTo>
                <a:cubicBezTo>
                  <a:pt x="2776696" y="382153"/>
                  <a:pt x="2784902" y="382153"/>
                  <a:pt x="2793466" y="382153"/>
                </a:cubicBezTo>
                <a:cubicBezTo>
                  <a:pt x="2808459" y="383580"/>
                  <a:pt x="2823443" y="385721"/>
                  <a:pt x="2838427" y="385721"/>
                </a:cubicBezTo>
                <a:cubicBezTo>
                  <a:pt x="2845570" y="387506"/>
                  <a:pt x="2852348" y="387506"/>
                  <a:pt x="2859126" y="387506"/>
                </a:cubicBezTo>
                <a:cubicBezTo>
                  <a:pt x="3156053" y="411422"/>
                  <a:pt x="3435224" y="259726"/>
                  <a:pt x="3579019" y="7386"/>
                </a:cubicBezTo>
                <a:close/>
              </a:path>
            </a:pathLst>
          </a:custGeom>
          <a:solidFill>
            <a:schemeClr val="accent1"/>
          </a:solidFill>
        </p:spPr>
        <p:txBody>
          <a:bodyPr wrap="square" tIns="720000" anchor="ctr">
            <a:noAutofit/>
          </a:bodyPr>
          <a:lstStyle>
            <a:lvl1pPr algn="ctr">
              <a:spcBef>
                <a:spcPts val="0"/>
              </a:spcBef>
              <a:spcAft>
                <a:spcPts val="0"/>
              </a:spcAft>
              <a:defRPr sz="1000" baseline="0">
                <a:solidFill>
                  <a:schemeClr val="accent4"/>
                </a:solidFill>
              </a:defRPr>
            </a:lvl1pPr>
          </a:lstStyle>
          <a:p>
            <a:r>
              <a:rPr lang="en-US" noProof="0" dirty="0"/>
              <a:t>Click icon to add picture</a:t>
            </a:r>
          </a:p>
        </p:txBody>
      </p:sp>
      <p:graphicFrame>
        <p:nvGraphicFramePr>
          <p:cNvPr id="5" name="Object 4"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5" name="Object 4"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 Placeholder 12"/>
          <p:cNvSpPr>
            <a:spLocks noGrp="1"/>
          </p:cNvSpPr>
          <p:nvPr userDrawn="1">
            <p:ph type="body" sz="quarter" idx="10" hasCustomPrompt="1"/>
          </p:nvPr>
        </p:nvSpPr>
        <p:spPr bwMode="gray">
          <a:xfrm>
            <a:off x="6240959" y="3645024"/>
            <a:ext cx="5327649" cy="576263"/>
          </a:xfrm>
          <a:prstGeom prst="rect">
            <a:avLst/>
          </a:prstGeom>
        </p:spPr>
        <p:txBody>
          <a:bodyPr>
            <a:noAutofit/>
          </a:bodyPr>
          <a:lstStyle>
            <a:lvl1pPr marL="0" indent="0">
              <a:spcBef>
                <a:spcPts val="0"/>
              </a:spcBef>
              <a:spcAft>
                <a:spcPts val="0"/>
              </a:spcAft>
              <a:buFont typeface="Arial" panose="020B0604020202020204" pitchFamily="34" charset="0"/>
              <a:buNone/>
              <a:defRPr baseline="0">
                <a:solidFill>
                  <a:schemeClr val="accent1"/>
                </a:solidFill>
              </a:defRPr>
            </a:lvl1pPr>
            <a:lvl2pPr marL="0" indent="0">
              <a:spcBef>
                <a:spcPts val="0"/>
              </a:spcBef>
              <a:spcAft>
                <a:spcPts val="0"/>
              </a:spcAft>
              <a:buNone/>
              <a:defRPr>
                <a:solidFill>
                  <a:schemeClr val="accent1"/>
                </a:solidFill>
              </a:defRPr>
            </a:lvl2pPr>
            <a:lvl3pPr marL="0" indent="0">
              <a:spcBef>
                <a:spcPts val="0"/>
              </a:spcBef>
              <a:spcAft>
                <a:spcPts val="0"/>
              </a:spcAft>
              <a:buNone/>
              <a:defRPr>
                <a:solidFill>
                  <a:schemeClr val="accent1"/>
                </a:solidFill>
              </a:defRPr>
            </a:lvl3pPr>
            <a:lvl4pPr marL="0" indent="0">
              <a:spcBef>
                <a:spcPts val="0"/>
              </a:spcBef>
              <a:spcAft>
                <a:spcPts val="0"/>
              </a:spcAft>
              <a:buNone/>
              <a:defRPr>
                <a:solidFill>
                  <a:schemeClr val="accent1"/>
                </a:solidFill>
              </a:defRPr>
            </a:lvl4pPr>
            <a:lvl5pPr marL="0" indent="0">
              <a:spcBef>
                <a:spcPts val="0"/>
              </a:spcBef>
              <a:spcAft>
                <a:spcPts val="0"/>
              </a:spcAft>
              <a:buNone/>
              <a:defRPr>
                <a:solidFill>
                  <a:schemeClr val="accent1"/>
                </a:solidFill>
              </a:defRPr>
            </a:lvl5pPr>
            <a:lvl6pPr marL="0" indent="0">
              <a:spcBef>
                <a:spcPts val="0"/>
              </a:spcBef>
              <a:spcAft>
                <a:spcPts val="0"/>
              </a:spcAft>
              <a:buNone/>
              <a:defRPr>
                <a:solidFill>
                  <a:schemeClr val="accent1"/>
                </a:solidFill>
              </a:defRPr>
            </a:lvl6pPr>
            <a:lvl7pPr marL="0" indent="0">
              <a:spcBef>
                <a:spcPts val="0"/>
              </a:spcBef>
              <a:spcAft>
                <a:spcPts val="0"/>
              </a:spcAft>
              <a:buNone/>
              <a:defRPr>
                <a:solidFill>
                  <a:schemeClr val="accent1"/>
                </a:solidFill>
              </a:defRPr>
            </a:lvl7pPr>
            <a:lvl8pPr marL="0" indent="0">
              <a:spcBef>
                <a:spcPts val="0"/>
              </a:spcBef>
              <a:spcAft>
                <a:spcPts val="0"/>
              </a:spcAft>
              <a:buNone/>
              <a:defRPr>
                <a:solidFill>
                  <a:schemeClr val="accent1"/>
                </a:solidFill>
              </a:defRPr>
            </a:lvl8pPr>
            <a:lvl9pPr marL="0" indent="0">
              <a:spcBef>
                <a:spcPts val="0"/>
              </a:spcBef>
              <a:spcAft>
                <a:spcPts val="0"/>
              </a:spcAft>
              <a:buNone/>
              <a:defRPr>
                <a:solidFill>
                  <a:schemeClr val="accent1"/>
                </a:solidFill>
              </a:defRPr>
            </a:lvl9pPr>
          </a:lstStyle>
          <a:p>
            <a:r>
              <a:rPr lang="en-US" noProof="0" dirty="0"/>
              <a:t>Name</a:t>
            </a:r>
          </a:p>
          <a:p>
            <a:r>
              <a:rPr lang="en-US" noProof="0" dirty="0"/>
              <a:t>Place, Date</a:t>
            </a:r>
          </a:p>
        </p:txBody>
      </p:sp>
      <p:sp>
        <p:nvSpPr>
          <p:cNvPr id="3" name="Subtitle 2"/>
          <p:cNvSpPr>
            <a:spLocks noGrp="1"/>
          </p:cNvSpPr>
          <p:nvPr userDrawn="1">
            <p:ph type="subTitle" idx="1" hasCustomPrompt="1"/>
          </p:nvPr>
        </p:nvSpPr>
        <p:spPr bwMode="gray">
          <a:xfrm>
            <a:off x="6241201" y="2877362"/>
            <a:ext cx="5327407" cy="648000"/>
          </a:xfrm>
          <a:prstGeom prst="rect">
            <a:avLst/>
          </a:prstGeom>
        </p:spPr>
        <p:txBody>
          <a:bodyPr>
            <a:noAutofit/>
          </a:bodyPr>
          <a:lstStyle>
            <a:lvl1pPr marL="0" indent="0" algn="l">
              <a:spcBef>
                <a:spcPts val="0"/>
              </a:spcBef>
              <a:spcAft>
                <a:spcPts val="1200"/>
              </a:spcAft>
              <a:buNone/>
              <a:defRPr sz="1600" b="1" i="0" baseline="0">
                <a:solidFill>
                  <a:schemeClr val="accent1"/>
                </a:solidFill>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r>
              <a:rPr lang="en-US" noProof="0" dirty="0"/>
              <a:t>Subtitle and other information of this presentation</a:t>
            </a:r>
          </a:p>
        </p:txBody>
      </p:sp>
      <p:sp>
        <p:nvSpPr>
          <p:cNvPr id="2" name="Title 1"/>
          <p:cNvSpPr>
            <a:spLocks noGrp="1"/>
          </p:cNvSpPr>
          <p:nvPr userDrawn="1">
            <p:ph type="ctrTitle" hasCustomPrompt="1"/>
          </p:nvPr>
        </p:nvSpPr>
        <p:spPr bwMode="gray">
          <a:xfrm>
            <a:off x="6241201" y="1484784"/>
            <a:ext cx="5327407" cy="1249282"/>
          </a:xfrm>
          <a:prstGeom prst="rect">
            <a:avLst/>
          </a:prstGeom>
          <a:noFill/>
        </p:spPr>
        <p:txBody>
          <a:bodyPr anchor="b"/>
          <a:lstStyle>
            <a:lvl1pPr algn="l">
              <a:lnSpc>
                <a:spcPct val="100000"/>
              </a:lnSpc>
              <a:defRPr sz="4000" b="0" cap="none" baseline="0">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2" name="Logo Merck"/>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3" name="Freeform 5"/>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4" name="Freeform 6"/>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16" name="Textplatzhalter 5">
            <a:extLst>
              <a:ext uri="{FF2B5EF4-FFF2-40B4-BE49-F238E27FC236}">
                <a16:creationId xmlns:a16="http://schemas.microsoft.com/office/drawing/2014/main" id="{AFEA3E05-C98C-4A6F-8215-CFEBF6287563}"/>
              </a:ext>
            </a:extLst>
          </p:cNvPr>
          <p:cNvSpPr>
            <a:spLocks noGrp="1"/>
          </p:cNvSpPr>
          <p:nvPr>
            <p:ph type="body" sz="quarter" idx="21" hasCustomPrompt="1"/>
          </p:nvPr>
        </p:nvSpPr>
        <p:spPr>
          <a:xfrm>
            <a:off x="468313" y="5268913"/>
            <a:ext cx="2523600" cy="1256400"/>
          </a:xfrm>
          <a:blipFill>
            <a:blip>
              <a:extLst>
                <a:ext uri="{96DAC541-7B7A-43D3-8B79-37D633B846F1}">
                  <asvg:svgBlip xmlns:asvg="http://schemas.microsoft.com/office/drawing/2016/SVG/main" r:embed="rId5"/>
                </a:ext>
              </a:extLst>
            </a:blip>
            <a:stretch>
              <a:fillRect/>
            </a:stretch>
          </a:blipFill>
        </p:spPr>
        <p:txBody>
          <a:bodyPr/>
          <a:lstStyle/>
          <a:p>
            <a:pPr lvl="0"/>
            <a:r>
              <a:rPr lang="en-US"/>
              <a:t> </a:t>
            </a:r>
            <a:endParaRPr lang="en-US" dirty="0"/>
          </a:p>
        </p:txBody>
      </p:sp>
    </p:spTree>
    <p:extLst>
      <p:ext uri="{BB962C8B-B14F-4D97-AF65-F5344CB8AC3E}">
        <p14:creationId xmlns:p14="http://schemas.microsoft.com/office/powerpoint/2010/main" val="73502730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C3934CB-8BB6-4295-9E3F-E889A0497F8E}"/>
              </a:ext>
            </a:extLst>
          </p:cNvPr>
          <p:cNvSpPr/>
          <p:nvPr userDrawn="1"/>
        </p:nvSpPr>
        <p:spPr bwMode="gray">
          <a:xfrm>
            <a:off x="0" y="0"/>
            <a:ext cx="12192000" cy="6858000"/>
          </a:xfrm>
          <a:prstGeom prst="rect">
            <a:avLst/>
          </a:prstGeom>
          <a:solidFill>
            <a:schemeClr val="accent4"/>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16" name="Bildplatzhalter 15">
            <a:extLst>
              <a:ext uri="{FF2B5EF4-FFF2-40B4-BE49-F238E27FC236}">
                <a16:creationId xmlns:a16="http://schemas.microsoft.com/office/drawing/2014/main" id="{EECC7198-6067-4EA9-B6D3-8AEA32B75E9A}"/>
              </a:ext>
            </a:extLst>
          </p:cNvPr>
          <p:cNvSpPr>
            <a:spLocks noGrp="1"/>
          </p:cNvSpPr>
          <p:nvPr>
            <p:ph type="pic" sz="quarter" idx="29" hasCustomPrompt="1"/>
          </p:nvPr>
        </p:nvSpPr>
        <p:spPr bwMode="gray">
          <a:xfrm>
            <a:off x="0" y="0"/>
            <a:ext cx="12191999" cy="6858000"/>
          </a:xfrm>
          <a:custGeom>
            <a:avLst/>
            <a:gdLst>
              <a:gd name="connsiteX0" fmla="*/ 4666441 w 12191999"/>
              <a:gd name="connsiteY0" fmla="*/ 0 h 6858000"/>
              <a:gd name="connsiteX1" fmla="*/ 4822953 w 12191999"/>
              <a:gd name="connsiteY1" fmla="*/ 115217 h 6858000"/>
              <a:gd name="connsiteX2" fmla="*/ 5071100 w 12191999"/>
              <a:gd name="connsiteY2" fmla="*/ 329064 h 6858000"/>
              <a:gd name="connsiteX3" fmla="*/ 5414453 w 12191999"/>
              <a:gd name="connsiteY3" fmla="*/ 688319 h 6858000"/>
              <a:gd name="connsiteX4" fmla="*/ 5421059 w 12191999"/>
              <a:gd name="connsiteY4" fmla="*/ 697512 h 6858000"/>
              <a:gd name="connsiteX5" fmla="*/ 6711038 w 12191999"/>
              <a:gd name="connsiteY5" fmla="*/ 937545 h 6858000"/>
              <a:gd name="connsiteX6" fmla="*/ 7101484 w 12191999"/>
              <a:gd name="connsiteY6" fmla="*/ 735763 h 6858000"/>
              <a:gd name="connsiteX7" fmla="*/ 7468653 w 12191999"/>
              <a:gd name="connsiteY7" fmla="*/ 94817 h 6858000"/>
              <a:gd name="connsiteX8" fmla="*/ 7456312 w 12191999"/>
              <a:gd name="connsiteY8" fmla="*/ 0 h 6858000"/>
              <a:gd name="connsiteX9" fmla="*/ 12191999 w 12191999"/>
              <a:gd name="connsiteY9" fmla="*/ 0 h 6858000"/>
              <a:gd name="connsiteX10" fmla="*/ 12191999 w 12191999"/>
              <a:gd name="connsiteY10" fmla="*/ 1114133 h 6858000"/>
              <a:gd name="connsiteX11" fmla="*/ 12015551 w 12191999"/>
              <a:gd name="connsiteY11" fmla="*/ 1305567 h 6858000"/>
              <a:gd name="connsiteX12" fmla="*/ 11351230 w 12191999"/>
              <a:gd name="connsiteY12" fmla="*/ 1784817 h 6858000"/>
              <a:gd name="connsiteX13" fmla="*/ 8628542 w 12191999"/>
              <a:gd name="connsiteY13" fmla="*/ 1651626 h 6858000"/>
              <a:gd name="connsiteX14" fmla="*/ 8070989 w 12191999"/>
              <a:gd name="connsiteY14" fmla="*/ 1175681 h 6858000"/>
              <a:gd name="connsiteX15" fmla="*/ 8058100 w 12191999"/>
              <a:gd name="connsiteY15" fmla="*/ 1161162 h 6858000"/>
              <a:gd name="connsiteX16" fmla="*/ 7241261 w 12191999"/>
              <a:gd name="connsiteY16" fmla="*/ 1012508 h 6858000"/>
              <a:gd name="connsiteX17" fmla="*/ 6850815 w 12191999"/>
              <a:gd name="connsiteY17" fmla="*/ 1214290 h 6858000"/>
              <a:gd name="connsiteX18" fmla="*/ 6296619 w 12191999"/>
              <a:gd name="connsiteY18" fmla="*/ 2403637 h 6858000"/>
              <a:gd name="connsiteX19" fmla="*/ 6299674 w 12191999"/>
              <a:gd name="connsiteY19" fmla="*/ 2417021 h 6858000"/>
              <a:gd name="connsiteX20" fmla="*/ 6392728 w 12191999"/>
              <a:gd name="connsiteY20" fmla="*/ 2906071 h 6858000"/>
              <a:gd name="connsiteX21" fmla="*/ 4949296 w 12191999"/>
              <a:gd name="connsiteY21" fmla="*/ 6698046 h 6858000"/>
              <a:gd name="connsiteX22" fmla="*/ 4748505 w 12191999"/>
              <a:gd name="connsiteY22" fmla="*/ 6857999 h 6858000"/>
              <a:gd name="connsiteX23" fmla="*/ 2 w 12191999"/>
              <a:gd name="connsiteY23" fmla="*/ 6858000 h 6858000"/>
              <a:gd name="connsiteX24" fmla="*/ 0 w 12191999"/>
              <a:gd name="connsiteY2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1999" h="6858000">
                <a:moveTo>
                  <a:pt x="4666441" y="0"/>
                </a:moveTo>
                <a:lnTo>
                  <a:pt x="4822953" y="115217"/>
                </a:lnTo>
                <a:cubicBezTo>
                  <a:pt x="4908101" y="183061"/>
                  <a:pt x="4990894" y="254369"/>
                  <a:pt x="5071100" y="329064"/>
                </a:cubicBezTo>
                <a:cubicBezTo>
                  <a:pt x="5191465" y="441834"/>
                  <a:pt x="5306510" y="560888"/>
                  <a:pt x="5414453" y="688319"/>
                </a:cubicBezTo>
                <a:cubicBezTo>
                  <a:pt x="5416549" y="690095"/>
                  <a:pt x="5418966" y="695739"/>
                  <a:pt x="5421059" y="697512"/>
                </a:cubicBezTo>
                <a:cubicBezTo>
                  <a:pt x="5737006" y="1055137"/>
                  <a:pt x="6266243" y="1165250"/>
                  <a:pt x="6711038" y="937545"/>
                </a:cubicBezTo>
                <a:lnTo>
                  <a:pt x="7101484" y="735763"/>
                </a:lnTo>
                <a:cubicBezTo>
                  <a:pt x="7344910" y="608239"/>
                  <a:pt x="7480897" y="353878"/>
                  <a:pt x="7468653" y="94817"/>
                </a:cubicBezTo>
                <a:lnTo>
                  <a:pt x="7456312" y="0"/>
                </a:lnTo>
                <a:lnTo>
                  <a:pt x="12191999" y="0"/>
                </a:lnTo>
                <a:lnTo>
                  <a:pt x="12191999" y="1114133"/>
                </a:lnTo>
                <a:lnTo>
                  <a:pt x="12015551" y="1305567"/>
                </a:lnTo>
                <a:cubicBezTo>
                  <a:pt x="11824420" y="1493414"/>
                  <a:pt x="11602093" y="1655948"/>
                  <a:pt x="11351230" y="1784817"/>
                </a:cubicBezTo>
                <a:cubicBezTo>
                  <a:pt x="10454221" y="2244741"/>
                  <a:pt x="9420658" y="2160767"/>
                  <a:pt x="8628542" y="1651626"/>
                </a:cubicBezTo>
                <a:cubicBezTo>
                  <a:pt x="8424994" y="1522365"/>
                  <a:pt x="8236456" y="1362639"/>
                  <a:pt x="8070989" y="1175681"/>
                </a:cubicBezTo>
                <a:cubicBezTo>
                  <a:pt x="8066800" y="1172132"/>
                  <a:pt x="8062290" y="1164711"/>
                  <a:pt x="8058100" y="1161162"/>
                </a:cubicBezTo>
                <a:cubicBezTo>
                  <a:pt x="7856381" y="936295"/>
                  <a:pt x="7521556" y="868540"/>
                  <a:pt x="7241261" y="1012508"/>
                </a:cubicBezTo>
                <a:lnTo>
                  <a:pt x="6850815" y="1214290"/>
                </a:lnTo>
                <a:cubicBezTo>
                  <a:pt x="6406022" y="1441997"/>
                  <a:pt x="6190004" y="1939083"/>
                  <a:pt x="6296619" y="2403637"/>
                </a:cubicBezTo>
                <a:cubicBezTo>
                  <a:pt x="6299033" y="2409281"/>
                  <a:pt x="6299353" y="2413149"/>
                  <a:pt x="6299674" y="2417021"/>
                </a:cubicBezTo>
                <a:cubicBezTo>
                  <a:pt x="6340527" y="2581172"/>
                  <a:pt x="6371544" y="2744188"/>
                  <a:pt x="6392728" y="2906071"/>
                </a:cubicBezTo>
                <a:cubicBezTo>
                  <a:pt x="6577766" y="4320015"/>
                  <a:pt x="6041807" y="5755026"/>
                  <a:pt x="4949296" y="6698046"/>
                </a:cubicBezTo>
                <a:lnTo>
                  <a:pt x="4748505" y="6857999"/>
                </a:lnTo>
                <a:lnTo>
                  <a:pt x="2" y="6858000"/>
                </a:lnTo>
                <a:lnTo>
                  <a:pt x="0" y="0"/>
                </a:lnTo>
                <a:close/>
              </a:path>
            </a:pathLst>
          </a:custGeom>
          <a:solidFill>
            <a:schemeClr val="accent1"/>
          </a:solidFill>
        </p:spPr>
        <p:txBody>
          <a:bodyPr wrap="square" tIns="720000" rIns="1152000" anchor="ctr">
            <a:noAutofit/>
          </a:bodyPr>
          <a:lstStyle>
            <a:lvl1pPr algn="ctr">
              <a:defRPr sz="1000">
                <a:solidFill>
                  <a:schemeClr val="accent4"/>
                </a:solidFill>
              </a:defRPr>
            </a:lvl1pPr>
          </a:lstStyle>
          <a:p>
            <a:r>
              <a:rPr lang="en-US" dirty="0"/>
              <a:t>Click icon to add picture</a:t>
            </a:r>
          </a:p>
        </p:txBody>
      </p:sp>
      <p:grpSp>
        <p:nvGrpSpPr>
          <p:cNvPr id="9" name="Logo Merck">
            <a:extLst>
              <a:ext uri="{FF2B5EF4-FFF2-40B4-BE49-F238E27FC236}">
                <a16:creationId xmlns:a16="http://schemas.microsoft.com/office/drawing/2014/main" id="{A53CD560-4CA7-46BB-BC2E-6E0DD643BAD9}"/>
              </a:ext>
            </a:extLst>
          </p:cNvPr>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0" name="Freeform 6">
              <a:extLst>
                <a:ext uri="{FF2B5EF4-FFF2-40B4-BE49-F238E27FC236}">
                  <a16:creationId xmlns:a16="http://schemas.microsoft.com/office/drawing/2014/main" id="{8AC99C15-F658-4FF4-8A82-9DC1DB3A2151}"/>
                </a:ext>
              </a:extLst>
            </p:cNvPr>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1" name="Freeform 5">
              <a:extLst>
                <a:ext uri="{FF2B5EF4-FFF2-40B4-BE49-F238E27FC236}">
                  <a16:creationId xmlns:a16="http://schemas.microsoft.com/office/drawing/2014/main" id="{DF9D1B15-F134-4104-8ECB-4E219F8201E7}"/>
                </a:ext>
              </a:extLst>
            </p:cNvPr>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
        <p:nvSpPr>
          <p:cNvPr id="13" name="Textplatzhalter 12">
            <a:extLst>
              <a:ext uri="{FF2B5EF4-FFF2-40B4-BE49-F238E27FC236}">
                <a16:creationId xmlns:a16="http://schemas.microsoft.com/office/drawing/2014/main" id="{66C6A80C-F83C-40B2-AC80-270D417562A0}"/>
              </a:ext>
            </a:extLst>
          </p:cNvPr>
          <p:cNvSpPr>
            <a:spLocks noGrp="1"/>
          </p:cNvSpPr>
          <p:nvPr>
            <p:ph type="body" sz="quarter" idx="30" hasCustomPrompt="1"/>
          </p:nvPr>
        </p:nvSpPr>
        <p:spPr>
          <a:xfrm>
            <a:off x="7104063" y="2708920"/>
            <a:ext cx="4464050" cy="1152897"/>
          </a:xfrm>
        </p:spPr>
        <p:txBody>
          <a:bodyPr/>
          <a:lstStyle>
            <a:lvl1pPr>
              <a:defRPr sz="4000" b="0">
                <a:solidFill>
                  <a:schemeClr val="accent1"/>
                </a:solidFill>
                <a:latin typeface="Merck" panose="02060803030402040803" pitchFamily="18" charset="0"/>
              </a:defRPr>
            </a:lvl1pPr>
            <a:lvl2pPr>
              <a:defRPr sz="4000" b="0">
                <a:latin typeface="Merck" panose="02060803030402040803" pitchFamily="18" charset="0"/>
              </a:defRPr>
            </a:lvl2pPr>
            <a:lvl3pPr>
              <a:defRPr sz="4000" b="0">
                <a:latin typeface="Merck" panose="02060803030402040803" pitchFamily="18" charset="0"/>
              </a:defRPr>
            </a:lvl3pPr>
            <a:lvl4pPr>
              <a:defRPr sz="4000" b="0">
                <a:latin typeface="Merck" panose="02060803030402040803" pitchFamily="18" charset="0"/>
              </a:defRPr>
            </a:lvl4pPr>
            <a:lvl5pPr>
              <a:defRPr sz="4000" b="0">
                <a:latin typeface="Merck" panose="02060803030402040803" pitchFamily="18" charset="0"/>
              </a:defRPr>
            </a:lvl5pPr>
          </a:lstStyle>
          <a:p>
            <a:pPr lvl="0"/>
            <a:r>
              <a:rPr lang="en-US"/>
              <a:t>Title of Presentation</a:t>
            </a:r>
            <a:endParaRPr lang="en-US" dirty="0"/>
          </a:p>
        </p:txBody>
      </p:sp>
      <p:sp>
        <p:nvSpPr>
          <p:cNvPr id="15" name="Textplatzhalter 14">
            <a:extLst>
              <a:ext uri="{FF2B5EF4-FFF2-40B4-BE49-F238E27FC236}">
                <a16:creationId xmlns:a16="http://schemas.microsoft.com/office/drawing/2014/main" id="{0CE3CF8F-0CBF-43D8-ADD0-7BFBBE16849C}"/>
              </a:ext>
            </a:extLst>
          </p:cNvPr>
          <p:cNvSpPr>
            <a:spLocks noGrp="1"/>
          </p:cNvSpPr>
          <p:nvPr>
            <p:ph type="body" sz="quarter" idx="31" hasCustomPrompt="1"/>
          </p:nvPr>
        </p:nvSpPr>
        <p:spPr>
          <a:xfrm>
            <a:off x="7104063" y="4077444"/>
            <a:ext cx="4464050" cy="576000"/>
          </a:xfrm>
          <a:noFill/>
        </p:spPr>
        <p:txBody>
          <a:bodyPr/>
          <a:lstStyle>
            <a:lvl1pPr>
              <a:defRPr b="1">
                <a:solidFill>
                  <a:schemeClr val="accent1"/>
                </a:solidFill>
              </a:defRPr>
            </a:lvl1pPr>
          </a:lstStyle>
          <a:p>
            <a:pPr lvl="0"/>
            <a:r>
              <a:rPr lang="en-US" dirty="0"/>
              <a:t>Subtitle and other information of this presentation</a:t>
            </a:r>
          </a:p>
        </p:txBody>
      </p:sp>
      <p:sp>
        <p:nvSpPr>
          <p:cNvPr id="17" name="Textplatzhalter 16">
            <a:extLst>
              <a:ext uri="{FF2B5EF4-FFF2-40B4-BE49-F238E27FC236}">
                <a16:creationId xmlns:a16="http://schemas.microsoft.com/office/drawing/2014/main" id="{BCB13BD1-4404-4C8A-9FA2-9617B313B360}"/>
              </a:ext>
            </a:extLst>
          </p:cNvPr>
          <p:cNvSpPr>
            <a:spLocks noGrp="1"/>
          </p:cNvSpPr>
          <p:nvPr>
            <p:ph type="body" sz="quarter" idx="32" hasCustomPrompt="1"/>
          </p:nvPr>
        </p:nvSpPr>
        <p:spPr>
          <a:xfrm>
            <a:off x="7104063" y="4796954"/>
            <a:ext cx="4464050" cy="576262"/>
          </a:xfrm>
          <a:noFill/>
        </p:spPr>
        <p:txBody>
          <a:bodyPr/>
          <a:lstStyle>
            <a:lvl1pPr>
              <a:defRPr>
                <a:solidFill>
                  <a:schemeClr val="accent1"/>
                </a:solidFill>
              </a:defRPr>
            </a:lvl1pPr>
          </a:lstStyle>
          <a:p>
            <a:pPr lvl="0"/>
            <a:r>
              <a:rPr lang="en-US"/>
              <a:t>Name</a:t>
            </a:r>
            <a:br>
              <a:rPr lang="en-US"/>
            </a:br>
            <a:r>
              <a:rPr lang="en-US"/>
              <a:t>Place, Date</a:t>
            </a:r>
            <a:endParaRPr lang="en-US" dirty="0"/>
          </a:p>
        </p:txBody>
      </p:sp>
      <p:sp>
        <p:nvSpPr>
          <p:cNvPr id="12" name="Textplatzhalter 5">
            <a:extLst>
              <a:ext uri="{FF2B5EF4-FFF2-40B4-BE49-F238E27FC236}">
                <a16:creationId xmlns:a16="http://schemas.microsoft.com/office/drawing/2014/main" id="{1ACE052B-D80F-45C8-8E6A-31B4BBFB37F8}"/>
              </a:ext>
            </a:extLst>
          </p:cNvPr>
          <p:cNvSpPr>
            <a:spLocks noGrp="1"/>
          </p:cNvSpPr>
          <p:nvPr>
            <p:ph type="body" sz="quarter" idx="21" hasCustomPrompt="1"/>
          </p:nvPr>
        </p:nvSpPr>
        <p:spPr>
          <a:xfrm>
            <a:off x="468313" y="4575634"/>
            <a:ext cx="3916118" cy="1949679"/>
          </a:xfrm>
          <a:blipFill>
            <a:blip>
              <a:extLst>
                <a:ext uri="{96DAC541-7B7A-43D3-8B79-37D633B846F1}">
                  <asvg:svgBlip xmlns:asvg="http://schemas.microsoft.com/office/drawing/2016/SVG/main" r:embed="rId2"/>
                </a:ext>
              </a:extLst>
            </a:blip>
            <a:stretch>
              <a:fillRect/>
            </a:stretch>
          </a:blipFill>
        </p:spPr>
        <p:txBody>
          <a:bodyPr/>
          <a:lstStyle/>
          <a:p>
            <a:pPr lvl="0"/>
            <a:r>
              <a:rPr lang="en-US"/>
              <a:t> </a:t>
            </a:r>
            <a:endParaRPr lang="en-US" dirty="0"/>
          </a:p>
        </p:txBody>
      </p:sp>
    </p:spTree>
    <p:extLst>
      <p:ext uri="{BB962C8B-B14F-4D97-AF65-F5344CB8AC3E}">
        <p14:creationId xmlns:p14="http://schemas.microsoft.com/office/powerpoint/2010/main" val="18201255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plain">
    <p:spTree>
      <p:nvGrpSpPr>
        <p:cNvPr id="1" name=""/>
        <p:cNvGrpSpPr/>
        <p:nvPr/>
      </p:nvGrpSpPr>
      <p:grpSpPr>
        <a:xfrm>
          <a:off x="0" y="0"/>
          <a:ext cx="0" cy="0"/>
          <a:chOff x="0" y="0"/>
          <a:chExt cx="0" cy="0"/>
        </a:xfrm>
      </p:grpSpPr>
      <p:sp>
        <p:nvSpPr>
          <p:cNvPr id="13" name="Rectangle 5">
            <a:extLst>
              <a:ext uri="{FF2B5EF4-FFF2-40B4-BE49-F238E27FC236}">
                <a16:creationId xmlns:a16="http://schemas.microsoft.com/office/drawing/2014/main" id="{6C8701BF-E1D7-4777-B79C-367EA3114C26}"/>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sp>
        <p:nvSpPr>
          <p:cNvPr id="7" name="Text Placeholder 12"/>
          <p:cNvSpPr>
            <a:spLocks noGrp="1"/>
          </p:cNvSpPr>
          <p:nvPr userDrawn="1">
            <p:ph type="body" sz="quarter" idx="10" hasCustomPrompt="1"/>
          </p:nvPr>
        </p:nvSpPr>
        <p:spPr bwMode="gray">
          <a:xfrm>
            <a:off x="5951538" y="3597205"/>
            <a:ext cx="5617069" cy="576262"/>
          </a:xfrm>
          <a:prstGeom prst="rect">
            <a:avLst/>
          </a:prstGeom>
        </p:spPr>
        <p:txBody>
          <a:bodyPr>
            <a:noAutofit/>
          </a:bodyPr>
          <a:lstStyle>
            <a:lvl1pPr marL="0" indent="0">
              <a:spcBef>
                <a:spcPts val="0"/>
              </a:spcBef>
              <a:spcAft>
                <a:spcPts val="0"/>
              </a:spcAft>
              <a:buFont typeface="Arial" panose="020B0604020202020204" pitchFamily="34" charset="0"/>
              <a:buNone/>
              <a:defRPr sz="1600" baseline="0">
                <a:solidFill>
                  <a:schemeClr val="accent1"/>
                </a:solidFill>
              </a:defRPr>
            </a:lvl1pPr>
            <a:lvl2pPr marL="0" indent="0">
              <a:spcBef>
                <a:spcPts val="0"/>
              </a:spcBef>
              <a:spcAft>
                <a:spcPts val="0"/>
              </a:spcAft>
              <a:buNone/>
              <a:defRPr sz="1600">
                <a:solidFill>
                  <a:schemeClr val="accent1"/>
                </a:solidFill>
              </a:defRPr>
            </a:lvl2pPr>
            <a:lvl3pPr marL="0" indent="0">
              <a:spcBef>
                <a:spcPts val="0"/>
              </a:spcBef>
              <a:spcAft>
                <a:spcPts val="0"/>
              </a:spcAft>
              <a:buNone/>
              <a:defRPr sz="1600">
                <a:solidFill>
                  <a:schemeClr val="accent1"/>
                </a:solidFill>
              </a:defRPr>
            </a:lvl3pPr>
            <a:lvl4pPr marL="0" indent="0">
              <a:spcBef>
                <a:spcPts val="0"/>
              </a:spcBef>
              <a:spcAft>
                <a:spcPts val="0"/>
              </a:spcAft>
              <a:buNone/>
              <a:defRPr sz="1600">
                <a:solidFill>
                  <a:schemeClr val="accent1"/>
                </a:solidFill>
              </a:defRPr>
            </a:lvl4pPr>
            <a:lvl5pPr marL="0" indent="0">
              <a:spcBef>
                <a:spcPts val="0"/>
              </a:spcBef>
              <a:spcAft>
                <a:spcPts val="0"/>
              </a:spcAft>
              <a:buNone/>
              <a:defRPr sz="1600">
                <a:solidFill>
                  <a:schemeClr val="accent1"/>
                </a:solidFill>
              </a:defRPr>
            </a:lvl5pPr>
            <a:lvl6pPr marL="0" indent="0">
              <a:spcBef>
                <a:spcPts val="0"/>
              </a:spcBef>
              <a:spcAft>
                <a:spcPts val="0"/>
              </a:spcAft>
              <a:buNone/>
              <a:defRPr sz="1600">
                <a:solidFill>
                  <a:schemeClr val="accent1"/>
                </a:solidFill>
              </a:defRPr>
            </a:lvl6pPr>
            <a:lvl7pPr marL="0" indent="0">
              <a:spcBef>
                <a:spcPts val="0"/>
              </a:spcBef>
              <a:spcAft>
                <a:spcPts val="0"/>
              </a:spcAft>
              <a:buNone/>
              <a:defRPr sz="1600">
                <a:solidFill>
                  <a:schemeClr val="accent1"/>
                </a:solidFill>
              </a:defRPr>
            </a:lvl7pPr>
            <a:lvl8pPr marL="0" indent="0">
              <a:spcBef>
                <a:spcPts val="0"/>
              </a:spcBef>
              <a:spcAft>
                <a:spcPts val="0"/>
              </a:spcAft>
              <a:buNone/>
              <a:defRPr sz="1600">
                <a:solidFill>
                  <a:schemeClr val="accent1"/>
                </a:solidFill>
              </a:defRPr>
            </a:lvl8pPr>
            <a:lvl9pPr marL="0" indent="0">
              <a:spcBef>
                <a:spcPts val="0"/>
              </a:spcBef>
              <a:spcAft>
                <a:spcPts val="0"/>
              </a:spcAft>
              <a:buNone/>
              <a:defRPr sz="1600">
                <a:solidFill>
                  <a:schemeClr val="accent1"/>
                </a:solidFill>
              </a:defRPr>
            </a:lvl9pPr>
          </a:lstStyle>
          <a:p>
            <a:r>
              <a:rPr lang="en-US" noProof="0" dirty="0"/>
              <a:t>Name</a:t>
            </a:r>
            <a:br>
              <a:rPr lang="en-US" noProof="0" dirty="0"/>
            </a:br>
            <a:r>
              <a:rPr lang="en-US" noProof="0" dirty="0"/>
              <a:t>Place, Date</a:t>
            </a:r>
          </a:p>
        </p:txBody>
      </p:sp>
      <p:sp>
        <p:nvSpPr>
          <p:cNvPr id="3" name="Subtitle 2"/>
          <p:cNvSpPr>
            <a:spLocks noGrp="1"/>
          </p:cNvSpPr>
          <p:nvPr userDrawn="1">
            <p:ph type="subTitle" idx="1" hasCustomPrompt="1"/>
          </p:nvPr>
        </p:nvSpPr>
        <p:spPr bwMode="gray">
          <a:xfrm>
            <a:off x="5952081" y="2877197"/>
            <a:ext cx="5616521" cy="576000"/>
          </a:xfrm>
          <a:prstGeom prst="rect">
            <a:avLst/>
          </a:prstGeom>
        </p:spPr>
        <p:txBody>
          <a:bodyPr>
            <a:noAutofit/>
          </a:bodyPr>
          <a:lstStyle>
            <a:lvl1pPr marL="0" indent="0" algn="l">
              <a:spcBef>
                <a:spcPts val="0"/>
              </a:spcBef>
              <a:spcAft>
                <a:spcPts val="1200"/>
              </a:spcAft>
              <a:buNone/>
              <a:defRPr sz="1600" b="1" i="0" baseline="0">
                <a:solidFill>
                  <a:schemeClr val="accent1"/>
                </a:solidFill>
                <a:latin typeface="+mn-lt"/>
              </a:defRPr>
            </a:lvl1pPr>
            <a:lvl2pPr marL="0" indent="0" algn="l">
              <a:spcBef>
                <a:spcPts val="0"/>
              </a:spcBef>
              <a:spcAft>
                <a:spcPts val="1200"/>
              </a:spcAft>
              <a:buNone/>
              <a:defRPr sz="1600" b="1">
                <a:solidFill>
                  <a:schemeClr val="accent1"/>
                </a:solidFill>
              </a:defRPr>
            </a:lvl2pPr>
            <a:lvl3pPr marL="0" indent="0" algn="l">
              <a:spcBef>
                <a:spcPts val="0"/>
              </a:spcBef>
              <a:spcAft>
                <a:spcPts val="1200"/>
              </a:spcAft>
              <a:buNone/>
              <a:defRPr sz="1600" b="1">
                <a:solidFill>
                  <a:schemeClr val="accent1"/>
                </a:solidFill>
              </a:defRPr>
            </a:lvl3pPr>
            <a:lvl4pPr marL="0" indent="0" algn="l">
              <a:spcBef>
                <a:spcPts val="0"/>
              </a:spcBef>
              <a:spcAft>
                <a:spcPts val="1200"/>
              </a:spcAft>
              <a:buNone/>
              <a:defRPr sz="1600" b="1">
                <a:solidFill>
                  <a:schemeClr val="accent1"/>
                </a:solidFill>
              </a:defRPr>
            </a:lvl4pPr>
            <a:lvl5pPr marL="0" indent="0" algn="l">
              <a:spcBef>
                <a:spcPts val="0"/>
              </a:spcBef>
              <a:spcAft>
                <a:spcPts val="1200"/>
              </a:spcAft>
              <a:buNone/>
              <a:defRPr sz="1600" b="1">
                <a:solidFill>
                  <a:schemeClr val="accent1"/>
                </a:solidFill>
              </a:defRPr>
            </a:lvl5pPr>
            <a:lvl6pPr marL="0" indent="0" algn="l">
              <a:spcBef>
                <a:spcPts val="0"/>
              </a:spcBef>
              <a:spcAft>
                <a:spcPts val="1200"/>
              </a:spcAft>
              <a:buNone/>
              <a:defRPr sz="1600" b="1">
                <a:solidFill>
                  <a:schemeClr val="accent1"/>
                </a:solidFill>
              </a:defRPr>
            </a:lvl6pPr>
            <a:lvl7pPr marL="0" indent="0" algn="l">
              <a:spcBef>
                <a:spcPts val="0"/>
              </a:spcBef>
              <a:spcAft>
                <a:spcPts val="1200"/>
              </a:spcAft>
              <a:buNone/>
              <a:defRPr sz="1600" b="1">
                <a:solidFill>
                  <a:schemeClr val="accent1"/>
                </a:solidFill>
              </a:defRPr>
            </a:lvl7pPr>
            <a:lvl8pPr marL="0" indent="0" algn="l">
              <a:spcBef>
                <a:spcPts val="0"/>
              </a:spcBef>
              <a:spcAft>
                <a:spcPts val="1200"/>
              </a:spcAft>
              <a:buNone/>
              <a:defRPr sz="1600" b="1">
                <a:solidFill>
                  <a:schemeClr val="accent1"/>
                </a:solidFill>
              </a:defRPr>
            </a:lvl8pPr>
            <a:lvl9pPr marL="0" indent="0" algn="l">
              <a:spcBef>
                <a:spcPts val="0"/>
              </a:spcBef>
              <a:spcAft>
                <a:spcPts val="1200"/>
              </a:spcAft>
              <a:buNone/>
              <a:defRPr sz="1600" b="1">
                <a:solidFill>
                  <a:schemeClr val="accent1"/>
                </a:solidFill>
              </a:defRPr>
            </a:lvl9pPr>
          </a:lstStyle>
          <a:p>
            <a:pPr lvl="0"/>
            <a:r>
              <a:rPr lang="en-US" noProof="0" dirty="0"/>
              <a:t>Subtitle and other information of this presentation</a:t>
            </a:r>
            <a:endParaRPr lang="en-US" dirty="0"/>
          </a:p>
          <a:p>
            <a:pPr lvl="0"/>
            <a:endParaRPr lang="en-US" noProof="0" dirty="0"/>
          </a:p>
        </p:txBody>
      </p:sp>
      <p:sp>
        <p:nvSpPr>
          <p:cNvPr id="2" name="Title 1"/>
          <p:cNvSpPr>
            <a:spLocks noGrp="1"/>
          </p:cNvSpPr>
          <p:nvPr userDrawn="1">
            <p:ph type="ctrTitle" hasCustomPrompt="1"/>
          </p:nvPr>
        </p:nvSpPr>
        <p:spPr bwMode="gray">
          <a:xfrm>
            <a:off x="5952081" y="1484784"/>
            <a:ext cx="5616521" cy="1249282"/>
          </a:xfrm>
          <a:prstGeom prst="rect">
            <a:avLst/>
          </a:prstGeom>
          <a:noFill/>
        </p:spPr>
        <p:txBody>
          <a:bodyPr anchor="b"/>
          <a:lstStyle>
            <a:lvl1pPr algn="l">
              <a:lnSpc>
                <a:spcPct val="100000"/>
              </a:lnSpc>
              <a:defRPr sz="4000" b="0" cap="none" baseline="0">
                <a:solidFill>
                  <a:schemeClr val="accent1"/>
                </a:solidFill>
                <a:latin typeface="Merck" panose="04040805020F02020302" pitchFamily="82" charset="0"/>
                <a:ea typeface="Verdana" panose="020B0604030504040204" pitchFamily="34" charset="0"/>
                <a:cs typeface="Verdana" panose="020B0604030504040204" pitchFamily="34" charset="0"/>
              </a:defRPr>
            </a:lvl1pPr>
          </a:lstStyle>
          <a:p>
            <a:r>
              <a:rPr lang="en-US" noProof="0" dirty="0"/>
              <a:t>Title of presentation</a:t>
            </a:r>
          </a:p>
        </p:txBody>
      </p:sp>
      <p:grpSp>
        <p:nvGrpSpPr>
          <p:cNvPr id="14" name="Logo Merck">
            <a:extLst>
              <a:ext uri="{FF2B5EF4-FFF2-40B4-BE49-F238E27FC236}">
                <a16:creationId xmlns:a16="http://schemas.microsoft.com/office/drawing/2014/main" id="{C087B48A-604A-4847-ADB6-AB1687D9B259}"/>
              </a:ext>
            </a:extLst>
          </p:cNvPr>
          <p:cNvGrpSpPr>
            <a:grpSpLocks noChangeAspect="1"/>
          </p:cNvGrpSpPr>
          <p:nvPr userDrawn="1"/>
        </p:nvGrpSpPr>
        <p:grpSpPr bwMode="gray">
          <a:xfrm>
            <a:off x="9536024" y="6170950"/>
            <a:ext cx="2248608" cy="354050"/>
            <a:chOff x="396364" y="7173520"/>
            <a:chExt cx="1871956" cy="294745"/>
          </a:xfrm>
          <a:solidFill>
            <a:schemeClr val="bg2"/>
          </a:solidFill>
        </p:grpSpPr>
        <p:sp>
          <p:nvSpPr>
            <p:cNvPr id="15" name="Freeform 5">
              <a:extLst>
                <a:ext uri="{FF2B5EF4-FFF2-40B4-BE49-F238E27FC236}">
                  <a16:creationId xmlns:a16="http://schemas.microsoft.com/office/drawing/2014/main" id="{88394829-C709-4CAF-86FD-F0F811F5F8EE}"/>
                </a:ext>
              </a:extLst>
            </p:cNvPr>
            <p:cNvSpPr>
              <a:spLocks/>
            </p:cNvSpPr>
            <p:nvPr userDrawn="1"/>
          </p:nvSpPr>
          <p:spPr bwMode="gray">
            <a:xfrm>
              <a:off x="396364" y="7173594"/>
              <a:ext cx="606328" cy="290506"/>
            </a:xfrm>
            <a:custGeom>
              <a:avLst/>
              <a:gdLst>
                <a:gd name="T0" fmla="*/ 17439 w 17439"/>
                <a:gd name="T1" fmla="*/ 1228 h 8353"/>
                <a:gd name="T2" fmla="*/ 16211 w 17439"/>
                <a:gd name="T3" fmla="*/ 0 h 8353"/>
                <a:gd name="T4" fmla="*/ 14912 w 17439"/>
                <a:gd name="T5" fmla="*/ 0 h 8353"/>
                <a:gd name="T6" fmla="*/ 14911 w 17439"/>
                <a:gd name="T7" fmla="*/ 0 h 8353"/>
                <a:gd name="T8" fmla="*/ 14911 w 17439"/>
                <a:gd name="T9" fmla="*/ 0 h 8353"/>
                <a:gd name="T10" fmla="*/ 14910 w 17439"/>
                <a:gd name="T11" fmla="*/ 0 h 8353"/>
                <a:gd name="T12" fmla="*/ 14742 w 17439"/>
                <a:gd name="T13" fmla="*/ 67 h 8353"/>
                <a:gd name="T14" fmla="*/ 14742 w 17439"/>
                <a:gd name="T15" fmla="*/ 65 h 8353"/>
                <a:gd name="T16" fmla="*/ 12136 w 17439"/>
                <a:gd name="T17" fmla="*/ 2515 h 8353"/>
                <a:gd name="T18" fmla="*/ 12135 w 17439"/>
                <a:gd name="T19" fmla="*/ 2515 h 8353"/>
                <a:gd name="T20" fmla="*/ 8719 w 17439"/>
                <a:gd name="T21" fmla="*/ 3825 h 8353"/>
                <a:gd name="T22" fmla="*/ 5193 w 17439"/>
                <a:gd name="T23" fmla="*/ 2409 h 8353"/>
                <a:gd name="T24" fmla="*/ 3259 w 17439"/>
                <a:gd name="T25" fmla="*/ 592 h 8353"/>
                <a:gd name="T26" fmla="*/ 1802 w 17439"/>
                <a:gd name="T27" fmla="*/ 0 h 8353"/>
                <a:gd name="T28" fmla="*/ 246 w 17439"/>
                <a:gd name="T29" fmla="*/ 0 h 8353"/>
                <a:gd name="T30" fmla="*/ 0 w 17439"/>
                <a:gd name="T31" fmla="*/ 245 h 8353"/>
                <a:gd name="T32" fmla="*/ 0 w 17439"/>
                <a:gd name="T33" fmla="*/ 7122 h 8353"/>
                <a:gd name="T34" fmla="*/ 1228 w 17439"/>
                <a:gd name="T35" fmla="*/ 8350 h 8353"/>
                <a:gd name="T36" fmla="*/ 1703 w 17439"/>
                <a:gd name="T37" fmla="*/ 8349 h 8353"/>
                <a:gd name="T38" fmla="*/ 2192 w 17439"/>
                <a:gd name="T39" fmla="*/ 8298 h 8353"/>
                <a:gd name="T40" fmla="*/ 2272 w 17439"/>
                <a:gd name="T41" fmla="*/ 8090 h 8353"/>
                <a:gd name="T42" fmla="*/ 2272 w 17439"/>
                <a:gd name="T43" fmla="*/ 5656 h 8353"/>
                <a:gd name="T44" fmla="*/ 3423 w 17439"/>
                <a:gd name="T45" fmla="*/ 4490 h 8353"/>
                <a:gd name="T46" fmla="*/ 6193 w 17439"/>
                <a:gd name="T47" fmla="*/ 6163 h 8353"/>
                <a:gd name="T48" fmla="*/ 8719 w 17439"/>
                <a:gd name="T49" fmla="*/ 7775 h 8353"/>
                <a:gd name="T50" fmla="*/ 11245 w 17439"/>
                <a:gd name="T51" fmla="*/ 6163 h 8353"/>
                <a:gd name="T52" fmla="*/ 14015 w 17439"/>
                <a:gd name="T53" fmla="*/ 4490 h 8353"/>
                <a:gd name="T54" fmla="*/ 15167 w 17439"/>
                <a:gd name="T55" fmla="*/ 5646 h 8353"/>
                <a:gd name="T56" fmla="*/ 15167 w 17439"/>
                <a:gd name="T57" fmla="*/ 5647 h 8353"/>
                <a:gd name="T58" fmla="*/ 15167 w 17439"/>
                <a:gd name="T59" fmla="*/ 7122 h 8353"/>
                <a:gd name="T60" fmla="*/ 16395 w 17439"/>
                <a:gd name="T61" fmla="*/ 8350 h 8353"/>
                <a:gd name="T62" fmla="*/ 16925 w 17439"/>
                <a:gd name="T63" fmla="*/ 8349 h 8353"/>
                <a:gd name="T64" fmla="*/ 17359 w 17439"/>
                <a:gd name="T65" fmla="*/ 8298 h 8353"/>
                <a:gd name="T66" fmla="*/ 17439 w 17439"/>
                <a:gd name="T67" fmla="*/ 8090 h 8353"/>
                <a:gd name="T68" fmla="*/ 17439 w 17439"/>
                <a:gd name="T69" fmla="*/ 1228 h 8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439" h="8353">
                  <a:moveTo>
                    <a:pt x="17439" y="1228"/>
                  </a:moveTo>
                  <a:cubicBezTo>
                    <a:pt x="17439" y="549"/>
                    <a:pt x="16889" y="0"/>
                    <a:pt x="16211" y="0"/>
                  </a:cubicBezTo>
                  <a:cubicBezTo>
                    <a:pt x="14912" y="0"/>
                    <a:pt x="14912" y="0"/>
                    <a:pt x="14912" y="0"/>
                  </a:cubicBezTo>
                  <a:cubicBezTo>
                    <a:pt x="14911" y="0"/>
                    <a:pt x="14911" y="0"/>
                    <a:pt x="14911" y="0"/>
                  </a:cubicBezTo>
                  <a:cubicBezTo>
                    <a:pt x="14911" y="0"/>
                    <a:pt x="14911" y="0"/>
                    <a:pt x="14911" y="0"/>
                  </a:cubicBezTo>
                  <a:cubicBezTo>
                    <a:pt x="14910" y="0"/>
                    <a:pt x="14910" y="0"/>
                    <a:pt x="14910" y="0"/>
                  </a:cubicBezTo>
                  <a:cubicBezTo>
                    <a:pt x="14845" y="0"/>
                    <a:pt x="14786" y="25"/>
                    <a:pt x="14742" y="67"/>
                  </a:cubicBezTo>
                  <a:cubicBezTo>
                    <a:pt x="14742" y="65"/>
                    <a:pt x="14742" y="65"/>
                    <a:pt x="14742" y="65"/>
                  </a:cubicBezTo>
                  <a:cubicBezTo>
                    <a:pt x="12136" y="2515"/>
                    <a:pt x="12136" y="2515"/>
                    <a:pt x="12136" y="2515"/>
                  </a:cubicBezTo>
                  <a:cubicBezTo>
                    <a:pt x="12135" y="2515"/>
                    <a:pt x="12135" y="2515"/>
                    <a:pt x="12135" y="2515"/>
                  </a:cubicBezTo>
                  <a:cubicBezTo>
                    <a:pt x="11243" y="3354"/>
                    <a:pt x="10041" y="3825"/>
                    <a:pt x="8719" y="3825"/>
                  </a:cubicBezTo>
                  <a:cubicBezTo>
                    <a:pt x="7342" y="3825"/>
                    <a:pt x="6096" y="3310"/>
                    <a:pt x="5193" y="2409"/>
                  </a:cubicBezTo>
                  <a:cubicBezTo>
                    <a:pt x="5193" y="2409"/>
                    <a:pt x="3276" y="608"/>
                    <a:pt x="3259" y="592"/>
                  </a:cubicBezTo>
                  <a:cubicBezTo>
                    <a:pt x="2891" y="249"/>
                    <a:pt x="2385" y="12"/>
                    <a:pt x="1802" y="0"/>
                  </a:cubicBezTo>
                  <a:cubicBezTo>
                    <a:pt x="246" y="0"/>
                    <a:pt x="246" y="0"/>
                    <a:pt x="246" y="0"/>
                  </a:cubicBezTo>
                  <a:cubicBezTo>
                    <a:pt x="110" y="0"/>
                    <a:pt x="0" y="110"/>
                    <a:pt x="0" y="245"/>
                  </a:cubicBezTo>
                  <a:cubicBezTo>
                    <a:pt x="0" y="7122"/>
                    <a:pt x="0" y="7122"/>
                    <a:pt x="0" y="7122"/>
                  </a:cubicBezTo>
                  <a:cubicBezTo>
                    <a:pt x="0" y="7801"/>
                    <a:pt x="550" y="8350"/>
                    <a:pt x="1228" y="8350"/>
                  </a:cubicBezTo>
                  <a:cubicBezTo>
                    <a:pt x="1703" y="8349"/>
                    <a:pt x="1703" y="8349"/>
                    <a:pt x="1703" y="8349"/>
                  </a:cubicBezTo>
                  <a:cubicBezTo>
                    <a:pt x="1837" y="8349"/>
                    <a:pt x="2085" y="8353"/>
                    <a:pt x="2192" y="8298"/>
                  </a:cubicBezTo>
                  <a:cubicBezTo>
                    <a:pt x="2272" y="8255"/>
                    <a:pt x="2272" y="8169"/>
                    <a:pt x="2272" y="8090"/>
                  </a:cubicBezTo>
                  <a:cubicBezTo>
                    <a:pt x="2272" y="5656"/>
                    <a:pt x="2272" y="5656"/>
                    <a:pt x="2272" y="5656"/>
                  </a:cubicBezTo>
                  <a:cubicBezTo>
                    <a:pt x="2272" y="5017"/>
                    <a:pt x="2794" y="4490"/>
                    <a:pt x="3423" y="4490"/>
                  </a:cubicBezTo>
                  <a:cubicBezTo>
                    <a:pt x="4594" y="4490"/>
                    <a:pt x="5434" y="5493"/>
                    <a:pt x="6193" y="6163"/>
                  </a:cubicBezTo>
                  <a:cubicBezTo>
                    <a:pt x="7123" y="6984"/>
                    <a:pt x="7839" y="7775"/>
                    <a:pt x="8719" y="7775"/>
                  </a:cubicBezTo>
                  <a:cubicBezTo>
                    <a:pt x="9600" y="7775"/>
                    <a:pt x="10316" y="6984"/>
                    <a:pt x="11245" y="6163"/>
                  </a:cubicBezTo>
                  <a:cubicBezTo>
                    <a:pt x="12004" y="5493"/>
                    <a:pt x="12844" y="4490"/>
                    <a:pt x="14015" y="4490"/>
                  </a:cubicBezTo>
                  <a:cubicBezTo>
                    <a:pt x="14641" y="4490"/>
                    <a:pt x="15161" y="5011"/>
                    <a:pt x="15167" y="5646"/>
                  </a:cubicBezTo>
                  <a:cubicBezTo>
                    <a:pt x="15167" y="5647"/>
                    <a:pt x="15167" y="5647"/>
                    <a:pt x="15167" y="5647"/>
                  </a:cubicBezTo>
                  <a:cubicBezTo>
                    <a:pt x="15167" y="6046"/>
                    <a:pt x="15167" y="7113"/>
                    <a:pt x="15167" y="7122"/>
                  </a:cubicBezTo>
                  <a:cubicBezTo>
                    <a:pt x="15167" y="7801"/>
                    <a:pt x="15716" y="8350"/>
                    <a:pt x="16395" y="8350"/>
                  </a:cubicBezTo>
                  <a:cubicBezTo>
                    <a:pt x="16395" y="8350"/>
                    <a:pt x="16905" y="8349"/>
                    <a:pt x="16925" y="8349"/>
                  </a:cubicBezTo>
                  <a:cubicBezTo>
                    <a:pt x="17064" y="8349"/>
                    <a:pt x="17265" y="8346"/>
                    <a:pt x="17359" y="8298"/>
                  </a:cubicBezTo>
                  <a:cubicBezTo>
                    <a:pt x="17439" y="8255"/>
                    <a:pt x="17439" y="8169"/>
                    <a:pt x="17439" y="8090"/>
                  </a:cubicBezTo>
                  <a:cubicBezTo>
                    <a:pt x="17439" y="7434"/>
                    <a:pt x="17439" y="1285"/>
                    <a:pt x="17439" y="12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6" name="Freeform 6">
              <a:extLst>
                <a:ext uri="{FF2B5EF4-FFF2-40B4-BE49-F238E27FC236}">
                  <a16:creationId xmlns:a16="http://schemas.microsoft.com/office/drawing/2014/main" id="{CCD41103-FCEA-4CD8-8CED-F178561344C4}"/>
                </a:ext>
              </a:extLst>
            </p:cNvPr>
            <p:cNvSpPr>
              <a:spLocks noEditPoints="1"/>
            </p:cNvSpPr>
            <p:nvPr userDrawn="1"/>
          </p:nvSpPr>
          <p:spPr bwMode="gray">
            <a:xfrm>
              <a:off x="1029112" y="7173520"/>
              <a:ext cx="1239208" cy="294745"/>
            </a:xfrm>
            <a:custGeom>
              <a:avLst/>
              <a:gdLst>
                <a:gd name="T0" fmla="*/ 8002 w 35641"/>
                <a:gd name="T1" fmla="*/ 6527 h 8475"/>
                <a:gd name="T2" fmla="*/ 3677 w 35641"/>
                <a:gd name="T3" fmla="*/ 5962 h 8475"/>
                <a:gd name="T4" fmla="*/ 2195 w 35641"/>
                <a:gd name="T5" fmla="*/ 3534 h 8475"/>
                <a:gd name="T6" fmla="*/ 2766 w 35641"/>
                <a:gd name="T7" fmla="*/ 2364 h 8475"/>
                <a:gd name="T8" fmla="*/ 2911 w 35641"/>
                <a:gd name="T9" fmla="*/ 2288 h 8475"/>
                <a:gd name="T10" fmla="*/ 3650 w 35641"/>
                <a:gd name="T11" fmla="*/ 2146 h 8475"/>
                <a:gd name="T12" fmla="*/ 5948 w 35641"/>
                <a:gd name="T13" fmla="*/ 3451 h 8475"/>
                <a:gd name="T14" fmla="*/ 5802 w 35641"/>
                <a:gd name="T15" fmla="*/ 3480 h 8475"/>
                <a:gd name="T16" fmla="*/ 3450 w 35641"/>
                <a:gd name="T17" fmla="*/ 3481 h 8475"/>
                <a:gd name="T18" fmla="*/ 4944 w 35641"/>
                <a:gd name="T19" fmla="*/ 5272 h 8475"/>
                <a:gd name="T20" fmla="*/ 7290 w 35641"/>
                <a:gd name="T21" fmla="*/ 5272 h 8475"/>
                <a:gd name="T22" fmla="*/ 7961 w 35641"/>
                <a:gd name="T23" fmla="*/ 2790 h 8475"/>
                <a:gd name="T24" fmla="*/ 3629 w 35641"/>
                <a:gd name="T25" fmla="*/ 0 h 8475"/>
                <a:gd name="T26" fmla="*/ 0 w 35641"/>
                <a:gd name="T27" fmla="*/ 3616 h 8475"/>
                <a:gd name="T28" fmla="*/ 2875 w 35641"/>
                <a:gd name="T29" fmla="*/ 7966 h 8475"/>
                <a:gd name="T30" fmla="*/ 8342 w 35641"/>
                <a:gd name="T31" fmla="*/ 8146 h 8475"/>
                <a:gd name="T32" fmla="*/ 18183 w 35641"/>
                <a:gd name="T33" fmla="*/ 7537 h 8475"/>
                <a:gd name="T34" fmla="*/ 15820 w 35641"/>
                <a:gd name="T35" fmla="*/ 5792 h 8475"/>
                <a:gd name="T36" fmla="*/ 17009 w 35641"/>
                <a:gd name="T37" fmla="*/ 2216 h 8475"/>
                <a:gd name="T38" fmla="*/ 12645 w 35641"/>
                <a:gd name="T39" fmla="*/ 0 h 8475"/>
                <a:gd name="T40" fmla="*/ 9100 w 35641"/>
                <a:gd name="T41" fmla="*/ 5836 h 8475"/>
                <a:gd name="T42" fmla="*/ 9100 w 35641"/>
                <a:gd name="T43" fmla="*/ 8082 h 8475"/>
                <a:gd name="T44" fmla="*/ 10232 w 35641"/>
                <a:gd name="T45" fmla="*/ 8273 h 8475"/>
                <a:gd name="T46" fmla="*/ 11344 w 35641"/>
                <a:gd name="T47" fmla="*/ 6101 h 8475"/>
                <a:gd name="T48" fmla="*/ 11379 w 35641"/>
                <a:gd name="T49" fmla="*/ 2676 h 8475"/>
                <a:gd name="T50" fmla="*/ 11436 w 35641"/>
                <a:gd name="T51" fmla="*/ 2533 h 8475"/>
                <a:gd name="T52" fmla="*/ 15015 w 35641"/>
                <a:gd name="T53" fmla="*/ 3676 h 8475"/>
                <a:gd name="T54" fmla="*/ 12983 w 35641"/>
                <a:gd name="T55" fmla="*/ 4188 h 8475"/>
                <a:gd name="T56" fmla="*/ 12245 w 35641"/>
                <a:gd name="T57" fmla="*/ 4238 h 8475"/>
                <a:gd name="T58" fmla="*/ 12244 w 35641"/>
                <a:gd name="T59" fmla="*/ 5128 h 8475"/>
                <a:gd name="T60" fmla="*/ 15206 w 35641"/>
                <a:gd name="T61" fmla="*/ 7967 h 8475"/>
                <a:gd name="T62" fmla="*/ 17991 w 35641"/>
                <a:gd name="T63" fmla="*/ 8345 h 8475"/>
                <a:gd name="T64" fmla="*/ 26540 w 35641"/>
                <a:gd name="T65" fmla="*/ 5085 h 8475"/>
                <a:gd name="T66" fmla="*/ 24192 w 35641"/>
                <a:gd name="T67" fmla="*/ 5460 h 8475"/>
                <a:gd name="T68" fmla="*/ 22103 w 35641"/>
                <a:gd name="T69" fmla="*/ 6071 h 8475"/>
                <a:gd name="T70" fmla="*/ 20467 w 35641"/>
                <a:gd name="T71" fmla="*/ 3537 h 8475"/>
                <a:gd name="T72" fmla="*/ 23058 w 35641"/>
                <a:gd name="T73" fmla="*/ 2625 h 8475"/>
                <a:gd name="T74" fmla="*/ 25083 w 35641"/>
                <a:gd name="T75" fmla="*/ 1646 h 8475"/>
                <a:gd name="T76" fmla="*/ 23512 w 35641"/>
                <a:gd name="T77" fmla="*/ 359 h 8475"/>
                <a:gd name="T78" fmla="*/ 18200 w 35641"/>
                <a:gd name="T79" fmla="*/ 229 h 8475"/>
                <a:gd name="T80" fmla="*/ 19665 w 35641"/>
                <a:gd name="T81" fmla="*/ 7009 h 8475"/>
                <a:gd name="T82" fmla="*/ 24370 w 35641"/>
                <a:gd name="T83" fmla="*/ 8222 h 8475"/>
                <a:gd name="T84" fmla="*/ 35641 w 35641"/>
                <a:gd name="T85" fmla="*/ 8152 h 8475"/>
                <a:gd name="T86" fmla="*/ 34704 w 35641"/>
                <a:gd name="T87" fmla="*/ 5892 h 8475"/>
                <a:gd name="T88" fmla="*/ 33145 w 35641"/>
                <a:gd name="T89" fmla="*/ 3887 h 8475"/>
                <a:gd name="T90" fmla="*/ 35637 w 35641"/>
                <a:gd name="T91" fmla="*/ 784 h 8475"/>
                <a:gd name="T92" fmla="*/ 35639 w 35641"/>
                <a:gd name="T93" fmla="*/ 753 h 8475"/>
                <a:gd name="T94" fmla="*/ 34865 w 35641"/>
                <a:gd name="T95" fmla="*/ 0 h 8475"/>
                <a:gd name="T96" fmla="*/ 31470 w 35641"/>
                <a:gd name="T97" fmla="*/ 2323 h 8475"/>
                <a:gd name="T98" fmla="*/ 29572 w 35641"/>
                <a:gd name="T99" fmla="*/ 1229 h 8475"/>
                <a:gd name="T100" fmla="*/ 27379 w 35641"/>
                <a:gd name="T101" fmla="*/ 53 h 8475"/>
                <a:gd name="T102" fmla="*/ 27489 w 35641"/>
                <a:gd name="T103" fmla="*/ 8342 h 8475"/>
                <a:gd name="T104" fmla="*/ 27910 w 35641"/>
                <a:gd name="T105" fmla="*/ 8345 h 8475"/>
                <a:gd name="T106" fmla="*/ 30620 w 35641"/>
                <a:gd name="T107" fmla="*/ 6875 h 8475"/>
                <a:gd name="T108" fmla="*/ 31733 w 35641"/>
                <a:gd name="T109" fmla="*/ 7123 h 8475"/>
                <a:gd name="T110" fmla="*/ 35451 w 35641"/>
                <a:gd name="T111" fmla="*/ 8345 h 8475"/>
                <a:gd name="T112" fmla="*/ 35641 w 35641"/>
                <a:gd name="T113" fmla="*/ 8152 h 8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641" h="8475">
                  <a:moveTo>
                    <a:pt x="8342" y="8146"/>
                  </a:moveTo>
                  <a:cubicBezTo>
                    <a:pt x="8342" y="7475"/>
                    <a:pt x="8342" y="7475"/>
                    <a:pt x="8342" y="7475"/>
                  </a:cubicBezTo>
                  <a:cubicBezTo>
                    <a:pt x="8342" y="7072"/>
                    <a:pt x="8228" y="6756"/>
                    <a:pt x="8002" y="6527"/>
                  </a:cubicBezTo>
                  <a:cubicBezTo>
                    <a:pt x="7775" y="6297"/>
                    <a:pt x="7462" y="6183"/>
                    <a:pt x="7062" y="6183"/>
                  </a:cubicBezTo>
                  <a:cubicBezTo>
                    <a:pt x="4641" y="6183"/>
                    <a:pt x="4641" y="6183"/>
                    <a:pt x="4641" y="6183"/>
                  </a:cubicBezTo>
                  <a:cubicBezTo>
                    <a:pt x="4295" y="6183"/>
                    <a:pt x="3982" y="6092"/>
                    <a:pt x="3677" y="5962"/>
                  </a:cubicBezTo>
                  <a:cubicBezTo>
                    <a:pt x="3417" y="5852"/>
                    <a:pt x="3019" y="5505"/>
                    <a:pt x="2900" y="5373"/>
                  </a:cubicBezTo>
                  <a:cubicBezTo>
                    <a:pt x="2679" y="5129"/>
                    <a:pt x="2505" y="4845"/>
                    <a:pt x="2381" y="4523"/>
                  </a:cubicBezTo>
                  <a:cubicBezTo>
                    <a:pt x="2257" y="4202"/>
                    <a:pt x="2195" y="3872"/>
                    <a:pt x="2195" y="3534"/>
                  </a:cubicBezTo>
                  <a:cubicBezTo>
                    <a:pt x="2195" y="3098"/>
                    <a:pt x="2319" y="2760"/>
                    <a:pt x="2568" y="2519"/>
                  </a:cubicBezTo>
                  <a:cubicBezTo>
                    <a:pt x="2606" y="2482"/>
                    <a:pt x="2648" y="2448"/>
                    <a:pt x="2691" y="2417"/>
                  </a:cubicBezTo>
                  <a:cubicBezTo>
                    <a:pt x="2714" y="2399"/>
                    <a:pt x="2739" y="2381"/>
                    <a:pt x="2766" y="2364"/>
                  </a:cubicBezTo>
                  <a:cubicBezTo>
                    <a:pt x="2771" y="2361"/>
                    <a:pt x="2775" y="2359"/>
                    <a:pt x="2780" y="2356"/>
                  </a:cubicBezTo>
                  <a:cubicBezTo>
                    <a:pt x="2804" y="2342"/>
                    <a:pt x="2830" y="2328"/>
                    <a:pt x="2857" y="2314"/>
                  </a:cubicBezTo>
                  <a:cubicBezTo>
                    <a:pt x="2874" y="2305"/>
                    <a:pt x="2892" y="2296"/>
                    <a:pt x="2911" y="2288"/>
                  </a:cubicBezTo>
                  <a:cubicBezTo>
                    <a:pt x="2915" y="2286"/>
                    <a:pt x="2920" y="2284"/>
                    <a:pt x="2924" y="2282"/>
                  </a:cubicBezTo>
                  <a:cubicBezTo>
                    <a:pt x="3004" y="2247"/>
                    <a:pt x="3088" y="2220"/>
                    <a:pt x="3177" y="2200"/>
                  </a:cubicBezTo>
                  <a:cubicBezTo>
                    <a:pt x="3322" y="2166"/>
                    <a:pt x="3481" y="2146"/>
                    <a:pt x="3650" y="2146"/>
                  </a:cubicBezTo>
                  <a:cubicBezTo>
                    <a:pt x="3817" y="2146"/>
                    <a:pt x="3977" y="2166"/>
                    <a:pt x="4121" y="2200"/>
                  </a:cubicBezTo>
                  <a:cubicBezTo>
                    <a:pt x="4393" y="2254"/>
                    <a:pt x="4661" y="2362"/>
                    <a:pt x="4923" y="2528"/>
                  </a:cubicBezTo>
                  <a:cubicBezTo>
                    <a:pt x="5301" y="2767"/>
                    <a:pt x="5679" y="3102"/>
                    <a:pt x="5948" y="3451"/>
                  </a:cubicBezTo>
                  <a:cubicBezTo>
                    <a:pt x="5969" y="3480"/>
                    <a:pt x="5969" y="3480"/>
                    <a:pt x="5969" y="3480"/>
                  </a:cubicBezTo>
                  <a:cubicBezTo>
                    <a:pt x="5874" y="3480"/>
                    <a:pt x="5874" y="3480"/>
                    <a:pt x="5874" y="3480"/>
                  </a:cubicBezTo>
                  <a:cubicBezTo>
                    <a:pt x="5802" y="3480"/>
                    <a:pt x="5802" y="3480"/>
                    <a:pt x="5802" y="3480"/>
                  </a:cubicBezTo>
                  <a:cubicBezTo>
                    <a:pt x="3617" y="3480"/>
                    <a:pt x="3617" y="3480"/>
                    <a:pt x="3617" y="3480"/>
                  </a:cubicBezTo>
                  <a:cubicBezTo>
                    <a:pt x="3611" y="3480"/>
                    <a:pt x="3607" y="3481"/>
                    <a:pt x="3602" y="3481"/>
                  </a:cubicBezTo>
                  <a:cubicBezTo>
                    <a:pt x="3450" y="3481"/>
                    <a:pt x="3450" y="3481"/>
                    <a:pt x="3450" y="3481"/>
                  </a:cubicBezTo>
                  <a:cubicBezTo>
                    <a:pt x="3298" y="3481"/>
                    <a:pt x="3223" y="3546"/>
                    <a:pt x="3223" y="3678"/>
                  </a:cubicBezTo>
                  <a:cubicBezTo>
                    <a:pt x="3223" y="3938"/>
                    <a:pt x="3262" y="4107"/>
                    <a:pt x="3365" y="4319"/>
                  </a:cubicBezTo>
                  <a:cubicBezTo>
                    <a:pt x="3467" y="4531"/>
                    <a:pt x="3953" y="5272"/>
                    <a:pt x="4944" y="5272"/>
                  </a:cubicBezTo>
                  <a:cubicBezTo>
                    <a:pt x="5092" y="5272"/>
                    <a:pt x="5092" y="5272"/>
                    <a:pt x="5092" y="5272"/>
                  </a:cubicBezTo>
                  <a:cubicBezTo>
                    <a:pt x="5099" y="5272"/>
                    <a:pt x="5106" y="5272"/>
                    <a:pt x="5114" y="5272"/>
                  </a:cubicBezTo>
                  <a:cubicBezTo>
                    <a:pt x="7290" y="5272"/>
                    <a:pt x="7290" y="5272"/>
                    <a:pt x="7290" y="5272"/>
                  </a:cubicBezTo>
                  <a:cubicBezTo>
                    <a:pt x="7700" y="5272"/>
                    <a:pt x="7984" y="5164"/>
                    <a:pt x="8140" y="4945"/>
                  </a:cubicBezTo>
                  <a:cubicBezTo>
                    <a:pt x="8297" y="4727"/>
                    <a:pt x="8342" y="4540"/>
                    <a:pt x="8342" y="4245"/>
                  </a:cubicBezTo>
                  <a:cubicBezTo>
                    <a:pt x="8342" y="3766"/>
                    <a:pt x="8215" y="3296"/>
                    <a:pt x="7961" y="2790"/>
                  </a:cubicBezTo>
                  <a:cubicBezTo>
                    <a:pt x="7708" y="2282"/>
                    <a:pt x="7364" y="1822"/>
                    <a:pt x="6933" y="1407"/>
                  </a:cubicBezTo>
                  <a:cubicBezTo>
                    <a:pt x="6501" y="993"/>
                    <a:pt x="5999" y="655"/>
                    <a:pt x="5426" y="394"/>
                  </a:cubicBezTo>
                  <a:cubicBezTo>
                    <a:pt x="4854" y="132"/>
                    <a:pt x="4255" y="0"/>
                    <a:pt x="3629" y="0"/>
                  </a:cubicBezTo>
                  <a:cubicBezTo>
                    <a:pt x="195" y="0"/>
                    <a:pt x="195" y="0"/>
                    <a:pt x="195" y="0"/>
                  </a:cubicBezTo>
                  <a:cubicBezTo>
                    <a:pt x="65" y="0"/>
                    <a:pt x="0" y="77"/>
                    <a:pt x="0" y="230"/>
                  </a:cubicBezTo>
                  <a:cubicBezTo>
                    <a:pt x="0" y="3616"/>
                    <a:pt x="0" y="3616"/>
                    <a:pt x="0" y="3616"/>
                  </a:cubicBezTo>
                  <a:cubicBezTo>
                    <a:pt x="0" y="4259"/>
                    <a:pt x="124" y="4867"/>
                    <a:pt x="373" y="5439"/>
                  </a:cubicBezTo>
                  <a:cubicBezTo>
                    <a:pt x="621" y="6012"/>
                    <a:pt x="959" y="6513"/>
                    <a:pt x="1385" y="6944"/>
                  </a:cubicBezTo>
                  <a:cubicBezTo>
                    <a:pt x="1812" y="7375"/>
                    <a:pt x="2308" y="7715"/>
                    <a:pt x="2875" y="7966"/>
                  </a:cubicBezTo>
                  <a:cubicBezTo>
                    <a:pt x="3443" y="8217"/>
                    <a:pt x="4050" y="8342"/>
                    <a:pt x="4698" y="8342"/>
                  </a:cubicBezTo>
                  <a:cubicBezTo>
                    <a:pt x="8115" y="8342"/>
                    <a:pt x="8115" y="8342"/>
                    <a:pt x="8115" y="8342"/>
                  </a:cubicBezTo>
                  <a:cubicBezTo>
                    <a:pt x="8266" y="8342"/>
                    <a:pt x="8342" y="8276"/>
                    <a:pt x="8342" y="8146"/>
                  </a:cubicBezTo>
                  <a:moveTo>
                    <a:pt x="18183" y="8116"/>
                  </a:moveTo>
                  <a:cubicBezTo>
                    <a:pt x="18183" y="8095"/>
                    <a:pt x="18183" y="8095"/>
                    <a:pt x="18183" y="8095"/>
                  </a:cubicBezTo>
                  <a:cubicBezTo>
                    <a:pt x="18183" y="7537"/>
                    <a:pt x="18183" y="7537"/>
                    <a:pt x="18183" y="7537"/>
                  </a:cubicBezTo>
                  <a:cubicBezTo>
                    <a:pt x="18183" y="7446"/>
                    <a:pt x="18114" y="7355"/>
                    <a:pt x="18053" y="7331"/>
                  </a:cubicBezTo>
                  <a:cubicBezTo>
                    <a:pt x="18051" y="7330"/>
                    <a:pt x="17612" y="7209"/>
                    <a:pt x="16745" y="6522"/>
                  </a:cubicBezTo>
                  <a:cubicBezTo>
                    <a:pt x="16295" y="6166"/>
                    <a:pt x="15962" y="5905"/>
                    <a:pt x="15820" y="5792"/>
                  </a:cubicBezTo>
                  <a:cubicBezTo>
                    <a:pt x="15980" y="5689"/>
                    <a:pt x="16507" y="5479"/>
                    <a:pt x="16985" y="4932"/>
                  </a:cubicBezTo>
                  <a:cubicBezTo>
                    <a:pt x="17281" y="4592"/>
                    <a:pt x="17442" y="4166"/>
                    <a:pt x="17442" y="3632"/>
                  </a:cubicBezTo>
                  <a:cubicBezTo>
                    <a:pt x="17442" y="3130"/>
                    <a:pt x="17297" y="2658"/>
                    <a:pt x="17009" y="2216"/>
                  </a:cubicBezTo>
                  <a:cubicBezTo>
                    <a:pt x="16720" y="1775"/>
                    <a:pt x="16345" y="1390"/>
                    <a:pt x="15885" y="1063"/>
                  </a:cubicBezTo>
                  <a:cubicBezTo>
                    <a:pt x="15426" y="736"/>
                    <a:pt x="14909" y="478"/>
                    <a:pt x="14338" y="287"/>
                  </a:cubicBezTo>
                  <a:cubicBezTo>
                    <a:pt x="13765" y="96"/>
                    <a:pt x="13201" y="0"/>
                    <a:pt x="12645" y="0"/>
                  </a:cubicBezTo>
                  <a:cubicBezTo>
                    <a:pt x="9292" y="0"/>
                    <a:pt x="9292" y="0"/>
                    <a:pt x="9292" y="0"/>
                  </a:cubicBezTo>
                  <a:cubicBezTo>
                    <a:pt x="9164" y="0"/>
                    <a:pt x="9100" y="77"/>
                    <a:pt x="9100" y="229"/>
                  </a:cubicBezTo>
                  <a:cubicBezTo>
                    <a:pt x="9100" y="5836"/>
                    <a:pt x="9100" y="5836"/>
                    <a:pt x="9100" y="5836"/>
                  </a:cubicBezTo>
                  <a:cubicBezTo>
                    <a:pt x="9100" y="7089"/>
                    <a:pt x="9100" y="7089"/>
                    <a:pt x="9100" y="7089"/>
                  </a:cubicBezTo>
                  <a:cubicBezTo>
                    <a:pt x="9100" y="7522"/>
                    <a:pt x="9100" y="7522"/>
                    <a:pt x="9100" y="7522"/>
                  </a:cubicBezTo>
                  <a:cubicBezTo>
                    <a:pt x="9100" y="8082"/>
                    <a:pt x="9100" y="8082"/>
                    <a:pt x="9100" y="8082"/>
                  </a:cubicBezTo>
                  <a:cubicBezTo>
                    <a:pt x="9100" y="8162"/>
                    <a:pt x="9100" y="8247"/>
                    <a:pt x="9179" y="8290"/>
                  </a:cubicBezTo>
                  <a:cubicBezTo>
                    <a:pt x="9285" y="8345"/>
                    <a:pt x="9529" y="8342"/>
                    <a:pt x="9662" y="8342"/>
                  </a:cubicBezTo>
                  <a:cubicBezTo>
                    <a:pt x="9853" y="8342"/>
                    <a:pt x="10047" y="8331"/>
                    <a:pt x="10232" y="8273"/>
                  </a:cubicBezTo>
                  <a:cubicBezTo>
                    <a:pt x="10520" y="8179"/>
                    <a:pt x="10766" y="7980"/>
                    <a:pt x="10948" y="7737"/>
                  </a:cubicBezTo>
                  <a:cubicBezTo>
                    <a:pt x="11267" y="7317"/>
                    <a:pt x="11346" y="6841"/>
                    <a:pt x="11346" y="6328"/>
                  </a:cubicBezTo>
                  <a:cubicBezTo>
                    <a:pt x="11346" y="6280"/>
                    <a:pt x="11345" y="6190"/>
                    <a:pt x="11344" y="6101"/>
                  </a:cubicBezTo>
                  <a:cubicBezTo>
                    <a:pt x="11344" y="6098"/>
                    <a:pt x="11346" y="6097"/>
                    <a:pt x="11346" y="6095"/>
                  </a:cubicBezTo>
                  <a:cubicBezTo>
                    <a:pt x="11346" y="2909"/>
                    <a:pt x="11346" y="2909"/>
                    <a:pt x="11346" y="2909"/>
                  </a:cubicBezTo>
                  <a:cubicBezTo>
                    <a:pt x="11346" y="2825"/>
                    <a:pt x="11358" y="2748"/>
                    <a:pt x="11379" y="2676"/>
                  </a:cubicBezTo>
                  <a:cubicBezTo>
                    <a:pt x="11380" y="2669"/>
                    <a:pt x="11383" y="2662"/>
                    <a:pt x="11385" y="2655"/>
                  </a:cubicBezTo>
                  <a:cubicBezTo>
                    <a:pt x="11390" y="2637"/>
                    <a:pt x="11397" y="2619"/>
                    <a:pt x="11404" y="2602"/>
                  </a:cubicBezTo>
                  <a:cubicBezTo>
                    <a:pt x="11413" y="2578"/>
                    <a:pt x="11424" y="2556"/>
                    <a:pt x="11436" y="2533"/>
                  </a:cubicBezTo>
                  <a:cubicBezTo>
                    <a:pt x="11436" y="2533"/>
                    <a:pt x="11436" y="2532"/>
                    <a:pt x="11436" y="2532"/>
                  </a:cubicBezTo>
                  <a:cubicBezTo>
                    <a:pt x="11693" y="2061"/>
                    <a:pt x="12570" y="1876"/>
                    <a:pt x="13515" y="2115"/>
                  </a:cubicBezTo>
                  <a:cubicBezTo>
                    <a:pt x="14775" y="2433"/>
                    <a:pt x="15147" y="3302"/>
                    <a:pt x="15015" y="3676"/>
                  </a:cubicBezTo>
                  <a:cubicBezTo>
                    <a:pt x="14871" y="4080"/>
                    <a:pt x="14417" y="4334"/>
                    <a:pt x="13848" y="4334"/>
                  </a:cubicBezTo>
                  <a:cubicBezTo>
                    <a:pt x="13577" y="4334"/>
                    <a:pt x="13299" y="4285"/>
                    <a:pt x="13012" y="4194"/>
                  </a:cubicBezTo>
                  <a:cubicBezTo>
                    <a:pt x="13003" y="4192"/>
                    <a:pt x="12993" y="4190"/>
                    <a:pt x="12983" y="4188"/>
                  </a:cubicBezTo>
                  <a:cubicBezTo>
                    <a:pt x="12820" y="4146"/>
                    <a:pt x="12666" y="4093"/>
                    <a:pt x="12520" y="4032"/>
                  </a:cubicBezTo>
                  <a:cubicBezTo>
                    <a:pt x="12472" y="4018"/>
                    <a:pt x="12427" y="4009"/>
                    <a:pt x="12389" y="4009"/>
                  </a:cubicBezTo>
                  <a:cubicBezTo>
                    <a:pt x="12292" y="4009"/>
                    <a:pt x="12245" y="4085"/>
                    <a:pt x="12245" y="4238"/>
                  </a:cubicBezTo>
                  <a:cubicBezTo>
                    <a:pt x="12245" y="4740"/>
                    <a:pt x="12245" y="4740"/>
                    <a:pt x="12245" y="4740"/>
                  </a:cubicBezTo>
                  <a:cubicBezTo>
                    <a:pt x="12245" y="5128"/>
                    <a:pt x="12245" y="5128"/>
                    <a:pt x="12245" y="5128"/>
                  </a:cubicBezTo>
                  <a:cubicBezTo>
                    <a:pt x="12244" y="5128"/>
                    <a:pt x="12244" y="5128"/>
                    <a:pt x="12244" y="5128"/>
                  </a:cubicBezTo>
                  <a:cubicBezTo>
                    <a:pt x="12244" y="5129"/>
                    <a:pt x="12245" y="5130"/>
                    <a:pt x="12245" y="5131"/>
                  </a:cubicBezTo>
                  <a:cubicBezTo>
                    <a:pt x="12245" y="5439"/>
                    <a:pt x="12367" y="5711"/>
                    <a:pt x="12552" y="5875"/>
                  </a:cubicBezTo>
                  <a:cubicBezTo>
                    <a:pt x="12560" y="5882"/>
                    <a:pt x="15206" y="7967"/>
                    <a:pt x="15206" y="7967"/>
                  </a:cubicBezTo>
                  <a:cubicBezTo>
                    <a:pt x="15308" y="8048"/>
                    <a:pt x="15308" y="8048"/>
                    <a:pt x="15308" y="8048"/>
                  </a:cubicBezTo>
                  <a:cubicBezTo>
                    <a:pt x="15575" y="8244"/>
                    <a:pt x="15864" y="8342"/>
                    <a:pt x="16174" y="8342"/>
                  </a:cubicBezTo>
                  <a:cubicBezTo>
                    <a:pt x="17991" y="8345"/>
                    <a:pt x="17991" y="8345"/>
                    <a:pt x="17991" y="8345"/>
                  </a:cubicBezTo>
                  <a:cubicBezTo>
                    <a:pt x="18120" y="8345"/>
                    <a:pt x="18183" y="8269"/>
                    <a:pt x="18183" y="8116"/>
                  </a:cubicBezTo>
                  <a:moveTo>
                    <a:pt x="26216" y="6446"/>
                  </a:moveTo>
                  <a:cubicBezTo>
                    <a:pt x="26399" y="6028"/>
                    <a:pt x="26507" y="5575"/>
                    <a:pt x="26540" y="5085"/>
                  </a:cubicBezTo>
                  <a:cubicBezTo>
                    <a:pt x="26551" y="4934"/>
                    <a:pt x="26491" y="4857"/>
                    <a:pt x="26362" y="4857"/>
                  </a:cubicBezTo>
                  <a:cubicBezTo>
                    <a:pt x="25098" y="4857"/>
                    <a:pt x="25098" y="4857"/>
                    <a:pt x="25098" y="4857"/>
                  </a:cubicBezTo>
                  <a:cubicBezTo>
                    <a:pt x="24634" y="4857"/>
                    <a:pt x="24332" y="5058"/>
                    <a:pt x="24192" y="5460"/>
                  </a:cubicBezTo>
                  <a:cubicBezTo>
                    <a:pt x="24106" y="5721"/>
                    <a:pt x="23962" y="5930"/>
                    <a:pt x="23763" y="6088"/>
                  </a:cubicBezTo>
                  <a:cubicBezTo>
                    <a:pt x="23562" y="6245"/>
                    <a:pt x="23307" y="6324"/>
                    <a:pt x="22994" y="6324"/>
                  </a:cubicBezTo>
                  <a:cubicBezTo>
                    <a:pt x="22702" y="6324"/>
                    <a:pt x="22405" y="6240"/>
                    <a:pt x="22103" y="6071"/>
                  </a:cubicBezTo>
                  <a:cubicBezTo>
                    <a:pt x="21800" y="5903"/>
                    <a:pt x="21528" y="5686"/>
                    <a:pt x="21285" y="5419"/>
                  </a:cubicBezTo>
                  <a:cubicBezTo>
                    <a:pt x="21042" y="5153"/>
                    <a:pt x="20845" y="4854"/>
                    <a:pt x="20694" y="4523"/>
                  </a:cubicBezTo>
                  <a:cubicBezTo>
                    <a:pt x="20543" y="4191"/>
                    <a:pt x="20467" y="3863"/>
                    <a:pt x="20467" y="3537"/>
                  </a:cubicBezTo>
                  <a:cubicBezTo>
                    <a:pt x="20467" y="3124"/>
                    <a:pt x="20591" y="2790"/>
                    <a:pt x="20839" y="2535"/>
                  </a:cubicBezTo>
                  <a:cubicBezTo>
                    <a:pt x="21088" y="2280"/>
                    <a:pt x="21401" y="2152"/>
                    <a:pt x="21779" y="2152"/>
                  </a:cubicBezTo>
                  <a:cubicBezTo>
                    <a:pt x="22210" y="2152"/>
                    <a:pt x="22637" y="2310"/>
                    <a:pt x="23058" y="2625"/>
                  </a:cubicBezTo>
                  <a:cubicBezTo>
                    <a:pt x="23231" y="2755"/>
                    <a:pt x="23414" y="2820"/>
                    <a:pt x="23609" y="2820"/>
                  </a:cubicBezTo>
                  <a:cubicBezTo>
                    <a:pt x="23803" y="2820"/>
                    <a:pt x="24008" y="2712"/>
                    <a:pt x="24224" y="2494"/>
                  </a:cubicBezTo>
                  <a:cubicBezTo>
                    <a:pt x="25083" y="1646"/>
                    <a:pt x="25083" y="1646"/>
                    <a:pt x="25083" y="1646"/>
                  </a:cubicBezTo>
                  <a:cubicBezTo>
                    <a:pt x="25136" y="1593"/>
                    <a:pt x="25155" y="1544"/>
                    <a:pt x="25139" y="1500"/>
                  </a:cubicBezTo>
                  <a:cubicBezTo>
                    <a:pt x="25123" y="1457"/>
                    <a:pt x="25088" y="1407"/>
                    <a:pt x="25034" y="1353"/>
                  </a:cubicBezTo>
                  <a:cubicBezTo>
                    <a:pt x="24570" y="929"/>
                    <a:pt x="24063" y="598"/>
                    <a:pt x="23512" y="359"/>
                  </a:cubicBezTo>
                  <a:cubicBezTo>
                    <a:pt x="22961" y="121"/>
                    <a:pt x="22383" y="0"/>
                    <a:pt x="21779" y="0"/>
                  </a:cubicBezTo>
                  <a:cubicBezTo>
                    <a:pt x="18394" y="0"/>
                    <a:pt x="18394" y="0"/>
                    <a:pt x="18394" y="0"/>
                  </a:cubicBezTo>
                  <a:cubicBezTo>
                    <a:pt x="18265" y="0"/>
                    <a:pt x="18200" y="77"/>
                    <a:pt x="18200" y="229"/>
                  </a:cubicBezTo>
                  <a:cubicBezTo>
                    <a:pt x="18200" y="3602"/>
                    <a:pt x="18200" y="3602"/>
                    <a:pt x="18200" y="3602"/>
                  </a:cubicBezTo>
                  <a:cubicBezTo>
                    <a:pt x="18200" y="4254"/>
                    <a:pt x="18332" y="4874"/>
                    <a:pt x="18597" y="5460"/>
                  </a:cubicBezTo>
                  <a:cubicBezTo>
                    <a:pt x="18861" y="6047"/>
                    <a:pt x="19217" y="6563"/>
                    <a:pt x="19665" y="7009"/>
                  </a:cubicBezTo>
                  <a:cubicBezTo>
                    <a:pt x="20114" y="7454"/>
                    <a:pt x="20626" y="7810"/>
                    <a:pt x="21204" y="8076"/>
                  </a:cubicBezTo>
                  <a:cubicBezTo>
                    <a:pt x="21781" y="8342"/>
                    <a:pt x="22378" y="8475"/>
                    <a:pt x="22994" y="8475"/>
                  </a:cubicBezTo>
                  <a:cubicBezTo>
                    <a:pt x="23490" y="8475"/>
                    <a:pt x="23949" y="8391"/>
                    <a:pt x="24370" y="8222"/>
                  </a:cubicBezTo>
                  <a:cubicBezTo>
                    <a:pt x="24791" y="8054"/>
                    <a:pt x="25158" y="7821"/>
                    <a:pt x="25471" y="7522"/>
                  </a:cubicBezTo>
                  <a:cubicBezTo>
                    <a:pt x="25784" y="7223"/>
                    <a:pt x="26033" y="6865"/>
                    <a:pt x="26216" y="6446"/>
                  </a:cubicBezTo>
                  <a:moveTo>
                    <a:pt x="35641" y="8152"/>
                  </a:moveTo>
                  <a:cubicBezTo>
                    <a:pt x="35641" y="7292"/>
                    <a:pt x="35641" y="7292"/>
                    <a:pt x="35641" y="7292"/>
                  </a:cubicBezTo>
                  <a:cubicBezTo>
                    <a:pt x="35641" y="7292"/>
                    <a:pt x="35641" y="7292"/>
                    <a:pt x="35641" y="7292"/>
                  </a:cubicBezTo>
                  <a:cubicBezTo>
                    <a:pt x="35640" y="6697"/>
                    <a:pt x="35288" y="6134"/>
                    <a:pt x="34704" y="5892"/>
                  </a:cubicBezTo>
                  <a:cubicBezTo>
                    <a:pt x="34198" y="5682"/>
                    <a:pt x="34198" y="5682"/>
                    <a:pt x="34198" y="5682"/>
                  </a:cubicBezTo>
                  <a:cubicBezTo>
                    <a:pt x="33773" y="5525"/>
                    <a:pt x="33307" y="5214"/>
                    <a:pt x="33069" y="4988"/>
                  </a:cubicBezTo>
                  <a:cubicBezTo>
                    <a:pt x="33069" y="4988"/>
                    <a:pt x="32601" y="4430"/>
                    <a:pt x="33145" y="3887"/>
                  </a:cubicBezTo>
                  <a:cubicBezTo>
                    <a:pt x="34209" y="2817"/>
                    <a:pt x="34209" y="2817"/>
                    <a:pt x="34209" y="2817"/>
                  </a:cubicBezTo>
                  <a:cubicBezTo>
                    <a:pt x="35220" y="1805"/>
                    <a:pt x="35220" y="1805"/>
                    <a:pt x="35220" y="1805"/>
                  </a:cubicBezTo>
                  <a:cubicBezTo>
                    <a:pt x="35493" y="1519"/>
                    <a:pt x="35631" y="1153"/>
                    <a:pt x="35637" y="784"/>
                  </a:cubicBezTo>
                  <a:cubicBezTo>
                    <a:pt x="35638" y="759"/>
                    <a:pt x="35638" y="759"/>
                    <a:pt x="35638" y="759"/>
                  </a:cubicBezTo>
                  <a:cubicBezTo>
                    <a:pt x="35639" y="759"/>
                    <a:pt x="35639" y="759"/>
                    <a:pt x="35639" y="759"/>
                  </a:cubicBezTo>
                  <a:cubicBezTo>
                    <a:pt x="35639" y="757"/>
                    <a:pt x="35639" y="755"/>
                    <a:pt x="35639" y="753"/>
                  </a:cubicBezTo>
                  <a:cubicBezTo>
                    <a:pt x="35633" y="524"/>
                    <a:pt x="35566" y="342"/>
                    <a:pt x="35435" y="209"/>
                  </a:cubicBezTo>
                  <a:cubicBezTo>
                    <a:pt x="35302" y="75"/>
                    <a:pt x="35120" y="7"/>
                    <a:pt x="34889" y="2"/>
                  </a:cubicBezTo>
                  <a:cubicBezTo>
                    <a:pt x="34881" y="2"/>
                    <a:pt x="34873" y="0"/>
                    <a:pt x="34865" y="0"/>
                  </a:cubicBezTo>
                  <a:cubicBezTo>
                    <a:pt x="34562" y="0"/>
                    <a:pt x="34562" y="0"/>
                    <a:pt x="34562" y="0"/>
                  </a:cubicBezTo>
                  <a:cubicBezTo>
                    <a:pt x="34016" y="13"/>
                    <a:pt x="33541" y="250"/>
                    <a:pt x="33196" y="592"/>
                  </a:cubicBezTo>
                  <a:cubicBezTo>
                    <a:pt x="33182" y="606"/>
                    <a:pt x="31828" y="1964"/>
                    <a:pt x="31470" y="2323"/>
                  </a:cubicBezTo>
                  <a:cubicBezTo>
                    <a:pt x="31488" y="2321"/>
                    <a:pt x="31488" y="2321"/>
                    <a:pt x="31488" y="2321"/>
                  </a:cubicBezTo>
                  <a:cubicBezTo>
                    <a:pt x="29574" y="4234"/>
                    <a:pt x="29574" y="4234"/>
                    <a:pt x="29574" y="4234"/>
                  </a:cubicBezTo>
                  <a:cubicBezTo>
                    <a:pt x="29574" y="4234"/>
                    <a:pt x="29572" y="1232"/>
                    <a:pt x="29572" y="1229"/>
                  </a:cubicBezTo>
                  <a:cubicBezTo>
                    <a:pt x="29572" y="550"/>
                    <a:pt x="29022" y="0"/>
                    <a:pt x="28344" y="0"/>
                  </a:cubicBezTo>
                  <a:cubicBezTo>
                    <a:pt x="28344" y="0"/>
                    <a:pt x="27833" y="1"/>
                    <a:pt x="27813" y="1"/>
                  </a:cubicBezTo>
                  <a:cubicBezTo>
                    <a:pt x="27675" y="1"/>
                    <a:pt x="27474" y="4"/>
                    <a:pt x="27379" y="53"/>
                  </a:cubicBezTo>
                  <a:cubicBezTo>
                    <a:pt x="27299" y="96"/>
                    <a:pt x="27300" y="181"/>
                    <a:pt x="27300" y="261"/>
                  </a:cubicBezTo>
                  <a:cubicBezTo>
                    <a:pt x="27300" y="8152"/>
                    <a:pt x="27300" y="8152"/>
                    <a:pt x="27300" y="8152"/>
                  </a:cubicBezTo>
                  <a:cubicBezTo>
                    <a:pt x="27300" y="8257"/>
                    <a:pt x="27384" y="8342"/>
                    <a:pt x="27489" y="8342"/>
                  </a:cubicBezTo>
                  <a:cubicBezTo>
                    <a:pt x="27491" y="8341"/>
                    <a:pt x="27491" y="8341"/>
                    <a:pt x="27491" y="8341"/>
                  </a:cubicBezTo>
                  <a:cubicBezTo>
                    <a:pt x="27489" y="8345"/>
                    <a:pt x="27489" y="8345"/>
                    <a:pt x="27489" y="8345"/>
                  </a:cubicBezTo>
                  <a:cubicBezTo>
                    <a:pt x="27910" y="8345"/>
                    <a:pt x="27910" y="8345"/>
                    <a:pt x="27910" y="8345"/>
                  </a:cubicBezTo>
                  <a:cubicBezTo>
                    <a:pt x="28456" y="8332"/>
                    <a:pt x="28931" y="8095"/>
                    <a:pt x="29275" y="7752"/>
                  </a:cubicBezTo>
                  <a:cubicBezTo>
                    <a:pt x="29281" y="7747"/>
                    <a:pt x="29518" y="7510"/>
                    <a:pt x="29817" y="7209"/>
                  </a:cubicBezTo>
                  <a:cubicBezTo>
                    <a:pt x="30023" y="7004"/>
                    <a:pt x="30306" y="6876"/>
                    <a:pt x="30620" y="6875"/>
                  </a:cubicBezTo>
                  <a:cubicBezTo>
                    <a:pt x="30621" y="6875"/>
                    <a:pt x="30621" y="6875"/>
                    <a:pt x="30621" y="6875"/>
                  </a:cubicBezTo>
                  <a:cubicBezTo>
                    <a:pt x="30621" y="6875"/>
                    <a:pt x="30621" y="6875"/>
                    <a:pt x="30621" y="6875"/>
                  </a:cubicBezTo>
                  <a:cubicBezTo>
                    <a:pt x="31018" y="6876"/>
                    <a:pt x="31395" y="6966"/>
                    <a:pt x="31733" y="7123"/>
                  </a:cubicBezTo>
                  <a:cubicBezTo>
                    <a:pt x="34067" y="8091"/>
                    <a:pt x="34067" y="8091"/>
                    <a:pt x="34067" y="8091"/>
                  </a:cubicBezTo>
                  <a:cubicBezTo>
                    <a:pt x="34067" y="8091"/>
                    <a:pt x="34633" y="8345"/>
                    <a:pt x="35108" y="8345"/>
                  </a:cubicBezTo>
                  <a:cubicBezTo>
                    <a:pt x="35451" y="8345"/>
                    <a:pt x="35451" y="8345"/>
                    <a:pt x="35451" y="8345"/>
                  </a:cubicBezTo>
                  <a:cubicBezTo>
                    <a:pt x="35450" y="8341"/>
                    <a:pt x="35450" y="8341"/>
                    <a:pt x="35450" y="8341"/>
                  </a:cubicBezTo>
                  <a:cubicBezTo>
                    <a:pt x="35451" y="8342"/>
                    <a:pt x="35451" y="8342"/>
                    <a:pt x="35451" y="8342"/>
                  </a:cubicBezTo>
                  <a:cubicBezTo>
                    <a:pt x="35556" y="8342"/>
                    <a:pt x="35641" y="8257"/>
                    <a:pt x="35641" y="815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grpSp>
        <p:nvGrpSpPr>
          <p:cNvPr id="24" name="Gruppieren 23" hidden="1">
            <a:extLst>
              <a:ext uri="{FF2B5EF4-FFF2-40B4-BE49-F238E27FC236}">
                <a16:creationId xmlns:a16="http://schemas.microsoft.com/office/drawing/2014/main" id="{DB7B64FA-4D21-4949-8AAB-9BFF8D9BC39C}"/>
              </a:ext>
            </a:extLst>
          </p:cNvPr>
          <p:cNvGrpSpPr/>
          <p:nvPr userDrawn="1"/>
        </p:nvGrpSpPr>
        <p:grpSpPr>
          <a:xfrm>
            <a:off x="-4321683" y="211650"/>
            <a:ext cx="10189084" cy="7360034"/>
            <a:chOff x="1407269" y="410447"/>
            <a:chExt cx="7401589" cy="5346501"/>
          </a:xfrm>
        </p:grpSpPr>
        <p:sp>
          <p:nvSpPr>
            <p:cNvPr id="25" name="Freihandform: Form 24">
              <a:extLst>
                <a:ext uri="{FF2B5EF4-FFF2-40B4-BE49-F238E27FC236}">
                  <a16:creationId xmlns:a16="http://schemas.microsoft.com/office/drawing/2014/main" id="{983776DB-66DF-4938-AA7E-EB94B22AE511}"/>
                </a:ext>
              </a:extLst>
            </p:cNvPr>
            <p:cNvSpPr/>
            <p:nvPr/>
          </p:nvSpPr>
          <p:spPr>
            <a:xfrm rot="20417692">
              <a:off x="1407269" y="410447"/>
              <a:ext cx="6942525" cy="5346501"/>
            </a:xfrm>
            <a:custGeom>
              <a:avLst/>
              <a:gdLst>
                <a:gd name="connsiteX0" fmla="*/ 4388610 w 6942525"/>
                <a:gd name="connsiteY0" fmla="*/ 2797988 h 5346501"/>
                <a:gd name="connsiteX1" fmla="*/ 4845199 w 6942525"/>
                <a:gd name="connsiteY1" fmla="*/ 3071724 h 5346501"/>
                <a:gd name="connsiteX2" fmla="*/ 4849579 w 6942525"/>
                <a:gd name="connsiteY2" fmla="*/ 3076103 h 5346501"/>
                <a:gd name="connsiteX3" fmla="*/ 4864910 w 6942525"/>
                <a:gd name="connsiteY3" fmla="*/ 3091433 h 5346501"/>
                <a:gd name="connsiteX4" fmla="*/ 4870384 w 6942525"/>
                <a:gd name="connsiteY4" fmla="*/ 3096908 h 5346501"/>
                <a:gd name="connsiteX5" fmla="*/ 4897756 w 6942525"/>
                <a:gd name="connsiteY5" fmla="*/ 3127565 h 5346501"/>
                <a:gd name="connsiteX6" fmla="*/ 4902137 w 6942525"/>
                <a:gd name="connsiteY6" fmla="*/ 3133040 h 5346501"/>
                <a:gd name="connsiteX7" fmla="*/ 4914180 w 6942525"/>
                <a:gd name="connsiteY7" fmla="*/ 3147274 h 5346501"/>
                <a:gd name="connsiteX8" fmla="*/ 4921846 w 6942525"/>
                <a:gd name="connsiteY8" fmla="*/ 3156034 h 5346501"/>
                <a:gd name="connsiteX9" fmla="*/ 4933890 w 6942525"/>
                <a:gd name="connsiteY9" fmla="*/ 3171363 h 5346501"/>
                <a:gd name="connsiteX10" fmla="*/ 4939364 w 6942525"/>
                <a:gd name="connsiteY10" fmla="*/ 3179028 h 5346501"/>
                <a:gd name="connsiteX11" fmla="*/ 4979880 w 6942525"/>
                <a:gd name="connsiteY11" fmla="*/ 3234870 h 5346501"/>
                <a:gd name="connsiteX12" fmla="*/ 4982067 w 6942525"/>
                <a:gd name="connsiteY12" fmla="*/ 3238154 h 5346501"/>
                <a:gd name="connsiteX13" fmla="*/ 5062135 w 6942525"/>
                <a:gd name="connsiteY13" fmla="*/ 3381728 h 5346501"/>
                <a:gd name="connsiteX14" fmla="*/ 5080445 w 6942525"/>
                <a:gd name="connsiteY14" fmla="*/ 3430512 h 5346501"/>
                <a:gd name="connsiteX15" fmla="*/ 5045549 w 6942525"/>
                <a:gd name="connsiteY15" fmla="*/ 3435607 h 5346501"/>
                <a:gd name="connsiteX16" fmla="*/ 4879551 w 6942525"/>
                <a:gd name="connsiteY16" fmla="*/ 3478187 h 5346501"/>
                <a:gd name="connsiteX17" fmla="*/ 4586973 w 6942525"/>
                <a:gd name="connsiteY17" fmla="*/ 3589312 h 5346501"/>
                <a:gd name="connsiteX18" fmla="*/ 4561618 w 6942525"/>
                <a:gd name="connsiteY18" fmla="*/ 3601296 h 5346501"/>
                <a:gd name="connsiteX19" fmla="*/ 4330412 w 6942525"/>
                <a:gd name="connsiteY19" fmla="*/ 3702809 h 5346501"/>
                <a:gd name="connsiteX20" fmla="*/ 4268693 w 6942525"/>
                <a:gd name="connsiteY20" fmla="*/ 3728097 h 5346501"/>
                <a:gd name="connsiteX21" fmla="*/ 4175275 w 6942525"/>
                <a:gd name="connsiteY21" fmla="*/ 3768366 h 5346501"/>
                <a:gd name="connsiteX22" fmla="*/ 4039156 w 6942525"/>
                <a:gd name="connsiteY22" fmla="*/ 3824940 h 5346501"/>
                <a:gd name="connsiteX23" fmla="*/ 3947413 w 6942525"/>
                <a:gd name="connsiteY23" fmla="*/ 3860545 h 5346501"/>
                <a:gd name="connsiteX24" fmla="*/ 3643827 w 6942525"/>
                <a:gd name="connsiteY24" fmla="*/ 3972996 h 5346501"/>
                <a:gd name="connsiteX25" fmla="*/ 3476707 w 6942525"/>
                <a:gd name="connsiteY25" fmla="*/ 4013197 h 5346501"/>
                <a:gd name="connsiteX26" fmla="*/ 3355633 w 6942525"/>
                <a:gd name="connsiteY26" fmla="*/ 4027765 h 5346501"/>
                <a:gd name="connsiteX27" fmla="*/ 3089870 w 6942525"/>
                <a:gd name="connsiteY27" fmla="*/ 3990506 h 5346501"/>
                <a:gd name="connsiteX28" fmla="*/ 2992368 w 6942525"/>
                <a:gd name="connsiteY28" fmla="*/ 3945152 h 5346501"/>
                <a:gd name="connsiteX29" fmla="*/ 2985393 w 6942525"/>
                <a:gd name="connsiteY29" fmla="*/ 3848037 h 5346501"/>
                <a:gd name="connsiteX30" fmla="*/ 3056068 w 6942525"/>
                <a:gd name="connsiteY30" fmla="*/ 3453858 h 5346501"/>
                <a:gd name="connsiteX31" fmla="*/ 3061542 w 6942525"/>
                <a:gd name="connsiteY31" fmla="*/ 3440719 h 5346501"/>
                <a:gd name="connsiteX32" fmla="*/ 3067017 w 6942525"/>
                <a:gd name="connsiteY32" fmla="*/ 3427579 h 5346501"/>
                <a:gd name="connsiteX33" fmla="*/ 3079060 w 6942525"/>
                <a:gd name="connsiteY33" fmla="*/ 3400206 h 5346501"/>
                <a:gd name="connsiteX34" fmla="*/ 3079061 w 6942525"/>
                <a:gd name="connsiteY34" fmla="*/ 3399111 h 5346501"/>
                <a:gd name="connsiteX35" fmla="*/ 3172131 w 6942525"/>
                <a:gd name="connsiteY35" fmla="*/ 3230490 h 5346501"/>
                <a:gd name="connsiteX36" fmla="*/ 3553170 w 6942525"/>
                <a:gd name="connsiteY36" fmla="*/ 2884488 h 5346501"/>
                <a:gd name="connsiteX37" fmla="*/ 3558645 w 6942525"/>
                <a:gd name="connsiteY37" fmla="*/ 2881204 h 5346501"/>
                <a:gd name="connsiteX38" fmla="*/ 3572879 w 6942525"/>
                <a:gd name="connsiteY38" fmla="*/ 2873539 h 5346501"/>
                <a:gd name="connsiteX39" fmla="*/ 3583829 w 6942525"/>
                <a:gd name="connsiteY39" fmla="*/ 2868065 h 5346501"/>
                <a:gd name="connsiteX40" fmla="*/ 3592588 w 6942525"/>
                <a:gd name="connsiteY40" fmla="*/ 2863686 h 5346501"/>
                <a:gd name="connsiteX41" fmla="*/ 3609013 w 6942525"/>
                <a:gd name="connsiteY41" fmla="*/ 2856020 h 5346501"/>
                <a:gd name="connsiteX42" fmla="*/ 3612297 w 6942525"/>
                <a:gd name="connsiteY42" fmla="*/ 2854926 h 5346501"/>
                <a:gd name="connsiteX43" fmla="*/ 4171812 w 6942525"/>
                <a:gd name="connsiteY43" fmla="*/ 2756381 h 5346501"/>
                <a:gd name="connsiteX44" fmla="*/ 4307585 w 6942525"/>
                <a:gd name="connsiteY44" fmla="*/ 2777184 h 5346501"/>
                <a:gd name="connsiteX45" fmla="*/ 4309775 w 6942525"/>
                <a:gd name="connsiteY45" fmla="*/ 2778279 h 5346501"/>
                <a:gd name="connsiteX46" fmla="*/ 4332768 w 6942525"/>
                <a:gd name="connsiteY46" fmla="*/ 2783754 h 5346501"/>
                <a:gd name="connsiteX47" fmla="*/ 4334957 w 6942525"/>
                <a:gd name="connsiteY47" fmla="*/ 2783754 h 5346501"/>
                <a:gd name="connsiteX48" fmla="*/ 4341527 w 6942525"/>
                <a:gd name="connsiteY48" fmla="*/ 2785945 h 5346501"/>
                <a:gd name="connsiteX49" fmla="*/ 4363426 w 6942525"/>
                <a:gd name="connsiteY49" fmla="*/ 2791418 h 5346501"/>
                <a:gd name="connsiteX50" fmla="*/ 4380946 w 6942525"/>
                <a:gd name="connsiteY50" fmla="*/ 2795799 h 5346501"/>
                <a:gd name="connsiteX51" fmla="*/ 4388610 w 6942525"/>
                <a:gd name="connsiteY51" fmla="*/ 2797988 h 5346501"/>
                <a:gd name="connsiteX52" fmla="*/ 6771598 w 6942525"/>
                <a:gd name="connsiteY52" fmla="*/ 3546932 h 5346501"/>
                <a:gd name="connsiteX53" fmla="*/ 6929240 w 6942525"/>
                <a:gd name="connsiteY53" fmla="*/ 3620440 h 5346501"/>
                <a:gd name="connsiteX54" fmla="*/ 6942525 w 6942525"/>
                <a:gd name="connsiteY54" fmla="*/ 3629091 h 5346501"/>
                <a:gd name="connsiteX55" fmla="*/ 6341311 w 6942525"/>
                <a:gd name="connsiteY55" fmla="*/ 5307743 h 5346501"/>
                <a:gd name="connsiteX56" fmla="*/ 6322731 w 6942525"/>
                <a:gd name="connsiteY56" fmla="*/ 5345603 h 5346501"/>
                <a:gd name="connsiteX57" fmla="*/ 6321801 w 6942525"/>
                <a:gd name="connsiteY57" fmla="*/ 5346501 h 5346501"/>
                <a:gd name="connsiteX58" fmla="*/ 6233585 w 6942525"/>
                <a:gd name="connsiteY58" fmla="*/ 5329491 h 5346501"/>
                <a:gd name="connsiteX59" fmla="*/ 5624340 w 6942525"/>
                <a:gd name="connsiteY59" fmla="*/ 4843958 h 5346501"/>
                <a:gd name="connsiteX60" fmla="*/ 5586835 w 6942525"/>
                <a:gd name="connsiteY60" fmla="*/ 4756564 h 5346501"/>
                <a:gd name="connsiteX61" fmla="*/ 5593276 w 6942525"/>
                <a:gd name="connsiteY61" fmla="*/ 4698185 h 5346501"/>
                <a:gd name="connsiteX62" fmla="*/ 5621590 w 6942525"/>
                <a:gd name="connsiteY62" fmla="*/ 4597078 h 5346501"/>
                <a:gd name="connsiteX63" fmla="*/ 5807147 w 6942525"/>
                <a:gd name="connsiteY63" fmla="*/ 4078983 h 5346501"/>
                <a:gd name="connsiteX64" fmla="*/ 5831463 w 6942525"/>
                <a:gd name="connsiteY64" fmla="*/ 3787766 h 5346501"/>
                <a:gd name="connsiteX65" fmla="*/ 5818045 w 6942525"/>
                <a:gd name="connsiteY65" fmla="*/ 3747493 h 5346501"/>
                <a:gd name="connsiteX66" fmla="*/ 5827361 w 6942525"/>
                <a:gd name="connsiteY66" fmla="*/ 3737448 h 5346501"/>
                <a:gd name="connsiteX67" fmla="*/ 6680322 w 6942525"/>
                <a:gd name="connsiteY67" fmla="*/ 3519554 h 5346501"/>
                <a:gd name="connsiteX68" fmla="*/ 6771598 w 6942525"/>
                <a:gd name="connsiteY68" fmla="*/ 3546932 h 5346501"/>
                <a:gd name="connsiteX69" fmla="*/ 6517110 w 6942525"/>
                <a:gd name="connsiteY69" fmla="*/ 1905535 h 5346501"/>
                <a:gd name="connsiteX70" fmla="*/ 6865206 w 6942525"/>
                <a:gd name="connsiteY70" fmla="*/ 2030207 h 5346501"/>
                <a:gd name="connsiteX71" fmla="*/ 6880422 w 6942525"/>
                <a:gd name="connsiteY71" fmla="*/ 2061641 h 5346501"/>
                <a:gd name="connsiteX72" fmla="*/ 6937632 w 6942525"/>
                <a:gd name="connsiteY72" fmla="*/ 2415855 h 5346501"/>
                <a:gd name="connsiteX73" fmla="*/ 6937632 w 6942525"/>
                <a:gd name="connsiteY73" fmla="*/ 2427898 h 5346501"/>
                <a:gd name="connsiteX74" fmla="*/ 6935443 w 6942525"/>
                <a:gd name="connsiteY74" fmla="*/ 2457462 h 5346501"/>
                <a:gd name="connsiteX75" fmla="*/ 6928873 w 6942525"/>
                <a:gd name="connsiteY75" fmla="*/ 2515494 h 5346501"/>
                <a:gd name="connsiteX76" fmla="*/ 6927780 w 6942525"/>
                <a:gd name="connsiteY76" fmla="*/ 2522064 h 5346501"/>
                <a:gd name="connsiteX77" fmla="*/ 6921210 w 6942525"/>
                <a:gd name="connsiteY77" fmla="*/ 2560387 h 5346501"/>
                <a:gd name="connsiteX78" fmla="*/ 6914640 w 6942525"/>
                <a:gd name="connsiteY78" fmla="*/ 2588856 h 5346501"/>
                <a:gd name="connsiteX79" fmla="*/ 6911353 w 6942525"/>
                <a:gd name="connsiteY79" fmla="*/ 2604185 h 5346501"/>
                <a:gd name="connsiteX80" fmla="*/ 6779964 w 6942525"/>
                <a:gd name="connsiteY80" fmla="*/ 2904199 h 5346501"/>
                <a:gd name="connsiteX81" fmla="*/ 6770107 w 6942525"/>
                <a:gd name="connsiteY81" fmla="*/ 2918433 h 5346501"/>
                <a:gd name="connsiteX82" fmla="*/ 6754778 w 6942525"/>
                <a:gd name="connsiteY82" fmla="*/ 2940332 h 5346501"/>
                <a:gd name="connsiteX83" fmla="*/ 6730689 w 6942525"/>
                <a:gd name="connsiteY83" fmla="*/ 2972084 h 5346501"/>
                <a:gd name="connsiteX84" fmla="*/ 6728498 w 6942525"/>
                <a:gd name="connsiteY84" fmla="*/ 2974275 h 5346501"/>
                <a:gd name="connsiteX85" fmla="*/ 6496372 w 6942525"/>
                <a:gd name="connsiteY85" fmla="*/ 3179028 h 5346501"/>
                <a:gd name="connsiteX86" fmla="*/ 6494183 w 6942525"/>
                <a:gd name="connsiteY86" fmla="*/ 3180123 h 5346501"/>
                <a:gd name="connsiteX87" fmla="*/ 6461333 w 6942525"/>
                <a:gd name="connsiteY87" fmla="*/ 3199833 h 5346501"/>
                <a:gd name="connsiteX88" fmla="*/ 6453670 w 6942525"/>
                <a:gd name="connsiteY88" fmla="*/ 3204212 h 5346501"/>
                <a:gd name="connsiteX89" fmla="*/ 6425200 w 6942525"/>
                <a:gd name="connsiteY89" fmla="*/ 3219541 h 5346501"/>
                <a:gd name="connsiteX90" fmla="*/ 6413155 w 6942525"/>
                <a:gd name="connsiteY90" fmla="*/ 3226112 h 5346501"/>
                <a:gd name="connsiteX91" fmla="*/ 6387972 w 6942525"/>
                <a:gd name="connsiteY91" fmla="*/ 3238155 h 5346501"/>
                <a:gd name="connsiteX92" fmla="*/ 6370454 w 6942525"/>
                <a:gd name="connsiteY92" fmla="*/ 3245819 h 5346501"/>
                <a:gd name="connsiteX93" fmla="*/ 6348555 w 6942525"/>
                <a:gd name="connsiteY93" fmla="*/ 3254580 h 5346501"/>
                <a:gd name="connsiteX94" fmla="*/ 6327751 w 6942525"/>
                <a:gd name="connsiteY94" fmla="*/ 3262244 h 5346501"/>
                <a:gd name="connsiteX95" fmla="*/ 6306946 w 6942525"/>
                <a:gd name="connsiteY95" fmla="*/ 3268813 h 5346501"/>
                <a:gd name="connsiteX96" fmla="*/ 6285047 w 6942525"/>
                <a:gd name="connsiteY96" fmla="*/ 3276478 h 5346501"/>
                <a:gd name="connsiteX97" fmla="*/ 6264243 w 6942525"/>
                <a:gd name="connsiteY97" fmla="*/ 3283048 h 5346501"/>
                <a:gd name="connsiteX98" fmla="*/ 6242346 w 6942525"/>
                <a:gd name="connsiteY98" fmla="*/ 3289617 h 5346501"/>
                <a:gd name="connsiteX99" fmla="*/ 6216068 w 6942525"/>
                <a:gd name="connsiteY99" fmla="*/ 3296187 h 5346501"/>
                <a:gd name="connsiteX100" fmla="*/ 6199642 w 6942525"/>
                <a:gd name="connsiteY100" fmla="*/ 3300566 h 5346501"/>
                <a:gd name="connsiteX101" fmla="*/ 6162416 w 6942525"/>
                <a:gd name="connsiteY101" fmla="*/ 3307137 h 5346501"/>
                <a:gd name="connsiteX102" fmla="*/ 6155844 w 6942525"/>
                <a:gd name="connsiteY102" fmla="*/ 3308231 h 5346501"/>
                <a:gd name="connsiteX103" fmla="*/ 5609469 w 6942525"/>
                <a:gd name="connsiteY103" fmla="*/ 3232680 h 5346501"/>
                <a:gd name="connsiteX104" fmla="*/ 5149595 w 6942525"/>
                <a:gd name="connsiteY104" fmla="*/ 2758571 h 5346501"/>
                <a:gd name="connsiteX105" fmla="*/ 5149594 w 6942525"/>
                <a:gd name="connsiteY105" fmla="*/ 2757476 h 5346501"/>
                <a:gd name="connsiteX106" fmla="*/ 5118935 w 6942525"/>
                <a:gd name="connsiteY106" fmla="*/ 2677546 h 5346501"/>
                <a:gd name="connsiteX107" fmla="*/ 5116746 w 6942525"/>
                <a:gd name="connsiteY107" fmla="*/ 2669881 h 5346501"/>
                <a:gd name="connsiteX108" fmla="*/ 5105797 w 6942525"/>
                <a:gd name="connsiteY108" fmla="*/ 2632653 h 5346501"/>
                <a:gd name="connsiteX109" fmla="*/ 5103609 w 6942525"/>
                <a:gd name="connsiteY109" fmla="*/ 2624990 h 5346501"/>
                <a:gd name="connsiteX110" fmla="*/ 5094847 w 6942525"/>
                <a:gd name="connsiteY110" fmla="*/ 2587760 h 5346501"/>
                <a:gd name="connsiteX111" fmla="*/ 5093752 w 6942525"/>
                <a:gd name="connsiteY111" fmla="*/ 2584476 h 5346501"/>
                <a:gd name="connsiteX112" fmla="*/ 5086087 w 6942525"/>
                <a:gd name="connsiteY112" fmla="*/ 2541774 h 5346501"/>
                <a:gd name="connsiteX113" fmla="*/ 5084995 w 6942525"/>
                <a:gd name="connsiteY113" fmla="*/ 2538489 h 5346501"/>
                <a:gd name="connsiteX114" fmla="*/ 5082804 w 6942525"/>
                <a:gd name="connsiteY114" fmla="*/ 2526445 h 5346501"/>
                <a:gd name="connsiteX115" fmla="*/ 5078286 w 6942525"/>
                <a:gd name="connsiteY115" fmla="*/ 2461983 h 5346501"/>
                <a:gd name="connsiteX116" fmla="*/ 5159963 w 6942525"/>
                <a:gd name="connsiteY116" fmla="*/ 2430582 h 5346501"/>
                <a:gd name="connsiteX117" fmla="*/ 5859576 w 6942525"/>
                <a:gd name="connsiteY117" fmla="*/ 2138728 h 5346501"/>
                <a:gd name="connsiteX118" fmla="*/ 6339331 w 6942525"/>
                <a:gd name="connsiteY118" fmla="*/ 1931386 h 5346501"/>
                <a:gd name="connsiteX119" fmla="*/ 6431079 w 6942525"/>
                <a:gd name="connsiteY119" fmla="*/ 1895788 h 5346501"/>
                <a:gd name="connsiteX120" fmla="*/ 6442085 w 6942525"/>
                <a:gd name="connsiteY120" fmla="*/ 1894460 h 5346501"/>
                <a:gd name="connsiteX121" fmla="*/ 6517110 w 6942525"/>
                <a:gd name="connsiteY121" fmla="*/ 1905535 h 5346501"/>
                <a:gd name="connsiteX122" fmla="*/ 1211371 w 6942525"/>
                <a:gd name="connsiteY122" fmla="*/ 0 h 5346501"/>
                <a:gd name="connsiteX123" fmla="*/ 1323858 w 6942525"/>
                <a:gd name="connsiteY123" fmla="*/ 40288 h 5346501"/>
                <a:gd name="connsiteX124" fmla="*/ 1505887 w 6942525"/>
                <a:gd name="connsiteY124" fmla="*/ 105482 h 5346501"/>
                <a:gd name="connsiteX125" fmla="*/ 1989090 w 6942525"/>
                <a:gd name="connsiteY125" fmla="*/ 520789 h 5346501"/>
                <a:gd name="connsiteX126" fmla="*/ 2435576 w 6942525"/>
                <a:gd name="connsiteY126" fmla="*/ 1383611 h 5346501"/>
                <a:gd name="connsiteX127" fmla="*/ 2371730 w 6942525"/>
                <a:gd name="connsiteY127" fmla="*/ 1422742 h 5346501"/>
                <a:gd name="connsiteX128" fmla="*/ 2359686 w 6942525"/>
                <a:gd name="connsiteY128" fmla="*/ 1429313 h 5346501"/>
                <a:gd name="connsiteX129" fmla="*/ 2350925 w 6942525"/>
                <a:gd name="connsiteY129" fmla="*/ 1433692 h 5346501"/>
                <a:gd name="connsiteX130" fmla="*/ 2345451 w 6942525"/>
                <a:gd name="connsiteY130" fmla="*/ 1436976 h 5346501"/>
                <a:gd name="connsiteX131" fmla="*/ 2229389 w 6942525"/>
                <a:gd name="connsiteY131" fmla="*/ 1693194 h 5346501"/>
                <a:gd name="connsiteX132" fmla="*/ 2229388 w 6942525"/>
                <a:gd name="connsiteY132" fmla="*/ 1695383 h 5346501"/>
                <a:gd name="connsiteX133" fmla="*/ 2407863 w 6942525"/>
                <a:gd name="connsiteY133" fmla="*/ 1846485 h 5346501"/>
                <a:gd name="connsiteX134" fmla="*/ 2414433 w 6942525"/>
                <a:gd name="connsiteY134" fmla="*/ 1846484 h 5346501"/>
                <a:gd name="connsiteX135" fmla="*/ 2658605 w 6942525"/>
                <a:gd name="connsiteY135" fmla="*/ 1899042 h 5346501"/>
                <a:gd name="connsiteX136" fmla="*/ 2822470 w 6942525"/>
                <a:gd name="connsiteY136" fmla="*/ 1986791 h 5346501"/>
                <a:gd name="connsiteX137" fmla="*/ 2878775 w 6942525"/>
                <a:gd name="connsiteY137" fmla="*/ 2031380 h 5346501"/>
                <a:gd name="connsiteX138" fmla="*/ 2929827 w 6942525"/>
                <a:gd name="connsiteY138" fmla="*/ 2084748 h 5346501"/>
                <a:gd name="connsiteX139" fmla="*/ 2965120 w 6942525"/>
                <a:gd name="connsiteY139" fmla="*/ 2115980 h 5346501"/>
                <a:gd name="connsiteX140" fmla="*/ 3018673 w 6942525"/>
                <a:gd name="connsiteY140" fmla="*/ 2184978 h 5346501"/>
                <a:gd name="connsiteX141" fmla="*/ 3133809 w 6942525"/>
                <a:gd name="connsiteY141" fmla="*/ 2449798 h 5346501"/>
                <a:gd name="connsiteX142" fmla="*/ 2548016 w 6942525"/>
                <a:gd name="connsiteY142" fmla="*/ 3383781 h 5346501"/>
                <a:gd name="connsiteX143" fmla="*/ 2536880 w 6942525"/>
                <a:gd name="connsiteY143" fmla="*/ 3385712 h 5346501"/>
                <a:gd name="connsiteX144" fmla="*/ 2514488 w 6942525"/>
                <a:gd name="connsiteY144" fmla="*/ 3347339 h 5346501"/>
                <a:gd name="connsiteX145" fmla="*/ 2350348 w 6942525"/>
                <a:gd name="connsiteY145" fmla="*/ 3041037 h 5346501"/>
                <a:gd name="connsiteX146" fmla="*/ 2228498 w 6942525"/>
                <a:gd name="connsiteY146" fmla="*/ 2807812 h 5346501"/>
                <a:gd name="connsiteX147" fmla="*/ 2202859 w 6942525"/>
                <a:gd name="connsiteY147" fmla="*/ 2761768 h 5346501"/>
                <a:gd name="connsiteX148" fmla="*/ 2199862 w 6942525"/>
                <a:gd name="connsiteY148" fmla="*/ 2755426 h 5346501"/>
                <a:gd name="connsiteX149" fmla="*/ 2029384 w 6942525"/>
                <a:gd name="connsiteY149" fmla="*/ 2452123 h 5346501"/>
                <a:gd name="connsiteX150" fmla="*/ 1852495 w 6942525"/>
                <a:gd name="connsiteY150" fmla="*/ 2225519 h 5346501"/>
                <a:gd name="connsiteX151" fmla="*/ 1818850 w 6942525"/>
                <a:gd name="connsiteY151" fmla="*/ 2187136 h 5346501"/>
                <a:gd name="connsiteX152" fmla="*/ 1791189 w 6942525"/>
                <a:gd name="connsiteY152" fmla="*/ 2161433 h 5346501"/>
                <a:gd name="connsiteX153" fmla="*/ 1769205 w 6942525"/>
                <a:gd name="connsiteY153" fmla="*/ 2145235 h 5346501"/>
                <a:gd name="connsiteX154" fmla="*/ 1808930 w 6942525"/>
                <a:gd name="connsiteY154" fmla="*/ 2097226 h 5346501"/>
                <a:gd name="connsiteX155" fmla="*/ 2006020 w 6942525"/>
                <a:gd name="connsiteY155" fmla="*/ 1945030 h 5346501"/>
                <a:gd name="connsiteX156" fmla="*/ 2011495 w 6942525"/>
                <a:gd name="connsiteY156" fmla="*/ 1941744 h 5346501"/>
                <a:gd name="connsiteX157" fmla="*/ 2106755 w 6942525"/>
                <a:gd name="connsiteY157" fmla="*/ 1728230 h 5346501"/>
                <a:gd name="connsiteX158" fmla="*/ 2106755 w 6942525"/>
                <a:gd name="connsiteY158" fmla="*/ 1726042 h 5346501"/>
                <a:gd name="connsiteX159" fmla="*/ 1891051 w 6942525"/>
                <a:gd name="connsiteY159" fmla="*/ 1545376 h 5346501"/>
                <a:gd name="connsiteX160" fmla="*/ 1884482 w 6942525"/>
                <a:gd name="connsiteY160" fmla="*/ 1545377 h 5346501"/>
                <a:gd name="connsiteX161" fmla="*/ 1603082 w 6942525"/>
                <a:gd name="connsiteY161" fmla="*/ 1491724 h 5346501"/>
                <a:gd name="connsiteX162" fmla="*/ 1601987 w 6942525"/>
                <a:gd name="connsiteY162" fmla="*/ 1491724 h 5346501"/>
                <a:gd name="connsiteX163" fmla="*/ 1586657 w 6942525"/>
                <a:gd name="connsiteY163" fmla="*/ 1486249 h 5346501"/>
                <a:gd name="connsiteX164" fmla="*/ 1501252 w 6942525"/>
                <a:gd name="connsiteY164" fmla="*/ 1449021 h 5346501"/>
                <a:gd name="connsiteX165" fmla="*/ 1494683 w 6942525"/>
                <a:gd name="connsiteY165" fmla="*/ 1445737 h 5346501"/>
                <a:gd name="connsiteX166" fmla="*/ 1469499 w 6942525"/>
                <a:gd name="connsiteY166" fmla="*/ 1432597 h 5346501"/>
                <a:gd name="connsiteX167" fmla="*/ 1462930 w 6942525"/>
                <a:gd name="connsiteY167" fmla="*/ 1429312 h 5346501"/>
                <a:gd name="connsiteX168" fmla="*/ 1433366 w 6942525"/>
                <a:gd name="connsiteY168" fmla="*/ 1411794 h 5346501"/>
                <a:gd name="connsiteX169" fmla="*/ 1427891 w 6942525"/>
                <a:gd name="connsiteY169" fmla="*/ 1408508 h 5346501"/>
                <a:gd name="connsiteX170" fmla="*/ 1402707 w 6942525"/>
                <a:gd name="connsiteY170" fmla="*/ 1392085 h 5346501"/>
                <a:gd name="connsiteX171" fmla="*/ 1399423 w 6942525"/>
                <a:gd name="connsiteY171" fmla="*/ 1389894 h 5346501"/>
                <a:gd name="connsiteX172" fmla="*/ 1393948 w 6942525"/>
                <a:gd name="connsiteY172" fmla="*/ 1386610 h 5346501"/>
                <a:gd name="connsiteX173" fmla="*/ 1113643 w 6942525"/>
                <a:gd name="connsiteY173" fmla="*/ 1406319 h 5346501"/>
                <a:gd name="connsiteX174" fmla="*/ 1111453 w 6942525"/>
                <a:gd name="connsiteY174" fmla="*/ 1408508 h 5346501"/>
                <a:gd name="connsiteX175" fmla="*/ 1070940 w 6942525"/>
                <a:gd name="connsiteY175" fmla="*/ 1585889 h 5346501"/>
                <a:gd name="connsiteX176" fmla="*/ 1075321 w 6942525"/>
                <a:gd name="connsiteY176" fmla="*/ 1596838 h 5346501"/>
                <a:gd name="connsiteX177" fmla="*/ 1076415 w 6942525"/>
                <a:gd name="connsiteY177" fmla="*/ 1599028 h 5346501"/>
                <a:gd name="connsiteX178" fmla="*/ 1088459 w 6942525"/>
                <a:gd name="connsiteY178" fmla="*/ 1626401 h 5346501"/>
                <a:gd name="connsiteX179" fmla="*/ 1090649 w 6942525"/>
                <a:gd name="connsiteY179" fmla="*/ 1632971 h 5346501"/>
                <a:gd name="connsiteX180" fmla="*/ 1099409 w 6942525"/>
                <a:gd name="connsiteY180" fmla="*/ 1657060 h 5346501"/>
                <a:gd name="connsiteX181" fmla="*/ 1101599 w 6942525"/>
                <a:gd name="connsiteY181" fmla="*/ 1664724 h 5346501"/>
                <a:gd name="connsiteX182" fmla="*/ 1109262 w 6942525"/>
                <a:gd name="connsiteY182" fmla="*/ 1688814 h 5346501"/>
                <a:gd name="connsiteX183" fmla="*/ 1111453 w 6942525"/>
                <a:gd name="connsiteY183" fmla="*/ 1696478 h 5346501"/>
                <a:gd name="connsiteX184" fmla="*/ 1116928 w 6942525"/>
                <a:gd name="connsiteY184" fmla="*/ 1720566 h 5346501"/>
                <a:gd name="connsiteX185" fmla="*/ 1118023 w 6942525"/>
                <a:gd name="connsiteY185" fmla="*/ 1723851 h 5346501"/>
                <a:gd name="connsiteX186" fmla="*/ 1119118 w 6942525"/>
                <a:gd name="connsiteY186" fmla="*/ 1731516 h 5346501"/>
                <a:gd name="connsiteX187" fmla="*/ 1122403 w 6942525"/>
                <a:gd name="connsiteY187" fmla="*/ 1750130 h 5346501"/>
                <a:gd name="connsiteX188" fmla="*/ 1124593 w 6942525"/>
                <a:gd name="connsiteY188" fmla="*/ 1765460 h 5346501"/>
                <a:gd name="connsiteX189" fmla="*/ 1126782 w 6942525"/>
                <a:gd name="connsiteY189" fmla="*/ 1779693 h 5346501"/>
                <a:gd name="connsiteX190" fmla="*/ 1127878 w 6942525"/>
                <a:gd name="connsiteY190" fmla="*/ 1791738 h 5346501"/>
                <a:gd name="connsiteX191" fmla="*/ 1128972 w 6942525"/>
                <a:gd name="connsiteY191" fmla="*/ 1805972 h 5346501"/>
                <a:gd name="connsiteX192" fmla="*/ 1130067 w 6942525"/>
                <a:gd name="connsiteY192" fmla="*/ 1826775 h 5346501"/>
                <a:gd name="connsiteX193" fmla="*/ 1130067 w 6942525"/>
                <a:gd name="connsiteY193" fmla="*/ 1839915 h 5346501"/>
                <a:gd name="connsiteX194" fmla="*/ 1130067 w 6942525"/>
                <a:gd name="connsiteY194" fmla="*/ 1853055 h 5346501"/>
                <a:gd name="connsiteX195" fmla="*/ 1130067 w 6942525"/>
                <a:gd name="connsiteY195" fmla="*/ 1865098 h 5346501"/>
                <a:gd name="connsiteX196" fmla="*/ 1128972 w 6942525"/>
                <a:gd name="connsiteY196" fmla="*/ 1888092 h 5346501"/>
                <a:gd name="connsiteX197" fmla="*/ 1127878 w 6942525"/>
                <a:gd name="connsiteY197" fmla="*/ 1897946 h 5346501"/>
                <a:gd name="connsiteX198" fmla="*/ 1126783 w 6942525"/>
                <a:gd name="connsiteY198" fmla="*/ 1915467 h 5346501"/>
                <a:gd name="connsiteX199" fmla="*/ 1125687 w 6942525"/>
                <a:gd name="connsiteY199" fmla="*/ 1924226 h 5346501"/>
                <a:gd name="connsiteX200" fmla="*/ 1122403 w 6942525"/>
                <a:gd name="connsiteY200" fmla="*/ 1949409 h 5346501"/>
                <a:gd name="connsiteX201" fmla="*/ 1121308 w 6942525"/>
                <a:gd name="connsiteY201" fmla="*/ 1954885 h 5346501"/>
                <a:gd name="connsiteX202" fmla="*/ 1116928 w 6942525"/>
                <a:gd name="connsiteY202" fmla="*/ 1976782 h 5346501"/>
                <a:gd name="connsiteX203" fmla="*/ 1115833 w 6942525"/>
                <a:gd name="connsiteY203" fmla="*/ 1982257 h 5346501"/>
                <a:gd name="connsiteX204" fmla="*/ 1109263 w 6942525"/>
                <a:gd name="connsiteY204" fmla="*/ 2008535 h 5346501"/>
                <a:gd name="connsiteX205" fmla="*/ 1109263 w 6942525"/>
                <a:gd name="connsiteY205" fmla="*/ 2009630 h 5346501"/>
                <a:gd name="connsiteX206" fmla="*/ 1101599 w 6942525"/>
                <a:gd name="connsiteY206" fmla="*/ 2035909 h 5346501"/>
                <a:gd name="connsiteX207" fmla="*/ 1100503 w 6942525"/>
                <a:gd name="connsiteY207" fmla="*/ 2039194 h 5346501"/>
                <a:gd name="connsiteX208" fmla="*/ 1081889 w 6942525"/>
                <a:gd name="connsiteY208" fmla="*/ 2091751 h 5346501"/>
                <a:gd name="connsiteX209" fmla="*/ 1080794 w 6942525"/>
                <a:gd name="connsiteY209" fmla="*/ 2095037 h 5346501"/>
                <a:gd name="connsiteX210" fmla="*/ 1076077 w 6942525"/>
                <a:gd name="connsiteY210" fmla="*/ 2104902 h 5346501"/>
                <a:gd name="connsiteX211" fmla="*/ 1030906 w 6942525"/>
                <a:gd name="connsiteY211" fmla="*/ 2148496 h 5346501"/>
                <a:gd name="connsiteX212" fmla="*/ 975618 w 6942525"/>
                <a:gd name="connsiteY212" fmla="*/ 2228423 h 5346501"/>
                <a:gd name="connsiteX213" fmla="*/ 944652 w 6942525"/>
                <a:gd name="connsiteY213" fmla="*/ 2296876 h 5346501"/>
                <a:gd name="connsiteX214" fmla="*/ 941737 w 6942525"/>
                <a:gd name="connsiteY214" fmla="*/ 2299790 h 5346501"/>
                <a:gd name="connsiteX215" fmla="*/ 929693 w 6942525"/>
                <a:gd name="connsiteY215" fmla="*/ 2310739 h 5346501"/>
                <a:gd name="connsiteX216" fmla="*/ 922029 w 6942525"/>
                <a:gd name="connsiteY216" fmla="*/ 2318404 h 5346501"/>
                <a:gd name="connsiteX217" fmla="*/ 919839 w 6942525"/>
                <a:gd name="connsiteY217" fmla="*/ 2320594 h 5346501"/>
                <a:gd name="connsiteX218" fmla="*/ 912174 w 6942525"/>
                <a:gd name="connsiteY218" fmla="*/ 2327164 h 5346501"/>
                <a:gd name="connsiteX219" fmla="*/ 899035 w 6942525"/>
                <a:gd name="connsiteY219" fmla="*/ 2338113 h 5346501"/>
                <a:gd name="connsiteX220" fmla="*/ 884801 w 6942525"/>
                <a:gd name="connsiteY220" fmla="*/ 2349062 h 5346501"/>
                <a:gd name="connsiteX221" fmla="*/ 877136 w 6942525"/>
                <a:gd name="connsiteY221" fmla="*/ 2354537 h 5346501"/>
                <a:gd name="connsiteX222" fmla="*/ 874946 w 6942525"/>
                <a:gd name="connsiteY222" fmla="*/ 2355632 h 5346501"/>
                <a:gd name="connsiteX223" fmla="*/ 856332 w 6942525"/>
                <a:gd name="connsiteY223" fmla="*/ 2368771 h 5346501"/>
                <a:gd name="connsiteX224" fmla="*/ 849763 w 6942525"/>
                <a:gd name="connsiteY224" fmla="*/ 2373151 h 5346501"/>
                <a:gd name="connsiteX225" fmla="*/ 828959 w 6942525"/>
                <a:gd name="connsiteY225" fmla="*/ 2386291 h 5346501"/>
                <a:gd name="connsiteX226" fmla="*/ 823484 w 6942525"/>
                <a:gd name="connsiteY226" fmla="*/ 2389575 h 5346501"/>
                <a:gd name="connsiteX227" fmla="*/ 802680 w 6942525"/>
                <a:gd name="connsiteY227" fmla="*/ 2401620 h 5346501"/>
                <a:gd name="connsiteX228" fmla="*/ 796110 w 6942525"/>
                <a:gd name="connsiteY228" fmla="*/ 2404905 h 5346501"/>
                <a:gd name="connsiteX229" fmla="*/ 776401 w 6942525"/>
                <a:gd name="connsiteY229" fmla="*/ 2414759 h 5346501"/>
                <a:gd name="connsiteX230" fmla="*/ 768737 w 6942525"/>
                <a:gd name="connsiteY230" fmla="*/ 2418043 h 5346501"/>
                <a:gd name="connsiteX231" fmla="*/ 750123 w 6942525"/>
                <a:gd name="connsiteY231" fmla="*/ 2425709 h 5346501"/>
                <a:gd name="connsiteX232" fmla="*/ 740268 w 6942525"/>
                <a:gd name="connsiteY232" fmla="*/ 2430088 h 5346501"/>
                <a:gd name="connsiteX233" fmla="*/ 723844 w 6942525"/>
                <a:gd name="connsiteY233" fmla="*/ 2435562 h 5346501"/>
                <a:gd name="connsiteX234" fmla="*/ 710705 w 6942525"/>
                <a:gd name="connsiteY234" fmla="*/ 2439943 h 5346501"/>
                <a:gd name="connsiteX235" fmla="*/ 697565 w 6942525"/>
                <a:gd name="connsiteY235" fmla="*/ 2444323 h 5346501"/>
                <a:gd name="connsiteX236" fmla="*/ 681141 w 6942525"/>
                <a:gd name="connsiteY236" fmla="*/ 2449797 h 5346501"/>
                <a:gd name="connsiteX237" fmla="*/ 670192 w 6942525"/>
                <a:gd name="connsiteY237" fmla="*/ 2453082 h 5346501"/>
                <a:gd name="connsiteX238" fmla="*/ 651578 w 6942525"/>
                <a:gd name="connsiteY238" fmla="*/ 2457462 h 5346501"/>
                <a:gd name="connsiteX239" fmla="*/ 643915 w 6942525"/>
                <a:gd name="connsiteY239" fmla="*/ 2459652 h 5346501"/>
                <a:gd name="connsiteX240" fmla="*/ 622015 w 6942525"/>
                <a:gd name="connsiteY240" fmla="*/ 2464032 h 5346501"/>
                <a:gd name="connsiteX241" fmla="*/ 615445 w 6942525"/>
                <a:gd name="connsiteY241" fmla="*/ 2465126 h 5346501"/>
                <a:gd name="connsiteX242" fmla="*/ 592452 w 6942525"/>
                <a:gd name="connsiteY242" fmla="*/ 2468412 h 5346501"/>
                <a:gd name="connsiteX243" fmla="*/ 586975 w 6942525"/>
                <a:gd name="connsiteY243" fmla="*/ 2469505 h 5346501"/>
                <a:gd name="connsiteX244" fmla="*/ 562888 w 6942525"/>
                <a:gd name="connsiteY244" fmla="*/ 2471696 h 5346501"/>
                <a:gd name="connsiteX245" fmla="*/ 557413 w 6942525"/>
                <a:gd name="connsiteY245" fmla="*/ 2471696 h 5346501"/>
                <a:gd name="connsiteX246" fmla="*/ 533324 w 6942525"/>
                <a:gd name="connsiteY246" fmla="*/ 2472791 h 5346501"/>
                <a:gd name="connsiteX247" fmla="*/ 525660 w 6942525"/>
                <a:gd name="connsiteY247" fmla="*/ 2472791 h 5346501"/>
                <a:gd name="connsiteX248" fmla="*/ 503761 w 6942525"/>
                <a:gd name="connsiteY248" fmla="*/ 2472791 h 5346501"/>
                <a:gd name="connsiteX249" fmla="*/ 493906 w 6942525"/>
                <a:gd name="connsiteY249" fmla="*/ 2472791 h 5346501"/>
                <a:gd name="connsiteX250" fmla="*/ 474198 w 6942525"/>
                <a:gd name="connsiteY250" fmla="*/ 2471696 h 5346501"/>
                <a:gd name="connsiteX251" fmla="*/ 462153 w 6942525"/>
                <a:gd name="connsiteY251" fmla="*/ 2470600 h 5346501"/>
                <a:gd name="connsiteX252" fmla="*/ 445729 w 6942525"/>
                <a:gd name="connsiteY252" fmla="*/ 2469505 h 5346501"/>
                <a:gd name="connsiteX253" fmla="*/ 430400 w 6942525"/>
                <a:gd name="connsiteY253" fmla="*/ 2467316 h 5346501"/>
                <a:gd name="connsiteX254" fmla="*/ 417260 w 6942525"/>
                <a:gd name="connsiteY254" fmla="*/ 2465125 h 5346501"/>
                <a:gd name="connsiteX255" fmla="*/ 398647 w 6942525"/>
                <a:gd name="connsiteY255" fmla="*/ 2461841 h 5346501"/>
                <a:gd name="connsiteX256" fmla="*/ 388792 w 6942525"/>
                <a:gd name="connsiteY256" fmla="*/ 2459652 h 5346501"/>
                <a:gd name="connsiteX257" fmla="*/ 367988 w 6942525"/>
                <a:gd name="connsiteY257" fmla="*/ 2455272 h 5346501"/>
                <a:gd name="connsiteX258" fmla="*/ 360324 w 6942525"/>
                <a:gd name="connsiteY258" fmla="*/ 2453082 h 5346501"/>
                <a:gd name="connsiteX259" fmla="*/ 338425 w 6942525"/>
                <a:gd name="connsiteY259" fmla="*/ 2446512 h 5346501"/>
                <a:gd name="connsiteX260" fmla="*/ 331856 w 6942525"/>
                <a:gd name="connsiteY260" fmla="*/ 2444322 h 5346501"/>
                <a:gd name="connsiteX261" fmla="*/ 309957 w 6942525"/>
                <a:gd name="connsiteY261" fmla="*/ 2436658 h 5346501"/>
                <a:gd name="connsiteX262" fmla="*/ 303387 w 6942525"/>
                <a:gd name="connsiteY262" fmla="*/ 2434468 h 5346501"/>
                <a:gd name="connsiteX263" fmla="*/ 282583 w 6942525"/>
                <a:gd name="connsiteY263" fmla="*/ 2425709 h 5346501"/>
                <a:gd name="connsiteX264" fmla="*/ 276013 w 6942525"/>
                <a:gd name="connsiteY264" fmla="*/ 2423518 h 5346501"/>
                <a:gd name="connsiteX265" fmla="*/ 256304 w 6942525"/>
                <a:gd name="connsiteY265" fmla="*/ 2414759 h 5346501"/>
                <a:gd name="connsiteX266" fmla="*/ 247545 w 6942525"/>
                <a:gd name="connsiteY266" fmla="*/ 2411474 h 5346501"/>
                <a:gd name="connsiteX267" fmla="*/ 230026 w 6942525"/>
                <a:gd name="connsiteY267" fmla="*/ 2402714 h 5346501"/>
                <a:gd name="connsiteX268" fmla="*/ 220172 w 6942525"/>
                <a:gd name="connsiteY268" fmla="*/ 2397239 h 5346501"/>
                <a:gd name="connsiteX269" fmla="*/ 205937 w 6942525"/>
                <a:gd name="connsiteY269" fmla="*/ 2389575 h 5346501"/>
                <a:gd name="connsiteX270" fmla="*/ 193892 w 6942525"/>
                <a:gd name="connsiteY270" fmla="*/ 2381911 h 5346501"/>
                <a:gd name="connsiteX271" fmla="*/ 182944 w 6942525"/>
                <a:gd name="connsiteY271" fmla="*/ 2374246 h 5346501"/>
                <a:gd name="connsiteX272" fmla="*/ 168709 w 6942525"/>
                <a:gd name="connsiteY272" fmla="*/ 2364391 h 5346501"/>
                <a:gd name="connsiteX273" fmla="*/ 159950 w 6942525"/>
                <a:gd name="connsiteY273" fmla="*/ 2357823 h 5346501"/>
                <a:gd name="connsiteX274" fmla="*/ 143526 w 6942525"/>
                <a:gd name="connsiteY274" fmla="*/ 2345778 h 5346501"/>
                <a:gd name="connsiteX275" fmla="*/ 136956 w 6942525"/>
                <a:gd name="connsiteY275" fmla="*/ 2340303 h 5346501"/>
                <a:gd name="connsiteX276" fmla="*/ 119437 w 6942525"/>
                <a:gd name="connsiteY276" fmla="*/ 2326068 h 5346501"/>
                <a:gd name="connsiteX277" fmla="*/ 113962 w 6942525"/>
                <a:gd name="connsiteY277" fmla="*/ 2321689 h 5346501"/>
                <a:gd name="connsiteX278" fmla="*/ 95349 w 6942525"/>
                <a:gd name="connsiteY278" fmla="*/ 2305264 h 5346501"/>
                <a:gd name="connsiteX279" fmla="*/ 90968 w 6942525"/>
                <a:gd name="connsiteY279" fmla="*/ 2300885 h 5346501"/>
                <a:gd name="connsiteX280" fmla="*/ 73450 w 6942525"/>
                <a:gd name="connsiteY280" fmla="*/ 2283366 h 5346501"/>
                <a:gd name="connsiteX281" fmla="*/ 67975 w 6942525"/>
                <a:gd name="connsiteY281" fmla="*/ 2277891 h 5346501"/>
                <a:gd name="connsiteX282" fmla="*/ 52645 w 6942525"/>
                <a:gd name="connsiteY282" fmla="*/ 2260373 h 5346501"/>
                <a:gd name="connsiteX283" fmla="*/ 50455 w 6942525"/>
                <a:gd name="connsiteY283" fmla="*/ 2258182 h 5346501"/>
                <a:gd name="connsiteX284" fmla="*/ 44981 w 6942525"/>
                <a:gd name="connsiteY284" fmla="*/ 2251612 h 5346501"/>
                <a:gd name="connsiteX285" fmla="*/ 32936 w 6942525"/>
                <a:gd name="connsiteY285" fmla="*/ 2237379 h 5346501"/>
                <a:gd name="connsiteX286" fmla="*/ 21988 w 6942525"/>
                <a:gd name="connsiteY286" fmla="*/ 2223144 h 5346501"/>
                <a:gd name="connsiteX287" fmla="*/ 15417 w 6942525"/>
                <a:gd name="connsiteY287" fmla="*/ 2214385 h 5346501"/>
                <a:gd name="connsiteX288" fmla="*/ 13229 w 6942525"/>
                <a:gd name="connsiteY288" fmla="*/ 2211100 h 5346501"/>
                <a:gd name="connsiteX289" fmla="*/ 6658 w 6942525"/>
                <a:gd name="connsiteY289" fmla="*/ 2202341 h 5346501"/>
                <a:gd name="connsiteX290" fmla="*/ 0 w 6942525"/>
                <a:gd name="connsiteY290" fmla="*/ 2192724 h 5346501"/>
                <a:gd name="connsiteX291" fmla="*/ 338643 w 6942525"/>
                <a:gd name="connsiteY291" fmla="*/ 1247199 h 5346501"/>
                <a:gd name="connsiteX292" fmla="*/ 365799 w 6942525"/>
                <a:gd name="connsiteY292" fmla="*/ 1239888 h 5346501"/>
                <a:gd name="connsiteX293" fmla="*/ 372368 w 6942525"/>
                <a:gd name="connsiteY293" fmla="*/ 1238793 h 5346501"/>
                <a:gd name="connsiteX294" fmla="*/ 399742 w 6942525"/>
                <a:gd name="connsiteY294" fmla="*/ 1233317 h 5346501"/>
                <a:gd name="connsiteX295" fmla="*/ 407406 w 6942525"/>
                <a:gd name="connsiteY295" fmla="*/ 1232223 h 5346501"/>
                <a:gd name="connsiteX296" fmla="*/ 431494 w 6942525"/>
                <a:gd name="connsiteY296" fmla="*/ 1228938 h 5346501"/>
                <a:gd name="connsiteX297" fmla="*/ 435875 w 6942525"/>
                <a:gd name="connsiteY297" fmla="*/ 1227844 h 5346501"/>
                <a:gd name="connsiteX298" fmla="*/ 517995 w 6942525"/>
                <a:gd name="connsiteY298" fmla="*/ 1223464 h 5346501"/>
                <a:gd name="connsiteX299" fmla="*/ 519090 w 6942525"/>
                <a:gd name="connsiteY299" fmla="*/ 1223464 h 5346501"/>
                <a:gd name="connsiteX300" fmla="*/ 538799 w 6942525"/>
                <a:gd name="connsiteY300" fmla="*/ 1224558 h 5346501"/>
                <a:gd name="connsiteX301" fmla="*/ 543179 w 6942525"/>
                <a:gd name="connsiteY301" fmla="*/ 1224558 h 5346501"/>
                <a:gd name="connsiteX302" fmla="*/ 558508 w 6942525"/>
                <a:gd name="connsiteY302" fmla="*/ 1225654 h 5346501"/>
                <a:gd name="connsiteX303" fmla="*/ 567267 w 6942525"/>
                <a:gd name="connsiteY303" fmla="*/ 1226748 h 5346501"/>
                <a:gd name="connsiteX304" fmla="*/ 578217 w 6942525"/>
                <a:gd name="connsiteY304" fmla="*/ 1227844 h 5346501"/>
                <a:gd name="connsiteX305" fmla="*/ 591356 w 6942525"/>
                <a:gd name="connsiteY305" fmla="*/ 1230033 h 5346501"/>
                <a:gd name="connsiteX306" fmla="*/ 597926 w 6942525"/>
                <a:gd name="connsiteY306" fmla="*/ 1231128 h 5346501"/>
                <a:gd name="connsiteX307" fmla="*/ 615444 w 6942525"/>
                <a:gd name="connsiteY307" fmla="*/ 1234412 h 5346501"/>
                <a:gd name="connsiteX308" fmla="*/ 617635 w 6942525"/>
                <a:gd name="connsiteY308" fmla="*/ 1234413 h 5346501"/>
                <a:gd name="connsiteX309" fmla="*/ 717275 w 6942525"/>
                <a:gd name="connsiteY309" fmla="*/ 1260692 h 5346501"/>
                <a:gd name="connsiteX310" fmla="*/ 721654 w 6942525"/>
                <a:gd name="connsiteY310" fmla="*/ 1261787 h 5346501"/>
                <a:gd name="connsiteX311" fmla="*/ 744649 w 6942525"/>
                <a:gd name="connsiteY311" fmla="*/ 1270547 h 5346501"/>
                <a:gd name="connsiteX312" fmla="*/ 751217 w 6942525"/>
                <a:gd name="connsiteY312" fmla="*/ 1273830 h 5346501"/>
                <a:gd name="connsiteX313" fmla="*/ 776401 w 6942525"/>
                <a:gd name="connsiteY313" fmla="*/ 1284780 h 5346501"/>
                <a:gd name="connsiteX314" fmla="*/ 782971 w 6942525"/>
                <a:gd name="connsiteY314" fmla="*/ 1288065 h 5346501"/>
                <a:gd name="connsiteX315" fmla="*/ 809249 w 6942525"/>
                <a:gd name="connsiteY315" fmla="*/ 1301204 h 5346501"/>
                <a:gd name="connsiteX316" fmla="*/ 810345 w 6942525"/>
                <a:gd name="connsiteY316" fmla="*/ 1302299 h 5346501"/>
                <a:gd name="connsiteX317" fmla="*/ 836624 w 6942525"/>
                <a:gd name="connsiteY317" fmla="*/ 1317628 h 5346501"/>
                <a:gd name="connsiteX318" fmla="*/ 838813 w 6942525"/>
                <a:gd name="connsiteY318" fmla="*/ 1318723 h 5346501"/>
                <a:gd name="connsiteX319" fmla="*/ 841003 w 6942525"/>
                <a:gd name="connsiteY319" fmla="*/ 1319819 h 5346501"/>
                <a:gd name="connsiteX320" fmla="*/ 845383 w 6942525"/>
                <a:gd name="connsiteY320" fmla="*/ 1323103 h 5346501"/>
                <a:gd name="connsiteX321" fmla="*/ 847573 w 6942525"/>
                <a:gd name="connsiteY321" fmla="*/ 1324198 h 5346501"/>
                <a:gd name="connsiteX322" fmla="*/ 1028238 w 6942525"/>
                <a:gd name="connsiteY322" fmla="*/ 1306679 h 5346501"/>
                <a:gd name="connsiteX323" fmla="*/ 1030428 w 6942525"/>
                <a:gd name="connsiteY323" fmla="*/ 1304489 h 5346501"/>
                <a:gd name="connsiteX324" fmla="*/ 1087364 w 6942525"/>
                <a:gd name="connsiteY324" fmla="*/ 1030754 h 5346501"/>
                <a:gd name="connsiteX325" fmla="*/ 1039187 w 6942525"/>
                <a:gd name="connsiteY325" fmla="*/ 917975 h 5346501"/>
                <a:gd name="connsiteX326" fmla="*/ 1038092 w 6942525"/>
                <a:gd name="connsiteY326" fmla="*/ 915786 h 5346501"/>
                <a:gd name="connsiteX327" fmla="*/ 1027142 w 6942525"/>
                <a:gd name="connsiteY327" fmla="*/ 882937 h 5346501"/>
                <a:gd name="connsiteX328" fmla="*/ 1026048 w 6942525"/>
                <a:gd name="connsiteY328" fmla="*/ 879652 h 5346501"/>
                <a:gd name="connsiteX329" fmla="*/ 1008528 w 6942525"/>
                <a:gd name="connsiteY329" fmla="*/ 815051 h 5346501"/>
                <a:gd name="connsiteX330" fmla="*/ 1041377 w 6942525"/>
                <a:gd name="connsiteY330" fmla="*/ 289479 h 5346501"/>
                <a:gd name="connsiteX331" fmla="*/ 1042471 w 6942525"/>
                <a:gd name="connsiteY331" fmla="*/ 287290 h 5346501"/>
                <a:gd name="connsiteX332" fmla="*/ 1050137 w 6942525"/>
                <a:gd name="connsiteY332" fmla="*/ 267581 h 5346501"/>
                <a:gd name="connsiteX333" fmla="*/ 1054516 w 6942525"/>
                <a:gd name="connsiteY333" fmla="*/ 255536 h 5346501"/>
                <a:gd name="connsiteX334" fmla="*/ 1057801 w 6942525"/>
                <a:gd name="connsiteY334" fmla="*/ 246778 h 5346501"/>
                <a:gd name="connsiteX335" fmla="*/ 1205618 w 6942525"/>
                <a:gd name="connsiteY335" fmla="*/ 5890 h 5346501"/>
                <a:gd name="connsiteX336" fmla="*/ 1209998 w 6942525"/>
                <a:gd name="connsiteY336" fmla="*/ 1509 h 534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942525" h="5346501">
                  <a:moveTo>
                    <a:pt x="4388610" y="2797988"/>
                  </a:moveTo>
                  <a:cubicBezTo>
                    <a:pt x="4567086" y="2851641"/>
                    <a:pt x="4721471" y="2946900"/>
                    <a:pt x="4845199" y="3071724"/>
                  </a:cubicBezTo>
                  <a:cubicBezTo>
                    <a:pt x="4846296" y="3072819"/>
                    <a:pt x="4848484" y="3075008"/>
                    <a:pt x="4849579" y="3076103"/>
                  </a:cubicBezTo>
                  <a:cubicBezTo>
                    <a:pt x="4855054" y="3080483"/>
                    <a:pt x="4859435" y="3085958"/>
                    <a:pt x="4864910" y="3091433"/>
                  </a:cubicBezTo>
                  <a:cubicBezTo>
                    <a:pt x="4867099" y="3093623"/>
                    <a:pt x="4868192" y="3094717"/>
                    <a:pt x="4870384" y="3096908"/>
                  </a:cubicBezTo>
                  <a:cubicBezTo>
                    <a:pt x="4880239" y="3106762"/>
                    <a:pt x="4888998" y="3117711"/>
                    <a:pt x="4897756" y="3127565"/>
                  </a:cubicBezTo>
                  <a:cubicBezTo>
                    <a:pt x="4898851" y="3129756"/>
                    <a:pt x="4901043" y="3130850"/>
                    <a:pt x="4902137" y="3133040"/>
                  </a:cubicBezTo>
                  <a:cubicBezTo>
                    <a:pt x="4906518" y="3137420"/>
                    <a:pt x="4909801" y="3142894"/>
                    <a:pt x="4914180" y="3147274"/>
                  </a:cubicBezTo>
                  <a:cubicBezTo>
                    <a:pt x="4917465" y="3150560"/>
                    <a:pt x="4919657" y="3152749"/>
                    <a:pt x="4921846" y="3156034"/>
                  </a:cubicBezTo>
                  <a:cubicBezTo>
                    <a:pt x="4926224" y="3161508"/>
                    <a:pt x="4929510" y="3165888"/>
                    <a:pt x="4933890" y="3171363"/>
                  </a:cubicBezTo>
                  <a:cubicBezTo>
                    <a:pt x="4936080" y="3173553"/>
                    <a:pt x="4937174" y="3176838"/>
                    <a:pt x="4939364" y="3179028"/>
                  </a:cubicBezTo>
                  <a:cubicBezTo>
                    <a:pt x="4953599" y="3196547"/>
                    <a:pt x="4966739" y="3216256"/>
                    <a:pt x="4979880" y="3234870"/>
                  </a:cubicBezTo>
                  <a:cubicBezTo>
                    <a:pt x="4979879" y="3235965"/>
                    <a:pt x="4980972" y="3237060"/>
                    <a:pt x="4982067" y="3238154"/>
                  </a:cubicBezTo>
                  <a:cubicBezTo>
                    <a:pt x="5012178" y="3284141"/>
                    <a:pt x="5039005" y="3332045"/>
                    <a:pt x="5062135" y="3381728"/>
                  </a:cubicBezTo>
                  <a:lnTo>
                    <a:pt x="5080445" y="3430512"/>
                  </a:lnTo>
                  <a:lnTo>
                    <a:pt x="5045549" y="3435607"/>
                  </a:lnTo>
                  <a:cubicBezTo>
                    <a:pt x="4990803" y="3446938"/>
                    <a:pt x="4935597" y="3461397"/>
                    <a:pt x="4879551" y="3478187"/>
                  </a:cubicBezTo>
                  <a:cubicBezTo>
                    <a:pt x="4783139" y="3512115"/>
                    <a:pt x="4682062" y="3544378"/>
                    <a:pt x="4586973" y="3589312"/>
                  </a:cubicBezTo>
                  <a:cubicBezTo>
                    <a:pt x="4580637" y="3592311"/>
                    <a:pt x="4567958" y="3598303"/>
                    <a:pt x="4561618" y="3601296"/>
                  </a:cubicBezTo>
                  <a:cubicBezTo>
                    <a:pt x="4479209" y="3640244"/>
                    <a:pt x="4404811" y="3671524"/>
                    <a:pt x="4330412" y="3702809"/>
                  </a:cubicBezTo>
                  <a:cubicBezTo>
                    <a:pt x="4311393" y="3711793"/>
                    <a:pt x="4287706" y="3719111"/>
                    <a:pt x="4268693" y="3728097"/>
                  </a:cubicBezTo>
                  <a:cubicBezTo>
                    <a:pt x="4236994" y="3743078"/>
                    <a:pt x="4206972" y="3753391"/>
                    <a:pt x="4175275" y="3768366"/>
                  </a:cubicBezTo>
                  <a:cubicBezTo>
                    <a:pt x="4130902" y="3789340"/>
                    <a:pt x="4083532" y="3803972"/>
                    <a:pt x="4039156" y="3824940"/>
                  </a:cubicBezTo>
                  <a:cubicBezTo>
                    <a:pt x="4009134" y="3835252"/>
                    <a:pt x="3977435" y="3850233"/>
                    <a:pt x="3947413" y="3860545"/>
                  </a:cubicBezTo>
                  <a:cubicBezTo>
                    <a:pt x="3847659" y="3903808"/>
                    <a:pt x="3744905" y="3940734"/>
                    <a:pt x="3643827" y="3972996"/>
                  </a:cubicBezTo>
                  <a:cubicBezTo>
                    <a:pt x="3585452" y="3988949"/>
                    <a:pt x="3528747" y="4000238"/>
                    <a:pt x="3476707" y="4013197"/>
                  </a:cubicBezTo>
                  <a:cubicBezTo>
                    <a:pt x="3437350" y="4020166"/>
                    <a:pt x="3393323" y="4025462"/>
                    <a:pt x="3355633" y="4027765"/>
                  </a:cubicBezTo>
                  <a:cubicBezTo>
                    <a:pt x="3264586" y="4032017"/>
                    <a:pt x="3178549" y="4022267"/>
                    <a:pt x="3089870" y="3990506"/>
                  </a:cubicBezTo>
                  <a:lnTo>
                    <a:pt x="2992368" y="3945152"/>
                  </a:lnTo>
                  <a:lnTo>
                    <a:pt x="2985393" y="3848037"/>
                  </a:lnTo>
                  <a:cubicBezTo>
                    <a:pt x="2984007" y="3716644"/>
                    <a:pt x="3006795" y="3582787"/>
                    <a:pt x="3056068" y="3453858"/>
                  </a:cubicBezTo>
                  <a:cubicBezTo>
                    <a:pt x="3058257" y="3449478"/>
                    <a:pt x="3059351" y="3445099"/>
                    <a:pt x="3061542" y="3440719"/>
                  </a:cubicBezTo>
                  <a:cubicBezTo>
                    <a:pt x="3063731" y="3436339"/>
                    <a:pt x="3064827" y="3431958"/>
                    <a:pt x="3067017" y="3427579"/>
                  </a:cubicBezTo>
                  <a:cubicBezTo>
                    <a:pt x="3071396" y="3418820"/>
                    <a:pt x="3074681" y="3408965"/>
                    <a:pt x="3079060" y="3400206"/>
                  </a:cubicBezTo>
                  <a:cubicBezTo>
                    <a:pt x="3079060" y="3400206"/>
                    <a:pt x="3079061" y="3399111"/>
                    <a:pt x="3079061" y="3399111"/>
                  </a:cubicBezTo>
                  <a:cubicBezTo>
                    <a:pt x="3105340" y="3338890"/>
                    <a:pt x="3137092" y="3283047"/>
                    <a:pt x="3172131" y="3230490"/>
                  </a:cubicBezTo>
                  <a:cubicBezTo>
                    <a:pt x="3271770" y="3082673"/>
                    <a:pt x="3403163" y="2966609"/>
                    <a:pt x="3553170" y="2884488"/>
                  </a:cubicBezTo>
                  <a:cubicBezTo>
                    <a:pt x="3555361" y="2883394"/>
                    <a:pt x="3556455" y="2882299"/>
                    <a:pt x="3558645" y="2881204"/>
                  </a:cubicBezTo>
                  <a:cubicBezTo>
                    <a:pt x="3563024" y="2877920"/>
                    <a:pt x="3568499" y="2875729"/>
                    <a:pt x="3572879" y="2873539"/>
                  </a:cubicBezTo>
                  <a:cubicBezTo>
                    <a:pt x="3576164" y="2871349"/>
                    <a:pt x="3580544" y="2870254"/>
                    <a:pt x="3583829" y="2868065"/>
                  </a:cubicBezTo>
                  <a:cubicBezTo>
                    <a:pt x="3587114" y="2866970"/>
                    <a:pt x="3589303" y="2864779"/>
                    <a:pt x="3592588" y="2863686"/>
                  </a:cubicBezTo>
                  <a:cubicBezTo>
                    <a:pt x="3598062" y="2861495"/>
                    <a:pt x="3603537" y="2858211"/>
                    <a:pt x="3609013" y="2856020"/>
                  </a:cubicBezTo>
                  <a:cubicBezTo>
                    <a:pt x="3610108" y="2856020"/>
                    <a:pt x="3611202" y="2854926"/>
                    <a:pt x="3612297" y="2854926"/>
                  </a:cubicBezTo>
                  <a:cubicBezTo>
                    <a:pt x="3783108" y="2774995"/>
                    <a:pt x="3975817" y="2738861"/>
                    <a:pt x="4171812" y="2756381"/>
                  </a:cubicBezTo>
                  <a:cubicBezTo>
                    <a:pt x="4217798" y="2760760"/>
                    <a:pt x="4262692" y="2767331"/>
                    <a:pt x="4307585" y="2777184"/>
                  </a:cubicBezTo>
                  <a:cubicBezTo>
                    <a:pt x="4307584" y="2778279"/>
                    <a:pt x="4308680" y="2778279"/>
                    <a:pt x="4309775" y="2778279"/>
                  </a:cubicBezTo>
                  <a:cubicBezTo>
                    <a:pt x="4317439" y="2780470"/>
                    <a:pt x="4325103" y="2781565"/>
                    <a:pt x="4332768" y="2783754"/>
                  </a:cubicBezTo>
                  <a:cubicBezTo>
                    <a:pt x="4333862" y="2783754"/>
                    <a:pt x="4333862" y="2783754"/>
                    <a:pt x="4334957" y="2783754"/>
                  </a:cubicBezTo>
                  <a:cubicBezTo>
                    <a:pt x="4337148" y="2784849"/>
                    <a:pt x="4339337" y="2785945"/>
                    <a:pt x="4341527" y="2785945"/>
                  </a:cubicBezTo>
                  <a:cubicBezTo>
                    <a:pt x="4348097" y="2787038"/>
                    <a:pt x="4355762" y="2789229"/>
                    <a:pt x="4363426" y="2791418"/>
                  </a:cubicBezTo>
                  <a:cubicBezTo>
                    <a:pt x="4368901" y="2792513"/>
                    <a:pt x="4375471" y="2793609"/>
                    <a:pt x="4380946" y="2795799"/>
                  </a:cubicBezTo>
                  <a:cubicBezTo>
                    <a:pt x="4383135" y="2795799"/>
                    <a:pt x="4386421" y="2796893"/>
                    <a:pt x="4388610" y="2797988"/>
                  </a:cubicBezTo>
                  <a:close/>
                  <a:moveTo>
                    <a:pt x="6771598" y="3546932"/>
                  </a:moveTo>
                  <a:cubicBezTo>
                    <a:pt x="6827147" y="3566724"/>
                    <a:pt x="6879820" y="3591434"/>
                    <a:pt x="6929240" y="3620440"/>
                  </a:cubicBezTo>
                  <a:lnTo>
                    <a:pt x="6942525" y="3629091"/>
                  </a:lnTo>
                  <a:lnTo>
                    <a:pt x="6341311" y="5307743"/>
                  </a:lnTo>
                  <a:cubicBezTo>
                    <a:pt x="6335878" y="5322911"/>
                    <a:pt x="6329717" y="5335516"/>
                    <a:pt x="6322731" y="5345603"/>
                  </a:cubicBezTo>
                  <a:lnTo>
                    <a:pt x="6321801" y="5346501"/>
                  </a:lnTo>
                  <a:lnTo>
                    <a:pt x="6233585" y="5329491"/>
                  </a:lnTo>
                  <a:cubicBezTo>
                    <a:pt x="5958619" y="5261468"/>
                    <a:pt x="5742334" y="5078596"/>
                    <a:pt x="5624340" y="4843958"/>
                  </a:cubicBezTo>
                  <a:lnTo>
                    <a:pt x="5586835" y="4756564"/>
                  </a:lnTo>
                  <a:lnTo>
                    <a:pt x="5593276" y="4698185"/>
                  </a:lnTo>
                  <a:cubicBezTo>
                    <a:pt x="5599684" y="4665591"/>
                    <a:pt x="5609053" y="4632083"/>
                    <a:pt x="5621590" y="4597078"/>
                  </a:cubicBezTo>
                  <a:lnTo>
                    <a:pt x="5807147" y="4078983"/>
                  </a:lnTo>
                  <a:cubicBezTo>
                    <a:pt x="5844760" y="3973964"/>
                    <a:pt x="5852158" y="3878861"/>
                    <a:pt x="5831463" y="3787766"/>
                  </a:cubicBezTo>
                  <a:lnTo>
                    <a:pt x="5818045" y="3747493"/>
                  </a:lnTo>
                  <a:lnTo>
                    <a:pt x="5827361" y="3737448"/>
                  </a:lnTo>
                  <a:cubicBezTo>
                    <a:pt x="6049633" y="3533789"/>
                    <a:pt x="6366072" y="3441814"/>
                    <a:pt x="6680322" y="3519554"/>
                  </a:cubicBezTo>
                  <a:cubicBezTo>
                    <a:pt x="6711527" y="3527219"/>
                    <a:pt x="6741972" y="3536376"/>
                    <a:pt x="6771598" y="3546932"/>
                  </a:cubicBezTo>
                  <a:close/>
                  <a:moveTo>
                    <a:pt x="6517110" y="1905535"/>
                  </a:moveTo>
                  <a:lnTo>
                    <a:pt x="6865206" y="2030207"/>
                  </a:lnTo>
                  <a:lnTo>
                    <a:pt x="6880422" y="2061641"/>
                  </a:lnTo>
                  <a:cubicBezTo>
                    <a:pt x="6921484" y="2171957"/>
                    <a:pt x="6942014" y="2291580"/>
                    <a:pt x="6937632" y="2415855"/>
                  </a:cubicBezTo>
                  <a:cubicBezTo>
                    <a:pt x="6937632" y="2420235"/>
                    <a:pt x="6937632" y="2423519"/>
                    <a:pt x="6937632" y="2427898"/>
                  </a:cubicBezTo>
                  <a:cubicBezTo>
                    <a:pt x="6936537" y="2437753"/>
                    <a:pt x="6936538" y="2447608"/>
                    <a:pt x="6935443" y="2457462"/>
                  </a:cubicBezTo>
                  <a:cubicBezTo>
                    <a:pt x="6933253" y="2477172"/>
                    <a:pt x="6931065" y="2495787"/>
                    <a:pt x="6928873" y="2515494"/>
                  </a:cubicBezTo>
                  <a:cubicBezTo>
                    <a:pt x="6928873" y="2517684"/>
                    <a:pt x="6927778" y="2519874"/>
                    <a:pt x="6927780" y="2522064"/>
                  </a:cubicBezTo>
                  <a:cubicBezTo>
                    <a:pt x="6925588" y="2535203"/>
                    <a:pt x="6923400" y="2547249"/>
                    <a:pt x="6921210" y="2560387"/>
                  </a:cubicBezTo>
                  <a:cubicBezTo>
                    <a:pt x="6919018" y="2570242"/>
                    <a:pt x="6916829" y="2579001"/>
                    <a:pt x="6914640" y="2588856"/>
                  </a:cubicBezTo>
                  <a:cubicBezTo>
                    <a:pt x="6913544" y="2594330"/>
                    <a:pt x="6912449" y="2598709"/>
                    <a:pt x="6911353" y="2604185"/>
                  </a:cubicBezTo>
                  <a:cubicBezTo>
                    <a:pt x="6885075" y="2713678"/>
                    <a:pt x="6840182" y="2814413"/>
                    <a:pt x="6779964" y="2904199"/>
                  </a:cubicBezTo>
                  <a:cubicBezTo>
                    <a:pt x="6776676" y="2909673"/>
                    <a:pt x="6773393" y="2914053"/>
                    <a:pt x="6770107" y="2918433"/>
                  </a:cubicBezTo>
                  <a:cubicBezTo>
                    <a:pt x="6764632" y="2926098"/>
                    <a:pt x="6760251" y="2933762"/>
                    <a:pt x="6754778" y="2940332"/>
                  </a:cubicBezTo>
                  <a:cubicBezTo>
                    <a:pt x="6747113" y="2951281"/>
                    <a:pt x="6739448" y="2962230"/>
                    <a:pt x="6730689" y="2972084"/>
                  </a:cubicBezTo>
                  <a:cubicBezTo>
                    <a:pt x="6729595" y="2972085"/>
                    <a:pt x="6729593" y="2973180"/>
                    <a:pt x="6728498" y="2974275"/>
                  </a:cubicBezTo>
                  <a:cubicBezTo>
                    <a:pt x="6662803" y="3056396"/>
                    <a:pt x="6583968" y="3125376"/>
                    <a:pt x="6496372" y="3179028"/>
                  </a:cubicBezTo>
                  <a:cubicBezTo>
                    <a:pt x="6495276" y="3179028"/>
                    <a:pt x="6495277" y="3180123"/>
                    <a:pt x="6494183" y="3180123"/>
                  </a:cubicBezTo>
                  <a:cubicBezTo>
                    <a:pt x="6483232" y="3186693"/>
                    <a:pt x="6472282" y="3193262"/>
                    <a:pt x="6461333" y="3199833"/>
                  </a:cubicBezTo>
                  <a:cubicBezTo>
                    <a:pt x="6458049" y="3202022"/>
                    <a:pt x="6455859" y="3203117"/>
                    <a:pt x="6453670" y="3204212"/>
                  </a:cubicBezTo>
                  <a:cubicBezTo>
                    <a:pt x="6444909" y="3209686"/>
                    <a:pt x="6435058" y="3215162"/>
                    <a:pt x="6425200" y="3219541"/>
                  </a:cubicBezTo>
                  <a:cubicBezTo>
                    <a:pt x="6421915" y="3221732"/>
                    <a:pt x="6417534" y="3223921"/>
                    <a:pt x="6413155" y="3226112"/>
                  </a:cubicBezTo>
                  <a:cubicBezTo>
                    <a:pt x="6404396" y="3230491"/>
                    <a:pt x="6396732" y="3234870"/>
                    <a:pt x="6387972" y="3238155"/>
                  </a:cubicBezTo>
                  <a:cubicBezTo>
                    <a:pt x="6381403" y="3240345"/>
                    <a:pt x="6375928" y="3243630"/>
                    <a:pt x="6370454" y="3245819"/>
                  </a:cubicBezTo>
                  <a:cubicBezTo>
                    <a:pt x="6362789" y="3249105"/>
                    <a:pt x="6356218" y="3251294"/>
                    <a:pt x="6348555" y="3254580"/>
                  </a:cubicBezTo>
                  <a:cubicBezTo>
                    <a:pt x="6341985" y="3256769"/>
                    <a:pt x="6334320" y="3260055"/>
                    <a:pt x="6327751" y="3262244"/>
                  </a:cubicBezTo>
                  <a:cubicBezTo>
                    <a:pt x="6320086" y="3264434"/>
                    <a:pt x="6313517" y="3266624"/>
                    <a:pt x="6306946" y="3268813"/>
                  </a:cubicBezTo>
                  <a:cubicBezTo>
                    <a:pt x="6300377" y="3271003"/>
                    <a:pt x="6292712" y="3274288"/>
                    <a:pt x="6285047" y="3276478"/>
                  </a:cubicBezTo>
                  <a:cubicBezTo>
                    <a:pt x="6278478" y="3278668"/>
                    <a:pt x="6270815" y="3280858"/>
                    <a:pt x="6264243" y="3283048"/>
                  </a:cubicBezTo>
                  <a:cubicBezTo>
                    <a:pt x="6256581" y="3285237"/>
                    <a:pt x="6250009" y="3287427"/>
                    <a:pt x="6242346" y="3289617"/>
                  </a:cubicBezTo>
                  <a:cubicBezTo>
                    <a:pt x="6233587" y="3291807"/>
                    <a:pt x="6224825" y="3293997"/>
                    <a:pt x="6216068" y="3296187"/>
                  </a:cubicBezTo>
                  <a:cubicBezTo>
                    <a:pt x="6210593" y="3298377"/>
                    <a:pt x="6205117" y="3299472"/>
                    <a:pt x="6199642" y="3300566"/>
                  </a:cubicBezTo>
                  <a:cubicBezTo>
                    <a:pt x="6187600" y="3302757"/>
                    <a:pt x="6174460" y="3304946"/>
                    <a:pt x="6162416" y="3307137"/>
                  </a:cubicBezTo>
                  <a:cubicBezTo>
                    <a:pt x="6160228" y="3307137"/>
                    <a:pt x="6158035" y="3308231"/>
                    <a:pt x="6155844" y="3308231"/>
                  </a:cubicBezTo>
                  <a:cubicBezTo>
                    <a:pt x="5976276" y="3337796"/>
                    <a:pt x="5786850" y="3315896"/>
                    <a:pt x="5609469" y="3232680"/>
                  </a:cubicBezTo>
                  <a:cubicBezTo>
                    <a:pt x="5394861" y="3131946"/>
                    <a:pt x="5237189" y="2960041"/>
                    <a:pt x="5149595" y="2758571"/>
                  </a:cubicBezTo>
                  <a:cubicBezTo>
                    <a:pt x="5149594" y="2757476"/>
                    <a:pt x="5149594" y="2757476"/>
                    <a:pt x="5149594" y="2757476"/>
                  </a:cubicBezTo>
                  <a:cubicBezTo>
                    <a:pt x="5137549" y="2731198"/>
                    <a:pt x="5127695" y="2704919"/>
                    <a:pt x="5118935" y="2677546"/>
                  </a:cubicBezTo>
                  <a:cubicBezTo>
                    <a:pt x="5118938" y="2675357"/>
                    <a:pt x="5117841" y="2672072"/>
                    <a:pt x="5116746" y="2669881"/>
                  </a:cubicBezTo>
                  <a:cubicBezTo>
                    <a:pt x="5113460" y="2657837"/>
                    <a:pt x="5109081" y="2645792"/>
                    <a:pt x="5105797" y="2632653"/>
                  </a:cubicBezTo>
                  <a:cubicBezTo>
                    <a:pt x="5104703" y="2630465"/>
                    <a:pt x="5104703" y="2627179"/>
                    <a:pt x="5103609" y="2624990"/>
                  </a:cubicBezTo>
                  <a:cubicBezTo>
                    <a:pt x="5100324" y="2612944"/>
                    <a:pt x="5097036" y="2599805"/>
                    <a:pt x="5094847" y="2587760"/>
                  </a:cubicBezTo>
                  <a:cubicBezTo>
                    <a:pt x="5093752" y="2586666"/>
                    <a:pt x="5093753" y="2585571"/>
                    <a:pt x="5093752" y="2584476"/>
                  </a:cubicBezTo>
                  <a:cubicBezTo>
                    <a:pt x="5091561" y="2570241"/>
                    <a:pt x="5088277" y="2556007"/>
                    <a:pt x="5086087" y="2541774"/>
                  </a:cubicBezTo>
                  <a:cubicBezTo>
                    <a:pt x="5084993" y="2540678"/>
                    <a:pt x="5084992" y="2539583"/>
                    <a:pt x="5084995" y="2538489"/>
                  </a:cubicBezTo>
                  <a:cubicBezTo>
                    <a:pt x="5083898" y="2534108"/>
                    <a:pt x="5083899" y="2530824"/>
                    <a:pt x="5082804" y="2526445"/>
                  </a:cubicBezTo>
                  <a:lnTo>
                    <a:pt x="5078286" y="2461983"/>
                  </a:lnTo>
                  <a:lnTo>
                    <a:pt x="5159963" y="2430582"/>
                  </a:lnTo>
                  <a:lnTo>
                    <a:pt x="5859576" y="2138728"/>
                  </a:lnTo>
                  <a:lnTo>
                    <a:pt x="6339331" y="1931386"/>
                  </a:lnTo>
                  <a:cubicBezTo>
                    <a:pt x="6377367" y="1913412"/>
                    <a:pt x="6409065" y="1898436"/>
                    <a:pt x="6431079" y="1895788"/>
                  </a:cubicBezTo>
                  <a:cubicBezTo>
                    <a:pt x="6435743" y="1897458"/>
                    <a:pt x="6437416" y="1892788"/>
                    <a:pt x="6442085" y="1894460"/>
                  </a:cubicBezTo>
                  <a:cubicBezTo>
                    <a:pt x="6468763" y="1893483"/>
                    <a:pt x="6493774" y="1897177"/>
                    <a:pt x="6517110" y="1905535"/>
                  </a:cubicBezTo>
                  <a:close/>
                  <a:moveTo>
                    <a:pt x="1211371" y="0"/>
                  </a:moveTo>
                  <a:lnTo>
                    <a:pt x="1323858" y="40288"/>
                  </a:lnTo>
                  <a:lnTo>
                    <a:pt x="1505887" y="105482"/>
                  </a:lnTo>
                  <a:cubicBezTo>
                    <a:pt x="1743932" y="190739"/>
                    <a:pt x="1900886" y="325948"/>
                    <a:pt x="1989090" y="520789"/>
                  </a:cubicBezTo>
                  <a:lnTo>
                    <a:pt x="2435576" y="1383611"/>
                  </a:lnTo>
                  <a:lnTo>
                    <a:pt x="2371730" y="1422742"/>
                  </a:lnTo>
                  <a:cubicBezTo>
                    <a:pt x="2367350" y="1424933"/>
                    <a:pt x="2364064" y="1427122"/>
                    <a:pt x="2359686" y="1429313"/>
                  </a:cubicBezTo>
                  <a:cubicBezTo>
                    <a:pt x="2356401" y="1430408"/>
                    <a:pt x="2354211" y="1432597"/>
                    <a:pt x="2350925" y="1433692"/>
                  </a:cubicBezTo>
                  <a:cubicBezTo>
                    <a:pt x="2348736" y="1434787"/>
                    <a:pt x="2347642" y="1435883"/>
                    <a:pt x="2345451" y="1436976"/>
                  </a:cubicBezTo>
                  <a:cubicBezTo>
                    <a:pt x="2255666" y="1485154"/>
                    <a:pt x="2205299" y="1589174"/>
                    <a:pt x="2229389" y="1693194"/>
                  </a:cubicBezTo>
                  <a:lnTo>
                    <a:pt x="2229388" y="1695383"/>
                  </a:lnTo>
                  <a:cubicBezTo>
                    <a:pt x="2249097" y="1781883"/>
                    <a:pt x="2323553" y="1842105"/>
                    <a:pt x="2407863" y="1846485"/>
                  </a:cubicBezTo>
                  <a:cubicBezTo>
                    <a:pt x="2410054" y="1846484"/>
                    <a:pt x="2412243" y="1846485"/>
                    <a:pt x="2414433" y="1846484"/>
                  </a:cubicBezTo>
                  <a:cubicBezTo>
                    <a:pt x="2499838" y="1850864"/>
                    <a:pt x="2581959" y="1869478"/>
                    <a:pt x="2658605" y="1899042"/>
                  </a:cubicBezTo>
                  <a:cubicBezTo>
                    <a:pt x="2716637" y="1921762"/>
                    <a:pt x="2771657" y="1951257"/>
                    <a:pt x="2822470" y="1986791"/>
                  </a:cubicBezTo>
                  <a:lnTo>
                    <a:pt x="2878775" y="2031380"/>
                  </a:lnTo>
                  <a:lnTo>
                    <a:pt x="2929827" y="2084748"/>
                  </a:lnTo>
                  <a:lnTo>
                    <a:pt x="2965120" y="2115980"/>
                  </a:lnTo>
                  <a:lnTo>
                    <a:pt x="3018673" y="2184978"/>
                  </a:lnTo>
                  <a:cubicBezTo>
                    <a:pt x="3071910" y="2262973"/>
                    <a:pt x="3111636" y="2352074"/>
                    <a:pt x="3133809" y="2449798"/>
                  </a:cubicBezTo>
                  <a:cubicBezTo>
                    <a:pt x="3227974" y="2868064"/>
                    <a:pt x="2967378" y="3284141"/>
                    <a:pt x="2548016" y="3383781"/>
                  </a:cubicBezTo>
                  <a:lnTo>
                    <a:pt x="2536880" y="3385712"/>
                  </a:lnTo>
                  <a:lnTo>
                    <a:pt x="2514488" y="3347339"/>
                  </a:lnTo>
                  <a:cubicBezTo>
                    <a:pt x="2460219" y="3248906"/>
                    <a:pt x="2407615" y="3145807"/>
                    <a:pt x="2350348" y="3041037"/>
                  </a:cubicBezTo>
                  <a:cubicBezTo>
                    <a:pt x="2312726" y="2969636"/>
                    <a:pt x="2272110" y="2891895"/>
                    <a:pt x="2228498" y="2807812"/>
                  </a:cubicBezTo>
                  <a:cubicBezTo>
                    <a:pt x="2217837" y="2793461"/>
                    <a:pt x="2211845" y="2780782"/>
                    <a:pt x="2202859" y="2761768"/>
                  </a:cubicBezTo>
                  <a:cubicBezTo>
                    <a:pt x="2199862" y="2755426"/>
                    <a:pt x="2199862" y="2755426"/>
                    <a:pt x="2199862" y="2755426"/>
                  </a:cubicBezTo>
                  <a:cubicBezTo>
                    <a:pt x="2148935" y="2647663"/>
                    <a:pt x="2094661" y="2549229"/>
                    <a:pt x="2029384" y="2452123"/>
                  </a:cubicBezTo>
                  <a:cubicBezTo>
                    <a:pt x="1974764" y="2369366"/>
                    <a:pt x="1918472" y="2291279"/>
                    <a:pt x="1852495" y="2225519"/>
                  </a:cubicBezTo>
                  <a:cubicBezTo>
                    <a:pt x="1841838" y="2211170"/>
                    <a:pt x="1831177" y="2196819"/>
                    <a:pt x="1818850" y="2187136"/>
                  </a:cubicBezTo>
                  <a:cubicBezTo>
                    <a:pt x="1811185" y="2179127"/>
                    <a:pt x="1798853" y="2169441"/>
                    <a:pt x="1791189" y="2161433"/>
                  </a:cubicBezTo>
                  <a:lnTo>
                    <a:pt x="1769205" y="2145235"/>
                  </a:lnTo>
                  <a:lnTo>
                    <a:pt x="1808930" y="2097226"/>
                  </a:lnTo>
                  <a:cubicBezTo>
                    <a:pt x="1864773" y="2037005"/>
                    <a:pt x="1931564" y="1985542"/>
                    <a:pt x="2006020" y="1945030"/>
                  </a:cubicBezTo>
                  <a:cubicBezTo>
                    <a:pt x="2007115" y="1943935"/>
                    <a:pt x="2009305" y="1942839"/>
                    <a:pt x="2011495" y="1941744"/>
                  </a:cubicBezTo>
                  <a:cubicBezTo>
                    <a:pt x="2084855" y="1901232"/>
                    <a:pt x="2126463" y="1814732"/>
                    <a:pt x="2106755" y="1728230"/>
                  </a:cubicBezTo>
                  <a:lnTo>
                    <a:pt x="2106755" y="1726042"/>
                  </a:lnTo>
                  <a:cubicBezTo>
                    <a:pt x="2082666" y="1622022"/>
                    <a:pt x="1992880" y="1549756"/>
                    <a:pt x="1891051" y="1545376"/>
                  </a:cubicBezTo>
                  <a:cubicBezTo>
                    <a:pt x="1888862" y="1545376"/>
                    <a:pt x="1886671" y="1545376"/>
                    <a:pt x="1884482" y="1545377"/>
                  </a:cubicBezTo>
                  <a:cubicBezTo>
                    <a:pt x="1787032" y="1542092"/>
                    <a:pt x="1692867" y="1523478"/>
                    <a:pt x="1603082" y="1491724"/>
                  </a:cubicBezTo>
                  <a:cubicBezTo>
                    <a:pt x="1601987" y="1491724"/>
                    <a:pt x="1601987" y="1491724"/>
                    <a:pt x="1601987" y="1491724"/>
                  </a:cubicBezTo>
                  <a:cubicBezTo>
                    <a:pt x="1597607" y="1489534"/>
                    <a:pt x="1592132" y="1488439"/>
                    <a:pt x="1586657" y="1486249"/>
                  </a:cubicBezTo>
                  <a:cubicBezTo>
                    <a:pt x="1558190" y="1475301"/>
                    <a:pt x="1528626" y="1463256"/>
                    <a:pt x="1501252" y="1449021"/>
                  </a:cubicBezTo>
                  <a:cubicBezTo>
                    <a:pt x="1499062" y="1447926"/>
                    <a:pt x="1496873" y="1446831"/>
                    <a:pt x="1494683" y="1445737"/>
                  </a:cubicBezTo>
                  <a:cubicBezTo>
                    <a:pt x="1485924" y="1441357"/>
                    <a:pt x="1478258" y="1436976"/>
                    <a:pt x="1469499" y="1432597"/>
                  </a:cubicBezTo>
                  <a:cubicBezTo>
                    <a:pt x="1467309" y="1431503"/>
                    <a:pt x="1465119" y="1430408"/>
                    <a:pt x="1462930" y="1429312"/>
                  </a:cubicBezTo>
                  <a:cubicBezTo>
                    <a:pt x="1453075" y="1423837"/>
                    <a:pt x="1443220" y="1417269"/>
                    <a:pt x="1433366" y="1411794"/>
                  </a:cubicBezTo>
                  <a:cubicBezTo>
                    <a:pt x="1431176" y="1410699"/>
                    <a:pt x="1430080" y="1409603"/>
                    <a:pt x="1427891" y="1408508"/>
                  </a:cubicBezTo>
                  <a:cubicBezTo>
                    <a:pt x="1419132" y="1403033"/>
                    <a:pt x="1411467" y="1397560"/>
                    <a:pt x="1402707" y="1392085"/>
                  </a:cubicBezTo>
                  <a:cubicBezTo>
                    <a:pt x="1401612" y="1390990"/>
                    <a:pt x="1400517" y="1390990"/>
                    <a:pt x="1399423" y="1389894"/>
                  </a:cubicBezTo>
                  <a:cubicBezTo>
                    <a:pt x="1397233" y="1388799"/>
                    <a:pt x="1396137" y="1387705"/>
                    <a:pt x="1393948" y="1386610"/>
                  </a:cubicBezTo>
                  <a:cubicBezTo>
                    <a:pt x="1308543" y="1330767"/>
                    <a:pt x="1193573" y="1336242"/>
                    <a:pt x="1113643" y="1406319"/>
                  </a:cubicBezTo>
                  <a:lnTo>
                    <a:pt x="1111453" y="1408508"/>
                  </a:lnTo>
                  <a:cubicBezTo>
                    <a:pt x="1059991" y="1454496"/>
                    <a:pt x="1045757" y="1525667"/>
                    <a:pt x="1070940" y="1585889"/>
                  </a:cubicBezTo>
                  <a:cubicBezTo>
                    <a:pt x="1072035" y="1590269"/>
                    <a:pt x="1073130" y="1593553"/>
                    <a:pt x="1075321" y="1596838"/>
                  </a:cubicBezTo>
                  <a:cubicBezTo>
                    <a:pt x="1075321" y="1597933"/>
                    <a:pt x="1076415" y="1597933"/>
                    <a:pt x="1076415" y="1599028"/>
                  </a:cubicBezTo>
                  <a:cubicBezTo>
                    <a:pt x="1080795" y="1607787"/>
                    <a:pt x="1085174" y="1616547"/>
                    <a:pt x="1088459" y="1626401"/>
                  </a:cubicBezTo>
                  <a:cubicBezTo>
                    <a:pt x="1088460" y="1628592"/>
                    <a:pt x="1089555" y="1630781"/>
                    <a:pt x="1090649" y="1632971"/>
                  </a:cubicBezTo>
                  <a:cubicBezTo>
                    <a:pt x="1093935" y="1640635"/>
                    <a:pt x="1097219" y="1649396"/>
                    <a:pt x="1099409" y="1657060"/>
                  </a:cubicBezTo>
                  <a:cubicBezTo>
                    <a:pt x="1100504" y="1659250"/>
                    <a:pt x="1100503" y="1662535"/>
                    <a:pt x="1101599" y="1664724"/>
                  </a:cubicBezTo>
                  <a:cubicBezTo>
                    <a:pt x="1104883" y="1672389"/>
                    <a:pt x="1107074" y="1681149"/>
                    <a:pt x="1109262" y="1688814"/>
                  </a:cubicBezTo>
                  <a:cubicBezTo>
                    <a:pt x="1110358" y="1691003"/>
                    <a:pt x="1110358" y="1694287"/>
                    <a:pt x="1111453" y="1696478"/>
                  </a:cubicBezTo>
                  <a:cubicBezTo>
                    <a:pt x="1113643" y="1704142"/>
                    <a:pt x="1114738" y="1712902"/>
                    <a:pt x="1116928" y="1720566"/>
                  </a:cubicBezTo>
                  <a:cubicBezTo>
                    <a:pt x="1116928" y="1721661"/>
                    <a:pt x="1118023" y="1722757"/>
                    <a:pt x="1118023" y="1723851"/>
                  </a:cubicBezTo>
                  <a:cubicBezTo>
                    <a:pt x="1118023" y="1726041"/>
                    <a:pt x="1119118" y="1729326"/>
                    <a:pt x="1119118" y="1731516"/>
                  </a:cubicBezTo>
                  <a:cubicBezTo>
                    <a:pt x="1120212" y="1738085"/>
                    <a:pt x="1121307" y="1743560"/>
                    <a:pt x="1122403" y="1750130"/>
                  </a:cubicBezTo>
                  <a:cubicBezTo>
                    <a:pt x="1123498" y="1755605"/>
                    <a:pt x="1123499" y="1759985"/>
                    <a:pt x="1124593" y="1765460"/>
                  </a:cubicBezTo>
                  <a:cubicBezTo>
                    <a:pt x="1125688" y="1770934"/>
                    <a:pt x="1125687" y="1775314"/>
                    <a:pt x="1126782" y="1779693"/>
                  </a:cubicBezTo>
                  <a:cubicBezTo>
                    <a:pt x="1126783" y="1784073"/>
                    <a:pt x="1127877" y="1787358"/>
                    <a:pt x="1127878" y="1791738"/>
                  </a:cubicBezTo>
                  <a:cubicBezTo>
                    <a:pt x="1127878" y="1796117"/>
                    <a:pt x="1128972" y="1801592"/>
                    <a:pt x="1128972" y="1805972"/>
                  </a:cubicBezTo>
                  <a:cubicBezTo>
                    <a:pt x="1128972" y="1812542"/>
                    <a:pt x="1130067" y="1820206"/>
                    <a:pt x="1130067" y="1826775"/>
                  </a:cubicBezTo>
                  <a:cubicBezTo>
                    <a:pt x="1130067" y="1831155"/>
                    <a:pt x="1130067" y="1835535"/>
                    <a:pt x="1130067" y="1839915"/>
                  </a:cubicBezTo>
                  <a:cubicBezTo>
                    <a:pt x="1130067" y="1844294"/>
                    <a:pt x="1130067" y="1848675"/>
                    <a:pt x="1130067" y="1853055"/>
                  </a:cubicBezTo>
                  <a:cubicBezTo>
                    <a:pt x="1130067" y="1857434"/>
                    <a:pt x="1130067" y="1860719"/>
                    <a:pt x="1130067" y="1865098"/>
                  </a:cubicBezTo>
                  <a:cubicBezTo>
                    <a:pt x="1130067" y="1872762"/>
                    <a:pt x="1128972" y="1880428"/>
                    <a:pt x="1128972" y="1888092"/>
                  </a:cubicBezTo>
                  <a:cubicBezTo>
                    <a:pt x="1127878" y="1891378"/>
                    <a:pt x="1127878" y="1894662"/>
                    <a:pt x="1127878" y="1897946"/>
                  </a:cubicBezTo>
                  <a:cubicBezTo>
                    <a:pt x="1127878" y="1903422"/>
                    <a:pt x="1127878" y="1909991"/>
                    <a:pt x="1126783" y="1915467"/>
                  </a:cubicBezTo>
                  <a:cubicBezTo>
                    <a:pt x="1126782" y="1918751"/>
                    <a:pt x="1125687" y="1920940"/>
                    <a:pt x="1125687" y="1924226"/>
                  </a:cubicBezTo>
                  <a:cubicBezTo>
                    <a:pt x="1124592" y="1932985"/>
                    <a:pt x="1123498" y="1940650"/>
                    <a:pt x="1122403" y="1949409"/>
                  </a:cubicBezTo>
                  <a:cubicBezTo>
                    <a:pt x="1122403" y="1951599"/>
                    <a:pt x="1121308" y="1952694"/>
                    <a:pt x="1121308" y="1954885"/>
                  </a:cubicBezTo>
                  <a:cubicBezTo>
                    <a:pt x="1120213" y="1962548"/>
                    <a:pt x="1118023" y="1969118"/>
                    <a:pt x="1116928" y="1976782"/>
                  </a:cubicBezTo>
                  <a:cubicBezTo>
                    <a:pt x="1116928" y="1978973"/>
                    <a:pt x="1115833" y="1980068"/>
                    <a:pt x="1115833" y="1982257"/>
                  </a:cubicBezTo>
                  <a:cubicBezTo>
                    <a:pt x="1113643" y="1991016"/>
                    <a:pt x="1111453" y="1999776"/>
                    <a:pt x="1109263" y="2008535"/>
                  </a:cubicBezTo>
                  <a:cubicBezTo>
                    <a:pt x="1109263" y="2008535"/>
                    <a:pt x="1109263" y="2009630"/>
                    <a:pt x="1109263" y="2009630"/>
                  </a:cubicBezTo>
                  <a:cubicBezTo>
                    <a:pt x="1107073" y="2018391"/>
                    <a:pt x="1103789" y="2027150"/>
                    <a:pt x="1101599" y="2035909"/>
                  </a:cubicBezTo>
                  <a:cubicBezTo>
                    <a:pt x="1101598" y="2037005"/>
                    <a:pt x="1100503" y="2038099"/>
                    <a:pt x="1100503" y="2039194"/>
                  </a:cubicBezTo>
                  <a:cubicBezTo>
                    <a:pt x="1095029" y="2056714"/>
                    <a:pt x="1089555" y="2074232"/>
                    <a:pt x="1081889" y="2091751"/>
                  </a:cubicBezTo>
                  <a:cubicBezTo>
                    <a:pt x="1081890" y="2092846"/>
                    <a:pt x="1080794" y="2093941"/>
                    <a:pt x="1080794" y="2095037"/>
                  </a:cubicBezTo>
                  <a:lnTo>
                    <a:pt x="1076077" y="2104902"/>
                  </a:lnTo>
                  <a:lnTo>
                    <a:pt x="1030906" y="2148496"/>
                  </a:lnTo>
                  <a:cubicBezTo>
                    <a:pt x="1010373" y="2172739"/>
                    <a:pt x="991944" y="2199382"/>
                    <a:pt x="975618" y="2228423"/>
                  </a:cubicBezTo>
                  <a:lnTo>
                    <a:pt x="944652" y="2296876"/>
                  </a:lnTo>
                  <a:lnTo>
                    <a:pt x="941737" y="2299790"/>
                  </a:lnTo>
                  <a:cubicBezTo>
                    <a:pt x="937358" y="2303075"/>
                    <a:pt x="934073" y="2307455"/>
                    <a:pt x="929693" y="2310739"/>
                  </a:cubicBezTo>
                  <a:cubicBezTo>
                    <a:pt x="927503" y="2314025"/>
                    <a:pt x="924219" y="2316214"/>
                    <a:pt x="922029" y="2318404"/>
                  </a:cubicBezTo>
                  <a:cubicBezTo>
                    <a:pt x="922029" y="2319499"/>
                    <a:pt x="920933" y="2319500"/>
                    <a:pt x="919839" y="2320594"/>
                  </a:cubicBezTo>
                  <a:cubicBezTo>
                    <a:pt x="917649" y="2322784"/>
                    <a:pt x="914364" y="2324973"/>
                    <a:pt x="912174" y="2327164"/>
                  </a:cubicBezTo>
                  <a:cubicBezTo>
                    <a:pt x="907794" y="2330448"/>
                    <a:pt x="903414" y="2334828"/>
                    <a:pt x="899035" y="2338113"/>
                  </a:cubicBezTo>
                  <a:cubicBezTo>
                    <a:pt x="894655" y="2341398"/>
                    <a:pt x="890276" y="2345777"/>
                    <a:pt x="884801" y="2349062"/>
                  </a:cubicBezTo>
                  <a:cubicBezTo>
                    <a:pt x="882610" y="2350157"/>
                    <a:pt x="879326" y="2352348"/>
                    <a:pt x="877136" y="2354537"/>
                  </a:cubicBezTo>
                  <a:cubicBezTo>
                    <a:pt x="876042" y="2354537"/>
                    <a:pt x="876041" y="2355632"/>
                    <a:pt x="874946" y="2355632"/>
                  </a:cubicBezTo>
                  <a:cubicBezTo>
                    <a:pt x="869471" y="2360011"/>
                    <a:pt x="862901" y="2364391"/>
                    <a:pt x="856332" y="2368771"/>
                  </a:cubicBezTo>
                  <a:cubicBezTo>
                    <a:pt x="854142" y="2369867"/>
                    <a:pt x="851953" y="2372057"/>
                    <a:pt x="849763" y="2373151"/>
                  </a:cubicBezTo>
                  <a:cubicBezTo>
                    <a:pt x="843193" y="2377531"/>
                    <a:pt x="835528" y="2381911"/>
                    <a:pt x="828959" y="2386291"/>
                  </a:cubicBezTo>
                  <a:cubicBezTo>
                    <a:pt x="827864" y="2387385"/>
                    <a:pt x="825674" y="2388480"/>
                    <a:pt x="823484" y="2389575"/>
                  </a:cubicBezTo>
                  <a:cubicBezTo>
                    <a:pt x="816914" y="2393955"/>
                    <a:pt x="809249" y="2398334"/>
                    <a:pt x="802680" y="2401620"/>
                  </a:cubicBezTo>
                  <a:cubicBezTo>
                    <a:pt x="800490" y="2402714"/>
                    <a:pt x="798301" y="2403809"/>
                    <a:pt x="796110" y="2404905"/>
                  </a:cubicBezTo>
                  <a:cubicBezTo>
                    <a:pt x="789540" y="2408189"/>
                    <a:pt x="782971" y="2411475"/>
                    <a:pt x="776401" y="2414759"/>
                  </a:cubicBezTo>
                  <a:cubicBezTo>
                    <a:pt x="774212" y="2415854"/>
                    <a:pt x="770926" y="2416948"/>
                    <a:pt x="768737" y="2418043"/>
                  </a:cubicBezTo>
                  <a:cubicBezTo>
                    <a:pt x="762167" y="2420234"/>
                    <a:pt x="756692" y="2423518"/>
                    <a:pt x="750123" y="2425709"/>
                  </a:cubicBezTo>
                  <a:cubicBezTo>
                    <a:pt x="746838" y="2426803"/>
                    <a:pt x="743553" y="2428993"/>
                    <a:pt x="740268" y="2430088"/>
                  </a:cubicBezTo>
                  <a:cubicBezTo>
                    <a:pt x="734794" y="2432277"/>
                    <a:pt x="729319" y="2433373"/>
                    <a:pt x="723844" y="2435562"/>
                  </a:cubicBezTo>
                  <a:cubicBezTo>
                    <a:pt x="719464" y="2436657"/>
                    <a:pt x="715085" y="2438848"/>
                    <a:pt x="710705" y="2439943"/>
                  </a:cubicBezTo>
                  <a:cubicBezTo>
                    <a:pt x="706326" y="2442132"/>
                    <a:pt x="701946" y="2443227"/>
                    <a:pt x="697565" y="2444323"/>
                  </a:cubicBezTo>
                  <a:cubicBezTo>
                    <a:pt x="692092" y="2446512"/>
                    <a:pt x="686616" y="2448702"/>
                    <a:pt x="681141" y="2449797"/>
                  </a:cubicBezTo>
                  <a:cubicBezTo>
                    <a:pt x="676762" y="2450891"/>
                    <a:pt x="673476" y="2451987"/>
                    <a:pt x="670192" y="2453082"/>
                  </a:cubicBezTo>
                  <a:cubicBezTo>
                    <a:pt x="664717" y="2454177"/>
                    <a:pt x="658148" y="2456366"/>
                    <a:pt x="651578" y="2457462"/>
                  </a:cubicBezTo>
                  <a:cubicBezTo>
                    <a:pt x="649388" y="2458557"/>
                    <a:pt x="646103" y="2458557"/>
                    <a:pt x="643915" y="2459652"/>
                  </a:cubicBezTo>
                  <a:cubicBezTo>
                    <a:pt x="636249" y="2460746"/>
                    <a:pt x="629679" y="2462936"/>
                    <a:pt x="622015" y="2464032"/>
                  </a:cubicBezTo>
                  <a:cubicBezTo>
                    <a:pt x="619824" y="2464032"/>
                    <a:pt x="617635" y="2465126"/>
                    <a:pt x="615445" y="2465126"/>
                  </a:cubicBezTo>
                  <a:cubicBezTo>
                    <a:pt x="607781" y="2466221"/>
                    <a:pt x="600117" y="2467316"/>
                    <a:pt x="592452" y="2468412"/>
                  </a:cubicBezTo>
                  <a:cubicBezTo>
                    <a:pt x="590262" y="2469505"/>
                    <a:pt x="589166" y="2469505"/>
                    <a:pt x="586975" y="2469505"/>
                  </a:cubicBezTo>
                  <a:cubicBezTo>
                    <a:pt x="579311" y="2470600"/>
                    <a:pt x="570553" y="2470601"/>
                    <a:pt x="562888" y="2471696"/>
                  </a:cubicBezTo>
                  <a:cubicBezTo>
                    <a:pt x="561793" y="2471696"/>
                    <a:pt x="559604" y="2471696"/>
                    <a:pt x="557413" y="2471696"/>
                  </a:cubicBezTo>
                  <a:cubicBezTo>
                    <a:pt x="548653" y="2471696"/>
                    <a:pt x="540989" y="2472791"/>
                    <a:pt x="533324" y="2472791"/>
                  </a:cubicBezTo>
                  <a:cubicBezTo>
                    <a:pt x="530040" y="2472791"/>
                    <a:pt x="527850" y="2472791"/>
                    <a:pt x="525660" y="2472791"/>
                  </a:cubicBezTo>
                  <a:cubicBezTo>
                    <a:pt x="519090" y="2472790"/>
                    <a:pt x="511426" y="2472791"/>
                    <a:pt x="503761" y="2472791"/>
                  </a:cubicBezTo>
                  <a:cubicBezTo>
                    <a:pt x="500476" y="2472791"/>
                    <a:pt x="497192" y="2472791"/>
                    <a:pt x="493906" y="2472791"/>
                  </a:cubicBezTo>
                  <a:cubicBezTo>
                    <a:pt x="487338" y="2472791"/>
                    <a:pt x="480767" y="2471696"/>
                    <a:pt x="474198" y="2471696"/>
                  </a:cubicBezTo>
                  <a:cubicBezTo>
                    <a:pt x="470913" y="2471696"/>
                    <a:pt x="466533" y="2470600"/>
                    <a:pt x="462153" y="2470600"/>
                  </a:cubicBezTo>
                  <a:cubicBezTo>
                    <a:pt x="456679" y="2470600"/>
                    <a:pt x="451204" y="2470600"/>
                    <a:pt x="445729" y="2469505"/>
                  </a:cubicBezTo>
                  <a:cubicBezTo>
                    <a:pt x="441349" y="2468411"/>
                    <a:pt x="435874" y="2468411"/>
                    <a:pt x="430400" y="2467316"/>
                  </a:cubicBezTo>
                  <a:cubicBezTo>
                    <a:pt x="426020" y="2466221"/>
                    <a:pt x="421641" y="2466221"/>
                    <a:pt x="417260" y="2465125"/>
                  </a:cubicBezTo>
                  <a:cubicBezTo>
                    <a:pt x="410692" y="2464031"/>
                    <a:pt x="405217" y="2462936"/>
                    <a:pt x="398647" y="2461841"/>
                  </a:cubicBezTo>
                  <a:cubicBezTo>
                    <a:pt x="395363" y="2460746"/>
                    <a:pt x="392076" y="2460746"/>
                    <a:pt x="388792" y="2459652"/>
                  </a:cubicBezTo>
                  <a:cubicBezTo>
                    <a:pt x="382222" y="2458557"/>
                    <a:pt x="374558" y="2457462"/>
                    <a:pt x="367988" y="2455272"/>
                  </a:cubicBezTo>
                  <a:cubicBezTo>
                    <a:pt x="365798" y="2454177"/>
                    <a:pt x="362513" y="2454177"/>
                    <a:pt x="360324" y="2453082"/>
                  </a:cubicBezTo>
                  <a:cubicBezTo>
                    <a:pt x="352660" y="2450892"/>
                    <a:pt x="346090" y="2448702"/>
                    <a:pt x="338425" y="2446512"/>
                  </a:cubicBezTo>
                  <a:cubicBezTo>
                    <a:pt x="336236" y="2445418"/>
                    <a:pt x="334045" y="2445418"/>
                    <a:pt x="331856" y="2444322"/>
                  </a:cubicBezTo>
                  <a:cubicBezTo>
                    <a:pt x="324189" y="2442132"/>
                    <a:pt x="317622" y="2438848"/>
                    <a:pt x="309957" y="2436658"/>
                  </a:cubicBezTo>
                  <a:cubicBezTo>
                    <a:pt x="307767" y="2435562"/>
                    <a:pt x="305576" y="2435562"/>
                    <a:pt x="303387" y="2434468"/>
                  </a:cubicBezTo>
                  <a:cubicBezTo>
                    <a:pt x="296817" y="2431183"/>
                    <a:pt x="289153" y="2428993"/>
                    <a:pt x="282583" y="2425709"/>
                  </a:cubicBezTo>
                  <a:cubicBezTo>
                    <a:pt x="280393" y="2425709"/>
                    <a:pt x="278204" y="2424613"/>
                    <a:pt x="276013" y="2423518"/>
                  </a:cubicBezTo>
                  <a:cubicBezTo>
                    <a:pt x="269444" y="2420234"/>
                    <a:pt x="262875" y="2418043"/>
                    <a:pt x="256304" y="2414759"/>
                  </a:cubicBezTo>
                  <a:cubicBezTo>
                    <a:pt x="253019" y="2413663"/>
                    <a:pt x="249735" y="2412568"/>
                    <a:pt x="247545" y="2411474"/>
                  </a:cubicBezTo>
                  <a:cubicBezTo>
                    <a:pt x="240976" y="2408189"/>
                    <a:pt x="235501" y="2406000"/>
                    <a:pt x="230026" y="2402714"/>
                  </a:cubicBezTo>
                  <a:cubicBezTo>
                    <a:pt x="226742" y="2400525"/>
                    <a:pt x="223456" y="2399430"/>
                    <a:pt x="220172" y="2397239"/>
                  </a:cubicBezTo>
                  <a:cubicBezTo>
                    <a:pt x="215792" y="2395050"/>
                    <a:pt x="210318" y="2391765"/>
                    <a:pt x="205937" y="2389575"/>
                  </a:cubicBezTo>
                  <a:cubicBezTo>
                    <a:pt x="202652" y="2386291"/>
                    <a:pt x="198273" y="2384100"/>
                    <a:pt x="193892" y="2381911"/>
                  </a:cubicBezTo>
                  <a:cubicBezTo>
                    <a:pt x="190608" y="2378625"/>
                    <a:pt x="186228" y="2376436"/>
                    <a:pt x="182944" y="2374246"/>
                  </a:cubicBezTo>
                  <a:cubicBezTo>
                    <a:pt x="178564" y="2370961"/>
                    <a:pt x="173090" y="2367677"/>
                    <a:pt x="168709" y="2364391"/>
                  </a:cubicBezTo>
                  <a:cubicBezTo>
                    <a:pt x="165425" y="2362202"/>
                    <a:pt x="163235" y="2360012"/>
                    <a:pt x="159950" y="2357823"/>
                  </a:cubicBezTo>
                  <a:cubicBezTo>
                    <a:pt x="154474" y="2353441"/>
                    <a:pt x="149000" y="2350157"/>
                    <a:pt x="143526" y="2345778"/>
                  </a:cubicBezTo>
                  <a:cubicBezTo>
                    <a:pt x="141336" y="2343587"/>
                    <a:pt x="139146" y="2342493"/>
                    <a:pt x="136956" y="2340303"/>
                  </a:cubicBezTo>
                  <a:cubicBezTo>
                    <a:pt x="131482" y="2335923"/>
                    <a:pt x="124911" y="2330448"/>
                    <a:pt x="119437" y="2326068"/>
                  </a:cubicBezTo>
                  <a:cubicBezTo>
                    <a:pt x="117247" y="2324973"/>
                    <a:pt x="116152" y="2322784"/>
                    <a:pt x="113962" y="2321689"/>
                  </a:cubicBezTo>
                  <a:cubicBezTo>
                    <a:pt x="107393" y="2316214"/>
                    <a:pt x="101918" y="2310739"/>
                    <a:pt x="95349" y="2305264"/>
                  </a:cubicBezTo>
                  <a:cubicBezTo>
                    <a:pt x="94254" y="2304171"/>
                    <a:pt x="92063" y="2301980"/>
                    <a:pt x="90968" y="2300885"/>
                  </a:cubicBezTo>
                  <a:cubicBezTo>
                    <a:pt x="85494" y="2295410"/>
                    <a:pt x="78924" y="2288841"/>
                    <a:pt x="73450" y="2283366"/>
                  </a:cubicBezTo>
                  <a:cubicBezTo>
                    <a:pt x="71260" y="2281176"/>
                    <a:pt x="70165" y="2280082"/>
                    <a:pt x="67975" y="2277891"/>
                  </a:cubicBezTo>
                  <a:cubicBezTo>
                    <a:pt x="63594" y="2272416"/>
                    <a:pt x="58120" y="2265846"/>
                    <a:pt x="52645" y="2260373"/>
                  </a:cubicBezTo>
                  <a:cubicBezTo>
                    <a:pt x="51551" y="2259278"/>
                    <a:pt x="51551" y="2259278"/>
                    <a:pt x="50455" y="2258182"/>
                  </a:cubicBezTo>
                  <a:cubicBezTo>
                    <a:pt x="48265" y="2255993"/>
                    <a:pt x="47172" y="2253802"/>
                    <a:pt x="44981" y="2251612"/>
                  </a:cubicBezTo>
                  <a:cubicBezTo>
                    <a:pt x="40601" y="2247232"/>
                    <a:pt x="37317" y="2242853"/>
                    <a:pt x="32936" y="2237379"/>
                  </a:cubicBezTo>
                  <a:cubicBezTo>
                    <a:pt x="28556" y="2231904"/>
                    <a:pt x="25272" y="2227523"/>
                    <a:pt x="21988" y="2223144"/>
                  </a:cubicBezTo>
                  <a:cubicBezTo>
                    <a:pt x="19797" y="2219859"/>
                    <a:pt x="17608" y="2217669"/>
                    <a:pt x="15417" y="2214385"/>
                  </a:cubicBezTo>
                  <a:cubicBezTo>
                    <a:pt x="14322" y="2213289"/>
                    <a:pt x="14322" y="2212195"/>
                    <a:pt x="13229" y="2211100"/>
                  </a:cubicBezTo>
                  <a:cubicBezTo>
                    <a:pt x="11038" y="2207816"/>
                    <a:pt x="8847" y="2205625"/>
                    <a:pt x="6658" y="2202341"/>
                  </a:cubicBezTo>
                  <a:lnTo>
                    <a:pt x="0" y="2192724"/>
                  </a:lnTo>
                  <a:lnTo>
                    <a:pt x="338643" y="1247199"/>
                  </a:lnTo>
                  <a:lnTo>
                    <a:pt x="365799" y="1239888"/>
                  </a:lnTo>
                  <a:cubicBezTo>
                    <a:pt x="367988" y="1239887"/>
                    <a:pt x="370179" y="1238792"/>
                    <a:pt x="372368" y="1238793"/>
                  </a:cubicBezTo>
                  <a:cubicBezTo>
                    <a:pt x="381128" y="1236603"/>
                    <a:pt x="390983" y="1235508"/>
                    <a:pt x="399742" y="1233317"/>
                  </a:cubicBezTo>
                  <a:cubicBezTo>
                    <a:pt x="403026" y="1233317"/>
                    <a:pt x="405217" y="1232223"/>
                    <a:pt x="407406" y="1232223"/>
                  </a:cubicBezTo>
                  <a:cubicBezTo>
                    <a:pt x="415071" y="1231128"/>
                    <a:pt x="423830" y="1230033"/>
                    <a:pt x="431494" y="1228938"/>
                  </a:cubicBezTo>
                  <a:cubicBezTo>
                    <a:pt x="432590" y="1227844"/>
                    <a:pt x="434780" y="1227844"/>
                    <a:pt x="435875" y="1227844"/>
                  </a:cubicBezTo>
                  <a:cubicBezTo>
                    <a:pt x="463249" y="1224558"/>
                    <a:pt x="490621" y="1223464"/>
                    <a:pt x="517995" y="1223464"/>
                  </a:cubicBezTo>
                  <a:cubicBezTo>
                    <a:pt x="519090" y="1223464"/>
                    <a:pt x="519090" y="1223464"/>
                    <a:pt x="519090" y="1223464"/>
                  </a:cubicBezTo>
                  <a:cubicBezTo>
                    <a:pt x="525660" y="1224558"/>
                    <a:pt x="532229" y="1224558"/>
                    <a:pt x="538799" y="1224558"/>
                  </a:cubicBezTo>
                  <a:cubicBezTo>
                    <a:pt x="539895" y="1224558"/>
                    <a:pt x="542083" y="1224558"/>
                    <a:pt x="543179" y="1224558"/>
                  </a:cubicBezTo>
                  <a:cubicBezTo>
                    <a:pt x="547559" y="1224558"/>
                    <a:pt x="553033" y="1225653"/>
                    <a:pt x="558508" y="1225654"/>
                  </a:cubicBezTo>
                  <a:cubicBezTo>
                    <a:pt x="561793" y="1225654"/>
                    <a:pt x="563983" y="1226748"/>
                    <a:pt x="567267" y="1226748"/>
                  </a:cubicBezTo>
                  <a:cubicBezTo>
                    <a:pt x="570553" y="1226749"/>
                    <a:pt x="574933" y="1227844"/>
                    <a:pt x="578217" y="1227844"/>
                  </a:cubicBezTo>
                  <a:cubicBezTo>
                    <a:pt x="582597" y="1228938"/>
                    <a:pt x="586976" y="1228937"/>
                    <a:pt x="591356" y="1230033"/>
                  </a:cubicBezTo>
                  <a:cubicBezTo>
                    <a:pt x="593546" y="1231128"/>
                    <a:pt x="595736" y="1231128"/>
                    <a:pt x="597926" y="1231128"/>
                  </a:cubicBezTo>
                  <a:cubicBezTo>
                    <a:pt x="603401" y="1232224"/>
                    <a:pt x="609971" y="1233318"/>
                    <a:pt x="615444" y="1234412"/>
                  </a:cubicBezTo>
                  <a:cubicBezTo>
                    <a:pt x="616539" y="1234413"/>
                    <a:pt x="616539" y="1234413"/>
                    <a:pt x="617635" y="1234413"/>
                  </a:cubicBezTo>
                  <a:cubicBezTo>
                    <a:pt x="651578" y="1240982"/>
                    <a:pt x="684426" y="1249742"/>
                    <a:pt x="717275" y="1260692"/>
                  </a:cubicBezTo>
                  <a:cubicBezTo>
                    <a:pt x="718370" y="1260692"/>
                    <a:pt x="720560" y="1261787"/>
                    <a:pt x="721654" y="1261787"/>
                  </a:cubicBezTo>
                  <a:cubicBezTo>
                    <a:pt x="729319" y="1265071"/>
                    <a:pt x="736983" y="1267260"/>
                    <a:pt x="744649" y="1270547"/>
                  </a:cubicBezTo>
                  <a:cubicBezTo>
                    <a:pt x="746838" y="1271642"/>
                    <a:pt x="749028" y="1272735"/>
                    <a:pt x="751217" y="1273830"/>
                  </a:cubicBezTo>
                  <a:cubicBezTo>
                    <a:pt x="759978" y="1277115"/>
                    <a:pt x="767642" y="1280401"/>
                    <a:pt x="776401" y="1284780"/>
                  </a:cubicBezTo>
                  <a:cubicBezTo>
                    <a:pt x="778592" y="1285876"/>
                    <a:pt x="780781" y="1286970"/>
                    <a:pt x="782971" y="1288065"/>
                  </a:cubicBezTo>
                  <a:cubicBezTo>
                    <a:pt x="791730" y="1292444"/>
                    <a:pt x="800490" y="1296824"/>
                    <a:pt x="809249" y="1301204"/>
                  </a:cubicBezTo>
                  <a:cubicBezTo>
                    <a:pt x="809249" y="1302299"/>
                    <a:pt x="810345" y="1302299"/>
                    <a:pt x="810345" y="1302299"/>
                  </a:cubicBezTo>
                  <a:cubicBezTo>
                    <a:pt x="819104" y="1306679"/>
                    <a:pt x="827864" y="1312153"/>
                    <a:pt x="836624" y="1317628"/>
                  </a:cubicBezTo>
                  <a:cubicBezTo>
                    <a:pt x="837719" y="1317628"/>
                    <a:pt x="837719" y="1318723"/>
                    <a:pt x="838813" y="1318723"/>
                  </a:cubicBezTo>
                  <a:cubicBezTo>
                    <a:pt x="839908" y="1318723"/>
                    <a:pt x="839908" y="1319818"/>
                    <a:pt x="841003" y="1319819"/>
                  </a:cubicBezTo>
                  <a:cubicBezTo>
                    <a:pt x="842098" y="1320913"/>
                    <a:pt x="844288" y="1322008"/>
                    <a:pt x="845383" y="1323103"/>
                  </a:cubicBezTo>
                  <a:cubicBezTo>
                    <a:pt x="845383" y="1323103"/>
                    <a:pt x="846478" y="1324198"/>
                    <a:pt x="847573" y="1324198"/>
                  </a:cubicBezTo>
                  <a:cubicBezTo>
                    <a:pt x="903415" y="1357046"/>
                    <a:pt x="976776" y="1351572"/>
                    <a:pt x="1028238" y="1306679"/>
                  </a:cubicBezTo>
                  <a:lnTo>
                    <a:pt x="1030428" y="1304489"/>
                  </a:lnTo>
                  <a:cubicBezTo>
                    <a:pt x="1110358" y="1234413"/>
                    <a:pt x="1130067" y="1121633"/>
                    <a:pt x="1087364" y="1030754"/>
                  </a:cubicBezTo>
                  <a:cubicBezTo>
                    <a:pt x="1068750" y="994621"/>
                    <a:pt x="1053421" y="957393"/>
                    <a:pt x="1039187" y="917975"/>
                  </a:cubicBezTo>
                  <a:cubicBezTo>
                    <a:pt x="1038092" y="916880"/>
                    <a:pt x="1038092" y="916880"/>
                    <a:pt x="1038092" y="915786"/>
                  </a:cubicBezTo>
                  <a:cubicBezTo>
                    <a:pt x="1033712" y="904836"/>
                    <a:pt x="1030427" y="893886"/>
                    <a:pt x="1027142" y="882937"/>
                  </a:cubicBezTo>
                  <a:cubicBezTo>
                    <a:pt x="1027143" y="881842"/>
                    <a:pt x="1026048" y="880747"/>
                    <a:pt x="1026048" y="879652"/>
                  </a:cubicBezTo>
                  <a:cubicBezTo>
                    <a:pt x="1019478" y="858849"/>
                    <a:pt x="1014003" y="836949"/>
                    <a:pt x="1008528" y="815051"/>
                  </a:cubicBezTo>
                  <a:cubicBezTo>
                    <a:pt x="966921" y="633290"/>
                    <a:pt x="982250" y="452625"/>
                    <a:pt x="1041377" y="289479"/>
                  </a:cubicBezTo>
                  <a:cubicBezTo>
                    <a:pt x="1041377" y="288384"/>
                    <a:pt x="1042471" y="288384"/>
                    <a:pt x="1042471" y="287290"/>
                  </a:cubicBezTo>
                  <a:cubicBezTo>
                    <a:pt x="1044662" y="280720"/>
                    <a:pt x="1047946" y="274150"/>
                    <a:pt x="1050137" y="267581"/>
                  </a:cubicBezTo>
                  <a:cubicBezTo>
                    <a:pt x="1051232" y="263200"/>
                    <a:pt x="1053422" y="259915"/>
                    <a:pt x="1054516" y="255536"/>
                  </a:cubicBezTo>
                  <a:cubicBezTo>
                    <a:pt x="1055612" y="252252"/>
                    <a:pt x="1056706" y="248966"/>
                    <a:pt x="1057801" y="246778"/>
                  </a:cubicBezTo>
                  <a:cubicBezTo>
                    <a:pt x="1093934" y="160276"/>
                    <a:pt x="1143207" y="79250"/>
                    <a:pt x="1205618" y="5890"/>
                  </a:cubicBezTo>
                  <a:cubicBezTo>
                    <a:pt x="1206713" y="4795"/>
                    <a:pt x="1208903" y="2604"/>
                    <a:pt x="1209998" y="1509"/>
                  </a:cubicBezTo>
                  <a:close/>
                </a:path>
              </a:pathLst>
            </a:custGeom>
            <a:solidFill>
              <a:srgbClr val="29B8CE"/>
            </a:solidFill>
            <a:ln w="9212" cap="flat">
              <a:noFill/>
              <a:prstDash val="solid"/>
              <a:miter/>
            </a:ln>
          </p:spPr>
          <p:txBody>
            <a:bodyPr rtlCol="0" anchor="ctr"/>
            <a:lstStyle/>
            <a:p>
              <a:endParaRPr lang="de-DE"/>
            </a:p>
          </p:txBody>
        </p:sp>
        <p:sp>
          <p:nvSpPr>
            <p:cNvPr id="26" name="Grafik 29">
              <a:extLst>
                <a:ext uri="{FF2B5EF4-FFF2-40B4-BE49-F238E27FC236}">
                  <a16:creationId xmlns:a16="http://schemas.microsoft.com/office/drawing/2014/main" id="{90A82830-8DBF-40CE-86F9-56296AD0791A}"/>
                </a:ext>
              </a:extLst>
            </p:cNvPr>
            <p:cNvSpPr/>
            <p:nvPr/>
          </p:nvSpPr>
          <p:spPr>
            <a:xfrm rot="12078484" flipH="1">
              <a:off x="3793710" y="2591968"/>
              <a:ext cx="2215394" cy="1433935"/>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endParaRPr lang="de-DE"/>
            </a:p>
          </p:txBody>
        </p:sp>
        <p:sp>
          <p:nvSpPr>
            <p:cNvPr id="27" name="Grafik 19">
              <a:extLst>
                <a:ext uri="{FF2B5EF4-FFF2-40B4-BE49-F238E27FC236}">
                  <a16:creationId xmlns:a16="http://schemas.microsoft.com/office/drawing/2014/main" id="{26883525-D83A-4C6B-B24B-66B13F483A9D}"/>
                </a:ext>
              </a:extLst>
            </p:cNvPr>
            <p:cNvSpPr/>
            <p:nvPr/>
          </p:nvSpPr>
          <p:spPr>
            <a:xfrm rot="18807008">
              <a:off x="7035915" y="1813421"/>
              <a:ext cx="1438550" cy="2107336"/>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D698D091-1203-4A33-86E2-5B46546EB10D}"/>
                </a:ext>
              </a:extLst>
            </p:cNvPr>
            <p:cNvSpPr/>
            <p:nvPr/>
          </p:nvSpPr>
          <p:spPr>
            <a:xfrm>
              <a:off x="1448521" y="1328981"/>
              <a:ext cx="7020657" cy="3361408"/>
            </a:xfrm>
            <a:custGeom>
              <a:avLst/>
              <a:gdLst>
                <a:gd name="connsiteX0" fmla="*/ 3648463 w 7020657"/>
                <a:gd name="connsiteY0" fmla="*/ 3109363 h 3361408"/>
                <a:gd name="connsiteX1" fmla="*/ 3515103 w 7020657"/>
                <a:gd name="connsiteY1" fmla="*/ 3123432 h 3361408"/>
                <a:gd name="connsiteX2" fmla="*/ 3461505 w 7020657"/>
                <a:gd name="connsiteY2" fmla="*/ 3118516 h 3361408"/>
                <a:gd name="connsiteX3" fmla="*/ 3515104 w 7020657"/>
                <a:gd name="connsiteY3" fmla="*/ 3123432 h 3361408"/>
                <a:gd name="connsiteX4" fmla="*/ 6124147 w 7020657"/>
                <a:gd name="connsiteY4" fmla="*/ 3002705 h 3361408"/>
                <a:gd name="connsiteX5" fmla="*/ 6188923 w 7020657"/>
                <a:gd name="connsiteY5" fmla="*/ 3072335 h 3361408"/>
                <a:gd name="connsiteX6" fmla="*/ 6926203 w 7020657"/>
                <a:gd name="connsiteY6" fmla="*/ 3324010 h 3361408"/>
                <a:gd name="connsiteX7" fmla="*/ 7014988 w 7020657"/>
                <a:gd name="connsiteY7" fmla="*/ 3310279 h 3361408"/>
                <a:gd name="connsiteX8" fmla="*/ 7001075 w 7020657"/>
                <a:gd name="connsiteY8" fmla="*/ 3338479 h 3361408"/>
                <a:gd name="connsiteX9" fmla="*/ 6940960 w 7020657"/>
                <a:gd name="connsiteY9" fmla="*/ 3361408 h 3361408"/>
                <a:gd name="connsiteX10" fmla="*/ 6618704 w 7020657"/>
                <a:gd name="connsiteY10" fmla="*/ 3361408 h 3361408"/>
                <a:gd name="connsiteX11" fmla="*/ 6395599 w 7020657"/>
                <a:gd name="connsiteY11" fmla="*/ 3321745 h 3361408"/>
                <a:gd name="connsiteX12" fmla="*/ 6246864 w 7020657"/>
                <a:gd name="connsiteY12" fmla="*/ 3227549 h 3361408"/>
                <a:gd name="connsiteX13" fmla="*/ 6241909 w 7020657"/>
                <a:gd name="connsiteY13" fmla="*/ 3222589 h 3361408"/>
                <a:gd name="connsiteX14" fmla="*/ 6207202 w 7020657"/>
                <a:gd name="connsiteY14" fmla="*/ 3182926 h 3361408"/>
                <a:gd name="connsiteX15" fmla="*/ 6202247 w 7020657"/>
                <a:gd name="connsiteY15" fmla="*/ 3177971 h 3361408"/>
                <a:gd name="connsiteX16" fmla="*/ 6177455 w 7020657"/>
                <a:gd name="connsiteY16" fmla="*/ 3138308 h 3361408"/>
                <a:gd name="connsiteX17" fmla="*/ 6177455 w 7020657"/>
                <a:gd name="connsiteY17" fmla="*/ 3133348 h 3361408"/>
                <a:gd name="connsiteX18" fmla="*/ 6152668 w 7020657"/>
                <a:gd name="connsiteY18" fmla="*/ 3088730 h 3361408"/>
                <a:gd name="connsiteX19" fmla="*/ 6132837 w 7020657"/>
                <a:gd name="connsiteY19" fmla="*/ 3039152 h 3361408"/>
                <a:gd name="connsiteX20" fmla="*/ 2420514 w 7020657"/>
                <a:gd name="connsiteY20" fmla="*/ 2406699 h 3361408"/>
                <a:gd name="connsiteX21" fmla="*/ 2498747 w 7020657"/>
                <a:gd name="connsiteY21" fmla="*/ 2478915 h 3361408"/>
                <a:gd name="connsiteX22" fmla="*/ 2718247 w 7020657"/>
                <a:gd name="connsiteY22" fmla="*/ 2677312 h 3361408"/>
                <a:gd name="connsiteX23" fmla="*/ 2498746 w 7020657"/>
                <a:gd name="connsiteY23" fmla="*/ 2478915 h 3361408"/>
                <a:gd name="connsiteX24" fmla="*/ 6103088 w 7020657"/>
                <a:gd name="connsiteY24" fmla="*/ 2290496 h 3361408"/>
                <a:gd name="connsiteX25" fmla="*/ 6103091 w 7020657"/>
                <a:gd name="connsiteY25" fmla="*/ 2290517 h 3361408"/>
                <a:gd name="connsiteX26" fmla="*/ 6103091 w 7020657"/>
                <a:gd name="connsiteY26" fmla="*/ 2840839 h 3361408"/>
                <a:gd name="connsiteX27" fmla="*/ 6108825 w 7020657"/>
                <a:gd name="connsiteY27" fmla="*/ 2921614 h 3361408"/>
                <a:gd name="connsiteX28" fmla="*/ 6103090 w 7020657"/>
                <a:gd name="connsiteY28" fmla="*/ 2840839 h 3361408"/>
                <a:gd name="connsiteX29" fmla="*/ 6103090 w 7020657"/>
                <a:gd name="connsiteY29" fmla="*/ 2290517 h 3361408"/>
                <a:gd name="connsiteX30" fmla="*/ 6077936 w 7020657"/>
                <a:gd name="connsiteY30" fmla="*/ 2122601 h 3361408"/>
                <a:gd name="connsiteX31" fmla="*/ 6084265 w 7020657"/>
                <a:gd name="connsiteY31" fmla="*/ 2137048 h 3361408"/>
                <a:gd name="connsiteX32" fmla="*/ 6086340 w 7020657"/>
                <a:gd name="connsiteY32" fmla="*/ 2153961 h 3361408"/>
                <a:gd name="connsiteX33" fmla="*/ 5051393 w 7020657"/>
                <a:gd name="connsiteY33" fmla="*/ 2021321 h 3361408"/>
                <a:gd name="connsiteX34" fmla="*/ 5027239 w 7020657"/>
                <a:gd name="connsiteY34" fmla="*/ 2037670 h 3361408"/>
                <a:gd name="connsiteX35" fmla="*/ 4906392 w 7020657"/>
                <a:gd name="connsiteY35" fmla="*/ 2135586 h 3361408"/>
                <a:gd name="connsiteX36" fmla="*/ 4877518 w 7020657"/>
                <a:gd name="connsiteY36" fmla="*/ 2161557 h 3361408"/>
                <a:gd name="connsiteX37" fmla="*/ 4906392 w 7020657"/>
                <a:gd name="connsiteY37" fmla="*/ 2135586 h 3361408"/>
                <a:gd name="connsiteX38" fmla="*/ 5027239 w 7020657"/>
                <a:gd name="connsiteY38" fmla="*/ 2037670 h 3361408"/>
                <a:gd name="connsiteX39" fmla="*/ 1696129 w 7020657"/>
                <a:gd name="connsiteY39" fmla="*/ 1848090 h 3361408"/>
                <a:gd name="connsiteX40" fmla="*/ 1710455 w 7020657"/>
                <a:gd name="connsiteY40" fmla="*/ 1854229 h 3361408"/>
                <a:gd name="connsiteX41" fmla="*/ 1755072 w 7020657"/>
                <a:gd name="connsiteY41" fmla="*/ 1879020 h 3361408"/>
                <a:gd name="connsiteX42" fmla="*/ 1998008 w 7020657"/>
                <a:gd name="connsiteY42" fmla="*/ 2032710 h 3361408"/>
                <a:gd name="connsiteX43" fmla="*/ 2260771 w 7020657"/>
                <a:gd name="connsiteY43" fmla="*/ 2260770 h 3361408"/>
                <a:gd name="connsiteX44" fmla="*/ 2265731 w 7020657"/>
                <a:gd name="connsiteY44" fmla="*/ 2265730 h 3361408"/>
                <a:gd name="connsiteX45" fmla="*/ 2290250 w 7020657"/>
                <a:gd name="connsiteY45" fmla="*/ 2287183 h 3361408"/>
                <a:gd name="connsiteX46" fmla="*/ 2265731 w 7020657"/>
                <a:gd name="connsiteY46" fmla="*/ 2265731 h 3361408"/>
                <a:gd name="connsiteX47" fmla="*/ 2260770 w 7020657"/>
                <a:gd name="connsiteY47" fmla="*/ 2260770 h 3361408"/>
                <a:gd name="connsiteX48" fmla="*/ 1998008 w 7020657"/>
                <a:gd name="connsiteY48" fmla="*/ 2032710 h 3361408"/>
                <a:gd name="connsiteX49" fmla="*/ 1755072 w 7020657"/>
                <a:gd name="connsiteY49" fmla="*/ 1879020 h 3361408"/>
                <a:gd name="connsiteX50" fmla="*/ 1710454 w 7020657"/>
                <a:gd name="connsiteY50" fmla="*/ 1854228 h 3361408"/>
                <a:gd name="connsiteX51" fmla="*/ 1636233 w 7020657"/>
                <a:gd name="connsiteY51" fmla="*/ 1215543 h 3361408"/>
                <a:gd name="connsiteX52" fmla="*/ 1826029 w 7020657"/>
                <a:gd name="connsiteY52" fmla="*/ 1323060 h 3361408"/>
                <a:gd name="connsiteX53" fmla="*/ 1826767 w 7020657"/>
                <a:gd name="connsiteY53" fmla="*/ 1325120 h 3361408"/>
                <a:gd name="connsiteX54" fmla="*/ 1809078 w 7020657"/>
                <a:gd name="connsiteY54" fmla="*/ 1558251 h 3361408"/>
                <a:gd name="connsiteX55" fmla="*/ 1805031 w 7020657"/>
                <a:gd name="connsiteY55" fmla="*/ 1563190 h 3361408"/>
                <a:gd name="connsiteX56" fmla="*/ 1670800 w 7020657"/>
                <a:gd name="connsiteY56" fmla="*/ 1772929 h 3361408"/>
                <a:gd name="connsiteX57" fmla="*/ 1649589 w 7020657"/>
                <a:gd name="connsiteY57" fmla="*/ 1831521 h 3361408"/>
                <a:gd name="connsiteX58" fmla="*/ 1671500 w 7020657"/>
                <a:gd name="connsiteY58" fmla="*/ 1838085 h 3361408"/>
                <a:gd name="connsiteX59" fmla="*/ 1541265 w 7020657"/>
                <a:gd name="connsiteY59" fmla="*/ 1799073 h 3361408"/>
                <a:gd name="connsiteX60" fmla="*/ 1403068 w 7020657"/>
                <a:gd name="connsiteY60" fmla="*/ 1784819 h 3361408"/>
                <a:gd name="connsiteX61" fmla="*/ 1056020 w 7020657"/>
                <a:gd name="connsiteY61" fmla="*/ 1923638 h 3361408"/>
                <a:gd name="connsiteX62" fmla="*/ 997456 w 7020657"/>
                <a:gd name="connsiteY62" fmla="*/ 1998936 h 3361408"/>
                <a:gd name="connsiteX63" fmla="*/ 983451 w 7020657"/>
                <a:gd name="connsiteY63" fmla="*/ 2027256 h 3361408"/>
                <a:gd name="connsiteX64" fmla="*/ 984565 w 7020657"/>
                <a:gd name="connsiteY64" fmla="*/ 2016380 h 3361408"/>
                <a:gd name="connsiteX65" fmla="*/ 984488 w 7020657"/>
                <a:gd name="connsiteY65" fmla="*/ 2012918 h 3361408"/>
                <a:gd name="connsiteX66" fmla="*/ 984291 w 7020657"/>
                <a:gd name="connsiteY66" fmla="*/ 1957162 h 3361408"/>
                <a:gd name="connsiteX67" fmla="*/ 984216 w 7020657"/>
                <a:gd name="connsiteY67" fmla="*/ 1953700 h 3361408"/>
                <a:gd name="connsiteX68" fmla="*/ 982570 w 7020657"/>
                <a:gd name="connsiteY68" fmla="*/ 1926376 h 3361408"/>
                <a:gd name="connsiteX69" fmla="*/ 982201 w 7020657"/>
                <a:gd name="connsiteY69" fmla="*/ 1925345 h 3361408"/>
                <a:gd name="connsiteX70" fmla="*/ 979525 w 7020657"/>
                <a:gd name="connsiteY70" fmla="*/ 1898390 h 3361408"/>
                <a:gd name="connsiteX71" fmla="*/ 978710 w 7020657"/>
                <a:gd name="connsiteY71" fmla="*/ 1892867 h 3361408"/>
                <a:gd name="connsiteX72" fmla="*/ 975450 w 7020657"/>
                <a:gd name="connsiteY72" fmla="*/ 1870775 h 3361408"/>
                <a:gd name="connsiteX73" fmla="*/ 974635 w 7020657"/>
                <a:gd name="connsiteY73" fmla="*/ 1865251 h 3361408"/>
                <a:gd name="connsiteX74" fmla="*/ 969235 w 7020657"/>
                <a:gd name="connsiteY74" fmla="*/ 1840435 h 3361408"/>
                <a:gd name="connsiteX75" fmla="*/ 967314 w 7020657"/>
                <a:gd name="connsiteY75" fmla="*/ 1831819 h 3361408"/>
                <a:gd name="connsiteX76" fmla="*/ 962437 w 7020657"/>
                <a:gd name="connsiteY76" fmla="*/ 1814955 h 3361408"/>
                <a:gd name="connsiteX77" fmla="*/ 960145 w 7020657"/>
                <a:gd name="connsiteY77" fmla="*/ 1805309 h 3361408"/>
                <a:gd name="connsiteX78" fmla="*/ 953422 w 7020657"/>
                <a:gd name="connsiteY78" fmla="*/ 1783293 h 3361408"/>
                <a:gd name="connsiteX79" fmla="*/ 949362 w 7020657"/>
                <a:gd name="connsiteY79" fmla="*/ 1771955 h 3361408"/>
                <a:gd name="connsiteX80" fmla="*/ 944931 w 7020657"/>
                <a:gd name="connsiteY80" fmla="*/ 1759584 h 3361408"/>
                <a:gd name="connsiteX81" fmla="*/ 940500 w 7020657"/>
                <a:gd name="connsiteY81" fmla="*/ 1747214 h 3361408"/>
                <a:gd name="connsiteX82" fmla="*/ 932455 w 7020657"/>
                <a:gd name="connsiteY82" fmla="*/ 1727998 h 3361408"/>
                <a:gd name="connsiteX83" fmla="*/ 926626 w 7020657"/>
                <a:gd name="connsiteY83" fmla="*/ 1714967 h 3361408"/>
                <a:gd name="connsiteX84" fmla="*/ 921533 w 7020657"/>
                <a:gd name="connsiteY84" fmla="*/ 1703997 h 3361408"/>
                <a:gd name="connsiteX85" fmla="*/ 914673 w 7020657"/>
                <a:gd name="connsiteY85" fmla="*/ 1691335 h 3361408"/>
                <a:gd name="connsiteX86" fmla="*/ 907442 w 7020657"/>
                <a:gd name="connsiteY86" fmla="*/ 1677641 h 3361408"/>
                <a:gd name="connsiteX87" fmla="*/ 898073 w 7020657"/>
                <a:gd name="connsiteY87" fmla="*/ 1661225 h 3361408"/>
                <a:gd name="connsiteX88" fmla="*/ 894458 w 7020657"/>
                <a:gd name="connsiteY88" fmla="*/ 1654378 h 3361408"/>
                <a:gd name="connsiteX89" fmla="*/ 892319 w 7020657"/>
                <a:gd name="connsiteY89" fmla="*/ 1651655 h 3361408"/>
                <a:gd name="connsiteX90" fmla="*/ 879043 w 7020657"/>
                <a:gd name="connsiteY90" fmla="*/ 1630823 h 3361408"/>
                <a:gd name="connsiteX91" fmla="*/ 874396 w 7020657"/>
                <a:gd name="connsiteY91" fmla="*/ 1624347 h 3361408"/>
                <a:gd name="connsiteX92" fmla="*/ 859059 w 7020657"/>
                <a:gd name="connsiteY92" fmla="*/ 1604251 h 3361408"/>
                <a:gd name="connsiteX93" fmla="*/ 854413 w 7020657"/>
                <a:gd name="connsiteY93" fmla="*/ 1597775 h 3361408"/>
                <a:gd name="connsiteX94" fmla="*/ 838044 w 7020657"/>
                <a:gd name="connsiteY94" fmla="*/ 1578050 h 3361408"/>
                <a:gd name="connsiteX95" fmla="*/ 833767 w 7020657"/>
                <a:gd name="connsiteY95" fmla="*/ 1572603 h 3361408"/>
                <a:gd name="connsiteX96" fmla="*/ 813199 w 7020657"/>
                <a:gd name="connsiteY96" fmla="*/ 1550894 h 3361408"/>
                <a:gd name="connsiteX97" fmla="*/ 811430 w 7020657"/>
                <a:gd name="connsiteY97" fmla="*/ 1549201 h 3361408"/>
                <a:gd name="connsiteX98" fmla="*/ 803614 w 7020657"/>
                <a:gd name="connsiteY98" fmla="*/ 1540370 h 3361408"/>
                <a:gd name="connsiteX99" fmla="*/ 781945 w 7020657"/>
                <a:gd name="connsiteY99" fmla="*/ 1359717 h 3361408"/>
                <a:gd name="connsiteX100" fmla="*/ 783269 w 7020657"/>
                <a:gd name="connsiteY100" fmla="*/ 1356917 h 3361408"/>
                <a:gd name="connsiteX101" fmla="*/ 1040514 w 7020657"/>
                <a:gd name="connsiteY101" fmla="*/ 1243849 h 3361408"/>
                <a:gd name="connsiteX102" fmla="*/ 1046776 w 7020657"/>
                <a:gd name="connsiteY102" fmla="*/ 1245095 h 3361408"/>
                <a:gd name="connsiteX103" fmla="*/ 1050606 w 7020657"/>
                <a:gd name="connsiteY103" fmla="*/ 1246050 h 3361408"/>
                <a:gd name="connsiteX104" fmla="*/ 1079853 w 7020657"/>
                <a:gd name="connsiteY104" fmla="*/ 1253020 h 3361408"/>
                <a:gd name="connsiteX105" fmla="*/ 1086115 w 7020657"/>
                <a:gd name="connsiteY105" fmla="*/ 1254268 h 3361408"/>
                <a:gd name="connsiteX106" fmla="*/ 1119855 w 7020657"/>
                <a:gd name="connsiteY106" fmla="*/ 1260792 h 3361408"/>
                <a:gd name="connsiteX107" fmla="*/ 1127147 w 7020657"/>
                <a:gd name="connsiteY107" fmla="*/ 1261669 h 3361408"/>
                <a:gd name="connsiteX108" fmla="*/ 1155286 w 7020657"/>
                <a:gd name="connsiteY108" fmla="*/ 1265548 h 3361408"/>
                <a:gd name="connsiteX109" fmla="*/ 1162578 w 7020657"/>
                <a:gd name="connsiteY109" fmla="*/ 1266425 h 3361408"/>
                <a:gd name="connsiteX110" fmla="*/ 1255534 w 7020657"/>
                <a:gd name="connsiteY110" fmla="*/ 1272676 h 3361408"/>
                <a:gd name="connsiteX111" fmla="*/ 1271813 w 7020657"/>
                <a:gd name="connsiteY111" fmla="*/ 1272661 h 3361408"/>
                <a:gd name="connsiteX112" fmla="*/ 1272844 w 7020657"/>
                <a:gd name="connsiteY112" fmla="*/ 1272292 h 3361408"/>
                <a:gd name="connsiteX113" fmla="*/ 1555856 w 7020657"/>
                <a:gd name="connsiteY113" fmla="*/ 1227921 h 3361408"/>
                <a:gd name="connsiteX114" fmla="*/ 1562039 w 7020657"/>
                <a:gd name="connsiteY114" fmla="*/ 1225705 h 3361408"/>
                <a:gd name="connsiteX115" fmla="*/ 1636233 w 7020657"/>
                <a:gd name="connsiteY115" fmla="*/ 1215543 h 3361408"/>
                <a:gd name="connsiteX116" fmla="*/ 1247143 w 7020657"/>
                <a:gd name="connsiteY116" fmla="*/ 176445 h 3361408"/>
                <a:gd name="connsiteX117" fmla="*/ 1308867 w 7020657"/>
                <a:gd name="connsiteY117" fmla="*/ 228060 h 3361408"/>
                <a:gd name="connsiteX118" fmla="*/ 1308867 w 7020657"/>
                <a:gd name="connsiteY118" fmla="*/ 228061 h 3361408"/>
                <a:gd name="connsiteX119" fmla="*/ 5961847 w 7020657"/>
                <a:gd name="connsiteY119" fmla="*/ 21044 h 3361408"/>
                <a:gd name="connsiteX120" fmla="*/ 5954357 w 7020657"/>
                <a:gd name="connsiteY120" fmla="*/ 24792 h 3361408"/>
                <a:gd name="connsiteX121" fmla="*/ 5920889 w 7020657"/>
                <a:gd name="connsiteY121" fmla="*/ 49580 h 3361408"/>
                <a:gd name="connsiteX122" fmla="*/ 5887672 w 7020657"/>
                <a:gd name="connsiteY122" fmla="*/ 81788 h 3361408"/>
                <a:gd name="connsiteX123" fmla="*/ 5920889 w 7020657"/>
                <a:gd name="connsiteY123" fmla="*/ 49580 h 3361408"/>
                <a:gd name="connsiteX124" fmla="*/ 5954355 w 7020657"/>
                <a:gd name="connsiteY124" fmla="*/ 24792 h 3361408"/>
                <a:gd name="connsiteX125" fmla="*/ 6038636 w 7020657"/>
                <a:gd name="connsiteY125" fmla="*/ 4960 h 3361408"/>
                <a:gd name="connsiteX126" fmla="*/ 6509632 w 7020657"/>
                <a:gd name="connsiteY126" fmla="*/ 4960 h 3361408"/>
                <a:gd name="connsiteX127" fmla="*/ 6539379 w 7020657"/>
                <a:gd name="connsiteY127" fmla="*/ 4960 h 3361408"/>
                <a:gd name="connsiteX128" fmla="*/ 6569126 w 7020657"/>
                <a:gd name="connsiteY128" fmla="*/ 4960 h 3361408"/>
                <a:gd name="connsiteX129" fmla="*/ 6608789 w 7020657"/>
                <a:gd name="connsiteY129" fmla="*/ 9916 h 3361408"/>
                <a:gd name="connsiteX130" fmla="*/ 6623659 w 7020657"/>
                <a:gd name="connsiteY130" fmla="*/ 9916 h 3361408"/>
                <a:gd name="connsiteX131" fmla="*/ 6668282 w 7020657"/>
                <a:gd name="connsiteY131" fmla="*/ 19831 h 3361408"/>
                <a:gd name="connsiteX132" fmla="*/ 6673238 w 7020657"/>
                <a:gd name="connsiteY132" fmla="*/ 19831 h 3361408"/>
                <a:gd name="connsiteX133" fmla="*/ 6722816 w 7020657"/>
                <a:gd name="connsiteY133" fmla="*/ 34707 h 3361408"/>
                <a:gd name="connsiteX134" fmla="*/ 6886427 w 7020657"/>
                <a:gd name="connsiteY134" fmla="*/ 133864 h 3361408"/>
                <a:gd name="connsiteX135" fmla="*/ 6891382 w 7020657"/>
                <a:gd name="connsiteY135" fmla="*/ 138819 h 3361408"/>
                <a:gd name="connsiteX136" fmla="*/ 7020285 w 7020657"/>
                <a:gd name="connsiteY136" fmla="*/ 520575 h 3361408"/>
                <a:gd name="connsiteX137" fmla="*/ 7020285 w 7020657"/>
                <a:gd name="connsiteY137" fmla="*/ 1298951 h 3361408"/>
                <a:gd name="connsiteX138" fmla="*/ 7020285 w 7020657"/>
                <a:gd name="connsiteY138" fmla="*/ 1484144 h 3361408"/>
                <a:gd name="connsiteX139" fmla="*/ 7004863 w 7020657"/>
                <a:gd name="connsiteY139" fmla="*/ 1480480 h 3361408"/>
                <a:gd name="connsiteX140" fmla="*/ 6831667 w 7020657"/>
                <a:gd name="connsiteY140" fmla="*/ 1464430 h 3361408"/>
                <a:gd name="connsiteX141" fmla="*/ 6736505 w 7020657"/>
                <a:gd name="connsiteY141" fmla="*/ 1469431 h 3361408"/>
                <a:gd name="connsiteX142" fmla="*/ 6006963 w 7020657"/>
                <a:gd name="connsiteY142" fmla="*/ 1962167 h 3361408"/>
                <a:gd name="connsiteX143" fmla="*/ 6001579 w 7020657"/>
                <a:gd name="connsiteY143" fmla="*/ 1974765 h 3361408"/>
                <a:gd name="connsiteX144" fmla="*/ 6016471 w 7020657"/>
                <a:gd name="connsiteY144" fmla="*/ 1993735 h 3361408"/>
                <a:gd name="connsiteX145" fmla="*/ 5969226 w 7020657"/>
                <a:gd name="connsiteY145" fmla="*/ 1933553 h 3361408"/>
                <a:gd name="connsiteX146" fmla="*/ 5622178 w 7020657"/>
                <a:gd name="connsiteY146" fmla="*/ 1794734 h 3361408"/>
                <a:gd name="connsiteX147" fmla="*/ 5314793 w 7020657"/>
                <a:gd name="connsiteY147" fmla="*/ 1864144 h 3361408"/>
                <a:gd name="connsiteX148" fmla="*/ 5194518 w 7020657"/>
                <a:gd name="connsiteY148" fmla="*/ 1928122 h 3361408"/>
                <a:gd name="connsiteX149" fmla="*/ 5200293 w 7020657"/>
                <a:gd name="connsiteY149" fmla="*/ 1925050 h 3361408"/>
                <a:gd name="connsiteX150" fmla="*/ 5166606 w 7020657"/>
                <a:gd name="connsiteY150" fmla="*/ 1885296 h 3361408"/>
                <a:gd name="connsiteX151" fmla="*/ 5042817 w 7020657"/>
                <a:gd name="connsiteY151" fmla="*/ 1777127 h 3361408"/>
                <a:gd name="connsiteX152" fmla="*/ 5039651 w 7020657"/>
                <a:gd name="connsiteY152" fmla="*/ 1774773 h 3361408"/>
                <a:gd name="connsiteX153" fmla="*/ 4982679 w 7020657"/>
                <a:gd name="connsiteY153" fmla="*/ 1735862 h 3361408"/>
                <a:gd name="connsiteX154" fmla="*/ 4974941 w 7020657"/>
                <a:gd name="connsiteY154" fmla="*/ 1730492 h 3361408"/>
                <a:gd name="connsiteX155" fmla="*/ 4958433 w 7020657"/>
                <a:gd name="connsiteY155" fmla="*/ 1720121 h 3361408"/>
                <a:gd name="connsiteX156" fmla="*/ 4948263 w 7020657"/>
                <a:gd name="connsiteY156" fmla="*/ 1714459 h 3361408"/>
                <a:gd name="connsiteX157" fmla="*/ 4932125 w 7020657"/>
                <a:gd name="connsiteY157" fmla="*/ 1705119 h 3361408"/>
                <a:gd name="connsiteX158" fmla="*/ 4926155 w 7020657"/>
                <a:gd name="connsiteY158" fmla="*/ 1701442 h 3361408"/>
                <a:gd name="connsiteX159" fmla="*/ 4890049 w 7020657"/>
                <a:gd name="connsiteY159" fmla="*/ 1681810 h 3361408"/>
                <a:gd name="connsiteX160" fmla="*/ 4883049 w 7020657"/>
                <a:gd name="connsiteY160" fmla="*/ 1678501 h 3361408"/>
                <a:gd name="connsiteX161" fmla="*/ 4863447 w 7020657"/>
                <a:gd name="connsiteY161" fmla="*/ 1669238 h 3361408"/>
                <a:gd name="connsiteX162" fmla="*/ 4857847 w 7020657"/>
                <a:gd name="connsiteY162" fmla="*/ 1666592 h 3361408"/>
                <a:gd name="connsiteX163" fmla="*/ 4335698 w 7020657"/>
                <a:gd name="connsiteY163" fmla="*/ 1562839 h 3361408"/>
                <a:gd name="connsiteX164" fmla="*/ 4327744 w 7020657"/>
                <a:gd name="connsiteY164" fmla="*/ 1563362 h 3361408"/>
                <a:gd name="connsiteX165" fmla="*/ 4309773 w 7020657"/>
                <a:gd name="connsiteY165" fmla="*/ 1565145 h 3361408"/>
                <a:gd name="connsiteX166" fmla="*/ 4287311 w 7020657"/>
                <a:gd name="connsiteY166" fmla="*/ 1567376 h 3361408"/>
                <a:gd name="connsiteX167" fmla="*/ 4280387 w 7020657"/>
                <a:gd name="connsiteY167" fmla="*/ 1567529 h 3361408"/>
                <a:gd name="connsiteX168" fmla="*/ 4278326 w 7020657"/>
                <a:gd name="connsiteY168" fmla="*/ 1568267 h 3361408"/>
                <a:gd name="connsiteX169" fmla="*/ 4254834 w 7020657"/>
                <a:gd name="connsiteY169" fmla="*/ 1570865 h 3361408"/>
                <a:gd name="connsiteX170" fmla="*/ 4252403 w 7020657"/>
                <a:gd name="connsiteY170" fmla="*/ 1570573 h 3361408"/>
                <a:gd name="connsiteX171" fmla="*/ 4117566 w 7020657"/>
                <a:gd name="connsiteY171" fmla="*/ 1596768 h 3361408"/>
                <a:gd name="connsiteX172" fmla="*/ 3624044 w 7020657"/>
                <a:gd name="connsiteY172" fmla="*/ 1878199 h 3361408"/>
                <a:gd name="connsiteX173" fmla="*/ 3621321 w 7020657"/>
                <a:gd name="connsiteY173" fmla="*/ 1880337 h 3361408"/>
                <a:gd name="connsiteX174" fmla="*/ 3608442 w 7020657"/>
                <a:gd name="connsiteY174" fmla="*/ 1893092 h 3361408"/>
                <a:gd name="connsiteX175" fmla="*/ 3601673 w 7020657"/>
                <a:gd name="connsiteY175" fmla="*/ 1900168 h 3361408"/>
                <a:gd name="connsiteX176" fmla="*/ 3593210 w 7020657"/>
                <a:gd name="connsiteY176" fmla="*/ 1909013 h 3361408"/>
                <a:gd name="connsiteX177" fmla="*/ 3582394 w 7020657"/>
                <a:gd name="connsiteY177" fmla="*/ 1921029 h 3361408"/>
                <a:gd name="connsiteX178" fmla="*/ 3578347 w 7020657"/>
                <a:gd name="connsiteY178" fmla="*/ 1925967 h 3361408"/>
                <a:gd name="connsiteX179" fmla="*/ 3336286 w 7020657"/>
                <a:gd name="connsiteY179" fmla="*/ 2380185 h 3361408"/>
                <a:gd name="connsiteX180" fmla="*/ 3305522 w 7020657"/>
                <a:gd name="connsiteY180" fmla="*/ 2570313 h 3361408"/>
                <a:gd name="connsiteX181" fmla="*/ 3305890 w 7020657"/>
                <a:gd name="connsiteY181" fmla="*/ 2571345 h 3361408"/>
                <a:gd name="connsiteX182" fmla="*/ 3303782 w 7020657"/>
                <a:gd name="connsiteY182" fmla="*/ 2601175 h 3361408"/>
                <a:gd name="connsiteX183" fmla="*/ 3303058 w 7020657"/>
                <a:gd name="connsiteY183" fmla="*/ 2615392 h 3361408"/>
                <a:gd name="connsiteX184" fmla="*/ 3302335 w 7020657"/>
                <a:gd name="connsiteY184" fmla="*/ 2629607 h 3361408"/>
                <a:gd name="connsiteX185" fmla="*/ 3368708 w 7020657"/>
                <a:gd name="connsiteY185" fmla="*/ 3024533 h 3361408"/>
                <a:gd name="connsiteX186" fmla="*/ 3408019 w 7020657"/>
                <a:gd name="connsiteY186" fmla="*/ 3113609 h 3361408"/>
                <a:gd name="connsiteX187" fmla="*/ 3380001 w 7020657"/>
                <a:gd name="connsiteY187" fmla="*/ 3111039 h 3361408"/>
                <a:gd name="connsiteX188" fmla="*/ 3252336 w 7020657"/>
                <a:gd name="connsiteY188" fmla="*/ 3068899 h 3361408"/>
                <a:gd name="connsiteX189" fmla="*/ 3128393 w 7020657"/>
                <a:gd name="connsiteY189" fmla="*/ 3004444 h 3361408"/>
                <a:gd name="connsiteX190" fmla="*/ 3004444 w 7020657"/>
                <a:gd name="connsiteY190" fmla="*/ 2920164 h 3361408"/>
                <a:gd name="connsiteX191" fmla="*/ 2763870 w 7020657"/>
                <a:gd name="connsiteY191" fmla="*/ 2718081 h 3361408"/>
                <a:gd name="connsiteX192" fmla="*/ 2790573 w 7020657"/>
                <a:gd name="connsiteY192" fmla="*/ 2740511 h 3361408"/>
                <a:gd name="connsiteX193" fmla="*/ 2800406 w 7020657"/>
                <a:gd name="connsiteY193" fmla="*/ 2734939 h 3361408"/>
                <a:gd name="connsiteX194" fmla="*/ 3036975 w 7020657"/>
                <a:gd name="connsiteY194" fmla="*/ 1658132 h 3361408"/>
                <a:gd name="connsiteX195" fmla="*/ 2839289 w 7020657"/>
                <a:gd name="connsiteY195" fmla="*/ 1447641 h 3361408"/>
                <a:gd name="connsiteX196" fmla="*/ 2765608 w 7020657"/>
                <a:gd name="connsiteY196" fmla="*/ 1400741 h 3361408"/>
                <a:gd name="connsiteX197" fmla="*/ 2721850 w 7020657"/>
                <a:gd name="connsiteY197" fmla="*/ 1383238 h 3361408"/>
                <a:gd name="connsiteX198" fmla="*/ 2655794 w 7020657"/>
                <a:gd name="connsiteY198" fmla="*/ 1350209 h 3361408"/>
                <a:gd name="connsiteX199" fmla="*/ 2587751 w 7020657"/>
                <a:gd name="connsiteY199" fmla="*/ 1327216 h 3361408"/>
                <a:gd name="connsiteX200" fmla="*/ 2403895 w 7020657"/>
                <a:gd name="connsiteY200" fmla="*/ 1299857 h 3361408"/>
                <a:gd name="connsiteX201" fmla="*/ 2156300 w 7020657"/>
                <a:gd name="connsiteY201" fmla="*/ 1332707 h 3361408"/>
                <a:gd name="connsiteX202" fmla="*/ 2150115 w 7020657"/>
                <a:gd name="connsiteY202" fmla="*/ 1334923 h 3361408"/>
                <a:gd name="connsiteX203" fmla="*/ 1931143 w 7020657"/>
                <a:gd name="connsiteY203" fmla="*/ 1252847 h 3361408"/>
                <a:gd name="connsiteX204" fmla="*/ 1930406 w 7020657"/>
                <a:gd name="connsiteY204" fmla="*/ 1250786 h 3361408"/>
                <a:gd name="connsiteX205" fmla="*/ 1953280 w 7020657"/>
                <a:gd name="connsiteY205" fmla="*/ 970439 h 3361408"/>
                <a:gd name="connsiteX206" fmla="*/ 1957326 w 7020657"/>
                <a:gd name="connsiteY206" fmla="*/ 965501 h 3361408"/>
                <a:gd name="connsiteX207" fmla="*/ 1964098 w 7020657"/>
                <a:gd name="connsiteY207" fmla="*/ 958425 h 3361408"/>
                <a:gd name="connsiteX208" fmla="*/ 1973220 w 7020657"/>
                <a:gd name="connsiteY208" fmla="*/ 948177 h 3361408"/>
                <a:gd name="connsiteX209" fmla="*/ 2020133 w 7020657"/>
                <a:gd name="connsiteY209" fmla="*/ 889810 h 3361408"/>
                <a:gd name="connsiteX210" fmla="*/ 2092204 w 7020657"/>
                <a:gd name="connsiteY210" fmla="*/ 956864 h 3361408"/>
                <a:gd name="connsiteX211" fmla="*/ 2136827 w 7020657"/>
                <a:gd name="connsiteY211" fmla="*/ 996526 h 3361408"/>
                <a:gd name="connsiteX212" fmla="*/ 2201276 w 7020657"/>
                <a:gd name="connsiteY212" fmla="*/ 1051060 h 3361408"/>
                <a:gd name="connsiteX213" fmla="*/ 2206236 w 7020657"/>
                <a:gd name="connsiteY213" fmla="*/ 1056020 h 3361408"/>
                <a:gd name="connsiteX214" fmla="*/ 2270686 w 7020657"/>
                <a:gd name="connsiteY214" fmla="*/ 1105599 h 3361408"/>
                <a:gd name="connsiteX215" fmla="*/ 2280601 w 7020657"/>
                <a:gd name="connsiteY215" fmla="*/ 1110554 h 3361408"/>
                <a:gd name="connsiteX216" fmla="*/ 2340096 w 7020657"/>
                <a:gd name="connsiteY216" fmla="*/ 1155177 h 3361408"/>
                <a:gd name="connsiteX217" fmla="*/ 2354971 w 7020657"/>
                <a:gd name="connsiteY217" fmla="*/ 1165093 h 3361408"/>
                <a:gd name="connsiteX218" fmla="*/ 2414466 w 7020657"/>
                <a:gd name="connsiteY218" fmla="*/ 1204755 h 3361408"/>
                <a:gd name="connsiteX219" fmla="*/ 2434297 w 7020657"/>
                <a:gd name="connsiteY219" fmla="*/ 1219626 h 3361408"/>
                <a:gd name="connsiteX220" fmla="*/ 2488830 w 7020657"/>
                <a:gd name="connsiteY220" fmla="*/ 1254334 h 3361408"/>
                <a:gd name="connsiteX221" fmla="*/ 2518577 w 7020657"/>
                <a:gd name="connsiteY221" fmla="*/ 1274165 h 3361408"/>
                <a:gd name="connsiteX222" fmla="*/ 2563200 w 7020657"/>
                <a:gd name="connsiteY222" fmla="*/ 1298951 h 3361408"/>
                <a:gd name="connsiteX223" fmla="*/ 2607818 w 7020657"/>
                <a:gd name="connsiteY223" fmla="*/ 1323743 h 3361408"/>
                <a:gd name="connsiteX224" fmla="*/ 2642525 w 7020657"/>
                <a:gd name="connsiteY224" fmla="*/ 1343574 h 3361408"/>
                <a:gd name="connsiteX225" fmla="*/ 2721851 w 7020657"/>
                <a:gd name="connsiteY225" fmla="*/ 1383237 h 3361408"/>
                <a:gd name="connsiteX226" fmla="*/ 2796216 w 7020657"/>
                <a:gd name="connsiteY226" fmla="*/ 1412984 h 3361408"/>
                <a:gd name="connsiteX227" fmla="*/ 2825962 w 7020657"/>
                <a:gd name="connsiteY227" fmla="*/ 1427855 h 3361408"/>
                <a:gd name="connsiteX228" fmla="*/ 2865625 w 7020657"/>
                <a:gd name="connsiteY228" fmla="*/ 1442731 h 3361408"/>
                <a:gd name="connsiteX229" fmla="*/ 2969742 w 7020657"/>
                <a:gd name="connsiteY229" fmla="*/ 1477433 h 3361408"/>
                <a:gd name="connsiteX230" fmla="*/ 3515103 w 7020657"/>
                <a:gd name="connsiteY230" fmla="*/ 1546843 h 3361408"/>
                <a:gd name="connsiteX231" fmla="*/ 4268693 w 7020657"/>
                <a:gd name="connsiteY231" fmla="*/ 1403068 h 3361408"/>
                <a:gd name="connsiteX232" fmla="*/ 4273649 w 7020657"/>
                <a:gd name="connsiteY232" fmla="*/ 1403068 h 3361408"/>
                <a:gd name="connsiteX233" fmla="*/ 4308356 w 7020657"/>
                <a:gd name="connsiteY233" fmla="*/ 1388192 h 3361408"/>
                <a:gd name="connsiteX234" fmla="*/ 4937998 w 7020657"/>
                <a:gd name="connsiteY234" fmla="*/ 956864 h 3361408"/>
                <a:gd name="connsiteX235" fmla="*/ 5498235 w 7020657"/>
                <a:gd name="connsiteY235" fmla="*/ 446205 h 3361408"/>
                <a:gd name="connsiteX236" fmla="*/ 5786844 w 7020657"/>
                <a:gd name="connsiteY236" fmla="*/ 176334 h 3361408"/>
                <a:gd name="connsiteX237" fmla="*/ 5498235 w 7020657"/>
                <a:gd name="connsiteY237" fmla="*/ 446205 h 3361408"/>
                <a:gd name="connsiteX238" fmla="*/ 4937999 w 7020657"/>
                <a:gd name="connsiteY238" fmla="*/ 956863 h 3361408"/>
                <a:gd name="connsiteX239" fmla="*/ 4871692 w 7020657"/>
                <a:gd name="connsiteY239" fmla="*/ 1013965 h 3361408"/>
                <a:gd name="connsiteX240" fmla="*/ 4897681 w 7020657"/>
                <a:gd name="connsiteY240" fmla="*/ 1073129 h 3361408"/>
                <a:gd name="connsiteX241" fmla="*/ 4903805 w 7020657"/>
                <a:gd name="connsiteY241" fmla="*/ 1083729 h 3361408"/>
                <a:gd name="connsiteX242" fmla="*/ 4905940 w 7020657"/>
                <a:gd name="connsiteY242" fmla="*/ 1086453 h 3361408"/>
                <a:gd name="connsiteX243" fmla="*/ 4927555 w 7020657"/>
                <a:gd name="connsiteY243" fmla="*/ 1124070 h 3361408"/>
                <a:gd name="connsiteX244" fmla="*/ 4929693 w 7020657"/>
                <a:gd name="connsiteY244" fmla="*/ 1126793 h 3361408"/>
                <a:gd name="connsiteX245" fmla="*/ 4950495 w 7020657"/>
                <a:gd name="connsiteY245" fmla="*/ 1158888 h 3361408"/>
                <a:gd name="connsiteX246" fmla="*/ 4955139 w 7020657"/>
                <a:gd name="connsiteY246" fmla="*/ 1165365 h 3361408"/>
                <a:gd name="connsiteX247" fmla="*/ 4977999 w 7020657"/>
                <a:gd name="connsiteY247" fmla="*/ 1196721 h 3361408"/>
                <a:gd name="connsiteX248" fmla="*/ 4982644 w 7020657"/>
                <a:gd name="connsiteY248" fmla="*/ 1203199 h 3361408"/>
                <a:gd name="connsiteX249" fmla="*/ 5038459 w 7020657"/>
                <a:gd name="connsiteY249" fmla="*/ 1268111 h 3361408"/>
                <a:gd name="connsiteX250" fmla="*/ 5038829 w 7020657"/>
                <a:gd name="connsiteY250" fmla="*/ 1269141 h 3361408"/>
                <a:gd name="connsiteX251" fmla="*/ 5631633 w 7020657"/>
                <a:gd name="connsiteY251" fmla="*/ 1560426 h 3361408"/>
                <a:gd name="connsiteX252" fmla="*/ 6171487 w 7020657"/>
                <a:gd name="connsiteY252" fmla="*/ 1447327 h 3361408"/>
                <a:gd name="connsiteX253" fmla="*/ 6177305 w 7020657"/>
                <a:gd name="connsiteY253" fmla="*/ 1444081 h 3361408"/>
                <a:gd name="connsiteX254" fmla="*/ 6210135 w 7020657"/>
                <a:gd name="connsiteY254" fmla="*/ 1425343 h 3361408"/>
                <a:gd name="connsiteX255" fmla="*/ 6224123 w 7020657"/>
                <a:gd name="connsiteY255" fmla="*/ 1415682 h 3361408"/>
                <a:gd name="connsiteX256" fmla="*/ 6246647 w 7020657"/>
                <a:gd name="connsiteY256" fmla="*/ 1400636 h 3361408"/>
                <a:gd name="connsiteX257" fmla="*/ 6265047 w 7020657"/>
                <a:gd name="connsiteY257" fmla="*/ 1387069 h 3361408"/>
                <a:gd name="connsiteX258" fmla="*/ 6282417 w 7020657"/>
                <a:gd name="connsiteY258" fmla="*/ 1373869 h 3361408"/>
                <a:gd name="connsiteX259" fmla="*/ 6300449 w 7020657"/>
                <a:gd name="connsiteY259" fmla="*/ 1359269 h 3361408"/>
                <a:gd name="connsiteX260" fmla="*/ 6317821 w 7020657"/>
                <a:gd name="connsiteY260" fmla="*/ 1346069 h 3361408"/>
                <a:gd name="connsiteX261" fmla="*/ 6334822 w 7020657"/>
                <a:gd name="connsiteY261" fmla="*/ 1331839 h 3361408"/>
                <a:gd name="connsiteX262" fmla="*/ 6352485 w 7020657"/>
                <a:gd name="connsiteY262" fmla="*/ 1316207 h 3361408"/>
                <a:gd name="connsiteX263" fmla="*/ 6366393 w 7020657"/>
                <a:gd name="connsiteY263" fmla="*/ 1303086 h 3361408"/>
                <a:gd name="connsiteX264" fmla="*/ 6386041 w 7020657"/>
                <a:gd name="connsiteY264" fmla="*/ 1283257 h 3361408"/>
                <a:gd name="connsiteX265" fmla="*/ 6395165 w 7020657"/>
                <a:gd name="connsiteY265" fmla="*/ 1273009 h 3361408"/>
                <a:gd name="connsiteX266" fmla="*/ 6416799 w 7020657"/>
                <a:gd name="connsiteY266" fmla="*/ 1248978 h 3361408"/>
                <a:gd name="connsiteX267" fmla="*/ 6422537 w 7020657"/>
                <a:gd name="connsiteY267" fmla="*/ 1242272 h 3361408"/>
                <a:gd name="connsiteX268" fmla="*/ 6446817 w 7020657"/>
                <a:gd name="connsiteY268" fmla="*/ 1212640 h 3361408"/>
                <a:gd name="connsiteX269" fmla="*/ 6448509 w 7020657"/>
                <a:gd name="connsiteY269" fmla="*/ 1210871 h 3361408"/>
                <a:gd name="connsiteX270" fmla="*/ 6598003 w 7020657"/>
                <a:gd name="connsiteY270" fmla="*/ 939840 h 3361408"/>
                <a:gd name="connsiteX271" fmla="*/ 6599327 w 7020657"/>
                <a:gd name="connsiteY271" fmla="*/ 937038 h 3361408"/>
                <a:gd name="connsiteX272" fmla="*/ 6611299 w 7020657"/>
                <a:gd name="connsiteY272" fmla="*/ 899023 h 3361408"/>
                <a:gd name="connsiteX273" fmla="*/ 6618347 w 7020657"/>
                <a:gd name="connsiteY273" fmla="*/ 873238 h 3361408"/>
                <a:gd name="connsiteX274" fmla="*/ 6622827 w 7020657"/>
                <a:gd name="connsiteY274" fmla="*/ 856514 h 3361408"/>
                <a:gd name="connsiteX275" fmla="*/ 6645363 w 7020657"/>
                <a:gd name="connsiteY275" fmla="*/ 529767 h 3361408"/>
                <a:gd name="connsiteX276" fmla="*/ 6643289 w 7020657"/>
                <a:gd name="connsiteY276" fmla="*/ 514228 h 3361408"/>
                <a:gd name="connsiteX277" fmla="*/ 6639875 w 7020657"/>
                <a:gd name="connsiteY277" fmla="*/ 485210 h 3361408"/>
                <a:gd name="connsiteX278" fmla="*/ 6633139 w 7020657"/>
                <a:gd name="connsiteY278" fmla="*/ 446916 h 3361408"/>
                <a:gd name="connsiteX279" fmla="*/ 6631952 w 7020657"/>
                <a:gd name="connsiteY279" fmla="*/ 440363 h 3361408"/>
                <a:gd name="connsiteX280" fmla="*/ 6618571 w 7020657"/>
                <a:gd name="connsiteY280" fmla="*/ 383514 h 3361408"/>
                <a:gd name="connsiteX281" fmla="*/ 6610663 w 7020657"/>
                <a:gd name="connsiteY281" fmla="*/ 354943 h 3361408"/>
                <a:gd name="connsiteX282" fmla="*/ 6606602 w 7020657"/>
                <a:gd name="connsiteY282" fmla="*/ 343605 h 3361408"/>
                <a:gd name="connsiteX283" fmla="*/ 6433309 w 7020657"/>
                <a:gd name="connsiteY283" fmla="*/ 29424 h 3361408"/>
                <a:gd name="connsiteX284" fmla="*/ 6408385 w 7020657"/>
                <a:gd name="connsiteY284" fmla="*/ 4961 h 3361408"/>
                <a:gd name="connsiteX285" fmla="*/ 6038636 w 7020657"/>
                <a:gd name="connsiteY285" fmla="*/ 4961 h 3361408"/>
                <a:gd name="connsiteX286" fmla="*/ 6008875 w 7020657"/>
                <a:gd name="connsiteY286" fmla="*/ 10912 h 3361408"/>
                <a:gd name="connsiteX287" fmla="*/ 401092 w 7020657"/>
                <a:gd name="connsiteY287" fmla="*/ 0 h 3361408"/>
                <a:gd name="connsiteX288" fmla="*/ 520575 w 7020657"/>
                <a:gd name="connsiteY288" fmla="*/ 0 h 3361408"/>
                <a:gd name="connsiteX289" fmla="*/ 713928 w 7020657"/>
                <a:gd name="connsiteY289" fmla="*/ 0 h 3361408"/>
                <a:gd name="connsiteX290" fmla="*/ 1188718 w 7020657"/>
                <a:gd name="connsiteY290" fmla="*/ 127588 h 3361408"/>
                <a:gd name="connsiteX291" fmla="*/ 1188718 w 7020657"/>
                <a:gd name="connsiteY291" fmla="*/ 127588 h 3361408"/>
                <a:gd name="connsiteX292" fmla="*/ 1050442 w 7020657"/>
                <a:gd name="connsiteY292" fmla="*/ 56397 h 3361408"/>
                <a:gd name="connsiteX293" fmla="*/ 713928 w 7020657"/>
                <a:gd name="connsiteY293" fmla="*/ 0 h 3361408"/>
                <a:gd name="connsiteX294" fmla="*/ 520576 w 7020657"/>
                <a:gd name="connsiteY294" fmla="*/ 0 h 3361408"/>
                <a:gd name="connsiteX295" fmla="*/ 74370 w 7020657"/>
                <a:gd name="connsiteY295" fmla="*/ 0 h 3361408"/>
                <a:gd name="connsiteX296" fmla="*/ 401092 w 7020657"/>
                <a:gd name="connsiteY296" fmla="*/ 0 h 3361408"/>
                <a:gd name="connsiteX297" fmla="*/ 400308 w 7020657"/>
                <a:gd name="connsiteY297" fmla="*/ 1884 h 3361408"/>
                <a:gd name="connsiteX298" fmla="*/ 397662 w 7020657"/>
                <a:gd name="connsiteY298" fmla="*/ 7485 h 3361408"/>
                <a:gd name="connsiteX299" fmla="*/ 339724 w 7020657"/>
                <a:gd name="connsiteY299" fmla="*/ 284107 h 3361408"/>
                <a:gd name="connsiteX300" fmla="*/ 339584 w 7020657"/>
                <a:gd name="connsiteY300" fmla="*/ 293460 h 3361408"/>
                <a:gd name="connsiteX301" fmla="*/ 339523 w 7020657"/>
                <a:gd name="connsiteY301" fmla="*/ 306276 h 3361408"/>
                <a:gd name="connsiteX302" fmla="*/ 338951 w 7020657"/>
                <a:gd name="connsiteY302" fmla="*/ 327416 h 3361408"/>
                <a:gd name="connsiteX303" fmla="*/ 338659 w 7020657"/>
                <a:gd name="connsiteY303" fmla="*/ 329846 h 3361408"/>
                <a:gd name="connsiteX304" fmla="*/ 484946 w 7020657"/>
                <a:gd name="connsiteY304" fmla="*/ 835717 h 3361408"/>
                <a:gd name="connsiteX305" fmla="*/ 523222 w 7020657"/>
                <a:gd name="connsiteY305" fmla="*/ 890627 h 3361408"/>
                <a:gd name="connsiteX306" fmla="*/ 525360 w 7020657"/>
                <a:gd name="connsiteY306" fmla="*/ 893351 h 3361408"/>
                <a:gd name="connsiteX307" fmla="*/ 546745 w 7020657"/>
                <a:gd name="connsiteY307" fmla="*/ 920584 h 3361408"/>
                <a:gd name="connsiteX308" fmla="*/ 548514 w 7020657"/>
                <a:gd name="connsiteY308" fmla="*/ 922276 h 3361408"/>
                <a:gd name="connsiteX309" fmla="*/ 631896 w 7020657"/>
                <a:gd name="connsiteY309" fmla="*/ 1012206 h 3361408"/>
                <a:gd name="connsiteX310" fmla="*/ 670592 w 7020657"/>
                <a:gd name="connsiteY310" fmla="*/ 1289109 h 3361408"/>
                <a:gd name="connsiteX311" fmla="*/ 669269 w 7020657"/>
                <a:gd name="connsiteY311" fmla="*/ 1291909 h 3361408"/>
                <a:gd name="connsiteX312" fmla="*/ 505091 w 7020657"/>
                <a:gd name="connsiteY312" fmla="*/ 1369319 h 3361408"/>
                <a:gd name="connsiteX313" fmla="*/ 502660 w 7020657"/>
                <a:gd name="connsiteY313" fmla="*/ 1369026 h 3361408"/>
                <a:gd name="connsiteX314" fmla="*/ 497429 w 7020657"/>
                <a:gd name="connsiteY314" fmla="*/ 1367411 h 3361408"/>
                <a:gd name="connsiteX315" fmla="*/ 494997 w 7020657"/>
                <a:gd name="connsiteY315" fmla="*/ 1367118 h 3361408"/>
                <a:gd name="connsiteX316" fmla="*/ 492567 w 7020657"/>
                <a:gd name="connsiteY316" fmla="*/ 1366825 h 3361408"/>
                <a:gd name="connsiteX317" fmla="*/ 462659 w 7020657"/>
                <a:gd name="connsiteY317" fmla="*/ 1361255 h 3361408"/>
                <a:gd name="connsiteX318" fmla="*/ 461258 w 7020657"/>
                <a:gd name="connsiteY318" fmla="*/ 1360593 h 3361408"/>
                <a:gd name="connsiteX319" fmla="*/ 432088 w 7020657"/>
                <a:gd name="connsiteY319" fmla="*/ 1357084 h 3361408"/>
                <a:gd name="connsiteX320" fmla="*/ 424795 w 7020657"/>
                <a:gd name="connsiteY320" fmla="*/ 1356207 h 3361408"/>
                <a:gd name="connsiteX321" fmla="*/ 397394 w 7020657"/>
                <a:gd name="connsiteY321" fmla="*/ 1354390 h 3361408"/>
                <a:gd name="connsiteX322" fmla="*/ 390104 w 7020657"/>
                <a:gd name="connsiteY322" fmla="*/ 1353513 h 3361408"/>
                <a:gd name="connsiteX323" fmla="*/ 365502 w 7020657"/>
                <a:gd name="connsiteY323" fmla="*/ 1353020 h 3361408"/>
                <a:gd name="connsiteX324" fmla="*/ 361010 w 7020657"/>
                <a:gd name="connsiteY324" fmla="*/ 1353465 h 3361408"/>
                <a:gd name="connsiteX325" fmla="*/ 258344 w 7020657"/>
                <a:gd name="connsiteY325" fmla="*/ 1362322 h 3361408"/>
                <a:gd name="connsiteX326" fmla="*/ 256281 w 7020657"/>
                <a:gd name="connsiteY326" fmla="*/ 1363060 h 3361408"/>
                <a:gd name="connsiteX327" fmla="*/ 238682 w 7020657"/>
                <a:gd name="connsiteY327" fmla="*/ 1365875 h 3361408"/>
                <a:gd name="connsiteX328" fmla="*/ 232127 w 7020657"/>
                <a:gd name="connsiteY328" fmla="*/ 1367059 h 3361408"/>
                <a:gd name="connsiteX329" fmla="*/ 219019 w 7020657"/>
                <a:gd name="connsiteY329" fmla="*/ 1369429 h 3361408"/>
                <a:gd name="connsiteX330" fmla="*/ 208341 w 7020657"/>
                <a:gd name="connsiteY330" fmla="*/ 1372089 h 3361408"/>
                <a:gd name="connsiteX331" fmla="*/ 199726 w 7020657"/>
                <a:gd name="connsiteY331" fmla="*/ 1374012 h 3361408"/>
                <a:gd name="connsiteX332" fmla="*/ 184925 w 7020657"/>
                <a:gd name="connsiteY332" fmla="*/ 1378149 h 3361408"/>
                <a:gd name="connsiteX333" fmla="*/ 180802 w 7020657"/>
                <a:gd name="connsiteY333" fmla="*/ 1379626 h 3361408"/>
                <a:gd name="connsiteX334" fmla="*/ 161878 w 7020657"/>
                <a:gd name="connsiteY334" fmla="*/ 1385241 h 3361408"/>
                <a:gd name="connsiteX335" fmla="*/ 160847 w 7020657"/>
                <a:gd name="connsiteY335" fmla="*/ 1385611 h 3361408"/>
                <a:gd name="connsiteX336" fmla="*/ 85013 w 7020657"/>
                <a:gd name="connsiteY336" fmla="*/ 1417423 h 3361408"/>
                <a:gd name="connsiteX337" fmla="*/ 81257 w 7020657"/>
                <a:gd name="connsiteY337" fmla="*/ 1419931 h 3361408"/>
                <a:gd name="connsiteX338" fmla="*/ 59687 w 7020657"/>
                <a:gd name="connsiteY338" fmla="*/ 1431145 h 3361408"/>
                <a:gd name="connsiteX339" fmla="*/ 52841 w 7020657"/>
                <a:gd name="connsiteY339" fmla="*/ 1434759 h 3361408"/>
                <a:gd name="connsiteX340" fmla="*/ 28917 w 7020657"/>
                <a:gd name="connsiteY340" fmla="*/ 1449144 h 3361408"/>
                <a:gd name="connsiteX341" fmla="*/ 23101 w 7020657"/>
                <a:gd name="connsiteY341" fmla="*/ 1452390 h 3361408"/>
                <a:gd name="connsiteX342" fmla="*/ 1 w 7020657"/>
                <a:gd name="connsiteY342" fmla="*/ 1468430 h 3361408"/>
                <a:gd name="connsiteX343" fmla="*/ 0 w 7020657"/>
                <a:gd name="connsiteY343" fmla="*/ 2472769 h 3361408"/>
                <a:gd name="connsiteX344" fmla="*/ 9511 w 7020657"/>
                <a:gd name="connsiteY344" fmla="*/ 2479577 h 3361408"/>
                <a:gd name="connsiteX345" fmla="*/ 18651 w 7020657"/>
                <a:gd name="connsiteY345" fmla="*/ 2485608 h 3361408"/>
                <a:gd name="connsiteX346" fmla="*/ 21818 w 7020657"/>
                <a:gd name="connsiteY346" fmla="*/ 2487963 h 3361408"/>
                <a:gd name="connsiteX347" fmla="*/ 30958 w 7020657"/>
                <a:gd name="connsiteY347" fmla="*/ 2493993 h 3361408"/>
                <a:gd name="connsiteX348" fmla="*/ 46064 w 7020657"/>
                <a:gd name="connsiteY348" fmla="*/ 2503703 h 3361408"/>
                <a:gd name="connsiteX349" fmla="*/ 62203 w 7020657"/>
                <a:gd name="connsiteY349" fmla="*/ 2513041 h 3361408"/>
                <a:gd name="connsiteX350" fmla="*/ 69572 w 7020657"/>
                <a:gd name="connsiteY350" fmla="*/ 2517381 h 3361408"/>
                <a:gd name="connsiteX351" fmla="*/ 72372 w 7020657"/>
                <a:gd name="connsiteY351" fmla="*/ 2518705 h 3361408"/>
                <a:gd name="connsiteX352" fmla="*/ 92711 w 7020657"/>
                <a:gd name="connsiteY352" fmla="*/ 2530028 h 3361408"/>
                <a:gd name="connsiteX353" fmla="*/ 99712 w 7020657"/>
                <a:gd name="connsiteY353" fmla="*/ 2533337 h 3361408"/>
                <a:gd name="connsiteX354" fmla="*/ 122111 w 7020657"/>
                <a:gd name="connsiteY354" fmla="*/ 2543923 h 3361408"/>
                <a:gd name="connsiteX355" fmla="*/ 127712 w 7020657"/>
                <a:gd name="connsiteY355" fmla="*/ 2546568 h 3361408"/>
                <a:gd name="connsiteX356" fmla="*/ 150773 w 7020657"/>
                <a:gd name="connsiteY356" fmla="*/ 2555756 h 3361408"/>
                <a:gd name="connsiteX357" fmla="*/ 157404 w 7020657"/>
                <a:gd name="connsiteY357" fmla="*/ 2558032 h 3361408"/>
                <a:gd name="connsiteX358" fmla="*/ 178697 w 7020657"/>
                <a:gd name="connsiteY358" fmla="*/ 2565527 h 3361408"/>
                <a:gd name="connsiteX359" fmla="*/ 186728 w 7020657"/>
                <a:gd name="connsiteY359" fmla="*/ 2568466 h 3361408"/>
                <a:gd name="connsiteX360" fmla="*/ 206252 w 7020657"/>
                <a:gd name="connsiteY360" fmla="*/ 2574267 h 3361408"/>
                <a:gd name="connsiteX361" fmla="*/ 216712 w 7020657"/>
                <a:gd name="connsiteY361" fmla="*/ 2577498 h 3361408"/>
                <a:gd name="connsiteX362" fmla="*/ 233437 w 7020657"/>
                <a:gd name="connsiteY362" fmla="*/ 2581976 h 3361408"/>
                <a:gd name="connsiteX363" fmla="*/ 246328 w 7020657"/>
                <a:gd name="connsiteY363" fmla="*/ 2585500 h 3361408"/>
                <a:gd name="connsiteX364" fmla="*/ 260252 w 7020657"/>
                <a:gd name="connsiteY364" fmla="*/ 2588654 h 3361408"/>
                <a:gd name="connsiteX365" fmla="*/ 276237 w 7020657"/>
                <a:gd name="connsiteY365" fmla="*/ 2591070 h 3361408"/>
                <a:gd name="connsiteX366" fmla="*/ 287361 w 7020657"/>
                <a:gd name="connsiteY366" fmla="*/ 2592901 h 3361408"/>
                <a:gd name="connsiteX367" fmla="*/ 306807 w 7020657"/>
                <a:gd name="connsiteY367" fmla="*/ 2595241 h 3361408"/>
                <a:gd name="connsiteX368" fmla="*/ 316161 w 7020657"/>
                <a:gd name="connsiteY368" fmla="*/ 2595381 h 3361408"/>
                <a:gd name="connsiteX369" fmla="*/ 337669 w 7020657"/>
                <a:gd name="connsiteY369" fmla="*/ 2596981 h 3361408"/>
                <a:gd name="connsiteX370" fmla="*/ 344593 w 7020657"/>
                <a:gd name="connsiteY370" fmla="*/ 2596829 h 3361408"/>
                <a:gd name="connsiteX371" fmla="*/ 367132 w 7020657"/>
                <a:gd name="connsiteY371" fmla="*/ 2598060 h 3361408"/>
                <a:gd name="connsiteX372" fmla="*/ 374056 w 7020657"/>
                <a:gd name="connsiteY372" fmla="*/ 2597907 h 3361408"/>
                <a:gd name="connsiteX373" fmla="*/ 397257 w 7020657"/>
                <a:gd name="connsiteY373" fmla="*/ 2597738 h 3361408"/>
                <a:gd name="connsiteX374" fmla="*/ 404179 w 7020657"/>
                <a:gd name="connsiteY374" fmla="*/ 2597585 h 3361408"/>
                <a:gd name="connsiteX375" fmla="*/ 427011 w 7020657"/>
                <a:gd name="connsiteY375" fmla="*/ 2596386 h 3361408"/>
                <a:gd name="connsiteX376" fmla="*/ 434965 w 7020657"/>
                <a:gd name="connsiteY376" fmla="*/ 2595864 h 3361408"/>
                <a:gd name="connsiteX377" fmla="*/ 456028 w 7020657"/>
                <a:gd name="connsiteY377" fmla="*/ 2592973 h 3361408"/>
                <a:gd name="connsiteX378" fmla="*/ 466044 w 7020657"/>
                <a:gd name="connsiteY378" fmla="*/ 2591710 h 3361408"/>
                <a:gd name="connsiteX379" fmla="*/ 484674 w 7020657"/>
                <a:gd name="connsiteY379" fmla="*/ 2588526 h 3361408"/>
                <a:gd name="connsiteX380" fmla="*/ 497783 w 7020657"/>
                <a:gd name="connsiteY380" fmla="*/ 2586158 h 3361408"/>
                <a:gd name="connsiteX381" fmla="*/ 512953 w 7020657"/>
                <a:gd name="connsiteY381" fmla="*/ 2583051 h 3361408"/>
                <a:gd name="connsiteX382" fmla="*/ 528784 w 7020657"/>
                <a:gd name="connsiteY382" fmla="*/ 2578544 h 3361408"/>
                <a:gd name="connsiteX383" fmla="*/ 540493 w 7020657"/>
                <a:gd name="connsiteY383" fmla="*/ 2575514 h 3361408"/>
                <a:gd name="connsiteX384" fmla="*/ 559416 w 7020657"/>
                <a:gd name="connsiteY384" fmla="*/ 2569900 h 3361408"/>
                <a:gd name="connsiteX385" fmla="*/ 568694 w 7020657"/>
                <a:gd name="connsiteY385" fmla="*/ 2566577 h 3361408"/>
                <a:gd name="connsiteX386" fmla="*/ 589311 w 7020657"/>
                <a:gd name="connsiteY386" fmla="*/ 2559193 h 3361408"/>
                <a:gd name="connsiteX387" fmla="*/ 596526 w 7020657"/>
                <a:gd name="connsiteY387" fmla="*/ 2556609 h 3361408"/>
                <a:gd name="connsiteX388" fmla="*/ 618835 w 7020657"/>
                <a:gd name="connsiteY388" fmla="*/ 2547456 h 3361408"/>
                <a:gd name="connsiteX389" fmla="*/ 623990 w 7020657"/>
                <a:gd name="connsiteY389" fmla="*/ 2545610 h 3361408"/>
                <a:gd name="connsiteX390" fmla="*/ 645927 w 7020657"/>
                <a:gd name="connsiteY390" fmla="*/ 2535425 h 3361408"/>
                <a:gd name="connsiteX391" fmla="*/ 650715 w 7020657"/>
                <a:gd name="connsiteY391" fmla="*/ 2532550 h 3361408"/>
                <a:gd name="connsiteX392" fmla="*/ 671254 w 7020657"/>
                <a:gd name="connsiteY392" fmla="*/ 2521703 h 3361408"/>
                <a:gd name="connsiteX393" fmla="*/ 677070 w 7020657"/>
                <a:gd name="connsiteY393" fmla="*/ 2518458 h 3361408"/>
                <a:gd name="connsiteX394" fmla="*/ 696211 w 7020657"/>
                <a:gd name="connsiteY394" fmla="*/ 2506950 h 3361408"/>
                <a:gd name="connsiteX395" fmla="*/ 702686 w 7020657"/>
                <a:gd name="connsiteY395" fmla="*/ 2502305 h 3361408"/>
                <a:gd name="connsiteX396" fmla="*/ 718734 w 7020657"/>
                <a:gd name="connsiteY396" fmla="*/ 2491905 h 3361408"/>
                <a:gd name="connsiteX397" fmla="*/ 727934 w 7020657"/>
                <a:gd name="connsiteY397" fmla="*/ 2485121 h 3361408"/>
                <a:gd name="connsiteX398" fmla="*/ 741550 w 7020657"/>
                <a:gd name="connsiteY398" fmla="*/ 2474429 h 3361408"/>
                <a:gd name="connsiteX399" fmla="*/ 752444 w 7020657"/>
                <a:gd name="connsiteY399" fmla="*/ 2465875 h 3361408"/>
                <a:gd name="connsiteX400" fmla="*/ 763336 w 7020657"/>
                <a:gd name="connsiteY400" fmla="*/ 2457321 h 3361408"/>
                <a:gd name="connsiteX401" fmla="*/ 776953 w 7020657"/>
                <a:gd name="connsiteY401" fmla="*/ 2446629 h 3361408"/>
                <a:gd name="connsiteX402" fmla="*/ 784754 w 7020657"/>
                <a:gd name="connsiteY402" fmla="*/ 2439184 h 3361408"/>
                <a:gd name="connsiteX403" fmla="*/ 799693 w 7020657"/>
                <a:gd name="connsiteY403" fmla="*/ 2425690 h 3361408"/>
                <a:gd name="connsiteX404" fmla="*/ 805801 w 7020657"/>
                <a:gd name="connsiteY404" fmla="*/ 2420015 h 3361408"/>
                <a:gd name="connsiteX405" fmla="*/ 821034 w 7020657"/>
                <a:gd name="connsiteY405" fmla="*/ 2404092 h 3361408"/>
                <a:gd name="connsiteX406" fmla="*/ 826111 w 7020657"/>
                <a:gd name="connsiteY406" fmla="*/ 2398784 h 3361408"/>
                <a:gd name="connsiteX407" fmla="*/ 841636 w 7020657"/>
                <a:gd name="connsiteY407" fmla="*/ 2380430 h 3361408"/>
                <a:gd name="connsiteX408" fmla="*/ 845683 w 7020657"/>
                <a:gd name="connsiteY408" fmla="*/ 2375492 h 3361408"/>
                <a:gd name="connsiteX409" fmla="*/ 860838 w 7020657"/>
                <a:gd name="connsiteY409" fmla="*/ 2356107 h 3361408"/>
                <a:gd name="connsiteX410" fmla="*/ 865545 w 7020657"/>
                <a:gd name="connsiteY410" fmla="*/ 2349769 h 3361408"/>
                <a:gd name="connsiteX411" fmla="*/ 878639 w 7020657"/>
                <a:gd name="connsiteY411" fmla="*/ 2331123 h 3361408"/>
                <a:gd name="connsiteX412" fmla="*/ 880332 w 7020657"/>
                <a:gd name="connsiteY412" fmla="*/ 2329353 h 3361408"/>
                <a:gd name="connsiteX413" fmla="*/ 885702 w 7020657"/>
                <a:gd name="connsiteY413" fmla="*/ 2321615 h 3361408"/>
                <a:gd name="connsiteX414" fmla="*/ 895410 w 7020657"/>
                <a:gd name="connsiteY414" fmla="*/ 2306507 h 3361408"/>
                <a:gd name="connsiteX415" fmla="*/ 904088 w 7020657"/>
                <a:gd name="connsiteY415" fmla="*/ 2291769 h 3361408"/>
                <a:gd name="connsiteX416" fmla="*/ 909089 w 7020657"/>
                <a:gd name="connsiteY416" fmla="*/ 2283000 h 3361408"/>
                <a:gd name="connsiteX417" fmla="*/ 910413 w 7020657"/>
                <a:gd name="connsiteY417" fmla="*/ 2280199 h 3361408"/>
                <a:gd name="connsiteX418" fmla="*/ 915043 w 7020657"/>
                <a:gd name="connsiteY418" fmla="*/ 2270399 h 3361408"/>
                <a:gd name="connsiteX419" fmla="*/ 922690 w 7020657"/>
                <a:gd name="connsiteY419" fmla="*/ 2256030 h 3361408"/>
                <a:gd name="connsiteX420" fmla="*/ 924451 w 7020657"/>
                <a:gd name="connsiteY420" fmla="*/ 2252307 h 3361408"/>
                <a:gd name="connsiteX421" fmla="*/ 922156 w 7020657"/>
                <a:gd name="connsiteY421" fmla="*/ 2280601 h 3361408"/>
                <a:gd name="connsiteX422" fmla="*/ 922156 w 7020657"/>
                <a:gd name="connsiteY422" fmla="*/ 3257296 h 3361408"/>
                <a:gd name="connsiteX423" fmla="*/ 842831 w 7020657"/>
                <a:gd name="connsiteY423" fmla="*/ 3351492 h 3361408"/>
                <a:gd name="connsiteX424" fmla="*/ 520575 w 7020657"/>
                <a:gd name="connsiteY424" fmla="*/ 3351492 h 3361408"/>
                <a:gd name="connsiteX425" fmla="*/ 352009 w 7020657"/>
                <a:gd name="connsiteY425" fmla="*/ 3331661 h 3361408"/>
                <a:gd name="connsiteX426" fmla="*/ 143780 w 7020657"/>
                <a:gd name="connsiteY426" fmla="*/ 3217634 h 3361408"/>
                <a:gd name="connsiteX427" fmla="*/ 138819 w 7020657"/>
                <a:gd name="connsiteY427" fmla="*/ 3212673 h 3361408"/>
                <a:gd name="connsiteX428" fmla="*/ 109072 w 7020657"/>
                <a:gd name="connsiteY428" fmla="*/ 3177971 h 3361408"/>
                <a:gd name="connsiteX429" fmla="*/ 94202 w 7020657"/>
                <a:gd name="connsiteY429" fmla="*/ 3168055 h 3361408"/>
                <a:gd name="connsiteX430" fmla="*/ 79325 w 7020657"/>
                <a:gd name="connsiteY430" fmla="*/ 3148224 h 3361408"/>
                <a:gd name="connsiteX431" fmla="*/ 69410 w 7020657"/>
                <a:gd name="connsiteY431" fmla="*/ 3128393 h 3361408"/>
                <a:gd name="connsiteX432" fmla="*/ 59494 w 7020657"/>
                <a:gd name="connsiteY432" fmla="*/ 3108561 h 3361408"/>
                <a:gd name="connsiteX433" fmla="*/ 49578 w 7020657"/>
                <a:gd name="connsiteY433" fmla="*/ 3083770 h 3361408"/>
                <a:gd name="connsiteX434" fmla="*/ 44623 w 7020657"/>
                <a:gd name="connsiteY434" fmla="*/ 3068899 h 3361408"/>
                <a:gd name="connsiteX435" fmla="*/ 4961 w 7020657"/>
                <a:gd name="connsiteY435" fmla="*/ 2910248 h 3361408"/>
                <a:gd name="connsiteX436" fmla="*/ 0 w 7020657"/>
                <a:gd name="connsiteY436" fmla="*/ 2835878 h 3361408"/>
                <a:gd name="connsiteX437" fmla="*/ 0 w 7020657"/>
                <a:gd name="connsiteY437" fmla="*/ 1412984 h 3361408"/>
                <a:gd name="connsiteX438" fmla="*/ 0 w 7020657"/>
                <a:gd name="connsiteY438" fmla="*/ 94201 h 3361408"/>
                <a:gd name="connsiteX439" fmla="*/ 14876 w 7020657"/>
                <a:gd name="connsiteY439" fmla="*/ 34707 h 3361408"/>
                <a:gd name="connsiteX440" fmla="*/ 74370 w 7020657"/>
                <a:gd name="connsiteY440" fmla="*/ 0 h 336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Lst>
              <a:rect l="l" t="t" r="r" b="b"/>
              <a:pathLst>
                <a:path w="7020657" h="3361408">
                  <a:moveTo>
                    <a:pt x="3648463" y="3109363"/>
                  </a:moveTo>
                  <a:lnTo>
                    <a:pt x="3515103" y="3123432"/>
                  </a:lnTo>
                  <a:lnTo>
                    <a:pt x="3461505" y="3118516"/>
                  </a:lnTo>
                  <a:lnTo>
                    <a:pt x="3515104" y="3123432"/>
                  </a:lnTo>
                  <a:close/>
                  <a:moveTo>
                    <a:pt x="6124147" y="3002705"/>
                  </a:moveTo>
                  <a:lnTo>
                    <a:pt x="6188923" y="3072335"/>
                  </a:lnTo>
                  <a:cubicBezTo>
                    <a:pt x="6379123" y="3253447"/>
                    <a:pt x="6644403" y="3352683"/>
                    <a:pt x="6926203" y="3324010"/>
                  </a:cubicBezTo>
                  <a:lnTo>
                    <a:pt x="7014988" y="3310279"/>
                  </a:lnTo>
                  <a:lnTo>
                    <a:pt x="7001075" y="3338479"/>
                  </a:lnTo>
                  <a:cubicBezTo>
                    <a:pt x="6988061" y="3353972"/>
                    <a:pt x="6968229" y="3361408"/>
                    <a:pt x="6940960" y="3361408"/>
                  </a:cubicBezTo>
                  <a:lnTo>
                    <a:pt x="6618704" y="3361408"/>
                  </a:lnTo>
                  <a:cubicBezTo>
                    <a:pt x="6534418" y="3361408"/>
                    <a:pt x="6460054" y="3346537"/>
                    <a:pt x="6395599" y="3321745"/>
                  </a:cubicBezTo>
                  <a:cubicBezTo>
                    <a:pt x="6341066" y="3301914"/>
                    <a:pt x="6291487" y="3267212"/>
                    <a:pt x="6246864" y="3227549"/>
                  </a:cubicBezTo>
                  <a:cubicBezTo>
                    <a:pt x="6246864" y="3227549"/>
                    <a:pt x="6241909" y="3222589"/>
                    <a:pt x="6241909" y="3222589"/>
                  </a:cubicBezTo>
                  <a:cubicBezTo>
                    <a:pt x="6227033" y="3207718"/>
                    <a:pt x="6217117" y="3197802"/>
                    <a:pt x="6207202" y="3182926"/>
                  </a:cubicBezTo>
                  <a:cubicBezTo>
                    <a:pt x="6207202" y="3182926"/>
                    <a:pt x="6202247" y="3177971"/>
                    <a:pt x="6202247" y="3177971"/>
                  </a:cubicBezTo>
                  <a:cubicBezTo>
                    <a:pt x="6192331" y="3163095"/>
                    <a:pt x="6187370" y="3153179"/>
                    <a:pt x="6177455" y="3138308"/>
                  </a:cubicBezTo>
                  <a:cubicBezTo>
                    <a:pt x="6177455" y="3138308"/>
                    <a:pt x="6177455" y="3133348"/>
                    <a:pt x="6177455" y="3133348"/>
                  </a:cubicBezTo>
                  <a:cubicBezTo>
                    <a:pt x="6167539" y="3118477"/>
                    <a:pt x="6157623" y="3103601"/>
                    <a:pt x="6152668" y="3088730"/>
                  </a:cubicBezTo>
                  <a:cubicBezTo>
                    <a:pt x="6142753" y="3073854"/>
                    <a:pt x="6137792" y="3058983"/>
                    <a:pt x="6132837" y="3039152"/>
                  </a:cubicBezTo>
                  <a:close/>
                  <a:moveTo>
                    <a:pt x="2420514" y="2406699"/>
                  </a:moveTo>
                  <a:lnTo>
                    <a:pt x="2498747" y="2478915"/>
                  </a:lnTo>
                  <a:lnTo>
                    <a:pt x="2718247" y="2677312"/>
                  </a:lnTo>
                  <a:lnTo>
                    <a:pt x="2498746" y="2478915"/>
                  </a:lnTo>
                  <a:close/>
                  <a:moveTo>
                    <a:pt x="6103088" y="2290496"/>
                  </a:moveTo>
                  <a:lnTo>
                    <a:pt x="6103091" y="2290517"/>
                  </a:lnTo>
                  <a:lnTo>
                    <a:pt x="6103091" y="2840839"/>
                  </a:lnTo>
                  <a:lnTo>
                    <a:pt x="6108825" y="2921614"/>
                  </a:lnTo>
                  <a:lnTo>
                    <a:pt x="6103090" y="2840839"/>
                  </a:lnTo>
                  <a:lnTo>
                    <a:pt x="6103090" y="2290517"/>
                  </a:lnTo>
                  <a:close/>
                  <a:moveTo>
                    <a:pt x="6077936" y="2122601"/>
                  </a:moveTo>
                  <a:lnTo>
                    <a:pt x="6084265" y="2137048"/>
                  </a:lnTo>
                  <a:lnTo>
                    <a:pt x="6086340" y="2153961"/>
                  </a:lnTo>
                  <a:close/>
                  <a:moveTo>
                    <a:pt x="5051393" y="2021321"/>
                  </a:moveTo>
                  <a:lnTo>
                    <a:pt x="5027239" y="2037670"/>
                  </a:lnTo>
                  <a:cubicBezTo>
                    <a:pt x="4987576" y="2069895"/>
                    <a:pt x="4946674" y="2102121"/>
                    <a:pt x="4906392" y="2135586"/>
                  </a:cubicBezTo>
                  <a:lnTo>
                    <a:pt x="4877518" y="2161557"/>
                  </a:lnTo>
                  <a:lnTo>
                    <a:pt x="4906392" y="2135586"/>
                  </a:lnTo>
                  <a:cubicBezTo>
                    <a:pt x="4946674" y="2102121"/>
                    <a:pt x="4987576" y="2069895"/>
                    <a:pt x="5027239" y="2037670"/>
                  </a:cubicBezTo>
                  <a:close/>
                  <a:moveTo>
                    <a:pt x="1696129" y="1848090"/>
                  </a:moveTo>
                  <a:lnTo>
                    <a:pt x="1710455" y="1854229"/>
                  </a:lnTo>
                  <a:cubicBezTo>
                    <a:pt x="1725325" y="1859188"/>
                    <a:pt x="1740201" y="1869104"/>
                    <a:pt x="1755072" y="1879020"/>
                  </a:cubicBezTo>
                  <a:cubicBezTo>
                    <a:pt x="1839358" y="1918683"/>
                    <a:pt x="1918683" y="1973216"/>
                    <a:pt x="1998008" y="2032710"/>
                  </a:cubicBezTo>
                  <a:cubicBezTo>
                    <a:pt x="2092205" y="2102120"/>
                    <a:pt x="2176491" y="2176489"/>
                    <a:pt x="2260771" y="2260770"/>
                  </a:cubicBezTo>
                  <a:cubicBezTo>
                    <a:pt x="2260771" y="2260770"/>
                    <a:pt x="2260771" y="2260770"/>
                    <a:pt x="2265731" y="2265730"/>
                  </a:cubicBezTo>
                  <a:lnTo>
                    <a:pt x="2290250" y="2287183"/>
                  </a:lnTo>
                  <a:lnTo>
                    <a:pt x="2265731" y="2265731"/>
                  </a:lnTo>
                  <a:cubicBezTo>
                    <a:pt x="2260770" y="2260770"/>
                    <a:pt x="2260770" y="2260770"/>
                    <a:pt x="2260770" y="2260770"/>
                  </a:cubicBezTo>
                  <a:cubicBezTo>
                    <a:pt x="2176490" y="2176490"/>
                    <a:pt x="2092204" y="2102120"/>
                    <a:pt x="1998008" y="2032710"/>
                  </a:cubicBezTo>
                  <a:cubicBezTo>
                    <a:pt x="1918682" y="1973216"/>
                    <a:pt x="1839357" y="1918683"/>
                    <a:pt x="1755072" y="1879020"/>
                  </a:cubicBezTo>
                  <a:cubicBezTo>
                    <a:pt x="1740201" y="1869104"/>
                    <a:pt x="1725325" y="1859189"/>
                    <a:pt x="1710454" y="1854228"/>
                  </a:cubicBezTo>
                  <a:close/>
                  <a:moveTo>
                    <a:pt x="1636233" y="1215543"/>
                  </a:moveTo>
                  <a:cubicBezTo>
                    <a:pt x="1710633" y="1217627"/>
                    <a:pt x="1782715" y="1255706"/>
                    <a:pt x="1826029" y="1323060"/>
                  </a:cubicBezTo>
                  <a:lnTo>
                    <a:pt x="1826767" y="1325120"/>
                  </a:lnTo>
                  <a:cubicBezTo>
                    <a:pt x="1874487" y="1399912"/>
                    <a:pt x="1864482" y="1495376"/>
                    <a:pt x="1809078" y="1558251"/>
                  </a:cubicBezTo>
                  <a:cubicBezTo>
                    <a:pt x="1807385" y="1560020"/>
                    <a:pt x="1805693" y="1561790"/>
                    <a:pt x="1805031" y="1563190"/>
                  </a:cubicBezTo>
                  <a:cubicBezTo>
                    <a:pt x="1748595" y="1626435"/>
                    <a:pt x="1703068" y="1697405"/>
                    <a:pt x="1670800" y="1772929"/>
                  </a:cubicBezTo>
                  <a:lnTo>
                    <a:pt x="1649589" y="1831521"/>
                  </a:lnTo>
                  <a:lnTo>
                    <a:pt x="1671500" y="1838085"/>
                  </a:lnTo>
                  <a:lnTo>
                    <a:pt x="1541265" y="1799073"/>
                  </a:lnTo>
                  <a:cubicBezTo>
                    <a:pt x="1496026" y="1789776"/>
                    <a:pt x="1450166" y="1784819"/>
                    <a:pt x="1403068" y="1784819"/>
                  </a:cubicBezTo>
                  <a:cubicBezTo>
                    <a:pt x="1259289" y="1784819"/>
                    <a:pt x="1145261" y="1829442"/>
                    <a:pt x="1056020" y="1923638"/>
                  </a:cubicBezTo>
                  <a:cubicBezTo>
                    <a:pt x="1033710" y="1947188"/>
                    <a:pt x="1014188" y="1972288"/>
                    <a:pt x="997456" y="1998936"/>
                  </a:cubicBezTo>
                  <a:lnTo>
                    <a:pt x="983451" y="2027256"/>
                  </a:lnTo>
                  <a:lnTo>
                    <a:pt x="984565" y="2016380"/>
                  </a:lnTo>
                  <a:cubicBezTo>
                    <a:pt x="984196" y="2015349"/>
                    <a:pt x="984858" y="2013948"/>
                    <a:pt x="984488" y="2012918"/>
                  </a:cubicBezTo>
                  <a:cubicBezTo>
                    <a:pt x="985798" y="1993840"/>
                    <a:pt x="985045" y="1975502"/>
                    <a:pt x="984291" y="1957162"/>
                  </a:cubicBezTo>
                  <a:cubicBezTo>
                    <a:pt x="983922" y="1956131"/>
                    <a:pt x="984584" y="1954732"/>
                    <a:pt x="984216" y="1953700"/>
                  </a:cubicBezTo>
                  <a:cubicBezTo>
                    <a:pt x="983324" y="1944715"/>
                    <a:pt x="983462" y="1935362"/>
                    <a:pt x="982570" y="1926376"/>
                  </a:cubicBezTo>
                  <a:cubicBezTo>
                    <a:pt x="982570" y="1926376"/>
                    <a:pt x="982201" y="1925345"/>
                    <a:pt x="982201" y="1925345"/>
                  </a:cubicBezTo>
                  <a:cubicBezTo>
                    <a:pt x="981309" y="1916360"/>
                    <a:pt x="980417" y="1907375"/>
                    <a:pt x="979525" y="1898390"/>
                  </a:cubicBezTo>
                  <a:cubicBezTo>
                    <a:pt x="978788" y="1896329"/>
                    <a:pt x="979449" y="1894929"/>
                    <a:pt x="978710" y="1892867"/>
                  </a:cubicBezTo>
                  <a:cubicBezTo>
                    <a:pt x="977157" y="1885282"/>
                    <a:pt x="977003" y="1878359"/>
                    <a:pt x="975450" y="1870775"/>
                  </a:cubicBezTo>
                  <a:cubicBezTo>
                    <a:pt x="974712" y="1868712"/>
                    <a:pt x="975373" y="1867312"/>
                    <a:pt x="974635" y="1865251"/>
                  </a:cubicBezTo>
                  <a:cubicBezTo>
                    <a:pt x="972712" y="1856635"/>
                    <a:pt x="971158" y="1849050"/>
                    <a:pt x="969235" y="1840435"/>
                  </a:cubicBezTo>
                  <a:cubicBezTo>
                    <a:pt x="968127" y="1837341"/>
                    <a:pt x="968420" y="1834911"/>
                    <a:pt x="967314" y="1831819"/>
                  </a:cubicBezTo>
                  <a:cubicBezTo>
                    <a:pt x="966498" y="1826295"/>
                    <a:pt x="964283" y="1820110"/>
                    <a:pt x="962437" y="1814955"/>
                  </a:cubicBezTo>
                  <a:cubicBezTo>
                    <a:pt x="961330" y="1811863"/>
                    <a:pt x="960222" y="1808772"/>
                    <a:pt x="960145" y="1805309"/>
                  </a:cubicBezTo>
                  <a:cubicBezTo>
                    <a:pt x="957561" y="1798094"/>
                    <a:pt x="956006" y="1790508"/>
                    <a:pt x="953422" y="1783293"/>
                  </a:cubicBezTo>
                  <a:cubicBezTo>
                    <a:pt x="951946" y="1779170"/>
                    <a:pt x="950838" y="1776077"/>
                    <a:pt x="949362" y="1771955"/>
                  </a:cubicBezTo>
                  <a:cubicBezTo>
                    <a:pt x="947885" y="1767831"/>
                    <a:pt x="946408" y="1763707"/>
                    <a:pt x="944931" y="1759584"/>
                  </a:cubicBezTo>
                  <a:cubicBezTo>
                    <a:pt x="943454" y="1755461"/>
                    <a:pt x="941977" y="1751337"/>
                    <a:pt x="940500" y="1747214"/>
                  </a:cubicBezTo>
                  <a:cubicBezTo>
                    <a:pt x="938286" y="1741029"/>
                    <a:pt x="934671" y="1734184"/>
                    <a:pt x="932455" y="1727998"/>
                  </a:cubicBezTo>
                  <a:cubicBezTo>
                    <a:pt x="930978" y="1723875"/>
                    <a:pt x="928102" y="1719089"/>
                    <a:pt x="926626" y="1714967"/>
                  </a:cubicBezTo>
                  <a:cubicBezTo>
                    <a:pt x="925148" y="1710843"/>
                    <a:pt x="923011" y="1708120"/>
                    <a:pt x="921533" y="1703997"/>
                  </a:cubicBezTo>
                  <a:cubicBezTo>
                    <a:pt x="919025" y="1700243"/>
                    <a:pt x="917550" y="1696119"/>
                    <a:pt x="914673" y="1691335"/>
                  </a:cubicBezTo>
                  <a:cubicBezTo>
                    <a:pt x="911797" y="1686550"/>
                    <a:pt x="910319" y="1682426"/>
                    <a:pt x="907442" y="1677641"/>
                  </a:cubicBezTo>
                  <a:cubicBezTo>
                    <a:pt x="904195" y="1671826"/>
                    <a:pt x="901318" y="1667040"/>
                    <a:pt x="898073" y="1661225"/>
                  </a:cubicBezTo>
                  <a:cubicBezTo>
                    <a:pt x="897335" y="1659163"/>
                    <a:pt x="895196" y="1656440"/>
                    <a:pt x="894458" y="1654378"/>
                  </a:cubicBezTo>
                  <a:cubicBezTo>
                    <a:pt x="894089" y="1653348"/>
                    <a:pt x="892689" y="1652685"/>
                    <a:pt x="892319" y="1651655"/>
                  </a:cubicBezTo>
                  <a:cubicBezTo>
                    <a:pt x="887673" y="1645178"/>
                    <a:pt x="883689" y="1637300"/>
                    <a:pt x="879043" y="1630823"/>
                  </a:cubicBezTo>
                  <a:cubicBezTo>
                    <a:pt x="877274" y="1629130"/>
                    <a:pt x="876166" y="1626038"/>
                    <a:pt x="874396" y="1624347"/>
                  </a:cubicBezTo>
                  <a:cubicBezTo>
                    <a:pt x="869752" y="1617868"/>
                    <a:pt x="864736" y="1610360"/>
                    <a:pt x="859059" y="1604251"/>
                  </a:cubicBezTo>
                  <a:cubicBezTo>
                    <a:pt x="857289" y="1602560"/>
                    <a:pt x="856183" y="1599467"/>
                    <a:pt x="854413" y="1597775"/>
                  </a:cubicBezTo>
                  <a:cubicBezTo>
                    <a:pt x="849767" y="1591298"/>
                    <a:pt x="843722" y="1584157"/>
                    <a:pt x="838044" y="1578050"/>
                  </a:cubicBezTo>
                  <a:cubicBezTo>
                    <a:pt x="836276" y="1576357"/>
                    <a:pt x="834507" y="1574665"/>
                    <a:pt x="833767" y="1572603"/>
                  </a:cubicBezTo>
                  <a:cubicBezTo>
                    <a:pt x="827352" y="1564434"/>
                    <a:pt x="820276" y="1557663"/>
                    <a:pt x="813199" y="1550894"/>
                  </a:cubicBezTo>
                  <a:cubicBezTo>
                    <a:pt x="812829" y="1549863"/>
                    <a:pt x="811800" y="1550232"/>
                    <a:pt x="811430" y="1549201"/>
                  </a:cubicBezTo>
                  <a:cubicBezTo>
                    <a:pt x="808260" y="1546847"/>
                    <a:pt x="806122" y="1544125"/>
                    <a:pt x="803614" y="1540370"/>
                  </a:cubicBezTo>
                  <a:cubicBezTo>
                    <a:pt x="759600" y="1492166"/>
                    <a:pt x="749003" y="1420364"/>
                    <a:pt x="781945" y="1359717"/>
                  </a:cubicBezTo>
                  <a:lnTo>
                    <a:pt x="783269" y="1356917"/>
                  </a:lnTo>
                  <a:cubicBezTo>
                    <a:pt x="834890" y="1263993"/>
                    <a:pt x="941281" y="1220073"/>
                    <a:pt x="1040514" y="1243849"/>
                  </a:cubicBezTo>
                  <a:cubicBezTo>
                    <a:pt x="1042944" y="1244142"/>
                    <a:pt x="1044345" y="1244803"/>
                    <a:pt x="1046776" y="1245095"/>
                  </a:cubicBezTo>
                  <a:cubicBezTo>
                    <a:pt x="1048175" y="1245758"/>
                    <a:pt x="1049206" y="1245389"/>
                    <a:pt x="1050606" y="1246050"/>
                  </a:cubicBezTo>
                  <a:cubicBezTo>
                    <a:pt x="1060699" y="1248251"/>
                    <a:pt x="1069761" y="1250819"/>
                    <a:pt x="1079853" y="1253020"/>
                  </a:cubicBezTo>
                  <a:cubicBezTo>
                    <a:pt x="1082283" y="1253313"/>
                    <a:pt x="1083684" y="1253975"/>
                    <a:pt x="1086115" y="1254268"/>
                  </a:cubicBezTo>
                  <a:cubicBezTo>
                    <a:pt x="1097239" y="1256100"/>
                    <a:pt x="1108731" y="1258960"/>
                    <a:pt x="1119855" y="1260792"/>
                  </a:cubicBezTo>
                  <a:cubicBezTo>
                    <a:pt x="1122285" y="1261085"/>
                    <a:pt x="1124716" y="1261378"/>
                    <a:pt x="1127147" y="1261669"/>
                  </a:cubicBezTo>
                  <a:cubicBezTo>
                    <a:pt x="1136869" y="1262838"/>
                    <a:pt x="1145564" y="1264378"/>
                    <a:pt x="1155286" y="1265548"/>
                  </a:cubicBezTo>
                  <a:cubicBezTo>
                    <a:pt x="1157717" y="1265840"/>
                    <a:pt x="1160147" y="1266133"/>
                    <a:pt x="1162578" y="1266425"/>
                  </a:cubicBezTo>
                  <a:cubicBezTo>
                    <a:pt x="1193149" y="1270596"/>
                    <a:pt x="1225043" y="1271968"/>
                    <a:pt x="1255534" y="1272676"/>
                  </a:cubicBezTo>
                  <a:cubicBezTo>
                    <a:pt x="1261427" y="1272892"/>
                    <a:pt x="1266951" y="1272077"/>
                    <a:pt x="1271813" y="1272661"/>
                  </a:cubicBezTo>
                  <a:cubicBezTo>
                    <a:pt x="1271813" y="1272661"/>
                    <a:pt x="1271813" y="1272661"/>
                    <a:pt x="1272844" y="1272292"/>
                  </a:cubicBezTo>
                  <a:cubicBezTo>
                    <a:pt x="1368078" y="1271913"/>
                    <a:pt x="1463005" y="1257687"/>
                    <a:pt x="1555856" y="1227921"/>
                  </a:cubicBezTo>
                  <a:cubicBezTo>
                    <a:pt x="1557916" y="1227182"/>
                    <a:pt x="1559979" y="1226443"/>
                    <a:pt x="1562039" y="1225705"/>
                  </a:cubicBezTo>
                  <a:cubicBezTo>
                    <a:pt x="1586375" y="1218152"/>
                    <a:pt x="1611433" y="1214848"/>
                    <a:pt x="1636233" y="1215543"/>
                  </a:cubicBezTo>
                  <a:close/>
                  <a:moveTo>
                    <a:pt x="1247143" y="176445"/>
                  </a:moveTo>
                  <a:lnTo>
                    <a:pt x="1308867" y="228060"/>
                  </a:lnTo>
                  <a:lnTo>
                    <a:pt x="1308867" y="228061"/>
                  </a:lnTo>
                  <a:close/>
                  <a:moveTo>
                    <a:pt x="5961847" y="21044"/>
                  </a:moveTo>
                  <a:lnTo>
                    <a:pt x="5954357" y="24792"/>
                  </a:lnTo>
                  <a:cubicBezTo>
                    <a:pt x="5944441" y="29750"/>
                    <a:pt x="5933285" y="38426"/>
                    <a:pt x="5920889" y="49580"/>
                  </a:cubicBezTo>
                  <a:lnTo>
                    <a:pt x="5887672" y="81788"/>
                  </a:lnTo>
                  <a:lnTo>
                    <a:pt x="5920889" y="49580"/>
                  </a:lnTo>
                  <a:cubicBezTo>
                    <a:pt x="5933284" y="38425"/>
                    <a:pt x="5944440" y="29750"/>
                    <a:pt x="5954355" y="24792"/>
                  </a:cubicBezTo>
                  <a:close/>
                  <a:moveTo>
                    <a:pt x="6038636" y="4960"/>
                  </a:moveTo>
                  <a:lnTo>
                    <a:pt x="6509632" y="4960"/>
                  </a:lnTo>
                  <a:cubicBezTo>
                    <a:pt x="6519548" y="4960"/>
                    <a:pt x="6529463" y="4960"/>
                    <a:pt x="6539379" y="4960"/>
                  </a:cubicBezTo>
                  <a:cubicBezTo>
                    <a:pt x="6549295" y="4960"/>
                    <a:pt x="6559210" y="4960"/>
                    <a:pt x="6569126" y="4960"/>
                  </a:cubicBezTo>
                  <a:cubicBezTo>
                    <a:pt x="6579042" y="4960"/>
                    <a:pt x="6593912" y="9916"/>
                    <a:pt x="6608789" y="9916"/>
                  </a:cubicBezTo>
                  <a:cubicBezTo>
                    <a:pt x="6613744" y="9916"/>
                    <a:pt x="6618704" y="9916"/>
                    <a:pt x="6623659" y="9916"/>
                  </a:cubicBezTo>
                  <a:cubicBezTo>
                    <a:pt x="6638535" y="14876"/>
                    <a:pt x="6653406" y="14876"/>
                    <a:pt x="6668282" y="19831"/>
                  </a:cubicBezTo>
                  <a:cubicBezTo>
                    <a:pt x="6668282" y="19831"/>
                    <a:pt x="6673238" y="19831"/>
                    <a:pt x="6673238" y="19831"/>
                  </a:cubicBezTo>
                  <a:cubicBezTo>
                    <a:pt x="6693069" y="24792"/>
                    <a:pt x="6707945" y="29747"/>
                    <a:pt x="6722816" y="34707"/>
                  </a:cubicBezTo>
                  <a:cubicBezTo>
                    <a:pt x="6787270" y="54539"/>
                    <a:pt x="6841804" y="89241"/>
                    <a:pt x="6886427" y="133864"/>
                  </a:cubicBezTo>
                  <a:cubicBezTo>
                    <a:pt x="6886427" y="133864"/>
                    <a:pt x="6886427" y="133864"/>
                    <a:pt x="6891382" y="138819"/>
                  </a:cubicBezTo>
                  <a:cubicBezTo>
                    <a:pt x="6980623" y="228060"/>
                    <a:pt x="7025246" y="356964"/>
                    <a:pt x="7020285" y="520575"/>
                  </a:cubicBezTo>
                  <a:lnTo>
                    <a:pt x="7020285" y="1298951"/>
                  </a:lnTo>
                  <a:lnTo>
                    <a:pt x="7020285" y="1484144"/>
                  </a:lnTo>
                  <a:lnTo>
                    <a:pt x="7004863" y="1480480"/>
                  </a:lnTo>
                  <a:cubicBezTo>
                    <a:pt x="6948557" y="1469836"/>
                    <a:pt x="6890637" y="1464333"/>
                    <a:pt x="6831667" y="1464430"/>
                  </a:cubicBezTo>
                  <a:cubicBezTo>
                    <a:pt x="6800217" y="1464481"/>
                    <a:pt x="6768467" y="1466126"/>
                    <a:pt x="6736505" y="1469431"/>
                  </a:cubicBezTo>
                  <a:cubicBezTo>
                    <a:pt x="6414445" y="1502203"/>
                    <a:pt x="6147549" y="1695488"/>
                    <a:pt x="6006963" y="1962167"/>
                  </a:cubicBezTo>
                  <a:lnTo>
                    <a:pt x="6001579" y="1974765"/>
                  </a:lnTo>
                  <a:lnTo>
                    <a:pt x="6016471" y="1993735"/>
                  </a:lnTo>
                  <a:lnTo>
                    <a:pt x="5969226" y="1933553"/>
                  </a:lnTo>
                  <a:cubicBezTo>
                    <a:pt x="5875030" y="1839357"/>
                    <a:pt x="5760997" y="1794734"/>
                    <a:pt x="5622178" y="1794734"/>
                  </a:cubicBezTo>
                  <a:cubicBezTo>
                    <a:pt x="5518066" y="1794734"/>
                    <a:pt x="5413949" y="1819526"/>
                    <a:pt x="5314793" y="1864144"/>
                  </a:cubicBezTo>
                  <a:lnTo>
                    <a:pt x="5194518" y="1928122"/>
                  </a:lnTo>
                  <a:lnTo>
                    <a:pt x="5200293" y="1925050"/>
                  </a:lnTo>
                  <a:lnTo>
                    <a:pt x="5166606" y="1885296"/>
                  </a:lnTo>
                  <a:cubicBezTo>
                    <a:pt x="5128079" y="1846322"/>
                    <a:pt x="5086671" y="1810268"/>
                    <a:pt x="5042817" y="1777127"/>
                  </a:cubicBezTo>
                  <a:cubicBezTo>
                    <a:pt x="5041417" y="1776466"/>
                    <a:pt x="5040019" y="1775804"/>
                    <a:pt x="5039651" y="1774773"/>
                  </a:cubicBezTo>
                  <a:cubicBezTo>
                    <a:pt x="5021003" y="1761680"/>
                    <a:pt x="5001987" y="1747555"/>
                    <a:pt x="4982679" y="1735862"/>
                  </a:cubicBezTo>
                  <a:cubicBezTo>
                    <a:pt x="4979878" y="1734539"/>
                    <a:pt x="4977741" y="1731815"/>
                    <a:pt x="4974941" y="1730492"/>
                  </a:cubicBezTo>
                  <a:cubicBezTo>
                    <a:pt x="4968971" y="1726814"/>
                    <a:pt x="4964401" y="1723799"/>
                    <a:pt x="4958433" y="1720121"/>
                  </a:cubicBezTo>
                  <a:cubicBezTo>
                    <a:pt x="4955265" y="1717767"/>
                    <a:pt x="4952463" y="1716445"/>
                    <a:pt x="4948263" y="1714459"/>
                  </a:cubicBezTo>
                  <a:cubicBezTo>
                    <a:pt x="4942663" y="1711812"/>
                    <a:pt x="4937727" y="1707766"/>
                    <a:pt x="4932125" y="1705119"/>
                  </a:cubicBezTo>
                  <a:cubicBezTo>
                    <a:pt x="4930357" y="1703426"/>
                    <a:pt x="4927924" y="1703136"/>
                    <a:pt x="4926155" y="1701442"/>
                  </a:cubicBezTo>
                  <a:cubicBezTo>
                    <a:pt x="4914587" y="1695118"/>
                    <a:pt x="4902649" y="1687764"/>
                    <a:pt x="4890049" y="1681810"/>
                  </a:cubicBezTo>
                  <a:cubicBezTo>
                    <a:pt x="4887246" y="1680486"/>
                    <a:pt x="4885849" y="1679825"/>
                    <a:pt x="4883049" y="1678501"/>
                  </a:cubicBezTo>
                  <a:cubicBezTo>
                    <a:pt x="4876049" y="1675193"/>
                    <a:pt x="4870078" y="1671515"/>
                    <a:pt x="4863447" y="1669238"/>
                  </a:cubicBezTo>
                  <a:cubicBezTo>
                    <a:pt x="4862047" y="1668576"/>
                    <a:pt x="4859249" y="1667253"/>
                    <a:pt x="4857847" y="1666592"/>
                  </a:cubicBezTo>
                  <a:cubicBezTo>
                    <a:pt x="4699276" y="1590796"/>
                    <a:pt x="4521813" y="1553171"/>
                    <a:pt x="4335698" y="1562839"/>
                  </a:cubicBezTo>
                  <a:cubicBezTo>
                    <a:pt x="4333268" y="1562546"/>
                    <a:pt x="4329805" y="1562624"/>
                    <a:pt x="4327744" y="1563362"/>
                  </a:cubicBezTo>
                  <a:cubicBezTo>
                    <a:pt x="4321852" y="1563146"/>
                    <a:pt x="4315297" y="1564330"/>
                    <a:pt x="4309773" y="1565145"/>
                  </a:cubicBezTo>
                  <a:cubicBezTo>
                    <a:pt x="4301820" y="1565668"/>
                    <a:pt x="4293865" y="1566190"/>
                    <a:pt x="4287311" y="1567376"/>
                  </a:cubicBezTo>
                  <a:cubicBezTo>
                    <a:pt x="4285249" y="1568115"/>
                    <a:pt x="4282819" y="1567821"/>
                    <a:pt x="4280387" y="1567529"/>
                  </a:cubicBezTo>
                  <a:cubicBezTo>
                    <a:pt x="4279356" y="1567898"/>
                    <a:pt x="4279356" y="1567898"/>
                    <a:pt x="4278326" y="1568267"/>
                  </a:cubicBezTo>
                  <a:cubicBezTo>
                    <a:pt x="4270372" y="1568791"/>
                    <a:pt x="4262788" y="1570344"/>
                    <a:pt x="4254834" y="1570865"/>
                  </a:cubicBezTo>
                  <a:cubicBezTo>
                    <a:pt x="4253803" y="1571235"/>
                    <a:pt x="4252771" y="1571604"/>
                    <a:pt x="4252403" y="1570573"/>
                  </a:cubicBezTo>
                  <a:cubicBezTo>
                    <a:pt x="4206816" y="1576434"/>
                    <a:pt x="4162336" y="1585385"/>
                    <a:pt x="4117566" y="1596768"/>
                  </a:cubicBezTo>
                  <a:cubicBezTo>
                    <a:pt x="3927141" y="1646360"/>
                    <a:pt x="3757901" y="1745355"/>
                    <a:pt x="3624044" y="1878199"/>
                  </a:cubicBezTo>
                  <a:cubicBezTo>
                    <a:pt x="3623013" y="1878569"/>
                    <a:pt x="3622352" y="1879967"/>
                    <a:pt x="3621321" y="1880337"/>
                  </a:cubicBezTo>
                  <a:cubicBezTo>
                    <a:pt x="3616904" y="1884246"/>
                    <a:pt x="3612857" y="1889183"/>
                    <a:pt x="3608442" y="1893092"/>
                  </a:cubicBezTo>
                  <a:cubicBezTo>
                    <a:pt x="3605718" y="1895228"/>
                    <a:pt x="3604396" y="1898029"/>
                    <a:pt x="3601673" y="1900168"/>
                  </a:cubicBezTo>
                  <a:cubicBezTo>
                    <a:pt x="3599318" y="1903336"/>
                    <a:pt x="3595564" y="1905844"/>
                    <a:pt x="3593210" y="1909013"/>
                  </a:cubicBezTo>
                  <a:cubicBezTo>
                    <a:pt x="3589825" y="1912552"/>
                    <a:pt x="3585409" y="1916461"/>
                    <a:pt x="3582394" y="1921029"/>
                  </a:cubicBezTo>
                  <a:cubicBezTo>
                    <a:pt x="3580701" y="1922798"/>
                    <a:pt x="3580041" y="1924198"/>
                    <a:pt x="3578347" y="1925967"/>
                  </a:cubicBezTo>
                  <a:cubicBezTo>
                    <a:pt x="3464814" y="2053858"/>
                    <a:pt x="3380249" y="2207428"/>
                    <a:pt x="3336286" y="2380185"/>
                  </a:cubicBezTo>
                  <a:cubicBezTo>
                    <a:pt x="3321020" y="2441479"/>
                    <a:pt x="3309957" y="2504758"/>
                    <a:pt x="3305522" y="2570313"/>
                  </a:cubicBezTo>
                  <a:cubicBezTo>
                    <a:pt x="3305522" y="2570313"/>
                    <a:pt x="3305890" y="2571345"/>
                    <a:pt x="3305890" y="2571345"/>
                  </a:cubicBezTo>
                  <a:cubicBezTo>
                    <a:pt x="3304721" y="2581067"/>
                    <a:pt x="3304951" y="2591453"/>
                    <a:pt x="3303782" y="2601175"/>
                  </a:cubicBezTo>
                  <a:cubicBezTo>
                    <a:pt x="3303197" y="2606036"/>
                    <a:pt x="3303642" y="2610530"/>
                    <a:pt x="3303058" y="2615392"/>
                  </a:cubicBezTo>
                  <a:cubicBezTo>
                    <a:pt x="3302472" y="2620254"/>
                    <a:pt x="3302919" y="2624746"/>
                    <a:pt x="3302335" y="2629607"/>
                  </a:cubicBezTo>
                  <a:cubicBezTo>
                    <a:pt x="3299419" y="2767600"/>
                    <a:pt x="3323100" y="2901302"/>
                    <a:pt x="3368708" y="3024533"/>
                  </a:cubicBezTo>
                  <a:lnTo>
                    <a:pt x="3408019" y="3113609"/>
                  </a:lnTo>
                  <a:lnTo>
                    <a:pt x="3380001" y="3111039"/>
                  </a:lnTo>
                  <a:cubicBezTo>
                    <a:pt x="3336620" y="3102363"/>
                    <a:pt x="3294479" y="3088730"/>
                    <a:pt x="3252336" y="3068899"/>
                  </a:cubicBezTo>
                  <a:cubicBezTo>
                    <a:pt x="3212673" y="3054023"/>
                    <a:pt x="3168055" y="3029236"/>
                    <a:pt x="3128393" y="3004444"/>
                  </a:cubicBezTo>
                  <a:cubicBezTo>
                    <a:pt x="3088730" y="2979658"/>
                    <a:pt x="3044107" y="2949911"/>
                    <a:pt x="3004444" y="2920164"/>
                  </a:cubicBezTo>
                  <a:lnTo>
                    <a:pt x="2763870" y="2718081"/>
                  </a:lnTo>
                  <a:lnTo>
                    <a:pt x="2790573" y="2740511"/>
                  </a:lnTo>
                  <a:lnTo>
                    <a:pt x="2800406" y="2734939"/>
                  </a:lnTo>
                  <a:cubicBezTo>
                    <a:pt x="3161613" y="2499733"/>
                    <a:pt x="3266656" y="2020154"/>
                    <a:pt x="3036975" y="1658132"/>
                  </a:cubicBezTo>
                  <a:cubicBezTo>
                    <a:pt x="2983150" y="1573607"/>
                    <a:pt x="2915707" y="1503118"/>
                    <a:pt x="2839289" y="1447641"/>
                  </a:cubicBezTo>
                  <a:lnTo>
                    <a:pt x="2765608" y="1400741"/>
                  </a:lnTo>
                  <a:lnTo>
                    <a:pt x="2721850" y="1383238"/>
                  </a:lnTo>
                  <a:lnTo>
                    <a:pt x="2655794" y="1350209"/>
                  </a:lnTo>
                  <a:lnTo>
                    <a:pt x="2587751" y="1327216"/>
                  </a:lnTo>
                  <a:cubicBezTo>
                    <a:pt x="2527933" y="1310896"/>
                    <a:pt x="2466189" y="1301679"/>
                    <a:pt x="2403895" y="1299857"/>
                  </a:cubicBezTo>
                  <a:cubicBezTo>
                    <a:pt x="2321769" y="1297868"/>
                    <a:pt x="2238181" y="1308033"/>
                    <a:pt x="2156300" y="1332707"/>
                  </a:cubicBezTo>
                  <a:cubicBezTo>
                    <a:pt x="2154238" y="1333446"/>
                    <a:pt x="2152178" y="1334183"/>
                    <a:pt x="2150115" y="1334923"/>
                  </a:cubicBezTo>
                  <a:cubicBezTo>
                    <a:pt x="2069266" y="1359227"/>
                    <a:pt x="1978864" y="1327637"/>
                    <a:pt x="1931143" y="1252847"/>
                  </a:cubicBezTo>
                  <a:lnTo>
                    <a:pt x="1930406" y="1250786"/>
                  </a:lnTo>
                  <a:cubicBezTo>
                    <a:pt x="1872653" y="1160980"/>
                    <a:pt x="1884997" y="1046069"/>
                    <a:pt x="1953280" y="970439"/>
                  </a:cubicBezTo>
                  <a:cubicBezTo>
                    <a:pt x="1954974" y="968671"/>
                    <a:pt x="1955634" y="967270"/>
                    <a:pt x="1957326" y="965501"/>
                  </a:cubicBezTo>
                  <a:cubicBezTo>
                    <a:pt x="1960050" y="963362"/>
                    <a:pt x="1961374" y="960563"/>
                    <a:pt x="1964098" y="958425"/>
                  </a:cubicBezTo>
                  <a:cubicBezTo>
                    <a:pt x="1967480" y="954886"/>
                    <a:pt x="1969836" y="951717"/>
                    <a:pt x="1973220" y="948177"/>
                  </a:cubicBezTo>
                  <a:lnTo>
                    <a:pt x="2020133" y="889810"/>
                  </a:lnTo>
                  <a:lnTo>
                    <a:pt x="2092204" y="956864"/>
                  </a:lnTo>
                  <a:cubicBezTo>
                    <a:pt x="2107080" y="966779"/>
                    <a:pt x="2121951" y="981650"/>
                    <a:pt x="2136827" y="996526"/>
                  </a:cubicBezTo>
                  <a:cubicBezTo>
                    <a:pt x="2156658" y="1011397"/>
                    <a:pt x="2181445" y="1031229"/>
                    <a:pt x="2201276" y="1051060"/>
                  </a:cubicBezTo>
                  <a:cubicBezTo>
                    <a:pt x="2201276" y="1056020"/>
                    <a:pt x="2206236" y="1056020"/>
                    <a:pt x="2206236" y="1056020"/>
                  </a:cubicBezTo>
                  <a:cubicBezTo>
                    <a:pt x="2226068" y="1070891"/>
                    <a:pt x="2250854" y="1090723"/>
                    <a:pt x="2270686" y="1105599"/>
                  </a:cubicBezTo>
                  <a:cubicBezTo>
                    <a:pt x="2275646" y="1105599"/>
                    <a:pt x="2275646" y="1110554"/>
                    <a:pt x="2280601" y="1110554"/>
                  </a:cubicBezTo>
                  <a:cubicBezTo>
                    <a:pt x="2300433" y="1125430"/>
                    <a:pt x="2320264" y="1140301"/>
                    <a:pt x="2340096" y="1155177"/>
                  </a:cubicBezTo>
                  <a:cubicBezTo>
                    <a:pt x="2345056" y="1160132"/>
                    <a:pt x="2350011" y="1160132"/>
                    <a:pt x="2354971" y="1165093"/>
                  </a:cubicBezTo>
                  <a:cubicBezTo>
                    <a:pt x="2374803" y="1179963"/>
                    <a:pt x="2394634" y="1189879"/>
                    <a:pt x="2414466" y="1204755"/>
                  </a:cubicBezTo>
                  <a:cubicBezTo>
                    <a:pt x="2419421" y="1209710"/>
                    <a:pt x="2429336" y="1214671"/>
                    <a:pt x="2434297" y="1219626"/>
                  </a:cubicBezTo>
                  <a:cubicBezTo>
                    <a:pt x="2454128" y="1234502"/>
                    <a:pt x="2468999" y="1244418"/>
                    <a:pt x="2488830" y="1254334"/>
                  </a:cubicBezTo>
                  <a:cubicBezTo>
                    <a:pt x="2498746" y="1264249"/>
                    <a:pt x="2508662" y="1269204"/>
                    <a:pt x="2518577" y="1274165"/>
                  </a:cubicBezTo>
                  <a:cubicBezTo>
                    <a:pt x="2533453" y="1279120"/>
                    <a:pt x="2548324" y="1289036"/>
                    <a:pt x="2563200" y="1298951"/>
                  </a:cubicBezTo>
                  <a:cubicBezTo>
                    <a:pt x="2578071" y="1308867"/>
                    <a:pt x="2592947" y="1313827"/>
                    <a:pt x="2607818" y="1323743"/>
                  </a:cubicBezTo>
                  <a:cubicBezTo>
                    <a:pt x="2617734" y="1328698"/>
                    <a:pt x="2632610" y="1338614"/>
                    <a:pt x="2642525" y="1343574"/>
                  </a:cubicBezTo>
                  <a:cubicBezTo>
                    <a:pt x="2667312" y="1358445"/>
                    <a:pt x="2697059" y="1368361"/>
                    <a:pt x="2721851" y="1383237"/>
                  </a:cubicBezTo>
                  <a:cubicBezTo>
                    <a:pt x="2746637" y="1393153"/>
                    <a:pt x="2771429" y="1403068"/>
                    <a:pt x="2796216" y="1412984"/>
                  </a:cubicBezTo>
                  <a:cubicBezTo>
                    <a:pt x="2806131" y="1417939"/>
                    <a:pt x="2816047" y="1422900"/>
                    <a:pt x="2825962" y="1427855"/>
                  </a:cubicBezTo>
                  <a:cubicBezTo>
                    <a:pt x="2840839" y="1432815"/>
                    <a:pt x="2850754" y="1437771"/>
                    <a:pt x="2865625" y="1442731"/>
                  </a:cubicBezTo>
                  <a:cubicBezTo>
                    <a:pt x="2900333" y="1457602"/>
                    <a:pt x="2935035" y="1467518"/>
                    <a:pt x="2969742" y="1477433"/>
                  </a:cubicBezTo>
                  <a:cubicBezTo>
                    <a:pt x="3133348" y="1522056"/>
                    <a:pt x="3316790" y="1546843"/>
                    <a:pt x="3515103" y="1546843"/>
                  </a:cubicBezTo>
                  <a:cubicBezTo>
                    <a:pt x="3797697" y="1546843"/>
                    <a:pt x="4050549" y="1497265"/>
                    <a:pt x="4268693" y="1403068"/>
                  </a:cubicBezTo>
                  <a:cubicBezTo>
                    <a:pt x="4273649" y="1403068"/>
                    <a:pt x="4273649" y="1403068"/>
                    <a:pt x="4273649" y="1403068"/>
                  </a:cubicBezTo>
                  <a:cubicBezTo>
                    <a:pt x="4283564" y="1398108"/>
                    <a:pt x="4298440" y="1393153"/>
                    <a:pt x="4308356" y="1388192"/>
                  </a:cubicBezTo>
                  <a:cubicBezTo>
                    <a:pt x="4536416" y="1279120"/>
                    <a:pt x="4744645" y="1135346"/>
                    <a:pt x="4937998" y="956864"/>
                  </a:cubicBezTo>
                  <a:lnTo>
                    <a:pt x="5498235" y="446205"/>
                  </a:lnTo>
                  <a:lnTo>
                    <a:pt x="5786844" y="176334"/>
                  </a:lnTo>
                  <a:lnTo>
                    <a:pt x="5498235" y="446205"/>
                  </a:lnTo>
                  <a:lnTo>
                    <a:pt x="4937999" y="956863"/>
                  </a:lnTo>
                  <a:lnTo>
                    <a:pt x="4871692" y="1013965"/>
                  </a:lnTo>
                  <a:lnTo>
                    <a:pt x="4897681" y="1073129"/>
                  </a:lnTo>
                  <a:cubicBezTo>
                    <a:pt x="4900188" y="1076882"/>
                    <a:pt x="4901295" y="1079974"/>
                    <a:pt x="4903805" y="1083729"/>
                  </a:cubicBezTo>
                  <a:cubicBezTo>
                    <a:pt x="4904171" y="1084760"/>
                    <a:pt x="4904541" y="1085791"/>
                    <a:pt x="4905940" y="1086453"/>
                  </a:cubicBezTo>
                  <a:cubicBezTo>
                    <a:pt x="4912801" y="1099115"/>
                    <a:pt x="4920692" y="1111408"/>
                    <a:pt x="4927555" y="1124070"/>
                  </a:cubicBezTo>
                  <a:cubicBezTo>
                    <a:pt x="4927925" y="1125101"/>
                    <a:pt x="4928293" y="1126132"/>
                    <a:pt x="4929693" y="1126793"/>
                  </a:cubicBezTo>
                  <a:cubicBezTo>
                    <a:pt x="4935815" y="1137394"/>
                    <a:pt x="4943341" y="1148655"/>
                    <a:pt x="4950495" y="1158888"/>
                  </a:cubicBezTo>
                  <a:cubicBezTo>
                    <a:pt x="4952263" y="1160580"/>
                    <a:pt x="4953371" y="1163674"/>
                    <a:pt x="4955139" y="1165365"/>
                  </a:cubicBezTo>
                  <a:cubicBezTo>
                    <a:pt x="4962661" y="1176627"/>
                    <a:pt x="4970845" y="1186490"/>
                    <a:pt x="4977999" y="1196721"/>
                  </a:cubicBezTo>
                  <a:cubicBezTo>
                    <a:pt x="4979769" y="1198414"/>
                    <a:pt x="4981909" y="1201137"/>
                    <a:pt x="4982644" y="1203199"/>
                  </a:cubicBezTo>
                  <a:cubicBezTo>
                    <a:pt x="5000121" y="1226015"/>
                    <a:pt x="5018259" y="1247433"/>
                    <a:pt x="5038459" y="1268111"/>
                  </a:cubicBezTo>
                  <a:cubicBezTo>
                    <a:pt x="5038459" y="1268111"/>
                    <a:pt x="5038459" y="1268111"/>
                    <a:pt x="5038829" y="1269141"/>
                  </a:cubicBezTo>
                  <a:cubicBezTo>
                    <a:pt x="5189225" y="1429278"/>
                    <a:pt x="5395627" y="1537953"/>
                    <a:pt x="5631633" y="1560426"/>
                  </a:cubicBezTo>
                  <a:cubicBezTo>
                    <a:pt x="5826685" y="1578960"/>
                    <a:pt x="6012403" y="1535707"/>
                    <a:pt x="6171487" y="1447327"/>
                  </a:cubicBezTo>
                  <a:cubicBezTo>
                    <a:pt x="6173549" y="1446588"/>
                    <a:pt x="6175245" y="1444819"/>
                    <a:pt x="6177305" y="1444081"/>
                  </a:cubicBezTo>
                  <a:cubicBezTo>
                    <a:pt x="6187905" y="1437957"/>
                    <a:pt x="6199537" y="1431466"/>
                    <a:pt x="6210135" y="1425343"/>
                  </a:cubicBezTo>
                  <a:cubicBezTo>
                    <a:pt x="6214921" y="1422467"/>
                    <a:pt x="6219707" y="1419590"/>
                    <a:pt x="6224123" y="1415682"/>
                  </a:cubicBezTo>
                  <a:cubicBezTo>
                    <a:pt x="6231629" y="1410667"/>
                    <a:pt x="6239139" y="1405651"/>
                    <a:pt x="6246647" y="1400636"/>
                  </a:cubicBezTo>
                  <a:cubicBezTo>
                    <a:pt x="6253123" y="1395991"/>
                    <a:pt x="6258571" y="1391713"/>
                    <a:pt x="6265047" y="1387069"/>
                  </a:cubicBezTo>
                  <a:cubicBezTo>
                    <a:pt x="6270495" y="1382791"/>
                    <a:pt x="6276971" y="1378145"/>
                    <a:pt x="6282417" y="1373869"/>
                  </a:cubicBezTo>
                  <a:cubicBezTo>
                    <a:pt x="6288895" y="1369222"/>
                    <a:pt x="6295003" y="1363545"/>
                    <a:pt x="6300449" y="1359269"/>
                  </a:cubicBezTo>
                  <a:cubicBezTo>
                    <a:pt x="6305897" y="1354992"/>
                    <a:pt x="6311343" y="1350715"/>
                    <a:pt x="6317821" y="1346069"/>
                  </a:cubicBezTo>
                  <a:cubicBezTo>
                    <a:pt x="6323267" y="1341793"/>
                    <a:pt x="6329375" y="1336115"/>
                    <a:pt x="6334822" y="1331839"/>
                  </a:cubicBezTo>
                  <a:cubicBezTo>
                    <a:pt x="6340929" y="1326162"/>
                    <a:pt x="6346377" y="1321886"/>
                    <a:pt x="6352485" y="1316207"/>
                  </a:cubicBezTo>
                  <a:cubicBezTo>
                    <a:pt x="6356900" y="1312301"/>
                    <a:pt x="6360947" y="1307362"/>
                    <a:pt x="6366393" y="1303086"/>
                  </a:cubicBezTo>
                  <a:cubicBezTo>
                    <a:pt x="6373532" y="1297039"/>
                    <a:pt x="6379271" y="1290333"/>
                    <a:pt x="6386041" y="1283257"/>
                  </a:cubicBezTo>
                  <a:cubicBezTo>
                    <a:pt x="6389424" y="1279717"/>
                    <a:pt x="6392811" y="1276179"/>
                    <a:pt x="6395165" y="1273009"/>
                  </a:cubicBezTo>
                  <a:cubicBezTo>
                    <a:pt x="6402969" y="1265563"/>
                    <a:pt x="6410397" y="1257086"/>
                    <a:pt x="6416799" y="1248978"/>
                  </a:cubicBezTo>
                  <a:cubicBezTo>
                    <a:pt x="6418490" y="1247209"/>
                    <a:pt x="6420183" y="1245440"/>
                    <a:pt x="6422537" y="1242272"/>
                  </a:cubicBezTo>
                  <a:cubicBezTo>
                    <a:pt x="6430629" y="1232394"/>
                    <a:pt x="6438723" y="1222517"/>
                    <a:pt x="6446817" y="1212640"/>
                  </a:cubicBezTo>
                  <a:cubicBezTo>
                    <a:pt x="6447847" y="1212271"/>
                    <a:pt x="6447477" y="1211240"/>
                    <a:pt x="6448509" y="1210871"/>
                  </a:cubicBezTo>
                  <a:cubicBezTo>
                    <a:pt x="6512885" y="1130825"/>
                    <a:pt x="6563845" y="1039303"/>
                    <a:pt x="6598003" y="939840"/>
                  </a:cubicBezTo>
                  <a:cubicBezTo>
                    <a:pt x="6598665" y="938440"/>
                    <a:pt x="6598297" y="937408"/>
                    <a:pt x="6599327" y="937038"/>
                  </a:cubicBezTo>
                  <a:cubicBezTo>
                    <a:pt x="6604250" y="924808"/>
                    <a:pt x="6607775" y="911916"/>
                    <a:pt x="6611299" y="899023"/>
                  </a:cubicBezTo>
                  <a:cubicBezTo>
                    <a:pt x="6614236" y="890993"/>
                    <a:pt x="6615777" y="882300"/>
                    <a:pt x="6618347" y="873238"/>
                  </a:cubicBezTo>
                  <a:cubicBezTo>
                    <a:pt x="6619963" y="868007"/>
                    <a:pt x="6621577" y="862776"/>
                    <a:pt x="6622827" y="856514"/>
                  </a:cubicBezTo>
                  <a:cubicBezTo>
                    <a:pt x="6649245" y="751682"/>
                    <a:pt x="6657543" y="641709"/>
                    <a:pt x="6645363" y="529767"/>
                  </a:cubicBezTo>
                  <a:cubicBezTo>
                    <a:pt x="6644549" y="524242"/>
                    <a:pt x="6644103" y="519750"/>
                    <a:pt x="6643289" y="514228"/>
                  </a:cubicBezTo>
                  <a:cubicBezTo>
                    <a:pt x="6642027" y="504212"/>
                    <a:pt x="6641134" y="495227"/>
                    <a:pt x="6639875" y="485210"/>
                  </a:cubicBezTo>
                  <a:cubicBezTo>
                    <a:pt x="6637507" y="472103"/>
                    <a:pt x="6635505" y="460025"/>
                    <a:pt x="6633139" y="446916"/>
                  </a:cubicBezTo>
                  <a:cubicBezTo>
                    <a:pt x="6632398" y="444855"/>
                    <a:pt x="6632691" y="442424"/>
                    <a:pt x="6631952" y="440363"/>
                  </a:cubicBezTo>
                  <a:cubicBezTo>
                    <a:pt x="6627371" y="421070"/>
                    <a:pt x="6623155" y="402808"/>
                    <a:pt x="6618571" y="383514"/>
                  </a:cubicBezTo>
                  <a:cubicBezTo>
                    <a:pt x="6616279" y="373868"/>
                    <a:pt x="6612955" y="364590"/>
                    <a:pt x="6610663" y="354943"/>
                  </a:cubicBezTo>
                  <a:cubicBezTo>
                    <a:pt x="6609186" y="350820"/>
                    <a:pt x="6608079" y="347728"/>
                    <a:pt x="6606602" y="343605"/>
                  </a:cubicBezTo>
                  <a:cubicBezTo>
                    <a:pt x="6568825" y="225130"/>
                    <a:pt x="6509163" y="119434"/>
                    <a:pt x="6433309" y="29424"/>
                  </a:cubicBezTo>
                  <a:lnTo>
                    <a:pt x="6408385" y="4961"/>
                  </a:lnTo>
                  <a:lnTo>
                    <a:pt x="6038636" y="4961"/>
                  </a:lnTo>
                  <a:lnTo>
                    <a:pt x="6008875" y="10912"/>
                  </a:lnTo>
                  <a:close/>
                  <a:moveTo>
                    <a:pt x="401092" y="0"/>
                  </a:moveTo>
                  <a:lnTo>
                    <a:pt x="520575" y="0"/>
                  </a:lnTo>
                  <a:lnTo>
                    <a:pt x="713928" y="0"/>
                  </a:lnTo>
                  <a:cubicBezTo>
                    <a:pt x="903566" y="0"/>
                    <a:pt x="1059737" y="41833"/>
                    <a:pt x="1188718" y="127588"/>
                  </a:cubicBezTo>
                  <a:lnTo>
                    <a:pt x="1188718" y="127588"/>
                  </a:lnTo>
                  <a:lnTo>
                    <a:pt x="1050442" y="56397"/>
                  </a:lnTo>
                  <a:cubicBezTo>
                    <a:pt x="951905" y="18593"/>
                    <a:pt x="840354" y="1"/>
                    <a:pt x="713928" y="0"/>
                  </a:cubicBezTo>
                  <a:lnTo>
                    <a:pt x="520576" y="0"/>
                  </a:lnTo>
                  <a:close/>
                  <a:moveTo>
                    <a:pt x="74370" y="0"/>
                  </a:moveTo>
                  <a:lnTo>
                    <a:pt x="401092" y="0"/>
                  </a:lnTo>
                  <a:lnTo>
                    <a:pt x="400308" y="1884"/>
                  </a:lnTo>
                  <a:cubicBezTo>
                    <a:pt x="399647" y="3284"/>
                    <a:pt x="398324" y="6085"/>
                    <a:pt x="397662" y="7485"/>
                  </a:cubicBezTo>
                  <a:cubicBezTo>
                    <a:pt x="363641" y="97593"/>
                    <a:pt x="344574" y="190488"/>
                    <a:pt x="339724" y="284107"/>
                  </a:cubicBezTo>
                  <a:cubicBezTo>
                    <a:pt x="339430" y="286537"/>
                    <a:pt x="339509" y="289999"/>
                    <a:pt x="339584" y="293460"/>
                  </a:cubicBezTo>
                  <a:cubicBezTo>
                    <a:pt x="340031" y="297952"/>
                    <a:pt x="339076" y="301783"/>
                    <a:pt x="339523" y="306276"/>
                  </a:cubicBezTo>
                  <a:cubicBezTo>
                    <a:pt x="339675" y="313200"/>
                    <a:pt x="338799" y="320492"/>
                    <a:pt x="338951" y="327416"/>
                  </a:cubicBezTo>
                  <a:cubicBezTo>
                    <a:pt x="339320" y="328446"/>
                    <a:pt x="338290" y="328815"/>
                    <a:pt x="338659" y="329846"/>
                  </a:cubicBezTo>
                  <a:cubicBezTo>
                    <a:pt x="338004" y="503374"/>
                    <a:pt x="384489" y="678628"/>
                    <a:pt x="484946" y="835717"/>
                  </a:cubicBezTo>
                  <a:cubicBezTo>
                    <a:pt x="497484" y="854486"/>
                    <a:pt x="510023" y="873258"/>
                    <a:pt x="523222" y="890627"/>
                  </a:cubicBezTo>
                  <a:cubicBezTo>
                    <a:pt x="523591" y="891658"/>
                    <a:pt x="524992" y="892320"/>
                    <a:pt x="525360" y="893351"/>
                  </a:cubicBezTo>
                  <a:cubicBezTo>
                    <a:pt x="532144" y="902551"/>
                    <a:pt x="538929" y="911752"/>
                    <a:pt x="546745" y="920584"/>
                  </a:cubicBezTo>
                  <a:cubicBezTo>
                    <a:pt x="547114" y="921614"/>
                    <a:pt x="547114" y="921614"/>
                    <a:pt x="548514" y="922276"/>
                  </a:cubicBezTo>
                  <a:cubicBezTo>
                    <a:pt x="575205" y="954586"/>
                    <a:pt x="602189" y="984465"/>
                    <a:pt x="631896" y="1012206"/>
                  </a:cubicBezTo>
                  <a:cubicBezTo>
                    <a:pt x="702741" y="1083365"/>
                    <a:pt x="722213" y="1196186"/>
                    <a:pt x="670592" y="1289109"/>
                  </a:cubicBezTo>
                  <a:lnTo>
                    <a:pt x="669269" y="1291909"/>
                  </a:lnTo>
                  <a:cubicBezTo>
                    <a:pt x="635957" y="1351525"/>
                    <a:pt x="568738" y="1381414"/>
                    <a:pt x="505091" y="1369319"/>
                  </a:cubicBezTo>
                  <a:cubicBezTo>
                    <a:pt x="504060" y="1369688"/>
                    <a:pt x="502660" y="1369026"/>
                    <a:pt x="502660" y="1369026"/>
                  </a:cubicBezTo>
                  <a:cubicBezTo>
                    <a:pt x="501260" y="1368365"/>
                    <a:pt x="498829" y="1368072"/>
                    <a:pt x="497429" y="1367411"/>
                  </a:cubicBezTo>
                  <a:cubicBezTo>
                    <a:pt x="496398" y="1367780"/>
                    <a:pt x="496028" y="1366749"/>
                    <a:pt x="494997" y="1367118"/>
                  </a:cubicBezTo>
                  <a:cubicBezTo>
                    <a:pt x="493968" y="1367487"/>
                    <a:pt x="493598" y="1366456"/>
                    <a:pt x="492567" y="1366825"/>
                  </a:cubicBezTo>
                  <a:cubicBezTo>
                    <a:pt x="482474" y="1364625"/>
                    <a:pt x="472382" y="1362425"/>
                    <a:pt x="462659" y="1361255"/>
                  </a:cubicBezTo>
                  <a:cubicBezTo>
                    <a:pt x="462659" y="1361255"/>
                    <a:pt x="461627" y="1361624"/>
                    <a:pt x="461258" y="1360593"/>
                  </a:cubicBezTo>
                  <a:cubicBezTo>
                    <a:pt x="451535" y="1359423"/>
                    <a:pt x="441811" y="1358253"/>
                    <a:pt x="432088" y="1357084"/>
                  </a:cubicBezTo>
                  <a:cubicBezTo>
                    <a:pt x="429657" y="1356792"/>
                    <a:pt x="427228" y="1356500"/>
                    <a:pt x="424795" y="1356207"/>
                  </a:cubicBezTo>
                  <a:cubicBezTo>
                    <a:pt x="415073" y="1355038"/>
                    <a:pt x="406750" y="1354528"/>
                    <a:pt x="397394" y="1354390"/>
                  </a:cubicBezTo>
                  <a:cubicBezTo>
                    <a:pt x="394964" y="1354097"/>
                    <a:pt x="392534" y="1353806"/>
                    <a:pt x="390104" y="1353513"/>
                  </a:cubicBezTo>
                  <a:cubicBezTo>
                    <a:pt x="381778" y="1353004"/>
                    <a:pt x="373825" y="1353527"/>
                    <a:pt x="365502" y="1353020"/>
                  </a:cubicBezTo>
                  <a:cubicBezTo>
                    <a:pt x="364472" y="1353389"/>
                    <a:pt x="362041" y="1353096"/>
                    <a:pt x="361010" y="1353465"/>
                  </a:cubicBezTo>
                  <a:cubicBezTo>
                    <a:pt x="326392" y="1354233"/>
                    <a:pt x="292514" y="1357061"/>
                    <a:pt x="258344" y="1362322"/>
                  </a:cubicBezTo>
                  <a:cubicBezTo>
                    <a:pt x="257312" y="1362692"/>
                    <a:pt x="257312" y="1362692"/>
                    <a:pt x="256281" y="1363060"/>
                  </a:cubicBezTo>
                  <a:cubicBezTo>
                    <a:pt x="250760" y="1363875"/>
                    <a:pt x="244205" y="1365061"/>
                    <a:pt x="238682" y="1365875"/>
                  </a:cubicBezTo>
                  <a:cubicBezTo>
                    <a:pt x="236620" y="1366613"/>
                    <a:pt x="234558" y="1367352"/>
                    <a:pt x="232127" y="1367059"/>
                  </a:cubicBezTo>
                  <a:cubicBezTo>
                    <a:pt x="227634" y="1367504"/>
                    <a:pt x="223512" y="1368982"/>
                    <a:pt x="219019" y="1369429"/>
                  </a:cubicBezTo>
                  <a:cubicBezTo>
                    <a:pt x="215928" y="1370536"/>
                    <a:pt x="211435" y="1370982"/>
                    <a:pt x="208341" y="1372089"/>
                  </a:cubicBezTo>
                  <a:cubicBezTo>
                    <a:pt x="205249" y="1373196"/>
                    <a:pt x="202819" y="1372905"/>
                    <a:pt x="199726" y="1374012"/>
                  </a:cubicBezTo>
                  <a:cubicBezTo>
                    <a:pt x="194571" y="1375857"/>
                    <a:pt x="189049" y="1376672"/>
                    <a:pt x="184925" y="1378149"/>
                  </a:cubicBezTo>
                  <a:cubicBezTo>
                    <a:pt x="183893" y="1378519"/>
                    <a:pt x="181834" y="1379256"/>
                    <a:pt x="180802" y="1379626"/>
                  </a:cubicBezTo>
                  <a:cubicBezTo>
                    <a:pt x="174616" y="1381841"/>
                    <a:pt x="168432" y="1384056"/>
                    <a:pt x="161878" y="1385241"/>
                  </a:cubicBezTo>
                  <a:cubicBezTo>
                    <a:pt x="161878" y="1385241"/>
                    <a:pt x="161878" y="1385241"/>
                    <a:pt x="160847" y="1385611"/>
                  </a:cubicBezTo>
                  <a:cubicBezTo>
                    <a:pt x="135076" y="1394841"/>
                    <a:pt x="109676" y="1405100"/>
                    <a:pt x="85013" y="1417423"/>
                  </a:cubicBezTo>
                  <a:cubicBezTo>
                    <a:pt x="83982" y="1417793"/>
                    <a:pt x="81920" y="1418531"/>
                    <a:pt x="81257" y="1419931"/>
                  </a:cubicBezTo>
                  <a:cubicBezTo>
                    <a:pt x="74411" y="1423546"/>
                    <a:pt x="66534" y="1427530"/>
                    <a:pt x="59687" y="1431145"/>
                  </a:cubicBezTo>
                  <a:cubicBezTo>
                    <a:pt x="57627" y="1431883"/>
                    <a:pt x="55933" y="1433652"/>
                    <a:pt x="52841" y="1434759"/>
                  </a:cubicBezTo>
                  <a:cubicBezTo>
                    <a:pt x="45334" y="1439775"/>
                    <a:pt x="36425" y="1444129"/>
                    <a:pt x="28917" y="1449144"/>
                  </a:cubicBezTo>
                  <a:cubicBezTo>
                    <a:pt x="26855" y="1449882"/>
                    <a:pt x="25162" y="1451651"/>
                    <a:pt x="23101" y="1452390"/>
                  </a:cubicBezTo>
                  <a:lnTo>
                    <a:pt x="1" y="1468430"/>
                  </a:lnTo>
                  <a:lnTo>
                    <a:pt x="0" y="2472769"/>
                  </a:lnTo>
                  <a:lnTo>
                    <a:pt x="9511" y="2479577"/>
                  </a:lnTo>
                  <a:cubicBezTo>
                    <a:pt x="12679" y="2481931"/>
                    <a:pt x="15481" y="2483255"/>
                    <a:pt x="18651" y="2485608"/>
                  </a:cubicBezTo>
                  <a:cubicBezTo>
                    <a:pt x="20049" y="2486270"/>
                    <a:pt x="20418" y="2487300"/>
                    <a:pt x="21818" y="2487963"/>
                  </a:cubicBezTo>
                  <a:cubicBezTo>
                    <a:pt x="24988" y="2490316"/>
                    <a:pt x="27787" y="2491639"/>
                    <a:pt x="30958" y="2493993"/>
                  </a:cubicBezTo>
                  <a:cubicBezTo>
                    <a:pt x="35526" y="2497008"/>
                    <a:pt x="40095" y="2500026"/>
                    <a:pt x="46064" y="2503703"/>
                  </a:cubicBezTo>
                  <a:cubicBezTo>
                    <a:pt x="52035" y="2507379"/>
                    <a:pt x="56603" y="2510395"/>
                    <a:pt x="62203" y="2513041"/>
                  </a:cubicBezTo>
                  <a:cubicBezTo>
                    <a:pt x="65004" y="2514364"/>
                    <a:pt x="66772" y="2516059"/>
                    <a:pt x="69572" y="2517381"/>
                  </a:cubicBezTo>
                  <a:cubicBezTo>
                    <a:pt x="70973" y="2518043"/>
                    <a:pt x="70973" y="2518043"/>
                    <a:pt x="72372" y="2518705"/>
                  </a:cubicBezTo>
                  <a:cubicBezTo>
                    <a:pt x="79372" y="2522012"/>
                    <a:pt x="86741" y="2526351"/>
                    <a:pt x="92711" y="2530028"/>
                  </a:cubicBezTo>
                  <a:cubicBezTo>
                    <a:pt x="95512" y="2531353"/>
                    <a:pt x="96912" y="2532013"/>
                    <a:pt x="99712" y="2533337"/>
                  </a:cubicBezTo>
                  <a:cubicBezTo>
                    <a:pt x="106711" y="2536645"/>
                    <a:pt x="115111" y="2540614"/>
                    <a:pt x="122111" y="2543923"/>
                  </a:cubicBezTo>
                  <a:cubicBezTo>
                    <a:pt x="123511" y="2544585"/>
                    <a:pt x="126313" y="2545909"/>
                    <a:pt x="127712" y="2546568"/>
                  </a:cubicBezTo>
                  <a:cubicBezTo>
                    <a:pt x="135742" y="2549508"/>
                    <a:pt x="142743" y="2552816"/>
                    <a:pt x="150773" y="2555756"/>
                  </a:cubicBezTo>
                  <a:cubicBezTo>
                    <a:pt x="153204" y="2556048"/>
                    <a:pt x="154973" y="2557740"/>
                    <a:pt x="157404" y="2558032"/>
                  </a:cubicBezTo>
                  <a:cubicBezTo>
                    <a:pt x="164034" y="2560310"/>
                    <a:pt x="172067" y="2563249"/>
                    <a:pt x="178697" y="2565527"/>
                  </a:cubicBezTo>
                  <a:cubicBezTo>
                    <a:pt x="181497" y="2566850"/>
                    <a:pt x="183928" y="2567141"/>
                    <a:pt x="186728" y="2568466"/>
                  </a:cubicBezTo>
                  <a:cubicBezTo>
                    <a:pt x="193358" y="2570743"/>
                    <a:pt x="199619" y="2571989"/>
                    <a:pt x="206252" y="2574267"/>
                  </a:cubicBezTo>
                  <a:cubicBezTo>
                    <a:pt x="210083" y="2575221"/>
                    <a:pt x="212883" y="2576544"/>
                    <a:pt x="216712" y="2577498"/>
                  </a:cubicBezTo>
                  <a:cubicBezTo>
                    <a:pt x="221945" y="2579114"/>
                    <a:pt x="228206" y="2580360"/>
                    <a:pt x="233437" y="2581976"/>
                  </a:cubicBezTo>
                  <a:cubicBezTo>
                    <a:pt x="237267" y="2582930"/>
                    <a:pt x="242128" y="2583514"/>
                    <a:pt x="246328" y="2585500"/>
                  </a:cubicBezTo>
                  <a:cubicBezTo>
                    <a:pt x="251191" y="2586084"/>
                    <a:pt x="256052" y="2586670"/>
                    <a:pt x="260252" y="2588654"/>
                  </a:cubicBezTo>
                  <a:cubicBezTo>
                    <a:pt x="265115" y="2589239"/>
                    <a:pt x="271376" y="2590486"/>
                    <a:pt x="276237" y="2591070"/>
                  </a:cubicBezTo>
                  <a:cubicBezTo>
                    <a:pt x="280068" y="2592025"/>
                    <a:pt x="283531" y="2591948"/>
                    <a:pt x="287361" y="2592901"/>
                  </a:cubicBezTo>
                  <a:cubicBezTo>
                    <a:pt x="293623" y="2594149"/>
                    <a:pt x="299515" y="2594364"/>
                    <a:pt x="306807" y="2595241"/>
                  </a:cubicBezTo>
                  <a:cubicBezTo>
                    <a:pt x="309238" y="2595533"/>
                    <a:pt x="312699" y="2595457"/>
                    <a:pt x="316161" y="2595381"/>
                  </a:cubicBezTo>
                  <a:cubicBezTo>
                    <a:pt x="323455" y="2596257"/>
                    <a:pt x="330378" y="2596105"/>
                    <a:pt x="337669" y="2596981"/>
                  </a:cubicBezTo>
                  <a:cubicBezTo>
                    <a:pt x="340101" y="2597273"/>
                    <a:pt x="342531" y="2597567"/>
                    <a:pt x="344593" y="2596829"/>
                  </a:cubicBezTo>
                  <a:cubicBezTo>
                    <a:pt x="351886" y="2597705"/>
                    <a:pt x="359839" y="2597183"/>
                    <a:pt x="367132" y="2598060"/>
                  </a:cubicBezTo>
                  <a:cubicBezTo>
                    <a:pt x="369562" y="2598352"/>
                    <a:pt x="371625" y="2597613"/>
                    <a:pt x="374056" y="2597907"/>
                  </a:cubicBezTo>
                  <a:cubicBezTo>
                    <a:pt x="382011" y="2597384"/>
                    <a:pt x="389300" y="2598261"/>
                    <a:pt x="397257" y="2597738"/>
                  </a:cubicBezTo>
                  <a:cubicBezTo>
                    <a:pt x="399687" y="2598032"/>
                    <a:pt x="401750" y="2597293"/>
                    <a:pt x="404179" y="2597585"/>
                  </a:cubicBezTo>
                  <a:cubicBezTo>
                    <a:pt x="412134" y="2597062"/>
                    <a:pt x="419058" y="2596909"/>
                    <a:pt x="427011" y="2596386"/>
                  </a:cubicBezTo>
                  <a:cubicBezTo>
                    <a:pt x="429441" y="2596679"/>
                    <a:pt x="432534" y="2595571"/>
                    <a:pt x="434965" y="2595864"/>
                  </a:cubicBezTo>
                  <a:cubicBezTo>
                    <a:pt x="441889" y="2595710"/>
                    <a:pt x="449473" y="2594157"/>
                    <a:pt x="456028" y="2592973"/>
                  </a:cubicBezTo>
                  <a:cubicBezTo>
                    <a:pt x="459488" y="2592895"/>
                    <a:pt x="462583" y="2591787"/>
                    <a:pt x="466044" y="2591710"/>
                  </a:cubicBezTo>
                  <a:cubicBezTo>
                    <a:pt x="472598" y="2590526"/>
                    <a:pt x="478122" y="2589711"/>
                    <a:pt x="484674" y="2588526"/>
                  </a:cubicBezTo>
                  <a:cubicBezTo>
                    <a:pt x="489168" y="2588081"/>
                    <a:pt x="493290" y="2586604"/>
                    <a:pt x="497783" y="2586158"/>
                  </a:cubicBezTo>
                  <a:cubicBezTo>
                    <a:pt x="503306" y="2585344"/>
                    <a:pt x="508460" y="2583497"/>
                    <a:pt x="512953" y="2583051"/>
                  </a:cubicBezTo>
                  <a:cubicBezTo>
                    <a:pt x="518476" y="2582235"/>
                    <a:pt x="523631" y="2580389"/>
                    <a:pt x="528784" y="2578544"/>
                  </a:cubicBezTo>
                  <a:cubicBezTo>
                    <a:pt x="532908" y="2577067"/>
                    <a:pt x="537400" y="2576622"/>
                    <a:pt x="540493" y="2575514"/>
                  </a:cubicBezTo>
                  <a:cubicBezTo>
                    <a:pt x="546678" y="2573299"/>
                    <a:pt x="553233" y="2572114"/>
                    <a:pt x="559416" y="2569900"/>
                  </a:cubicBezTo>
                  <a:cubicBezTo>
                    <a:pt x="562510" y="2568792"/>
                    <a:pt x="565602" y="2567685"/>
                    <a:pt x="568694" y="2566577"/>
                  </a:cubicBezTo>
                  <a:cubicBezTo>
                    <a:pt x="575910" y="2563992"/>
                    <a:pt x="583125" y="2561407"/>
                    <a:pt x="589311" y="2559193"/>
                  </a:cubicBezTo>
                  <a:cubicBezTo>
                    <a:pt x="591372" y="2558455"/>
                    <a:pt x="593434" y="2557716"/>
                    <a:pt x="596526" y="2556609"/>
                  </a:cubicBezTo>
                  <a:cubicBezTo>
                    <a:pt x="603742" y="2554024"/>
                    <a:pt x="610588" y="2550409"/>
                    <a:pt x="618835" y="2547456"/>
                  </a:cubicBezTo>
                  <a:cubicBezTo>
                    <a:pt x="620898" y="2546717"/>
                    <a:pt x="622959" y="2545979"/>
                    <a:pt x="623990" y="2545610"/>
                  </a:cubicBezTo>
                  <a:cubicBezTo>
                    <a:pt x="630836" y="2541994"/>
                    <a:pt x="639081" y="2539040"/>
                    <a:pt x="645927" y="2535425"/>
                  </a:cubicBezTo>
                  <a:cubicBezTo>
                    <a:pt x="647990" y="2534687"/>
                    <a:pt x="649022" y="2534317"/>
                    <a:pt x="650715" y="2532550"/>
                  </a:cubicBezTo>
                  <a:cubicBezTo>
                    <a:pt x="657562" y="2528933"/>
                    <a:pt x="664408" y="2525318"/>
                    <a:pt x="671254" y="2521703"/>
                  </a:cubicBezTo>
                  <a:cubicBezTo>
                    <a:pt x="673315" y="2520965"/>
                    <a:pt x="675007" y="2519197"/>
                    <a:pt x="677070" y="2518458"/>
                  </a:cubicBezTo>
                  <a:cubicBezTo>
                    <a:pt x="683916" y="2514842"/>
                    <a:pt x="689362" y="2510565"/>
                    <a:pt x="696211" y="2506950"/>
                  </a:cubicBezTo>
                  <a:cubicBezTo>
                    <a:pt x="697901" y="2505182"/>
                    <a:pt x="700994" y="2504074"/>
                    <a:pt x="702686" y="2502305"/>
                  </a:cubicBezTo>
                  <a:cubicBezTo>
                    <a:pt x="708502" y="2499058"/>
                    <a:pt x="713948" y="2494782"/>
                    <a:pt x="718734" y="2491905"/>
                  </a:cubicBezTo>
                  <a:cubicBezTo>
                    <a:pt x="721456" y="2489767"/>
                    <a:pt x="724180" y="2487627"/>
                    <a:pt x="727934" y="2485121"/>
                  </a:cubicBezTo>
                  <a:cubicBezTo>
                    <a:pt x="732719" y="2482244"/>
                    <a:pt x="737136" y="2478335"/>
                    <a:pt x="741550" y="2474429"/>
                  </a:cubicBezTo>
                  <a:cubicBezTo>
                    <a:pt x="745305" y="2471920"/>
                    <a:pt x="749059" y="2469413"/>
                    <a:pt x="752444" y="2465875"/>
                  </a:cubicBezTo>
                  <a:cubicBezTo>
                    <a:pt x="756198" y="2463368"/>
                    <a:pt x="759582" y="2459828"/>
                    <a:pt x="763336" y="2457321"/>
                  </a:cubicBezTo>
                  <a:cubicBezTo>
                    <a:pt x="767753" y="2453414"/>
                    <a:pt x="772537" y="2450536"/>
                    <a:pt x="776953" y="2446629"/>
                  </a:cubicBezTo>
                  <a:cubicBezTo>
                    <a:pt x="779676" y="2444491"/>
                    <a:pt x="782031" y="2441321"/>
                    <a:pt x="784754" y="2439184"/>
                  </a:cubicBezTo>
                  <a:cubicBezTo>
                    <a:pt x="790200" y="2434906"/>
                    <a:pt x="794247" y="2429968"/>
                    <a:pt x="799693" y="2425690"/>
                  </a:cubicBezTo>
                  <a:cubicBezTo>
                    <a:pt x="801385" y="2423922"/>
                    <a:pt x="804110" y="2421784"/>
                    <a:pt x="805801" y="2420015"/>
                  </a:cubicBezTo>
                  <a:cubicBezTo>
                    <a:pt x="810879" y="2414708"/>
                    <a:pt x="815956" y="2409399"/>
                    <a:pt x="821034" y="2404092"/>
                  </a:cubicBezTo>
                  <a:cubicBezTo>
                    <a:pt x="822727" y="2402322"/>
                    <a:pt x="824419" y="2400553"/>
                    <a:pt x="826111" y="2398784"/>
                  </a:cubicBezTo>
                  <a:cubicBezTo>
                    <a:pt x="831187" y="2393476"/>
                    <a:pt x="836927" y="2386769"/>
                    <a:pt x="841636" y="2380430"/>
                  </a:cubicBezTo>
                  <a:cubicBezTo>
                    <a:pt x="843328" y="2378661"/>
                    <a:pt x="845021" y="2376891"/>
                    <a:pt x="845683" y="2375492"/>
                  </a:cubicBezTo>
                  <a:cubicBezTo>
                    <a:pt x="850390" y="2369154"/>
                    <a:pt x="856129" y="2362446"/>
                    <a:pt x="860838" y="2356107"/>
                  </a:cubicBezTo>
                  <a:cubicBezTo>
                    <a:pt x="862531" y="2354339"/>
                    <a:pt x="863853" y="2351539"/>
                    <a:pt x="865545" y="2349769"/>
                  </a:cubicBezTo>
                  <a:cubicBezTo>
                    <a:pt x="870253" y="2343430"/>
                    <a:pt x="874961" y="2337091"/>
                    <a:pt x="878639" y="2331123"/>
                  </a:cubicBezTo>
                  <a:cubicBezTo>
                    <a:pt x="879670" y="2330754"/>
                    <a:pt x="879302" y="2329722"/>
                    <a:pt x="880332" y="2329353"/>
                  </a:cubicBezTo>
                  <a:cubicBezTo>
                    <a:pt x="881655" y="2326554"/>
                    <a:pt x="884008" y="2323384"/>
                    <a:pt x="885702" y="2321615"/>
                  </a:cubicBezTo>
                  <a:cubicBezTo>
                    <a:pt x="889748" y="2316676"/>
                    <a:pt x="892395" y="2311077"/>
                    <a:pt x="895410" y="2306507"/>
                  </a:cubicBezTo>
                  <a:cubicBezTo>
                    <a:pt x="898426" y="2301938"/>
                    <a:pt x="901072" y="2296338"/>
                    <a:pt x="904088" y="2291769"/>
                  </a:cubicBezTo>
                  <a:cubicBezTo>
                    <a:pt x="905411" y="2288968"/>
                    <a:pt x="907766" y="2285800"/>
                    <a:pt x="909089" y="2283000"/>
                  </a:cubicBezTo>
                  <a:cubicBezTo>
                    <a:pt x="909750" y="2281601"/>
                    <a:pt x="910782" y="2281230"/>
                    <a:pt x="910413" y="2280199"/>
                  </a:cubicBezTo>
                  <a:cubicBezTo>
                    <a:pt x="911736" y="2277399"/>
                    <a:pt x="914089" y="2274231"/>
                    <a:pt x="915043" y="2270399"/>
                  </a:cubicBezTo>
                  <a:cubicBezTo>
                    <a:pt x="918060" y="2265831"/>
                    <a:pt x="919675" y="2260599"/>
                    <a:pt x="922690" y="2256030"/>
                  </a:cubicBezTo>
                  <a:lnTo>
                    <a:pt x="924451" y="2252307"/>
                  </a:lnTo>
                  <a:lnTo>
                    <a:pt x="922156" y="2280601"/>
                  </a:lnTo>
                  <a:lnTo>
                    <a:pt x="922156" y="3257296"/>
                  </a:lnTo>
                  <a:cubicBezTo>
                    <a:pt x="922156" y="3321745"/>
                    <a:pt x="897370" y="3351492"/>
                    <a:pt x="842831" y="3351492"/>
                  </a:cubicBezTo>
                  <a:lnTo>
                    <a:pt x="520575" y="3351492"/>
                  </a:lnTo>
                  <a:cubicBezTo>
                    <a:pt x="461081" y="3351492"/>
                    <a:pt x="401587" y="3346537"/>
                    <a:pt x="352009" y="3331661"/>
                  </a:cubicBezTo>
                  <a:cubicBezTo>
                    <a:pt x="267723" y="3306875"/>
                    <a:pt x="198313" y="3272167"/>
                    <a:pt x="143780" y="3217634"/>
                  </a:cubicBezTo>
                  <a:cubicBezTo>
                    <a:pt x="143780" y="3217634"/>
                    <a:pt x="138819" y="3212673"/>
                    <a:pt x="138819" y="3212673"/>
                  </a:cubicBezTo>
                  <a:cubicBezTo>
                    <a:pt x="128904" y="3202758"/>
                    <a:pt x="118988" y="3187887"/>
                    <a:pt x="109072" y="3177971"/>
                  </a:cubicBezTo>
                  <a:cubicBezTo>
                    <a:pt x="104117" y="3173011"/>
                    <a:pt x="99157" y="3168055"/>
                    <a:pt x="94202" y="3168055"/>
                  </a:cubicBezTo>
                  <a:cubicBezTo>
                    <a:pt x="89241" y="3163095"/>
                    <a:pt x="84286" y="3158140"/>
                    <a:pt x="79325" y="3148224"/>
                  </a:cubicBezTo>
                  <a:cubicBezTo>
                    <a:pt x="79325" y="3143264"/>
                    <a:pt x="74370" y="3133348"/>
                    <a:pt x="69410" y="3128393"/>
                  </a:cubicBezTo>
                  <a:cubicBezTo>
                    <a:pt x="64455" y="3123432"/>
                    <a:pt x="64455" y="3113517"/>
                    <a:pt x="59494" y="3108561"/>
                  </a:cubicBezTo>
                  <a:cubicBezTo>
                    <a:pt x="59494" y="3098646"/>
                    <a:pt x="54539" y="3093685"/>
                    <a:pt x="49578" y="3083770"/>
                  </a:cubicBezTo>
                  <a:cubicBezTo>
                    <a:pt x="49578" y="3078814"/>
                    <a:pt x="44623" y="3073854"/>
                    <a:pt x="44623" y="3068899"/>
                  </a:cubicBezTo>
                  <a:cubicBezTo>
                    <a:pt x="24792" y="3024276"/>
                    <a:pt x="9916" y="2969742"/>
                    <a:pt x="4961" y="2910248"/>
                  </a:cubicBezTo>
                  <a:cubicBezTo>
                    <a:pt x="0" y="2885457"/>
                    <a:pt x="0" y="2860670"/>
                    <a:pt x="0" y="2835878"/>
                  </a:cubicBezTo>
                  <a:lnTo>
                    <a:pt x="0" y="1412984"/>
                  </a:lnTo>
                  <a:lnTo>
                    <a:pt x="0" y="94201"/>
                  </a:lnTo>
                  <a:cubicBezTo>
                    <a:pt x="0" y="69410"/>
                    <a:pt x="4961" y="49578"/>
                    <a:pt x="14876" y="34707"/>
                  </a:cubicBezTo>
                  <a:cubicBezTo>
                    <a:pt x="24792" y="9916"/>
                    <a:pt x="44623" y="0"/>
                    <a:pt x="74370" y="0"/>
                  </a:cubicBezTo>
                  <a:close/>
                </a:path>
              </a:pathLst>
            </a:custGeom>
            <a:solidFill>
              <a:schemeClr val="accent1"/>
            </a:solidFill>
            <a:ln w="9525" cap="flat">
              <a:noFill/>
              <a:prstDash val="solid"/>
              <a:miter/>
            </a:ln>
          </p:spPr>
          <p:txBody>
            <a:bodyPr rtlCol="0" anchor="ctr"/>
            <a:lstStyle/>
            <a:p>
              <a:endParaRPr lang="de-DE"/>
            </a:p>
          </p:txBody>
        </p:sp>
      </p:grpSp>
      <p:grpSp>
        <p:nvGrpSpPr>
          <p:cNvPr id="40" name="Gruppieren 39">
            <a:extLst>
              <a:ext uri="{FF2B5EF4-FFF2-40B4-BE49-F238E27FC236}">
                <a16:creationId xmlns:a16="http://schemas.microsoft.com/office/drawing/2014/main" id="{60BFF383-7144-48B1-B25A-648F605ADCE0}"/>
              </a:ext>
            </a:extLst>
          </p:cNvPr>
          <p:cNvGrpSpPr/>
          <p:nvPr userDrawn="1"/>
        </p:nvGrpSpPr>
        <p:grpSpPr>
          <a:xfrm>
            <a:off x="-15883" y="1482939"/>
            <a:ext cx="5883284" cy="5327979"/>
            <a:chOff x="-15883" y="1482939"/>
            <a:chExt cx="5883284" cy="5327979"/>
          </a:xfrm>
        </p:grpSpPr>
        <p:sp>
          <p:nvSpPr>
            <p:cNvPr id="35" name="Freihandform: Form 34">
              <a:extLst>
                <a:ext uri="{FF2B5EF4-FFF2-40B4-BE49-F238E27FC236}">
                  <a16:creationId xmlns:a16="http://schemas.microsoft.com/office/drawing/2014/main" id="{0C0179BC-673E-4194-95C0-7AE950E7CD0E}"/>
                </a:ext>
              </a:extLst>
            </p:cNvPr>
            <p:cNvSpPr/>
            <p:nvPr/>
          </p:nvSpPr>
          <p:spPr>
            <a:xfrm rot="20417692">
              <a:off x="58722" y="2058306"/>
              <a:ext cx="5497446" cy="4752612"/>
            </a:xfrm>
            <a:custGeom>
              <a:avLst/>
              <a:gdLst>
                <a:gd name="connsiteX0" fmla="*/ 278300 w 5497446"/>
                <a:gd name="connsiteY0" fmla="*/ 947721 h 4752612"/>
                <a:gd name="connsiteX1" fmla="*/ 280584 w 5497446"/>
                <a:gd name="connsiteY1" fmla="*/ 979923 h 4752612"/>
                <a:gd name="connsiteX2" fmla="*/ 57539 w 5497446"/>
                <a:gd name="connsiteY2" fmla="*/ 1656778 h 4752612"/>
                <a:gd name="connsiteX3" fmla="*/ 0 w 5497446"/>
                <a:gd name="connsiteY3" fmla="*/ 1724762 h 4752612"/>
                <a:gd name="connsiteX4" fmla="*/ 1981707 w 5497446"/>
                <a:gd name="connsiteY4" fmla="*/ 1244309 h 4752612"/>
                <a:gd name="connsiteX5" fmla="*/ 2610251 w 5497446"/>
                <a:gd name="connsiteY5" fmla="*/ 1621137 h 4752612"/>
                <a:gd name="connsiteX6" fmla="*/ 2616280 w 5497446"/>
                <a:gd name="connsiteY6" fmla="*/ 1627165 h 4752612"/>
                <a:gd name="connsiteX7" fmla="*/ 2637386 w 5497446"/>
                <a:gd name="connsiteY7" fmla="*/ 1648268 h 4752612"/>
                <a:gd name="connsiteX8" fmla="*/ 2644921 w 5497446"/>
                <a:gd name="connsiteY8" fmla="*/ 1655805 h 4752612"/>
                <a:gd name="connsiteX9" fmla="*/ 2682601 w 5497446"/>
                <a:gd name="connsiteY9" fmla="*/ 1698008 h 4752612"/>
                <a:gd name="connsiteX10" fmla="*/ 2688632 w 5497446"/>
                <a:gd name="connsiteY10" fmla="*/ 1705545 h 4752612"/>
                <a:gd name="connsiteX11" fmla="*/ 2705211 w 5497446"/>
                <a:gd name="connsiteY11" fmla="*/ 1725139 h 4752612"/>
                <a:gd name="connsiteX12" fmla="*/ 2715764 w 5497446"/>
                <a:gd name="connsiteY12" fmla="*/ 1737198 h 4752612"/>
                <a:gd name="connsiteX13" fmla="*/ 2732344 w 5497446"/>
                <a:gd name="connsiteY13" fmla="*/ 1758300 h 4752612"/>
                <a:gd name="connsiteX14" fmla="*/ 2739879 w 5497446"/>
                <a:gd name="connsiteY14" fmla="*/ 1768852 h 4752612"/>
                <a:gd name="connsiteX15" fmla="*/ 2795654 w 5497446"/>
                <a:gd name="connsiteY15" fmla="*/ 1845724 h 4752612"/>
                <a:gd name="connsiteX16" fmla="*/ 2798665 w 5497446"/>
                <a:gd name="connsiteY16" fmla="*/ 1850246 h 4752612"/>
                <a:gd name="connsiteX17" fmla="*/ 2908887 w 5497446"/>
                <a:gd name="connsiteY17" fmla="*/ 2047890 h 4752612"/>
                <a:gd name="connsiteX18" fmla="*/ 2934093 w 5497446"/>
                <a:gd name="connsiteY18" fmla="*/ 2115047 h 4752612"/>
                <a:gd name="connsiteX19" fmla="*/ 2886054 w 5497446"/>
                <a:gd name="connsiteY19" fmla="*/ 2122061 h 4752612"/>
                <a:gd name="connsiteX20" fmla="*/ 2657540 w 5497446"/>
                <a:gd name="connsiteY20" fmla="*/ 2180677 h 4752612"/>
                <a:gd name="connsiteX21" fmla="*/ 2254775 w 5497446"/>
                <a:gd name="connsiteY21" fmla="*/ 2333652 h 4752612"/>
                <a:gd name="connsiteX22" fmla="*/ 2219871 w 5497446"/>
                <a:gd name="connsiteY22" fmla="*/ 2350149 h 4752612"/>
                <a:gd name="connsiteX23" fmla="*/ 1901592 w 5497446"/>
                <a:gd name="connsiteY23" fmla="*/ 2489893 h 4752612"/>
                <a:gd name="connsiteX24" fmla="*/ 1816628 w 5497446"/>
                <a:gd name="connsiteY24" fmla="*/ 2524705 h 4752612"/>
                <a:gd name="connsiteX25" fmla="*/ 1688028 w 5497446"/>
                <a:gd name="connsiteY25" fmla="*/ 2580140 h 4752612"/>
                <a:gd name="connsiteX26" fmla="*/ 1500646 w 5497446"/>
                <a:gd name="connsiteY26" fmla="*/ 2658020 h 4752612"/>
                <a:gd name="connsiteX27" fmla="*/ 1374352 w 5497446"/>
                <a:gd name="connsiteY27" fmla="*/ 2707034 h 4752612"/>
                <a:gd name="connsiteX28" fmla="*/ 956433 w 5497446"/>
                <a:gd name="connsiteY28" fmla="*/ 2861834 h 4752612"/>
                <a:gd name="connsiteX29" fmla="*/ 726374 w 5497446"/>
                <a:gd name="connsiteY29" fmla="*/ 2917176 h 4752612"/>
                <a:gd name="connsiteX30" fmla="*/ 559703 w 5497446"/>
                <a:gd name="connsiteY30" fmla="*/ 2937230 h 4752612"/>
                <a:gd name="connsiteX31" fmla="*/ 193852 w 5497446"/>
                <a:gd name="connsiteY31" fmla="*/ 2885939 h 4752612"/>
                <a:gd name="connsiteX32" fmla="*/ 59630 w 5497446"/>
                <a:gd name="connsiteY32" fmla="*/ 2823505 h 4752612"/>
                <a:gd name="connsiteX33" fmla="*/ 50028 w 5497446"/>
                <a:gd name="connsiteY33" fmla="*/ 2689815 h 4752612"/>
                <a:gd name="connsiteX34" fmla="*/ 147319 w 5497446"/>
                <a:gd name="connsiteY34" fmla="*/ 2147185 h 4752612"/>
                <a:gd name="connsiteX35" fmla="*/ 154855 w 5497446"/>
                <a:gd name="connsiteY35" fmla="*/ 2129098 h 4752612"/>
                <a:gd name="connsiteX36" fmla="*/ 162392 w 5497446"/>
                <a:gd name="connsiteY36" fmla="*/ 2111009 h 4752612"/>
                <a:gd name="connsiteX37" fmla="*/ 178971 w 5497446"/>
                <a:gd name="connsiteY37" fmla="*/ 2073327 h 4752612"/>
                <a:gd name="connsiteX38" fmla="*/ 178972 w 5497446"/>
                <a:gd name="connsiteY38" fmla="*/ 2071820 h 4752612"/>
                <a:gd name="connsiteX39" fmla="*/ 307093 w 5497446"/>
                <a:gd name="connsiteY39" fmla="*/ 1839695 h 4752612"/>
                <a:gd name="connsiteX40" fmla="*/ 831634 w 5497446"/>
                <a:gd name="connsiteY40" fmla="*/ 1363386 h 4752612"/>
                <a:gd name="connsiteX41" fmla="*/ 839171 w 5497446"/>
                <a:gd name="connsiteY41" fmla="*/ 1358865 h 4752612"/>
                <a:gd name="connsiteX42" fmla="*/ 858766 w 5497446"/>
                <a:gd name="connsiteY42" fmla="*/ 1348314 h 4752612"/>
                <a:gd name="connsiteX43" fmla="*/ 873839 w 5497446"/>
                <a:gd name="connsiteY43" fmla="*/ 1340778 h 4752612"/>
                <a:gd name="connsiteX44" fmla="*/ 885897 w 5497446"/>
                <a:gd name="connsiteY44" fmla="*/ 1334750 h 4752612"/>
                <a:gd name="connsiteX45" fmla="*/ 908508 w 5497446"/>
                <a:gd name="connsiteY45" fmla="*/ 1324197 h 4752612"/>
                <a:gd name="connsiteX46" fmla="*/ 913029 w 5497446"/>
                <a:gd name="connsiteY46" fmla="*/ 1322691 h 4752612"/>
                <a:gd name="connsiteX47" fmla="*/ 1683262 w 5497446"/>
                <a:gd name="connsiteY47" fmla="*/ 1187033 h 4752612"/>
                <a:gd name="connsiteX48" fmla="*/ 1870168 w 5497446"/>
                <a:gd name="connsiteY48" fmla="*/ 1215671 h 4752612"/>
                <a:gd name="connsiteX49" fmla="*/ 1873182 w 5497446"/>
                <a:gd name="connsiteY49" fmla="*/ 1217178 h 4752612"/>
                <a:gd name="connsiteX50" fmla="*/ 1904835 w 5497446"/>
                <a:gd name="connsiteY50" fmla="*/ 1224715 h 4752612"/>
                <a:gd name="connsiteX51" fmla="*/ 1907848 w 5497446"/>
                <a:gd name="connsiteY51" fmla="*/ 1224715 h 4752612"/>
                <a:gd name="connsiteX52" fmla="*/ 1916893 w 5497446"/>
                <a:gd name="connsiteY52" fmla="*/ 1227731 h 4752612"/>
                <a:gd name="connsiteX53" fmla="*/ 1947039 w 5497446"/>
                <a:gd name="connsiteY53" fmla="*/ 1235265 h 4752612"/>
                <a:gd name="connsiteX54" fmla="*/ 1971157 w 5497446"/>
                <a:gd name="connsiteY54" fmla="*/ 1241296 h 4752612"/>
                <a:gd name="connsiteX55" fmla="*/ 1981707 w 5497446"/>
                <a:gd name="connsiteY55" fmla="*/ 1244309 h 4752612"/>
                <a:gd name="connsiteX56" fmla="*/ 5262147 w 5497446"/>
                <a:gd name="connsiteY56" fmla="*/ 2275312 h 4752612"/>
                <a:gd name="connsiteX57" fmla="*/ 5479158 w 5497446"/>
                <a:gd name="connsiteY57" fmla="*/ 2376503 h 4752612"/>
                <a:gd name="connsiteX58" fmla="*/ 5497446 w 5497446"/>
                <a:gd name="connsiteY58" fmla="*/ 2388412 h 4752612"/>
                <a:gd name="connsiteX59" fmla="*/ 4669810 w 5497446"/>
                <a:gd name="connsiteY59" fmla="*/ 4699257 h 4752612"/>
                <a:gd name="connsiteX60" fmla="*/ 4644233 w 5497446"/>
                <a:gd name="connsiteY60" fmla="*/ 4751376 h 4752612"/>
                <a:gd name="connsiteX61" fmla="*/ 4642953 w 5497446"/>
                <a:gd name="connsiteY61" fmla="*/ 4752612 h 4752612"/>
                <a:gd name="connsiteX62" fmla="*/ 4521514 w 5497446"/>
                <a:gd name="connsiteY62" fmla="*/ 4729196 h 4752612"/>
                <a:gd name="connsiteX63" fmla="*/ 3682823 w 5497446"/>
                <a:gd name="connsiteY63" fmla="*/ 4060807 h 4752612"/>
                <a:gd name="connsiteX64" fmla="*/ 3631193 w 5497446"/>
                <a:gd name="connsiteY64" fmla="*/ 3940500 h 4752612"/>
                <a:gd name="connsiteX65" fmla="*/ 3640059 w 5497446"/>
                <a:gd name="connsiteY65" fmla="*/ 3860136 h 4752612"/>
                <a:gd name="connsiteX66" fmla="*/ 3679037 w 5497446"/>
                <a:gd name="connsiteY66" fmla="*/ 3720951 h 4752612"/>
                <a:gd name="connsiteX67" fmla="*/ 3934476 w 5497446"/>
                <a:gd name="connsiteY67" fmla="*/ 3007737 h 4752612"/>
                <a:gd name="connsiteX68" fmla="*/ 3967950 w 5497446"/>
                <a:gd name="connsiteY68" fmla="*/ 2606845 h 4752612"/>
                <a:gd name="connsiteX69" fmla="*/ 3949478 w 5497446"/>
                <a:gd name="connsiteY69" fmla="*/ 2551406 h 4752612"/>
                <a:gd name="connsiteX70" fmla="*/ 3962303 w 5497446"/>
                <a:gd name="connsiteY70" fmla="*/ 2537577 h 4752612"/>
                <a:gd name="connsiteX71" fmla="*/ 5136495 w 5497446"/>
                <a:gd name="connsiteY71" fmla="*/ 2237623 h 4752612"/>
                <a:gd name="connsiteX72" fmla="*/ 5262147 w 5497446"/>
                <a:gd name="connsiteY72" fmla="*/ 2275312 h 4752612"/>
                <a:gd name="connsiteX73" fmla="*/ 4911816 w 5497446"/>
                <a:gd name="connsiteY73" fmla="*/ 15752 h 4752612"/>
                <a:gd name="connsiteX74" fmla="*/ 5391008 w 5497446"/>
                <a:gd name="connsiteY74" fmla="*/ 187377 h 4752612"/>
                <a:gd name="connsiteX75" fmla="*/ 5411955 w 5497446"/>
                <a:gd name="connsiteY75" fmla="*/ 230649 h 4752612"/>
                <a:gd name="connsiteX76" fmla="*/ 5490710 w 5497446"/>
                <a:gd name="connsiteY76" fmla="*/ 718263 h 4752612"/>
                <a:gd name="connsiteX77" fmla="*/ 5490710 w 5497446"/>
                <a:gd name="connsiteY77" fmla="*/ 734841 h 4752612"/>
                <a:gd name="connsiteX78" fmla="*/ 5487697 w 5497446"/>
                <a:gd name="connsiteY78" fmla="*/ 775539 h 4752612"/>
                <a:gd name="connsiteX79" fmla="*/ 5478653 w 5497446"/>
                <a:gd name="connsiteY79" fmla="*/ 855426 h 4752612"/>
                <a:gd name="connsiteX80" fmla="*/ 5477148 w 5497446"/>
                <a:gd name="connsiteY80" fmla="*/ 864471 h 4752612"/>
                <a:gd name="connsiteX81" fmla="*/ 5468104 w 5497446"/>
                <a:gd name="connsiteY81" fmla="*/ 917227 h 4752612"/>
                <a:gd name="connsiteX82" fmla="*/ 5459059 w 5497446"/>
                <a:gd name="connsiteY82" fmla="*/ 956417 h 4752612"/>
                <a:gd name="connsiteX83" fmla="*/ 5454534 w 5497446"/>
                <a:gd name="connsiteY83" fmla="*/ 977519 h 4752612"/>
                <a:gd name="connsiteX84" fmla="*/ 5273663 w 5497446"/>
                <a:gd name="connsiteY84" fmla="*/ 1390521 h 4752612"/>
                <a:gd name="connsiteX85" fmla="*/ 5260094 w 5497446"/>
                <a:gd name="connsiteY85" fmla="*/ 1410115 h 4752612"/>
                <a:gd name="connsiteX86" fmla="*/ 5238992 w 5497446"/>
                <a:gd name="connsiteY86" fmla="*/ 1440262 h 4752612"/>
                <a:gd name="connsiteX87" fmla="*/ 5205831 w 5497446"/>
                <a:gd name="connsiteY87" fmla="*/ 1483972 h 4752612"/>
                <a:gd name="connsiteX88" fmla="*/ 5202815 w 5497446"/>
                <a:gd name="connsiteY88" fmla="*/ 1486988 h 4752612"/>
                <a:gd name="connsiteX89" fmla="*/ 4883268 w 5497446"/>
                <a:gd name="connsiteY89" fmla="*/ 1768852 h 4752612"/>
                <a:gd name="connsiteX90" fmla="*/ 4880255 w 5497446"/>
                <a:gd name="connsiteY90" fmla="*/ 1770359 h 4752612"/>
                <a:gd name="connsiteX91" fmla="*/ 4835033 w 5497446"/>
                <a:gd name="connsiteY91" fmla="*/ 1797493 h 4752612"/>
                <a:gd name="connsiteX92" fmla="*/ 4824484 w 5497446"/>
                <a:gd name="connsiteY92" fmla="*/ 1803521 h 4752612"/>
                <a:gd name="connsiteX93" fmla="*/ 4785292 w 5497446"/>
                <a:gd name="connsiteY93" fmla="*/ 1824623 h 4752612"/>
                <a:gd name="connsiteX94" fmla="*/ 4768711 w 5497446"/>
                <a:gd name="connsiteY94" fmla="*/ 1833669 h 4752612"/>
                <a:gd name="connsiteX95" fmla="*/ 4734044 w 5497446"/>
                <a:gd name="connsiteY95" fmla="*/ 1850247 h 4752612"/>
                <a:gd name="connsiteX96" fmla="*/ 4709929 w 5497446"/>
                <a:gd name="connsiteY96" fmla="*/ 1860797 h 4752612"/>
                <a:gd name="connsiteX97" fmla="*/ 4679782 w 5497446"/>
                <a:gd name="connsiteY97" fmla="*/ 1872857 h 4752612"/>
                <a:gd name="connsiteX98" fmla="*/ 4651143 w 5497446"/>
                <a:gd name="connsiteY98" fmla="*/ 1883408 h 4752612"/>
                <a:gd name="connsiteX99" fmla="*/ 4622503 w 5497446"/>
                <a:gd name="connsiteY99" fmla="*/ 1892451 h 4752612"/>
                <a:gd name="connsiteX100" fmla="*/ 4592357 w 5497446"/>
                <a:gd name="connsiteY100" fmla="*/ 1903003 h 4752612"/>
                <a:gd name="connsiteX101" fmla="*/ 4563718 w 5497446"/>
                <a:gd name="connsiteY101" fmla="*/ 1912047 h 4752612"/>
                <a:gd name="connsiteX102" fmla="*/ 4533574 w 5497446"/>
                <a:gd name="connsiteY102" fmla="*/ 1921090 h 4752612"/>
                <a:gd name="connsiteX103" fmla="*/ 4497400 w 5497446"/>
                <a:gd name="connsiteY103" fmla="*/ 1930134 h 4752612"/>
                <a:gd name="connsiteX104" fmla="*/ 4474788 w 5497446"/>
                <a:gd name="connsiteY104" fmla="*/ 1936163 h 4752612"/>
                <a:gd name="connsiteX105" fmla="*/ 4423542 w 5497446"/>
                <a:gd name="connsiteY105" fmla="*/ 1945208 h 4752612"/>
                <a:gd name="connsiteX106" fmla="*/ 4414495 w 5497446"/>
                <a:gd name="connsiteY106" fmla="*/ 1946714 h 4752612"/>
                <a:gd name="connsiteX107" fmla="*/ 3662351 w 5497446"/>
                <a:gd name="connsiteY107" fmla="*/ 1842710 h 4752612"/>
                <a:gd name="connsiteX108" fmla="*/ 3029285 w 5497446"/>
                <a:gd name="connsiteY108" fmla="*/ 1190048 h 4752612"/>
                <a:gd name="connsiteX109" fmla="*/ 3029283 w 5497446"/>
                <a:gd name="connsiteY109" fmla="*/ 1188541 h 4752612"/>
                <a:gd name="connsiteX110" fmla="*/ 2987078 w 5497446"/>
                <a:gd name="connsiteY110" fmla="*/ 1078509 h 4752612"/>
                <a:gd name="connsiteX111" fmla="*/ 2984064 w 5497446"/>
                <a:gd name="connsiteY111" fmla="*/ 1067957 h 4752612"/>
                <a:gd name="connsiteX112" fmla="*/ 2968992 w 5497446"/>
                <a:gd name="connsiteY112" fmla="*/ 1016708 h 4752612"/>
                <a:gd name="connsiteX113" fmla="*/ 2965980 w 5497446"/>
                <a:gd name="connsiteY113" fmla="*/ 1006159 h 4752612"/>
                <a:gd name="connsiteX114" fmla="*/ 2953918 w 5497446"/>
                <a:gd name="connsiteY114" fmla="*/ 954908 h 4752612"/>
                <a:gd name="connsiteX115" fmla="*/ 2952411 w 5497446"/>
                <a:gd name="connsiteY115" fmla="*/ 950387 h 4752612"/>
                <a:gd name="connsiteX116" fmla="*/ 2941860 w 5497446"/>
                <a:gd name="connsiteY116" fmla="*/ 891604 h 4752612"/>
                <a:gd name="connsiteX117" fmla="*/ 2940356 w 5497446"/>
                <a:gd name="connsiteY117" fmla="*/ 887081 h 4752612"/>
                <a:gd name="connsiteX118" fmla="*/ 2937340 w 5497446"/>
                <a:gd name="connsiteY118" fmla="*/ 870502 h 4752612"/>
                <a:gd name="connsiteX119" fmla="*/ 2931121 w 5497446"/>
                <a:gd name="connsiteY119" fmla="*/ 781763 h 4752612"/>
                <a:gd name="connsiteX120" fmla="*/ 3043557 w 5497446"/>
                <a:gd name="connsiteY120" fmla="*/ 738536 h 4752612"/>
                <a:gd name="connsiteX121" fmla="*/ 4006650 w 5497446"/>
                <a:gd name="connsiteY121" fmla="*/ 336767 h 4752612"/>
                <a:gd name="connsiteX122" fmla="*/ 4667085 w 5497446"/>
                <a:gd name="connsiteY122" fmla="*/ 51339 h 4752612"/>
                <a:gd name="connsiteX123" fmla="*/ 4793386 w 5497446"/>
                <a:gd name="connsiteY123" fmla="*/ 2334 h 4752612"/>
                <a:gd name="connsiteX124" fmla="*/ 4808536 w 5497446"/>
                <a:gd name="connsiteY124" fmla="*/ 506 h 4752612"/>
                <a:gd name="connsiteX125" fmla="*/ 4911816 w 5497446"/>
                <a:gd name="connsiteY125" fmla="*/ 15752 h 475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5497446" h="4752612">
                  <a:moveTo>
                    <a:pt x="278300" y="947721"/>
                  </a:moveTo>
                  <a:lnTo>
                    <a:pt x="280584" y="979923"/>
                  </a:lnTo>
                  <a:cubicBezTo>
                    <a:pt x="285725" y="1228544"/>
                    <a:pt x="203846" y="1466237"/>
                    <a:pt x="57539" y="1656778"/>
                  </a:cubicBezTo>
                  <a:lnTo>
                    <a:pt x="0" y="1724762"/>
                  </a:lnTo>
                  <a:close/>
                  <a:moveTo>
                    <a:pt x="1981707" y="1244309"/>
                  </a:moveTo>
                  <a:cubicBezTo>
                    <a:pt x="2227399" y="1318169"/>
                    <a:pt x="2439926" y="1449303"/>
                    <a:pt x="2610251" y="1621137"/>
                  </a:cubicBezTo>
                  <a:cubicBezTo>
                    <a:pt x="2611761" y="1622644"/>
                    <a:pt x="2614773" y="1625658"/>
                    <a:pt x="2616280" y="1627165"/>
                  </a:cubicBezTo>
                  <a:cubicBezTo>
                    <a:pt x="2623818" y="1633195"/>
                    <a:pt x="2629848" y="1640731"/>
                    <a:pt x="2637386" y="1648268"/>
                  </a:cubicBezTo>
                  <a:cubicBezTo>
                    <a:pt x="2640398" y="1651283"/>
                    <a:pt x="2641904" y="1652789"/>
                    <a:pt x="2644921" y="1655805"/>
                  </a:cubicBezTo>
                  <a:cubicBezTo>
                    <a:pt x="2658487" y="1669370"/>
                    <a:pt x="2670545" y="1684442"/>
                    <a:pt x="2682601" y="1698008"/>
                  </a:cubicBezTo>
                  <a:cubicBezTo>
                    <a:pt x="2684108" y="1701024"/>
                    <a:pt x="2687126" y="1702530"/>
                    <a:pt x="2688632" y="1705545"/>
                  </a:cubicBezTo>
                  <a:cubicBezTo>
                    <a:pt x="2694663" y="1711575"/>
                    <a:pt x="2699182" y="1719110"/>
                    <a:pt x="2705211" y="1725139"/>
                  </a:cubicBezTo>
                  <a:cubicBezTo>
                    <a:pt x="2709733" y="1729663"/>
                    <a:pt x="2712750" y="1732676"/>
                    <a:pt x="2715764" y="1737198"/>
                  </a:cubicBezTo>
                  <a:cubicBezTo>
                    <a:pt x="2721790" y="1744734"/>
                    <a:pt x="2726314" y="1750764"/>
                    <a:pt x="2732344" y="1758300"/>
                  </a:cubicBezTo>
                  <a:cubicBezTo>
                    <a:pt x="2735358" y="1761315"/>
                    <a:pt x="2736865" y="1765837"/>
                    <a:pt x="2739879" y="1768852"/>
                  </a:cubicBezTo>
                  <a:cubicBezTo>
                    <a:pt x="2759475" y="1792969"/>
                    <a:pt x="2777564" y="1820101"/>
                    <a:pt x="2795654" y="1845724"/>
                  </a:cubicBezTo>
                  <a:cubicBezTo>
                    <a:pt x="2795653" y="1847232"/>
                    <a:pt x="2797157" y="1848740"/>
                    <a:pt x="2798665" y="1850246"/>
                  </a:cubicBezTo>
                  <a:cubicBezTo>
                    <a:pt x="2840116" y="1913551"/>
                    <a:pt x="2877046" y="1979497"/>
                    <a:pt x="2908887" y="2047890"/>
                  </a:cubicBezTo>
                  <a:lnTo>
                    <a:pt x="2934093" y="2115047"/>
                  </a:lnTo>
                  <a:lnTo>
                    <a:pt x="2886054" y="2122061"/>
                  </a:lnTo>
                  <a:cubicBezTo>
                    <a:pt x="2810690" y="2137659"/>
                    <a:pt x="2734693" y="2157563"/>
                    <a:pt x="2657540" y="2180677"/>
                  </a:cubicBezTo>
                  <a:cubicBezTo>
                    <a:pt x="2524818" y="2227382"/>
                    <a:pt x="2385675" y="2271796"/>
                    <a:pt x="2254775" y="2333652"/>
                  </a:cubicBezTo>
                  <a:cubicBezTo>
                    <a:pt x="2246053" y="2337781"/>
                    <a:pt x="2228599" y="2346030"/>
                    <a:pt x="2219871" y="2350149"/>
                  </a:cubicBezTo>
                  <a:cubicBezTo>
                    <a:pt x="2106427" y="2403765"/>
                    <a:pt x="2004010" y="2446826"/>
                    <a:pt x="1901592" y="2489893"/>
                  </a:cubicBezTo>
                  <a:cubicBezTo>
                    <a:pt x="1875410" y="2502261"/>
                    <a:pt x="1842802" y="2512334"/>
                    <a:pt x="1816628" y="2524705"/>
                  </a:cubicBezTo>
                  <a:cubicBezTo>
                    <a:pt x="1772992" y="2545327"/>
                    <a:pt x="1731663" y="2559525"/>
                    <a:pt x="1688028" y="2580140"/>
                  </a:cubicBezTo>
                  <a:cubicBezTo>
                    <a:pt x="1626944" y="2609013"/>
                    <a:pt x="1561734" y="2629155"/>
                    <a:pt x="1500646" y="2658020"/>
                  </a:cubicBezTo>
                  <a:cubicBezTo>
                    <a:pt x="1459318" y="2672215"/>
                    <a:pt x="1415681" y="2692838"/>
                    <a:pt x="1374352" y="2707034"/>
                  </a:cubicBezTo>
                  <a:cubicBezTo>
                    <a:pt x="1237030" y="2766590"/>
                    <a:pt x="1095578" y="2817423"/>
                    <a:pt x="956433" y="2861834"/>
                  </a:cubicBezTo>
                  <a:cubicBezTo>
                    <a:pt x="876074" y="2883795"/>
                    <a:pt x="798013" y="2899336"/>
                    <a:pt x="726374" y="2917176"/>
                  </a:cubicBezTo>
                  <a:cubicBezTo>
                    <a:pt x="672195" y="2926769"/>
                    <a:pt x="611588" y="2934060"/>
                    <a:pt x="559703" y="2937230"/>
                  </a:cubicBezTo>
                  <a:cubicBezTo>
                    <a:pt x="434367" y="2943083"/>
                    <a:pt x="315928" y="2929662"/>
                    <a:pt x="193852" y="2885939"/>
                  </a:cubicBezTo>
                  <a:lnTo>
                    <a:pt x="59630" y="2823505"/>
                  </a:lnTo>
                  <a:lnTo>
                    <a:pt x="50028" y="2689815"/>
                  </a:lnTo>
                  <a:cubicBezTo>
                    <a:pt x="48120" y="2508938"/>
                    <a:pt x="79490" y="2324670"/>
                    <a:pt x="147319" y="2147185"/>
                  </a:cubicBezTo>
                  <a:cubicBezTo>
                    <a:pt x="150333" y="2141155"/>
                    <a:pt x="151839" y="2135128"/>
                    <a:pt x="154855" y="2129098"/>
                  </a:cubicBezTo>
                  <a:cubicBezTo>
                    <a:pt x="157868" y="2123068"/>
                    <a:pt x="159377" y="2117038"/>
                    <a:pt x="162392" y="2111009"/>
                  </a:cubicBezTo>
                  <a:cubicBezTo>
                    <a:pt x="168420" y="2098951"/>
                    <a:pt x="172943" y="2085385"/>
                    <a:pt x="178971" y="2073327"/>
                  </a:cubicBezTo>
                  <a:cubicBezTo>
                    <a:pt x="178971" y="2073327"/>
                    <a:pt x="178972" y="2071820"/>
                    <a:pt x="178972" y="2071820"/>
                  </a:cubicBezTo>
                  <a:cubicBezTo>
                    <a:pt x="215148" y="1988920"/>
                    <a:pt x="258858" y="1912046"/>
                    <a:pt x="307093" y="1839695"/>
                  </a:cubicBezTo>
                  <a:cubicBezTo>
                    <a:pt x="444257" y="1636209"/>
                    <a:pt x="625133" y="1476434"/>
                    <a:pt x="831634" y="1363386"/>
                  </a:cubicBezTo>
                  <a:cubicBezTo>
                    <a:pt x="834650" y="1361880"/>
                    <a:pt x="836156" y="1360373"/>
                    <a:pt x="839171" y="1358865"/>
                  </a:cubicBezTo>
                  <a:cubicBezTo>
                    <a:pt x="845199" y="1354345"/>
                    <a:pt x="852736" y="1351328"/>
                    <a:pt x="858766" y="1348314"/>
                  </a:cubicBezTo>
                  <a:cubicBezTo>
                    <a:pt x="863288" y="1345299"/>
                    <a:pt x="869317" y="1343791"/>
                    <a:pt x="873839" y="1340778"/>
                  </a:cubicBezTo>
                  <a:cubicBezTo>
                    <a:pt x="878362" y="1339271"/>
                    <a:pt x="881375" y="1336254"/>
                    <a:pt x="885897" y="1334750"/>
                  </a:cubicBezTo>
                  <a:cubicBezTo>
                    <a:pt x="893432" y="1331734"/>
                    <a:pt x="900970" y="1327213"/>
                    <a:pt x="908508" y="1324197"/>
                  </a:cubicBezTo>
                  <a:cubicBezTo>
                    <a:pt x="910016" y="1324197"/>
                    <a:pt x="911521" y="1322691"/>
                    <a:pt x="913029" y="1322691"/>
                  </a:cubicBezTo>
                  <a:cubicBezTo>
                    <a:pt x="1148169" y="1212657"/>
                    <a:pt x="1413453" y="1162915"/>
                    <a:pt x="1683262" y="1187033"/>
                  </a:cubicBezTo>
                  <a:cubicBezTo>
                    <a:pt x="1746566" y="1193061"/>
                    <a:pt x="1808367" y="1202107"/>
                    <a:pt x="1870168" y="1215671"/>
                  </a:cubicBezTo>
                  <a:cubicBezTo>
                    <a:pt x="1870166" y="1217178"/>
                    <a:pt x="1871675" y="1217178"/>
                    <a:pt x="1873182" y="1217178"/>
                  </a:cubicBezTo>
                  <a:cubicBezTo>
                    <a:pt x="1883732" y="1220194"/>
                    <a:pt x="1894283" y="1221701"/>
                    <a:pt x="1904835" y="1224715"/>
                  </a:cubicBezTo>
                  <a:cubicBezTo>
                    <a:pt x="1906341" y="1224715"/>
                    <a:pt x="1906341" y="1224715"/>
                    <a:pt x="1907848" y="1224715"/>
                  </a:cubicBezTo>
                  <a:cubicBezTo>
                    <a:pt x="1910864" y="1226222"/>
                    <a:pt x="1913878" y="1227731"/>
                    <a:pt x="1916893" y="1227731"/>
                  </a:cubicBezTo>
                  <a:cubicBezTo>
                    <a:pt x="1925936" y="1229236"/>
                    <a:pt x="1936489" y="1232252"/>
                    <a:pt x="1947039" y="1235265"/>
                  </a:cubicBezTo>
                  <a:cubicBezTo>
                    <a:pt x="1954576" y="1236773"/>
                    <a:pt x="1963620" y="1238281"/>
                    <a:pt x="1971157" y="1241296"/>
                  </a:cubicBezTo>
                  <a:cubicBezTo>
                    <a:pt x="1974170" y="1241296"/>
                    <a:pt x="1978693" y="1242802"/>
                    <a:pt x="1981707" y="1244309"/>
                  </a:cubicBezTo>
                  <a:close/>
                  <a:moveTo>
                    <a:pt x="5262147" y="2275312"/>
                  </a:moveTo>
                  <a:cubicBezTo>
                    <a:pt x="5338616" y="2302558"/>
                    <a:pt x="5411126" y="2336574"/>
                    <a:pt x="5479158" y="2376503"/>
                  </a:cubicBezTo>
                  <a:lnTo>
                    <a:pt x="5497446" y="2388412"/>
                  </a:lnTo>
                  <a:lnTo>
                    <a:pt x="4669810" y="4699257"/>
                  </a:lnTo>
                  <a:cubicBezTo>
                    <a:pt x="4662331" y="4720138"/>
                    <a:pt x="4653850" y="4737490"/>
                    <a:pt x="4644233" y="4751376"/>
                  </a:cubicBezTo>
                  <a:lnTo>
                    <a:pt x="4642953" y="4752612"/>
                  </a:lnTo>
                  <a:lnTo>
                    <a:pt x="4521514" y="4729196"/>
                  </a:lnTo>
                  <a:cubicBezTo>
                    <a:pt x="4142993" y="4635555"/>
                    <a:pt x="3845254" y="4383812"/>
                    <a:pt x="3682823" y="4060807"/>
                  </a:cubicBezTo>
                  <a:lnTo>
                    <a:pt x="3631193" y="3940500"/>
                  </a:lnTo>
                  <a:lnTo>
                    <a:pt x="3640059" y="3860136"/>
                  </a:lnTo>
                  <a:cubicBezTo>
                    <a:pt x="3648881" y="3815266"/>
                    <a:pt x="3661778" y="3769138"/>
                    <a:pt x="3679037" y="3720951"/>
                  </a:cubicBezTo>
                  <a:lnTo>
                    <a:pt x="3934476" y="3007737"/>
                  </a:lnTo>
                  <a:cubicBezTo>
                    <a:pt x="3986255" y="2863167"/>
                    <a:pt x="3996438" y="2732248"/>
                    <a:pt x="3967950" y="2606845"/>
                  </a:cubicBezTo>
                  <a:lnTo>
                    <a:pt x="3949478" y="2551406"/>
                  </a:lnTo>
                  <a:lnTo>
                    <a:pt x="3962303" y="2537577"/>
                  </a:lnTo>
                  <a:cubicBezTo>
                    <a:pt x="4268284" y="2257219"/>
                    <a:pt x="4703896" y="2130606"/>
                    <a:pt x="5136495" y="2237623"/>
                  </a:cubicBezTo>
                  <a:cubicBezTo>
                    <a:pt x="5179452" y="2248175"/>
                    <a:pt x="5221363" y="2260780"/>
                    <a:pt x="5262147" y="2275312"/>
                  </a:cubicBezTo>
                  <a:close/>
                  <a:moveTo>
                    <a:pt x="4911816" y="15752"/>
                  </a:moveTo>
                  <a:lnTo>
                    <a:pt x="5391008" y="187377"/>
                  </a:lnTo>
                  <a:lnTo>
                    <a:pt x="5411955" y="230649"/>
                  </a:lnTo>
                  <a:cubicBezTo>
                    <a:pt x="5468481" y="382511"/>
                    <a:pt x="5496743" y="547185"/>
                    <a:pt x="5490710" y="718263"/>
                  </a:cubicBezTo>
                  <a:cubicBezTo>
                    <a:pt x="5490710" y="724292"/>
                    <a:pt x="5490710" y="728813"/>
                    <a:pt x="5490710" y="734841"/>
                  </a:cubicBezTo>
                  <a:cubicBezTo>
                    <a:pt x="5489203" y="748407"/>
                    <a:pt x="5489204" y="761974"/>
                    <a:pt x="5487697" y="775539"/>
                  </a:cubicBezTo>
                  <a:cubicBezTo>
                    <a:pt x="5484682" y="802672"/>
                    <a:pt x="5481670" y="828298"/>
                    <a:pt x="5478653" y="855426"/>
                  </a:cubicBezTo>
                  <a:cubicBezTo>
                    <a:pt x="5478653" y="858441"/>
                    <a:pt x="5477145" y="861456"/>
                    <a:pt x="5477148" y="864471"/>
                  </a:cubicBezTo>
                  <a:cubicBezTo>
                    <a:pt x="5474130" y="882558"/>
                    <a:pt x="5471118" y="899141"/>
                    <a:pt x="5468104" y="917227"/>
                  </a:cubicBezTo>
                  <a:cubicBezTo>
                    <a:pt x="5465086" y="930793"/>
                    <a:pt x="5462073" y="942851"/>
                    <a:pt x="5459059" y="956417"/>
                  </a:cubicBezTo>
                  <a:cubicBezTo>
                    <a:pt x="5457551" y="963953"/>
                    <a:pt x="5456043" y="969981"/>
                    <a:pt x="5454534" y="977519"/>
                  </a:cubicBezTo>
                  <a:cubicBezTo>
                    <a:pt x="5418360" y="1128248"/>
                    <a:pt x="5356560" y="1266920"/>
                    <a:pt x="5273663" y="1390521"/>
                  </a:cubicBezTo>
                  <a:cubicBezTo>
                    <a:pt x="5269137" y="1398056"/>
                    <a:pt x="5264618" y="1404086"/>
                    <a:pt x="5260094" y="1410115"/>
                  </a:cubicBezTo>
                  <a:cubicBezTo>
                    <a:pt x="5252557" y="1420667"/>
                    <a:pt x="5246526" y="1431217"/>
                    <a:pt x="5238992" y="1440262"/>
                  </a:cubicBezTo>
                  <a:cubicBezTo>
                    <a:pt x="5228440" y="1455334"/>
                    <a:pt x="5217889" y="1470406"/>
                    <a:pt x="5205831" y="1483972"/>
                  </a:cubicBezTo>
                  <a:cubicBezTo>
                    <a:pt x="5204325" y="1483973"/>
                    <a:pt x="5204322" y="1485480"/>
                    <a:pt x="5202815" y="1486988"/>
                  </a:cubicBezTo>
                  <a:cubicBezTo>
                    <a:pt x="5112379" y="1600036"/>
                    <a:pt x="5003854" y="1694995"/>
                    <a:pt x="4883268" y="1768852"/>
                  </a:cubicBezTo>
                  <a:cubicBezTo>
                    <a:pt x="4881760" y="1768852"/>
                    <a:pt x="4881761" y="1770360"/>
                    <a:pt x="4880255" y="1770359"/>
                  </a:cubicBezTo>
                  <a:cubicBezTo>
                    <a:pt x="4865180" y="1779404"/>
                    <a:pt x="4850106" y="1788447"/>
                    <a:pt x="4835033" y="1797493"/>
                  </a:cubicBezTo>
                  <a:cubicBezTo>
                    <a:pt x="4830513" y="1800506"/>
                    <a:pt x="4827498" y="1802014"/>
                    <a:pt x="4824484" y="1803521"/>
                  </a:cubicBezTo>
                  <a:cubicBezTo>
                    <a:pt x="4812424" y="1811056"/>
                    <a:pt x="4798863" y="1818595"/>
                    <a:pt x="4785292" y="1824623"/>
                  </a:cubicBezTo>
                  <a:cubicBezTo>
                    <a:pt x="4780770" y="1827639"/>
                    <a:pt x="4774739" y="1830652"/>
                    <a:pt x="4768711" y="1833669"/>
                  </a:cubicBezTo>
                  <a:cubicBezTo>
                    <a:pt x="4756654" y="1839697"/>
                    <a:pt x="4746103" y="1845725"/>
                    <a:pt x="4734044" y="1850247"/>
                  </a:cubicBezTo>
                  <a:cubicBezTo>
                    <a:pt x="4725001" y="1853262"/>
                    <a:pt x="4717464" y="1857784"/>
                    <a:pt x="4709929" y="1860797"/>
                  </a:cubicBezTo>
                  <a:cubicBezTo>
                    <a:pt x="4699377" y="1865321"/>
                    <a:pt x="4690331" y="1868334"/>
                    <a:pt x="4679782" y="1872857"/>
                  </a:cubicBezTo>
                  <a:cubicBezTo>
                    <a:pt x="4670738" y="1875871"/>
                    <a:pt x="4660186" y="1880395"/>
                    <a:pt x="4651143" y="1883408"/>
                  </a:cubicBezTo>
                  <a:cubicBezTo>
                    <a:pt x="4640592" y="1886423"/>
                    <a:pt x="4631549" y="1889438"/>
                    <a:pt x="4622503" y="1892451"/>
                  </a:cubicBezTo>
                  <a:cubicBezTo>
                    <a:pt x="4613460" y="1895466"/>
                    <a:pt x="4602908" y="1899988"/>
                    <a:pt x="4592357" y="1903003"/>
                  </a:cubicBezTo>
                  <a:cubicBezTo>
                    <a:pt x="4583314" y="1906018"/>
                    <a:pt x="4572765" y="1909032"/>
                    <a:pt x="4563718" y="1912047"/>
                  </a:cubicBezTo>
                  <a:cubicBezTo>
                    <a:pt x="4553170" y="1915061"/>
                    <a:pt x="4544123" y="1918075"/>
                    <a:pt x="4533574" y="1921090"/>
                  </a:cubicBezTo>
                  <a:cubicBezTo>
                    <a:pt x="4521517" y="1924104"/>
                    <a:pt x="4509455" y="1927120"/>
                    <a:pt x="4497400" y="1930134"/>
                  </a:cubicBezTo>
                  <a:cubicBezTo>
                    <a:pt x="4489863" y="1933149"/>
                    <a:pt x="4482325" y="1934657"/>
                    <a:pt x="4474788" y="1936163"/>
                  </a:cubicBezTo>
                  <a:cubicBezTo>
                    <a:pt x="4458210" y="1939179"/>
                    <a:pt x="4440122" y="1942192"/>
                    <a:pt x="4423542" y="1945208"/>
                  </a:cubicBezTo>
                  <a:cubicBezTo>
                    <a:pt x="4420530" y="1945208"/>
                    <a:pt x="4417511" y="1946714"/>
                    <a:pt x="4414495" y="1946714"/>
                  </a:cubicBezTo>
                  <a:cubicBezTo>
                    <a:pt x="4167300" y="1987414"/>
                    <a:pt x="3906535" y="1957265"/>
                    <a:pt x="3662351" y="1842710"/>
                  </a:cubicBezTo>
                  <a:cubicBezTo>
                    <a:pt x="3366920" y="1704039"/>
                    <a:pt x="3149867" y="1467393"/>
                    <a:pt x="3029285" y="1190048"/>
                  </a:cubicBezTo>
                  <a:cubicBezTo>
                    <a:pt x="3029283" y="1188541"/>
                    <a:pt x="3029283" y="1188541"/>
                    <a:pt x="3029283" y="1188541"/>
                  </a:cubicBezTo>
                  <a:cubicBezTo>
                    <a:pt x="3012702" y="1152366"/>
                    <a:pt x="2999137" y="1116190"/>
                    <a:pt x="2987078" y="1078509"/>
                  </a:cubicBezTo>
                  <a:cubicBezTo>
                    <a:pt x="2987082" y="1075495"/>
                    <a:pt x="2985572" y="1070973"/>
                    <a:pt x="2984064" y="1067957"/>
                  </a:cubicBezTo>
                  <a:cubicBezTo>
                    <a:pt x="2979541" y="1051377"/>
                    <a:pt x="2973513" y="1034795"/>
                    <a:pt x="2968992" y="1016708"/>
                  </a:cubicBezTo>
                  <a:cubicBezTo>
                    <a:pt x="2967486" y="1013696"/>
                    <a:pt x="2967486" y="1009173"/>
                    <a:pt x="2965980" y="1006159"/>
                  </a:cubicBezTo>
                  <a:cubicBezTo>
                    <a:pt x="2961458" y="989577"/>
                    <a:pt x="2956932" y="971490"/>
                    <a:pt x="2953918" y="954908"/>
                  </a:cubicBezTo>
                  <a:cubicBezTo>
                    <a:pt x="2952411" y="953402"/>
                    <a:pt x="2952412" y="951895"/>
                    <a:pt x="2952411" y="950387"/>
                  </a:cubicBezTo>
                  <a:cubicBezTo>
                    <a:pt x="2949395" y="930792"/>
                    <a:pt x="2944874" y="911197"/>
                    <a:pt x="2941860" y="891604"/>
                  </a:cubicBezTo>
                  <a:cubicBezTo>
                    <a:pt x="2940353" y="890095"/>
                    <a:pt x="2940352" y="888588"/>
                    <a:pt x="2940356" y="887081"/>
                  </a:cubicBezTo>
                  <a:cubicBezTo>
                    <a:pt x="2938846" y="881050"/>
                    <a:pt x="2938847" y="876530"/>
                    <a:pt x="2937340" y="870502"/>
                  </a:cubicBezTo>
                  <a:lnTo>
                    <a:pt x="2931121" y="781763"/>
                  </a:lnTo>
                  <a:lnTo>
                    <a:pt x="3043557" y="738536"/>
                  </a:lnTo>
                  <a:lnTo>
                    <a:pt x="4006650" y="336767"/>
                  </a:lnTo>
                  <a:lnTo>
                    <a:pt x="4667085" y="51339"/>
                  </a:lnTo>
                  <a:cubicBezTo>
                    <a:pt x="4719445" y="26596"/>
                    <a:pt x="4763081" y="5980"/>
                    <a:pt x="4793386" y="2334"/>
                  </a:cubicBezTo>
                  <a:cubicBezTo>
                    <a:pt x="4799806" y="4633"/>
                    <a:pt x="4802109" y="-1795"/>
                    <a:pt x="4808536" y="506"/>
                  </a:cubicBezTo>
                  <a:cubicBezTo>
                    <a:pt x="4845262" y="-839"/>
                    <a:pt x="4879692" y="4246"/>
                    <a:pt x="4911816" y="15752"/>
                  </a:cubicBezTo>
                  <a:close/>
                </a:path>
              </a:pathLst>
            </a:custGeom>
            <a:solidFill>
              <a:srgbClr val="29B8CE"/>
            </a:solidFill>
            <a:ln w="9212" cap="flat">
              <a:noFill/>
              <a:prstDash val="solid"/>
              <a:miter/>
            </a:ln>
          </p:spPr>
          <p:txBody>
            <a:bodyPr rtlCol="0" anchor="ctr"/>
            <a:lstStyle/>
            <a:p>
              <a:endParaRPr lang="de-DE"/>
            </a:p>
          </p:txBody>
        </p:sp>
        <p:sp>
          <p:nvSpPr>
            <p:cNvPr id="32" name="Grafik 19">
              <a:extLst>
                <a:ext uri="{FF2B5EF4-FFF2-40B4-BE49-F238E27FC236}">
                  <a16:creationId xmlns:a16="http://schemas.microsoft.com/office/drawing/2014/main" id="{2A582591-3818-4B78-BC74-0A6B7E33157B}"/>
                </a:ext>
              </a:extLst>
            </p:cNvPr>
            <p:cNvSpPr/>
            <p:nvPr/>
          </p:nvSpPr>
          <p:spPr>
            <a:xfrm rot="18807008">
              <a:off x="3426754" y="2142995"/>
              <a:ext cx="1980319" cy="2900975"/>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0ECFADE2-739F-4450-80BD-572046B88BA0}"/>
                </a:ext>
              </a:extLst>
            </p:cNvPr>
            <p:cNvSpPr/>
            <p:nvPr/>
          </p:nvSpPr>
          <p:spPr>
            <a:xfrm rot="12078484" flipH="1">
              <a:off x="-15883" y="3406746"/>
              <a:ext cx="1993002" cy="1973966"/>
            </a:xfrm>
            <a:custGeom>
              <a:avLst/>
              <a:gdLst>
                <a:gd name="connsiteX0" fmla="*/ 1189139 w 1993002"/>
                <a:gd name="connsiteY0" fmla="*/ 1946704 h 1973966"/>
                <a:gd name="connsiteX1" fmla="*/ 1843409 w 1993002"/>
                <a:gd name="connsiteY1" fmla="*/ 1753327 h 1973966"/>
                <a:gd name="connsiteX2" fmla="*/ 1773694 w 1993002"/>
                <a:gd name="connsiteY2" fmla="*/ 881892 h 1973966"/>
                <a:gd name="connsiteX3" fmla="*/ 1208134 w 1993002"/>
                <a:gd name="connsiteY3" fmla="*/ 760763 h 1973966"/>
                <a:gd name="connsiteX4" fmla="*/ 1028618 w 1993002"/>
                <a:gd name="connsiteY4" fmla="*/ 845292 h 1973966"/>
                <a:gd name="connsiteX5" fmla="*/ 1024260 w 1993002"/>
                <a:gd name="connsiteY5" fmla="*/ 847907 h 1973966"/>
                <a:gd name="connsiteX6" fmla="*/ 838645 w 1993002"/>
                <a:gd name="connsiteY6" fmla="*/ 838320 h 1973966"/>
                <a:gd name="connsiteX7" fmla="*/ 837773 w 1993002"/>
                <a:gd name="connsiteY7" fmla="*/ 837449 h 1973966"/>
                <a:gd name="connsiteX8" fmla="*/ 802045 w 1993002"/>
                <a:gd name="connsiteY8" fmla="*/ 697148 h 1973966"/>
                <a:gd name="connsiteX9" fmla="*/ 805531 w 1993002"/>
                <a:gd name="connsiteY9" fmla="*/ 688434 h 1973966"/>
                <a:gd name="connsiteX10" fmla="*/ 805530 w 1993002"/>
                <a:gd name="connsiteY10" fmla="*/ 687563 h 1973966"/>
                <a:gd name="connsiteX11" fmla="*/ 823830 w 1993002"/>
                <a:gd name="connsiteY11" fmla="*/ 638762 h 1973966"/>
                <a:gd name="connsiteX12" fmla="*/ 825573 w 1993002"/>
                <a:gd name="connsiteY12" fmla="*/ 633534 h 1973966"/>
                <a:gd name="connsiteX13" fmla="*/ 830802 w 1993002"/>
                <a:gd name="connsiteY13" fmla="*/ 614362 h 1973966"/>
                <a:gd name="connsiteX14" fmla="*/ 832545 w 1993002"/>
                <a:gd name="connsiteY14" fmla="*/ 606518 h 1973966"/>
                <a:gd name="connsiteX15" fmla="*/ 836030 w 1993002"/>
                <a:gd name="connsiteY15" fmla="*/ 589090 h 1973966"/>
                <a:gd name="connsiteX16" fmla="*/ 836902 w 1993002"/>
                <a:gd name="connsiteY16" fmla="*/ 586476 h 1973966"/>
                <a:gd name="connsiteX17" fmla="*/ 839516 w 1993002"/>
                <a:gd name="connsiteY17" fmla="*/ 570790 h 1973966"/>
                <a:gd name="connsiteX18" fmla="*/ 840388 w 1993002"/>
                <a:gd name="connsiteY18" fmla="*/ 567304 h 1973966"/>
                <a:gd name="connsiteX19" fmla="*/ 843002 w 1993002"/>
                <a:gd name="connsiteY19" fmla="*/ 549004 h 1973966"/>
                <a:gd name="connsiteX20" fmla="*/ 843874 w 1993002"/>
                <a:gd name="connsiteY20" fmla="*/ 542904 h 1973966"/>
                <a:gd name="connsiteX21" fmla="*/ 845617 w 1993002"/>
                <a:gd name="connsiteY21" fmla="*/ 521118 h 1973966"/>
                <a:gd name="connsiteX22" fmla="*/ 845616 w 1993002"/>
                <a:gd name="connsiteY22" fmla="*/ 516761 h 1973966"/>
                <a:gd name="connsiteX23" fmla="*/ 846487 w 1993002"/>
                <a:gd name="connsiteY23" fmla="*/ 497590 h 1973966"/>
                <a:gd name="connsiteX24" fmla="*/ 846488 w 1993002"/>
                <a:gd name="connsiteY24" fmla="*/ 494104 h 1973966"/>
                <a:gd name="connsiteX25" fmla="*/ 846487 w 1993002"/>
                <a:gd name="connsiteY25" fmla="*/ 492361 h 1973966"/>
                <a:gd name="connsiteX26" fmla="*/ 845617 w 1993002"/>
                <a:gd name="connsiteY26" fmla="*/ 471447 h 1973966"/>
                <a:gd name="connsiteX27" fmla="*/ 845617 w 1993002"/>
                <a:gd name="connsiteY27" fmla="*/ 464475 h 1973966"/>
                <a:gd name="connsiteX28" fmla="*/ 844745 w 1993002"/>
                <a:gd name="connsiteY28" fmla="*/ 449660 h 1973966"/>
                <a:gd name="connsiteX29" fmla="*/ 843874 w 1993002"/>
                <a:gd name="connsiteY29" fmla="*/ 438332 h 1973966"/>
                <a:gd name="connsiteX30" fmla="*/ 842131 w 1993002"/>
                <a:gd name="connsiteY30" fmla="*/ 423517 h 1973966"/>
                <a:gd name="connsiteX31" fmla="*/ 840388 w 1993002"/>
                <a:gd name="connsiteY31" fmla="*/ 412189 h 1973966"/>
                <a:gd name="connsiteX32" fmla="*/ 838645 w 1993002"/>
                <a:gd name="connsiteY32" fmla="*/ 403475 h 1973966"/>
                <a:gd name="connsiteX33" fmla="*/ 834287 w 1993002"/>
                <a:gd name="connsiteY33" fmla="*/ 382560 h 1973966"/>
                <a:gd name="connsiteX34" fmla="*/ 832545 w 1993002"/>
                <a:gd name="connsiteY34" fmla="*/ 375589 h 1973966"/>
                <a:gd name="connsiteX35" fmla="*/ 829059 w 1993002"/>
                <a:gd name="connsiteY35" fmla="*/ 363389 h 1973966"/>
                <a:gd name="connsiteX36" fmla="*/ 827316 w 1993002"/>
                <a:gd name="connsiteY36" fmla="*/ 356418 h 1973966"/>
                <a:gd name="connsiteX37" fmla="*/ 821216 w 1993002"/>
                <a:gd name="connsiteY37" fmla="*/ 338117 h 1973966"/>
                <a:gd name="connsiteX38" fmla="*/ 817731 w 1993002"/>
                <a:gd name="connsiteY38" fmla="*/ 328532 h 1973966"/>
                <a:gd name="connsiteX39" fmla="*/ 814245 w 1993002"/>
                <a:gd name="connsiteY39" fmla="*/ 318945 h 1973966"/>
                <a:gd name="connsiteX40" fmla="*/ 809016 w 1993002"/>
                <a:gd name="connsiteY40" fmla="*/ 305002 h 1973966"/>
                <a:gd name="connsiteX41" fmla="*/ 806402 w 1993002"/>
                <a:gd name="connsiteY41" fmla="*/ 298031 h 1973966"/>
                <a:gd name="connsiteX42" fmla="*/ 798559 w 1993002"/>
                <a:gd name="connsiteY42" fmla="*/ 281474 h 1973966"/>
                <a:gd name="connsiteX43" fmla="*/ 795944 w 1993002"/>
                <a:gd name="connsiteY43" fmla="*/ 277116 h 1973966"/>
                <a:gd name="connsiteX44" fmla="*/ 774159 w 1993002"/>
                <a:gd name="connsiteY44" fmla="*/ 237902 h 1973966"/>
                <a:gd name="connsiteX45" fmla="*/ 702701 w 1993002"/>
                <a:gd name="connsiteY45" fmla="*/ 146401 h 1973966"/>
                <a:gd name="connsiteX46" fmla="*/ 700086 w 1993002"/>
                <a:gd name="connsiteY46" fmla="*/ 143787 h 1973966"/>
                <a:gd name="connsiteX47" fmla="*/ 686143 w 1993002"/>
                <a:gd name="connsiteY47" fmla="*/ 130715 h 1973966"/>
                <a:gd name="connsiteX48" fmla="*/ 683530 w 1993002"/>
                <a:gd name="connsiteY48" fmla="*/ 128972 h 1973966"/>
                <a:gd name="connsiteX49" fmla="*/ 669587 w 1993002"/>
                <a:gd name="connsiteY49" fmla="*/ 116772 h 1973966"/>
                <a:gd name="connsiteX50" fmla="*/ 667844 w 1993002"/>
                <a:gd name="connsiteY50" fmla="*/ 115901 h 1973966"/>
                <a:gd name="connsiteX51" fmla="*/ 653901 w 1993002"/>
                <a:gd name="connsiteY51" fmla="*/ 104572 h 1973966"/>
                <a:gd name="connsiteX52" fmla="*/ 648672 w 1993002"/>
                <a:gd name="connsiteY52" fmla="*/ 100216 h 1973966"/>
                <a:gd name="connsiteX53" fmla="*/ 632115 w 1993002"/>
                <a:gd name="connsiteY53" fmla="*/ 88015 h 1973966"/>
                <a:gd name="connsiteX54" fmla="*/ 628629 w 1993002"/>
                <a:gd name="connsiteY54" fmla="*/ 85400 h 1973966"/>
                <a:gd name="connsiteX55" fmla="*/ 586800 w 1993002"/>
                <a:gd name="connsiteY55" fmla="*/ 60130 h 1973966"/>
                <a:gd name="connsiteX56" fmla="*/ 579828 w 1993002"/>
                <a:gd name="connsiteY56" fmla="*/ 56644 h 1973966"/>
                <a:gd name="connsiteX57" fmla="*/ 565015 w 1993002"/>
                <a:gd name="connsiteY57" fmla="*/ 48800 h 1973966"/>
                <a:gd name="connsiteX58" fmla="*/ 556300 w 1993002"/>
                <a:gd name="connsiteY58" fmla="*/ 44444 h 1973966"/>
                <a:gd name="connsiteX59" fmla="*/ 543228 w 1993002"/>
                <a:gd name="connsiteY59" fmla="*/ 38343 h 1973966"/>
                <a:gd name="connsiteX60" fmla="*/ 533643 w 1993002"/>
                <a:gd name="connsiteY60" fmla="*/ 34858 h 1973966"/>
                <a:gd name="connsiteX61" fmla="*/ 520571 w 1993002"/>
                <a:gd name="connsiteY61" fmla="*/ 29629 h 1973966"/>
                <a:gd name="connsiteX62" fmla="*/ 510986 w 1993002"/>
                <a:gd name="connsiteY62" fmla="*/ 26143 h 1973966"/>
                <a:gd name="connsiteX63" fmla="*/ 497043 w 1993002"/>
                <a:gd name="connsiteY63" fmla="*/ 21786 h 1973966"/>
                <a:gd name="connsiteX64" fmla="*/ 488328 w 1993002"/>
                <a:gd name="connsiteY64" fmla="*/ 19172 h 1973966"/>
                <a:gd name="connsiteX65" fmla="*/ 473513 w 1993002"/>
                <a:gd name="connsiteY65" fmla="*/ 14815 h 1973966"/>
                <a:gd name="connsiteX66" fmla="*/ 464799 w 1993002"/>
                <a:gd name="connsiteY66" fmla="*/ 13072 h 1973966"/>
                <a:gd name="connsiteX67" fmla="*/ 449985 w 1993002"/>
                <a:gd name="connsiteY67" fmla="*/ 9586 h 1973966"/>
                <a:gd name="connsiteX68" fmla="*/ 434299 w 1993002"/>
                <a:gd name="connsiteY68" fmla="*/ 6972 h 1973966"/>
                <a:gd name="connsiteX69" fmla="*/ 420356 w 1993002"/>
                <a:gd name="connsiteY69" fmla="*/ 4358 h 1973966"/>
                <a:gd name="connsiteX70" fmla="*/ 402928 w 1993002"/>
                <a:gd name="connsiteY70" fmla="*/ 1743 h 1973966"/>
                <a:gd name="connsiteX71" fmla="*/ 395084 w 1993002"/>
                <a:gd name="connsiteY71" fmla="*/ 872 h 1973966"/>
                <a:gd name="connsiteX72" fmla="*/ 377656 w 1993002"/>
                <a:gd name="connsiteY72" fmla="*/ 0 h 1973966"/>
                <a:gd name="connsiteX73" fmla="*/ 368941 w 1993002"/>
                <a:gd name="connsiteY73" fmla="*/ 0 h 1973966"/>
                <a:gd name="connsiteX74" fmla="*/ 353255 w 1993002"/>
                <a:gd name="connsiteY74" fmla="*/ 0 h 1973966"/>
                <a:gd name="connsiteX75" fmla="*/ 351513 w 1993002"/>
                <a:gd name="connsiteY75" fmla="*/ 0 h 1973966"/>
                <a:gd name="connsiteX76" fmla="*/ 332341 w 1993002"/>
                <a:gd name="connsiteY76" fmla="*/ 0 h 1973966"/>
                <a:gd name="connsiteX77" fmla="*/ 330598 w 1993002"/>
                <a:gd name="connsiteY77" fmla="*/ 0 h 1973966"/>
                <a:gd name="connsiteX78" fmla="*/ 328840 w 1993002"/>
                <a:gd name="connsiteY78" fmla="*/ 146 h 1973966"/>
                <a:gd name="connsiteX79" fmla="*/ 0 w 1993002"/>
                <a:gd name="connsiteY79" fmla="*/ 843225 h 1973966"/>
                <a:gd name="connsiteX80" fmla="*/ 9039 w 1993002"/>
                <a:gd name="connsiteY80" fmla="*/ 852263 h 1973966"/>
                <a:gd name="connsiteX81" fmla="*/ 15139 w 1993002"/>
                <a:gd name="connsiteY81" fmla="*/ 857492 h 1973966"/>
                <a:gd name="connsiteX82" fmla="*/ 30825 w 1993002"/>
                <a:gd name="connsiteY82" fmla="*/ 871435 h 1973966"/>
                <a:gd name="connsiteX83" fmla="*/ 31696 w 1993002"/>
                <a:gd name="connsiteY83" fmla="*/ 872307 h 1973966"/>
                <a:gd name="connsiteX84" fmla="*/ 37796 w 1993002"/>
                <a:gd name="connsiteY84" fmla="*/ 877535 h 1973966"/>
                <a:gd name="connsiteX85" fmla="*/ 43897 w 1993002"/>
                <a:gd name="connsiteY85" fmla="*/ 882764 h 1973966"/>
                <a:gd name="connsiteX86" fmla="*/ 50868 w 1993002"/>
                <a:gd name="connsiteY86" fmla="*/ 887992 h 1973966"/>
                <a:gd name="connsiteX87" fmla="*/ 56968 w 1993002"/>
                <a:gd name="connsiteY87" fmla="*/ 893221 h 1973966"/>
                <a:gd name="connsiteX88" fmla="*/ 63939 w 1993002"/>
                <a:gd name="connsiteY88" fmla="*/ 898450 h 1973966"/>
                <a:gd name="connsiteX89" fmla="*/ 70040 w 1993002"/>
                <a:gd name="connsiteY89" fmla="*/ 902807 h 1973966"/>
                <a:gd name="connsiteX90" fmla="*/ 77882 w 1993002"/>
                <a:gd name="connsiteY90" fmla="*/ 908035 h 1973966"/>
                <a:gd name="connsiteX91" fmla="*/ 83983 w 1993002"/>
                <a:gd name="connsiteY91" fmla="*/ 911521 h 1973966"/>
                <a:gd name="connsiteX92" fmla="*/ 91825 w 1993002"/>
                <a:gd name="connsiteY92" fmla="*/ 916749 h 1973966"/>
                <a:gd name="connsiteX93" fmla="*/ 97926 w 1993002"/>
                <a:gd name="connsiteY93" fmla="*/ 920235 h 1973966"/>
                <a:gd name="connsiteX94" fmla="*/ 106640 w 1993002"/>
                <a:gd name="connsiteY94" fmla="*/ 925464 h 1973966"/>
                <a:gd name="connsiteX95" fmla="*/ 111869 w 1993002"/>
                <a:gd name="connsiteY95" fmla="*/ 928950 h 1973966"/>
                <a:gd name="connsiteX96" fmla="*/ 120583 w 1993002"/>
                <a:gd name="connsiteY96" fmla="*/ 933307 h 1973966"/>
                <a:gd name="connsiteX97" fmla="*/ 125811 w 1993002"/>
                <a:gd name="connsiteY97" fmla="*/ 935921 h 1973966"/>
                <a:gd name="connsiteX98" fmla="*/ 134526 w 1993002"/>
                <a:gd name="connsiteY98" fmla="*/ 940279 h 1973966"/>
                <a:gd name="connsiteX99" fmla="*/ 140625 w 1993002"/>
                <a:gd name="connsiteY99" fmla="*/ 942892 h 1973966"/>
                <a:gd name="connsiteX100" fmla="*/ 149340 w 1993002"/>
                <a:gd name="connsiteY100" fmla="*/ 947250 h 1973966"/>
                <a:gd name="connsiteX101" fmla="*/ 155440 w 1993002"/>
                <a:gd name="connsiteY101" fmla="*/ 949864 h 1973966"/>
                <a:gd name="connsiteX102" fmla="*/ 164155 w 1993002"/>
                <a:gd name="connsiteY102" fmla="*/ 953350 h 1973966"/>
                <a:gd name="connsiteX103" fmla="*/ 170254 w 1993002"/>
                <a:gd name="connsiteY103" fmla="*/ 955965 h 1973966"/>
                <a:gd name="connsiteX104" fmla="*/ 178968 w 1993002"/>
                <a:gd name="connsiteY104" fmla="*/ 959450 h 1973966"/>
                <a:gd name="connsiteX105" fmla="*/ 185940 w 1993002"/>
                <a:gd name="connsiteY105" fmla="*/ 962064 h 1973966"/>
                <a:gd name="connsiteX106" fmla="*/ 193783 w 1993002"/>
                <a:gd name="connsiteY106" fmla="*/ 964679 h 1973966"/>
                <a:gd name="connsiteX107" fmla="*/ 201626 w 1993002"/>
                <a:gd name="connsiteY107" fmla="*/ 967293 h 1973966"/>
                <a:gd name="connsiteX108" fmla="*/ 209469 w 1993002"/>
                <a:gd name="connsiteY108" fmla="*/ 969908 h 1973966"/>
                <a:gd name="connsiteX109" fmla="*/ 217312 w 1993002"/>
                <a:gd name="connsiteY109" fmla="*/ 972521 h 1973966"/>
                <a:gd name="connsiteX110" fmla="*/ 225155 w 1993002"/>
                <a:gd name="connsiteY110" fmla="*/ 974264 h 1973966"/>
                <a:gd name="connsiteX111" fmla="*/ 233869 w 1993002"/>
                <a:gd name="connsiteY111" fmla="*/ 976007 h 1973966"/>
                <a:gd name="connsiteX112" fmla="*/ 241712 w 1993002"/>
                <a:gd name="connsiteY112" fmla="*/ 977750 h 1973966"/>
                <a:gd name="connsiteX113" fmla="*/ 250426 w 1993002"/>
                <a:gd name="connsiteY113" fmla="*/ 979493 h 1973966"/>
                <a:gd name="connsiteX114" fmla="*/ 258269 w 1993002"/>
                <a:gd name="connsiteY114" fmla="*/ 981236 h 1973966"/>
                <a:gd name="connsiteX115" fmla="*/ 266112 w 1993002"/>
                <a:gd name="connsiteY115" fmla="*/ 982979 h 1973966"/>
                <a:gd name="connsiteX116" fmla="*/ 274826 w 1993002"/>
                <a:gd name="connsiteY116" fmla="*/ 983850 h 1973966"/>
                <a:gd name="connsiteX117" fmla="*/ 282670 w 1993002"/>
                <a:gd name="connsiteY117" fmla="*/ 984721 h 1973966"/>
                <a:gd name="connsiteX118" fmla="*/ 291384 w 1993002"/>
                <a:gd name="connsiteY118" fmla="*/ 985593 h 1973966"/>
                <a:gd name="connsiteX119" fmla="*/ 298355 w 1993002"/>
                <a:gd name="connsiteY119" fmla="*/ 986464 h 1973966"/>
                <a:gd name="connsiteX120" fmla="*/ 307941 w 1993002"/>
                <a:gd name="connsiteY120" fmla="*/ 987336 h 1973966"/>
                <a:gd name="connsiteX121" fmla="*/ 314912 w 1993002"/>
                <a:gd name="connsiteY121" fmla="*/ 988207 h 1973966"/>
                <a:gd name="connsiteX122" fmla="*/ 325370 w 1993002"/>
                <a:gd name="connsiteY122" fmla="*/ 989079 h 1973966"/>
                <a:gd name="connsiteX123" fmla="*/ 331470 w 1993002"/>
                <a:gd name="connsiteY123" fmla="*/ 989079 h 1973966"/>
                <a:gd name="connsiteX124" fmla="*/ 342798 w 1993002"/>
                <a:gd name="connsiteY124" fmla="*/ 989079 h 1973966"/>
                <a:gd name="connsiteX125" fmla="*/ 348027 w 1993002"/>
                <a:gd name="connsiteY125" fmla="*/ 989079 h 1973966"/>
                <a:gd name="connsiteX126" fmla="*/ 348899 w 1993002"/>
                <a:gd name="connsiteY126" fmla="*/ 989079 h 1973966"/>
                <a:gd name="connsiteX127" fmla="*/ 370684 w 1993002"/>
                <a:gd name="connsiteY127" fmla="*/ 988207 h 1973966"/>
                <a:gd name="connsiteX128" fmla="*/ 377656 w 1993002"/>
                <a:gd name="connsiteY128" fmla="*/ 988207 h 1973966"/>
                <a:gd name="connsiteX129" fmla="*/ 394213 w 1993002"/>
                <a:gd name="connsiteY129" fmla="*/ 987336 h 1973966"/>
                <a:gd name="connsiteX130" fmla="*/ 405541 w 1993002"/>
                <a:gd name="connsiteY130" fmla="*/ 986464 h 1973966"/>
                <a:gd name="connsiteX131" fmla="*/ 416871 w 1993002"/>
                <a:gd name="connsiteY131" fmla="*/ 984721 h 1973966"/>
                <a:gd name="connsiteX132" fmla="*/ 428199 w 1993002"/>
                <a:gd name="connsiteY132" fmla="*/ 982979 h 1973966"/>
                <a:gd name="connsiteX133" fmla="*/ 436042 w 1993002"/>
                <a:gd name="connsiteY133" fmla="*/ 981236 h 1973966"/>
                <a:gd name="connsiteX134" fmla="*/ 456957 w 1993002"/>
                <a:gd name="connsiteY134" fmla="*/ 976879 h 1973966"/>
                <a:gd name="connsiteX135" fmla="*/ 463056 w 1993002"/>
                <a:gd name="connsiteY135" fmla="*/ 975136 h 1973966"/>
                <a:gd name="connsiteX136" fmla="*/ 476128 w 1993002"/>
                <a:gd name="connsiteY136" fmla="*/ 971650 h 1973966"/>
                <a:gd name="connsiteX137" fmla="*/ 478742 w 1993002"/>
                <a:gd name="connsiteY137" fmla="*/ 970779 h 1973966"/>
                <a:gd name="connsiteX138" fmla="*/ 503142 w 1993002"/>
                <a:gd name="connsiteY138" fmla="*/ 962936 h 1973966"/>
                <a:gd name="connsiteX139" fmla="*/ 510986 w 1993002"/>
                <a:gd name="connsiteY139" fmla="*/ 960321 h 1973966"/>
                <a:gd name="connsiteX140" fmla="*/ 521443 w 1993002"/>
                <a:gd name="connsiteY140" fmla="*/ 956836 h 1973966"/>
                <a:gd name="connsiteX141" fmla="*/ 522314 w 1993002"/>
                <a:gd name="connsiteY141" fmla="*/ 956836 h 1973966"/>
                <a:gd name="connsiteX142" fmla="*/ 524928 w 1993002"/>
                <a:gd name="connsiteY142" fmla="*/ 955965 h 1973966"/>
                <a:gd name="connsiteX143" fmla="*/ 544100 w 1993002"/>
                <a:gd name="connsiteY143" fmla="*/ 948121 h 1973966"/>
                <a:gd name="connsiteX144" fmla="*/ 551072 w 1993002"/>
                <a:gd name="connsiteY144" fmla="*/ 944635 h 1973966"/>
                <a:gd name="connsiteX145" fmla="*/ 565886 w 1993002"/>
                <a:gd name="connsiteY145" fmla="*/ 937664 h 1973966"/>
                <a:gd name="connsiteX146" fmla="*/ 575472 w 1993002"/>
                <a:gd name="connsiteY146" fmla="*/ 932435 h 1973966"/>
                <a:gd name="connsiteX147" fmla="*/ 587672 w 1993002"/>
                <a:gd name="connsiteY147" fmla="*/ 926336 h 1973966"/>
                <a:gd name="connsiteX148" fmla="*/ 599000 w 1993002"/>
                <a:gd name="connsiteY148" fmla="*/ 920235 h 1973966"/>
                <a:gd name="connsiteX149" fmla="*/ 608586 w 1993002"/>
                <a:gd name="connsiteY149" fmla="*/ 914136 h 1973966"/>
                <a:gd name="connsiteX150" fmla="*/ 616429 w 1993002"/>
                <a:gd name="connsiteY150" fmla="*/ 908907 h 1973966"/>
                <a:gd name="connsiteX151" fmla="*/ 624272 w 1993002"/>
                <a:gd name="connsiteY151" fmla="*/ 903678 h 1973966"/>
                <a:gd name="connsiteX152" fmla="*/ 768058 w 1993002"/>
                <a:gd name="connsiteY152" fmla="*/ 914135 h 1973966"/>
                <a:gd name="connsiteX153" fmla="*/ 768930 w 1993002"/>
                <a:gd name="connsiteY153" fmla="*/ 915007 h 1973966"/>
                <a:gd name="connsiteX154" fmla="*/ 810759 w 1993002"/>
                <a:gd name="connsiteY154" fmla="*/ 1096265 h 1973966"/>
                <a:gd name="connsiteX155" fmla="*/ 808144 w 1993002"/>
                <a:gd name="connsiteY155" fmla="*/ 1101494 h 1973966"/>
                <a:gd name="connsiteX156" fmla="*/ 756730 w 1993002"/>
                <a:gd name="connsiteY156" fmla="*/ 1293209 h 1973966"/>
                <a:gd name="connsiteX157" fmla="*/ 973717 w 1993002"/>
                <a:gd name="connsiteY157" fmla="*/ 1829142 h 1973966"/>
                <a:gd name="connsiteX158" fmla="*/ 1189139 w 1993002"/>
                <a:gd name="connsiteY158" fmla="*/ 1946704 h 197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Lst>
              <a:rect l="l" t="t" r="r" b="b"/>
              <a:pathLst>
                <a:path w="1993002" h="1973966">
                  <a:moveTo>
                    <a:pt x="1189139" y="1946704"/>
                  </a:moveTo>
                  <a:cubicBezTo>
                    <a:pt x="1419238" y="2017535"/>
                    <a:pt x="1679362" y="1949400"/>
                    <a:pt x="1843409" y="1753327"/>
                  </a:cubicBezTo>
                  <a:cubicBezTo>
                    <a:pt x="2069111" y="1491026"/>
                    <a:pt x="2034253" y="1101494"/>
                    <a:pt x="1773694" y="881892"/>
                  </a:cubicBezTo>
                  <a:cubicBezTo>
                    <a:pt x="1610736" y="745077"/>
                    <a:pt x="1398106" y="706734"/>
                    <a:pt x="1208134" y="760763"/>
                  </a:cubicBezTo>
                  <a:cubicBezTo>
                    <a:pt x="1144518" y="779063"/>
                    <a:pt x="1084390" y="806949"/>
                    <a:pt x="1028618" y="845292"/>
                  </a:cubicBezTo>
                  <a:cubicBezTo>
                    <a:pt x="1026875" y="846164"/>
                    <a:pt x="1026003" y="847035"/>
                    <a:pt x="1024260" y="847907"/>
                  </a:cubicBezTo>
                  <a:cubicBezTo>
                    <a:pt x="968488" y="885378"/>
                    <a:pt x="892674" y="883635"/>
                    <a:pt x="838645" y="838320"/>
                  </a:cubicBezTo>
                  <a:lnTo>
                    <a:pt x="837773" y="837449"/>
                  </a:lnTo>
                  <a:cubicBezTo>
                    <a:pt x="795944" y="802592"/>
                    <a:pt x="782873" y="745077"/>
                    <a:pt x="802045" y="697148"/>
                  </a:cubicBezTo>
                  <a:cubicBezTo>
                    <a:pt x="802916" y="694534"/>
                    <a:pt x="804659" y="691048"/>
                    <a:pt x="805531" y="688434"/>
                  </a:cubicBezTo>
                  <a:cubicBezTo>
                    <a:pt x="805531" y="688434"/>
                    <a:pt x="805530" y="687563"/>
                    <a:pt x="805530" y="687563"/>
                  </a:cubicBezTo>
                  <a:cubicBezTo>
                    <a:pt x="812502" y="671877"/>
                    <a:pt x="818602" y="655319"/>
                    <a:pt x="823830" y="638762"/>
                  </a:cubicBezTo>
                  <a:cubicBezTo>
                    <a:pt x="824702" y="637019"/>
                    <a:pt x="824702" y="635276"/>
                    <a:pt x="825573" y="633534"/>
                  </a:cubicBezTo>
                  <a:cubicBezTo>
                    <a:pt x="827316" y="627433"/>
                    <a:pt x="829059" y="620461"/>
                    <a:pt x="830802" y="614362"/>
                  </a:cubicBezTo>
                  <a:cubicBezTo>
                    <a:pt x="831674" y="611747"/>
                    <a:pt x="831674" y="609134"/>
                    <a:pt x="832545" y="606518"/>
                  </a:cubicBezTo>
                  <a:cubicBezTo>
                    <a:pt x="834287" y="600419"/>
                    <a:pt x="835160" y="595190"/>
                    <a:pt x="836030" y="589090"/>
                  </a:cubicBezTo>
                  <a:cubicBezTo>
                    <a:pt x="836030" y="588219"/>
                    <a:pt x="836902" y="587347"/>
                    <a:pt x="836902" y="586476"/>
                  </a:cubicBezTo>
                  <a:cubicBezTo>
                    <a:pt x="837773" y="581247"/>
                    <a:pt x="838645" y="576019"/>
                    <a:pt x="839516" y="570790"/>
                  </a:cubicBezTo>
                  <a:cubicBezTo>
                    <a:pt x="839516" y="569918"/>
                    <a:pt x="839516" y="568176"/>
                    <a:pt x="840388" y="567304"/>
                  </a:cubicBezTo>
                  <a:cubicBezTo>
                    <a:pt x="841259" y="561204"/>
                    <a:pt x="842131" y="555104"/>
                    <a:pt x="843002" y="549004"/>
                  </a:cubicBezTo>
                  <a:cubicBezTo>
                    <a:pt x="843002" y="547261"/>
                    <a:pt x="843874" y="544647"/>
                    <a:pt x="843874" y="542904"/>
                  </a:cubicBezTo>
                  <a:cubicBezTo>
                    <a:pt x="844745" y="535933"/>
                    <a:pt x="844745" y="528961"/>
                    <a:pt x="845617" y="521118"/>
                  </a:cubicBezTo>
                  <a:cubicBezTo>
                    <a:pt x="845616" y="519375"/>
                    <a:pt x="845616" y="518504"/>
                    <a:pt x="845616" y="516761"/>
                  </a:cubicBezTo>
                  <a:cubicBezTo>
                    <a:pt x="845616" y="510661"/>
                    <a:pt x="846487" y="503689"/>
                    <a:pt x="846487" y="497590"/>
                  </a:cubicBezTo>
                  <a:cubicBezTo>
                    <a:pt x="846487" y="496718"/>
                    <a:pt x="846488" y="494975"/>
                    <a:pt x="846488" y="494104"/>
                  </a:cubicBezTo>
                  <a:cubicBezTo>
                    <a:pt x="846487" y="493232"/>
                    <a:pt x="846487" y="493232"/>
                    <a:pt x="846487" y="492361"/>
                  </a:cubicBezTo>
                  <a:cubicBezTo>
                    <a:pt x="846488" y="485390"/>
                    <a:pt x="846488" y="478418"/>
                    <a:pt x="845617" y="471447"/>
                  </a:cubicBezTo>
                  <a:cubicBezTo>
                    <a:pt x="845617" y="468832"/>
                    <a:pt x="845616" y="466218"/>
                    <a:pt x="845617" y="464475"/>
                  </a:cubicBezTo>
                  <a:cubicBezTo>
                    <a:pt x="845616" y="459247"/>
                    <a:pt x="844745" y="454889"/>
                    <a:pt x="844745" y="449660"/>
                  </a:cubicBezTo>
                  <a:cubicBezTo>
                    <a:pt x="844745" y="446175"/>
                    <a:pt x="843874" y="441818"/>
                    <a:pt x="843874" y="438332"/>
                  </a:cubicBezTo>
                  <a:cubicBezTo>
                    <a:pt x="843002" y="433104"/>
                    <a:pt x="843002" y="428746"/>
                    <a:pt x="842131" y="423517"/>
                  </a:cubicBezTo>
                  <a:cubicBezTo>
                    <a:pt x="841259" y="420032"/>
                    <a:pt x="841259" y="415675"/>
                    <a:pt x="840388" y="412189"/>
                  </a:cubicBezTo>
                  <a:cubicBezTo>
                    <a:pt x="839516" y="409575"/>
                    <a:pt x="839516" y="406960"/>
                    <a:pt x="838645" y="403475"/>
                  </a:cubicBezTo>
                  <a:cubicBezTo>
                    <a:pt x="837773" y="396503"/>
                    <a:pt x="836030" y="389532"/>
                    <a:pt x="834287" y="382560"/>
                  </a:cubicBezTo>
                  <a:cubicBezTo>
                    <a:pt x="833416" y="379946"/>
                    <a:pt x="833417" y="378203"/>
                    <a:pt x="832545" y="375589"/>
                  </a:cubicBezTo>
                  <a:cubicBezTo>
                    <a:pt x="831674" y="371231"/>
                    <a:pt x="830802" y="367746"/>
                    <a:pt x="829059" y="363389"/>
                  </a:cubicBezTo>
                  <a:cubicBezTo>
                    <a:pt x="828188" y="360774"/>
                    <a:pt x="827316" y="358160"/>
                    <a:pt x="827316" y="356418"/>
                  </a:cubicBezTo>
                  <a:cubicBezTo>
                    <a:pt x="825573" y="350317"/>
                    <a:pt x="823830" y="344217"/>
                    <a:pt x="821216" y="338117"/>
                  </a:cubicBezTo>
                  <a:cubicBezTo>
                    <a:pt x="820345" y="334631"/>
                    <a:pt x="819473" y="332017"/>
                    <a:pt x="817731" y="328532"/>
                  </a:cubicBezTo>
                  <a:cubicBezTo>
                    <a:pt x="816859" y="325046"/>
                    <a:pt x="815116" y="322431"/>
                    <a:pt x="814245" y="318945"/>
                  </a:cubicBezTo>
                  <a:cubicBezTo>
                    <a:pt x="812502" y="314588"/>
                    <a:pt x="810759" y="310231"/>
                    <a:pt x="809016" y="305002"/>
                  </a:cubicBezTo>
                  <a:cubicBezTo>
                    <a:pt x="808144" y="302388"/>
                    <a:pt x="807273" y="300645"/>
                    <a:pt x="806402" y="298031"/>
                  </a:cubicBezTo>
                  <a:cubicBezTo>
                    <a:pt x="803788" y="292802"/>
                    <a:pt x="801173" y="286702"/>
                    <a:pt x="798559" y="281474"/>
                  </a:cubicBezTo>
                  <a:cubicBezTo>
                    <a:pt x="797687" y="279731"/>
                    <a:pt x="796816" y="277988"/>
                    <a:pt x="795944" y="277116"/>
                  </a:cubicBezTo>
                  <a:cubicBezTo>
                    <a:pt x="789845" y="264045"/>
                    <a:pt x="782001" y="250102"/>
                    <a:pt x="774159" y="237902"/>
                  </a:cubicBezTo>
                  <a:cubicBezTo>
                    <a:pt x="754115" y="204788"/>
                    <a:pt x="730587" y="174287"/>
                    <a:pt x="702701" y="146401"/>
                  </a:cubicBezTo>
                  <a:cubicBezTo>
                    <a:pt x="701829" y="145530"/>
                    <a:pt x="700958" y="144658"/>
                    <a:pt x="700086" y="143787"/>
                  </a:cubicBezTo>
                  <a:cubicBezTo>
                    <a:pt x="695730" y="139430"/>
                    <a:pt x="690501" y="135073"/>
                    <a:pt x="686143" y="130715"/>
                  </a:cubicBezTo>
                  <a:cubicBezTo>
                    <a:pt x="685272" y="129844"/>
                    <a:pt x="684401" y="128972"/>
                    <a:pt x="683530" y="128972"/>
                  </a:cubicBezTo>
                  <a:cubicBezTo>
                    <a:pt x="679172" y="124616"/>
                    <a:pt x="673943" y="121130"/>
                    <a:pt x="669587" y="116772"/>
                  </a:cubicBezTo>
                  <a:cubicBezTo>
                    <a:pt x="668715" y="116772"/>
                    <a:pt x="668715" y="115901"/>
                    <a:pt x="667844" y="115901"/>
                  </a:cubicBezTo>
                  <a:cubicBezTo>
                    <a:pt x="663486" y="112416"/>
                    <a:pt x="658258" y="108058"/>
                    <a:pt x="653901" y="104572"/>
                  </a:cubicBezTo>
                  <a:cubicBezTo>
                    <a:pt x="652158" y="102829"/>
                    <a:pt x="650415" y="101959"/>
                    <a:pt x="648672" y="100216"/>
                  </a:cubicBezTo>
                  <a:cubicBezTo>
                    <a:pt x="643444" y="95858"/>
                    <a:pt x="637343" y="92372"/>
                    <a:pt x="632115" y="88015"/>
                  </a:cubicBezTo>
                  <a:cubicBezTo>
                    <a:pt x="631244" y="87143"/>
                    <a:pt x="629501" y="86272"/>
                    <a:pt x="628629" y="85400"/>
                  </a:cubicBezTo>
                  <a:cubicBezTo>
                    <a:pt x="615558" y="75815"/>
                    <a:pt x="600743" y="67972"/>
                    <a:pt x="586800" y="60130"/>
                  </a:cubicBezTo>
                  <a:cubicBezTo>
                    <a:pt x="584186" y="59258"/>
                    <a:pt x="582443" y="57515"/>
                    <a:pt x="579828" y="56644"/>
                  </a:cubicBezTo>
                  <a:cubicBezTo>
                    <a:pt x="574600" y="54029"/>
                    <a:pt x="570243" y="51415"/>
                    <a:pt x="565015" y="48800"/>
                  </a:cubicBezTo>
                  <a:cubicBezTo>
                    <a:pt x="562400" y="47057"/>
                    <a:pt x="558914" y="46187"/>
                    <a:pt x="556300" y="44444"/>
                  </a:cubicBezTo>
                  <a:cubicBezTo>
                    <a:pt x="551943" y="42701"/>
                    <a:pt x="547586" y="40086"/>
                    <a:pt x="543228" y="38343"/>
                  </a:cubicBezTo>
                  <a:cubicBezTo>
                    <a:pt x="539743" y="36600"/>
                    <a:pt x="537129" y="35729"/>
                    <a:pt x="533643" y="34858"/>
                  </a:cubicBezTo>
                  <a:cubicBezTo>
                    <a:pt x="529285" y="33114"/>
                    <a:pt x="524928" y="31372"/>
                    <a:pt x="520571" y="29629"/>
                  </a:cubicBezTo>
                  <a:cubicBezTo>
                    <a:pt x="517085" y="28758"/>
                    <a:pt x="514471" y="27886"/>
                    <a:pt x="510986" y="26143"/>
                  </a:cubicBezTo>
                  <a:cubicBezTo>
                    <a:pt x="506628" y="24400"/>
                    <a:pt x="502271" y="22657"/>
                    <a:pt x="497043" y="21786"/>
                  </a:cubicBezTo>
                  <a:cubicBezTo>
                    <a:pt x="494428" y="20914"/>
                    <a:pt x="490942" y="20044"/>
                    <a:pt x="488328" y="19172"/>
                  </a:cubicBezTo>
                  <a:cubicBezTo>
                    <a:pt x="483971" y="17429"/>
                    <a:pt x="478742" y="16558"/>
                    <a:pt x="473513" y="14815"/>
                  </a:cubicBezTo>
                  <a:cubicBezTo>
                    <a:pt x="470900" y="13943"/>
                    <a:pt x="467414" y="13072"/>
                    <a:pt x="464799" y="13072"/>
                  </a:cubicBezTo>
                  <a:cubicBezTo>
                    <a:pt x="459571" y="12200"/>
                    <a:pt x="455214" y="10457"/>
                    <a:pt x="449985" y="9586"/>
                  </a:cubicBezTo>
                  <a:cubicBezTo>
                    <a:pt x="444757" y="8714"/>
                    <a:pt x="439528" y="7843"/>
                    <a:pt x="434299" y="6972"/>
                  </a:cubicBezTo>
                  <a:cubicBezTo>
                    <a:pt x="429942" y="6101"/>
                    <a:pt x="424713" y="5229"/>
                    <a:pt x="420356" y="4358"/>
                  </a:cubicBezTo>
                  <a:cubicBezTo>
                    <a:pt x="414256" y="3486"/>
                    <a:pt x="408156" y="2615"/>
                    <a:pt x="402928" y="1743"/>
                  </a:cubicBezTo>
                  <a:cubicBezTo>
                    <a:pt x="400313" y="1743"/>
                    <a:pt x="397699" y="1743"/>
                    <a:pt x="395084" y="872"/>
                  </a:cubicBezTo>
                  <a:cubicBezTo>
                    <a:pt x="388985" y="0"/>
                    <a:pt x="383756" y="0"/>
                    <a:pt x="377656" y="0"/>
                  </a:cubicBezTo>
                  <a:cubicBezTo>
                    <a:pt x="375042" y="0"/>
                    <a:pt x="371556" y="0"/>
                    <a:pt x="368941" y="0"/>
                  </a:cubicBezTo>
                  <a:cubicBezTo>
                    <a:pt x="363713" y="0"/>
                    <a:pt x="358484" y="0"/>
                    <a:pt x="353255" y="0"/>
                  </a:cubicBezTo>
                  <a:cubicBezTo>
                    <a:pt x="352384" y="0"/>
                    <a:pt x="351513" y="0"/>
                    <a:pt x="351513" y="0"/>
                  </a:cubicBezTo>
                  <a:cubicBezTo>
                    <a:pt x="345413" y="0"/>
                    <a:pt x="339313" y="0"/>
                    <a:pt x="332341" y="0"/>
                  </a:cubicBezTo>
                  <a:cubicBezTo>
                    <a:pt x="331470" y="0"/>
                    <a:pt x="331470" y="0"/>
                    <a:pt x="330598" y="0"/>
                  </a:cubicBezTo>
                  <a:lnTo>
                    <a:pt x="328840" y="146"/>
                  </a:lnTo>
                  <a:lnTo>
                    <a:pt x="0" y="843225"/>
                  </a:lnTo>
                  <a:lnTo>
                    <a:pt x="9039" y="852263"/>
                  </a:lnTo>
                  <a:cubicBezTo>
                    <a:pt x="10782" y="854006"/>
                    <a:pt x="13396" y="855749"/>
                    <a:pt x="15139" y="857492"/>
                  </a:cubicBezTo>
                  <a:cubicBezTo>
                    <a:pt x="20367" y="861849"/>
                    <a:pt x="25596" y="867078"/>
                    <a:pt x="30825" y="871435"/>
                  </a:cubicBezTo>
                  <a:cubicBezTo>
                    <a:pt x="30825" y="871435"/>
                    <a:pt x="31696" y="871435"/>
                    <a:pt x="31696" y="872307"/>
                  </a:cubicBezTo>
                  <a:cubicBezTo>
                    <a:pt x="33439" y="874050"/>
                    <a:pt x="36053" y="875793"/>
                    <a:pt x="37796" y="877535"/>
                  </a:cubicBezTo>
                  <a:cubicBezTo>
                    <a:pt x="39539" y="879278"/>
                    <a:pt x="42154" y="881021"/>
                    <a:pt x="43897" y="882764"/>
                  </a:cubicBezTo>
                  <a:cubicBezTo>
                    <a:pt x="46510" y="884507"/>
                    <a:pt x="48253" y="886250"/>
                    <a:pt x="50868" y="887992"/>
                  </a:cubicBezTo>
                  <a:cubicBezTo>
                    <a:pt x="52611" y="889735"/>
                    <a:pt x="55225" y="891478"/>
                    <a:pt x="56968" y="893221"/>
                  </a:cubicBezTo>
                  <a:cubicBezTo>
                    <a:pt x="59582" y="894964"/>
                    <a:pt x="61325" y="896707"/>
                    <a:pt x="63939" y="898450"/>
                  </a:cubicBezTo>
                  <a:cubicBezTo>
                    <a:pt x="65682" y="900193"/>
                    <a:pt x="68297" y="901064"/>
                    <a:pt x="70040" y="902807"/>
                  </a:cubicBezTo>
                  <a:cubicBezTo>
                    <a:pt x="72653" y="904549"/>
                    <a:pt x="75268" y="906292"/>
                    <a:pt x="77882" y="908035"/>
                  </a:cubicBezTo>
                  <a:cubicBezTo>
                    <a:pt x="79625" y="909778"/>
                    <a:pt x="82240" y="910650"/>
                    <a:pt x="83983" y="911521"/>
                  </a:cubicBezTo>
                  <a:cubicBezTo>
                    <a:pt x="86596" y="913264"/>
                    <a:pt x="89211" y="915007"/>
                    <a:pt x="91825" y="916749"/>
                  </a:cubicBezTo>
                  <a:cubicBezTo>
                    <a:pt x="93568" y="917621"/>
                    <a:pt x="95311" y="919364"/>
                    <a:pt x="97926" y="920235"/>
                  </a:cubicBezTo>
                  <a:cubicBezTo>
                    <a:pt x="100539" y="921978"/>
                    <a:pt x="104025" y="923721"/>
                    <a:pt x="106640" y="925464"/>
                  </a:cubicBezTo>
                  <a:cubicBezTo>
                    <a:pt x="108383" y="926336"/>
                    <a:pt x="110126" y="927207"/>
                    <a:pt x="111869" y="928950"/>
                  </a:cubicBezTo>
                  <a:cubicBezTo>
                    <a:pt x="114482" y="930692"/>
                    <a:pt x="117968" y="932435"/>
                    <a:pt x="120583" y="933307"/>
                  </a:cubicBezTo>
                  <a:cubicBezTo>
                    <a:pt x="122326" y="934178"/>
                    <a:pt x="124069" y="935050"/>
                    <a:pt x="125811" y="935921"/>
                  </a:cubicBezTo>
                  <a:cubicBezTo>
                    <a:pt x="128425" y="937664"/>
                    <a:pt x="131911" y="938536"/>
                    <a:pt x="134526" y="940279"/>
                  </a:cubicBezTo>
                  <a:cubicBezTo>
                    <a:pt x="136269" y="941150"/>
                    <a:pt x="138012" y="942022"/>
                    <a:pt x="140625" y="942892"/>
                  </a:cubicBezTo>
                  <a:cubicBezTo>
                    <a:pt x="143240" y="944635"/>
                    <a:pt x="146726" y="945507"/>
                    <a:pt x="149340" y="947250"/>
                  </a:cubicBezTo>
                  <a:cubicBezTo>
                    <a:pt x="151083" y="948121"/>
                    <a:pt x="153697" y="948993"/>
                    <a:pt x="155440" y="949864"/>
                  </a:cubicBezTo>
                  <a:cubicBezTo>
                    <a:pt x="158054" y="950736"/>
                    <a:pt x="161540" y="952479"/>
                    <a:pt x="164155" y="953350"/>
                  </a:cubicBezTo>
                  <a:cubicBezTo>
                    <a:pt x="165897" y="954221"/>
                    <a:pt x="168511" y="955093"/>
                    <a:pt x="170254" y="955965"/>
                  </a:cubicBezTo>
                  <a:cubicBezTo>
                    <a:pt x="172869" y="956836"/>
                    <a:pt x="176355" y="957707"/>
                    <a:pt x="178968" y="959450"/>
                  </a:cubicBezTo>
                  <a:cubicBezTo>
                    <a:pt x="181583" y="960321"/>
                    <a:pt x="183326" y="961193"/>
                    <a:pt x="185940" y="962064"/>
                  </a:cubicBezTo>
                  <a:cubicBezTo>
                    <a:pt x="188555" y="962936"/>
                    <a:pt x="191169" y="963807"/>
                    <a:pt x="193783" y="964679"/>
                  </a:cubicBezTo>
                  <a:cubicBezTo>
                    <a:pt x="196397" y="965550"/>
                    <a:pt x="199012" y="966422"/>
                    <a:pt x="201626" y="967293"/>
                  </a:cubicBezTo>
                  <a:cubicBezTo>
                    <a:pt x="204241" y="968165"/>
                    <a:pt x="206854" y="969035"/>
                    <a:pt x="209469" y="969908"/>
                  </a:cubicBezTo>
                  <a:cubicBezTo>
                    <a:pt x="212083" y="970778"/>
                    <a:pt x="214698" y="971650"/>
                    <a:pt x="217312" y="972521"/>
                  </a:cubicBezTo>
                  <a:cubicBezTo>
                    <a:pt x="219926" y="973393"/>
                    <a:pt x="222540" y="974264"/>
                    <a:pt x="225155" y="974264"/>
                  </a:cubicBezTo>
                  <a:cubicBezTo>
                    <a:pt x="227769" y="975136"/>
                    <a:pt x="230384" y="976007"/>
                    <a:pt x="233869" y="976007"/>
                  </a:cubicBezTo>
                  <a:cubicBezTo>
                    <a:pt x="236483" y="976879"/>
                    <a:pt x="239098" y="976879"/>
                    <a:pt x="241712" y="977750"/>
                  </a:cubicBezTo>
                  <a:cubicBezTo>
                    <a:pt x="244327" y="978622"/>
                    <a:pt x="246940" y="978622"/>
                    <a:pt x="250426" y="979493"/>
                  </a:cubicBezTo>
                  <a:cubicBezTo>
                    <a:pt x="253041" y="980365"/>
                    <a:pt x="255655" y="980365"/>
                    <a:pt x="258269" y="981236"/>
                  </a:cubicBezTo>
                  <a:cubicBezTo>
                    <a:pt x="260883" y="982108"/>
                    <a:pt x="263498" y="982108"/>
                    <a:pt x="266112" y="982979"/>
                  </a:cubicBezTo>
                  <a:cubicBezTo>
                    <a:pt x="268727" y="983850"/>
                    <a:pt x="271341" y="983850"/>
                    <a:pt x="274826" y="983850"/>
                  </a:cubicBezTo>
                  <a:cubicBezTo>
                    <a:pt x="277441" y="983850"/>
                    <a:pt x="280055" y="984721"/>
                    <a:pt x="282670" y="984721"/>
                  </a:cubicBezTo>
                  <a:cubicBezTo>
                    <a:pt x="285284" y="984721"/>
                    <a:pt x="288769" y="985593"/>
                    <a:pt x="291384" y="985593"/>
                  </a:cubicBezTo>
                  <a:cubicBezTo>
                    <a:pt x="293998" y="985593"/>
                    <a:pt x="296613" y="986464"/>
                    <a:pt x="298355" y="986464"/>
                  </a:cubicBezTo>
                  <a:cubicBezTo>
                    <a:pt x="301841" y="986464"/>
                    <a:pt x="304455" y="987336"/>
                    <a:pt x="307941" y="987336"/>
                  </a:cubicBezTo>
                  <a:cubicBezTo>
                    <a:pt x="310556" y="987336"/>
                    <a:pt x="312299" y="987336"/>
                    <a:pt x="314912" y="988207"/>
                  </a:cubicBezTo>
                  <a:cubicBezTo>
                    <a:pt x="318398" y="988207"/>
                    <a:pt x="321884" y="988207"/>
                    <a:pt x="325370" y="989079"/>
                  </a:cubicBezTo>
                  <a:cubicBezTo>
                    <a:pt x="327112" y="989079"/>
                    <a:pt x="329727" y="989079"/>
                    <a:pt x="331470" y="989079"/>
                  </a:cubicBezTo>
                  <a:cubicBezTo>
                    <a:pt x="334956" y="989079"/>
                    <a:pt x="338441" y="989079"/>
                    <a:pt x="342798" y="989079"/>
                  </a:cubicBezTo>
                  <a:cubicBezTo>
                    <a:pt x="344541" y="989079"/>
                    <a:pt x="346284" y="989079"/>
                    <a:pt x="348027" y="989079"/>
                  </a:cubicBezTo>
                  <a:cubicBezTo>
                    <a:pt x="348027" y="989079"/>
                    <a:pt x="348027" y="989079"/>
                    <a:pt x="348899" y="989079"/>
                  </a:cubicBezTo>
                  <a:cubicBezTo>
                    <a:pt x="355870" y="989079"/>
                    <a:pt x="362842" y="989079"/>
                    <a:pt x="370684" y="988207"/>
                  </a:cubicBezTo>
                  <a:cubicBezTo>
                    <a:pt x="373299" y="988207"/>
                    <a:pt x="375042" y="988207"/>
                    <a:pt x="377656" y="988207"/>
                  </a:cubicBezTo>
                  <a:cubicBezTo>
                    <a:pt x="382884" y="988207"/>
                    <a:pt x="388985" y="987336"/>
                    <a:pt x="394213" y="987336"/>
                  </a:cubicBezTo>
                  <a:cubicBezTo>
                    <a:pt x="397699" y="987336"/>
                    <a:pt x="402056" y="986464"/>
                    <a:pt x="405541" y="986464"/>
                  </a:cubicBezTo>
                  <a:cubicBezTo>
                    <a:pt x="409027" y="985593"/>
                    <a:pt x="413385" y="985593"/>
                    <a:pt x="416871" y="984721"/>
                  </a:cubicBezTo>
                  <a:cubicBezTo>
                    <a:pt x="420356" y="983850"/>
                    <a:pt x="424713" y="983851"/>
                    <a:pt x="428199" y="982979"/>
                  </a:cubicBezTo>
                  <a:cubicBezTo>
                    <a:pt x="430814" y="982978"/>
                    <a:pt x="433428" y="982108"/>
                    <a:pt x="436042" y="981236"/>
                  </a:cubicBezTo>
                  <a:cubicBezTo>
                    <a:pt x="443014" y="980365"/>
                    <a:pt x="449985" y="978622"/>
                    <a:pt x="456957" y="976879"/>
                  </a:cubicBezTo>
                  <a:cubicBezTo>
                    <a:pt x="458700" y="976007"/>
                    <a:pt x="461313" y="976007"/>
                    <a:pt x="463056" y="975136"/>
                  </a:cubicBezTo>
                  <a:cubicBezTo>
                    <a:pt x="467414" y="974264"/>
                    <a:pt x="471771" y="973393"/>
                    <a:pt x="476128" y="971650"/>
                  </a:cubicBezTo>
                  <a:cubicBezTo>
                    <a:pt x="476999" y="971650"/>
                    <a:pt x="477871" y="971650"/>
                    <a:pt x="478742" y="970779"/>
                  </a:cubicBezTo>
                  <a:cubicBezTo>
                    <a:pt x="486585" y="968165"/>
                    <a:pt x="495300" y="966422"/>
                    <a:pt x="503142" y="962936"/>
                  </a:cubicBezTo>
                  <a:cubicBezTo>
                    <a:pt x="505757" y="962064"/>
                    <a:pt x="508371" y="961193"/>
                    <a:pt x="510986" y="960321"/>
                  </a:cubicBezTo>
                  <a:cubicBezTo>
                    <a:pt x="514471" y="959450"/>
                    <a:pt x="517957" y="957708"/>
                    <a:pt x="521443" y="956836"/>
                  </a:cubicBezTo>
                  <a:cubicBezTo>
                    <a:pt x="521443" y="956836"/>
                    <a:pt x="522314" y="956836"/>
                    <a:pt x="522314" y="956836"/>
                  </a:cubicBezTo>
                  <a:cubicBezTo>
                    <a:pt x="523186" y="956836"/>
                    <a:pt x="524057" y="955964"/>
                    <a:pt x="524928" y="955965"/>
                  </a:cubicBezTo>
                  <a:cubicBezTo>
                    <a:pt x="531900" y="953350"/>
                    <a:pt x="538000" y="950736"/>
                    <a:pt x="544100" y="948121"/>
                  </a:cubicBezTo>
                  <a:cubicBezTo>
                    <a:pt x="546714" y="947250"/>
                    <a:pt x="549329" y="945507"/>
                    <a:pt x="551072" y="944635"/>
                  </a:cubicBezTo>
                  <a:cubicBezTo>
                    <a:pt x="556300" y="942022"/>
                    <a:pt x="561529" y="940279"/>
                    <a:pt x="565886" y="937664"/>
                  </a:cubicBezTo>
                  <a:cubicBezTo>
                    <a:pt x="569371" y="935921"/>
                    <a:pt x="571986" y="934178"/>
                    <a:pt x="575472" y="932435"/>
                  </a:cubicBezTo>
                  <a:cubicBezTo>
                    <a:pt x="579829" y="930692"/>
                    <a:pt x="583314" y="928078"/>
                    <a:pt x="587672" y="926336"/>
                  </a:cubicBezTo>
                  <a:cubicBezTo>
                    <a:pt x="591158" y="924593"/>
                    <a:pt x="595514" y="921978"/>
                    <a:pt x="599000" y="920235"/>
                  </a:cubicBezTo>
                  <a:cubicBezTo>
                    <a:pt x="602486" y="918492"/>
                    <a:pt x="605971" y="915879"/>
                    <a:pt x="608586" y="914136"/>
                  </a:cubicBezTo>
                  <a:cubicBezTo>
                    <a:pt x="611200" y="912393"/>
                    <a:pt x="613815" y="910650"/>
                    <a:pt x="616429" y="908907"/>
                  </a:cubicBezTo>
                  <a:cubicBezTo>
                    <a:pt x="619044" y="907164"/>
                    <a:pt x="621657" y="905421"/>
                    <a:pt x="624272" y="903678"/>
                  </a:cubicBezTo>
                  <a:cubicBezTo>
                    <a:pt x="668715" y="876664"/>
                    <a:pt x="726230" y="879278"/>
                    <a:pt x="768058" y="914135"/>
                  </a:cubicBezTo>
                  <a:lnTo>
                    <a:pt x="768930" y="915007"/>
                  </a:lnTo>
                  <a:cubicBezTo>
                    <a:pt x="822959" y="960321"/>
                    <a:pt x="837773" y="1035264"/>
                    <a:pt x="810759" y="1096265"/>
                  </a:cubicBezTo>
                  <a:cubicBezTo>
                    <a:pt x="809887" y="1098008"/>
                    <a:pt x="809016" y="1099751"/>
                    <a:pt x="808144" y="1101494"/>
                  </a:cubicBezTo>
                  <a:cubicBezTo>
                    <a:pt x="780258" y="1162494"/>
                    <a:pt x="762830" y="1227852"/>
                    <a:pt x="756730" y="1293209"/>
                  </a:cubicBezTo>
                  <a:cubicBezTo>
                    <a:pt x="736687" y="1490154"/>
                    <a:pt x="810759" y="1693198"/>
                    <a:pt x="973717" y="1829142"/>
                  </a:cubicBezTo>
                  <a:cubicBezTo>
                    <a:pt x="1039075" y="1884043"/>
                    <a:pt x="1112439" y="1923094"/>
                    <a:pt x="1189139" y="1946704"/>
                  </a:cubicBezTo>
                  <a:close/>
                </a:path>
              </a:pathLst>
            </a:custGeom>
            <a:solidFill>
              <a:schemeClr val="accent4"/>
            </a:solidFill>
            <a:ln w="9525"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08598A38-AF93-43AD-87EC-1701D2962E05}"/>
                </a:ext>
              </a:extLst>
            </p:cNvPr>
            <p:cNvSpPr/>
            <p:nvPr/>
          </p:nvSpPr>
          <p:spPr>
            <a:xfrm>
              <a:off x="0" y="1482939"/>
              <a:ext cx="5399797" cy="4620512"/>
            </a:xfrm>
            <a:custGeom>
              <a:avLst/>
              <a:gdLst>
                <a:gd name="connsiteX0" fmla="*/ 500240 w 5399797"/>
                <a:gd name="connsiteY0" fmla="*/ 4286145 h 4620512"/>
                <a:gd name="connsiteX1" fmla="*/ 574024 w 5399797"/>
                <a:gd name="connsiteY1" fmla="*/ 4292913 h 4620512"/>
                <a:gd name="connsiteX2" fmla="*/ 574024 w 5399797"/>
                <a:gd name="connsiteY2" fmla="*/ 4292913 h 4620512"/>
                <a:gd name="connsiteX3" fmla="*/ 757608 w 5399797"/>
                <a:gd name="connsiteY3" fmla="*/ 4273545 h 4620512"/>
                <a:gd name="connsiteX4" fmla="*/ 574025 w 5399797"/>
                <a:gd name="connsiteY4" fmla="*/ 4292913 h 4620512"/>
                <a:gd name="connsiteX5" fmla="*/ 574024 w 5399797"/>
                <a:gd name="connsiteY5" fmla="*/ 4292913 h 4620512"/>
                <a:gd name="connsiteX6" fmla="*/ 4165653 w 5399797"/>
                <a:gd name="connsiteY6" fmla="*/ 4126719 h 4620512"/>
                <a:gd name="connsiteX7" fmla="*/ 4254825 w 5399797"/>
                <a:gd name="connsiteY7" fmla="*/ 4222572 h 4620512"/>
                <a:gd name="connsiteX8" fmla="*/ 5269770 w 5399797"/>
                <a:gd name="connsiteY8" fmla="*/ 4569030 h 4620512"/>
                <a:gd name="connsiteX9" fmla="*/ 5391992 w 5399797"/>
                <a:gd name="connsiteY9" fmla="*/ 4550128 h 4620512"/>
                <a:gd name="connsiteX10" fmla="*/ 5372839 w 5399797"/>
                <a:gd name="connsiteY10" fmla="*/ 4588948 h 4620512"/>
                <a:gd name="connsiteX11" fmla="*/ 5290085 w 5399797"/>
                <a:gd name="connsiteY11" fmla="*/ 4620512 h 4620512"/>
                <a:gd name="connsiteX12" fmla="*/ 4846464 w 5399797"/>
                <a:gd name="connsiteY12" fmla="*/ 4620512 h 4620512"/>
                <a:gd name="connsiteX13" fmla="*/ 4539336 w 5399797"/>
                <a:gd name="connsiteY13" fmla="*/ 4565912 h 4620512"/>
                <a:gd name="connsiteX14" fmla="*/ 4334587 w 5399797"/>
                <a:gd name="connsiteY14" fmla="*/ 4436241 h 4620512"/>
                <a:gd name="connsiteX15" fmla="*/ 4327766 w 5399797"/>
                <a:gd name="connsiteY15" fmla="*/ 4429413 h 4620512"/>
                <a:gd name="connsiteX16" fmla="*/ 4279988 w 5399797"/>
                <a:gd name="connsiteY16" fmla="*/ 4374813 h 4620512"/>
                <a:gd name="connsiteX17" fmla="*/ 4273167 w 5399797"/>
                <a:gd name="connsiteY17" fmla="*/ 4367991 h 4620512"/>
                <a:gd name="connsiteX18" fmla="*/ 4239038 w 5399797"/>
                <a:gd name="connsiteY18" fmla="*/ 4313391 h 4620512"/>
                <a:gd name="connsiteX19" fmla="*/ 4239038 w 5399797"/>
                <a:gd name="connsiteY19" fmla="*/ 4306563 h 4620512"/>
                <a:gd name="connsiteX20" fmla="*/ 4204916 w 5399797"/>
                <a:gd name="connsiteY20" fmla="*/ 4245142 h 4620512"/>
                <a:gd name="connsiteX21" fmla="*/ 4177616 w 5399797"/>
                <a:gd name="connsiteY21" fmla="*/ 4176892 h 4620512"/>
                <a:gd name="connsiteX22" fmla="*/ 4136664 w 5399797"/>
                <a:gd name="connsiteY22" fmla="*/ 3146286 h 4620512"/>
                <a:gd name="connsiteX23" fmla="*/ 4136668 w 5399797"/>
                <a:gd name="connsiteY23" fmla="*/ 3146315 h 4620512"/>
                <a:gd name="connsiteX24" fmla="*/ 4136668 w 5399797"/>
                <a:gd name="connsiteY24" fmla="*/ 3903893 h 4620512"/>
                <a:gd name="connsiteX25" fmla="*/ 4144561 w 5399797"/>
                <a:gd name="connsiteY25" fmla="*/ 4015088 h 4620512"/>
                <a:gd name="connsiteX26" fmla="*/ 4136666 w 5399797"/>
                <a:gd name="connsiteY26" fmla="*/ 3903893 h 4620512"/>
                <a:gd name="connsiteX27" fmla="*/ 4136666 w 5399797"/>
                <a:gd name="connsiteY27" fmla="*/ 3146315 h 4620512"/>
                <a:gd name="connsiteX28" fmla="*/ 4102039 w 5399797"/>
                <a:gd name="connsiteY28" fmla="*/ 2915161 h 4620512"/>
                <a:gd name="connsiteX29" fmla="*/ 4110752 w 5399797"/>
                <a:gd name="connsiteY29" fmla="*/ 2935049 h 4620512"/>
                <a:gd name="connsiteX30" fmla="*/ 4113608 w 5399797"/>
                <a:gd name="connsiteY30" fmla="*/ 2958331 h 4620512"/>
                <a:gd name="connsiteX31" fmla="*/ 3996926 w 5399797"/>
                <a:gd name="connsiteY31" fmla="*/ 2711649 h 4620512"/>
                <a:gd name="connsiteX32" fmla="*/ 4017426 w 5399797"/>
                <a:gd name="connsiteY32" fmla="*/ 2737763 h 4620512"/>
                <a:gd name="connsiteX33" fmla="*/ 3996926 w 5399797"/>
                <a:gd name="connsiteY33" fmla="*/ 2711649 h 4620512"/>
                <a:gd name="connsiteX34" fmla="*/ 2525200 w 5399797"/>
                <a:gd name="connsiteY34" fmla="*/ 1316936 h 4620512"/>
                <a:gd name="connsiteX35" fmla="*/ 2441515 w 5399797"/>
                <a:gd name="connsiteY35" fmla="*/ 1389005 h 4620512"/>
                <a:gd name="connsiteX36" fmla="*/ 2441515 w 5399797"/>
                <a:gd name="connsiteY36" fmla="*/ 1389004 h 4620512"/>
                <a:gd name="connsiteX37" fmla="*/ 3304019 w 5399797"/>
                <a:gd name="connsiteY37" fmla="*/ 607422 h 4620512"/>
                <a:gd name="connsiteX38" fmla="*/ 2532793 w 5399797"/>
                <a:gd name="connsiteY38" fmla="*/ 1310397 h 4620512"/>
                <a:gd name="connsiteX39" fmla="*/ 2525200 w 5399797"/>
                <a:gd name="connsiteY39" fmla="*/ 1316936 h 4620512"/>
                <a:gd name="connsiteX40" fmla="*/ 2532792 w 5399797"/>
                <a:gd name="connsiteY40" fmla="*/ 1310398 h 4620512"/>
                <a:gd name="connsiteX41" fmla="*/ 3942230 w 5399797"/>
                <a:gd name="connsiteY41" fmla="*/ 22142 h 4620512"/>
                <a:gd name="connsiteX42" fmla="*/ 3931920 w 5399797"/>
                <a:gd name="connsiteY42" fmla="*/ 27301 h 4620512"/>
                <a:gd name="connsiteX43" fmla="*/ 3885847 w 5399797"/>
                <a:gd name="connsiteY43" fmla="*/ 61424 h 4620512"/>
                <a:gd name="connsiteX44" fmla="*/ 3931917 w 5399797"/>
                <a:gd name="connsiteY44" fmla="*/ 27301 h 4620512"/>
                <a:gd name="connsiteX45" fmla="*/ 4047939 w 5399797"/>
                <a:gd name="connsiteY45" fmla="*/ 0 h 4620512"/>
                <a:gd name="connsiteX46" fmla="*/ 4696315 w 5399797"/>
                <a:gd name="connsiteY46" fmla="*/ 0 h 4620512"/>
                <a:gd name="connsiteX47" fmla="*/ 4737265 w 5399797"/>
                <a:gd name="connsiteY47" fmla="*/ 0 h 4620512"/>
                <a:gd name="connsiteX48" fmla="*/ 4778215 w 5399797"/>
                <a:gd name="connsiteY48" fmla="*/ 0 h 4620512"/>
                <a:gd name="connsiteX49" fmla="*/ 4832815 w 5399797"/>
                <a:gd name="connsiteY49" fmla="*/ 6823 h 4620512"/>
                <a:gd name="connsiteX50" fmla="*/ 4853286 w 5399797"/>
                <a:gd name="connsiteY50" fmla="*/ 6823 h 4620512"/>
                <a:gd name="connsiteX51" fmla="*/ 4914714 w 5399797"/>
                <a:gd name="connsiteY51" fmla="*/ 20472 h 4620512"/>
                <a:gd name="connsiteX52" fmla="*/ 4921536 w 5399797"/>
                <a:gd name="connsiteY52" fmla="*/ 20472 h 4620512"/>
                <a:gd name="connsiteX53" fmla="*/ 4989786 w 5399797"/>
                <a:gd name="connsiteY53" fmla="*/ 40950 h 4620512"/>
                <a:gd name="connsiteX54" fmla="*/ 5215014 w 5399797"/>
                <a:gd name="connsiteY54" fmla="*/ 177450 h 4620512"/>
                <a:gd name="connsiteX55" fmla="*/ 5221835 w 5399797"/>
                <a:gd name="connsiteY55" fmla="*/ 184271 h 4620512"/>
                <a:gd name="connsiteX56" fmla="*/ 5399284 w 5399797"/>
                <a:gd name="connsiteY56" fmla="*/ 709800 h 4620512"/>
                <a:gd name="connsiteX57" fmla="*/ 5399284 w 5399797"/>
                <a:gd name="connsiteY57" fmla="*/ 1781318 h 4620512"/>
                <a:gd name="connsiteX58" fmla="*/ 5399284 w 5399797"/>
                <a:gd name="connsiteY58" fmla="*/ 2036256 h 4620512"/>
                <a:gd name="connsiteX59" fmla="*/ 5378054 w 5399797"/>
                <a:gd name="connsiteY59" fmla="*/ 2031212 h 4620512"/>
                <a:gd name="connsiteX60" fmla="*/ 5139631 w 5399797"/>
                <a:gd name="connsiteY60" fmla="*/ 2009118 h 4620512"/>
                <a:gd name="connsiteX61" fmla="*/ 5008630 w 5399797"/>
                <a:gd name="connsiteY61" fmla="*/ 2016002 h 4620512"/>
                <a:gd name="connsiteX62" fmla="*/ 4004337 w 5399797"/>
                <a:gd name="connsiteY62" fmla="*/ 2694306 h 4620512"/>
                <a:gd name="connsiteX63" fmla="*/ 3996926 w 5399797"/>
                <a:gd name="connsiteY63" fmla="*/ 2711649 h 4620512"/>
                <a:gd name="connsiteX64" fmla="*/ 3952388 w 5399797"/>
                <a:gd name="connsiteY64" fmla="*/ 2654916 h 4620512"/>
                <a:gd name="connsiteX65" fmla="*/ 3474639 w 5399797"/>
                <a:gd name="connsiteY65" fmla="*/ 2463817 h 4620512"/>
                <a:gd name="connsiteX66" fmla="*/ 3051491 w 5399797"/>
                <a:gd name="connsiteY66" fmla="*/ 2559367 h 4620512"/>
                <a:gd name="connsiteX67" fmla="*/ 2885919 w 5399797"/>
                <a:gd name="connsiteY67" fmla="*/ 2647440 h 4620512"/>
                <a:gd name="connsiteX68" fmla="*/ 2893869 w 5399797"/>
                <a:gd name="connsiteY68" fmla="*/ 2643211 h 4620512"/>
                <a:gd name="connsiteX69" fmla="*/ 2847495 w 5399797"/>
                <a:gd name="connsiteY69" fmla="*/ 2588485 h 4620512"/>
                <a:gd name="connsiteX70" fmla="*/ 2677087 w 5399797"/>
                <a:gd name="connsiteY70" fmla="*/ 2439579 h 4620512"/>
                <a:gd name="connsiteX71" fmla="*/ 2672728 w 5399797"/>
                <a:gd name="connsiteY71" fmla="*/ 2436338 h 4620512"/>
                <a:gd name="connsiteX72" fmla="*/ 2594300 w 5399797"/>
                <a:gd name="connsiteY72" fmla="*/ 2382773 h 4620512"/>
                <a:gd name="connsiteX73" fmla="*/ 2583648 w 5399797"/>
                <a:gd name="connsiteY73" fmla="*/ 2375381 h 4620512"/>
                <a:gd name="connsiteX74" fmla="*/ 2560923 w 5399797"/>
                <a:gd name="connsiteY74" fmla="*/ 2361104 h 4620512"/>
                <a:gd name="connsiteX75" fmla="*/ 2546923 w 5399797"/>
                <a:gd name="connsiteY75" fmla="*/ 2353310 h 4620512"/>
                <a:gd name="connsiteX76" fmla="*/ 2524707 w 5399797"/>
                <a:gd name="connsiteY76" fmla="*/ 2340452 h 4620512"/>
                <a:gd name="connsiteX77" fmla="*/ 2516489 w 5399797"/>
                <a:gd name="connsiteY77" fmla="*/ 2335390 h 4620512"/>
                <a:gd name="connsiteX78" fmla="*/ 2466785 w 5399797"/>
                <a:gd name="connsiteY78" fmla="*/ 2308365 h 4620512"/>
                <a:gd name="connsiteX79" fmla="*/ 2457149 w 5399797"/>
                <a:gd name="connsiteY79" fmla="*/ 2303809 h 4620512"/>
                <a:gd name="connsiteX80" fmla="*/ 2430165 w 5399797"/>
                <a:gd name="connsiteY80" fmla="*/ 2291058 h 4620512"/>
                <a:gd name="connsiteX81" fmla="*/ 2422455 w 5399797"/>
                <a:gd name="connsiteY81" fmla="*/ 2287415 h 4620512"/>
                <a:gd name="connsiteX82" fmla="*/ 1703661 w 5399797"/>
                <a:gd name="connsiteY82" fmla="*/ 2144588 h 4620512"/>
                <a:gd name="connsiteX83" fmla="*/ 1692712 w 5399797"/>
                <a:gd name="connsiteY83" fmla="*/ 2145308 h 4620512"/>
                <a:gd name="connsiteX84" fmla="*/ 1667973 w 5399797"/>
                <a:gd name="connsiteY84" fmla="*/ 2147763 h 4620512"/>
                <a:gd name="connsiteX85" fmla="*/ 1637051 w 5399797"/>
                <a:gd name="connsiteY85" fmla="*/ 2150834 h 4620512"/>
                <a:gd name="connsiteX86" fmla="*/ 1627520 w 5399797"/>
                <a:gd name="connsiteY86" fmla="*/ 2151045 h 4620512"/>
                <a:gd name="connsiteX87" fmla="*/ 1624682 w 5399797"/>
                <a:gd name="connsiteY87" fmla="*/ 2152060 h 4620512"/>
                <a:gd name="connsiteX88" fmla="*/ 1592343 w 5399797"/>
                <a:gd name="connsiteY88" fmla="*/ 2155637 h 4620512"/>
                <a:gd name="connsiteX89" fmla="*/ 1588997 w 5399797"/>
                <a:gd name="connsiteY89" fmla="*/ 2155235 h 4620512"/>
                <a:gd name="connsiteX90" fmla="*/ 1403379 w 5399797"/>
                <a:gd name="connsiteY90" fmla="*/ 2191295 h 4620512"/>
                <a:gd name="connsiteX91" fmla="*/ 723993 w 5399797"/>
                <a:gd name="connsiteY91" fmla="*/ 2578715 h 4620512"/>
                <a:gd name="connsiteX92" fmla="*/ 720244 w 5399797"/>
                <a:gd name="connsiteY92" fmla="*/ 2581658 h 4620512"/>
                <a:gd name="connsiteX93" fmla="*/ 702515 w 5399797"/>
                <a:gd name="connsiteY93" fmla="*/ 2599217 h 4620512"/>
                <a:gd name="connsiteX94" fmla="*/ 693197 w 5399797"/>
                <a:gd name="connsiteY94" fmla="*/ 2608958 h 4620512"/>
                <a:gd name="connsiteX95" fmla="*/ 681547 w 5399797"/>
                <a:gd name="connsiteY95" fmla="*/ 2621134 h 4620512"/>
                <a:gd name="connsiteX96" fmla="*/ 666657 w 5399797"/>
                <a:gd name="connsiteY96" fmla="*/ 2637675 h 4620512"/>
                <a:gd name="connsiteX97" fmla="*/ 661086 w 5399797"/>
                <a:gd name="connsiteY97" fmla="*/ 2644473 h 4620512"/>
                <a:gd name="connsiteX98" fmla="*/ 327863 w 5399797"/>
                <a:gd name="connsiteY98" fmla="*/ 3269753 h 4620512"/>
                <a:gd name="connsiteX99" fmla="*/ 285513 w 5399797"/>
                <a:gd name="connsiteY99" fmla="*/ 3531485 h 4620512"/>
                <a:gd name="connsiteX100" fmla="*/ 286020 w 5399797"/>
                <a:gd name="connsiteY100" fmla="*/ 3532905 h 4620512"/>
                <a:gd name="connsiteX101" fmla="*/ 283117 w 5399797"/>
                <a:gd name="connsiteY101" fmla="*/ 3573970 h 4620512"/>
                <a:gd name="connsiteX102" fmla="*/ 282121 w 5399797"/>
                <a:gd name="connsiteY102" fmla="*/ 3593541 h 4620512"/>
                <a:gd name="connsiteX103" fmla="*/ 281126 w 5399797"/>
                <a:gd name="connsiteY103" fmla="*/ 3613109 h 4620512"/>
                <a:gd name="connsiteX104" fmla="*/ 372495 w 5399797"/>
                <a:gd name="connsiteY104" fmla="*/ 4156767 h 4620512"/>
                <a:gd name="connsiteX105" fmla="*/ 426611 w 5399797"/>
                <a:gd name="connsiteY105" fmla="*/ 4279390 h 4620512"/>
                <a:gd name="connsiteX106" fmla="*/ 388041 w 5399797"/>
                <a:gd name="connsiteY106" fmla="*/ 4275852 h 4620512"/>
                <a:gd name="connsiteX107" fmla="*/ 212296 w 5399797"/>
                <a:gd name="connsiteY107" fmla="*/ 4217842 h 4620512"/>
                <a:gd name="connsiteX108" fmla="*/ 41675 w 5399797"/>
                <a:gd name="connsiteY108" fmla="*/ 4129113 h 4620512"/>
                <a:gd name="connsiteX109" fmla="*/ 0 w 5399797"/>
                <a:gd name="connsiteY109" fmla="*/ 4102026 h 4620512"/>
                <a:gd name="connsiteX110" fmla="*/ 0 w 5399797"/>
                <a:gd name="connsiteY110" fmla="*/ 3265097 h 4620512"/>
                <a:gd name="connsiteX111" fmla="*/ 31247 w 5399797"/>
                <a:gd name="connsiteY111" fmla="*/ 3181692 h 4620512"/>
                <a:gd name="connsiteX112" fmla="*/ 13009 w 5399797"/>
                <a:gd name="connsiteY112" fmla="*/ 2469268 h 4620512"/>
                <a:gd name="connsiteX113" fmla="*/ 0 w 5399797"/>
                <a:gd name="connsiteY113" fmla="*/ 2439720 h 4620512"/>
                <a:gd name="connsiteX114" fmla="*/ 0 w 5399797"/>
                <a:gd name="connsiteY114" fmla="*/ 2068319 h 4620512"/>
                <a:gd name="connsiteX115" fmla="*/ 180733 w 5399797"/>
                <a:gd name="connsiteY115" fmla="*/ 2097828 h 4620512"/>
                <a:gd name="connsiteX116" fmla="*/ 574024 w 5399797"/>
                <a:gd name="connsiteY116" fmla="*/ 2122568 h 4620512"/>
                <a:gd name="connsiteX117" fmla="*/ 1611422 w 5399797"/>
                <a:gd name="connsiteY117" fmla="*/ 1924646 h 4620512"/>
                <a:gd name="connsiteX118" fmla="*/ 1618244 w 5399797"/>
                <a:gd name="connsiteY118" fmla="*/ 1924646 h 4620512"/>
                <a:gd name="connsiteX119" fmla="*/ 1666022 w 5399797"/>
                <a:gd name="connsiteY119" fmla="*/ 1904168 h 4620512"/>
                <a:gd name="connsiteX120" fmla="*/ 2329217 w 5399797"/>
                <a:gd name="connsiteY120" fmla="*/ 1485715 h 4620512"/>
                <a:gd name="connsiteX121" fmla="*/ 2441515 w 5399797"/>
                <a:gd name="connsiteY121" fmla="*/ 1389005 h 4620512"/>
                <a:gd name="connsiteX122" fmla="*/ 2477291 w 5399797"/>
                <a:gd name="connsiteY122" fmla="*/ 1470450 h 4620512"/>
                <a:gd name="connsiteX123" fmla="*/ 2485722 w 5399797"/>
                <a:gd name="connsiteY123" fmla="*/ 1485042 h 4620512"/>
                <a:gd name="connsiteX124" fmla="*/ 2488661 w 5399797"/>
                <a:gd name="connsiteY124" fmla="*/ 1488792 h 4620512"/>
                <a:gd name="connsiteX125" fmla="*/ 2518416 w 5399797"/>
                <a:gd name="connsiteY125" fmla="*/ 1540576 h 4620512"/>
                <a:gd name="connsiteX126" fmla="*/ 2521359 w 5399797"/>
                <a:gd name="connsiteY126" fmla="*/ 1544324 h 4620512"/>
                <a:gd name="connsiteX127" fmla="*/ 2549995 w 5399797"/>
                <a:gd name="connsiteY127" fmla="*/ 1588506 h 4620512"/>
                <a:gd name="connsiteX128" fmla="*/ 2556388 w 5399797"/>
                <a:gd name="connsiteY128" fmla="*/ 1597423 h 4620512"/>
                <a:gd name="connsiteX129" fmla="*/ 2587858 w 5399797"/>
                <a:gd name="connsiteY129" fmla="*/ 1640588 h 4620512"/>
                <a:gd name="connsiteX130" fmla="*/ 2594252 w 5399797"/>
                <a:gd name="connsiteY130" fmla="*/ 1649505 h 4620512"/>
                <a:gd name="connsiteX131" fmla="*/ 2671087 w 5399797"/>
                <a:gd name="connsiteY131" fmla="*/ 1738864 h 4620512"/>
                <a:gd name="connsiteX132" fmla="*/ 2671597 w 5399797"/>
                <a:gd name="connsiteY132" fmla="*/ 1740282 h 4620512"/>
                <a:gd name="connsiteX133" fmla="*/ 3487655 w 5399797"/>
                <a:gd name="connsiteY133" fmla="*/ 2141267 h 4620512"/>
                <a:gd name="connsiteX134" fmla="*/ 4230822 w 5399797"/>
                <a:gd name="connsiteY134" fmla="*/ 1985574 h 4620512"/>
                <a:gd name="connsiteX135" fmla="*/ 4238831 w 5399797"/>
                <a:gd name="connsiteY135" fmla="*/ 1981105 h 4620512"/>
                <a:gd name="connsiteX136" fmla="*/ 4284025 w 5399797"/>
                <a:gd name="connsiteY136" fmla="*/ 1955310 h 4620512"/>
                <a:gd name="connsiteX137" fmla="*/ 4303281 w 5399797"/>
                <a:gd name="connsiteY137" fmla="*/ 1942011 h 4620512"/>
                <a:gd name="connsiteX138" fmla="*/ 4334288 w 5399797"/>
                <a:gd name="connsiteY138" fmla="*/ 1921299 h 4620512"/>
                <a:gd name="connsiteX139" fmla="*/ 4359618 w 5399797"/>
                <a:gd name="connsiteY139" fmla="*/ 1902622 h 4620512"/>
                <a:gd name="connsiteX140" fmla="*/ 4383529 w 5399797"/>
                <a:gd name="connsiteY140" fmla="*/ 1884451 h 4620512"/>
                <a:gd name="connsiteX141" fmla="*/ 4408352 w 5399797"/>
                <a:gd name="connsiteY141" fmla="*/ 1864352 h 4620512"/>
                <a:gd name="connsiteX142" fmla="*/ 4432267 w 5399797"/>
                <a:gd name="connsiteY142" fmla="*/ 1846181 h 4620512"/>
                <a:gd name="connsiteX143" fmla="*/ 4455670 w 5399797"/>
                <a:gd name="connsiteY143" fmla="*/ 1826592 h 4620512"/>
                <a:gd name="connsiteX144" fmla="*/ 4479985 w 5399797"/>
                <a:gd name="connsiteY144" fmla="*/ 1805073 h 4620512"/>
                <a:gd name="connsiteX145" fmla="*/ 4499131 w 5399797"/>
                <a:gd name="connsiteY145" fmla="*/ 1787010 h 4620512"/>
                <a:gd name="connsiteX146" fmla="*/ 4526179 w 5399797"/>
                <a:gd name="connsiteY146" fmla="*/ 1759714 h 4620512"/>
                <a:gd name="connsiteX147" fmla="*/ 4538739 w 5399797"/>
                <a:gd name="connsiteY147" fmla="*/ 1745606 h 4620512"/>
                <a:gd name="connsiteX148" fmla="*/ 4568520 w 5399797"/>
                <a:gd name="connsiteY148" fmla="*/ 1712525 h 4620512"/>
                <a:gd name="connsiteX149" fmla="*/ 4576419 w 5399797"/>
                <a:gd name="connsiteY149" fmla="*/ 1703293 h 4620512"/>
                <a:gd name="connsiteX150" fmla="*/ 4609843 w 5399797"/>
                <a:gd name="connsiteY150" fmla="*/ 1662502 h 4620512"/>
                <a:gd name="connsiteX151" fmla="*/ 4612173 w 5399797"/>
                <a:gd name="connsiteY151" fmla="*/ 1660067 h 4620512"/>
                <a:gd name="connsiteX152" fmla="*/ 4817967 w 5399797"/>
                <a:gd name="connsiteY152" fmla="*/ 1286963 h 4620512"/>
                <a:gd name="connsiteX153" fmla="*/ 4819790 w 5399797"/>
                <a:gd name="connsiteY153" fmla="*/ 1283106 h 4620512"/>
                <a:gd name="connsiteX154" fmla="*/ 4836271 w 5399797"/>
                <a:gd name="connsiteY154" fmla="*/ 1230774 h 4620512"/>
                <a:gd name="connsiteX155" fmla="*/ 4845973 w 5399797"/>
                <a:gd name="connsiteY155" fmla="*/ 1195278 h 4620512"/>
                <a:gd name="connsiteX156" fmla="*/ 4852140 w 5399797"/>
                <a:gd name="connsiteY156" fmla="*/ 1172256 h 4620512"/>
                <a:gd name="connsiteX157" fmla="*/ 4883163 w 5399797"/>
                <a:gd name="connsiteY157" fmla="*/ 722454 h 4620512"/>
                <a:gd name="connsiteX158" fmla="*/ 4880308 w 5399797"/>
                <a:gd name="connsiteY158" fmla="*/ 701062 h 4620512"/>
                <a:gd name="connsiteX159" fmla="*/ 4875609 w 5399797"/>
                <a:gd name="connsiteY159" fmla="*/ 661116 h 4620512"/>
                <a:gd name="connsiteX160" fmla="*/ 4866336 w 5399797"/>
                <a:gd name="connsiteY160" fmla="*/ 608400 h 4620512"/>
                <a:gd name="connsiteX161" fmla="*/ 4864702 w 5399797"/>
                <a:gd name="connsiteY161" fmla="*/ 599379 h 4620512"/>
                <a:gd name="connsiteX162" fmla="*/ 4846281 w 5399797"/>
                <a:gd name="connsiteY162" fmla="*/ 521121 h 4620512"/>
                <a:gd name="connsiteX163" fmla="*/ 4835395 w 5399797"/>
                <a:gd name="connsiteY163" fmla="*/ 481789 h 4620512"/>
                <a:gd name="connsiteX164" fmla="*/ 4829805 w 5399797"/>
                <a:gd name="connsiteY164" fmla="*/ 466182 h 4620512"/>
                <a:gd name="connsiteX165" fmla="*/ 4591248 w 5399797"/>
                <a:gd name="connsiteY165" fmla="*/ 33677 h 4620512"/>
                <a:gd name="connsiteX166" fmla="*/ 4556938 w 5399797"/>
                <a:gd name="connsiteY166" fmla="*/ 2 h 4620512"/>
                <a:gd name="connsiteX167" fmla="*/ 4047939 w 5399797"/>
                <a:gd name="connsiteY167" fmla="*/ 2 h 4620512"/>
                <a:gd name="connsiteX168" fmla="*/ 4006969 w 5399797"/>
                <a:gd name="connsiteY168" fmla="*/ 8194 h 462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5399797" h="4620512">
                  <a:moveTo>
                    <a:pt x="500240" y="4286145"/>
                  </a:moveTo>
                  <a:lnTo>
                    <a:pt x="574024" y="4292913"/>
                  </a:lnTo>
                  <a:lnTo>
                    <a:pt x="574024" y="4292913"/>
                  </a:lnTo>
                  <a:close/>
                  <a:moveTo>
                    <a:pt x="757608" y="4273545"/>
                  </a:moveTo>
                  <a:lnTo>
                    <a:pt x="574025" y="4292913"/>
                  </a:lnTo>
                  <a:lnTo>
                    <a:pt x="574024" y="4292913"/>
                  </a:lnTo>
                  <a:close/>
                  <a:moveTo>
                    <a:pt x="4165653" y="4126719"/>
                  </a:moveTo>
                  <a:lnTo>
                    <a:pt x="4254825" y="4222572"/>
                  </a:lnTo>
                  <a:cubicBezTo>
                    <a:pt x="4516655" y="4471892"/>
                    <a:pt x="4881842" y="4608501"/>
                    <a:pt x="5269770" y="4569030"/>
                  </a:cubicBezTo>
                  <a:lnTo>
                    <a:pt x="5391992" y="4550128"/>
                  </a:lnTo>
                  <a:lnTo>
                    <a:pt x="5372839" y="4588948"/>
                  </a:lnTo>
                  <a:cubicBezTo>
                    <a:pt x="5354924" y="4610276"/>
                    <a:pt x="5327623" y="4620512"/>
                    <a:pt x="5290085" y="4620512"/>
                  </a:cubicBezTo>
                  <a:lnTo>
                    <a:pt x="4846464" y="4620512"/>
                  </a:lnTo>
                  <a:cubicBezTo>
                    <a:pt x="4730436" y="4620512"/>
                    <a:pt x="4628066" y="4600041"/>
                    <a:pt x="4539336" y="4565912"/>
                  </a:cubicBezTo>
                  <a:cubicBezTo>
                    <a:pt x="4464266" y="4538612"/>
                    <a:pt x="4396015" y="4490841"/>
                    <a:pt x="4334587" y="4436241"/>
                  </a:cubicBezTo>
                  <a:cubicBezTo>
                    <a:pt x="4334587" y="4436241"/>
                    <a:pt x="4327766" y="4429413"/>
                    <a:pt x="4327766" y="4429413"/>
                  </a:cubicBezTo>
                  <a:cubicBezTo>
                    <a:pt x="4307287" y="4408941"/>
                    <a:pt x="4293637" y="4395291"/>
                    <a:pt x="4279988" y="4374813"/>
                  </a:cubicBezTo>
                  <a:cubicBezTo>
                    <a:pt x="4279988" y="4374813"/>
                    <a:pt x="4273167" y="4367991"/>
                    <a:pt x="4273167" y="4367991"/>
                  </a:cubicBezTo>
                  <a:cubicBezTo>
                    <a:pt x="4259516" y="4347513"/>
                    <a:pt x="4252687" y="4333863"/>
                    <a:pt x="4239038" y="4313391"/>
                  </a:cubicBezTo>
                  <a:cubicBezTo>
                    <a:pt x="4239038" y="4313391"/>
                    <a:pt x="4239038" y="4306563"/>
                    <a:pt x="4239038" y="4306563"/>
                  </a:cubicBezTo>
                  <a:cubicBezTo>
                    <a:pt x="4225387" y="4286092"/>
                    <a:pt x="4211737" y="4265613"/>
                    <a:pt x="4204916" y="4245142"/>
                  </a:cubicBezTo>
                  <a:cubicBezTo>
                    <a:pt x="4191267" y="4224663"/>
                    <a:pt x="4184437" y="4204192"/>
                    <a:pt x="4177616" y="4176892"/>
                  </a:cubicBezTo>
                  <a:close/>
                  <a:moveTo>
                    <a:pt x="4136664" y="3146286"/>
                  </a:moveTo>
                  <a:lnTo>
                    <a:pt x="4136668" y="3146315"/>
                  </a:lnTo>
                  <a:lnTo>
                    <a:pt x="4136668" y="3903893"/>
                  </a:lnTo>
                  <a:lnTo>
                    <a:pt x="4144561" y="4015088"/>
                  </a:lnTo>
                  <a:lnTo>
                    <a:pt x="4136666" y="3903893"/>
                  </a:lnTo>
                  <a:lnTo>
                    <a:pt x="4136666" y="3146315"/>
                  </a:lnTo>
                  <a:close/>
                  <a:moveTo>
                    <a:pt x="4102039" y="2915161"/>
                  </a:moveTo>
                  <a:lnTo>
                    <a:pt x="4110752" y="2935049"/>
                  </a:lnTo>
                  <a:lnTo>
                    <a:pt x="4113608" y="2958331"/>
                  </a:lnTo>
                  <a:close/>
                  <a:moveTo>
                    <a:pt x="3996926" y="2711649"/>
                  </a:moveTo>
                  <a:lnTo>
                    <a:pt x="4017426" y="2737763"/>
                  </a:lnTo>
                  <a:lnTo>
                    <a:pt x="3996926" y="2711649"/>
                  </a:lnTo>
                  <a:close/>
                  <a:moveTo>
                    <a:pt x="2525200" y="1316936"/>
                  </a:moveTo>
                  <a:lnTo>
                    <a:pt x="2441515" y="1389005"/>
                  </a:lnTo>
                  <a:lnTo>
                    <a:pt x="2441515" y="1389004"/>
                  </a:lnTo>
                  <a:close/>
                  <a:moveTo>
                    <a:pt x="3304019" y="607422"/>
                  </a:moveTo>
                  <a:lnTo>
                    <a:pt x="2532793" y="1310397"/>
                  </a:lnTo>
                  <a:lnTo>
                    <a:pt x="2525200" y="1316936"/>
                  </a:lnTo>
                  <a:lnTo>
                    <a:pt x="2532792" y="1310398"/>
                  </a:lnTo>
                  <a:close/>
                  <a:moveTo>
                    <a:pt x="3942230" y="22142"/>
                  </a:moveTo>
                  <a:lnTo>
                    <a:pt x="3931920" y="27301"/>
                  </a:lnTo>
                  <a:cubicBezTo>
                    <a:pt x="3918269" y="34126"/>
                    <a:pt x="3902912" y="46070"/>
                    <a:pt x="3885847" y="61424"/>
                  </a:cubicBezTo>
                  <a:cubicBezTo>
                    <a:pt x="3902910" y="46068"/>
                    <a:pt x="3918268" y="34126"/>
                    <a:pt x="3931917" y="27301"/>
                  </a:cubicBezTo>
                  <a:close/>
                  <a:moveTo>
                    <a:pt x="4047939" y="0"/>
                  </a:moveTo>
                  <a:lnTo>
                    <a:pt x="4696315" y="0"/>
                  </a:lnTo>
                  <a:cubicBezTo>
                    <a:pt x="4709966" y="0"/>
                    <a:pt x="4723615" y="0"/>
                    <a:pt x="4737265" y="0"/>
                  </a:cubicBezTo>
                  <a:cubicBezTo>
                    <a:pt x="4750915" y="0"/>
                    <a:pt x="4764565" y="0"/>
                    <a:pt x="4778215" y="0"/>
                  </a:cubicBezTo>
                  <a:cubicBezTo>
                    <a:pt x="4791865" y="0"/>
                    <a:pt x="4812336" y="6823"/>
                    <a:pt x="4832815" y="6823"/>
                  </a:cubicBezTo>
                  <a:cubicBezTo>
                    <a:pt x="4839636" y="6823"/>
                    <a:pt x="4846464" y="6823"/>
                    <a:pt x="4853286" y="6823"/>
                  </a:cubicBezTo>
                  <a:cubicBezTo>
                    <a:pt x="4873764" y="13651"/>
                    <a:pt x="4894235" y="13651"/>
                    <a:pt x="4914714" y="20472"/>
                  </a:cubicBezTo>
                  <a:cubicBezTo>
                    <a:pt x="4914714" y="20472"/>
                    <a:pt x="4921536" y="20472"/>
                    <a:pt x="4921536" y="20472"/>
                  </a:cubicBezTo>
                  <a:cubicBezTo>
                    <a:pt x="4948836" y="27301"/>
                    <a:pt x="4969314" y="34122"/>
                    <a:pt x="4989786" y="40950"/>
                  </a:cubicBezTo>
                  <a:cubicBezTo>
                    <a:pt x="5078514" y="68251"/>
                    <a:pt x="5153586" y="116022"/>
                    <a:pt x="5215014" y="177450"/>
                  </a:cubicBezTo>
                  <a:cubicBezTo>
                    <a:pt x="5215014" y="177450"/>
                    <a:pt x="5215014" y="177450"/>
                    <a:pt x="5221835" y="184271"/>
                  </a:cubicBezTo>
                  <a:cubicBezTo>
                    <a:pt x="5344685" y="307121"/>
                    <a:pt x="5406113" y="484572"/>
                    <a:pt x="5399284" y="709800"/>
                  </a:cubicBezTo>
                  <a:lnTo>
                    <a:pt x="5399284" y="1781318"/>
                  </a:lnTo>
                  <a:lnTo>
                    <a:pt x="5399284" y="2036256"/>
                  </a:lnTo>
                  <a:lnTo>
                    <a:pt x="5378054" y="2031212"/>
                  </a:lnTo>
                  <a:cubicBezTo>
                    <a:pt x="5300543" y="2016560"/>
                    <a:pt x="5220809" y="2008984"/>
                    <a:pt x="5139631" y="2009118"/>
                  </a:cubicBezTo>
                  <a:cubicBezTo>
                    <a:pt x="5096337" y="2009188"/>
                    <a:pt x="5052629" y="2011452"/>
                    <a:pt x="5008630" y="2016002"/>
                  </a:cubicBezTo>
                  <a:cubicBezTo>
                    <a:pt x="4565280" y="2061116"/>
                    <a:pt x="4197869" y="2327194"/>
                    <a:pt x="4004337" y="2694306"/>
                  </a:cubicBezTo>
                  <a:lnTo>
                    <a:pt x="3996926" y="2711649"/>
                  </a:lnTo>
                  <a:lnTo>
                    <a:pt x="3952388" y="2654916"/>
                  </a:lnTo>
                  <a:cubicBezTo>
                    <a:pt x="3822717" y="2525245"/>
                    <a:pt x="3665739" y="2463817"/>
                    <a:pt x="3474639" y="2463817"/>
                  </a:cubicBezTo>
                  <a:cubicBezTo>
                    <a:pt x="3331318" y="2463817"/>
                    <a:pt x="3187990" y="2497946"/>
                    <a:pt x="3051491" y="2559367"/>
                  </a:cubicBezTo>
                  <a:lnTo>
                    <a:pt x="2885919" y="2647440"/>
                  </a:lnTo>
                  <a:lnTo>
                    <a:pt x="2893869" y="2643211"/>
                  </a:lnTo>
                  <a:lnTo>
                    <a:pt x="2847495" y="2588485"/>
                  </a:lnTo>
                  <a:cubicBezTo>
                    <a:pt x="2794459" y="2534833"/>
                    <a:pt x="2737456" y="2485201"/>
                    <a:pt x="2677087" y="2439579"/>
                  </a:cubicBezTo>
                  <a:cubicBezTo>
                    <a:pt x="2675159" y="2438669"/>
                    <a:pt x="2673235" y="2437758"/>
                    <a:pt x="2672728" y="2436338"/>
                  </a:cubicBezTo>
                  <a:cubicBezTo>
                    <a:pt x="2647057" y="2418314"/>
                    <a:pt x="2620880" y="2398870"/>
                    <a:pt x="2594300" y="2382773"/>
                  </a:cubicBezTo>
                  <a:cubicBezTo>
                    <a:pt x="2590444" y="2380952"/>
                    <a:pt x="2587502" y="2377202"/>
                    <a:pt x="2583648" y="2375381"/>
                  </a:cubicBezTo>
                  <a:cubicBezTo>
                    <a:pt x="2575430" y="2370318"/>
                    <a:pt x="2569139" y="2366167"/>
                    <a:pt x="2560923" y="2361104"/>
                  </a:cubicBezTo>
                  <a:cubicBezTo>
                    <a:pt x="2556562" y="2357863"/>
                    <a:pt x="2552705" y="2356043"/>
                    <a:pt x="2546923" y="2353310"/>
                  </a:cubicBezTo>
                  <a:cubicBezTo>
                    <a:pt x="2539214" y="2349666"/>
                    <a:pt x="2532419" y="2344096"/>
                    <a:pt x="2524707" y="2340452"/>
                  </a:cubicBezTo>
                  <a:cubicBezTo>
                    <a:pt x="2522273" y="2338121"/>
                    <a:pt x="2518924" y="2337722"/>
                    <a:pt x="2516489" y="2335390"/>
                  </a:cubicBezTo>
                  <a:cubicBezTo>
                    <a:pt x="2500564" y="2326685"/>
                    <a:pt x="2484130" y="2316561"/>
                    <a:pt x="2466785" y="2308365"/>
                  </a:cubicBezTo>
                  <a:cubicBezTo>
                    <a:pt x="2462926" y="2306542"/>
                    <a:pt x="2461003" y="2305632"/>
                    <a:pt x="2457149" y="2303809"/>
                  </a:cubicBezTo>
                  <a:cubicBezTo>
                    <a:pt x="2447513" y="2299256"/>
                    <a:pt x="2439293" y="2294192"/>
                    <a:pt x="2430165" y="2291058"/>
                  </a:cubicBezTo>
                  <a:cubicBezTo>
                    <a:pt x="2428237" y="2290147"/>
                    <a:pt x="2424386" y="2288325"/>
                    <a:pt x="2422455" y="2287415"/>
                  </a:cubicBezTo>
                  <a:cubicBezTo>
                    <a:pt x="2204165" y="2183074"/>
                    <a:pt x="1959869" y="2131279"/>
                    <a:pt x="1703661" y="2144588"/>
                  </a:cubicBezTo>
                  <a:cubicBezTo>
                    <a:pt x="1700316" y="2144185"/>
                    <a:pt x="1695549" y="2144292"/>
                    <a:pt x="1692712" y="2145308"/>
                  </a:cubicBezTo>
                  <a:cubicBezTo>
                    <a:pt x="1684601" y="2145011"/>
                    <a:pt x="1675577" y="2146641"/>
                    <a:pt x="1667973" y="2147763"/>
                  </a:cubicBezTo>
                  <a:cubicBezTo>
                    <a:pt x="1657024" y="2148483"/>
                    <a:pt x="1646073" y="2149201"/>
                    <a:pt x="1637051" y="2150834"/>
                  </a:cubicBezTo>
                  <a:cubicBezTo>
                    <a:pt x="1634213" y="2151851"/>
                    <a:pt x="1630868" y="2151447"/>
                    <a:pt x="1627520" y="2151045"/>
                  </a:cubicBezTo>
                  <a:cubicBezTo>
                    <a:pt x="1626100" y="2151553"/>
                    <a:pt x="1626100" y="2151553"/>
                    <a:pt x="1624682" y="2152060"/>
                  </a:cubicBezTo>
                  <a:cubicBezTo>
                    <a:pt x="1613733" y="2152782"/>
                    <a:pt x="1603293" y="2154920"/>
                    <a:pt x="1592343" y="2155637"/>
                  </a:cubicBezTo>
                  <a:cubicBezTo>
                    <a:pt x="1590924" y="2156146"/>
                    <a:pt x="1589503" y="2156654"/>
                    <a:pt x="1588997" y="2155235"/>
                  </a:cubicBezTo>
                  <a:cubicBezTo>
                    <a:pt x="1526241" y="2163303"/>
                    <a:pt x="1465009" y="2175625"/>
                    <a:pt x="1403379" y="2191295"/>
                  </a:cubicBezTo>
                  <a:cubicBezTo>
                    <a:pt x="1141239" y="2259564"/>
                    <a:pt x="908261" y="2395841"/>
                    <a:pt x="723993" y="2578715"/>
                  </a:cubicBezTo>
                  <a:cubicBezTo>
                    <a:pt x="722574" y="2579225"/>
                    <a:pt x="721664" y="2581149"/>
                    <a:pt x="720244" y="2581658"/>
                  </a:cubicBezTo>
                  <a:cubicBezTo>
                    <a:pt x="714163" y="2587040"/>
                    <a:pt x="708593" y="2593836"/>
                    <a:pt x="702515" y="2599217"/>
                  </a:cubicBezTo>
                  <a:cubicBezTo>
                    <a:pt x="698765" y="2602158"/>
                    <a:pt x="696945" y="2606013"/>
                    <a:pt x="693197" y="2608958"/>
                  </a:cubicBezTo>
                  <a:cubicBezTo>
                    <a:pt x="689955" y="2613319"/>
                    <a:pt x="684787" y="2616772"/>
                    <a:pt x="681547" y="2621134"/>
                  </a:cubicBezTo>
                  <a:cubicBezTo>
                    <a:pt x="676887" y="2626006"/>
                    <a:pt x="670808" y="2631387"/>
                    <a:pt x="666657" y="2637675"/>
                  </a:cubicBezTo>
                  <a:cubicBezTo>
                    <a:pt x="664326" y="2640111"/>
                    <a:pt x="663418" y="2642038"/>
                    <a:pt x="661086" y="2644473"/>
                  </a:cubicBezTo>
                  <a:cubicBezTo>
                    <a:pt x="504795" y="2820529"/>
                    <a:pt x="388383" y="3031934"/>
                    <a:pt x="327863" y="3269753"/>
                  </a:cubicBezTo>
                  <a:cubicBezTo>
                    <a:pt x="306847" y="3354131"/>
                    <a:pt x="291618" y="3441241"/>
                    <a:pt x="285513" y="3531485"/>
                  </a:cubicBezTo>
                  <a:cubicBezTo>
                    <a:pt x="285513" y="3531485"/>
                    <a:pt x="286020" y="3532905"/>
                    <a:pt x="286020" y="3532905"/>
                  </a:cubicBezTo>
                  <a:cubicBezTo>
                    <a:pt x="284410" y="3546289"/>
                    <a:pt x="284727" y="3560586"/>
                    <a:pt x="283117" y="3573970"/>
                  </a:cubicBezTo>
                  <a:cubicBezTo>
                    <a:pt x="282312" y="3580661"/>
                    <a:pt x="282925" y="3586848"/>
                    <a:pt x="282121" y="3593541"/>
                  </a:cubicBezTo>
                  <a:cubicBezTo>
                    <a:pt x="281314" y="3600234"/>
                    <a:pt x="281929" y="3606418"/>
                    <a:pt x="281126" y="3613109"/>
                  </a:cubicBezTo>
                  <a:cubicBezTo>
                    <a:pt x="277112" y="3803071"/>
                    <a:pt x="309711" y="3987127"/>
                    <a:pt x="372495" y="4156767"/>
                  </a:cubicBezTo>
                  <a:lnTo>
                    <a:pt x="426611" y="4279390"/>
                  </a:lnTo>
                  <a:lnTo>
                    <a:pt x="388041" y="4275852"/>
                  </a:lnTo>
                  <a:cubicBezTo>
                    <a:pt x="328323" y="4263909"/>
                    <a:pt x="270311" y="4245142"/>
                    <a:pt x="212296" y="4217842"/>
                  </a:cubicBezTo>
                  <a:cubicBezTo>
                    <a:pt x="157696" y="4197364"/>
                    <a:pt x="96275" y="4163242"/>
                    <a:pt x="41675" y="4129113"/>
                  </a:cubicBezTo>
                  <a:lnTo>
                    <a:pt x="0" y="4102026"/>
                  </a:lnTo>
                  <a:lnTo>
                    <a:pt x="0" y="3265097"/>
                  </a:lnTo>
                  <a:lnTo>
                    <a:pt x="31247" y="3181692"/>
                  </a:lnTo>
                  <a:cubicBezTo>
                    <a:pt x="104740" y="2952978"/>
                    <a:pt x="101679" y="2701596"/>
                    <a:pt x="13009" y="2469268"/>
                  </a:cubicBezTo>
                  <a:lnTo>
                    <a:pt x="0" y="2439720"/>
                  </a:lnTo>
                  <a:lnTo>
                    <a:pt x="0" y="2068319"/>
                  </a:lnTo>
                  <a:lnTo>
                    <a:pt x="180733" y="2097828"/>
                  </a:lnTo>
                  <a:cubicBezTo>
                    <a:pt x="306142" y="2114038"/>
                    <a:pt x="437524" y="2122568"/>
                    <a:pt x="574024" y="2122568"/>
                  </a:cubicBezTo>
                  <a:cubicBezTo>
                    <a:pt x="963045" y="2122568"/>
                    <a:pt x="1311123" y="2054319"/>
                    <a:pt x="1611422" y="1924646"/>
                  </a:cubicBezTo>
                  <a:cubicBezTo>
                    <a:pt x="1618244" y="1924646"/>
                    <a:pt x="1618244" y="1924646"/>
                    <a:pt x="1618244" y="1924646"/>
                  </a:cubicBezTo>
                  <a:cubicBezTo>
                    <a:pt x="1631893" y="1917818"/>
                    <a:pt x="1652372" y="1910997"/>
                    <a:pt x="1666022" y="1904168"/>
                  </a:cubicBezTo>
                  <a:cubicBezTo>
                    <a:pt x="1901484" y="1791556"/>
                    <a:pt x="2121590" y="1652073"/>
                    <a:pt x="2329217" y="1485715"/>
                  </a:cubicBezTo>
                  <a:lnTo>
                    <a:pt x="2441515" y="1389005"/>
                  </a:lnTo>
                  <a:lnTo>
                    <a:pt x="2477291" y="1470450"/>
                  </a:lnTo>
                  <a:cubicBezTo>
                    <a:pt x="2480742" y="1475616"/>
                    <a:pt x="2482266" y="1479873"/>
                    <a:pt x="2485722" y="1485042"/>
                  </a:cubicBezTo>
                  <a:cubicBezTo>
                    <a:pt x="2486225" y="1486461"/>
                    <a:pt x="2486735" y="1487880"/>
                    <a:pt x="2488661" y="1488792"/>
                  </a:cubicBezTo>
                  <a:cubicBezTo>
                    <a:pt x="2498106" y="1506222"/>
                    <a:pt x="2508968" y="1523145"/>
                    <a:pt x="2518416" y="1540576"/>
                  </a:cubicBezTo>
                  <a:cubicBezTo>
                    <a:pt x="2518925" y="1541995"/>
                    <a:pt x="2519432" y="1543414"/>
                    <a:pt x="2521359" y="1544324"/>
                  </a:cubicBezTo>
                  <a:cubicBezTo>
                    <a:pt x="2529787" y="1558918"/>
                    <a:pt x="2540147" y="1574420"/>
                    <a:pt x="2549995" y="1588506"/>
                  </a:cubicBezTo>
                  <a:cubicBezTo>
                    <a:pt x="2552429" y="1590836"/>
                    <a:pt x="2553955" y="1595095"/>
                    <a:pt x="2556388" y="1597423"/>
                  </a:cubicBezTo>
                  <a:cubicBezTo>
                    <a:pt x="2566743" y="1612926"/>
                    <a:pt x="2578009" y="1626503"/>
                    <a:pt x="2587858" y="1640588"/>
                  </a:cubicBezTo>
                  <a:cubicBezTo>
                    <a:pt x="2590294" y="1642918"/>
                    <a:pt x="2593240" y="1646667"/>
                    <a:pt x="2594252" y="1649505"/>
                  </a:cubicBezTo>
                  <a:cubicBezTo>
                    <a:pt x="2618311" y="1680914"/>
                    <a:pt x="2643280" y="1710398"/>
                    <a:pt x="2671087" y="1738864"/>
                  </a:cubicBezTo>
                  <a:cubicBezTo>
                    <a:pt x="2671087" y="1738864"/>
                    <a:pt x="2671087" y="1738864"/>
                    <a:pt x="2671597" y="1740282"/>
                  </a:cubicBezTo>
                  <a:cubicBezTo>
                    <a:pt x="2878633" y="1960727"/>
                    <a:pt x="3162768" y="2110330"/>
                    <a:pt x="3487655" y="2141267"/>
                  </a:cubicBezTo>
                  <a:cubicBezTo>
                    <a:pt x="3756165" y="2166781"/>
                    <a:pt x="4011826" y="2107238"/>
                    <a:pt x="4230822" y="1985574"/>
                  </a:cubicBezTo>
                  <a:cubicBezTo>
                    <a:pt x="4233661" y="1984556"/>
                    <a:pt x="4235995" y="1982121"/>
                    <a:pt x="4238831" y="1981105"/>
                  </a:cubicBezTo>
                  <a:cubicBezTo>
                    <a:pt x="4253423" y="1972675"/>
                    <a:pt x="4269436" y="1963739"/>
                    <a:pt x="4284025" y="1955310"/>
                  </a:cubicBezTo>
                  <a:cubicBezTo>
                    <a:pt x="4290614" y="1951351"/>
                    <a:pt x="4297202" y="1947391"/>
                    <a:pt x="4303281" y="1942011"/>
                  </a:cubicBezTo>
                  <a:cubicBezTo>
                    <a:pt x="4313614" y="1935107"/>
                    <a:pt x="4323952" y="1928202"/>
                    <a:pt x="4334288" y="1921299"/>
                  </a:cubicBezTo>
                  <a:cubicBezTo>
                    <a:pt x="4343203" y="1914904"/>
                    <a:pt x="4350703" y="1909015"/>
                    <a:pt x="4359618" y="1902622"/>
                  </a:cubicBezTo>
                  <a:cubicBezTo>
                    <a:pt x="4367117" y="1896733"/>
                    <a:pt x="4376032" y="1890337"/>
                    <a:pt x="4383529" y="1884451"/>
                  </a:cubicBezTo>
                  <a:cubicBezTo>
                    <a:pt x="4392447" y="1878054"/>
                    <a:pt x="4400855" y="1870239"/>
                    <a:pt x="4408352" y="1864352"/>
                  </a:cubicBezTo>
                  <a:cubicBezTo>
                    <a:pt x="4415852" y="1858465"/>
                    <a:pt x="4423349" y="1852577"/>
                    <a:pt x="4432267" y="1846181"/>
                  </a:cubicBezTo>
                  <a:cubicBezTo>
                    <a:pt x="4439764" y="1840295"/>
                    <a:pt x="4448172" y="1832478"/>
                    <a:pt x="4455670" y="1826592"/>
                  </a:cubicBezTo>
                  <a:cubicBezTo>
                    <a:pt x="4464077" y="1818777"/>
                    <a:pt x="4471577" y="1812891"/>
                    <a:pt x="4479985" y="1805073"/>
                  </a:cubicBezTo>
                  <a:cubicBezTo>
                    <a:pt x="4486063" y="1799696"/>
                    <a:pt x="4491634" y="1792897"/>
                    <a:pt x="4499131" y="1787010"/>
                  </a:cubicBezTo>
                  <a:cubicBezTo>
                    <a:pt x="4508959" y="1778686"/>
                    <a:pt x="4516859" y="1769455"/>
                    <a:pt x="4526179" y="1759714"/>
                  </a:cubicBezTo>
                  <a:cubicBezTo>
                    <a:pt x="4530836" y="1754841"/>
                    <a:pt x="4535498" y="1749970"/>
                    <a:pt x="4538739" y="1745606"/>
                  </a:cubicBezTo>
                  <a:cubicBezTo>
                    <a:pt x="4549482" y="1735356"/>
                    <a:pt x="4559707" y="1723687"/>
                    <a:pt x="4568520" y="1712525"/>
                  </a:cubicBezTo>
                  <a:cubicBezTo>
                    <a:pt x="4570848" y="1710090"/>
                    <a:pt x="4573179" y="1707655"/>
                    <a:pt x="4576419" y="1703293"/>
                  </a:cubicBezTo>
                  <a:cubicBezTo>
                    <a:pt x="4587559" y="1689695"/>
                    <a:pt x="4598701" y="1676099"/>
                    <a:pt x="4609843" y="1662502"/>
                  </a:cubicBezTo>
                  <a:cubicBezTo>
                    <a:pt x="4611261" y="1661994"/>
                    <a:pt x="4610752" y="1660574"/>
                    <a:pt x="4612173" y="1660067"/>
                  </a:cubicBezTo>
                  <a:cubicBezTo>
                    <a:pt x="4700793" y="1549875"/>
                    <a:pt x="4770945" y="1423885"/>
                    <a:pt x="4817967" y="1286963"/>
                  </a:cubicBezTo>
                  <a:cubicBezTo>
                    <a:pt x="4818879" y="1285036"/>
                    <a:pt x="4818372" y="1283615"/>
                    <a:pt x="4819790" y="1283106"/>
                  </a:cubicBezTo>
                  <a:cubicBezTo>
                    <a:pt x="4826567" y="1266270"/>
                    <a:pt x="4831419" y="1248523"/>
                    <a:pt x="4836271" y="1230774"/>
                  </a:cubicBezTo>
                  <a:cubicBezTo>
                    <a:pt x="4840314" y="1219720"/>
                    <a:pt x="4842435" y="1207753"/>
                    <a:pt x="4845973" y="1195278"/>
                  </a:cubicBezTo>
                  <a:cubicBezTo>
                    <a:pt x="4848198" y="1188077"/>
                    <a:pt x="4850419" y="1180876"/>
                    <a:pt x="4852140" y="1172256"/>
                  </a:cubicBezTo>
                  <a:cubicBezTo>
                    <a:pt x="4888507" y="1027944"/>
                    <a:pt x="4899930" y="876554"/>
                    <a:pt x="4883163" y="722454"/>
                  </a:cubicBezTo>
                  <a:cubicBezTo>
                    <a:pt x="4882043" y="714848"/>
                    <a:pt x="4881429" y="708664"/>
                    <a:pt x="4880308" y="701062"/>
                  </a:cubicBezTo>
                  <a:cubicBezTo>
                    <a:pt x="4878571" y="687274"/>
                    <a:pt x="4877342" y="674906"/>
                    <a:pt x="4875609" y="661116"/>
                  </a:cubicBezTo>
                  <a:cubicBezTo>
                    <a:pt x="4872349" y="643073"/>
                    <a:pt x="4869593" y="626446"/>
                    <a:pt x="4866336" y="608400"/>
                  </a:cubicBezTo>
                  <a:cubicBezTo>
                    <a:pt x="4865316" y="605563"/>
                    <a:pt x="4865719" y="602216"/>
                    <a:pt x="4864702" y="599379"/>
                  </a:cubicBezTo>
                  <a:cubicBezTo>
                    <a:pt x="4858395" y="572820"/>
                    <a:pt x="4852592" y="547681"/>
                    <a:pt x="4846281" y="521121"/>
                  </a:cubicBezTo>
                  <a:cubicBezTo>
                    <a:pt x="4843126" y="507842"/>
                    <a:pt x="4838550" y="495070"/>
                    <a:pt x="4835395" y="481789"/>
                  </a:cubicBezTo>
                  <a:cubicBezTo>
                    <a:pt x="4833362" y="476114"/>
                    <a:pt x="4831838" y="471857"/>
                    <a:pt x="4829805" y="466182"/>
                  </a:cubicBezTo>
                  <a:cubicBezTo>
                    <a:pt x="4777801" y="303088"/>
                    <a:pt x="4695669" y="157586"/>
                    <a:pt x="4591248" y="33677"/>
                  </a:cubicBezTo>
                  <a:lnTo>
                    <a:pt x="4556938" y="2"/>
                  </a:lnTo>
                  <a:lnTo>
                    <a:pt x="4047939" y="2"/>
                  </a:lnTo>
                  <a:lnTo>
                    <a:pt x="4006969" y="8194"/>
                  </a:lnTo>
                  <a:close/>
                </a:path>
              </a:pathLst>
            </a:custGeom>
            <a:solidFill>
              <a:schemeClr val="accent1"/>
            </a:soli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277335901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4" name="Content Placeholder 13"/>
          <p:cNvSpPr>
            <a:spLocks noGrp="1"/>
          </p:cNvSpPr>
          <p:nvPr>
            <p:ph sz="quarter" idx="14" hasCustomPrompt="1"/>
          </p:nvPr>
        </p:nvSpPr>
        <p:spPr bwMode="gray">
          <a:xfrm>
            <a:off x="623888" y="1484313"/>
            <a:ext cx="10944227" cy="4608511"/>
          </a:xfrm>
        </p:spPr>
        <p:txBody>
          <a:bodyPr/>
          <a:lstStyle>
            <a:lvl1pPr marL="342900" indent="-342900">
              <a:buClr>
                <a:schemeClr val="bg2"/>
              </a:buClr>
              <a:buFont typeface="+mj-lt"/>
              <a:buAutoNum type="arabicPeriod"/>
              <a:defRPr/>
            </a:lvl1pPr>
            <a:lvl2pPr marL="534988" indent="-179388">
              <a:defRPr/>
            </a:lvl2pPr>
            <a:lvl3pPr marL="715963" indent="-179388">
              <a:defRPr/>
            </a:lvl3pPr>
            <a:lvl4pPr marL="896938" indent="-179388">
              <a:defRPr/>
            </a:lvl4pPr>
            <a:lvl5pPr marL="449263" indent="0">
              <a:buNone/>
              <a:defRPr/>
            </a:lvl5pPr>
          </a:lstStyle>
          <a:p>
            <a:pPr lvl="0"/>
            <a:r>
              <a:rPr lang="en-US" dirty="0"/>
              <a:t>Insert your agenda points here. Use the button “increase list level” to add subitems.</a:t>
            </a:r>
            <a:br>
              <a:rPr lang="en-US" dirty="0"/>
            </a:br>
            <a:r>
              <a:rPr lang="en-US" dirty="0"/>
              <a:t>You can find other agenda designs within the slide library.</a:t>
            </a:r>
          </a:p>
          <a:p>
            <a:pPr lvl="0"/>
            <a:r>
              <a:rPr lang="en-US" dirty="0"/>
              <a:t>Click to edit Master text styles</a:t>
            </a:r>
          </a:p>
          <a:p>
            <a:pPr lvl="1"/>
            <a:r>
              <a:rPr lang="en-US" dirty="0"/>
              <a:t>Second level</a:t>
            </a:r>
          </a:p>
          <a:p>
            <a:pPr lvl="2"/>
            <a:r>
              <a:rPr lang="en-US" dirty="0"/>
              <a:t>Third level</a:t>
            </a:r>
          </a:p>
          <a:p>
            <a:pPr lvl="3"/>
            <a:r>
              <a:rPr lang="en-US" dirty="0"/>
              <a:t>Fourth level</a:t>
            </a:r>
          </a:p>
          <a:p>
            <a:pPr lvl="3"/>
            <a:r>
              <a:rPr lang="en-US" dirty="0"/>
              <a:t>Fifth level</a:t>
            </a:r>
          </a:p>
        </p:txBody>
      </p:sp>
      <p:sp>
        <p:nvSpPr>
          <p:cNvPr id="10"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3" name="Title 2"/>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4" name="Fußzeilenplatzhalter 3">
            <a:extLst>
              <a:ext uri="{FF2B5EF4-FFF2-40B4-BE49-F238E27FC236}">
                <a16:creationId xmlns:a16="http://schemas.microsoft.com/office/drawing/2014/main" id="{5F934EA1-1883-4D38-9FDC-7B4EE39EA964}"/>
              </a:ext>
            </a:extLst>
          </p:cNvPr>
          <p:cNvSpPr>
            <a:spLocks noGrp="1"/>
          </p:cNvSpPr>
          <p:nvPr>
            <p:ph type="ftr" sz="quarter" idx="15"/>
          </p:nvPr>
        </p:nvSpPr>
        <p:spPr bwMode="gray"/>
        <p:txBody>
          <a:bodyPr/>
          <a:lstStyle/>
          <a:p>
            <a:r>
              <a:rPr lang="en-US" dirty="0"/>
              <a:t>Title of Presentation | DD.MM.YYYY</a:t>
            </a:r>
          </a:p>
        </p:txBody>
      </p:sp>
      <p:sp>
        <p:nvSpPr>
          <p:cNvPr id="6" name="Foliennummernplatzhalter 5">
            <a:extLst>
              <a:ext uri="{FF2B5EF4-FFF2-40B4-BE49-F238E27FC236}">
                <a16:creationId xmlns:a16="http://schemas.microsoft.com/office/drawing/2014/main" id="{A9116324-0C1D-439A-912E-27AE05A10F32}"/>
              </a:ext>
            </a:extLst>
          </p:cNvPr>
          <p:cNvSpPr>
            <a:spLocks noGrp="1"/>
          </p:cNvSpPr>
          <p:nvPr>
            <p:ph type="sldNum" sz="quarter" idx="16"/>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873221625"/>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1" name="Content Placeholder 10"/>
          <p:cNvSpPr>
            <a:spLocks noGrp="1"/>
          </p:cNvSpPr>
          <p:nvPr>
            <p:ph sz="quarter" idx="14" hasCustomPrompt="1"/>
          </p:nvPr>
        </p:nvSpPr>
        <p:spPr bwMode="gray">
          <a:xfrm>
            <a:off x="623888" y="1484313"/>
            <a:ext cx="10944227" cy="4608511"/>
          </a:xfrm>
        </p:spPr>
        <p:txBody>
          <a:bodyPr/>
          <a:lst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lvl1pPr>
            <a:lvl5pPr>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2AB8F34D-A5C0-4BC9-B0F3-11856D9ED02E}"/>
              </a:ext>
            </a:extLst>
          </p:cNvPr>
          <p:cNvSpPr>
            <a:spLocks noGrp="1"/>
          </p:cNvSpPr>
          <p:nvPr>
            <p:ph type="ftr" sz="quarter" idx="15"/>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C962AE53-FF41-4032-9C92-554890CB3881}"/>
              </a:ext>
            </a:extLst>
          </p:cNvPr>
          <p:cNvSpPr>
            <a:spLocks noGrp="1"/>
          </p:cNvSpPr>
          <p:nvPr>
            <p:ph type="sldNum" sz="quarter" idx="16"/>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763476394"/>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14" name="Content Placeholder 13"/>
          <p:cNvSpPr>
            <a:spLocks noGrp="1"/>
          </p:cNvSpPr>
          <p:nvPr>
            <p:ph sz="quarter" idx="16" hasCustomPrompt="1"/>
          </p:nvPr>
        </p:nvSpPr>
        <p:spPr bwMode="gray">
          <a:xfrm>
            <a:off x="6240464"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p:cNvSpPr>
            <a:spLocks noGrp="1"/>
          </p:cNvSpPr>
          <p:nvPr>
            <p:ph sz="quarter" idx="15" hasCustomPrompt="1"/>
          </p:nvPr>
        </p:nvSpPr>
        <p:spPr bwMode="gray">
          <a:xfrm>
            <a:off x="623392" y="1484313"/>
            <a:ext cx="532765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2" name="Title 1"/>
          <p:cNvSpPr>
            <a:spLocks noGrp="1"/>
          </p:cNvSpPr>
          <p:nvPr>
            <p:ph type="title" hasCustomPrompt="1"/>
          </p:nvPr>
        </p:nvSpPr>
        <p:spPr bwMode="gray">
          <a:xfrm>
            <a:off x="623888" y="730800"/>
            <a:ext cx="10944225" cy="325952"/>
          </a:xfrm>
        </p:spPr>
        <p:txBody>
          <a:bodyPr/>
          <a:lstStyle/>
          <a:p>
            <a:r>
              <a:rPr lang="en-US" dirty="0"/>
              <a:t>Insert slide title here (max. 2 lines | max. 1 line with Action Title)</a:t>
            </a:r>
          </a:p>
        </p:txBody>
      </p:sp>
      <p:sp>
        <p:nvSpPr>
          <p:cNvPr id="3" name="Fußzeilenplatzhalter 2">
            <a:extLst>
              <a:ext uri="{FF2B5EF4-FFF2-40B4-BE49-F238E27FC236}">
                <a16:creationId xmlns:a16="http://schemas.microsoft.com/office/drawing/2014/main" id="{5DEF66B1-2B35-4F3D-8FA1-45C43C92981D}"/>
              </a:ext>
            </a:extLst>
          </p:cNvPr>
          <p:cNvSpPr>
            <a:spLocks noGrp="1"/>
          </p:cNvSpPr>
          <p:nvPr>
            <p:ph type="ftr" sz="quarter" idx="17"/>
          </p:nvPr>
        </p:nvSpPr>
        <p:spPr bwMode="gray"/>
        <p:txBody>
          <a:bodyPr/>
          <a:lstStyle/>
          <a:p>
            <a:r>
              <a:rPr lang="en-US" dirty="0"/>
              <a:t>Title of Presentation | DD.MM.YYYY</a:t>
            </a:r>
          </a:p>
        </p:txBody>
      </p:sp>
      <p:sp>
        <p:nvSpPr>
          <p:cNvPr id="4" name="Foliennummernplatzhalter 3">
            <a:extLst>
              <a:ext uri="{FF2B5EF4-FFF2-40B4-BE49-F238E27FC236}">
                <a16:creationId xmlns:a16="http://schemas.microsoft.com/office/drawing/2014/main" id="{6594110D-FB2C-4548-B1FA-4A7EB94F133E}"/>
              </a:ext>
            </a:extLst>
          </p:cNvPr>
          <p:cNvSpPr>
            <a:spLocks noGrp="1"/>
          </p:cNvSpPr>
          <p:nvPr>
            <p:ph type="sldNum" sz="quarter" idx="18"/>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765625815"/>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5" name="Content Placeholder 14"/>
          <p:cNvSpPr>
            <a:spLocks noGrp="1"/>
          </p:cNvSpPr>
          <p:nvPr>
            <p:ph sz="quarter" idx="18" hasCustomPrompt="1"/>
          </p:nvPr>
        </p:nvSpPr>
        <p:spPr bwMode="gray">
          <a:xfrm>
            <a:off x="624845" y="1484314"/>
            <a:ext cx="3454931"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p:cNvSpPr>
            <a:spLocks noGrp="1"/>
          </p:cNvSpPr>
          <p:nvPr>
            <p:ph sz="quarter" idx="19" hasCustomPrompt="1"/>
          </p:nvPr>
        </p:nvSpPr>
        <p:spPr bwMode="gray">
          <a:xfrm>
            <a:off x="4368803" y="1484314"/>
            <a:ext cx="3455986"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8"/>
          <p:cNvSpPr>
            <a:spLocks noGrp="1"/>
          </p:cNvSpPr>
          <p:nvPr>
            <p:ph sz="quarter" idx="20" hasCustomPrompt="1"/>
          </p:nvPr>
        </p:nvSpPr>
        <p:spPr bwMode="gray">
          <a:xfrm>
            <a:off x="8112000" y="1484313"/>
            <a:ext cx="3456000" cy="4608512"/>
          </a:xfrm>
        </p:spPr>
        <p:txBody>
          <a:bodyPr/>
          <a:lstStyle>
            <a:lvl1pPr marL="0" marR="0" indent="0" algn="l" defTabSz="914400" rtl="0" eaLnBrk="1" fontAlgn="auto" latinLnBrk="0" hangingPunct="1">
              <a:lnSpc>
                <a:spcPct val="105000"/>
              </a:lnSpc>
              <a:spcBef>
                <a:spcPts val="600"/>
              </a:spcBef>
              <a:spcAft>
                <a:spcPts val="300"/>
              </a:spcAft>
              <a:buClrTx/>
              <a:buSzTx/>
              <a:buFont typeface="Arial" panose="020B0604020202020204" pitchFamily="34" charset="0"/>
              <a:buNone/>
              <a:tabLst/>
              <a:defRPr/>
            </a:lvl1pPr>
            <a:lvl2pPr>
              <a:lnSpc>
                <a:spcPct val="105000"/>
              </a:lnSpc>
              <a:defRPr/>
            </a:lvl2pPr>
            <a:lvl3pPr>
              <a:lnSpc>
                <a:spcPct val="105000"/>
              </a:lnSpc>
              <a:defRPr/>
            </a:lvl3pPr>
            <a:lvl4pPr>
              <a:lnSpc>
                <a:spcPct val="105000"/>
              </a:lnSpc>
              <a:defRPr/>
            </a:lvl4pPr>
            <a:lvl5pPr>
              <a:lnSpc>
                <a:spcPct val="105000"/>
              </a:lnSpc>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copytext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nvPr>
        </p:nvSpPr>
        <p:spPr bwMode="gray">
          <a:xfrm>
            <a:off x="623888" y="730801"/>
            <a:ext cx="10944225" cy="325952"/>
          </a:xfrm>
        </p:spPr>
        <p:txBody>
          <a:body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D1328EC7-157B-409E-AF0F-00B8B6EE2D12}"/>
              </a:ext>
            </a:extLst>
          </p:cNvPr>
          <p:cNvSpPr>
            <a:spLocks noGrp="1"/>
          </p:cNvSpPr>
          <p:nvPr>
            <p:ph type="ftr" sz="quarter" idx="21"/>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82B2B86B-BA50-4AE8-98E0-0C5519E10E56}"/>
              </a:ext>
            </a:extLst>
          </p:cNvPr>
          <p:cNvSpPr>
            <a:spLocks noGrp="1"/>
          </p:cNvSpPr>
          <p:nvPr>
            <p:ph type="sldNum" sz="quarter" idx="22"/>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4119348029"/>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9"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5" name="Title 4"/>
          <p:cNvSpPr>
            <a:spLocks noGrp="1"/>
          </p:cNvSpPr>
          <p:nvPr>
            <p:ph type="title" hasCustomPrompt="1"/>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DC1A3A0B-4241-4AC5-A07E-A9AC7CC4A1B1}"/>
              </a:ext>
            </a:extLst>
          </p:cNvPr>
          <p:cNvSpPr>
            <a:spLocks noGrp="1"/>
          </p:cNvSpPr>
          <p:nvPr>
            <p:ph type="ftr" sz="quarter" idx="14"/>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96E51C11-1DC2-48EC-9664-E7966335E18F}"/>
              </a:ext>
            </a:extLst>
          </p:cNvPr>
          <p:cNvSpPr>
            <a:spLocks noGrp="1"/>
          </p:cNvSpPr>
          <p:nvPr>
            <p:ph type="sldNum" sz="quarter" idx="15"/>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38773670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F546BFA-11FA-4A75-AF85-C913ED1414AA}"/>
              </a:ext>
            </a:extLst>
          </p:cNvPr>
          <p:cNvSpPr>
            <a:spLocks noGrp="1"/>
          </p:cNvSpPr>
          <p:nvPr>
            <p:ph type="ftr" sz="quarter" idx="10"/>
          </p:nvPr>
        </p:nvSpPr>
        <p:spPr bwMode="gray"/>
        <p:txBody>
          <a:bodyPr/>
          <a:lstStyle/>
          <a:p>
            <a:r>
              <a:rPr lang="en-US" dirty="0"/>
              <a:t>Chart library synthetic cells</a:t>
            </a:r>
          </a:p>
        </p:txBody>
      </p:sp>
      <p:sp>
        <p:nvSpPr>
          <p:cNvPr id="5" name="Foliennummernplatzhalter 4">
            <a:extLst>
              <a:ext uri="{FF2B5EF4-FFF2-40B4-BE49-F238E27FC236}">
                <a16:creationId xmlns:a16="http://schemas.microsoft.com/office/drawing/2014/main" id="{0FA602A5-B6D5-4348-9CDC-85CBF065303A}"/>
              </a:ext>
            </a:extLst>
          </p:cNvPr>
          <p:cNvSpPr>
            <a:spLocks noGrp="1"/>
          </p:cNvSpPr>
          <p:nvPr>
            <p:ph type="sldNum" sz="quarter" idx="11"/>
          </p:nvPr>
        </p:nvSpPr>
        <p:spPr bwMode="gray"/>
        <p:txBody>
          <a:bodyPr/>
          <a:lstStyle/>
          <a:p>
            <a:fld id="{FD5E7EB4-4CDF-47BB-AF16-07782904B863}" type="slidenum">
              <a:rPr lang="en-US" smtClean="0"/>
              <a:pPr/>
              <a:t>‹#›</a:t>
            </a:fld>
            <a:endParaRPr lang="en-US" dirty="0"/>
          </a:p>
        </p:txBody>
      </p:sp>
    </p:spTree>
    <p:extLst>
      <p:ext uri="{BB962C8B-B14F-4D97-AF65-F5344CB8AC3E}">
        <p14:creationId xmlns:p14="http://schemas.microsoft.com/office/powerpoint/2010/main" val="2016549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3B048F8F-2117-4CA9-9663-771E19A8BE2D}"/>
              </a:ext>
            </a:extLst>
          </p:cNvPr>
          <p:cNvSpPr/>
          <p:nvPr userDrawn="1"/>
        </p:nvSpPr>
        <p:spPr bwMode="gray">
          <a:xfrm>
            <a:off x="0" y="0"/>
            <a:ext cx="12192000" cy="6858000"/>
          </a:xfrm>
          <a:prstGeom prst="rect">
            <a:avLst/>
          </a:prstGeom>
          <a:solidFill>
            <a:schemeClr val="bg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36" name="Freihandform: Form 35">
            <a:extLst>
              <a:ext uri="{FF2B5EF4-FFF2-40B4-BE49-F238E27FC236}">
                <a16:creationId xmlns:a16="http://schemas.microsoft.com/office/drawing/2014/main" id="{7680D41B-3894-4B0F-B7F1-B898A63192D3}"/>
              </a:ext>
            </a:extLst>
          </p:cNvPr>
          <p:cNvSpPr/>
          <p:nvPr userDrawn="1"/>
        </p:nvSpPr>
        <p:spPr bwMode="gray">
          <a:xfrm>
            <a:off x="68894" y="0"/>
            <a:ext cx="12123107" cy="6858000"/>
          </a:xfrm>
          <a:custGeom>
            <a:avLst/>
            <a:gdLst>
              <a:gd name="connsiteX0" fmla="*/ 4746749 w 12123107"/>
              <a:gd name="connsiteY0" fmla="*/ 0 h 6858000"/>
              <a:gd name="connsiteX1" fmla="*/ 11630128 w 12123107"/>
              <a:gd name="connsiteY1" fmla="*/ 0 h 6858000"/>
              <a:gd name="connsiteX2" fmla="*/ 11636186 w 12123107"/>
              <a:gd name="connsiteY2" fmla="*/ 147212 h 6858000"/>
              <a:gd name="connsiteX3" fmla="*/ 11616919 w 12123107"/>
              <a:gd name="connsiteY3" fmla="*/ 550881 h 6858000"/>
              <a:gd name="connsiteX4" fmla="*/ 11608319 w 12123107"/>
              <a:gd name="connsiteY4" fmla="*/ 613622 h 6858000"/>
              <a:gd name="connsiteX5" fmla="*/ 11597823 w 12123107"/>
              <a:gd name="connsiteY5" fmla="*/ 694750 h 6858000"/>
              <a:gd name="connsiteX6" fmla="*/ 11578904 w 12123107"/>
              <a:gd name="connsiteY6" fmla="*/ 817481 h 6858000"/>
              <a:gd name="connsiteX7" fmla="*/ 11572496 w 12123107"/>
              <a:gd name="connsiteY7" fmla="*/ 851600 h 6858000"/>
              <a:gd name="connsiteX8" fmla="*/ 11566520 w 12123107"/>
              <a:gd name="connsiteY8" fmla="*/ 882580 h 6858000"/>
              <a:gd name="connsiteX9" fmla="*/ 11337480 w 12123107"/>
              <a:gd name="connsiteY9" fmla="*/ 1595515 h 6858000"/>
              <a:gd name="connsiteX10" fmla="*/ 11206426 w 12123107"/>
              <a:gd name="connsiteY10" fmla="*/ 1858575 h 6858000"/>
              <a:gd name="connsiteX11" fmla="*/ 11181841 w 12123107"/>
              <a:gd name="connsiteY11" fmla="*/ 1902617 h 6858000"/>
              <a:gd name="connsiteX12" fmla="*/ 11165079 w 12123107"/>
              <a:gd name="connsiteY12" fmla="*/ 1933171 h 6858000"/>
              <a:gd name="connsiteX13" fmla="*/ 11153002 w 12123107"/>
              <a:gd name="connsiteY13" fmla="*/ 1953625 h 6858000"/>
              <a:gd name="connsiteX14" fmla="*/ 11291344 w 12123107"/>
              <a:gd name="connsiteY14" fmla="*/ 2986746 h 6858000"/>
              <a:gd name="connsiteX15" fmla="*/ 11295640 w 12123107"/>
              <a:gd name="connsiteY15" fmla="*/ 2993620 h 6858000"/>
              <a:gd name="connsiteX16" fmla="*/ 12044691 w 12123107"/>
              <a:gd name="connsiteY16" fmla="*/ 3166638 h 6858000"/>
              <a:gd name="connsiteX17" fmla="*/ 12123107 w 12123107"/>
              <a:gd name="connsiteY17" fmla="*/ 3131471 h 6858000"/>
              <a:gd name="connsiteX18" fmla="*/ 12123107 w 12123107"/>
              <a:gd name="connsiteY18" fmla="*/ 6858000 h 6858000"/>
              <a:gd name="connsiteX19" fmla="*/ 10982860 w 12123107"/>
              <a:gd name="connsiteY19" fmla="*/ 6858000 h 6858000"/>
              <a:gd name="connsiteX20" fmla="*/ 10887997 w 12123107"/>
              <a:gd name="connsiteY20" fmla="*/ 6641613 h 6858000"/>
              <a:gd name="connsiteX21" fmla="*/ 11071357 w 12123107"/>
              <a:gd name="connsiteY21" fmla="*/ 4196912 h 6858000"/>
              <a:gd name="connsiteX22" fmla="*/ 11083908 w 12123107"/>
              <a:gd name="connsiteY22" fmla="*/ 4175684 h 6858000"/>
              <a:gd name="connsiteX23" fmla="*/ 10966347 w 12123107"/>
              <a:gd name="connsiteY23" fmla="*/ 3318884 h 6858000"/>
              <a:gd name="connsiteX24" fmla="*/ 10962052 w 12123107"/>
              <a:gd name="connsiteY24" fmla="*/ 3312010 h 6858000"/>
              <a:gd name="connsiteX25" fmla="*/ 10333224 w 12123107"/>
              <a:gd name="connsiteY25" fmla="*/ 3058188 h 6858000"/>
              <a:gd name="connsiteX26" fmla="*/ 9930425 w 12123107"/>
              <a:gd name="connsiteY26" fmla="*/ 3167378 h 6858000"/>
              <a:gd name="connsiteX27" fmla="*/ 9910484 w 12123107"/>
              <a:gd name="connsiteY27" fmla="*/ 3179838 h 6858000"/>
              <a:gd name="connsiteX28" fmla="*/ 8920181 w 12123107"/>
              <a:gd name="connsiteY28" fmla="*/ 3559603 h 6858000"/>
              <a:gd name="connsiteX29" fmla="*/ 8917775 w 12123107"/>
              <a:gd name="connsiteY29" fmla="*/ 3561107 h 6858000"/>
              <a:gd name="connsiteX30" fmla="*/ 8857095 w 12123107"/>
              <a:gd name="connsiteY30" fmla="*/ 3574163 h 6858000"/>
              <a:gd name="connsiteX31" fmla="*/ 8514340 w 12123107"/>
              <a:gd name="connsiteY31" fmla="*/ 3623884 h 6858000"/>
              <a:gd name="connsiteX32" fmla="*/ 8485809 w 12123107"/>
              <a:gd name="connsiteY32" fmla="*/ 3626417 h 6858000"/>
              <a:gd name="connsiteX33" fmla="*/ 8379623 w 12123107"/>
              <a:gd name="connsiteY33" fmla="*/ 3633970 h 6858000"/>
              <a:gd name="connsiteX34" fmla="*/ 8352461 w 12123107"/>
              <a:gd name="connsiteY34" fmla="*/ 3635640 h 6858000"/>
              <a:gd name="connsiteX35" fmla="*/ 8224791 w 12123107"/>
              <a:gd name="connsiteY35" fmla="*/ 3639408 h 6858000"/>
              <a:gd name="connsiteX36" fmla="*/ 8200384 w 12123107"/>
              <a:gd name="connsiteY36" fmla="*/ 3639365 h 6858000"/>
              <a:gd name="connsiteX37" fmla="*/ 8089729 w 12123107"/>
              <a:gd name="connsiteY37" fmla="*/ 3638231 h 6858000"/>
              <a:gd name="connsiteX38" fmla="*/ 8075118 w 12123107"/>
              <a:gd name="connsiteY38" fmla="*/ 3637803 h 6858000"/>
              <a:gd name="connsiteX39" fmla="*/ 8051397 w 12123107"/>
              <a:gd name="connsiteY39" fmla="*/ 3637329 h 6858000"/>
              <a:gd name="connsiteX40" fmla="*/ 7209623 w 12123107"/>
              <a:gd name="connsiteY40" fmla="*/ 4251741 h 6858000"/>
              <a:gd name="connsiteX41" fmla="*/ 7206142 w 12123107"/>
              <a:gd name="connsiteY41" fmla="*/ 4262997 h 6858000"/>
              <a:gd name="connsiteX42" fmla="*/ 7431589 w 12123107"/>
              <a:gd name="connsiteY42" fmla="*/ 4909930 h 6858000"/>
              <a:gd name="connsiteX43" fmla="*/ 7468198 w 12123107"/>
              <a:gd name="connsiteY43" fmla="*/ 4934858 h 6858000"/>
              <a:gd name="connsiteX44" fmla="*/ 7476363 w 12123107"/>
              <a:gd name="connsiteY44" fmla="*/ 4940278 h 6858000"/>
              <a:gd name="connsiteX45" fmla="*/ 7567500 w 12123107"/>
              <a:gd name="connsiteY45" fmla="*/ 5004271 h 6858000"/>
              <a:gd name="connsiteX46" fmla="*/ 7589714 w 12123107"/>
              <a:gd name="connsiteY46" fmla="*/ 5021463 h 6858000"/>
              <a:gd name="connsiteX47" fmla="*/ 7663924 w 12123107"/>
              <a:gd name="connsiteY47" fmla="*/ 5079787 h 6858000"/>
              <a:gd name="connsiteX48" fmla="*/ 7686523 w 12123107"/>
              <a:gd name="connsiteY48" fmla="*/ 5099126 h 6858000"/>
              <a:gd name="connsiteX49" fmla="*/ 7755489 w 12123107"/>
              <a:gd name="connsiteY49" fmla="*/ 5159769 h 6858000"/>
              <a:gd name="connsiteX50" fmla="*/ 7777273 w 12123107"/>
              <a:gd name="connsiteY50" fmla="*/ 5180096 h 6858000"/>
              <a:gd name="connsiteX51" fmla="*/ 7843184 w 12123107"/>
              <a:gd name="connsiteY51" fmla="*/ 5245035 h 6858000"/>
              <a:gd name="connsiteX52" fmla="*/ 7852037 w 12123107"/>
              <a:gd name="connsiteY52" fmla="*/ 5253847 h 6858000"/>
              <a:gd name="connsiteX53" fmla="*/ 7871457 w 12123107"/>
              <a:gd name="connsiteY53" fmla="*/ 5274216 h 6858000"/>
              <a:gd name="connsiteX54" fmla="*/ 7918207 w 12123107"/>
              <a:gd name="connsiteY54" fmla="*/ 5325316 h 6858000"/>
              <a:gd name="connsiteX55" fmla="*/ 7955845 w 12123107"/>
              <a:gd name="connsiteY55" fmla="*/ 5368725 h 6858000"/>
              <a:gd name="connsiteX56" fmla="*/ 7988631 w 12123107"/>
              <a:gd name="connsiteY56" fmla="*/ 5408951 h 6858000"/>
              <a:gd name="connsiteX57" fmla="*/ 8015526 w 12123107"/>
              <a:gd name="connsiteY57" fmla="*/ 5442814 h 6858000"/>
              <a:gd name="connsiteX58" fmla="*/ 8046935 w 12123107"/>
              <a:gd name="connsiteY58" fmla="*/ 5483901 h 6858000"/>
              <a:gd name="connsiteX59" fmla="*/ 8092092 w 12123107"/>
              <a:gd name="connsiteY59" fmla="*/ 5546990 h 6858000"/>
              <a:gd name="connsiteX60" fmla="*/ 8117225 w 12123107"/>
              <a:gd name="connsiteY60" fmla="*/ 5587213 h 6858000"/>
              <a:gd name="connsiteX61" fmla="*/ 8143863 w 12123107"/>
              <a:gd name="connsiteY61" fmla="*/ 5629844 h 6858000"/>
              <a:gd name="connsiteX62" fmla="*/ 8167066 w 12123107"/>
              <a:gd name="connsiteY62" fmla="*/ 5666978 h 6858000"/>
              <a:gd name="connsiteX63" fmla="*/ 8209211 w 12123107"/>
              <a:gd name="connsiteY63" fmla="*/ 5740550 h 6858000"/>
              <a:gd name="connsiteX64" fmla="*/ 8226269 w 12123107"/>
              <a:gd name="connsiteY64" fmla="*/ 5772439 h 6858000"/>
              <a:gd name="connsiteX65" fmla="*/ 8256170 w 12123107"/>
              <a:gd name="connsiteY65" fmla="*/ 5830239 h 6858000"/>
              <a:gd name="connsiteX66" fmla="*/ 8270393 w 12123107"/>
              <a:gd name="connsiteY66" fmla="*/ 5859119 h 6858000"/>
              <a:gd name="connsiteX67" fmla="*/ 8309187 w 12123107"/>
              <a:gd name="connsiteY67" fmla="*/ 5943394 h 6858000"/>
              <a:gd name="connsiteX68" fmla="*/ 8317050 w 12123107"/>
              <a:gd name="connsiteY68" fmla="*/ 5962860 h 6858000"/>
              <a:gd name="connsiteX69" fmla="*/ 8347636 w 12123107"/>
              <a:gd name="connsiteY69" fmla="*/ 6039357 h 6858000"/>
              <a:gd name="connsiteX70" fmla="*/ 8354940 w 12123107"/>
              <a:gd name="connsiteY70" fmla="*/ 6058694 h 6858000"/>
              <a:gd name="connsiteX71" fmla="*/ 8388103 w 12123107"/>
              <a:gd name="connsiteY71" fmla="*/ 6154611 h 6858000"/>
              <a:gd name="connsiteX72" fmla="*/ 8390251 w 12123107"/>
              <a:gd name="connsiteY72" fmla="*/ 6158048 h 6858000"/>
              <a:gd name="connsiteX73" fmla="*/ 8418258 w 12123107"/>
              <a:gd name="connsiteY73" fmla="*/ 6253363 h 6858000"/>
              <a:gd name="connsiteX74" fmla="*/ 8421695 w 12123107"/>
              <a:gd name="connsiteY74" fmla="*/ 6266516 h 6858000"/>
              <a:gd name="connsiteX75" fmla="*/ 8465847 w 12123107"/>
              <a:gd name="connsiteY75" fmla="*/ 6470296 h 6858000"/>
              <a:gd name="connsiteX76" fmla="*/ 8468167 w 12123107"/>
              <a:gd name="connsiteY76" fmla="*/ 6483190 h 6858000"/>
              <a:gd name="connsiteX77" fmla="*/ 8492123 w 12123107"/>
              <a:gd name="connsiteY77" fmla="*/ 6689074 h 6858000"/>
              <a:gd name="connsiteX78" fmla="*/ 8493579 w 12123107"/>
              <a:gd name="connsiteY78" fmla="*/ 6708238 h 6858000"/>
              <a:gd name="connsiteX79" fmla="*/ 8496664 w 12123107"/>
              <a:gd name="connsiteY79" fmla="*/ 6801917 h 6858000"/>
              <a:gd name="connsiteX80" fmla="*/ 8496880 w 12123107"/>
              <a:gd name="connsiteY80" fmla="*/ 6809911 h 6858000"/>
              <a:gd name="connsiteX81" fmla="*/ 8496188 w 12123107"/>
              <a:gd name="connsiteY81" fmla="*/ 6858000 h 6858000"/>
              <a:gd name="connsiteX82" fmla="*/ 3899109 w 12123107"/>
              <a:gd name="connsiteY82" fmla="*/ 6858000 h 6858000"/>
              <a:gd name="connsiteX83" fmla="*/ 3899117 w 12123107"/>
              <a:gd name="connsiteY83" fmla="*/ 6789239 h 6858000"/>
              <a:gd name="connsiteX84" fmla="*/ 3899465 w 12123107"/>
              <a:gd name="connsiteY84" fmla="*/ 6762255 h 6858000"/>
              <a:gd name="connsiteX85" fmla="*/ 3906439 w 12123107"/>
              <a:gd name="connsiteY85" fmla="*/ 6647946 h 6858000"/>
              <a:gd name="connsiteX86" fmla="*/ 3906870 w 12123107"/>
              <a:gd name="connsiteY86" fmla="*/ 6640983 h 6858000"/>
              <a:gd name="connsiteX87" fmla="*/ 3910957 w 12123107"/>
              <a:gd name="connsiteY87" fmla="*/ 6597798 h 6858000"/>
              <a:gd name="connsiteX88" fmla="*/ 3550998 w 12123107"/>
              <a:gd name="connsiteY88" fmla="*/ 6030134 h 6858000"/>
              <a:gd name="connsiteX89" fmla="*/ 3536216 w 12123107"/>
              <a:gd name="connsiteY89" fmla="*/ 6024070 h 6858000"/>
              <a:gd name="connsiteX90" fmla="*/ 3050612 w 12123107"/>
              <a:gd name="connsiteY90" fmla="*/ 6142017 h 6858000"/>
              <a:gd name="connsiteX91" fmla="*/ 3039180 w 12123107"/>
              <a:gd name="connsiteY91" fmla="*/ 6155855 h 6858000"/>
              <a:gd name="connsiteX92" fmla="*/ 1611320 w 12123107"/>
              <a:gd name="connsiteY92" fmla="*/ 6766958 h 6858000"/>
              <a:gd name="connsiteX93" fmla="*/ 3563 w 12123107"/>
              <a:gd name="connsiteY93" fmla="*/ 4939668 h 6858000"/>
              <a:gd name="connsiteX94" fmla="*/ 1830671 w 12123107"/>
              <a:gd name="connsiteY94" fmla="*/ 3331926 h 6858000"/>
              <a:gd name="connsiteX95" fmla="*/ 3438463 w 12123107"/>
              <a:gd name="connsiteY95" fmla="*/ 5159195 h 6858000"/>
              <a:gd name="connsiteX96" fmla="*/ 3437601 w 12123107"/>
              <a:gd name="connsiteY96" fmla="*/ 5176941 h 6858000"/>
              <a:gd name="connsiteX97" fmla="*/ 3707079 w 12123107"/>
              <a:gd name="connsiteY97" fmla="*/ 5597504 h 6858000"/>
              <a:gd name="connsiteX98" fmla="*/ 3722204 w 12123107"/>
              <a:gd name="connsiteY98" fmla="*/ 5603348 h 6858000"/>
              <a:gd name="connsiteX99" fmla="*/ 4374460 w 12123107"/>
              <a:gd name="connsiteY99" fmla="*/ 5441501 h 6858000"/>
              <a:gd name="connsiteX100" fmla="*/ 4380778 w 12123107"/>
              <a:gd name="connsiteY100" fmla="*/ 5433253 h 6858000"/>
              <a:gd name="connsiteX101" fmla="*/ 4395263 w 12123107"/>
              <a:gd name="connsiteY101" fmla="*/ 5415117 h 6858000"/>
              <a:gd name="connsiteX102" fmla="*/ 4401107 w 12123107"/>
              <a:gd name="connsiteY102" fmla="*/ 5407642 h 6858000"/>
              <a:gd name="connsiteX103" fmla="*/ 4405663 w 12123107"/>
              <a:gd name="connsiteY103" fmla="*/ 5401924 h 6858000"/>
              <a:gd name="connsiteX104" fmla="*/ 4480961 w 12123107"/>
              <a:gd name="connsiteY104" fmla="*/ 5312808 h 6858000"/>
              <a:gd name="connsiteX105" fmla="*/ 4483368 w 12123107"/>
              <a:gd name="connsiteY105" fmla="*/ 5311304 h 6858000"/>
              <a:gd name="connsiteX106" fmla="*/ 4558965 w 12123107"/>
              <a:gd name="connsiteY106" fmla="*/ 5231086 h 6858000"/>
              <a:gd name="connsiteX107" fmla="*/ 4576931 w 12123107"/>
              <a:gd name="connsiteY107" fmla="*/ 5213167 h 6858000"/>
              <a:gd name="connsiteX108" fmla="*/ 4652269 w 12123107"/>
              <a:gd name="connsiteY108" fmla="*/ 5141712 h 6858000"/>
              <a:gd name="connsiteX109" fmla="*/ 4672597 w 12123107"/>
              <a:gd name="connsiteY109" fmla="*/ 5123752 h 6858000"/>
              <a:gd name="connsiteX110" fmla="*/ 4742178 w 12123107"/>
              <a:gd name="connsiteY110" fmla="*/ 5064503 h 6858000"/>
              <a:gd name="connsiteX111" fmla="*/ 4753607 w 12123107"/>
              <a:gd name="connsiteY111" fmla="*/ 5054490 h 6858000"/>
              <a:gd name="connsiteX112" fmla="*/ 5004115 w 12123107"/>
              <a:gd name="connsiteY112" fmla="*/ 4879318 h 6858000"/>
              <a:gd name="connsiteX113" fmla="*/ 5006522 w 12123107"/>
              <a:gd name="connsiteY113" fmla="*/ 4877814 h 6858000"/>
              <a:gd name="connsiteX114" fmla="*/ 5068107 w 12123107"/>
              <a:gd name="connsiteY114" fmla="*/ 4841726 h 6858000"/>
              <a:gd name="connsiteX115" fmla="*/ 5081514 w 12123107"/>
              <a:gd name="connsiteY115" fmla="*/ 4833348 h 6858000"/>
              <a:gd name="connsiteX116" fmla="*/ 5132269 w 12123107"/>
              <a:gd name="connsiteY116" fmla="*/ 4805935 h 6858000"/>
              <a:gd name="connsiteX117" fmla="*/ 5162522 w 12123107"/>
              <a:gd name="connsiteY117" fmla="*/ 4790859 h 6858000"/>
              <a:gd name="connsiteX118" fmla="*/ 5198835 w 12123107"/>
              <a:gd name="connsiteY118" fmla="*/ 4772470 h 6858000"/>
              <a:gd name="connsiteX119" fmla="*/ 5244907 w 12123107"/>
              <a:gd name="connsiteY119" fmla="*/ 4751332 h 6858000"/>
              <a:gd name="connsiteX120" fmla="*/ 5265663 w 12123107"/>
              <a:gd name="connsiteY120" fmla="*/ 4741707 h 6858000"/>
              <a:gd name="connsiteX121" fmla="*/ 5327976 w 12123107"/>
              <a:gd name="connsiteY121" fmla="*/ 4715201 h 6858000"/>
              <a:gd name="connsiteX122" fmla="*/ 5333477 w 12123107"/>
              <a:gd name="connsiteY122" fmla="*/ 4711763 h 6858000"/>
              <a:gd name="connsiteX123" fmla="*/ 5695877 w 12123107"/>
              <a:gd name="connsiteY123" fmla="*/ 4598614 h 6858000"/>
              <a:gd name="connsiteX124" fmla="*/ 5712507 w 12123107"/>
              <a:gd name="connsiteY124" fmla="*/ 4595395 h 6858000"/>
              <a:gd name="connsiteX125" fmla="*/ 5799745 w 12123107"/>
              <a:gd name="connsiteY125" fmla="*/ 4578173 h 6858000"/>
              <a:gd name="connsiteX126" fmla="*/ 5827675 w 12123107"/>
              <a:gd name="connsiteY126" fmla="*/ 4573146 h 6858000"/>
              <a:gd name="connsiteX127" fmla="*/ 5928921 w 12123107"/>
              <a:gd name="connsiteY127" fmla="*/ 4557686 h 6858000"/>
              <a:gd name="connsiteX128" fmla="*/ 5955221 w 12123107"/>
              <a:gd name="connsiteY128" fmla="*/ 4554639 h 6858000"/>
              <a:gd name="connsiteX129" fmla="*/ 6064156 w 12123107"/>
              <a:gd name="connsiteY129" fmla="*/ 4545369 h 6858000"/>
              <a:gd name="connsiteX130" fmla="*/ 6068541 w 12123107"/>
              <a:gd name="connsiteY130" fmla="*/ 4545500 h 6858000"/>
              <a:gd name="connsiteX131" fmla="*/ 6182936 w 12123107"/>
              <a:gd name="connsiteY131" fmla="*/ 4541905 h 6858000"/>
              <a:gd name="connsiteX132" fmla="*/ 6190928 w 12123107"/>
              <a:gd name="connsiteY132" fmla="*/ 4541690 h 6858000"/>
              <a:gd name="connsiteX133" fmla="*/ 6201842 w 12123107"/>
              <a:gd name="connsiteY133" fmla="*/ 4541563 h 6858000"/>
              <a:gd name="connsiteX134" fmla="*/ 6222983 w 12123107"/>
              <a:gd name="connsiteY134" fmla="*/ 4541734 h 6858000"/>
              <a:gd name="connsiteX135" fmla="*/ 6234115 w 12123107"/>
              <a:gd name="connsiteY135" fmla="*/ 4541950 h 6858000"/>
              <a:gd name="connsiteX136" fmla="*/ 6767364 w 12123107"/>
              <a:gd name="connsiteY136" fmla="*/ 4132268 h 6858000"/>
              <a:gd name="connsiteX137" fmla="*/ 6770500 w 12123107"/>
              <a:gd name="connsiteY137" fmla="*/ 4121223 h 6858000"/>
              <a:gd name="connsiteX138" fmla="*/ 6412219 w 12123107"/>
              <a:gd name="connsiteY138" fmla="*/ 3150002 h 6858000"/>
              <a:gd name="connsiteX139" fmla="*/ 6038346 w 12123107"/>
              <a:gd name="connsiteY139" fmla="*/ 2889805 h 6858000"/>
              <a:gd name="connsiteX140" fmla="*/ 6032630 w 12123107"/>
              <a:gd name="connsiteY140" fmla="*/ 2885249 h 6858000"/>
              <a:gd name="connsiteX141" fmla="*/ 5933802 w 12123107"/>
              <a:gd name="connsiteY141" fmla="*/ 2803589 h 6858000"/>
              <a:gd name="connsiteX142" fmla="*/ 5925253 w 12123107"/>
              <a:gd name="connsiteY142" fmla="*/ 2796029 h 6858000"/>
              <a:gd name="connsiteX143" fmla="*/ 5743540 w 12123107"/>
              <a:gd name="connsiteY143" fmla="*/ 2626093 h 6858000"/>
              <a:gd name="connsiteX144" fmla="*/ 4815526 w 12123107"/>
              <a:gd name="connsiteY144" fmla="*/ 911383 h 6858000"/>
              <a:gd name="connsiteX145" fmla="*/ 4813982 w 12123107"/>
              <a:gd name="connsiteY145" fmla="*/ 902790 h 6858000"/>
              <a:gd name="connsiteX146" fmla="*/ 4798820 w 12123107"/>
              <a:gd name="connsiteY146" fmla="*/ 825736 h 6858000"/>
              <a:gd name="connsiteX147" fmla="*/ 4790102 w 12123107"/>
              <a:gd name="connsiteY147" fmla="*/ 778123 h 6858000"/>
              <a:gd name="connsiteX148" fmla="*/ 4784649 w 12123107"/>
              <a:gd name="connsiteY148" fmla="*/ 745678 h 6858000"/>
              <a:gd name="connsiteX149" fmla="*/ 4740100 w 12123107"/>
              <a:gd name="connsiteY149" fmla="*/ 2229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2123107" h="6858000">
                <a:moveTo>
                  <a:pt x="4746749" y="0"/>
                </a:moveTo>
                <a:lnTo>
                  <a:pt x="11630128" y="0"/>
                </a:lnTo>
                <a:lnTo>
                  <a:pt x="11636186" y="147212"/>
                </a:lnTo>
                <a:cubicBezTo>
                  <a:pt x="11637728" y="281891"/>
                  <a:pt x="11631288" y="416657"/>
                  <a:pt x="11616919" y="550881"/>
                </a:cubicBezTo>
                <a:lnTo>
                  <a:pt x="11608319" y="613622"/>
                </a:lnTo>
                <a:cubicBezTo>
                  <a:pt x="11605908" y="641895"/>
                  <a:pt x="11601780" y="667420"/>
                  <a:pt x="11597823" y="694750"/>
                </a:cubicBezTo>
                <a:cubicBezTo>
                  <a:pt x="11593265" y="734887"/>
                  <a:pt x="11586429" y="775969"/>
                  <a:pt x="11578904" y="817481"/>
                </a:cubicBezTo>
                <a:lnTo>
                  <a:pt x="11572496" y="851600"/>
                </a:lnTo>
                <a:cubicBezTo>
                  <a:pt x="11570388" y="861997"/>
                  <a:pt x="11568840" y="872523"/>
                  <a:pt x="11566520" y="882580"/>
                </a:cubicBezTo>
                <a:cubicBezTo>
                  <a:pt x="11516574" y="1127947"/>
                  <a:pt x="11439815" y="1367124"/>
                  <a:pt x="11337480" y="1595515"/>
                </a:cubicBezTo>
                <a:cubicBezTo>
                  <a:pt x="11298065" y="1684678"/>
                  <a:pt x="11253965" y="1772466"/>
                  <a:pt x="11206426" y="1858575"/>
                </a:cubicBezTo>
                <a:lnTo>
                  <a:pt x="11181841" y="1902617"/>
                </a:lnTo>
                <a:lnTo>
                  <a:pt x="11165079" y="1933171"/>
                </a:lnTo>
                <a:lnTo>
                  <a:pt x="11153002" y="1953625"/>
                </a:lnTo>
                <a:cubicBezTo>
                  <a:pt x="10962434" y="2290209"/>
                  <a:pt x="11018945" y="2712377"/>
                  <a:pt x="11291344" y="2986746"/>
                </a:cubicBezTo>
                <a:lnTo>
                  <a:pt x="11295640" y="2993620"/>
                </a:lnTo>
                <a:cubicBezTo>
                  <a:pt x="11493105" y="3193566"/>
                  <a:pt x="11786050" y="3257726"/>
                  <a:pt x="12044691" y="3166638"/>
                </a:cubicBezTo>
                <a:lnTo>
                  <a:pt x="12123107" y="3131471"/>
                </a:lnTo>
                <a:lnTo>
                  <a:pt x="12123107" y="6858000"/>
                </a:lnTo>
                <a:lnTo>
                  <a:pt x="10982860" y="6858000"/>
                </a:lnTo>
                <a:lnTo>
                  <a:pt x="10887997" y="6641613"/>
                </a:lnTo>
                <a:cubicBezTo>
                  <a:pt x="10592235" y="5868261"/>
                  <a:pt x="10631310" y="4973632"/>
                  <a:pt x="11071357" y="4196912"/>
                </a:cubicBezTo>
                <a:lnTo>
                  <a:pt x="11083908" y="4175684"/>
                </a:lnTo>
                <a:cubicBezTo>
                  <a:pt x="11240284" y="3895844"/>
                  <a:pt x="11192313" y="3546255"/>
                  <a:pt x="10966347" y="3318884"/>
                </a:cubicBezTo>
                <a:lnTo>
                  <a:pt x="10962052" y="3312010"/>
                </a:lnTo>
                <a:cubicBezTo>
                  <a:pt x="10791658" y="3140919"/>
                  <a:pt x="10563073" y="3053619"/>
                  <a:pt x="10333224" y="3058188"/>
                </a:cubicBezTo>
                <a:cubicBezTo>
                  <a:pt x="10195315" y="3060930"/>
                  <a:pt x="10056950" y="3096744"/>
                  <a:pt x="9930425" y="3167378"/>
                </a:cubicBezTo>
                <a:lnTo>
                  <a:pt x="9910484" y="3179838"/>
                </a:lnTo>
                <a:cubicBezTo>
                  <a:pt x="9602160" y="3357191"/>
                  <a:pt x="9267984" y="3485214"/>
                  <a:pt x="8920181" y="3559603"/>
                </a:cubicBezTo>
                <a:lnTo>
                  <a:pt x="8917775" y="3561107"/>
                </a:lnTo>
                <a:lnTo>
                  <a:pt x="8857095" y="3574163"/>
                </a:lnTo>
                <a:cubicBezTo>
                  <a:pt x="8743844" y="3596645"/>
                  <a:pt x="8629407" y="3613176"/>
                  <a:pt x="8514340" y="3623884"/>
                </a:cubicBezTo>
                <a:lnTo>
                  <a:pt x="8485809" y="3626417"/>
                </a:lnTo>
                <a:cubicBezTo>
                  <a:pt x="8450397" y="3629421"/>
                  <a:pt x="8415115" y="3631866"/>
                  <a:pt x="8379623" y="3633970"/>
                </a:cubicBezTo>
                <a:lnTo>
                  <a:pt x="8352461" y="3635640"/>
                </a:lnTo>
                <a:cubicBezTo>
                  <a:pt x="8309876" y="3637869"/>
                  <a:pt x="8267549" y="3638985"/>
                  <a:pt x="8224791" y="3639408"/>
                </a:cubicBezTo>
                <a:lnTo>
                  <a:pt x="8200384" y="3639365"/>
                </a:lnTo>
                <a:cubicBezTo>
                  <a:pt x="8163811" y="3639744"/>
                  <a:pt x="8126596" y="3639096"/>
                  <a:pt x="8089729" y="3638231"/>
                </a:cubicBezTo>
                <a:lnTo>
                  <a:pt x="8075118" y="3637803"/>
                </a:lnTo>
                <a:lnTo>
                  <a:pt x="8051397" y="3637329"/>
                </a:lnTo>
                <a:cubicBezTo>
                  <a:pt x="7664637" y="3629933"/>
                  <a:pt x="7320586" y="3881242"/>
                  <a:pt x="7209623" y="4251741"/>
                </a:cubicBezTo>
                <a:lnTo>
                  <a:pt x="7206142" y="4262997"/>
                </a:lnTo>
                <a:cubicBezTo>
                  <a:pt x="7130372" y="4504904"/>
                  <a:pt x="7221829" y="4767562"/>
                  <a:pt x="7431589" y="4909930"/>
                </a:cubicBezTo>
                <a:cubicBezTo>
                  <a:pt x="7443791" y="4919514"/>
                  <a:pt x="7455823" y="4927296"/>
                  <a:pt x="7468198" y="4934858"/>
                </a:cubicBezTo>
                <a:cubicBezTo>
                  <a:pt x="7471045" y="4936429"/>
                  <a:pt x="7473716" y="4938104"/>
                  <a:pt x="7476363" y="4940278"/>
                </a:cubicBezTo>
                <a:cubicBezTo>
                  <a:pt x="7507472" y="4960992"/>
                  <a:pt x="7537894" y="4982138"/>
                  <a:pt x="7567500" y="5004271"/>
                </a:cubicBezTo>
                <a:cubicBezTo>
                  <a:pt x="7575323" y="5009903"/>
                  <a:pt x="7582456" y="5015962"/>
                  <a:pt x="7589714" y="5021463"/>
                </a:cubicBezTo>
                <a:cubicBezTo>
                  <a:pt x="7615025" y="5040545"/>
                  <a:pt x="7639775" y="5059502"/>
                  <a:pt x="7663924" y="5079787"/>
                </a:cubicBezTo>
                <a:cubicBezTo>
                  <a:pt x="7671613" y="5085976"/>
                  <a:pt x="7679176" y="5092723"/>
                  <a:pt x="7686523" y="5099126"/>
                </a:cubicBezTo>
                <a:cubicBezTo>
                  <a:pt x="7709898" y="5118938"/>
                  <a:pt x="7733144" y="5139308"/>
                  <a:pt x="7755489" y="5159769"/>
                </a:cubicBezTo>
                <a:cubicBezTo>
                  <a:pt x="7763052" y="5166516"/>
                  <a:pt x="7770270" y="5173478"/>
                  <a:pt x="7777273" y="5180096"/>
                </a:cubicBezTo>
                <a:cubicBezTo>
                  <a:pt x="7799702" y="5201455"/>
                  <a:pt x="7821788" y="5223030"/>
                  <a:pt x="7843184" y="5245035"/>
                </a:cubicBezTo>
                <a:cubicBezTo>
                  <a:pt x="7847739" y="5246968"/>
                  <a:pt x="7845593" y="5247357"/>
                  <a:pt x="7852037" y="5253847"/>
                </a:cubicBezTo>
                <a:cubicBezTo>
                  <a:pt x="7858481" y="5260335"/>
                  <a:pt x="7866517" y="5266308"/>
                  <a:pt x="7871457" y="5274216"/>
                </a:cubicBezTo>
                <a:cubicBezTo>
                  <a:pt x="7887270" y="5291108"/>
                  <a:pt x="7905360" y="5310878"/>
                  <a:pt x="7918207" y="5325316"/>
                </a:cubicBezTo>
                <a:cubicBezTo>
                  <a:pt x="7931054" y="5339755"/>
                  <a:pt x="7944544" y="5355228"/>
                  <a:pt x="7955845" y="5368725"/>
                </a:cubicBezTo>
                <a:cubicBezTo>
                  <a:pt x="7967144" y="5382217"/>
                  <a:pt x="7979391" y="5397988"/>
                  <a:pt x="7988631" y="5408951"/>
                </a:cubicBezTo>
                <a:cubicBezTo>
                  <a:pt x="7997868" y="5419909"/>
                  <a:pt x="8005126" y="5429233"/>
                  <a:pt x="8015526" y="5442814"/>
                </a:cubicBezTo>
                <a:cubicBezTo>
                  <a:pt x="8025924" y="5456396"/>
                  <a:pt x="8037695" y="5469115"/>
                  <a:pt x="8046935" y="5483901"/>
                </a:cubicBezTo>
                <a:cubicBezTo>
                  <a:pt x="8062402" y="5504830"/>
                  <a:pt x="8078558" y="5525330"/>
                  <a:pt x="8092092" y="5546990"/>
                </a:cubicBezTo>
                <a:cubicBezTo>
                  <a:pt x="8100470" y="5560399"/>
                  <a:pt x="8108204" y="5572776"/>
                  <a:pt x="8117225" y="5587213"/>
                </a:cubicBezTo>
                <a:cubicBezTo>
                  <a:pt x="8126248" y="5601654"/>
                  <a:pt x="8135057" y="5615751"/>
                  <a:pt x="8143863" y="5629844"/>
                </a:cubicBezTo>
                <a:lnTo>
                  <a:pt x="8167066" y="5666978"/>
                </a:lnTo>
                <a:cubicBezTo>
                  <a:pt x="8181757" y="5691257"/>
                  <a:pt x="8194175" y="5716486"/>
                  <a:pt x="8209211" y="5740550"/>
                </a:cubicBezTo>
                <a:cubicBezTo>
                  <a:pt x="8213380" y="5751811"/>
                  <a:pt x="8219823" y="5762123"/>
                  <a:pt x="8226269" y="5772439"/>
                </a:cubicBezTo>
                <a:cubicBezTo>
                  <a:pt x="8236624" y="5791305"/>
                  <a:pt x="8244569" y="5811673"/>
                  <a:pt x="8256170" y="5830239"/>
                </a:cubicBezTo>
                <a:cubicBezTo>
                  <a:pt x="8261069" y="5839607"/>
                  <a:pt x="8264593" y="5849835"/>
                  <a:pt x="8270393" y="5859119"/>
                </a:cubicBezTo>
                <a:cubicBezTo>
                  <a:pt x="8283969" y="5886968"/>
                  <a:pt x="8296857" y="5915246"/>
                  <a:pt x="8309187" y="5943394"/>
                </a:cubicBezTo>
                <a:lnTo>
                  <a:pt x="8317050" y="5962860"/>
                </a:lnTo>
                <a:cubicBezTo>
                  <a:pt x="8327555" y="5988321"/>
                  <a:pt x="8337608" y="6013591"/>
                  <a:pt x="8347636" y="6039357"/>
                </a:cubicBezTo>
                <a:cubicBezTo>
                  <a:pt x="8350256" y="6045843"/>
                  <a:pt x="8351287" y="6052848"/>
                  <a:pt x="8354940" y="6058694"/>
                </a:cubicBezTo>
                <a:cubicBezTo>
                  <a:pt x="8366710" y="6090536"/>
                  <a:pt x="8377924" y="6122253"/>
                  <a:pt x="8388103" y="6154611"/>
                </a:cubicBezTo>
                <a:lnTo>
                  <a:pt x="8390251" y="6158048"/>
                </a:lnTo>
                <a:cubicBezTo>
                  <a:pt x="8400346" y="6189507"/>
                  <a:pt x="8409755" y="6221395"/>
                  <a:pt x="8418258" y="6253363"/>
                </a:cubicBezTo>
                <a:cubicBezTo>
                  <a:pt x="8419589" y="6257790"/>
                  <a:pt x="8419333" y="6262735"/>
                  <a:pt x="8421695" y="6266516"/>
                </a:cubicBezTo>
                <a:cubicBezTo>
                  <a:pt x="8439763" y="6333148"/>
                  <a:pt x="8454623" y="6401304"/>
                  <a:pt x="8465847" y="6470296"/>
                </a:cubicBezTo>
                <a:lnTo>
                  <a:pt x="8468167" y="6483190"/>
                </a:lnTo>
                <a:cubicBezTo>
                  <a:pt x="8479202" y="6551344"/>
                  <a:pt x="8487188" y="6619973"/>
                  <a:pt x="8492123" y="6689074"/>
                </a:cubicBezTo>
                <a:lnTo>
                  <a:pt x="8493579" y="6708238"/>
                </a:lnTo>
                <a:cubicBezTo>
                  <a:pt x="8494607" y="6738190"/>
                  <a:pt x="8496152" y="6769734"/>
                  <a:pt x="8496664" y="6801917"/>
                </a:cubicBezTo>
                <a:lnTo>
                  <a:pt x="8496880" y="6809911"/>
                </a:lnTo>
                <a:lnTo>
                  <a:pt x="8496188" y="6858000"/>
                </a:lnTo>
                <a:lnTo>
                  <a:pt x="3899109" y="6858000"/>
                </a:lnTo>
                <a:lnTo>
                  <a:pt x="3899117" y="6789239"/>
                </a:lnTo>
                <a:lnTo>
                  <a:pt x="3899465" y="6762255"/>
                </a:lnTo>
                <a:cubicBezTo>
                  <a:pt x="3900931" y="6724050"/>
                  <a:pt x="3903169" y="6686320"/>
                  <a:pt x="3906439" y="6647946"/>
                </a:cubicBezTo>
                <a:lnTo>
                  <a:pt x="3906870" y="6640983"/>
                </a:lnTo>
                <a:cubicBezTo>
                  <a:pt x="3908761" y="6626415"/>
                  <a:pt x="3910311" y="6612066"/>
                  <a:pt x="3910957" y="6597798"/>
                </a:cubicBezTo>
                <a:cubicBezTo>
                  <a:pt x="3925828" y="6350923"/>
                  <a:pt x="3780812" y="6122205"/>
                  <a:pt x="3550998" y="6030134"/>
                </a:cubicBezTo>
                <a:lnTo>
                  <a:pt x="3536216" y="6024070"/>
                </a:lnTo>
                <a:cubicBezTo>
                  <a:pt x="3365767" y="5956089"/>
                  <a:pt x="3170840" y="6003318"/>
                  <a:pt x="3050612" y="6142017"/>
                </a:cubicBezTo>
                <a:lnTo>
                  <a:pt x="3039180" y="6155855"/>
                </a:lnTo>
                <a:cubicBezTo>
                  <a:pt x="2687455" y="6574970"/>
                  <a:pt x="2157439" y="6801933"/>
                  <a:pt x="1611320" y="6766958"/>
                </a:cubicBezTo>
                <a:cubicBezTo>
                  <a:pt x="662746" y="6706196"/>
                  <a:pt x="-57041" y="5888197"/>
                  <a:pt x="3563" y="4939668"/>
                </a:cubicBezTo>
                <a:cubicBezTo>
                  <a:pt x="64168" y="3991144"/>
                  <a:pt x="882308" y="3271507"/>
                  <a:pt x="1830671" y="3331926"/>
                </a:cubicBezTo>
                <a:cubicBezTo>
                  <a:pt x="2779285" y="3392669"/>
                  <a:pt x="3499069" y="4210670"/>
                  <a:pt x="3438463" y="5159195"/>
                </a:cubicBezTo>
                <a:cubicBezTo>
                  <a:pt x="3437732" y="5164908"/>
                  <a:pt x="3437774" y="5171097"/>
                  <a:pt x="3437601" y="5176941"/>
                </a:cubicBezTo>
                <a:cubicBezTo>
                  <a:pt x="3428679" y="5360350"/>
                  <a:pt x="3536727" y="5528984"/>
                  <a:pt x="3707079" y="5597504"/>
                </a:cubicBezTo>
                <a:lnTo>
                  <a:pt x="3722204" y="5603348"/>
                </a:lnTo>
                <a:cubicBezTo>
                  <a:pt x="3951848" y="5695530"/>
                  <a:pt x="4214597" y="5630304"/>
                  <a:pt x="4374460" y="5441501"/>
                </a:cubicBezTo>
                <a:lnTo>
                  <a:pt x="4380778" y="5433253"/>
                </a:lnTo>
                <a:lnTo>
                  <a:pt x="4395263" y="5415117"/>
                </a:lnTo>
                <a:lnTo>
                  <a:pt x="4401107" y="5407642"/>
                </a:lnTo>
                <a:lnTo>
                  <a:pt x="4405663" y="5401924"/>
                </a:lnTo>
                <a:cubicBezTo>
                  <a:pt x="4430290" y="5371720"/>
                  <a:pt x="4455130" y="5341856"/>
                  <a:pt x="4480961" y="5312808"/>
                </a:cubicBezTo>
                <a:lnTo>
                  <a:pt x="4483368" y="5311304"/>
                </a:lnTo>
                <a:cubicBezTo>
                  <a:pt x="4507908" y="5284020"/>
                  <a:pt x="4533222" y="5257208"/>
                  <a:pt x="4558965" y="5231086"/>
                </a:cubicBezTo>
                <a:lnTo>
                  <a:pt x="4576931" y="5213167"/>
                </a:lnTo>
                <a:cubicBezTo>
                  <a:pt x="4601730" y="5188593"/>
                  <a:pt x="4626612" y="5164915"/>
                  <a:pt x="4652269" y="5141712"/>
                </a:cubicBezTo>
                <a:lnTo>
                  <a:pt x="4672597" y="5123752"/>
                </a:lnTo>
                <a:cubicBezTo>
                  <a:pt x="4695461" y="5103731"/>
                  <a:pt x="4718325" y="5083708"/>
                  <a:pt x="4742178" y="5064503"/>
                </a:cubicBezTo>
                <a:lnTo>
                  <a:pt x="4753607" y="5054490"/>
                </a:lnTo>
                <a:cubicBezTo>
                  <a:pt x="4833048" y="4990514"/>
                  <a:pt x="4916758" y="4931995"/>
                  <a:pt x="5004115" y="4879318"/>
                </a:cubicBezTo>
                <a:lnTo>
                  <a:pt x="5006522" y="4877814"/>
                </a:lnTo>
                <a:cubicBezTo>
                  <a:pt x="5027880" y="4866861"/>
                  <a:pt x="5047822" y="4854401"/>
                  <a:pt x="5068107" y="4841726"/>
                </a:cubicBezTo>
                <a:lnTo>
                  <a:pt x="5081514" y="4833348"/>
                </a:lnTo>
                <a:cubicBezTo>
                  <a:pt x="5098318" y="4824283"/>
                  <a:pt x="5116108" y="4816033"/>
                  <a:pt x="5132269" y="4805935"/>
                </a:cubicBezTo>
                <a:lnTo>
                  <a:pt x="5162522" y="4790859"/>
                </a:lnTo>
                <a:lnTo>
                  <a:pt x="5198835" y="4772470"/>
                </a:lnTo>
                <a:lnTo>
                  <a:pt x="5244907" y="4751332"/>
                </a:lnTo>
                <a:lnTo>
                  <a:pt x="5265663" y="4741707"/>
                </a:lnTo>
                <a:cubicBezTo>
                  <a:pt x="5286289" y="4732642"/>
                  <a:pt x="5306919" y="4723579"/>
                  <a:pt x="5327976" y="4715201"/>
                </a:cubicBezTo>
                <a:lnTo>
                  <a:pt x="5333477" y="4711763"/>
                </a:lnTo>
                <a:cubicBezTo>
                  <a:pt x="5450969" y="4664165"/>
                  <a:pt x="5572112" y="4626231"/>
                  <a:pt x="5695877" y="4598614"/>
                </a:cubicBezTo>
                <a:lnTo>
                  <a:pt x="5712507" y="4595395"/>
                </a:lnTo>
                <a:cubicBezTo>
                  <a:pt x="5741385" y="4588823"/>
                  <a:pt x="5770566" y="4583498"/>
                  <a:pt x="5799745" y="4578173"/>
                </a:cubicBezTo>
                <a:lnTo>
                  <a:pt x="5827675" y="4573146"/>
                </a:lnTo>
                <a:cubicBezTo>
                  <a:pt x="5860724" y="4566360"/>
                  <a:pt x="5894499" y="4561507"/>
                  <a:pt x="5928921" y="4557686"/>
                </a:cubicBezTo>
                <a:lnTo>
                  <a:pt x="5955221" y="4554639"/>
                </a:lnTo>
                <a:cubicBezTo>
                  <a:pt x="5991550" y="4550583"/>
                  <a:pt x="6027862" y="4547494"/>
                  <a:pt x="6064156" y="4545369"/>
                </a:cubicBezTo>
                <a:lnTo>
                  <a:pt x="6068541" y="4545500"/>
                </a:lnTo>
                <a:cubicBezTo>
                  <a:pt x="6106101" y="4542110"/>
                  <a:pt x="6144903" y="4542239"/>
                  <a:pt x="6182936" y="4541905"/>
                </a:cubicBezTo>
                <a:lnTo>
                  <a:pt x="6190928" y="4541690"/>
                </a:lnTo>
                <a:lnTo>
                  <a:pt x="6201842" y="4541563"/>
                </a:lnTo>
                <a:cubicBezTo>
                  <a:pt x="6208803" y="4541993"/>
                  <a:pt x="6215893" y="4541863"/>
                  <a:pt x="6222983" y="4541734"/>
                </a:cubicBezTo>
                <a:lnTo>
                  <a:pt x="6234115" y="4541950"/>
                </a:lnTo>
                <a:cubicBezTo>
                  <a:pt x="6481422" y="4534182"/>
                  <a:pt x="6696268" y="4369342"/>
                  <a:pt x="6767364" y="4132268"/>
                </a:cubicBezTo>
                <a:lnTo>
                  <a:pt x="6770500" y="4121223"/>
                </a:lnTo>
                <a:cubicBezTo>
                  <a:pt x="6880405" y="3753777"/>
                  <a:pt x="6734388" y="3357900"/>
                  <a:pt x="6412219" y="3150002"/>
                </a:cubicBezTo>
                <a:cubicBezTo>
                  <a:pt x="6281952" y="3071737"/>
                  <a:pt x="6157060" y="2984854"/>
                  <a:pt x="6038346" y="2889805"/>
                </a:cubicBezTo>
                <a:lnTo>
                  <a:pt x="6032630" y="2885249"/>
                </a:lnTo>
                <a:cubicBezTo>
                  <a:pt x="5999114" y="2858387"/>
                  <a:pt x="5966287" y="2831095"/>
                  <a:pt x="5933802" y="2803589"/>
                </a:cubicBezTo>
                <a:cubicBezTo>
                  <a:pt x="5931112" y="2800970"/>
                  <a:pt x="5928252" y="2798456"/>
                  <a:pt x="5925253" y="2796029"/>
                </a:cubicBezTo>
                <a:cubicBezTo>
                  <a:pt x="5863849" y="2742133"/>
                  <a:pt x="5802321" y="2684973"/>
                  <a:pt x="5743540" y="2626093"/>
                </a:cubicBezTo>
                <a:cubicBezTo>
                  <a:pt x="5274963" y="2156416"/>
                  <a:pt x="4952458" y="1560563"/>
                  <a:pt x="4815526" y="911383"/>
                </a:cubicBezTo>
                <a:cubicBezTo>
                  <a:pt x="4816990" y="907603"/>
                  <a:pt x="4815485" y="905195"/>
                  <a:pt x="4813982" y="902790"/>
                </a:cubicBezTo>
                <a:cubicBezTo>
                  <a:pt x="4808653" y="877433"/>
                  <a:pt x="4803457" y="851520"/>
                  <a:pt x="4798820" y="825736"/>
                </a:cubicBezTo>
                <a:cubicBezTo>
                  <a:pt x="4795686" y="810008"/>
                  <a:pt x="4792893" y="794066"/>
                  <a:pt x="4790102" y="778123"/>
                </a:cubicBezTo>
                <a:lnTo>
                  <a:pt x="4784649" y="745678"/>
                </a:lnTo>
                <a:cubicBezTo>
                  <a:pt x="4756435" y="572571"/>
                  <a:pt x="4741577" y="397810"/>
                  <a:pt x="4740100" y="222935"/>
                </a:cubicBezTo>
                <a:close/>
              </a:path>
            </a:pathLst>
          </a:custGeom>
          <a:solidFill>
            <a:schemeClr val="accent1"/>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Freihandform: Form 18">
            <a:extLst>
              <a:ext uri="{FF2B5EF4-FFF2-40B4-BE49-F238E27FC236}">
                <a16:creationId xmlns:a16="http://schemas.microsoft.com/office/drawing/2014/main" id="{CF0399A4-9644-4F0B-A175-276E6E7E4EA9}"/>
              </a:ext>
            </a:extLst>
          </p:cNvPr>
          <p:cNvSpPr/>
          <p:nvPr userDrawn="1"/>
        </p:nvSpPr>
        <p:spPr bwMode="gray">
          <a:xfrm>
            <a:off x="0" y="0"/>
            <a:ext cx="12192000" cy="6858000"/>
          </a:xfrm>
          <a:custGeom>
            <a:avLst/>
            <a:gdLst>
              <a:gd name="connsiteX0" fmla="*/ 5728771 w 12192000"/>
              <a:gd name="connsiteY0" fmla="*/ 4119891 h 6858000"/>
              <a:gd name="connsiteX1" fmla="*/ 6527378 w 12192000"/>
              <a:gd name="connsiteY1" fmla="*/ 4456992 h 6858000"/>
              <a:gd name="connsiteX2" fmla="*/ 6535610 w 12192000"/>
              <a:gd name="connsiteY2" fmla="*/ 4466758 h 6858000"/>
              <a:gd name="connsiteX3" fmla="*/ 6953138 w 12192000"/>
              <a:gd name="connsiteY3" fmla="*/ 4841016 h 6858000"/>
              <a:gd name="connsiteX4" fmla="*/ 12159748 w 12192000"/>
              <a:gd name="connsiteY4" fmla="*/ 5365346 h 6858000"/>
              <a:gd name="connsiteX5" fmla="*/ 12192000 w 12192000"/>
              <a:gd name="connsiteY5" fmla="*/ 5348004 h 6858000"/>
              <a:gd name="connsiteX6" fmla="*/ 12192000 w 12192000"/>
              <a:gd name="connsiteY6" fmla="*/ 6858000 h 6858000"/>
              <a:gd name="connsiteX7" fmla="*/ 4407642 w 12192000"/>
              <a:gd name="connsiteY7" fmla="*/ 6858000 h 6858000"/>
              <a:gd name="connsiteX8" fmla="*/ 4432309 w 12192000"/>
              <a:gd name="connsiteY8" fmla="*/ 6671235 h 6858000"/>
              <a:gd name="connsiteX9" fmla="*/ 4446157 w 12192000"/>
              <a:gd name="connsiteY9" fmla="*/ 6274494 h 6858000"/>
              <a:gd name="connsiteX10" fmla="*/ 4310106 w 12192000"/>
              <a:gd name="connsiteY10" fmla="*/ 5457721 h 6858000"/>
              <a:gd name="connsiteX11" fmla="*/ 4302296 w 12192000"/>
              <a:gd name="connsiteY11" fmla="*/ 5436791 h 6858000"/>
              <a:gd name="connsiteX12" fmla="*/ 4633650 w 12192000"/>
              <a:gd name="connsiteY12" fmla="*/ 4560233 h 6858000"/>
              <a:gd name="connsiteX13" fmla="*/ 5055319 w 12192000"/>
              <a:gd name="connsiteY13" fmla="*/ 4299251 h 6858000"/>
              <a:gd name="connsiteX14" fmla="*/ 5728771 w 12192000"/>
              <a:gd name="connsiteY14" fmla="*/ 4119891 h 6858000"/>
              <a:gd name="connsiteX15" fmla="*/ 0 w 12192000"/>
              <a:gd name="connsiteY15" fmla="*/ 0 h 6858000"/>
              <a:gd name="connsiteX16" fmla="*/ 5261191 w 12192000"/>
              <a:gd name="connsiteY16" fmla="*/ 0 h 6858000"/>
              <a:gd name="connsiteX17" fmla="*/ 5211013 w 12192000"/>
              <a:gd name="connsiteY17" fmla="*/ 235581 h 6858000"/>
              <a:gd name="connsiteX18" fmla="*/ 5242054 w 12192000"/>
              <a:gd name="connsiteY18" fmla="*/ 2057045 h 6858000"/>
              <a:gd name="connsiteX19" fmla="*/ 5389305 w 12192000"/>
              <a:gd name="connsiteY19" fmla="*/ 2599103 h 6858000"/>
              <a:gd name="connsiteX20" fmla="*/ 5393907 w 12192000"/>
              <a:gd name="connsiteY20" fmla="*/ 2613894 h 6858000"/>
              <a:gd name="connsiteX21" fmla="*/ 4873986 w 12192000"/>
              <a:gd name="connsiteY21" fmla="*/ 4000092 h 6858000"/>
              <a:gd name="connsiteX22" fmla="*/ 4452318 w 12192000"/>
              <a:gd name="connsiteY22" fmla="*/ 4261074 h 6858000"/>
              <a:gd name="connsiteX23" fmla="*/ 3520473 w 12192000"/>
              <a:gd name="connsiteY23" fmla="*/ 4164946 h 6858000"/>
              <a:gd name="connsiteX24" fmla="*/ 3504709 w 12192000"/>
              <a:gd name="connsiteY24" fmla="*/ 4149734 h 6858000"/>
              <a:gd name="connsiteX25" fmla="*/ 2836059 w 12192000"/>
              <a:gd name="connsiteY25" fmla="*/ 3662849 h 6858000"/>
              <a:gd name="connsiteX26" fmla="*/ 133535 w 12192000"/>
              <a:gd name="connsiteY26" fmla="*/ 3554635 h 6858000"/>
              <a:gd name="connsiteX27" fmla="*/ 0 w 12192000"/>
              <a:gd name="connsiteY27" fmla="*/ 361907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5728771" y="4119891"/>
                </a:moveTo>
                <a:cubicBezTo>
                  <a:pt x="6023402" y="4129304"/>
                  <a:pt x="6309941" y="4246161"/>
                  <a:pt x="6527378" y="4456992"/>
                </a:cubicBezTo>
                <a:cubicBezTo>
                  <a:pt x="6529888" y="4458805"/>
                  <a:pt x="6533097" y="4464943"/>
                  <a:pt x="6535610" y="4466758"/>
                </a:cubicBezTo>
                <a:cubicBezTo>
                  <a:pt x="6668134" y="4600718"/>
                  <a:pt x="6807915" y="4724633"/>
                  <a:pt x="6953138" y="4841016"/>
                </a:cubicBezTo>
                <a:cubicBezTo>
                  <a:pt x="8404067" y="5996725"/>
                  <a:pt x="10443859" y="6244355"/>
                  <a:pt x="12159748" y="5365346"/>
                </a:cubicBezTo>
                <a:lnTo>
                  <a:pt x="12192000" y="5348004"/>
                </a:lnTo>
                <a:lnTo>
                  <a:pt x="12192000" y="6858000"/>
                </a:lnTo>
                <a:lnTo>
                  <a:pt x="4407642" y="6858000"/>
                </a:lnTo>
                <a:lnTo>
                  <a:pt x="4432309" y="6671235"/>
                </a:lnTo>
                <a:cubicBezTo>
                  <a:pt x="4445398" y="6539795"/>
                  <a:pt x="4450079" y="6407266"/>
                  <a:pt x="4446157" y="6274494"/>
                </a:cubicBezTo>
                <a:cubicBezTo>
                  <a:pt x="4437548" y="6000753"/>
                  <a:pt x="4395454" y="5725753"/>
                  <a:pt x="4310106" y="5457721"/>
                </a:cubicBezTo>
                <a:cubicBezTo>
                  <a:pt x="4306897" y="5451582"/>
                  <a:pt x="4305503" y="5442932"/>
                  <a:pt x="4302296" y="5436791"/>
                </a:cubicBezTo>
                <a:cubicBezTo>
                  <a:pt x="4205379" y="5110719"/>
                  <a:pt x="4333372" y="4748401"/>
                  <a:pt x="4633650" y="4560233"/>
                </a:cubicBezTo>
                <a:lnTo>
                  <a:pt x="5055319" y="4299251"/>
                </a:lnTo>
                <a:cubicBezTo>
                  <a:pt x="5265561" y="4170244"/>
                  <a:pt x="5499613" y="4112569"/>
                  <a:pt x="5728771" y="4119891"/>
                </a:cubicBezTo>
                <a:close/>
                <a:moveTo>
                  <a:pt x="0" y="0"/>
                </a:moveTo>
                <a:lnTo>
                  <a:pt x="5261191" y="0"/>
                </a:lnTo>
                <a:lnTo>
                  <a:pt x="5211013" y="235581"/>
                </a:lnTo>
                <a:cubicBezTo>
                  <a:pt x="5106971" y="833090"/>
                  <a:pt x="5114656" y="1451462"/>
                  <a:pt x="5242054" y="2057045"/>
                </a:cubicBezTo>
                <a:cubicBezTo>
                  <a:pt x="5279977" y="2237310"/>
                  <a:pt x="5329059" y="2417996"/>
                  <a:pt x="5389305" y="2599103"/>
                </a:cubicBezTo>
                <a:cubicBezTo>
                  <a:pt x="5390003" y="2603430"/>
                  <a:pt x="5390699" y="2607754"/>
                  <a:pt x="5393907" y="2613894"/>
                </a:cubicBezTo>
                <a:cubicBezTo>
                  <a:pt x="5554280" y="3127216"/>
                  <a:pt x="5354540" y="3705218"/>
                  <a:pt x="4873986" y="4000092"/>
                </a:cubicBezTo>
                <a:lnTo>
                  <a:pt x="4452318" y="4261074"/>
                </a:lnTo>
                <a:cubicBezTo>
                  <a:pt x="4149530" y="4447428"/>
                  <a:pt x="3766970" y="4400352"/>
                  <a:pt x="3520473" y="4164946"/>
                </a:cubicBezTo>
                <a:cubicBezTo>
                  <a:pt x="3515451" y="4161317"/>
                  <a:pt x="3509731" y="4153362"/>
                  <a:pt x="3504709" y="4149734"/>
                </a:cubicBezTo>
                <a:cubicBezTo>
                  <a:pt x="3302293" y="3953818"/>
                  <a:pt x="3076293" y="3790545"/>
                  <a:pt x="2836059" y="3662849"/>
                </a:cubicBezTo>
                <a:cubicBezTo>
                  <a:pt x="2017575" y="3222015"/>
                  <a:pt x="1019468" y="3163465"/>
                  <a:pt x="133535" y="3554635"/>
                </a:cubicBezTo>
                <a:lnTo>
                  <a:pt x="0" y="3619074"/>
                </a:lnTo>
                <a:close/>
              </a:path>
            </a:pathLst>
          </a:custGeom>
          <a:solidFill>
            <a:schemeClr val="accent4"/>
          </a:solidFill>
          <a:ln w="9525" cap="flat" cmpd="sng" algn="ctr">
            <a:noFill/>
            <a:prstDash val="solid"/>
          </a:ln>
          <a:effectLst/>
        </p:spPr>
        <p:txBody>
          <a:bodyPr wrap="square" rtlCol="0" anchor="ctr" anchorCtr="0">
            <a:noAutofit/>
          </a:bodyPr>
          <a:lstStyle/>
          <a:p>
            <a:pPr mar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grpSp>
        <p:nvGrpSpPr>
          <p:cNvPr id="10" name="Group 9"/>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11" name="Freeform 9"/>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 name="Text Placeholder 16"/>
          <p:cNvSpPr>
            <a:spLocks noGrp="1"/>
          </p:cNvSpPr>
          <p:nvPr>
            <p:ph type="body" sz="quarter" idx="13" hasCustomPrompt="1"/>
          </p:nvPr>
        </p:nvSpPr>
        <p:spPr bwMode="gray">
          <a:xfrm>
            <a:off x="623392" y="3861048"/>
            <a:ext cx="3431578" cy="2231777"/>
          </a:xfrm>
          <a:prstGeom prst="rect">
            <a:avLst/>
          </a:prstGeom>
        </p:spPr>
        <p:txBody>
          <a:bodyPr wrap="none" anchor="b"/>
          <a:lstStyle>
            <a:lvl1pPr marL="0" indent="0">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6240463" y="980728"/>
            <a:ext cx="5327651" cy="1368151"/>
          </a:xfrm>
          <a:prstGeom prst="rect">
            <a:avLst/>
          </a:prstGeom>
          <a:noFill/>
        </p:spPr>
        <p:txBody>
          <a:bodyPr tIns="72000" bIns="0" anchor="t" anchorCtr="0"/>
          <a:lstStyle>
            <a:lvl1pPr>
              <a:lnSpc>
                <a:spcPct val="100000"/>
              </a:lnSpc>
              <a:defRPr sz="3600" b="0" cap="none" baseline="0">
                <a:solidFill>
                  <a:schemeClr val="accent4"/>
                </a:solidFill>
                <a:latin typeface="Merck" panose="04040805020F02020302" pitchFamily="82" charset="0"/>
              </a:defRPr>
            </a:lvl1pPr>
          </a:lstStyle>
          <a:p>
            <a:pPr lvl="0"/>
            <a:r>
              <a:rPr lang="en-US" noProof="0" dirty="0"/>
              <a:t>Chapter name </a:t>
            </a:r>
            <a:br>
              <a:rPr lang="en-US" noProof="0" dirty="0"/>
            </a:br>
            <a:r>
              <a:rPr lang="en-US" noProof="0" dirty="0"/>
              <a:t>in two lines</a:t>
            </a:r>
          </a:p>
        </p:txBody>
      </p:sp>
    </p:spTree>
    <p:extLst>
      <p:ext uri="{BB962C8B-B14F-4D97-AF65-F5344CB8AC3E}">
        <p14:creationId xmlns:p14="http://schemas.microsoft.com/office/powerpoint/2010/main" val="2620021447"/>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vider plain">
    <p:spTree>
      <p:nvGrpSpPr>
        <p:cNvPr id="1" name=""/>
        <p:cNvGrpSpPr/>
        <p:nvPr/>
      </p:nvGrpSpPr>
      <p:grpSpPr>
        <a:xfrm>
          <a:off x="0" y="0"/>
          <a:ext cx="0" cy="0"/>
          <a:chOff x="0" y="0"/>
          <a:chExt cx="0" cy="0"/>
        </a:xfrm>
      </p:grpSpPr>
      <p:sp>
        <p:nvSpPr>
          <p:cNvPr id="28" name="Rectangle 5">
            <a:extLst>
              <a:ext uri="{FF2B5EF4-FFF2-40B4-BE49-F238E27FC236}">
                <a16:creationId xmlns:a16="http://schemas.microsoft.com/office/drawing/2014/main" id="{93CCD95C-EF50-4937-B31B-5AE1A346217B}"/>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 Placeholder 16"/>
          <p:cNvSpPr>
            <a:spLocks noGrp="1"/>
          </p:cNvSpPr>
          <p:nvPr>
            <p:ph type="body" sz="quarter" idx="13" hasCustomPrompt="1"/>
          </p:nvPr>
        </p:nvSpPr>
        <p:spPr bwMode="gray">
          <a:xfrm>
            <a:off x="5951538" y="1989138"/>
            <a:ext cx="5617069" cy="1251710"/>
          </a:xfrm>
          <a:prstGeom prst="rect">
            <a:avLst/>
          </a:prstGeom>
        </p:spPr>
        <p:txBody>
          <a:bodyPr wrap="none" tIns="0" bIns="216000" anchor="ctr"/>
          <a:lstStyle>
            <a:lvl1pPr marL="0" indent="0" algn="l">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5951538" y="3356992"/>
            <a:ext cx="5617070" cy="2232000"/>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dirty="0"/>
              <a:t>Chapter name </a:t>
            </a:r>
            <a:br>
              <a:rPr lang="en-US" noProof="0" dirty="0"/>
            </a:br>
            <a:r>
              <a:rPr lang="en-US" noProof="0" dirty="0"/>
              <a:t>in two lines </a:t>
            </a:r>
          </a:p>
        </p:txBody>
      </p:sp>
      <p:grpSp>
        <p:nvGrpSpPr>
          <p:cNvPr id="22" name="Group 9">
            <a:extLst>
              <a:ext uri="{FF2B5EF4-FFF2-40B4-BE49-F238E27FC236}">
                <a16:creationId xmlns:a16="http://schemas.microsoft.com/office/drawing/2014/main" id="{F1287BCB-FB34-41B7-927D-F95F9B409E5C}"/>
              </a:ext>
            </a:extLst>
          </p:cNvPr>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23" name="Freeform 9">
              <a:extLst>
                <a:ext uri="{FF2B5EF4-FFF2-40B4-BE49-F238E27FC236}">
                  <a16:creationId xmlns:a16="http://schemas.microsoft.com/office/drawing/2014/main" id="{4EE73A32-570C-436C-B4CC-D1AF2F5700F5}"/>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3">
              <a:extLst>
                <a:ext uri="{FF2B5EF4-FFF2-40B4-BE49-F238E27FC236}">
                  <a16:creationId xmlns:a16="http://schemas.microsoft.com/office/drawing/2014/main" id="{12562D50-892E-410A-BB2F-36E111F83459}"/>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0">
              <a:extLst>
                <a:ext uri="{FF2B5EF4-FFF2-40B4-BE49-F238E27FC236}">
                  <a16:creationId xmlns:a16="http://schemas.microsoft.com/office/drawing/2014/main" id="{DC9AF8D9-AA94-4445-B08E-957E3FDEC0D2}"/>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1">
              <a:extLst>
                <a:ext uri="{FF2B5EF4-FFF2-40B4-BE49-F238E27FC236}">
                  <a16:creationId xmlns:a16="http://schemas.microsoft.com/office/drawing/2014/main" id="{FE7088EE-EAD6-4413-9188-C1E3D6D9C252}"/>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2">
              <a:extLst>
                <a:ext uri="{FF2B5EF4-FFF2-40B4-BE49-F238E27FC236}">
                  <a16:creationId xmlns:a16="http://schemas.microsoft.com/office/drawing/2014/main" id="{C79EEEA4-105C-4D6D-886B-6270CD048E24}"/>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 name="Gruppieren 4">
            <a:extLst>
              <a:ext uri="{FF2B5EF4-FFF2-40B4-BE49-F238E27FC236}">
                <a16:creationId xmlns:a16="http://schemas.microsoft.com/office/drawing/2014/main" id="{64D673D9-70D1-44F2-B53C-D9EE55F28D8D}"/>
              </a:ext>
            </a:extLst>
          </p:cNvPr>
          <p:cNvGrpSpPr/>
          <p:nvPr userDrawn="1"/>
        </p:nvGrpSpPr>
        <p:grpSpPr>
          <a:xfrm>
            <a:off x="0" y="1905897"/>
            <a:ext cx="5871468" cy="4436830"/>
            <a:chOff x="0" y="1905897"/>
            <a:chExt cx="5871468" cy="4436830"/>
          </a:xfrm>
        </p:grpSpPr>
        <p:sp>
          <p:nvSpPr>
            <p:cNvPr id="33" name="Freihandform: Form 32">
              <a:extLst>
                <a:ext uri="{FF2B5EF4-FFF2-40B4-BE49-F238E27FC236}">
                  <a16:creationId xmlns:a16="http://schemas.microsoft.com/office/drawing/2014/main" id="{AA6FA98B-DBA3-4BD3-9A89-28E294BE1B2B}"/>
                </a:ext>
              </a:extLst>
            </p:cNvPr>
            <p:cNvSpPr/>
            <p:nvPr/>
          </p:nvSpPr>
          <p:spPr>
            <a:xfrm rot="20417692">
              <a:off x="185764" y="1905897"/>
              <a:ext cx="5349565" cy="4436830"/>
            </a:xfrm>
            <a:custGeom>
              <a:avLst/>
              <a:gdLst>
                <a:gd name="connsiteX0" fmla="*/ 2622499 w 5349565"/>
                <a:gd name="connsiteY0" fmla="*/ 1715533 h 4436830"/>
                <a:gd name="connsiteX1" fmla="*/ 3110045 w 5349565"/>
                <a:gd name="connsiteY1" fmla="*/ 2007827 h 4436830"/>
                <a:gd name="connsiteX2" fmla="*/ 3114721 w 5349565"/>
                <a:gd name="connsiteY2" fmla="*/ 2012503 h 4436830"/>
                <a:gd name="connsiteX3" fmla="*/ 3131092 w 5349565"/>
                <a:gd name="connsiteY3" fmla="*/ 2028873 h 4436830"/>
                <a:gd name="connsiteX4" fmla="*/ 3136937 w 5349565"/>
                <a:gd name="connsiteY4" fmla="*/ 2034719 h 4436830"/>
                <a:gd name="connsiteX5" fmla="*/ 3166164 w 5349565"/>
                <a:gd name="connsiteY5" fmla="*/ 2067454 h 4436830"/>
                <a:gd name="connsiteX6" fmla="*/ 3170842 w 5349565"/>
                <a:gd name="connsiteY6" fmla="*/ 2073300 h 4436830"/>
                <a:gd name="connsiteX7" fmla="*/ 3183702 w 5349565"/>
                <a:gd name="connsiteY7" fmla="*/ 2088499 h 4436830"/>
                <a:gd name="connsiteX8" fmla="*/ 3191888 w 5349565"/>
                <a:gd name="connsiteY8" fmla="*/ 2097853 h 4436830"/>
                <a:gd name="connsiteX9" fmla="*/ 3204748 w 5349565"/>
                <a:gd name="connsiteY9" fmla="*/ 2114221 h 4436830"/>
                <a:gd name="connsiteX10" fmla="*/ 3210593 w 5349565"/>
                <a:gd name="connsiteY10" fmla="*/ 2122406 h 4436830"/>
                <a:gd name="connsiteX11" fmla="*/ 3253856 w 5349565"/>
                <a:gd name="connsiteY11" fmla="*/ 2182035 h 4436830"/>
                <a:gd name="connsiteX12" fmla="*/ 3256191 w 5349565"/>
                <a:gd name="connsiteY12" fmla="*/ 2185541 h 4436830"/>
                <a:gd name="connsiteX13" fmla="*/ 3341688 w 5349565"/>
                <a:gd name="connsiteY13" fmla="*/ 2338849 h 4436830"/>
                <a:gd name="connsiteX14" fmla="*/ 3361240 w 5349565"/>
                <a:gd name="connsiteY14" fmla="*/ 2390940 h 4436830"/>
                <a:gd name="connsiteX15" fmla="*/ 3323978 w 5349565"/>
                <a:gd name="connsiteY15" fmla="*/ 2396381 h 4436830"/>
                <a:gd name="connsiteX16" fmla="*/ 3146725 w 5349565"/>
                <a:gd name="connsiteY16" fmla="*/ 2441848 h 4436830"/>
                <a:gd name="connsiteX17" fmla="*/ 2834311 w 5349565"/>
                <a:gd name="connsiteY17" fmla="*/ 2560507 h 4436830"/>
                <a:gd name="connsiteX18" fmla="*/ 2807237 w 5349565"/>
                <a:gd name="connsiteY18" fmla="*/ 2573303 h 4436830"/>
                <a:gd name="connsiteX19" fmla="*/ 2560356 w 5349565"/>
                <a:gd name="connsiteY19" fmla="*/ 2681699 h 4436830"/>
                <a:gd name="connsiteX20" fmla="*/ 2494453 w 5349565"/>
                <a:gd name="connsiteY20" fmla="*/ 2708701 h 4436830"/>
                <a:gd name="connsiteX21" fmla="*/ 2394700 w 5349565"/>
                <a:gd name="connsiteY21" fmla="*/ 2751700 h 4436830"/>
                <a:gd name="connsiteX22" fmla="*/ 2249353 w 5349565"/>
                <a:gd name="connsiteY22" fmla="*/ 2812110 h 4436830"/>
                <a:gd name="connsiteX23" fmla="*/ 2151390 w 5349565"/>
                <a:gd name="connsiteY23" fmla="*/ 2850129 h 4436830"/>
                <a:gd name="connsiteX24" fmla="*/ 1827222 w 5349565"/>
                <a:gd name="connsiteY24" fmla="*/ 2970204 h 4436830"/>
                <a:gd name="connsiteX25" fmla="*/ 1648771 w 5349565"/>
                <a:gd name="connsiteY25" fmla="*/ 3013130 h 4436830"/>
                <a:gd name="connsiteX26" fmla="*/ 1519489 w 5349565"/>
                <a:gd name="connsiteY26" fmla="*/ 3028686 h 4436830"/>
                <a:gd name="connsiteX27" fmla="*/ 1235707 w 5349565"/>
                <a:gd name="connsiteY27" fmla="*/ 2988901 h 4436830"/>
                <a:gd name="connsiteX28" fmla="*/ 1131595 w 5349565"/>
                <a:gd name="connsiteY28" fmla="*/ 2940472 h 4436830"/>
                <a:gd name="connsiteX29" fmla="*/ 1124147 w 5349565"/>
                <a:gd name="connsiteY29" fmla="*/ 2836773 h 4436830"/>
                <a:gd name="connsiteX30" fmla="*/ 1199614 w 5349565"/>
                <a:gd name="connsiteY30" fmla="*/ 2415869 h 4436830"/>
                <a:gd name="connsiteX31" fmla="*/ 1205459 w 5349565"/>
                <a:gd name="connsiteY31" fmla="*/ 2401840 h 4436830"/>
                <a:gd name="connsiteX32" fmla="*/ 1211305 w 5349565"/>
                <a:gd name="connsiteY32" fmla="*/ 2387809 h 4436830"/>
                <a:gd name="connsiteX33" fmla="*/ 1224164 w 5349565"/>
                <a:gd name="connsiteY33" fmla="*/ 2358580 h 4436830"/>
                <a:gd name="connsiteX34" fmla="*/ 1224166 w 5349565"/>
                <a:gd name="connsiteY34" fmla="*/ 2357410 h 4436830"/>
                <a:gd name="connsiteX35" fmla="*/ 1323545 w 5349565"/>
                <a:gd name="connsiteY35" fmla="*/ 2177357 h 4436830"/>
                <a:gd name="connsiteX36" fmla="*/ 1730418 w 5349565"/>
                <a:gd name="connsiteY36" fmla="*/ 1807897 h 4436830"/>
                <a:gd name="connsiteX37" fmla="*/ 1736264 w 5349565"/>
                <a:gd name="connsiteY37" fmla="*/ 1804390 h 4436830"/>
                <a:gd name="connsiteX38" fmla="*/ 1751463 w 5349565"/>
                <a:gd name="connsiteY38" fmla="*/ 1796206 h 4436830"/>
                <a:gd name="connsiteX39" fmla="*/ 1763156 w 5349565"/>
                <a:gd name="connsiteY39" fmla="*/ 1790360 h 4436830"/>
                <a:gd name="connsiteX40" fmla="*/ 1772509 w 5349565"/>
                <a:gd name="connsiteY40" fmla="*/ 1785685 h 4436830"/>
                <a:gd name="connsiteX41" fmla="*/ 1790047 w 5349565"/>
                <a:gd name="connsiteY41" fmla="*/ 1777499 h 4436830"/>
                <a:gd name="connsiteX42" fmla="*/ 1793554 w 5349565"/>
                <a:gd name="connsiteY42" fmla="*/ 1776331 h 4436830"/>
                <a:gd name="connsiteX43" fmla="*/ 2391003 w 5349565"/>
                <a:gd name="connsiteY43" fmla="*/ 1671105 h 4436830"/>
                <a:gd name="connsiteX44" fmla="*/ 2535981 w 5349565"/>
                <a:gd name="connsiteY44" fmla="*/ 1693318 h 4436830"/>
                <a:gd name="connsiteX45" fmla="*/ 2538319 w 5349565"/>
                <a:gd name="connsiteY45" fmla="*/ 1694487 h 4436830"/>
                <a:gd name="connsiteX46" fmla="*/ 2562871 w 5349565"/>
                <a:gd name="connsiteY46" fmla="*/ 1700333 h 4436830"/>
                <a:gd name="connsiteX47" fmla="*/ 2565209 w 5349565"/>
                <a:gd name="connsiteY47" fmla="*/ 1700334 h 4436830"/>
                <a:gd name="connsiteX48" fmla="*/ 2572225 w 5349565"/>
                <a:gd name="connsiteY48" fmla="*/ 1702673 h 4436830"/>
                <a:gd name="connsiteX49" fmla="*/ 2595608 w 5349565"/>
                <a:gd name="connsiteY49" fmla="*/ 1708517 h 4436830"/>
                <a:gd name="connsiteX50" fmla="*/ 2614316 w 5349565"/>
                <a:gd name="connsiteY50" fmla="*/ 1713195 h 4436830"/>
                <a:gd name="connsiteX51" fmla="*/ 2622499 w 5349565"/>
                <a:gd name="connsiteY51" fmla="*/ 1715533 h 4436830"/>
                <a:gd name="connsiteX52" fmla="*/ 5167050 w 5349565"/>
                <a:gd name="connsiteY52" fmla="*/ 2515253 h 4436830"/>
                <a:gd name="connsiteX53" fmla="*/ 5335380 w 5349565"/>
                <a:gd name="connsiteY53" fmla="*/ 2593745 h 4436830"/>
                <a:gd name="connsiteX54" fmla="*/ 5349565 w 5349565"/>
                <a:gd name="connsiteY54" fmla="*/ 2602983 h 4436830"/>
                <a:gd name="connsiteX55" fmla="*/ 4707590 w 5349565"/>
                <a:gd name="connsiteY55" fmla="*/ 4395445 h 4436830"/>
                <a:gd name="connsiteX56" fmla="*/ 4687750 w 5349565"/>
                <a:gd name="connsiteY56" fmla="*/ 4435871 h 4436830"/>
                <a:gd name="connsiteX57" fmla="*/ 4686757 w 5349565"/>
                <a:gd name="connsiteY57" fmla="*/ 4436830 h 4436830"/>
                <a:gd name="connsiteX58" fmla="*/ 4592560 w 5349565"/>
                <a:gd name="connsiteY58" fmla="*/ 4418667 h 4436830"/>
                <a:gd name="connsiteX59" fmla="*/ 3942010 w 5349565"/>
                <a:gd name="connsiteY59" fmla="*/ 3900216 h 4436830"/>
                <a:gd name="connsiteX60" fmla="*/ 3901962 w 5349565"/>
                <a:gd name="connsiteY60" fmla="*/ 3806897 h 4436830"/>
                <a:gd name="connsiteX61" fmla="*/ 3908839 w 5349565"/>
                <a:gd name="connsiteY61" fmla="*/ 3744560 h 4436830"/>
                <a:gd name="connsiteX62" fmla="*/ 3939073 w 5349565"/>
                <a:gd name="connsiteY62" fmla="*/ 3636598 h 4436830"/>
                <a:gd name="connsiteX63" fmla="*/ 4137211 w 5349565"/>
                <a:gd name="connsiteY63" fmla="*/ 3083377 h 4436830"/>
                <a:gd name="connsiteX64" fmla="*/ 4163175 w 5349565"/>
                <a:gd name="connsiteY64" fmla="*/ 2772416 h 4436830"/>
                <a:gd name="connsiteX65" fmla="*/ 4148848 w 5349565"/>
                <a:gd name="connsiteY65" fmla="*/ 2729412 h 4436830"/>
                <a:gd name="connsiteX66" fmla="*/ 4158795 w 5349565"/>
                <a:gd name="connsiteY66" fmla="*/ 2718686 h 4436830"/>
                <a:gd name="connsiteX67" fmla="*/ 5069585 w 5349565"/>
                <a:gd name="connsiteY67" fmla="*/ 2486019 h 4436830"/>
                <a:gd name="connsiteX68" fmla="*/ 5167050 w 5349565"/>
                <a:gd name="connsiteY68" fmla="*/ 2515253 h 4436830"/>
                <a:gd name="connsiteX69" fmla="*/ 430836 w 5349565"/>
                <a:gd name="connsiteY69" fmla="*/ 0 h 4436830"/>
                <a:gd name="connsiteX70" fmla="*/ 537054 w 5349565"/>
                <a:gd name="connsiteY70" fmla="*/ 205263 h 4436830"/>
                <a:gd name="connsiteX71" fmla="*/ 468879 w 5349565"/>
                <a:gd name="connsiteY71" fmla="*/ 247047 h 4436830"/>
                <a:gd name="connsiteX72" fmla="*/ 456018 w 5349565"/>
                <a:gd name="connsiteY72" fmla="*/ 254064 h 4436830"/>
                <a:gd name="connsiteX73" fmla="*/ 446663 w 5349565"/>
                <a:gd name="connsiteY73" fmla="*/ 258740 h 4436830"/>
                <a:gd name="connsiteX74" fmla="*/ 440818 w 5349565"/>
                <a:gd name="connsiteY74" fmla="*/ 262247 h 4436830"/>
                <a:gd name="connsiteX75" fmla="*/ 316887 w 5349565"/>
                <a:gd name="connsiteY75" fmla="*/ 535836 h 4436830"/>
                <a:gd name="connsiteX76" fmla="*/ 316886 w 5349565"/>
                <a:gd name="connsiteY76" fmla="*/ 538173 h 4436830"/>
                <a:gd name="connsiteX77" fmla="*/ 507462 w 5349565"/>
                <a:gd name="connsiteY77" fmla="*/ 699519 h 4436830"/>
                <a:gd name="connsiteX78" fmla="*/ 514477 w 5349565"/>
                <a:gd name="connsiteY78" fmla="*/ 699519 h 4436830"/>
                <a:gd name="connsiteX79" fmla="*/ 775203 w 5349565"/>
                <a:gd name="connsiteY79" fmla="*/ 755640 h 4436830"/>
                <a:gd name="connsiteX80" fmla="*/ 950178 w 5349565"/>
                <a:gd name="connsiteY80" fmla="*/ 849338 h 4436830"/>
                <a:gd name="connsiteX81" fmla="*/ 1010301 w 5349565"/>
                <a:gd name="connsiteY81" fmla="*/ 896950 h 4436830"/>
                <a:gd name="connsiteX82" fmla="*/ 1064814 w 5349565"/>
                <a:gd name="connsiteY82" fmla="*/ 953936 h 4436830"/>
                <a:gd name="connsiteX83" fmla="*/ 1102500 w 5349565"/>
                <a:gd name="connsiteY83" fmla="*/ 987286 h 4436830"/>
                <a:gd name="connsiteX84" fmla="*/ 1159683 w 5349565"/>
                <a:gd name="connsiteY84" fmla="*/ 1060962 h 4436830"/>
                <a:gd name="connsiteX85" fmla="*/ 1282625 w 5349565"/>
                <a:gd name="connsiteY85" fmla="*/ 1343736 h 4436830"/>
                <a:gd name="connsiteX86" fmla="*/ 657117 w 5349565"/>
                <a:gd name="connsiteY86" fmla="*/ 2341041 h 4436830"/>
                <a:gd name="connsiteX87" fmla="*/ 645226 w 5349565"/>
                <a:gd name="connsiteY87" fmla="*/ 2343103 h 4436830"/>
                <a:gd name="connsiteX88" fmla="*/ 621316 w 5349565"/>
                <a:gd name="connsiteY88" fmla="*/ 2302128 h 4436830"/>
                <a:gd name="connsiteX89" fmla="*/ 446047 w 5349565"/>
                <a:gd name="connsiteY89" fmla="*/ 1975060 h 4436830"/>
                <a:gd name="connsiteX90" fmla="*/ 315936 w 5349565"/>
                <a:gd name="connsiteY90" fmla="*/ 1726023 h 4436830"/>
                <a:gd name="connsiteX91" fmla="*/ 288559 w 5349565"/>
                <a:gd name="connsiteY91" fmla="*/ 1676857 h 4436830"/>
                <a:gd name="connsiteX92" fmla="*/ 285359 w 5349565"/>
                <a:gd name="connsiteY92" fmla="*/ 1670085 h 4436830"/>
                <a:gd name="connsiteX93" fmla="*/ 103323 w 5349565"/>
                <a:gd name="connsiteY93" fmla="*/ 1346218 h 4436830"/>
                <a:gd name="connsiteX94" fmla="*/ 13429 w 5349565"/>
                <a:gd name="connsiteY94" fmla="*/ 1218429 h 4436830"/>
                <a:gd name="connsiteX95" fmla="*/ 0 w 5349565"/>
                <a:gd name="connsiteY95" fmla="*/ 1202939 h 4436830"/>
                <a:gd name="connsiteX96" fmla="*/ 4895308 w 5349565"/>
                <a:gd name="connsiteY96" fmla="*/ 762573 h 4436830"/>
                <a:gd name="connsiteX97" fmla="*/ 5267004 w 5349565"/>
                <a:gd name="connsiteY97" fmla="*/ 895697 h 4436830"/>
                <a:gd name="connsiteX98" fmla="*/ 5283252 w 5349565"/>
                <a:gd name="connsiteY98" fmla="*/ 929263 h 4436830"/>
                <a:gd name="connsiteX99" fmla="*/ 5344340 w 5349565"/>
                <a:gd name="connsiteY99" fmla="*/ 1307492 h 4436830"/>
                <a:gd name="connsiteX100" fmla="*/ 5344340 w 5349565"/>
                <a:gd name="connsiteY100" fmla="*/ 1320351 h 4436830"/>
                <a:gd name="connsiteX101" fmla="*/ 5342003 w 5349565"/>
                <a:gd name="connsiteY101" fmla="*/ 1351920 h 4436830"/>
                <a:gd name="connsiteX102" fmla="*/ 5334988 w 5349565"/>
                <a:gd name="connsiteY102" fmla="*/ 1413886 h 4436830"/>
                <a:gd name="connsiteX103" fmla="*/ 5333820 w 5349565"/>
                <a:gd name="connsiteY103" fmla="*/ 1420901 h 4436830"/>
                <a:gd name="connsiteX104" fmla="*/ 5326805 w 5349565"/>
                <a:gd name="connsiteY104" fmla="*/ 1461822 h 4436830"/>
                <a:gd name="connsiteX105" fmla="*/ 5319789 w 5349565"/>
                <a:gd name="connsiteY105" fmla="*/ 1492222 h 4436830"/>
                <a:gd name="connsiteX106" fmla="*/ 5316279 w 5349565"/>
                <a:gd name="connsiteY106" fmla="*/ 1508590 h 4436830"/>
                <a:gd name="connsiteX107" fmla="*/ 5175983 w 5349565"/>
                <a:gd name="connsiteY107" fmla="*/ 1828944 h 4436830"/>
                <a:gd name="connsiteX108" fmla="*/ 5165457 w 5349565"/>
                <a:gd name="connsiteY108" fmla="*/ 1844143 h 4436830"/>
                <a:gd name="connsiteX109" fmla="*/ 5149089 w 5349565"/>
                <a:gd name="connsiteY109" fmla="*/ 1867527 h 4436830"/>
                <a:gd name="connsiteX110" fmla="*/ 5123367 w 5349565"/>
                <a:gd name="connsiteY110" fmla="*/ 1901432 h 4436830"/>
                <a:gd name="connsiteX111" fmla="*/ 5121027 w 5349565"/>
                <a:gd name="connsiteY111" fmla="*/ 1903771 h 4436830"/>
                <a:gd name="connsiteX112" fmla="*/ 4873163 w 5349565"/>
                <a:gd name="connsiteY112" fmla="*/ 2122406 h 4436830"/>
                <a:gd name="connsiteX113" fmla="*/ 4870827 w 5349565"/>
                <a:gd name="connsiteY113" fmla="*/ 2123576 h 4436830"/>
                <a:gd name="connsiteX114" fmla="*/ 4835749 w 5349565"/>
                <a:gd name="connsiteY114" fmla="*/ 2144622 h 4436830"/>
                <a:gd name="connsiteX115" fmla="*/ 4827566 w 5349565"/>
                <a:gd name="connsiteY115" fmla="*/ 2149298 h 4436830"/>
                <a:gd name="connsiteX116" fmla="*/ 4797167 w 5349565"/>
                <a:gd name="connsiteY116" fmla="*/ 2165666 h 4436830"/>
                <a:gd name="connsiteX117" fmla="*/ 4784305 w 5349565"/>
                <a:gd name="connsiteY117" fmla="*/ 2172683 h 4436830"/>
                <a:gd name="connsiteX118" fmla="*/ 4757414 w 5349565"/>
                <a:gd name="connsiteY118" fmla="*/ 2185542 h 4436830"/>
                <a:gd name="connsiteX119" fmla="*/ 4738709 w 5349565"/>
                <a:gd name="connsiteY119" fmla="*/ 2193726 h 4436830"/>
                <a:gd name="connsiteX120" fmla="*/ 4715325 w 5349565"/>
                <a:gd name="connsiteY120" fmla="*/ 2203080 h 4436830"/>
                <a:gd name="connsiteX121" fmla="*/ 4693110 w 5349565"/>
                <a:gd name="connsiteY121" fmla="*/ 2211265 h 4436830"/>
                <a:gd name="connsiteX122" fmla="*/ 4670895 w 5349565"/>
                <a:gd name="connsiteY122" fmla="*/ 2218279 h 4436830"/>
                <a:gd name="connsiteX123" fmla="*/ 4647511 w 5349565"/>
                <a:gd name="connsiteY123" fmla="*/ 2226463 h 4436830"/>
                <a:gd name="connsiteX124" fmla="*/ 4625297 w 5349565"/>
                <a:gd name="connsiteY124" fmla="*/ 2233479 h 4436830"/>
                <a:gd name="connsiteX125" fmla="*/ 4601915 w 5349565"/>
                <a:gd name="connsiteY125" fmla="*/ 2240493 h 4436830"/>
                <a:gd name="connsiteX126" fmla="*/ 4573855 w 5349565"/>
                <a:gd name="connsiteY126" fmla="*/ 2247508 h 4436830"/>
                <a:gd name="connsiteX127" fmla="*/ 4556316 w 5349565"/>
                <a:gd name="connsiteY127" fmla="*/ 2252184 h 4436830"/>
                <a:gd name="connsiteX128" fmla="*/ 4516566 w 5349565"/>
                <a:gd name="connsiteY128" fmla="*/ 2259201 h 4436830"/>
                <a:gd name="connsiteX129" fmla="*/ 4509548 w 5349565"/>
                <a:gd name="connsiteY129" fmla="*/ 2260369 h 4436830"/>
                <a:gd name="connsiteX130" fmla="*/ 3926131 w 5349565"/>
                <a:gd name="connsiteY130" fmla="*/ 2179696 h 4436830"/>
                <a:gd name="connsiteX131" fmla="*/ 3435078 w 5349565"/>
                <a:gd name="connsiteY131" fmla="*/ 1673443 h 4436830"/>
                <a:gd name="connsiteX132" fmla="*/ 3435076 w 5349565"/>
                <a:gd name="connsiteY132" fmla="*/ 1672274 h 4436830"/>
                <a:gd name="connsiteX133" fmla="*/ 3402339 w 5349565"/>
                <a:gd name="connsiteY133" fmla="*/ 1586925 h 4436830"/>
                <a:gd name="connsiteX134" fmla="*/ 3400001 w 5349565"/>
                <a:gd name="connsiteY134" fmla="*/ 1578740 h 4436830"/>
                <a:gd name="connsiteX135" fmla="*/ 3388310 w 5349565"/>
                <a:gd name="connsiteY135" fmla="*/ 1538988 h 4436830"/>
                <a:gd name="connsiteX136" fmla="*/ 3385974 w 5349565"/>
                <a:gd name="connsiteY136" fmla="*/ 1530806 h 4436830"/>
                <a:gd name="connsiteX137" fmla="*/ 3376618 w 5349565"/>
                <a:gd name="connsiteY137" fmla="*/ 1491052 h 4436830"/>
                <a:gd name="connsiteX138" fmla="*/ 3375448 w 5349565"/>
                <a:gd name="connsiteY138" fmla="*/ 1487545 h 4436830"/>
                <a:gd name="connsiteX139" fmla="*/ 3367264 w 5349565"/>
                <a:gd name="connsiteY139" fmla="*/ 1441948 h 4436830"/>
                <a:gd name="connsiteX140" fmla="*/ 3366098 w 5349565"/>
                <a:gd name="connsiteY140" fmla="*/ 1438440 h 4436830"/>
                <a:gd name="connsiteX141" fmla="*/ 3363758 w 5349565"/>
                <a:gd name="connsiteY141" fmla="*/ 1425579 h 4436830"/>
                <a:gd name="connsiteX142" fmla="*/ 3358934 w 5349565"/>
                <a:gd name="connsiteY142" fmla="*/ 1356747 h 4436830"/>
                <a:gd name="connsiteX143" fmla="*/ 3446149 w 5349565"/>
                <a:gd name="connsiteY143" fmla="*/ 1323217 h 4436830"/>
                <a:gd name="connsiteX144" fmla="*/ 4193194 w 5349565"/>
                <a:gd name="connsiteY144" fmla="*/ 1011576 h 4436830"/>
                <a:gd name="connsiteX145" fmla="*/ 4705476 w 5349565"/>
                <a:gd name="connsiteY145" fmla="*/ 790177 h 4436830"/>
                <a:gd name="connsiteX146" fmla="*/ 4803444 w 5349565"/>
                <a:gd name="connsiteY146" fmla="*/ 752165 h 4436830"/>
                <a:gd name="connsiteX147" fmla="*/ 4815196 w 5349565"/>
                <a:gd name="connsiteY147" fmla="*/ 750747 h 4436830"/>
                <a:gd name="connsiteX148" fmla="*/ 4895308 w 5349565"/>
                <a:gd name="connsiteY148" fmla="*/ 762573 h 443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349565" h="4436830">
                  <a:moveTo>
                    <a:pt x="2622499" y="1715533"/>
                  </a:moveTo>
                  <a:cubicBezTo>
                    <a:pt x="2813076" y="1772823"/>
                    <a:pt x="2977928" y="1874541"/>
                    <a:pt x="3110045" y="2007827"/>
                  </a:cubicBezTo>
                  <a:cubicBezTo>
                    <a:pt x="3111215" y="2008997"/>
                    <a:pt x="3113552" y="2011334"/>
                    <a:pt x="3114721" y="2012503"/>
                  </a:cubicBezTo>
                  <a:cubicBezTo>
                    <a:pt x="3120568" y="2017180"/>
                    <a:pt x="3125245" y="2023027"/>
                    <a:pt x="3131092" y="2028873"/>
                  </a:cubicBezTo>
                  <a:cubicBezTo>
                    <a:pt x="3133429" y="2031211"/>
                    <a:pt x="3134596" y="2032380"/>
                    <a:pt x="3136937" y="2034719"/>
                  </a:cubicBezTo>
                  <a:cubicBezTo>
                    <a:pt x="3147460" y="2045241"/>
                    <a:pt x="3156813" y="2056932"/>
                    <a:pt x="3166164" y="2067454"/>
                  </a:cubicBezTo>
                  <a:cubicBezTo>
                    <a:pt x="3167334" y="2069794"/>
                    <a:pt x="3169674" y="2070962"/>
                    <a:pt x="3170842" y="2073300"/>
                  </a:cubicBezTo>
                  <a:cubicBezTo>
                    <a:pt x="3175520" y="2077977"/>
                    <a:pt x="3179026" y="2083823"/>
                    <a:pt x="3183702" y="2088499"/>
                  </a:cubicBezTo>
                  <a:cubicBezTo>
                    <a:pt x="3187210" y="2092008"/>
                    <a:pt x="3189550" y="2094346"/>
                    <a:pt x="3191888" y="2097853"/>
                  </a:cubicBezTo>
                  <a:cubicBezTo>
                    <a:pt x="3196562" y="2103699"/>
                    <a:pt x="3200071" y="2108376"/>
                    <a:pt x="3204748" y="2114221"/>
                  </a:cubicBezTo>
                  <a:cubicBezTo>
                    <a:pt x="3207087" y="2116560"/>
                    <a:pt x="3208255" y="2120068"/>
                    <a:pt x="3210593" y="2122406"/>
                  </a:cubicBezTo>
                  <a:cubicBezTo>
                    <a:pt x="3225793" y="2141113"/>
                    <a:pt x="3239824" y="2162158"/>
                    <a:pt x="3253856" y="2182035"/>
                  </a:cubicBezTo>
                  <a:cubicBezTo>
                    <a:pt x="3253855" y="2183204"/>
                    <a:pt x="3255022" y="2184373"/>
                    <a:pt x="3256191" y="2185541"/>
                  </a:cubicBezTo>
                  <a:cubicBezTo>
                    <a:pt x="3288344" y="2234646"/>
                    <a:pt x="3316990" y="2285797"/>
                    <a:pt x="3341688" y="2338849"/>
                  </a:cubicBezTo>
                  <a:lnTo>
                    <a:pt x="3361240" y="2390940"/>
                  </a:lnTo>
                  <a:lnTo>
                    <a:pt x="3323978" y="2396381"/>
                  </a:lnTo>
                  <a:cubicBezTo>
                    <a:pt x="3265520" y="2408480"/>
                    <a:pt x="3206571" y="2423920"/>
                    <a:pt x="3146725" y="2441848"/>
                  </a:cubicBezTo>
                  <a:cubicBezTo>
                    <a:pt x="3043776" y="2478076"/>
                    <a:pt x="2935847" y="2512526"/>
                    <a:pt x="2834311" y="2560507"/>
                  </a:cubicBezTo>
                  <a:cubicBezTo>
                    <a:pt x="2827545" y="2563709"/>
                    <a:pt x="2814007" y="2570107"/>
                    <a:pt x="2807237" y="2573303"/>
                  </a:cubicBezTo>
                  <a:cubicBezTo>
                    <a:pt x="2719241" y="2614892"/>
                    <a:pt x="2639799" y="2648293"/>
                    <a:pt x="2560356" y="2681699"/>
                  </a:cubicBezTo>
                  <a:cubicBezTo>
                    <a:pt x="2540047" y="2691292"/>
                    <a:pt x="2514754" y="2699106"/>
                    <a:pt x="2494453" y="2708701"/>
                  </a:cubicBezTo>
                  <a:cubicBezTo>
                    <a:pt x="2460604" y="2724698"/>
                    <a:pt x="2428546" y="2735710"/>
                    <a:pt x="2394700" y="2751700"/>
                  </a:cubicBezTo>
                  <a:cubicBezTo>
                    <a:pt x="2347320" y="2774096"/>
                    <a:pt x="2296737" y="2789720"/>
                    <a:pt x="2249353" y="2812110"/>
                  </a:cubicBezTo>
                  <a:cubicBezTo>
                    <a:pt x="2217296" y="2823121"/>
                    <a:pt x="2183447" y="2839118"/>
                    <a:pt x="2151390" y="2850129"/>
                  </a:cubicBezTo>
                  <a:cubicBezTo>
                    <a:pt x="2044873" y="2896325"/>
                    <a:pt x="1935152" y="2935754"/>
                    <a:pt x="1827222" y="2970204"/>
                  </a:cubicBezTo>
                  <a:cubicBezTo>
                    <a:pt x="1764889" y="2987239"/>
                    <a:pt x="1704339" y="2999293"/>
                    <a:pt x="1648771" y="3013130"/>
                  </a:cubicBezTo>
                  <a:cubicBezTo>
                    <a:pt x="1606746" y="3020572"/>
                    <a:pt x="1559734" y="3026227"/>
                    <a:pt x="1519489" y="3028686"/>
                  </a:cubicBezTo>
                  <a:cubicBezTo>
                    <a:pt x="1422269" y="3033226"/>
                    <a:pt x="1330399" y="3022815"/>
                    <a:pt x="1235707" y="2988901"/>
                  </a:cubicBezTo>
                  <a:lnTo>
                    <a:pt x="1131595" y="2940472"/>
                  </a:lnTo>
                  <a:lnTo>
                    <a:pt x="1124147" y="2836773"/>
                  </a:lnTo>
                  <a:cubicBezTo>
                    <a:pt x="1122667" y="2696472"/>
                    <a:pt x="1147000" y="2553539"/>
                    <a:pt x="1199614" y="2415869"/>
                  </a:cubicBezTo>
                  <a:cubicBezTo>
                    <a:pt x="1201951" y="2411192"/>
                    <a:pt x="1203119" y="2406517"/>
                    <a:pt x="1205459" y="2401840"/>
                  </a:cubicBezTo>
                  <a:cubicBezTo>
                    <a:pt x="1207796" y="2397162"/>
                    <a:pt x="1208967" y="2392484"/>
                    <a:pt x="1211305" y="2387809"/>
                  </a:cubicBezTo>
                  <a:cubicBezTo>
                    <a:pt x="1215981" y="2378456"/>
                    <a:pt x="1219488" y="2367933"/>
                    <a:pt x="1224164" y="2358580"/>
                  </a:cubicBezTo>
                  <a:cubicBezTo>
                    <a:pt x="1224164" y="2358580"/>
                    <a:pt x="1224166" y="2357410"/>
                    <a:pt x="1224166" y="2357410"/>
                  </a:cubicBezTo>
                  <a:cubicBezTo>
                    <a:pt x="1252226" y="2293107"/>
                    <a:pt x="1286131" y="2233477"/>
                    <a:pt x="1323545" y="2177357"/>
                  </a:cubicBezTo>
                  <a:cubicBezTo>
                    <a:pt x="1429940" y="2019518"/>
                    <a:pt x="1570241" y="1895586"/>
                    <a:pt x="1730418" y="1807897"/>
                  </a:cubicBezTo>
                  <a:cubicBezTo>
                    <a:pt x="1732758" y="1806729"/>
                    <a:pt x="1733926" y="1805559"/>
                    <a:pt x="1736264" y="1804390"/>
                  </a:cubicBezTo>
                  <a:cubicBezTo>
                    <a:pt x="1740940" y="1800884"/>
                    <a:pt x="1746786" y="1798544"/>
                    <a:pt x="1751463" y="1796206"/>
                  </a:cubicBezTo>
                  <a:cubicBezTo>
                    <a:pt x="1754971" y="1793867"/>
                    <a:pt x="1759648" y="1792698"/>
                    <a:pt x="1763156" y="1790360"/>
                  </a:cubicBezTo>
                  <a:cubicBezTo>
                    <a:pt x="1766664" y="1789191"/>
                    <a:pt x="1769001" y="1786852"/>
                    <a:pt x="1772509" y="1785685"/>
                  </a:cubicBezTo>
                  <a:cubicBezTo>
                    <a:pt x="1778354" y="1783345"/>
                    <a:pt x="1784200" y="1779838"/>
                    <a:pt x="1790047" y="1777499"/>
                  </a:cubicBezTo>
                  <a:cubicBezTo>
                    <a:pt x="1791217" y="1777499"/>
                    <a:pt x="1792385" y="1776331"/>
                    <a:pt x="1793554" y="1776331"/>
                  </a:cubicBezTo>
                  <a:cubicBezTo>
                    <a:pt x="1975945" y="1690981"/>
                    <a:pt x="2181720" y="1652397"/>
                    <a:pt x="2391003" y="1671105"/>
                  </a:cubicBezTo>
                  <a:cubicBezTo>
                    <a:pt x="2440106" y="1675781"/>
                    <a:pt x="2488045" y="1682797"/>
                    <a:pt x="2535981" y="1693318"/>
                  </a:cubicBezTo>
                  <a:cubicBezTo>
                    <a:pt x="2535980" y="1694487"/>
                    <a:pt x="2537150" y="1694487"/>
                    <a:pt x="2538319" y="1694487"/>
                  </a:cubicBezTo>
                  <a:cubicBezTo>
                    <a:pt x="2546503" y="1696827"/>
                    <a:pt x="2554687" y="1697996"/>
                    <a:pt x="2562871" y="1700333"/>
                  </a:cubicBezTo>
                  <a:cubicBezTo>
                    <a:pt x="2564040" y="1700334"/>
                    <a:pt x="2564040" y="1700334"/>
                    <a:pt x="2565209" y="1700334"/>
                  </a:cubicBezTo>
                  <a:cubicBezTo>
                    <a:pt x="2567548" y="1701503"/>
                    <a:pt x="2569886" y="1702673"/>
                    <a:pt x="2572225" y="1702673"/>
                  </a:cubicBezTo>
                  <a:cubicBezTo>
                    <a:pt x="2579239" y="1703840"/>
                    <a:pt x="2587425" y="1706180"/>
                    <a:pt x="2595608" y="1708517"/>
                  </a:cubicBezTo>
                  <a:cubicBezTo>
                    <a:pt x="2601454" y="1709686"/>
                    <a:pt x="2608469" y="1710857"/>
                    <a:pt x="2614316" y="1713195"/>
                  </a:cubicBezTo>
                  <a:cubicBezTo>
                    <a:pt x="2616653" y="1713195"/>
                    <a:pt x="2620162" y="1714363"/>
                    <a:pt x="2622499" y="1715533"/>
                  </a:cubicBezTo>
                  <a:close/>
                  <a:moveTo>
                    <a:pt x="5167050" y="2515253"/>
                  </a:moveTo>
                  <a:cubicBezTo>
                    <a:pt x="5226365" y="2536388"/>
                    <a:pt x="5282609" y="2562773"/>
                    <a:pt x="5335380" y="2593745"/>
                  </a:cubicBezTo>
                  <a:lnTo>
                    <a:pt x="5349565" y="2602983"/>
                  </a:lnTo>
                  <a:lnTo>
                    <a:pt x="4707590" y="4395445"/>
                  </a:lnTo>
                  <a:cubicBezTo>
                    <a:pt x="4701789" y="4411640"/>
                    <a:pt x="4695210" y="4425100"/>
                    <a:pt x="4687750" y="4435871"/>
                  </a:cubicBezTo>
                  <a:lnTo>
                    <a:pt x="4686757" y="4436830"/>
                  </a:lnTo>
                  <a:lnTo>
                    <a:pt x="4592560" y="4418667"/>
                  </a:lnTo>
                  <a:cubicBezTo>
                    <a:pt x="4298952" y="4346032"/>
                    <a:pt x="4068003" y="4150762"/>
                    <a:pt x="3942010" y="3900216"/>
                  </a:cubicBezTo>
                  <a:lnTo>
                    <a:pt x="3901962" y="3806897"/>
                  </a:lnTo>
                  <a:lnTo>
                    <a:pt x="3908839" y="3744560"/>
                  </a:lnTo>
                  <a:cubicBezTo>
                    <a:pt x="3915682" y="3709756"/>
                    <a:pt x="3925686" y="3673976"/>
                    <a:pt x="3939073" y="3636598"/>
                  </a:cubicBezTo>
                  <a:lnTo>
                    <a:pt x="4137211" y="3083377"/>
                  </a:lnTo>
                  <a:cubicBezTo>
                    <a:pt x="4177373" y="2971237"/>
                    <a:pt x="4185273" y="2869687"/>
                    <a:pt x="4163175" y="2772416"/>
                  </a:cubicBezTo>
                  <a:lnTo>
                    <a:pt x="4148848" y="2729412"/>
                  </a:lnTo>
                  <a:lnTo>
                    <a:pt x="4158795" y="2718686"/>
                  </a:lnTo>
                  <a:cubicBezTo>
                    <a:pt x="4396137" y="2501219"/>
                    <a:pt x="4734030" y="2403009"/>
                    <a:pt x="5069585" y="2486019"/>
                  </a:cubicBezTo>
                  <a:cubicBezTo>
                    <a:pt x="5102906" y="2494204"/>
                    <a:pt x="5135415" y="2503982"/>
                    <a:pt x="5167050" y="2515253"/>
                  </a:cubicBezTo>
                  <a:close/>
                  <a:moveTo>
                    <a:pt x="430836" y="0"/>
                  </a:moveTo>
                  <a:lnTo>
                    <a:pt x="537054" y="205263"/>
                  </a:lnTo>
                  <a:lnTo>
                    <a:pt x="468879" y="247047"/>
                  </a:lnTo>
                  <a:cubicBezTo>
                    <a:pt x="464202" y="249387"/>
                    <a:pt x="460693" y="251725"/>
                    <a:pt x="456018" y="254064"/>
                  </a:cubicBezTo>
                  <a:cubicBezTo>
                    <a:pt x="452511" y="255233"/>
                    <a:pt x="450172" y="257571"/>
                    <a:pt x="446663" y="258740"/>
                  </a:cubicBezTo>
                  <a:cubicBezTo>
                    <a:pt x="444326" y="259909"/>
                    <a:pt x="443158" y="261079"/>
                    <a:pt x="440818" y="262247"/>
                  </a:cubicBezTo>
                  <a:cubicBezTo>
                    <a:pt x="344946" y="313691"/>
                    <a:pt x="291164" y="424763"/>
                    <a:pt x="316887" y="535836"/>
                  </a:cubicBezTo>
                  <a:lnTo>
                    <a:pt x="316886" y="538173"/>
                  </a:lnTo>
                  <a:cubicBezTo>
                    <a:pt x="337932" y="630538"/>
                    <a:pt x="417436" y="694842"/>
                    <a:pt x="507462" y="699519"/>
                  </a:cubicBezTo>
                  <a:cubicBezTo>
                    <a:pt x="509801" y="699518"/>
                    <a:pt x="512138" y="699520"/>
                    <a:pt x="514477" y="699519"/>
                  </a:cubicBezTo>
                  <a:cubicBezTo>
                    <a:pt x="605672" y="704195"/>
                    <a:pt x="693361" y="724072"/>
                    <a:pt x="775203" y="755640"/>
                  </a:cubicBezTo>
                  <a:cubicBezTo>
                    <a:pt x="837170" y="779900"/>
                    <a:pt x="895920" y="811395"/>
                    <a:pt x="950178" y="849338"/>
                  </a:cubicBezTo>
                  <a:lnTo>
                    <a:pt x="1010301" y="896950"/>
                  </a:lnTo>
                  <a:lnTo>
                    <a:pt x="1064814" y="953936"/>
                  </a:lnTo>
                  <a:lnTo>
                    <a:pt x="1102500" y="987286"/>
                  </a:lnTo>
                  <a:lnTo>
                    <a:pt x="1159683" y="1060962"/>
                  </a:lnTo>
                  <a:cubicBezTo>
                    <a:pt x="1216530" y="1144244"/>
                    <a:pt x="1258949" y="1239386"/>
                    <a:pt x="1282625" y="1343736"/>
                  </a:cubicBezTo>
                  <a:cubicBezTo>
                    <a:pt x="1383175" y="1790359"/>
                    <a:pt x="1104910" y="2234646"/>
                    <a:pt x="657117" y="2341041"/>
                  </a:cubicBezTo>
                  <a:lnTo>
                    <a:pt x="645226" y="2343103"/>
                  </a:lnTo>
                  <a:lnTo>
                    <a:pt x="621316" y="2302128"/>
                  </a:lnTo>
                  <a:cubicBezTo>
                    <a:pt x="563367" y="2197022"/>
                    <a:pt x="507197" y="2086933"/>
                    <a:pt x="446047" y="1975060"/>
                  </a:cubicBezTo>
                  <a:cubicBezTo>
                    <a:pt x="405875" y="1898818"/>
                    <a:pt x="362505" y="1815806"/>
                    <a:pt x="315936" y="1726023"/>
                  </a:cubicBezTo>
                  <a:cubicBezTo>
                    <a:pt x="304552" y="1710698"/>
                    <a:pt x="298154" y="1697160"/>
                    <a:pt x="288559" y="1676857"/>
                  </a:cubicBezTo>
                  <a:cubicBezTo>
                    <a:pt x="285359" y="1670085"/>
                    <a:pt x="285359" y="1670085"/>
                    <a:pt x="285359" y="1670085"/>
                  </a:cubicBezTo>
                  <a:cubicBezTo>
                    <a:pt x="230979" y="1555016"/>
                    <a:pt x="173025" y="1449908"/>
                    <a:pt x="103323" y="1346218"/>
                  </a:cubicBezTo>
                  <a:cubicBezTo>
                    <a:pt x="74161" y="1302035"/>
                    <a:pt x="44553" y="1259097"/>
                    <a:pt x="13429" y="1218429"/>
                  </a:cubicBezTo>
                  <a:lnTo>
                    <a:pt x="0" y="1202939"/>
                  </a:lnTo>
                  <a:close/>
                  <a:moveTo>
                    <a:pt x="4895308" y="762573"/>
                  </a:moveTo>
                  <a:lnTo>
                    <a:pt x="5267004" y="895697"/>
                  </a:lnTo>
                  <a:lnTo>
                    <a:pt x="5283252" y="929263"/>
                  </a:lnTo>
                  <a:cubicBezTo>
                    <a:pt x="5327098" y="1047058"/>
                    <a:pt x="5349019" y="1174791"/>
                    <a:pt x="5344340" y="1307492"/>
                  </a:cubicBezTo>
                  <a:cubicBezTo>
                    <a:pt x="5344340" y="1312169"/>
                    <a:pt x="5344340" y="1315675"/>
                    <a:pt x="5344340" y="1320351"/>
                  </a:cubicBezTo>
                  <a:cubicBezTo>
                    <a:pt x="5343171" y="1330874"/>
                    <a:pt x="5343172" y="1341397"/>
                    <a:pt x="5342003" y="1351920"/>
                  </a:cubicBezTo>
                  <a:cubicBezTo>
                    <a:pt x="5339664" y="1372966"/>
                    <a:pt x="5337328" y="1392843"/>
                    <a:pt x="5334988" y="1413886"/>
                  </a:cubicBezTo>
                  <a:cubicBezTo>
                    <a:pt x="5334988" y="1416224"/>
                    <a:pt x="5333818" y="1418563"/>
                    <a:pt x="5333820" y="1420901"/>
                  </a:cubicBezTo>
                  <a:cubicBezTo>
                    <a:pt x="5331480" y="1434931"/>
                    <a:pt x="5329143" y="1447794"/>
                    <a:pt x="5326805" y="1461822"/>
                  </a:cubicBezTo>
                  <a:cubicBezTo>
                    <a:pt x="5324464" y="1472346"/>
                    <a:pt x="5322127" y="1481699"/>
                    <a:pt x="5319789" y="1492222"/>
                  </a:cubicBezTo>
                  <a:cubicBezTo>
                    <a:pt x="5318619" y="1498067"/>
                    <a:pt x="5317450" y="1502743"/>
                    <a:pt x="5316279" y="1508590"/>
                  </a:cubicBezTo>
                  <a:cubicBezTo>
                    <a:pt x="5288220" y="1625507"/>
                    <a:pt x="5240284" y="1733071"/>
                    <a:pt x="5175983" y="1828944"/>
                  </a:cubicBezTo>
                  <a:cubicBezTo>
                    <a:pt x="5172472" y="1834790"/>
                    <a:pt x="5168966" y="1839467"/>
                    <a:pt x="5165457" y="1844143"/>
                  </a:cubicBezTo>
                  <a:cubicBezTo>
                    <a:pt x="5159611" y="1852328"/>
                    <a:pt x="5154933" y="1860512"/>
                    <a:pt x="5149089" y="1867527"/>
                  </a:cubicBezTo>
                  <a:cubicBezTo>
                    <a:pt x="5140904" y="1879219"/>
                    <a:pt x="5132720" y="1890910"/>
                    <a:pt x="5123367" y="1901432"/>
                  </a:cubicBezTo>
                  <a:cubicBezTo>
                    <a:pt x="5122199" y="1901433"/>
                    <a:pt x="5122196" y="1902602"/>
                    <a:pt x="5121027" y="1903771"/>
                  </a:cubicBezTo>
                  <a:cubicBezTo>
                    <a:pt x="5050879" y="1991460"/>
                    <a:pt x="4966698" y="2065117"/>
                    <a:pt x="4873163" y="2122406"/>
                  </a:cubicBezTo>
                  <a:cubicBezTo>
                    <a:pt x="4871993" y="2122406"/>
                    <a:pt x="4871995" y="2123576"/>
                    <a:pt x="4870827" y="2123576"/>
                  </a:cubicBezTo>
                  <a:cubicBezTo>
                    <a:pt x="4859133" y="2130591"/>
                    <a:pt x="4847441" y="2137606"/>
                    <a:pt x="4835749" y="2144622"/>
                  </a:cubicBezTo>
                  <a:cubicBezTo>
                    <a:pt x="4832243" y="2146959"/>
                    <a:pt x="4829904" y="2148129"/>
                    <a:pt x="4827566" y="2149298"/>
                  </a:cubicBezTo>
                  <a:cubicBezTo>
                    <a:pt x="4818212" y="2155143"/>
                    <a:pt x="4807693" y="2160990"/>
                    <a:pt x="4797167" y="2165666"/>
                  </a:cubicBezTo>
                  <a:cubicBezTo>
                    <a:pt x="4793658" y="2168006"/>
                    <a:pt x="4788981" y="2170343"/>
                    <a:pt x="4784305" y="2172683"/>
                  </a:cubicBezTo>
                  <a:cubicBezTo>
                    <a:pt x="4774952" y="2177359"/>
                    <a:pt x="4766768" y="2182034"/>
                    <a:pt x="4757414" y="2185542"/>
                  </a:cubicBezTo>
                  <a:cubicBezTo>
                    <a:pt x="4750400" y="2187881"/>
                    <a:pt x="4744554" y="2191388"/>
                    <a:pt x="4738709" y="2193726"/>
                  </a:cubicBezTo>
                  <a:cubicBezTo>
                    <a:pt x="4730524" y="2197235"/>
                    <a:pt x="4723507" y="2199572"/>
                    <a:pt x="4715325" y="2203080"/>
                  </a:cubicBezTo>
                  <a:cubicBezTo>
                    <a:pt x="4708310" y="2205418"/>
                    <a:pt x="4700125" y="2208927"/>
                    <a:pt x="4693110" y="2211265"/>
                  </a:cubicBezTo>
                  <a:cubicBezTo>
                    <a:pt x="4684926" y="2213603"/>
                    <a:pt x="4677911" y="2215941"/>
                    <a:pt x="4670895" y="2218279"/>
                  </a:cubicBezTo>
                  <a:cubicBezTo>
                    <a:pt x="4663881" y="2220617"/>
                    <a:pt x="4655696" y="2224125"/>
                    <a:pt x="4647511" y="2226463"/>
                  </a:cubicBezTo>
                  <a:cubicBezTo>
                    <a:pt x="4640497" y="2228802"/>
                    <a:pt x="4632314" y="2231140"/>
                    <a:pt x="4625297" y="2233479"/>
                  </a:cubicBezTo>
                  <a:cubicBezTo>
                    <a:pt x="4617116" y="2235816"/>
                    <a:pt x="4610097" y="2238155"/>
                    <a:pt x="4601915" y="2240493"/>
                  </a:cubicBezTo>
                  <a:cubicBezTo>
                    <a:pt x="4592562" y="2242831"/>
                    <a:pt x="4583207" y="2245170"/>
                    <a:pt x="4573855" y="2247508"/>
                  </a:cubicBezTo>
                  <a:cubicBezTo>
                    <a:pt x="4568010" y="2249847"/>
                    <a:pt x="4562162" y="2251016"/>
                    <a:pt x="4556316" y="2252184"/>
                  </a:cubicBezTo>
                  <a:cubicBezTo>
                    <a:pt x="4543457" y="2254524"/>
                    <a:pt x="4529427" y="2256862"/>
                    <a:pt x="4516566" y="2259201"/>
                  </a:cubicBezTo>
                  <a:cubicBezTo>
                    <a:pt x="4514230" y="2259201"/>
                    <a:pt x="4511888" y="2260369"/>
                    <a:pt x="4509548" y="2260369"/>
                  </a:cubicBezTo>
                  <a:cubicBezTo>
                    <a:pt x="4317806" y="2291939"/>
                    <a:pt x="4115537" y="2268554"/>
                    <a:pt x="3926131" y="2179696"/>
                  </a:cubicBezTo>
                  <a:cubicBezTo>
                    <a:pt x="3696973" y="2072132"/>
                    <a:pt x="3528611" y="1888572"/>
                    <a:pt x="3435078" y="1673443"/>
                  </a:cubicBezTo>
                  <a:cubicBezTo>
                    <a:pt x="3435076" y="1672274"/>
                    <a:pt x="3435076" y="1672274"/>
                    <a:pt x="3435076" y="1672274"/>
                  </a:cubicBezTo>
                  <a:cubicBezTo>
                    <a:pt x="3422215" y="1644214"/>
                    <a:pt x="3411693" y="1616153"/>
                    <a:pt x="3402339" y="1586925"/>
                  </a:cubicBezTo>
                  <a:cubicBezTo>
                    <a:pt x="3402343" y="1584587"/>
                    <a:pt x="3401171" y="1581080"/>
                    <a:pt x="3400001" y="1578740"/>
                  </a:cubicBezTo>
                  <a:cubicBezTo>
                    <a:pt x="3396493" y="1565880"/>
                    <a:pt x="3391817" y="1553018"/>
                    <a:pt x="3388310" y="1538988"/>
                  </a:cubicBezTo>
                  <a:cubicBezTo>
                    <a:pt x="3387142" y="1536652"/>
                    <a:pt x="3387142" y="1533143"/>
                    <a:pt x="3385974" y="1530806"/>
                  </a:cubicBezTo>
                  <a:cubicBezTo>
                    <a:pt x="3382466" y="1517943"/>
                    <a:pt x="3378955" y="1503913"/>
                    <a:pt x="3376618" y="1491052"/>
                  </a:cubicBezTo>
                  <a:cubicBezTo>
                    <a:pt x="3375448" y="1489883"/>
                    <a:pt x="3375450" y="1488714"/>
                    <a:pt x="3375448" y="1487545"/>
                  </a:cubicBezTo>
                  <a:cubicBezTo>
                    <a:pt x="3373109" y="1472345"/>
                    <a:pt x="3369603" y="1457146"/>
                    <a:pt x="3367264" y="1441948"/>
                  </a:cubicBezTo>
                  <a:cubicBezTo>
                    <a:pt x="3366096" y="1440777"/>
                    <a:pt x="3366095" y="1439608"/>
                    <a:pt x="3366098" y="1438440"/>
                  </a:cubicBezTo>
                  <a:cubicBezTo>
                    <a:pt x="3364926" y="1433762"/>
                    <a:pt x="3364927" y="1430255"/>
                    <a:pt x="3363758" y="1425579"/>
                  </a:cubicBezTo>
                  <a:lnTo>
                    <a:pt x="3358934" y="1356747"/>
                  </a:lnTo>
                  <a:lnTo>
                    <a:pt x="3446149" y="1323217"/>
                  </a:lnTo>
                  <a:lnTo>
                    <a:pt x="4193194" y="1011576"/>
                  </a:lnTo>
                  <a:lnTo>
                    <a:pt x="4705476" y="790177"/>
                  </a:lnTo>
                  <a:cubicBezTo>
                    <a:pt x="4746090" y="770984"/>
                    <a:pt x="4779937" y="754993"/>
                    <a:pt x="4803444" y="752165"/>
                  </a:cubicBezTo>
                  <a:cubicBezTo>
                    <a:pt x="4808424" y="753948"/>
                    <a:pt x="4810210" y="748962"/>
                    <a:pt x="4815196" y="750747"/>
                  </a:cubicBezTo>
                  <a:cubicBezTo>
                    <a:pt x="4843683" y="749704"/>
                    <a:pt x="4870390" y="753648"/>
                    <a:pt x="4895308" y="762573"/>
                  </a:cubicBezTo>
                  <a:close/>
                </a:path>
              </a:pathLst>
            </a:custGeom>
            <a:solidFill>
              <a:srgbClr val="29B8CE"/>
            </a:solidFill>
            <a:ln w="9212" cap="flat">
              <a:noFill/>
              <a:prstDash val="solid"/>
              <a:miter/>
            </a:ln>
          </p:spPr>
          <p:txBody>
            <a:bodyPr rtlCol="0" anchor="ctr"/>
            <a:lstStyle/>
            <a:p>
              <a:endParaRPr lang="de-DE"/>
            </a:p>
          </p:txBody>
        </p:sp>
        <p:sp>
          <p:nvSpPr>
            <p:cNvPr id="21" name="Grafik 29">
              <a:extLst>
                <a:ext uri="{FF2B5EF4-FFF2-40B4-BE49-F238E27FC236}">
                  <a16:creationId xmlns:a16="http://schemas.microsoft.com/office/drawing/2014/main" id="{B12165D3-DE42-422E-B5EC-309289F2A1ED}"/>
                </a:ext>
              </a:extLst>
            </p:cNvPr>
            <p:cNvSpPr/>
            <p:nvPr/>
          </p:nvSpPr>
          <p:spPr>
            <a:xfrm rot="12078484" flipH="1">
              <a:off x="516302" y="3348326"/>
              <a:ext cx="2365594" cy="1531153"/>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endParaRPr lang="de-DE"/>
            </a:p>
          </p:txBody>
        </p:sp>
        <p:sp>
          <p:nvSpPr>
            <p:cNvPr id="29" name="Grafik 19">
              <a:extLst>
                <a:ext uri="{FF2B5EF4-FFF2-40B4-BE49-F238E27FC236}">
                  <a16:creationId xmlns:a16="http://schemas.microsoft.com/office/drawing/2014/main" id="{E2408336-24D2-4795-8A1D-AC13C69236F7}"/>
                </a:ext>
              </a:extLst>
            </p:cNvPr>
            <p:cNvSpPr/>
            <p:nvPr/>
          </p:nvSpPr>
          <p:spPr>
            <a:xfrm rot="18807008">
              <a:off x="3978323" y="2516995"/>
              <a:ext cx="1536081" cy="2250209"/>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5C7A5F46-0246-4B14-AECA-E1554DFCA110}"/>
                </a:ext>
              </a:extLst>
            </p:cNvPr>
            <p:cNvSpPr/>
            <p:nvPr/>
          </p:nvSpPr>
          <p:spPr>
            <a:xfrm>
              <a:off x="0" y="2005007"/>
              <a:ext cx="5508760" cy="3584009"/>
            </a:xfrm>
            <a:custGeom>
              <a:avLst/>
              <a:gdLst>
                <a:gd name="connsiteX0" fmla="*/ 1708303 w 5508760"/>
                <a:gd name="connsiteY0" fmla="*/ 3324650 h 3584009"/>
                <a:gd name="connsiteX1" fmla="*/ 1765535 w 5508760"/>
                <a:gd name="connsiteY1" fmla="*/ 3329899 h 3584009"/>
                <a:gd name="connsiteX2" fmla="*/ 1765535 w 5508760"/>
                <a:gd name="connsiteY2" fmla="*/ 3329899 h 3584009"/>
                <a:gd name="connsiteX3" fmla="*/ 1907936 w 5508760"/>
                <a:gd name="connsiteY3" fmla="*/ 3314876 h 3584009"/>
                <a:gd name="connsiteX4" fmla="*/ 1765536 w 5508760"/>
                <a:gd name="connsiteY4" fmla="*/ 3329899 h 3584009"/>
                <a:gd name="connsiteX5" fmla="*/ 1765535 w 5508760"/>
                <a:gd name="connsiteY5" fmla="*/ 3329899 h 3584009"/>
                <a:gd name="connsiteX6" fmla="*/ 4551467 w 5508760"/>
                <a:gd name="connsiteY6" fmla="*/ 3200987 h 3584009"/>
                <a:gd name="connsiteX7" fmla="*/ 4620635 w 5508760"/>
                <a:gd name="connsiteY7" fmla="*/ 3275338 h 3584009"/>
                <a:gd name="connsiteX8" fmla="*/ 5407901 w 5508760"/>
                <a:gd name="connsiteY8" fmla="*/ 3544076 h 3584009"/>
                <a:gd name="connsiteX9" fmla="*/ 5502706 w 5508760"/>
                <a:gd name="connsiteY9" fmla="*/ 3529414 h 3584009"/>
                <a:gd name="connsiteX10" fmla="*/ 5487850 w 5508760"/>
                <a:gd name="connsiteY10" fmla="*/ 3559526 h 3584009"/>
                <a:gd name="connsiteX11" fmla="*/ 5423659 w 5508760"/>
                <a:gd name="connsiteY11" fmla="*/ 3584009 h 3584009"/>
                <a:gd name="connsiteX12" fmla="*/ 5079555 w 5508760"/>
                <a:gd name="connsiteY12" fmla="*/ 3584009 h 3584009"/>
                <a:gd name="connsiteX13" fmla="*/ 4841323 w 5508760"/>
                <a:gd name="connsiteY13" fmla="*/ 3541657 h 3584009"/>
                <a:gd name="connsiteX14" fmla="*/ 4682504 w 5508760"/>
                <a:gd name="connsiteY14" fmla="*/ 3441075 h 3584009"/>
                <a:gd name="connsiteX15" fmla="*/ 4677214 w 5508760"/>
                <a:gd name="connsiteY15" fmla="*/ 3435778 h 3584009"/>
                <a:gd name="connsiteX16" fmla="*/ 4640153 w 5508760"/>
                <a:gd name="connsiteY16" fmla="*/ 3393426 h 3584009"/>
                <a:gd name="connsiteX17" fmla="*/ 4634863 w 5508760"/>
                <a:gd name="connsiteY17" fmla="*/ 3388135 h 3584009"/>
                <a:gd name="connsiteX18" fmla="*/ 4608390 w 5508760"/>
                <a:gd name="connsiteY18" fmla="*/ 3345783 h 3584009"/>
                <a:gd name="connsiteX19" fmla="*/ 4608390 w 5508760"/>
                <a:gd name="connsiteY19" fmla="*/ 3340487 h 3584009"/>
                <a:gd name="connsiteX20" fmla="*/ 4581922 w 5508760"/>
                <a:gd name="connsiteY20" fmla="*/ 3292844 h 3584009"/>
                <a:gd name="connsiteX21" fmla="*/ 4560747 w 5508760"/>
                <a:gd name="connsiteY21" fmla="*/ 3239905 h 3584009"/>
                <a:gd name="connsiteX22" fmla="*/ 596735 w 5508760"/>
                <a:gd name="connsiteY22" fmla="*/ 2564573 h 3584009"/>
                <a:gd name="connsiteX23" fmla="*/ 680272 w 5508760"/>
                <a:gd name="connsiteY23" fmla="*/ 2641685 h 3584009"/>
                <a:gd name="connsiteX24" fmla="*/ 914653 w 5508760"/>
                <a:gd name="connsiteY24" fmla="*/ 2853533 h 3584009"/>
                <a:gd name="connsiteX25" fmla="*/ 680271 w 5508760"/>
                <a:gd name="connsiteY25" fmla="*/ 2641685 h 3584009"/>
                <a:gd name="connsiteX26" fmla="*/ 4528981 w 5508760"/>
                <a:gd name="connsiteY26" fmla="*/ 2440491 h 3584009"/>
                <a:gd name="connsiteX27" fmla="*/ 4528984 w 5508760"/>
                <a:gd name="connsiteY27" fmla="*/ 2440514 h 3584009"/>
                <a:gd name="connsiteX28" fmla="*/ 4528984 w 5508760"/>
                <a:gd name="connsiteY28" fmla="*/ 3028147 h 3584009"/>
                <a:gd name="connsiteX29" fmla="*/ 4535107 w 5508760"/>
                <a:gd name="connsiteY29" fmla="*/ 3114398 h 3584009"/>
                <a:gd name="connsiteX30" fmla="*/ 4528983 w 5508760"/>
                <a:gd name="connsiteY30" fmla="*/ 3028147 h 3584009"/>
                <a:gd name="connsiteX31" fmla="*/ 4528983 w 5508760"/>
                <a:gd name="connsiteY31" fmla="*/ 2440514 h 3584009"/>
                <a:gd name="connsiteX32" fmla="*/ 4502123 w 5508760"/>
                <a:gd name="connsiteY32" fmla="*/ 2261213 h 3584009"/>
                <a:gd name="connsiteX33" fmla="*/ 4508882 w 5508760"/>
                <a:gd name="connsiteY33" fmla="*/ 2276640 h 3584009"/>
                <a:gd name="connsiteX34" fmla="*/ 4511097 w 5508760"/>
                <a:gd name="connsiteY34" fmla="*/ 2294700 h 3584009"/>
                <a:gd name="connsiteX35" fmla="*/ 145583 w 5508760"/>
                <a:gd name="connsiteY35" fmla="*/ 2165228 h 3584009"/>
                <a:gd name="connsiteX36" fmla="*/ 426161 w 5508760"/>
                <a:gd name="connsiteY36" fmla="*/ 2408750 h 3584009"/>
                <a:gd name="connsiteX37" fmla="*/ 431458 w 5508760"/>
                <a:gd name="connsiteY37" fmla="*/ 2414046 h 3584009"/>
                <a:gd name="connsiteX38" fmla="*/ 457639 w 5508760"/>
                <a:gd name="connsiteY38" fmla="*/ 2436954 h 3584009"/>
                <a:gd name="connsiteX39" fmla="*/ 431458 w 5508760"/>
                <a:gd name="connsiteY39" fmla="*/ 2414047 h 3584009"/>
                <a:gd name="connsiteX40" fmla="*/ 426160 w 5508760"/>
                <a:gd name="connsiteY40" fmla="*/ 2408750 h 3584009"/>
                <a:gd name="connsiteX41" fmla="*/ 145583 w 5508760"/>
                <a:gd name="connsiteY41" fmla="*/ 2165228 h 3584009"/>
                <a:gd name="connsiteX42" fmla="*/ 0 w 5508760"/>
                <a:gd name="connsiteY42" fmla="*/ 2065177 h 3584009"/>
                <a:gd name="connsiteX43" fmla="*/ 17867 w 5508760"/>
                <a:gd name="connsiteY43" fmla="*/ 2075232 h 3584009"/>
                <a:gd name="connsiteX44" fmla="*/ 145583 w 5508760"/>
                <a:gd name="connsiteY44" fmla="*/ 2165228 h 3584009"/>
                <a:gd name="connsiteX45" fmla="*/ 17866 w 5508760"/>
                <a:gd name="connsiteY45" fmla="*/ 2075232 h 3584009"/>
                <a:gd name="connsiteX46" fmla="*/ 0 w 5508760"/>
                <a:gd name="connsiteY46" fmla="*/ 2065177 h 3584009"/>
                <a:gd name="connsiteX47" fmla="*/ 3883120 w 5508760"/>
                <a:gd name="connsiteY47" fmla="*/ 471161 h 3584009"/>
                <a:gd name="connsiteX48" fmla="*/ 3284900 w 5508760"/>
                <a:gd name="connsiteY48" fmla="*/ 1016442 h 3584009"/>
                <a:gd name="connsiteX49" fmla="*/ 3214099 w 5508760"/>
                <a:gd name="connsiteY49" fmla="*/ 1077415 h 3584009"/>
                <a:gd name="connsiteX50" fmla="*/ 3214098 w 5508760"/>
                <a:gd name="connsiteY50" fmla="*/ 1077414 h 3584009"/>
                <a:gd name="connsiteX51" fmla="*/ 3284901 w 5508760"/>
                <a:gd name="connsiteY51" fmla="*/ 1016441 h 3584009"/>
                <a:gd name="connsiteX52" fmla="*/ 4378164 w 5508760"/>
                <a:gd name="connsiteY52" fmla="*/ 17175 h 3584009"/>
                <a:gd name="connsiteX53" fmla="*/ 4370166 w 5508760"/>
                <a:gd name="connsiteY53" fmla="*/ 21177 h 3584009"/>
                <a:gd name="connsiteX54" fmla="*/ 4334429 w 5508760"/>
                <a:gd name="connsiteY54" fmla="*/ 47646 h 3584009"/>
                <a:gd name="connsiteX55" fmla="*/ 4370164 w 5508760"/>
                <a:gd name="connsiteY55" fmla="*/ 21177 h 3584009"/>
                <a:gd name="connsiteX56" fmla="*/ 4460159 w 5508760"/>
                <a:gd name="connsiteY56" fmla="*/ 0 h 3584009"/>
                <a:gd name="connsiteX57" fmla="*/ 4963088 w 5508760"/>
                <a:gd name="connsiteY57" fmla="*/ 0 h 3584009"/>
                <a:gd name="connsiteX58" fmla="*/ 4994851 w 5508760"/>
                <a:gd name="connsiteY58" fmla="*/ 0 h 3584009"/>
                <a:gd name="connsiteX59" fmla="*/ 5026615 w 5508760"/>
                <a:gd name="connsiteY59" fmla="*/ 0 h 3584009"/>
                <a:gd name="connsiteX60" fmla="*/ 5068967 w 5508760"/>
                <a:gd name="connsiteY60" fmla="*/ 5292 h 3584009"/>
                <a:gd name="connsiteX61" fmla="*/ 5084845 w 5508760"/>
                <a:gd name="connsiteY61" fmla="*/ 5292 h 3584009"/>
                <a:gd name="connsiteX62" fmla="*/ 5132494 w 5508760"/>
                <a:gd name="connsiteY62" fmla="*/ 15880 h 3584009"/>
                <a:gd name="connsiteX63" fmla="*/ 5137786 w 5508760"/>
                <a:gd name="connsiteY63" fmla="*/ 15880 h 3584009"/>
                <a:gd name="connsiteX64" fmla="*/ 5190725 w 5508760"/>
                <a:gd name="connsiteY64" fmla="*/ 31764 h 3584009"/>
                <a:gd name="connsiteX65" fmla="*/ 5365429 w 5508760"/>
                <a:gd name="connsiteY65" fmla="*/ 137644 h 3584009"/>
                <a:gd name="connsiteX66" fmla="*/ 5370720 w 5508760"/>
                <a:gd name="connsiteY66" fmla="*/ 142935 h 3584009"/>
                <a:gd name="connsiteX67" fmla="*/ 5508362 w 5508760"/>
                <a:gd name="connsiteY67" fmla="*/ 550573 h 3584009"/>
                <a:gd name="connsiteX68" fmla="*/ 5508362 w 5508760"/>
                <a:gd name="connsiteY68" fmla="*/ 1381722 h 3584009"/>
                <a:gd name="connsiteX69" fmla="*/ 5508362 w 5508760"/>
                <a:gd name="connsiteY69" fmla="*/ 1579470 h 3584009"/>
                <a:gd name="connsiteX70" fmla="*/ 5491894 w 5508760"/>
                <a:gd name="connsiteY70" fmla="*/ 1575558 h 3584009"/>
                <a:gd name="connsiteX71" fmla="*/ 5306956 w 5508760"/>
                <a:gd name="connsiteY71" fmla="*/ 1558420 h 3584009"/>
                <a:gd name="connsiteX72" fmla="*/ 5205342 w 5508760"/>
                <a:gd name="connsiteY72" fmla="*/ 1563760 h 3584009"/>
                <a:gd name="connsiteX73" fmla="*/ 4426339 w 5508760"/>
                <a:gd name="connsiteY73" fmla="*/ 2089902 h 3584009"/>
                <a:gd name="connsiteX74" fmla="*/ 4420590 w 5508760"/>
                <a:gd name="connsiteY74" fmla="*/ 2103354 h 3584009"/>
                <a:gd name="connsiteX75" fmla="*/ 4436491 w 5508760"/>
                <a:gd name="connsiteY75" fmla="*/ 2123611 h 3584009"/>
                <a:gd name="connsiteX76" fmla="*/ 4386043 w 5508760"/>
                <a:gd name="connsiteY76" fmla="*/ 2059348 h 3584009"/>
                <a:gd name="connsiteX77" fmla="*/ 4015466 w 5508760"/>
                <a:gd name="connsiteY77" fmla="*/ 1911118 h 3584009"/>
                <a:gd name="connsiteX78" fmla="*/ 3687241 w 5508760"/>
                <a:gd name="connsiteY78" fmla="*/ 1985234 h 3584009"/>
                <a:gd name="connsiteX79" fmla="*/ 3558811 w 5508760"/>
                <a:gd name="connsiteY79" fmla="*/ 2053549 h 3584009"/>
                <a:gd name="connsiteX80" fmla="*/ 3564978 w 5508760"/>
                <a:gd name="connsiteY80" fmla="*/ 2050269 h 3584009"/>
                <a:gd name="connsiteX81" fmla="*/ 3529007 w 5508760"/>
                <a:gd name="connsiteY81" fmla="*/ 2007820 h 3584009"/>
                <a:gd name="connsiteX82" fmla="*/ 3396825 w 5508760"/>
                <a:gd name="connsiteY82" fmla="*/ 1892317 h 3584009"/>
                <a:gd name="connsiteX83" fmla="*/ 3393445 w 5508760"/>
                <a:gd name="connsiteY83" fmla="*/ 1889804 h 3584009"/>
                <a:gd name="connsiteX84" fmla="*/ 3332610 w 5508760"/>
                <a:gd name="connsiteY84" fmla="*/ 1848254 h 3584009"/>
                <a:gd name="connsiteX85" fmla="*/ 3324347 w 5508760"/>
                <a:gd name="connsiteY85" fmla="*/ 1842520 h 3584009"/>
                <a:gd name="connsiteX86" fmla="*/ 3306720 w 5508760"/>
                <a:gd name="connsiteY86" fmla="*/ 1831446 h 3584009"/>
                <a:gd name="connsiteX87" fmla="*/ 3295861 w 5508760"/>
                <a:gd name="connsiteY87" fmla="*/ 1825400 h 3584009"/>
                <a:gd name="connsiteX88" fmla="*/ 3278629 w 5508760"/>
                <a:gd name="connsiteY88" fmla="*/ 1815427 h 3584009"/>
                <a:gd name="connsiteX89" fmla="*/ 3272254 w 5508760"/>
                <a:gd name="connsiteY89" fmla="*/ 1811501 h 3584009"/>
                <a:gd name="connsiteX90" fmla="*/ 3233700 w 5508760"/>
                <a:gd name="connsiteY90" fmla="*/ 1790538 h 3584009"/>
                <a:gd name="connsiteX91" fmla="*/ 3226225 w 5508760"/>
                <a:gd name="connsiteY91" fmla="*/ 1787004 h 3584009"/>
                <a:gd name="connsiteX92" fmla="*/ 3205294 w 5508760"/>
                <a:gd name="connsiteY92" fmla="*/ 1777113 h 3584009"/>
                <a:gd name="connsiteX93" fmla="*/ 3199315 w 5508760"/>
                <a:gd name="connsiteY93" fmla="*/ 1774288 h 3584009"/>
                <a:gd name="connsiteX94" fmla="*/ 2641765 w 5508760"/>
                <a:gd name="connsiteY94" fmla="*/ 1663501 h 3584009"/>
                <a:gd name="connsiteX95" fmla="*/ 2633272 w 5508760"/>
                <a:gd name="connsiteY95" fmla="*/ 1664059 h 3584009"/>
                <a:gd name="connsiteX96" fmla="*/ 2614082 w 5508760"/>
                <a:gd name="connsiteY96" fmla="*/ 1665963 h 3584009"/>
                <a:gd name="connsiteX97" fmla="*/ 2590097 w 5508760"/>
                <a:gd name="connsiteY97" fmla="*/ 1668345 h 3584009"/>
                <a:gd name="connsiteX98" fmla="*/ 2582704 w 5508760"/>
                <a:gd name="connsiteY98" fmla="*/ 1668509 h 3584009"/>
                <a:gd name="connsiteX99" fmla="*/ 2580503 w 5508760"/>
                <a:gd name="connsiteY99" fmla="*/ 1669297 h 3584009"/>
                <a:gd name="connsiteX100" fmla="*/ 2555418 w 5508760"/>
                <a:gd name="connsiteY100" fmla="*/ 1672071 h 3584009"/>
                <a:gd name="connsiteX101" fmla="*/ 2552823 w 5508760"/>
                <a:gd name="connsiteY101" fmla="*/ 1671759 h 3584009"/>
                <a:gd name="connsiteX102" fmla="*/ 2408844 w 5508760"/>
                <a:gd name="connsiteY102" fmla="*/ 1699730 h 3584009"/>
                <a:gd name="connsiteX103" fmla="*/ 1881862 w 5508760"/>
                <a:gd name="connsiteY103" fmla="*/ 2000241 h 3584009"/>
                <a:gd name="connsiteX104" fmla="*/ 1878954 w 5508760"/>
                <a:gd name="connsiteY104" fmla="*/ 2002524 h 3584009"/>
                <a:gd name="connsiteX105" fmla="*/ 1865202 w 5508760"/>
                <a:gd name="connsiteY105" fmla="*/ 2016144 h 3584009"/>
                <a:gd name="connsiteX106" fmla="*/ 1857974 w 5508760"/>
                <a:gd name="connsiteY106" fmla="*/ 2023700 h 3584009"/>
                <a:gd name="connsiteX107" fmla="*/ 1848937 w 5508760"/>
                <a:gd name="connsiteY107" fmla="*/ 2033145 h 3584009"/>
                <a:gd name="connsiteX108" fmla="*/ 1837388 w 5508760"/>
                <a:gd name="connsiteY108" fmla="*/ 2045975 h 3584009"/>
                <a:gd name="connsiteX109" fmla="*/ 1833067 w 5508760"/>
                <a:gd name="connsiteY109" fmla="*/ 2051248 h 3584009"/>
                <a:gd name="connsiteX110" fmla="*/ 1574594 w 5508760"/>
                <a:gd name="connsiteY110" fmla="*/ 2536261 h 3584009"/>
                <a:gd name="connsiteX111" fmla="*/ 1541745 w 5508760"/>
                <a:gd name="connsiteY111" fmla="*/ 2739279 h 3584009"/>
                <a:gd name="connsiteX112" fmla="*/ 1542138 w 5508760"/>
                <a:gd name="connsiteY112" fmla="*/ 2740381 h 3584009"/>
                <a:gd name="connsiteX113" fmla="*/ 1539887 w 5508760"/>
                <a:gd name="connsiteY113" fmla="*/ 2772234 h 3584009"/>
                <a:gd name="connsiteX114" fmla="*/ 1539114 w 5508760"/>
                <a:gd name="connsiteY114" fmla="*/ 2787415 h 3584009"/>
                <a:gd name="connsiteX115" fmla="*/ 1538342 w 5508760"/>
                <a:gd name="connsiteY115" fmla="*/ 2802593 h 3584009"/>
                <a:gd name="connsiteX116" fmla="*/ 1609215 w 5508760"/>
                <a:gd name="connsiteY116" fmla="*/ 3224295 h 3584009"/>
                <a:gd name="connsiteX117" fmla="*/ 1651191 w 5508760"/>
                <a:gd name="connsiteY117" fmla="*/ 3319410 h 3584009"/>
                <a:gd name="connsiteX118" fmla="*/ 1621273 w 5508760"/>
                <a:gd name="connsiteY118" fmla="*/ 3316666 h 3584009"/>
                <a:gd name="connsiteX119" fmla="*/ 1484953 w 5508760"/>
                <a:gd name="connsiteY119" fmla="*/ 3271669 h 3584009"/>
                <a:gd name="connsiteX120" fmla="*/ 1352607 w 5508760"/>
                <a:gd name="connsiteY120" fmla="*/ 3202844 h 3584009"/>
                <a:gd name="connsiteX121" fmla="*/ 1220254 w 5508760"/>
                <a:gd name="connsiteY121" fmla="*/ 3112850 h 3584009"/>
                <a:gd name="connsiteX122" fmla="*/ 963370 w 5508760"/>
                <a:gd name="connsiteY122" fmla="*/ 2897066 h 3584009"/>
                <a:gd name="connsiteX123" fmla="*/ 991883 w 5508760"/>
                <a:gd name="connsiteY123" fmla="*/ 2921017 h 3584009"/>
                <a:gd name="connsiteX124" fmla="*/ 1002383 w 5508760"/>
                <a:gd name="connsiteY124" fmla="*/ 2915067 h 3584009"/>
                <a:gd name="connsiteX125" fmla="*/ 1254991 w 5508760"/>
                <a:gd name="connsiteY125" fmla="*/ 1765254 h 3584009"/>
                <a:gd name="connsiteX126" fmla="*/ 1043902 w 5508760"/>
                <a:gd name="connsiteY126" fmla="*/ 1540493 h 3584009"/>
                <a:gd name="connsiteX127" fmla="*/ 965225 w 5508760"/>
                <a:gd name="connsiteY127" fmla="*/ 1490413 h 3584009"/>
                <a:gd name="connsiteX128" fmla="*/ 918501 w 5508760"/>
                <a:gd name="connsiteY128" fmla="*/ 1471723 h 3584009"/>
                <a:gd name="connsiteX129" fmla="*/ 847966 w 5508760"/>
                <a:gd name="connsiteY129" fmla="*/ 1436455 h 3584009"/>
                <a:gd name="connsiteX130" fmla="*/ 775310 w 5508760"/>
                <a:gd name="connsiteY130" fmla="*/ 1411903 h 3584009"/>
                <a:gd name="connsiteX131" fmla="*/ 578989 w 5508760"/>
                <a:gd name="connsiteY131" fmla="*/ 1382689 h 3584009"/>
                <a:gd name="connsiteX132" fmla="*/ 314607 w 5508760"/>
                <a:gd name="connsiteY132" fmla="*/ 1417766 h 3584009"/>
                <a:gd name="connsiteX133" fmla="*/ 308003 w 5508760"/>
                <a:gd name="connsiteY133" fmla="*/ 1420133 h 3584009"/>
                <a:gd name="connsiteX134" fmla="*/ 74185 w 5508760"/>
                <a:gd name="connsiteY134" fmla="*/ 1332492 h 3584009"/>
                <a:gd name="connsiteX135" fmla="*/ 73398 w 5508760"/>
                <a:gd name="connsiteY135" fmla="*/ 1330291 h 3584009"/>
                <a:gd name="connsiteX136" fmla="*/ 97823 w 5508760"/>
                <a:gd name="connsiteY136" fmla="*/ 1030937 h 3584009"/>
                <a:gd name="connsiteX137" fmla="*/ 102143 w 5508760"/>
                <a:gd name="connsiteY137" fmla="*/ 1025664 h 3584009"/>
                <a:gd name="connsiteX138" fmla="*/ 109374 w 5508760"/>
                <a:gd name="connsiteY138" fmla="*/ 1018109 h 3584009"/>
                <a:gd name="connsiteX139" fmla="*/ 119115 w 5508760"/>
                <a:gd name="connsiteY139" fmla="*/ 1007166 h 3584009"/>
                <a:gd name="connsiteX140" fmla="*/ 169209 w 5508760"/>
                <a:gd name="connsiteY140" fmla="*/ 944842 h 3584009"/>
                <a:gd name="connsiteX141" fmla="*/ 246166 w 5508760"/>
                <a:gd name="connsiteY141" fmla="*/ 1016442 h 3584009"/>
                <a:gd name="connsiteX142" fmla="*/ 293814 w 5508760"/>
                <a:gd name="connsiteY142" fmla="*/ 1058793 h 3584009"/>
                <a:gd name="connsiteX143" fmla="*/ 362633 w 5508760"/>
                <a:gd name="connsiteY143" fmla="*/ 1117024 h 3584009"/>
                <a:gd name="connsiteX144" fmla="*/ 367929 w 5508760"/>
                <a:gd name="connsiteY144" fmla="*/ 1122320 h 3584009"/>
                <a:gd name="connsiteX145" fmla="*/ 436749 w 5508760"/>
                <a:gd name="connsiteY145" fmla="*/ 1175261 h 3584009"/>
                <a:gd name="connsiteX146" fmla="*/ 447336 w 5508760"/>
                <a:gd name="connsiteY146" fmla="*/ 1180552 h 3584009"/>
                <a:gd name="connsiteX147" fmla="*/ 510864 w 5508760"/>
                <a:gd name="connsiteY147" fmla="*/ 1228200 h 3584009"/>
                <a:gd name="connsiteX148" fmla="*/ 526748 w 5508760"/>
                <a:gd name="connsiteY148" fmla="*/ 1238788 h 3584009"/>
                <a:gd name="connsiteX149" fmla="*/ 590277 w 5508760"/>
                <a:gd name="connsiteY149" fmla="*/ 1281139 h 3584009"/>
                <a:gd name="connsiteX150" fmla="*/ 611452 w 5508760"/>
                <a:gd name="connsiteY150" fmla="*/ 1297018 h 3584009"/>
                <a:gd name="connsiteX151" fmla="*/ 669682 w 5508760"/>
                <a:gd name="connsiteY151" fmla="*/ 1334080 h 3584009"/>
                <a:gd name="connsiteX152" fmla="*/ 701446 w 5508760"/>
                <a:gd name="connsiteY152" fmla="*/ 1355255 h 3584009"/>
                <a:gd name="connsiteX153" fmla="*/ 749095 w 5508760"/>
                <a:gd name="connsiteY153" fmla="*/ 1381722 h 3584009"/>
                <a:gd name="connsiteX154" fmla="*/ 796738 w 5508760"/>
                <a:gd name="connsiteY154" fmla="*/ 1408194 h 3584009"/>
                <a:gd name="connsiteX155" fmla="*/ 833798 w 5508760"/>
                <a:gd name="connsiteY155" fmla="*/ 1429370 h 3584009"/>
                <a:gd name="connsiteX156" fmla="*/ 918502 w 5508760"/>
                <a:gd name="connsiteY156" fmla="*/ 1471722 h 3584009"/>
                <a:gd name="connsiteX157" fmla="*/ 997909 w 5508760"/>
                <a:gd name="connsiteY157" fmla="*/ 1503486 h 3584009"/>
                <a:gd name="connsiteX158" fmla="*/ 1029671 w 5508760"/>
                <a:gd name="connsiteY158" fmla="*/ 1519365 h 3584009"/>
                <a:gd name="connsiteX159" fmla="*/ 1072023 w 5508760"/>
                <a:gd name="connsiteY159" fmla="*/ 1535250 h 3584009"/>
                <a:gd name="connsiteX160" fmla="*/ 1183199 w 5508760"/>
                <a:gd name="connsiteY160" fmla="*/ 1572304 h 3584009"/>
                <a:gd name="connsiteX161" fmla="*/ 1765535 w 5508760"/>
                <a:gd name="connsiteY161" fmla="*/ 1646420 h 3584009"/>
                <a:gd name="connsiteX162" fmla="*/ 2570217 w 5508760"/>
                <a:gd name="connsiteY162" fmla="*/ 1492898 h 3584009"/>
                <a:gd name="connsiteX163" fmla="*/ 2575509 w 5508760"/>
                <a:gd name="connsiteY163" fmla="*/ 1492898 h 3584009"/>
                <a:gd name="connsiteX164" fmla="*/ 2612569 w 5508760"/>
                <a:gd name="connsiteY164" fmla="*/ 1477013 h 3584009"/>
                <a:gd name="connsiteX165" fmla="*/ 3126992 w 5508760"/>
                <a:gd name="connsiteY165" fmla="*/ 1152430 h 3584009"/>
                <a:gd name="connsiteX166" fmla="*/ 3214099 w 5508760"/>
                <a:gd name="connsiteY166" fmla="*/ 1077415 h 3584009"/>
                <a:gd name="connsiteX167" fmla="*/ 3241849 w 5508760"/>
                <a:gd name="connsiteY167" fmla="*/ 1140589 h 3584009"/>
                <a:gd name="connsiteX168" fmla="*/ 3248388 w 5508760"/>
                <a:gd name="connsiteY168" fmla="*/ 1151908 h 3584009"/>
                <a:gd name="connsiteX169" fmla="*/ 3250668 w 5508760"/>
                <a:gd name="connsiteY169" fmla="*/ 1154817 h 3584009"/>
                <a:gd name="connsiteX170" fmla="*/ 3273749 w 5508760"/>
                <a:gd name="connsiteY170" fmla="*/ 1194984 h 3584009"/>
                <a:gd name="connsiteX171" fmla="*/ 3276032 w 5508760"/>
                <a:gd name="connsiteY171" fmla="*/ 1197892 h 3584009"/>
                <a:gd name="connsiteX172" fmla="*/ 3298244 w 5508760"/>
                <a:gd name="connsiteY172" fmla="*/ 1232163 h 3584009"/>
                <a:gd name="connsiteX173" fmla="*/ 3303203 w 5508760"/>
                <a:gd name="connsiteY173" fmla="*/ 1239079 h 3584009"/>
                <a:gd name="connsiteX174" fmla="*/ 3327613 w 5508760"/>
                <a:gd name="connsiteY174" fmla="*/ 1272561 h 3584009"/>
                <a:gd name="connsiteX175" fmla="*/ 3332573 w 5508760"/>
                <a:gd name="connsiteY175" fmla="*/ 1279478 h 3584009"/>
                <a:gd name="connsiteX176" fmla="*/ 3392172 w 5508760"/>
                <a:gd name="connsiteY176" fmla="*/ 1348791 h 3584009"/>
                <a:gd name="connsiteX177" fmla="*/ 3392567 w 5508760"/>
                <a:gd name="connsiteY177" fmla="*/ 1349891 h 3584009"/>
                <a:gd name="connsiteX178" fmla="*/ 4025562 w 5508760"/>
                <a:gd name="connsiteY178" fmla="*/ 1660924 h 3584009"/>
                <a:gd name="connsiteX179" fmla="*/ 4602017 w 5508760"/>
                <a:gd name="connsiteY179" fmla="*/ 1540157 h 3584009"/>
                <a:gd name="connsiteX180" fmla="*/ 4608229 w 5508760"/>
                <a:gd name="connsiteY180" fmla="*/ 1536691 h 3584009"/>
                <a:gd name="connsiteX181" fmla="*/ 4643285 w 5508760"/>
                <a:gd name="connsiteY181" fmla="*/ 1516683 h 3584009"/>
                <a:gd name="connsiteX182" fmla="*/ 4658222 w 5508760"/>
                <a:gd name="connsiteY182" fmla="*/ 1506367 h 3584009"/>
                <a:gd name="connsiteX183" fmla="*/ 4682273 w 5508760"/>
                <a:gd name="connsiteY183" fmla="*/ 1490301 h 3584009"/>
                <a:gd name="connsiteX184" fmla="*/ 4701920 w 5508760"/>
                <a:gd name="connsiteY184" fmla="*/ 1475814 h 3584009"/>
                <a:gd name="connsiteX185" fmla="*/ 4720468 w 5508760"/>
                <a:gd name="connsiteY185" fmla="*/ 1461719 h 3584009"/>
                <a:gd name="connsiteX186" fmla="*/ 4739722 w 5508760"/>
                <a:gd name="connsiteY186" fmla="*/ 1446129 h 3584009"/>
                <a:gd name="connsiteX187" fmla="*/ 4758272 w 5508760"/>
                <a:gd name="connsiteY187" fmla="*/ 1432034 h 3584009"/>
                <a:gd name="connsiteX188" fmla="*/ 4776426 w 5508760"/>
                <a:gd name="connsiteY188" fmla="*/ 1416839 h 3584009"/>
                <a:gd name="connsiteX189" fmla="*/ 4795286 w 5508760"/>
                <a:gd name="connsiteY189" fmla="*/ 1400147 h 3584009"/>
                <a:gd name="connsiteX190" fmla="*/ 4810137 w 5508760"/>
                <a:gd name="connsiteY190" fmla="*/ 1386137 h 3584009"/>
                <a:gd name="connsiteX191" fmla="*/ 4831117 w 5508760"/>
                <a:gd name="connsiteY191" fmla="*/ 1364964 h 3584009"/>
                <a:gd name="connsiteX192" fmla="*/ 4840860 w 5508760"/>
                <a:gd name="connsiteY192" fmla="*/ 1354021 h 3584009"/>
                <a:gd name="connsiteX193" fmla="*/ 4863961 w 5508760"/>
                <a:gd name="connsiteY193" fmla="*/ 1328360 h 3584009"/>
                <a:gd name="connsiteX194" fmla="*/ 4870088 w 5508760"/>
                <a:gd name="connsiteY194" fmla="*/ 1321200 h 3584009"/>
                <a:gd name="connsiteX195" fmla="*/ 4896014 w 5508760"/>
                <a:gd name="connsiteY195" fmla="*/ 1289559 h 3584009"/>
                <a:gd name="connsiteX196" fmla="*/ 4897821 w 5508760"/>
                <a:gd name="connsiteY196" fmla="*/ 1287670 h 3584009"/>
                <a:gd name="connsiteX197" fmla="*/ 5057450 w 5508760"/>
                <a:gd name="connsiteY197" fmla="*/ 998264 h 3584009"/>
                <a:gd name="connsiteX198" fmla="*/ 5058864 w 5508760"/>
                <a:gd name="connsiteY198" fmla="*/ 995272 h 3584009"/>
                <a:gd name="connsiteX199" fmla="*/ 5071648 w 5508760"/>
                <a:gd name="connsiteY199" fmla="*/ 954679 h 3584009"/>
                <a:gd name="connsiteX200" fmla="*/ 5079173 w 5508760"/>
                <a:gd name="connsiteY200" fmla="*/ 927146 h 3584009"/>
                <a:gd name="connsiteX201" fmla="*/ 5083957 w 5508760"/>
                <a:gd name="connsiteY201" fmla="*/ 909288 h 3584009"/>
                <a:gd name="connsiteX202" fmla="*/ 5108021 w 5508760"/>
                <a:gd name="connsiteY202" fmla="*/ 560388 h 3584009"/>
                <a:gd name="connsiteX203" fmla="*/ 5105806 w 5508760"/>
                <a:gd name="connsiteY203" fmla="*/ 543796 h 3584009"/>
                <a:gd name="connsiteX204" fmla="*/ 5102161 w 5508760"/>
                <a:gd name="connsiteY204" fmla="*/ 512811 h 3584009"/>
                <a:gd name="connsiteX205" fmla="*/ 5094968 w 5508760"/>
                <a:gd name="connsiteY205" fmla="*/ 471920 h 3584009"/>
                <a:gd name="connsiteX206" fmla="*/ 5093701 w 5508760"/>
                <a:gd name="connsiteY206" fmla="*/ 464923 h 3584009"/>
                <a:gd name="connsiteX207" fmla="*/ 5079413 w 5508760"/>
                <a:gd name="connsiteY207" fmla="*/ 404220 h 3584009"/>
                <a:gd name="connsiteX208" fmla="*/ 5070968 w 5508760"/>
                <a:gd name="connsiteY208" fmla="*/ 373712 h 3584009"/>
                <a:gd name="connsiteX209" fmla="*/ 5066632 w 5508760"/>
                <a:gd name="connsiteY209" fmla="*/ 361605 h 3584009"/>
                <a:gd name="connsiteX210" fmla="*/ 4881590 w 5508760"/>
                <a:gd name="connsiteY210" fmla="*/ 26123 h 3584009"/>
                <a:gd name="connsiteX211" fmla="*/ 4854976 w 5508760"/>
                <a:gd name="connsiteY211" fmla="*/ 2 h 3584009"/>
                <a:gd name="connsiteX212" fmla="*/ 4460159 w 5508760"/>
                <a:gd name="connsiteY212" fmla="*/ 2 h 3584009"/>
                <a:gd name="connsiteX213" fmla="*/ 4428380 w 5508760"/>
                <a:gd name="connsiteY213" fmla="*/ 6356 h 358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5508760" h="3584009">
                  <a:moveTo>
                    <a:pt x="1708303" y="3324650"/>
                  </a:moveTo>
                  <a:lnTo>
                    <a:pt x="1765535" y="3329899"/>
                  </a:lnTo>
                  <a:lnTo>
                    <a:pt x="1765535" y="3329899"/>
                  </a:lnTo>
                  <a:close/>
                  <a:moveTo>
                    <a:pt x="1907936" y="3314876"/>
                  </a:moveTo>
                  <a:lnTo>
                    <a:pt x="1765536" y="3329899"/>
                  </a:lnTo>
                  <a:lnTo>
                    <a:pt x="1765535" y="3329899"/>
                  </a:lnTo>
                  <a:close/>
                  <a:moveTo>
                    <a:pt x="4551467" y="3200987"/>
                  </a:moveTo>
                  <a:lnTo>
                    <a:pt x="4620635" y="3275338"/>
                  </a:lnTo>
                  <a:cubicBezTo>
                    <a:pt x="4823730" y="3468729"/>
                    <a:pt x="5106996" y="3574693"/>
                    <a:pt x="5407901" y="3544076"/>
                  </a:cubicBezTo>
                  <a:lnTo>
                    <a:pt x="5502706" y="3529414"/>
                  </a:lnTo>
                  <a:lnTo>
                    <a:pt x="5487850" y="3559526"/>
                  </a:lnTo>
                  <a:cubicBezTo>
                    <a:pt x="5473953" y="3576069"/>
                    <a:pt x="5452777" y="3584009"/>
                    <a:pt x="5423659" y="3584009"/>
                  </a:cubicBezTo>
                  <a:lnTo>
                    <a:pt x="5079555" y="3584009"/>
                  </a:lnTo>
                  <a:cubicBezTo>
                    <a:pt x="4989554" y="3584009"/>
                    <a:pt x="4910148" y="3568130"/>
                    <a:pt x="4841323" y="3541657"/>
                  </a:cubicBezTo>
                  <a:cubicBezTo>
                    <a:pt x="4783093" y="3520482"/>
                    <a:pt x="4730153" y="3483427"/>
                    <a:pt x="4682504" y="3441075"/>
                  </a:cubicBezTo>
                  <a:cubicBezTo>
                    <a:pt x="4682504" y="3441075"/>
                    <a:pt x="4677214" y="3435778"/>
                    <a:pt x="4677214" y="3435778"/>
                  </a:cubicBezTo>
                  <a:cubicBezTo>
                    <a:pt x="4661329" y="3419899"/>
                    <a:pt x="4650741" y="3409311"/>
                    <a:pt x="4640153" y="3393426"/>
                  </a:cubicBezTo>
                  <a:cubicBezTo>
                    <a:pt x="4640153" y="3393426"/>
                    <a:pt x="4634863" y="3388135"/>
                    <a:pt x="4634863" y="3388135"/>
                  </a:cubicBezTo>
                  <a:cubicBezTo>
                    <a:pt x="4624274" y="3372251"/>
                    <a:pt x="4618977" y="3361663"/>
                    <a:pt x="4608390" y="3345783"/>
                  </a:cubicBezTo>
                  <a:cubicBezTo>
                    <a:pt x="4608390" y="3345783"/>
                    <a:pt x="4608390" y="3340487"/>
                    <a:pt x="4608390" y="3340487"/>
                  </a:cubicBezTo>
                  <a:cubicBezTo>
                    <a:pt x="4597801" y="3324608"/>
                    <a:pt x="4587213" y="3308723"/>
                    <a:pt x="4581922" y="3292844"/>
                  </a:cubicBezTo>
                  <a:cubicBezTo>
                    <a:pt x="4571335" y="3276960"/>
                    <a:pt x="4566038" y="3261080"/>
                    <a:pt x="4560747" y="3239905"/>
                  </a:cubicBezTo>
                  <a:close/>
                  <a:moveTo>
                    <a:pt x="596735" y="2564573"/>
                  </a:moveTo>
                  <a:lnTo>
                    <a:pt x="680272" y="2641685"/>
                  </a:lnTo>
                  <a:lnTo>
                    <a:pt x="914653" y="2853533"/>
                  </a:lnTo>
                  <a:lnTo>
                    <a:pt x="680271" y="2641685"/>
                  </a:lnTo>
                  <a:close/>
                  <a:moveTo>
                    <a:pt x="4528981" y="2440491"/>
                  </a:moveTo>
                  <a:lnTo>
                    <a:pt x="4528984" y="2440514"/>
                  </a:lnTo>
                  <a:lnTo>
                    <a:pt x="4528984" y="3028147"/>
                  </a:lnTo>
                  <a:lnTo>
                    <a:pt x="4535107" y="3114398"/>
                  </a:lnTo>
                  <a:lnTo>
                    <a:pt x="4528983" y="3028147"/>
                  </a:lnTo>
                  <a:lnTo>
                    <a:pt x="4528983" y="2440514"/>
                  </a:lnTo>
                  <a:close/>
                  <a:moveTo>
                    <a:pt x="4502123" y="2261213"/>
                  </a:moveTo>
                  <a:lnTo>
                    <a:pt x="4508882" y="2276640"/>
                  </a:lnTo>
                  <a:lnTo>
                    <a:pt x="4511097" y="2294700"/>
                  </a:lnTo>
                  <a:close/>
                  <a:moveTo>
                    <a:pt x="145583" y="2165228"/>
                  </a:moveTo>
                  <a:cubicBezTo>
                    <a:pt x="246167" y="2239344"/>
                    <a:pt x="336167" y="2318755"/>
                    <a:pt x="426161" y="2408750"/>
                  </a:cubicBezTo>
                  <a:cubicBezTo>
                    <a:pt x="426161" y="2408750"/>
                    <a:pt x="426161" y="2408750"/>
                    <a:pt x="431458" y="2414046"/>
                  </a:cubicBezTo>
                  <a:lnTo>
                    <a:pt x="457639" y="2436954"/>
                  </a:lnTo>
                  <a:lnTo>
                    <a:pt x="431458" y="2414047"/>
                  </a:lnTo>
                  <a:cubicBezTo>
                    <a:pt x="426160" y="2408750"/>
                    <a:pt x="426160" y="2408750"/>
                    <a:pt x="426160" y="2408750"/>
                  </a:cubicBezTo>
                  <a:cubicBezTo>
                    <a:pt x="336166" y="2318756"/>
                    <a:pt x="246166" y="2239344"/>
                    <a:pt x="145583" y="2165228"/>
                  </a:cubicBezTo>
                  <a:close/>
                  <a:moveTo>
                    <a:pt x="0" y="2065177"/>
                  </a:moveTo>
                  <a:lnTo>
                    <a:pt x="17867" y="2075232"/>
                  </a:lnTo>
                  <a:cubicBezTo>
                    <a:pt x="60880" y="2103025"/>
                    <a:pt x="103232" y="2133464"/>
                    <a:pt x="145583" y="2165228"/>
                  </a:cubicBezTo>
                  <a:cubicBezTo>
                    <a:pt x="103231" y="2133464"/>
                    <a:pt x="60880" y="2103025"/>
                    <a:pt x="17866" y="2075232"/>
                  </a:cubicBezTo>
                  <a:lnTo>
                    <a:pt x="0" y="2065177"/>
                  </a:lnTo>
                  <a:close/>
                  <a:moveTo>
                    <a:pt x="3883120" y="471161"/>
                  </a:moveTo>
                  <a:lnTo>
                    <a:pt x="3284900" y="1016442"/>
                  </a:lnTo>
                  <a:lnTo>
                    <a:pt x="3214099" y="1077415"/>
                  </a:lnTo>
                  <a:lnTo>
                    <a:pt x="3214098" y="1077414"/>
                  </a:lnTo>
                  <a:lnTo>
                    <a:pt x="3284901" y="1016441"/>
                  </a:lnTo>
                  <a:close/>
                  <a:moveTo>
                    <a:pt x="4378164" y="17175"/>
                  </a:moveTo>
                  <a:lnTo>
                    <a:pt x="4370166" y="21177"/>
                  </a:lnTo>
                  <a:cubicBezTo>
                    <a:pt x="4359578" y="26471"/>
                    <a:pt x="4347665" y="35735"/>
                    <a:pt x="4334429" y="47646"/>
                  </a:cubicBezTo>
                  <a:cubicBezTo>
                    <a:pt x="4347664" y="35734"/>
                    <a:pt x="4359577" y="26471"/>
                    <a:pt x="4370164" y="21177"/>
                  </a:cubicBezTo>
                  <a:close/>
                  <a:moveTo>
                    <a:pt x="4460159" y="0"/>
                  </a:moveTo>
                  <a:lnTo>
                    <a:pt x="4963088" y="0"/>
                  </a:lnTo>
                  <a:cubicBezTo>
                    <a:pt x="4973676" y="0"/>
                    <a:pt x="4984263" y="0"/>
                    <a:pt x="4994851" y="0"/>
                  </a:cubicBezTo>
                  <a:cubicBezTo>
                    <a:pt x="5005440" y="0"/>
                    <a:pt x="5016027" y="0"/>
                    <a:pt x="5026615" y="0"/>
                  </a:cubicBezTo>
                  <a:cubicBezTo>
                    <a:pt x="5037204" y="0"/>
                    <a:pt x="5053082" y="5292"/>
                    <a:pt x="5068967" y="5292"/>
                  </a:cubicBezTo>
                  <a:cubicBezTo>
                    <a:pt x="5074258" y="5292"/>
                    <a:pt x="5079555" y="5292"/>
                    <a:pt x="5084845" y="5292"/>
                  </a:cubicBezTo>
                  <a:cubicBezTo>
                    <a:pt x="5100730" y="10589"/>
                    <a:pt x="5116609" y="10589"/>
                    <a:pt x="5132494" y="15880"/>
                  </a:cubicBezTo>
                  <a:cubicBezTo>
                    <a:pt x="5132494" y="15880"/>
                    <a:pt x="5137786" y="15880"/>
                    <a:pt x="5137786" y="15880"/>
                  </a:cubicBezTo>
                  <a:cubicBezTo>
                    <a:pt x="5158961" y="21177"/>
                    <a:pt x="5174846" y="26468"/>
                    <a:pt x="5190725" y="31764"/>
                  </a:cubicBezTo>
                  <a:cubicBezTo>
                    <a:pt x="5259549" y="52941"/>
                    <a:pt x="5317780" y="89996"/>
                    <a:pt x="5365429" y="137644"/>
                  </a:cubicBezTo>
                  <a:cubicBezTo>
                    <a:pt x="5365429" y="137644"/>
                    <a:pt x="5365429" y="137644"/>
                    <a:pt x="5370720" y="142935"/>
                  </a:cubicBezTo>
                  <a:cubicBezTo>
                    <a:pt x="5466011" y="238226"/>
                    <a:pt x="5513659" y="375870"/>
                    <a:pt x="5508362" y="550573"/>
                  </a:cubicBezTo>
                  <a:lnTo>
                    <a:pt x="5508362" y="1381722"/>
                  </a:lnTo>
                  <a:lnTo>
                    <a:pt x="5508362" y="1579470"/>
                  </a:lnTo>
                  <a:lnTo>
                    <a:pt x="5491894" y="1575558"/>
                  </a:lnTo>
                  <a:cubicBezTo>
                    <a:pt x="5431771" y="1564192"/>
                    <a:pt x="5369924" y="1558316"/>
                    <a:pt x="5306956" y="1558420"/>
                  </a:cubicBezTo>
                  <a:cubicBezTo>
                    <a:pt x="5273374" y="1558474"/>
                    <a:pt x="5239471" y="1560231"/>
                    <a:pt x="5205342" y="1563760"/>
                  </a:cubicBezTo>
                  <a:cubicBezTo>
                    <a:pt x="4861447" y="1598754"/>
                    <a:pt x="4576456" y="1805143"/>
                    <a:pt x="4426339" y="2089902"/>
                  </a:cubicBezTo>
                  <a:lnTo>
                    <a:pt x="4420590" y="2103354"/>
                  </a:lnTo>
                  <a:lnTo>
                    <a:pt x="4436491" y="2123611"/>
                  </a:lnTo>
                  <a:lnTo>
                    <a:pt x="4386043" y="2059348"/>
                  </a:lnTo>
                  <a:cubicBezTo>
                    <a:pt x="4285461" y="1958766"/>
                    <a:pt x="4163697" y="1911118"/>
                    <a:pt x="4015466" y="1911118"/>
                  </a:cubicBezTo>
                  <a:cubicBezTo>
                    <a:pt x="3904295" y="1911118"/>
                    <a:pt x="3793119" y="1937591"/>
                    <a:pt x="3687241" y="1985234"/>
                  </a:cubicBezTo>
                  <a:lnTo>
                    <a:pt x="3558811" y="2053549"/>
                  </a:lnTo>
                  <a:lnTo>
                    <a:pt x="3564978" y="2050269"/>
                  </a:lnTo>
                  <a:lnTo>
                    <a:pt x="3529007" y="2007820"/>
                  </a:lnTo>
                  <a:cubicBezTo>
                    <a:pt x="3487868" y="1966203"/>
                    <a:pt x="3443652" y="1927705"/>
                    <a:pt x="3396825" y="1892317"/>
                  </a:cubicBezTo>
                  <a:cubicBezTo>
                    <a:pt x="3395330" y="1891611"/>
                    <a:pt x="3393838" y="1890904"/>
                    <a:pt x="3393445" y="1889804"/>
                  </a:cubicBezTo>
                  <a:cubicBezTo>
                    <a:pt x="3373532" y="1875823"/>
                    <a:pt x="3353227" y="1860740"/>
                    <a:pt x="3332610" y="1848254"/>
                  </a:cubicBezTo>
                  <a:cubicBezTo>
                    <a:pt x="3329619" y="1846842"/>
                    <a:pt x="3327337" y="1843933"/>
                    <a:pt x="3324347" y="1842520"/>
                  </a:cubicBezTo>
                  <a:cubicBezTo>
                    <a:pt x="3317973" y="1838593"/>
                    <a:pt x="3313093" y="1835373"/>
                    <a:pt x="3306720" y="1831446"/>
                  </a:cubicBezTo>
                  <a:cubicBezTo>
                    <a:pt x="3303337" y="1828932"/>
                    <a:pt x="3300345" y="1827521"/>
                    <a:pt x="3295861" y="1825400"/>
                  </a:cubicBezTo>
                  <a:cubicBezTo>
                    <a:pt x="3289881" y="1822574"/>
                    <a:pt x="3284610" y="1818253"/>
                    <a:pt x="3278629" y="1815427"/>
                  </a:cubicBezTo>
                  <a:cubicBezTo>
                    <a:pt x="3276741" y="1813619"/>
                    <a:pt x="3274143" y="1813310"/>
                    <a:pt x="3272254" y="1811501"/>
                  </a:cubicBezTo>
                  <a:cubicBezTo>
                    <a:pt x="3259901" y="1804748"/>
                    <a:pt x="3247154" y="1796895"/>
                    <a:pt x="3233700" y="1790538"/>
                  </a:cubicBezTo>
                  <a:cubicBezTo>
                    <a:pt x="3230707" y="1789124"/>
                    <a:pt x="3229215" y="1788418"/>
                    <a:pt x="3226225" y="1787004"/>
                  </a:cubicBezTo>
                  <a:cubicBezTo>
                    <a:pt x="3218751" y="1783472"/>
                    <a:pt x="3212375" y="1779545"/>
                    <a:pt x="3205294" y="1777113"/>
                  </a:cubicBezTo>
                  <a:cubicBezTo>
                    <a:pt x="3203799" y="1776406"/>
                    <a:pt x="3200812" y="1774994"/>
                    <a:pt x="3199315" y="1774288"/>
                  </a:cubicBezTo>
                  <a:cubicBezTo>
                    <a:pt x="3029993" y="1693353"/>
                    <a:pt x="2840498" y="1653177"/>
                    <a:pt x="2641765" y="1663501"/>
                  </a:cubicBezTo>
                  <a:cubicBezTo>
                    <a:pt x="2639170" y="1663188"/>
                    <a:pt x="2635472" y="1663271"/>
                    <a:pt x="2633272" y="1664059"/>
                  </a:cubicBezTo>
                  <a:cubicBezTo>
                    <a:pt x="2626980" y="1663828"/>
                    <a:pt x="2619981" y="1665093"/>
                    <a:pt x="2614082" y="1665963"/>
                  </a:cubicBezTo>
                  <a:cubicBezTo>
                    <a:pt x="2605590" y="1666522"/>
                    <a:pt x="2597096" y="1667079"/>
                    <a:pt x="2590097" y="1668345"/>
                  </a:cubicBezTo>
                  <a:cubicBezTo>
                    <a:pt x="2587895" y="1669134"/>
                    <a:pt x="2585301" y="1668821"/>
                    <a:pt x="2582704" y="1668509"/>
                  </a:cubicBezTo>
                  <a:cubicBezTo>
                    <a:pt x="2581603" y="1668903"/>
                    <a:pt x="2581603" y="1668903"/>
                    <a:pt x="2580503" y="1669297"/>
                  </a:cubicBezTo>
                  <a:cubicBezTo>
                    <a:pt x="2572010" y="1669856"/>
                    <a:pt x="2563912" y="1671514"/>
                    <a:pt x="2555418" y="1672071"/>
                  </a:cubicBezTo>
                  <a:cubicBezTo>
                    <a:pt x="2554317" y="1672466"/>
                    <a:pt x="2553216" y="1672860"/>
                    <a:pt x="2552823" y="1671759"/>
                  </a:cubicBezTo>
                  <a:cubicBezTo>
                    <a:pt x="2504145" y="1678018"/>
                    <a:pt x="2456649" y="1687575"/>
                    <a:pt x="2408844" y="1699730"/>
                  </a:cubicBezTo>
                  <a:cubicBezTo>
                    <a:pt x="2205508" y="1752684"/>
                    <a:pt x="2024794" y="1858391"/>
                    <a:pt x="1881862" y="2000241"/>
                  </a:cubicBezTo>
                  <a:cubicBezTo>
                    <a:pt x="1880761" y="2000637"/>
                    <a:pt x="1880055" y="2002129"/>
                    <a:pt x="1878954" y="2002524"/>
                  </a:cubicBezTo>
                  <a:cubicBezTo>
                    <a:pt x="1874238" y="2006698"/>
                    <a:pt x="1869916" y="2011970"/>
                    <a:pt x="1865202" y="2016144"/>
                  </a:cubicBezTo>
                  <a:cubicBezTo>
                    <a:pt x="1862293" y="2018425"/>
                    <a:pt x="1860882" y="2021416"/>
                    <a:pt x="1857974" y="2023700"/>
                  </a:cubicBezTo>
                  <a:cubicBezTo>
                    <a:pt x="1855459" y="2027083"/>
                    <a:pt x="1851451" y="2029761"/>
                    <a:pt x="1848937" y="2033145"/>
                  </a:cubicBezTo>
                  <a:cubicBezTo>
                    <a:pt x="1845323" y="2036924"/>
                    <a:pt x="1840607" y="2041098"/>
                    <a:pt x="1837388" y="2045975"/>
                  </a:cubicBezTo>
                  <a:cubicBezTo>
                    <a:pt x="1835580" y="2047864"/>
                    <a:pt x="1834876" y="2049359"/>
                    <a:pt x="1833067" y="2051248"/>
                  </a:cubicBezTo>
                  <a:cubicBezTo>
                    <a:pt x="1711836" y="2187810"/>
                    <a:pt x="1621538" y="2351791"/>
                    <a:pt x="1574594" y="2536261"/>
                  </a:cubicBezTo>
                  <a:cubicBezTo>
                    <a:pt x="1558293" y="2601711"/>
                    <a:pt x="1546480" y="2669280"/>
                    <a:pt x="1541745" y="2739279"/>
                  </a:cubicBezTo>
                  <a:cubicBezTo>
                    <a:pt x="1541745" y="2739279"/>
                    <a:pt x="1542138" y="2740381"/>
                    <a:pt x="1542138" y="2740381"/>
                  </a:cubicBezTo>
                  <a:cubicBezTo>
                    <a:pt x="1540889" y="2750763"/>
                    <a:pt x="1541135" y="2761853"/>
                    <a:pt x="1539887" y="2772234"/>
                  </a:cubicBezTo>
                  <a:cubicBezTo>
                    <a:pt x="1539262" y="2777424"/>
                    <a:pt x="1539737" y="2782223"/>
                    <a:pt x="1539114" y="2787415"/>
                  </a:cubicBezTo>
                  <a:cubicBezTo>
                    <a:pt x="1538488" y="2792606"/>
                    <a:pt x="1538965" y="2797403"/>
                    <a:pt x="1538342" y="2802593"/>
                  </a:cubicBezTo>
                  <a:cubicBezTo>
                    <a:pt x="1535228" y="2949942"/>
                    <a:pt x="1560514" y="3092709"/>
                    <a:pt x="1609215" y="3224295"/>
                  </a:cubicBezTo>
                  <a:lnTo>
                    <a:pt x="1651191" y="3319410"/>
                  </a:lnTo>
                  <a:lnTo>
                    <a:pt x="1621273" y="3316666"/>
                  </a:lnTo>
                  <a:cubicBezTo>
                    <a:pt x="1574951" y="3307401"/>
                    <a:pt x="1529953" y="3292844"/>
                    <a:pt x="1484953" y="3271669"/>
                  </a:cubicBezTo>
                  <a:cubicBezTo>
                    <a:pt x="1442601" y="3255784"/>
                    <a:pt x="1394958" y="3229317"/>
                    <a:pt x="1352607" y="3202844"/>
                  </a:cubicBezTo>
                  <a:cubicBezTo>
                    <a:pt x="1310255" y="3176377"/>
                    <a:pt x="1262606" y="3144613"/>
                    <a:pt x="1220254" y="3112850"/>
                  </a:cubicBezTo>
                  <a:lnTo>
                    <a:pt x="963370" y="2897066"/>
                  </a:lnTo>
                  <a:lnTo>
                    <a:pt x="991883" y="2921017"/>
                  </a:lnTo>
                  <a:lnTo>
                    <a:pt x="1002383" y="2915067"/>
                  </a:lnTo>
                  <a:cubicBezTo>
                    <a:pt x="1388079" y="2663914"/>
                    <a:pt x="1500244" y="2151821"/>
                    <a:pt x="1254991" y="1765254"/>
                  </a:cubicBezTo>
                  <a:cubicBezTo>
                    <a:pt x="1197516" y="1674999"/>
                    <a:pt x="1125501" y="1599731"/>
                    <a:pt x="1043902" y="1540493"/>
                  </a:cubicBezTo>
                  <a:lnTo>
                    <a:pt x="965225" y="1490413"/>
                  </a:lnTo>
                  <a:lnTo>
                    <a:pt x="918501" y="1471723"/>
                  </a:lnTo>
                  <a:lnTo>
                    <a:pt x="847966" y="1436455"/>
                  </a:lnTo>
                  <a:lnTo>
                    <a:pt x="775310" y="1411903"/>
                  </a:lnTo>
                  <a:cubicBezTo>
                    <a:pt x="711436" y="1394476"/>
                    <a:pt x="645506" y="1384635"/>
                    <a:pt x="578989" y="1382689"/>
                  </a:cubicBezTo>
                  <a:cubicBezTo>
                    <a:pt x="491295" y="1380565"/>
                    <a:pt x="402040" y="1391419"/>
                    <a:pt x="314607" y="1417766"/>
                  </a:cubicBezTo>
                  <a:cubicBezTo>
                    <a:pt x="312406" y="1418555"/>
                    <a:pt x="310206" y="1419342"/>
                    <a:pt x="308003" y="1420133"/>
                  </a:cubicBezTo>
                  <a:cubicBezTo>
                    <a:pt x="221673" y="1446084"/>
                    <a:pt x="125142" y="1412353"/>
                    <a:pt x="74185" y="1332492"/>
                  </a:cubicBezTo>
                  <a:lnTo>
                    <a:pt x="73398" y="1330291"/>
                  </a:lnTo>
                  <a:cubicBezTo>
                    <a:pt x="11730" y="1234397"/>
                    <a:pt x="24910" y="1111695"/>
                    <a:pt x="97823" y="1030937"/>
                  </a:cubicBezTo>
                  <a:cubicBezTo>
                    <a:pt x="99632" y="1029049"/>
                    <a:pt x="100337" y="1027553"/>
                    <a:pt x="102143" y="1025664"/>
                  </a:cubicBezTo>
                  <a:cubicBezTo>
                    <a:pt x="105052" y="1023380"/>
                    <a:pt x="106466" y="1020392"/>
                    <a:pt x="109374" y="1018109"/>
                  </a:cubicBezTo>
                  <a:cubicBezTo>
                    <a:pt x="112986" y="1014330"/>
                    <a:pt x="115501" y="1010946"/>
                    <a:pt x="119115" y="1007166"/>
                  </a:cubicBezTo>
                  <a:lnTo>
                    <a:pt x="169209" y="944842"/>
                  </a:lnTo>
                  <a:lnTo>
                    <a:pt x="246166" y="1016442"/>
                  </a:lnTo>
                  <a:cubicBezTo>
                    <a:pt x="262050" y="1027029"/>
                    <a:pt x="277930" y="1042908"/>
                    <a:pt x="293814" y="1058793"/>
                  </a:cubicBezTo>
                  <a:cubicBezTo>
                    <a:pt x="314990" y="1074672"/>
                    <a:pt x="341457" y="1095849"/>
                    <a:pt x="362633" y="1117024"/>
                  </a:cubicBezTo>
                  <a:cubicBezTo>
                    <a:pt x="362633" y="1122320"/>
                    <a:pt x="367929" y="1122320"/>
                    <a:pt x="367929" y="1122320"/>
                  </a:cubicBezTo>
                  <a:cubicBezTo>
                    <a:pt x="389106" y="1138200"/>
                    <a:pt x="415572" y="1159376"/>
                    <a:pt x="436749" y="1175261"/>
                  </a:cubicBezTo>
                  <a:cubicBezTo>
                    <a:pt x="442045" y="1175261"/>
                    <a:pt x="442045" y="1180552"/>
                    <a:pt x="447336" y="1180552"/>
                  </a:cubicBezTo>
                  <a:cubicBezTo>
                    <a:pt x="468512" y="1196436"/>
                    <a:pt x="489688" y="1212316"/>
                    <a:pt x="510864" y="1228200"/>
                  </a:cubicBezTo>
                  <a:cubicBezTo>
                    <a:pt x="516161" y="1233491"/>
                    <a:pt x="521452" y="1233491"/>
                    <a:pt x="526748" y="1238788"/>
                  </a:cubicBezTo>
                  <a:cubicBezTo>
                    <a:pt x="547925" y="1254666"/>
                    <a:pt x="569100" y="1265255"/>
                    <a:pt x="590277" y="1281139"/>
                  </a:cubicBezTo>
                  <a:cubicBezTo>
                    <a:pt x="595568" y="1286430"/>
                    <a:pt x="606155" y="1291728"/>
                    <a:pt x="611452" y="1297018"/>
                  </a:cubicBezTo>
                  <a:cubicBezTo>
                    <a:pt x="632628" y="1312903"/>
                    <a:pt x="648507" y="1323491"/>
                    <a:pt x="669682" y="1334080"/>
                  </a:cubicBezTo>
                  <a:cubicBezTo>
                    <a:pt x="680271" y="1344667"/>
                    <a:pt x="690859" y="1349958"/>
                    <a:pt x="701446" y="1355255"/>
                  </a:cubicBezTo>
                  <a:cubicBezTo>
                    <a:pt x="717331" y="1360546"/>
                    <a:pt x="733210" y="1371134"/>
                    <a:pt x="749095" y="1381722"/>
                  </a:cubicBezTo>
                  <a:cubicBezTo>
                    <a:pt x="764974" y="1392310"/>
                    <a:pt x="780858" y="1397606"/>
                    <a:pt x="796738" y="1408194"/>
                  </a:cubicBezTo>
                  <a:cubicBezTo>
                    <a:pt x="807326" y="1413485"/>
                    <a:pt x="823210" y="1424074"/>
                    <a:pt x="833798" y="1429370"/>
                  </a:cubicBezTo>
                  <a:cubicBezTo>
                    <a:pt x="860265" y="1445249"/>
                    <a:pt x="892029" y="1455837"/>
                    <a:pt x="918502" y="1471722"/>
                  </a:cubicBezTo>
                  <a:cubicBezTo>
                    <a:pt x="944968" y="1482310"/>
                    <a:pt x="971441" y="1492898"/>
                    <a:pt x="997909" y="1503486"/>
                  </a:cubicBezTo>
                  <a:cubicBezTo>
                    <a:pt x="1008496" y="1508777"/>
                    <a:pt x="1019084" y="1514074"/>
                    <a:pt x="1029671" y="1519365"/>
                  </a:cubicBezTo>
                  <a:cubicBezTo>
                    <a:pt x="1045557" y="1524661"/>
                    <a:pt x="1056144" y="1529953"/>
                    <a:pt x="1072023" y="1535250"/>
                  </a:cubicBezTo>
                  <a:cubicBezTo>
                    <a:pt x="1109085" y="1551129"/>
                    <a:pt x="1146139" y="1561717"/>
                    <a:pt x="1183199" y="1572304"/>
                  </a:cubicBezTo>
                  <a:cubicBezTo>
                    <a:pt x="1357898" y="1619953"/>
                    <a:pt x="1553777" y="1646420"/>
                    <a:pt x="1765535" y="1646420"/>
                  </a:cubicBezTo>
                  <a:cubicBezTo>
                    <a:pt x="2067288" y="1646420"/>
                    <a:pt x="2337283" y="1593481"/>
                    <a:pt x="2570217" y="1492898"/>
                  </a:cubicBezTo>
                  <a:cubicBezTo>
                    <a:pt x="2575509" y="1492898"/>
                    <a:pt x="2575509" y="1492898"/>
                    <a:pt x="2575509" y="1492898"/>
                  </a:cubicBezTo>
                  <a:cubicBezTo>
                    <a:pt x="2586096" y="1487601"/>
                    <a:pt x="2601981" y="1482310"/>
                    <a:pt x="2612569" y="1477013"/>
                  </a:cubicBezTo>
                  <a:cubicBezTo>
                    <a:pt x="2795211" y="1389663"/>
                    <a:pt x="2965941" y="1281469"/>
                    <a:pt x="3126992" y="1152430"/>
                  </a:cubicBezTo>
                  <a:lnTo>
                    <a:pt x="3214099" y="1077415"/>
                  </a:lnTo>
                  <a:lnTo>
                    <a:pt x="3241849" y="1140589"/>
                  </a:lnTo>
                  <a:cubicBezTo>
                    <a:pt x="3244526" y="1144597"/>
                    <a:pt x="3245708" y="1147898"/>
                    <a:pt x="3248388" y="1151908"/>
                  </a:cubicBezTo>
                  <a:cubicBezTo>
                    <a:pt x="3248779" y="1153009"/>
                    <a:pt x="3249174" y="1154110"/>
                    <a:pt x="3250668" y="1154817"/>
                  </a:cubicBezTo>
                  <a:cubicBezTo>
                    <a:pt x="3257994" y="1168337"/>
                    <a:pt x="3266420" y="1181464"/>
                    <a:pt x="3273749" y="1194984"/>
                  </a:cubicBezTo>
                  <a:cubicBezTo>
                    <a:pt x="3274144" y="1196085"/>
                    <a:pt x="3274537" y="1197186"/>
                    <a:pt x="3276032" y="1197892"/>
                  </a:cubicBezTo>
                  <a:cubicBezTo>
                    <a:pt x="3282569" y="1209211"/>
                    <a:pt x="3290605" y="1221236"/>
                    <a:pt x="3298244" y="1232163"/>
                  </a:cubicBezTo>
                  <a:cubicBezTo>
                    <a:pt x="3300132" y="1233969"/>
                    <a:pt x="3301315" y="1237273"/>
                    <a:pt x="3303203" y="1239079"/>
                  </a:cubicBezTo>
                  <a:cubicBezTo>
                    <a:pt x="3311235" y="1251104"/>
                    <a:pt x="3319974" y="1261636"/>
                    <a:pt x="3327613" y="1272561"/>
                  </a:cubicBezTo>
                  <a:cubicBezTo>
                    <a:pt x="3329503" y="1274368"/>
                    <a:pt x="3331788" y="1277276"/>
                    <a:pt x="3332573" y="1279478"/>
                  </a:cubicBezTo>
                  <a:cubicBezTo>
                    <a:pt x="3351235" y="1303841"/>
                    <a:pt x="3370602" y="1326711"/>
                    <a:pt x="3392172" y="1348791"/>
                  </a:cubicBezTo>
                  <a:cubicBezTo>
                    <a:pt x="3392172" y="1348791"/>
                    <a:pt x="3392172" y="1348791"/>
                    <a:pt x="3392567" y="1349891"/>
                  </a:cubicBezTo>
                  <a:cubicBezTo>
                    <a:pt x="3553159" y="1520885"/>
                    <a:pt x="3773555" y="1636927"/>
                    <a:pt x="4025562" y="1660924"/>
                  </a:cubicBezTo>
                  <a:cubicBezTo>
                    <a:pt x="4233838" y="1680715"/>
                    <a:pt x="4432147" y="1634529"/>
                    <a:pt x="4602017" y="1540157"/>
                  </a:cubicBezTo>
                  <a:cubicBezTo>
                    <a:pt x="4604219" y="1539368"/>
                    <a:pt x="4606030" y="1537479"/>
                    <a:pt x="4608229" y="1536691"/>
                  </a:cubicBezTo>
                  <a:cubicBezTo>
                    <a:pt x="4619548" y="1530152"/>
                    <a:pt x="4631969" y="1523221"/>
                    <a:pt x="4643285" y="1516683"/>
                  </a:cubicBezTo>
                  <a:cubicBezTo>
                    <a:pt x="4648396" y="1513612"/>
                    <a:pt x="4653506" y="1510540"/>
                    <a:pt x="4658222" y="1506367"/>
                  </a:cubicBezTo>
                  <a:cubicBezTo>
                    <a:pt x="4666237" y="1501012"/>
                    <a:pt x="4674256" y="1495656"/>
                    <a:pt x="4682273" y="1490301"/>
                  </a:cubicBezTo>
                  <a:cubicBezTo>
                    <a:pt x="4689188" y="1485341"/>
                    <a:pt x="4695005" y="1480773"/>
                    <a:pt x="4701920" y="1475814"/>
                  </a:cubicBezTo>
                  <a:cubicBezTo>
                    <a:pt x="4707738" y="1471246"/>
                    <a:pt x="4714653" y="1466285"/>
                    <a:pt x="4720468" y="1461719"/>
                  </a:cubicBezTo>
                  <a:cubicBezTo>
                    <a:pt x="4727385" y="1456757"/>
                    <a:pt x="4733907" y="1450695"/>
                    <a:pt x="4739722" y="1446129"/>
                  </a:cubicBezTo>
                  <a:cubicBezTo>
                    <a:pt x="4745540" y="1441562"/>
                    <a:pt x="4751355" y="1436995"/>
                    <a:pt x="4758272" y="1432034"/>
                  </a:cubicBezTo>
                  <a:cubicBezTo>
                    <a:pt x="4764087" y="1427468"/>
                    <a:pt x="4770610" y="1421405"/>
                    <a:pt x="4776426" y="1416839"/>
                  </a:cubicBezTo>
                  <a:cubicBezTo>
                    <a:pt x="4782947" y="1410778"/>
                    <a:pt x="4788764" y="1406212"/>
                    <a:pt x="4795286" y="1400147"/>
                  </a:cubicBezTo>
                  <a:cubicBezTo>
                    <a:pt x="4800001" y="1395977"/>
                    <a:pt x="4804322" y="1390703"/>
                    <a:pt x="4810137" y="1386137"/>
                  </a:cubicBezTo>
                  <a:cubicBezTo>
                    <a:pt x="4817760" y="1379680"/>
                    <a:pt x="4823888" y="1372519"/>
                    <a:pt x="4831117" y="1364964"/>
                  </a:cubicBezTo>
                  <a:cubicBezTo>
                    <a:pt x="4834730" y="1361184"/>
                    <a:pt x="4838346" y="1357406"/>
                    <a:pt x="4840860" y="1354021"/>
                  </a:cubicBezTo>
                  <a:cubicBezTo>
                    <a:pt x="4849193" y="1346070"/>
                    <a:pt x="4857125" y="1337018"/>
                    <a:pt x="4863961" y="1328360"/>
                  </a:cubicBezTo>
                  <a:cubicBezTo>
                    <a:pt x="4865766" y="1326472"/>
                    <a:pt x="4867574" y="1324583"/>
                    <a:pt x="4870088" y="1321200"/>
                  </a:cubicBezTo>
                  <a:cubicBezTo>
                    <a:pt x="4878728" y="1310652"/>
                    <a:pt x="4887371" y="1300106"/>
                    <a:pt x="4896014" y="1289559"/>
                  </a:cubicBezTo>
                  <a:cubicBezTo>
                    <a:pt x="4897114" y="1289165"/>
                    <a:pt x="4896719" y="1288064"/>
                    <a:pt x="4897821" y="1287670"/>
                  </a:cubicBezTo>
                  <a:cubicBezTo>
                    <a:pt x="4966561" y="1202197"/>
                    <a:pt x="5020976" y="1104470"/>
                    <a:pt x="5057450" y="998264"/>
                  </a:cubicBezTo>
                  <a:cubicBezTo>
                    <a:pt x="5058157" y="996769"/>
                    <a:pt x="5057764" y="995667"/>
                    <a:pt x="5058864" y="995272"/>
                  </a:cubicBezTo>
                  <a:cubicBezTo>
                    <a:pt x="5064121" y="982212"/>
                    <a:pt x="5067885" y="968446"/>
                    <a:pt x="5071648" y="954679"/>
                  </a:cubicBezTo>
                  <a:cubicBezTo>
                    <a:pt x="5074784" y="946105"/>
                    <a:pt x="5076429" y="936823"/>
                    <a:pt x="5079173" y="927146"/>
                  </a:cubicBezTo>
                  <a:cubicBezTo>
                    <a:pt x="5080899" y="921560"/>
                    <a:pt x="5082622" y="915975"/>
                    <a:pt x="5083957" y="909288"/>
                  </a:cubicBezTo>
                  <a:cubicBezTo>
                    <a:pt x="5112166" y="797349"/>
                    <a:pt x="5121027" y="679920"/>
                    <a:pt x="5108021" y="560388"/>
                  </a:cubicBezTo>
                  <a:cubicBezTo>
                    <a:pt x="5107152" y="554489"/>
                    <a:pt x="5106676" y="549692"/>
                    <a:pt x="5105806" y="543796"/>
                  </a:cubicBezTo>
                  <a:cubicBezTo>
                    <a:pt x="5104459" y="533101"/>
                    <a:pt x="5103505" y="523507"/>
                    <a:pt x="5102161" y="512811"/>
                  </a:cubicBezTo>
                  <a:cubicBezTo>
                    <a:pt x="5099632" y="498815"/>
                    <a:pt x="5097495" y="485918"/>
                    <a:pt x="5094968" y="471920"/>
                  </a:cubicBezTo>
                  <a:cubicBezTo>
                    <a:pt x="5094177" y="469719"/>
                    <a:pt x="5094490" y="467124"/>
                    <a:pt x="5093701" y="464923"/>
                  </a:cubicBezTo>
                  <a:cubicBezTo>
                    <a:pt x="5088809" y="444322"/>
                    <a:pt x="5084307" y="424822"/>
                    <a:pt x="5079413" y="404220"/>
                  </a:cubicBezTo>
                  <a:cubicBezTo>
                    <a:pt x="5076965" y="393920"/>
                    <a:pt x="5073416" y="384013"/>
                    <a:pt x="5070968" y="373712"/>
                  </a:cubicBezTo>
                  <a:cubicBezTo>
                    <a:pt x="5069391" y="369309"/>
                    <a:pt x="5068209" y="366008"/>
                    <a:pt x="5066632" y="361605"/>
                  </a:cubicBezTo>
                  <a:cubicBezTo>
                    <a:pt x="5026294" y="235098"/>
                    <a:pt x="4962587" y="122236"/>
                    <a:pt x="4881590" y="26123"/>
                  </a:cubicBezTo>
                  <a:lnTo>
                    <a:pt x="4854976" y="2"/>
                  </a:lnTo>
                  <a:lnTo>
                    <a:pt x="4460159" y="2"/>
                  </a:lnTo>
                  <a:lnTo>
                    <a:pt x="4428380" y="6356"/>
                  </a:lnTo>
                  <a:close/>
                </a:path>
              </a:pathLst>
            </a:custGeom>
            <a:solidFill>
              <a:schemeClr val="accent1"/>
            </a:solidFill>
            <a:ln w="9525" cap="flat">
              <a:noFill/>
              <a:prstDash val="solid"/>
              <a:miter/>
            </a:ln>
          </p:spPr>
          <p:txBody>
            <a:bodyPr rtlCol="0" anchor="ctr"/>
            <a:lstStyle/>
            <a:p>
              <a:endParaRPr lang="de-DE"/>
            </a:p>
          </p:txBody>
        </p:sp>
      </p:grpSp>
    </p:spTree>
    <p:extLst>
      <p:ext uri="{BB962C8B-B14F-4D97-AF65-F5344CB8AC3E}">
        <p14:creationId xmlns:p14="http://schemas.microsoft.com/office/powerpoint/2010/main" val="3482716609"/>
      </p:ext>
    </p:extLst>
  </p:cSld>
  <p:clrMapOvr>
    <a:masterClrMapping/>
  </p:clrMapOvr>
  <p:extLst>
    <p:ext uri="{DCECCB84-F9BA-43D5-87BE-67443E8EF086}">
      <p15:sldGuideLst xmlns:p15="http://schemas.microsoft.com/office/powerpoint/2012/main">
        <p15:guide id="2" orient="horz" pos="3521">
          <p15:clr>
            <a:srgbClr val="FBAE40"/>
          </p15:clr>
        </p15:guide>
        <p15:guide id="3" pos="3749">
          <p15:clr>
            <a:srgbClr val="FBAE40"/>
          </p15:clr>
        </p15:guide>
        <p15:guide id="4" orient="horz" pos="2795">
          <p15:clr>
            <a:srgbClr val="FBAE40"/>
          </p15:clr>
        </p15:guide>
        <p15:guide id="5" orient="horz" pos="1253">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sp>
        <p:nvSpPr>
          <p:cNvPr id="28" name="Rectangle 5">
            <a:extLst>
              <a:ext uri="{FF2B5EF4-FFF2-40B4-BE49-F238E27FC236}">
                <a16:creationId xmlns:a16="http://schemas.microsoft.com/office/drawing/2014/main" id="{93CCD95C-EF50-4937-B31B-5AE1A346217B}"/>
              </a:ext>
            </a:extLst>
          </p:cNvPr>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 Placeholder 16"/>
          <p:cNvSpPr>
            <a:spLocks noGrp="1"/>
          </p:cNvSpPr>
          <p:nvPr>
            <p:ph type="body" sz="quarter" idx="13" hasCustomPrompt="1"/>
          </p:nvPr>
        </p:nvSpPr>
        <p:spPr bwMode="gray">
          <a:xfrm>
            <a:off x="5951538" y="1989138"/>
            <a:ext cx="5617069" cy="1251710"/>
          </a:xfrm>
          <a:prstGeom prst="rect">
            <a:avLst/>
          </a:prstGeom>
        </p:spPr>
        <p:txBody>
          <a:bodyPr wrap="none" tIns="0" bIns="216000" anchor="ctr"/>
          <a:lstStyle>
            <a:lvl1pPr marL="0" indent="0" algn="l">
              <a:buFont typeface="Arial" panose="020B0604020202020204" pitchFamily="34" charset="0"/>
              <a:buNone/>
              <a:defRPr sz="11500" b="0">
                <a:ln>
                  <a:noFill/>
                </a:ln>
                <a:solidFill>
                  <a:schemeClr val="bg2"/>
                </a:solidFill>
                <a:latin typeface="Merck" panose="04040805020F02020302" pitchFamily="82" charset="0"/>
              </a:defRPr>
            </a:lvl1pPr>
            <a:lvl2pPr marL="0" indent="0">
              <a:spcBef>
                <a:spcPts val="600"/>
              </a:spcBef>
              <a:buFont typeface="Arial" panose="020B0604020202020204" pitchFamily="34" charset="0"/>
              <a:buNone/>
              <a:defRPr sz="5000" b="0">
                <a:ln>
                  <a:solidFill>
                    <a:schemeClr val="bg2"/>
                  </a:solidFill>
                </a:ln>
                <a:noFill/>
                <a:latin typeface="Merck" panose="04040805020F02020302" pitchFamily="82" charset="0"/>
              </a:defRPr>
            </a:lvl2pPr>
            <a:lvl3pPr marL="0" indent="0">
              <a:spcBef>
                <a:spcPts val="600"/>
              </a:spcBef>
              <a:buNone/>
              <a:defRPr sz="5000" b="0">
                <a:ln>
                  <a:solidFill>
                    <a:schemeClr val="bg2"/>
                  </a:solidFill>
                </a:ln>
                <a:noFill/>
                <a:latin typeface="Merck" panose="04040805020F02020302" pitchFamily="82" charset="0"/>
              </a:defRPr>
            </a:lvl3pPr>
            <a:lvl4pPr marL="0" indent="0">
              <a:spcBef>
                <a:spcPts val="600"/>
              </a:spcBef>
              <a:buNone/>
              <a:defRPr sz="5000" b="0">
                <a:ln>
                  <a:solidFill>
                    <a:schemeClr val="bg2"/>
                  </a:solidFill>
                </a:ln>
                <a:noFill/>
                <a:latin typeface="Merck" panose="04040805020F02020302" pitchFamily="82" charset="0"/>
              </a:defRPr>
            </a:lvl4pPr>
            <a:lvl5pPr marL="0" indent="0">
              <a:spcBef>
                <a:spcPts val="600"/>
              </a:spcBef>
              <a:buNone/>
              <a:defRPr sz="5000" b="0">
                <a:ln>
                  <a:solidFill>
                    <a:schemeClr val="bg2"/>
                  </a:solidFill>
                </a:ln>
                <a:noFill/>
                <a:latin typeface="Merck" panose="04040805020F02020302" pitchFamily="82" charset="0"/>
              </a:defRPr>
            </a:lvl5pPr>
            <a:lvl6pPr marL="0" indent="0">
              <a:spcBef>
                <a:spcPts val="600"/>
              </a:spcBef>
              <a:buNone/>
              <a:defRPr sz="5000" b="0">
                <a:ln>
                  <a:solidFill>
                    <a:schemeClr val="bg2"/>
                  </a:solidFill>
                </a:ln>
                <a:noFill/>
                <a:latin typeface="Merck" panose="04040805020F02020302" pitchFamily="82" charset="0"/>
              </a:defRPr>
            </a:lvl6pPr>
            <a:lvl7pPr marL="0" indent="0">
              <a:spcBef>
                <a:spcPts val="600"/>
              </a:spcBef>
              <a:buNone/>
              <a:defRPr sz="5000" b="0">
                <a:ln>
                  <a:solidFill>
                    <a:schemeClr val="bg2"/>
                  </a:solidFill>
                </a:ln>
                <a:noFill/>
                <a:latin typeface="Merck" panose="04040805020F02020302" pitchFamily="82" charset="0"/>
              </a:defRPr>
            </a:lvl7pPr>
            <a:lvl8pPr marL="0" indent="0">
              <a:spcBef>
                <a:spcPts val="600"/>
              </a:spcBef>
              <a:buNone/>
              <a:defRPr sz="5000" b="0">
                <a:ln>
                  <a:solidFill>
                    <a:schemeClr val="bg2"/>
                  </a:solidFill>
                </a:ln>
                <a:noFill/>
                <a:latin typeface="Merck" panose="04040805020F02020302" pitchFamily="82" charset="0"/>
              </a:defRPr>
            </a:lvl8pPr>
            <a:lvl9pPr marL="0" indent="0">
              <a:spcBef>
                <a:spcPts val="600"/>
              </a:spcBef>
              <a:buNone/>
              <a:defRPr sz="5000" b="0">
                <a:ln>
                  <a:solidFill>
                    <a:schemeClr val="bg2"/>
                  </a:solidFill>
                </a:ln>
                <a:noFill/>
                <a:latin typeface="Merck" panose="04040805020F02020302" pitchFamily="82" charset="0"/>
              </a:defRPr>
            </a:lvl9pPr>
          </a:lstStyle>
          <a:p>
            <a:pPr lvl="0"/>
            <a:r>
              <a:rPr lang="en-US" dirty="0"/>
              <a:t>00</a:t>
            </a:r>
          </a:p>
        </p:txBody>
      </p:sp>
      <p:sp>
        <p:nvSpPr>
          <p:cNvPr id="2" name="Title 1"/>
          <p:cNvSpPr>
            <a:spLocks noGrp="1"/>
          </p:cNvSpPr>
          <p:nvPr>
            <p:ph type="title" hasCustomPrompt="1"/>
          </p:nvPr>
        </p:nvSpPr>
        <p:spPr bwMode="gray">
          <a:xfrm>
            <a:off x="5951538" y="3356992"/>
            <a:ext cx="5617070" cy="2232000"/>
          </a:xfrm>
          <a:prstGeom prst="rect">
            <a:avLst/>
          </a:prstGeom>
          <a:noFill/>
        </p:spPr>
        <p:txBody>
          <a:bodyPr tIns="72000" bIns="0" anchor="t" anchorCtr="0"/>
          <a:lstStyle>
            <a:lvl1pPr>
              <a:lnSpc>
                <a:spcPct val="100000"/>
              </a:lnSpc>
              <a:defRPr sz="3600" b="0" cap="none" baseline="0">
                <a:solidFill>
                  <a:schemeClr val="accent1"/>
                </a:solidFill>
                <a:latin typeface="Merck" panose="04040805020F02020302" pitchFamily="82" charset="0"/>
              </a:defRPr>
            </a:lvl1pPr>
          </a:lstStyle>
          <a:p>
            <a:pPr lvl="0"/>
            <a:r>
              <a:rPr lang="en-US" noProof="0" dirty="0"/>
              <a:t>Chapter name </a:t>
            </a:r>
            <a:br>
              <a:rPr lang="en-US" noProof="0" dirty="0"/>
            </a:br>
            <a:r>
              <a:rPr lang="en-US" noProof="0" dirty="0"/>
              <a:t>in two lines </a:t>
            </a:r>
          </a:p>
        </p:txBody>
      </p:sp>
      <p:grpSp>
        <p:nvGrpSpPr>
          <p:cNvPr id="22" name="Group 9">
            <a:extLst>
              <a:ext uri="{FF2B5EF4-FFF2-40B4-BE49-F238E27FC236}">
                <a16:creationId xmlns:a16="http://schemas.microsoft.com/office/drawing/2014/main" id="{F1287BCB-FB34-41B7-927D-F95F9B409E5C}"/>
              </a:ext>
            </a:extLst>
          </p:cNvPr>
          <p:cNvGrpSpPr>
            <a:grpSpLocks noChangeAspect="1"/>
          </p:cNvGrpSpPr>
          <p:nvPr userDrawn="1">
            <p:custDataLst>
              <p:tags r:id="rId2"/>
            </p:custDataLst>
          </p:nvPr>
        </p:nvGrpSpPr>
        <p:grpSpPr bwMode="gray">
          <a:xfrm>
            <a:off x="10539522" y="6440320"/>
            <a:ext cx="1028592" cy="162000"/>
            <a:chOff x="-4548188" y="3063875"/>
            <a:chExt cx="2741613" cy="431800"/>
          </a:xfrm>
          <a:solidFill>
            <a:schemeClr val="bg2"/>
          </a:solidFill>
        </p:grpSpPr>
        <p:sp>
          <p:nvSpPr>
            <p:cNvPr id="23" name="Freeform 9">
              <a:extLst>
                <a:ext uri="{FF2B5EF4-FFF2-40B4-BE49-F238E27FC236}">
                  <a16:creationId xmlns:a16="http://schemas.microsoft.com/office/drawing/2014/main" id="{4EE73A32-570C-436C-B4CC-D1AF2F5700F5}"/>
                </a:ext>
              </a:extLst>
            </p:cNvPr>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3">
              <a:extLst>
                <a:ext uri="{FF2B5EF4-FFF2-40B4-BE49-F238E27FC236}">
                  <a16:creationId xmlns:a16="http://schemas.microsoft.com/office/drawing/2014/main" id="{12562D50-892E-410A-BB2F-36E111F83459}"/>
                </a:ext>
              </a:extLst>
            </p:cNvPr>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0">
              <a:extLst>
                <a:ext uri="{FF2B5EF4-FFF2-40B4-BE49-F238E27FC236}">
                  <a16:creationId xmlns:a16="http://schemas.microsoft.com/office/drawing/2014/main" id="{DC9AF8D9-AA94-4445-B08E-957E3FDEC0D2}"/>
                </a:ext>
              </a:extLst>
            </p:cNvP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1">
              <a:extLst>
                <a:ext uri="{FF2B5EF4-FFF2-40B4-BE49-F238E27FC236}">
                  <a16:creationId xmlns:a16="http://schemas.microsoft.com/office/drawing/2014/main" id="{FE7088EE-EAD6-4413-9188-C1E3D6D9C252}"/>
                </a:ext>
              </a:extLst>
            </p:cNvPr>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2">
              <a:extLst>
                <a:ext uri="{FF2B5EF4-FFF2-40B4-BE49-F238E27FC236}">
                  <a16:creationId xmlns:a16="http://schemas.microsoft.com/office/drawing/2014/main" id="{C79EEEA4-105C-4D6D-886B-6270CD048E24}"/>
                </a:ext>
              </a:extLst>
            </p:cNvPr>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Bildplatzhalter 29">
            <a:extLst>
              <a:ext uri="{FF2B5EF4-FFF2-40B4-BE49-F238E27FC236}">
                <a16:creationId xmlns:a16="http://schemas.microsoft.com/office/drawing/2014/main" id="{107B3E67-BCD7-4A8D-BD56-42469EF07EC4}"/>
              </a:ext>
            </a:extLst>
          </p:cNvPr>
          <p:cNvSpPr>
            <a:spLocks noGrp="1"/>
          </p:cNvSpPr>
          <p:nvPr>
            <p:ph type="pic" sz="quarter" idx="20" hasCustomPrompt="1"/>
          </p:nvPr>
        </p:nvSpPr>
        <p:spPr bwMode="gray">
          <a:xfrm>
            <a:off x="1" y="1"/>
            <a:ext cx="5436634" cy="6513131"/>
          </a:xfrm>
          <a:custGeom>
            <a:avLst/>
            <a:gdLst>
              <a:gd name="connsiteX0" fmla="*/ 0 w 5436634"/>
              <a:gd name="connsiteY0" fmla="*/ 0 h 6513131"/>
              <a:gd name="connsiteX1" fmla="*/ 1125049 w 5436634"/>
              <a:gd name="connsiteY1" fmla="*/ 0 h 6513131"/>
              <a:gd name="connsiteX2" fmla="*/ 1121077 w 5436634"/>
              <a:gd name="connsiteY2" fmla="*/ 13953 h 6513131"/>
              <a:gd name="connsiteX3" fmla="*/ 1171064 w 5436634"/>
              <a:gd name="connsiteY3" fmla="*/ 404174 h 6513131"/>
              <a:gd name="connsiteX4" fmla="*/ 1182174 w 5436634"/>
              <a:gd name="connsiteY4" fmla="*/ 426501 h 6513131"/>
              <a:gd name="connsiteX5" fmla="*/ 1966324 w 5436634"/>
              <a:gd name="connsiteY5" fmla="*/ 818439 h 6513131"/>
              <a:gd name="connsiteX6" fmla="*/ 1986932 w 5436634"/>
              <a:gd name="connsiteY6" fmla="*/ 813849 h 6513131"/>
              <a:gd name="connsiteX7" fmla="*/ 2760381 w 5436634"/>
              <a:gd name="connsiteY7" fmla="*/ 764293 h 6513131"/>
              <a:gd name="connsiteX8" fmla="*/ 3605485 w 5436634"/>
              <a:gd name="connsiteY8" fmla="*/ 955909 h 6513131"/>
              <a:gd name="connsiteX9" fmla="*/ 3619514 w 5436634"/>
              <a:gd name="connsiteY9" fmla="*/ 961330 h 6513131"/>
              <a:gd name="connsiteX10" fmla="*/ 3781704 w 5436634"/>
              <a:gd name="connsiteY10" fmla="*/ 1031411 h 6513131"/>
              <a:gd name="connsiteX11" fmla="*/ 3808893 w 5436634"/>
              <a:gd name="connsiteY11" fmla="*/ 1044176 h 6513131"/>
              <a:gd name="connsiteX12" fmla="*/ 3851389 w 5436634"/>
              <a:gd name="connsiteY12" fmla="*/ 1065341 h 6513131"/>
              <a:gd name="connsiteX13" fmla="*/ 3882121 w 5436634"/>
              <a:gd name="connsiteY13" fmla="*/ 1081104 h 6513131"/>
              <a:gd name="connsiteX14" fmla="*/ 3923204 w 5436634"/>
              <a:gd name="connsiteY14" fmla="*/ 1102594 h 6513131"/>
              <a:gd name="connsiteX15" fmla="*/ 3952301 w 5436634"/>
              <a:gd name="connsiteY15" fmla="*/ 1118492 h 6513131"/>
              <a:gd name="connsiteX16" fmla="*/ 4028812 w 5436634"/>
              <a:gd name="connsiteY16" fmla="*/ 1162762 h 6513131"/>
              <a:gd name="connsiteX17" fmla="*/ 4053940 w 5436634"/>
              <a:gd name="connsiteY17" fmla="*/ 1177961 h 6513131"/>
              <a:gd name="connsiteX18" fmla="*/ 4099277 w 5436634"/>
              <a:gd name="connsiteY18" fmla="*/ 1206092 h 6513131"/>
              <a:gd name="connsiteX19" fmla="*/ 4118601 w 5436634"/>
              <a:gd name="connsiteY19" fmla="*/ 1218275 h 6513131"/>
              <a:gd name="connsiteX20" fmla="*/ 5073708 w 5436634"/>
              <a:gd name="connsiteY20" fmla="*/ 2239847 h 6513131"/>
              <a:gd name="connsiteX21" fmla="*/ 5091422 w 5436634"/>
              <a:gd name="connsiteY21" fmla="*/ 2272328 h 6513131"/>
              <a:gd name="connsiteX22" fmla="*/ 5108951 w 5436634"/>
              <a:gd name="connsiteY22" fmla="*/ 2305030 h 6513131"/>
              <a:gd name="connsiteX23" fmla="*/ 5144854 w 5436634"/>
              <a:gd name="connsiteY23" fmla="*/ 2375711 h 6513131"/>
              <a:gd name="connsiteX24" fmla="*/ 5147291 w 5436634"/>
              <a:gd name="connsiteY24" fmla="*/ 2377774 h 6513131"/>
              <a:gd name="connsiteX25" fmla="*/ 5377111 w 5436634"/>
              <a:gd name="connsiteY25" fmla="*/ 4215472 h 6513131"/>
              <a:gd name="connsiteX26" fmla="*/ 5374022 w 5436634"/>
              <a:gd name="connsiteY26" fmla="*/ 4230337 h 6513131"/>
              <a:gd name="connsiteX27" fmla="*/ 5364896 w 5436634"/>
              <a:gd name="connsiteY27" fmla="*/ 4271627 h 6513131"/>
              <a:gd name="connsiteX28" fmla="*/ 5357442 w 5436634"/>
              <a:gd name="connsiteY28" fmla="*/ 4303315 h 6513131"/>
              <a:gd name="connsiteX29" fmla="*/ 5351081 w 5436634"/>
              <a:gd name="connsiteY29" fmla="*/ 4328329 h 6513131"/>
              <a:gd name="connsiteX30" fmla="*/ 5338940 w 5436634"/>
              <a:gd name="connsiteY30" fmla="*/ 4375424 h 6513131"/>
              <a:gd name="connsiteX31" fmla="*/ 5336569 w 5436634"/>
              <a:gd name="connsiteY31" fmla="*/ 4384058 h 6513131"/>
              <a:gd name="connsiteX32" fmla="*/ 4578884 w 5436634"/>
              <a:gd name="connsiteY32" fmla="*/ 5682700 h 6513131"/>
              <a:gd name="connsiteX33" fmla="*/ 4304766 w 5436634"/>
              <a:gd name="connsiteY33" fmla="*/ 5920252 h 6513131"/>
              <a:gd name="connsiteX34" fmla="*/ 4300457 w 5436634"/>
              <a:gd name="connsiteY34" fmla="*/ 5925342 h 6513131"/>
              <a:gd name="connsiteX35" fmla="*/ 4249885 w 5436634"/>
              <a:gd name="connsiteY35" fmla="*/ 5963076 h 6513131"/>
              <a:gd name="connsiteX36" fmla="*/ 4246885 w 5436634"/>
              <a:gd name="connsiteY36" fmla="*/ 5966618 h 6513131"/>
              <a:gd name="connsiteX37" fmla="*/ 4232887 w 5436634"/>
              <a:gd name="connsiteY37" fmla="*/ 5976422 h 6513131"/>
              <a:gd name="connsiteX38" fmla="*/ 4183456 w 5436634"/>
              <a:gd name="connsiteY38" fmla="*/ 6010563 h 6513131"/>
              <a:gd name="connsiteX39" fmla="*/ 4143887 w 5436634"/>
              <a:gd name="connsiteY39" fmla="*/ 6037093 h 6513131"/>
              <a:gd name="connsiteX40" fmla="*/ 4125152 w 5436634"/>
              <a:gd name="connsiteY40" fmla="*/ 6049348 h 6513131"/>
              <a:gd name="connsiteX41" fmla="*/ 2790247 w 5436634"/>
              <a:gd name="connsiteY41" fmla="*/ 6503914 h 6513131"/>
              <a:gd name="connsiteX42" fmla="*/ 2774307 w 5436634"/>
              <a:gd name="connsiteY42" fmla="*/ 6505236 h 6513131"/>
              <a:gd name="connsiteX43" fmla="*/ 2715985 w 5436634"/>
              <a:gd name="connsiteY43" fmla="*/ 6509045 h 6513131"/>
              <a:gd name="connsiteX44" fmla="*/ 2696297 w 5436634"/>
              <a:gd name="connsiteY44" fmla="*/ 6509856 h 6513131"/>
              <a:gd name="connsiteX45" fmla="*/ 2588522 w 5436634"/>
              <a:gd name="connsiteY45" fmla="*/ 6512830 h 6513131"/>
              <a:gd name="connsiteX46" fmla="*/ 2570028 w 5436634"/>
              <a:gd name="connsiteY46" fmla="*/ 6513131 h 6513131"/>
              <a:gd name="connsiteX47" fmla="*/ 2519573 w 5436634"/>
              <a:gd name="connsiteY47" fmla="*/ 6512584 h 6513131"/>
              <a:gd name="connsiteX48" fmla="*/ 2489687 w 5436634"/>
              <a:gd name="connsiteY48" fmla="*/ 6511974 h 6513131"/>
              <a:gd name="connsiteX49" fmla="*/ 2438941 w 5436634"/>
              <a:gd name="connsiteY49" fmla="*/ 6510425 h 6513131"/>
              <a:gd name="connsiteX50" fmla="*/ 2413927 w 5436634"/>
              <a:gd name="connsiteY50" fmla="*/ 6509004 h 6513131"/>
              <a:gd name="connsiteX51" fmla="*/ 2232220 w 5436634"/>
              <a:gd name="connsiteY51" fmla="*/ 6493830 h 6513131"/>
              <a:gd name="connsiteX52" fmla="*/ 2220160 w 5436634"/>
              <a:gd name="connsiteY52" fmla="*/ 6492362 h 6513131"/>
              <a:gd name="connsiteX53" fmla="*/ 725542 w 5436634"/>
              <a:gd name="connsiteY53" fmla="*/ 5852579 h 6513131"/>
              <a:gd name="connsiteX54" fmla="*/ 709609 w 5436634"/>
              <a:gd name="connsiteY54" fmla="*/ 5839087 h 6513131"/>
              <a:gd name="connsiteX55" fmla="*/ 46105 w 5436634"/>
              <a:gd name="connsiteY55" fmla="*/ 5707934 h 6513131"/>
              <a:gd name="connsiteX56" fmla="*/ 0 w 5436634"/>
              <a:gd name="connsiteY56" fmla="*/ 5726184 h 6513131"/>
              <a:gd name="connsiteX57" fmla="*/ 0 w 5436634"/>
              <a:gd name="connsiteY57" fmla="*/ 2312242 h 6513131"/>
              <a:gd name="connsiteX58" fmla="*/ 26070 w 5436634"/>
              <a:gd name="connsiteY58" fmla="*/ 2262510 h 6513131"/>
              <a:gd name="connsiteX59" fmla="*/ 30861 w 5436634"/>
              <a:gd name="connsiteY59" fmla="*/ 2253265 h 6513131"/>
              <a:gd name="connsiteX60" fmla="*/ 69455 w 5436634"/>
              <a:gd name="connsiteY60" fmla="*/ 2185250 h 6513131"/>
              <a:gd name="connsiteX61" fmla="*/ 78112 w 5436634"/>
              <a:gd name="connsiteY61" fmla="*/ 2170540 h 6513131"/>
              <a:gd name="connsiteX62" fmla="*/ 114491 w 5436634"/>
              <a:gd name="connsiteY62" fmla="*/ 2110527 h 6513131"/>
              <a:gd name="connsiteX63" fmla="*/ 128479 w 5436634"/>
              <a:gd name="connsiteY63" fmla="*/ 2088174 h 6513131"/>
              <a:gd name="connsiteX64" fmla="*/ 161143 w 5436634"/>
              <a:gd name="connsiteY64" fmla="*/ 2037932 h 6513131"/>
              <a:gd name="connsiteX65" fmla="*/ 174296 w 5436634"/>
              <a:gd name="connsiteY65" fmla="*/ 2017914 h 6513131"/>
              <a:gd name="connsiteX66" fmla="*/ 183292 w 5436634"/>
              <a:gd name="connsiteY66" fmla="*/ 2007290 h 6513131"/>
              <a:gd name="connsiteX67" fmla="*/ 211795 w 5436634"/>
              <a:gd name="connsiteY67" fmla="*/ 1966448 h 6513131"/>
              <a:gd name="connsiteX68" fmla="*/ 241679 w 5436634"/>
              <a:gd name="connsiteY68" fmla="*/ 1924875 h 6513131"/>
              <a:gd name="connsiteX69" fmla="*/ 262278 w 5436634"/>
              <a:gd name="connsiteY69" fmla="*/ 1897859 h 6513131"/>
              <a:gd name="connsiteX70" fmla="*/ 303881 w 5436634"/>
              <a:gd name="connsiteY70" fmla="*/ 1843788 h 6513131"/>
              <a:gd name="connsiteX71" fmla="*/ 313438 w 5436634"/>
              <a:gd name="connsiteY71" fmla="*/ 1832502 h 6513131"/>
              <a:gd name="connsiteX72" fmla="*/ 692542 w 5436634"/>
              <a:gd name="connsiteY72" fmla="*/ 1441798 h 6513131"/>
              <a:gd name="connsiteX73" fmla="*/ 708725 w 5436634"/>
              <a:gd name="connsiteY73" fmla="*/ 1428521 h 6513131"/>
              <a:gd name="connsiteX74" fmla="*/ 885820 w 5436634"/>
              <a:gd name="connsiteY74" fmla="*/ 569604 h 6513131"/>
              <a:gd name="connsiteX75" fmla="*/ 874929 w 5436634"/>
              <a:gd name="connsiteY75" fmla="*/ 547463 h 6513131"/>
              <a:gd name="connsiteX76" fmla="*/ 312047 w 5436634"/>
              <a:gd name="connsiteY76" fmla="*/ 200556 h 6513131"/>
              <a:gd name="connsiteX77" fmla="*/ 210351 w 5436634"/>
              <a:gd name="connsiteY77" fmla="*/ 210419 h 6513131"/>
              <a:gd name="connsiteX78" fmla="*/ 193952 w 5436634"/>
              <a:gd name="connsiteY78" fmla="*/ 213631 h 6513131"/>
              <a:gd name="connsiteX79" fmla="*/ 30818 w 5436634"/>
              <a:gd name="connsiteY79" fmla="*/ 239912 h 6513131"/>
              <a:gd name="connsiteX80" fmla="*/ 0 w 5436634"/>
              <a:gd name="connsiteY80" fmla="*/ 242786 h 6513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36634" h="6513131">
                <a:moveTo>
                  <a:pt x="0" y="0"/>
                </a:moveTo>
                <a:lnTo>
                  <a:pt x="1125049" y="0"/>
                </a:lnTo>
                <a:lnTo>
                  <a:pt x="1121077" y="13953"/>
                </a:lnTo>
                <a:cubicBezTo>
                  <a:pt x="1095309" y="142714"/>
                  <a:pt x="1110594" y="279706"/>
                  <a:pt x="1171064" y="404174"/>
                </a:cubicBezTo>
                <a:lnTo>
                  <a:pt x="1182174" y="426501"/>
                </a:lnTo>
                <a:cubicBezTo>
                  <a:pt x="1324484" y="719754"/>
                  <a:pt x="1646235" y="880528"/>
                  <a:pt x="1966324" y="818439"/>
                </a:cubicBezTo>
                <a:cubicBezTo>
                  <a:pt x="1973204" y="817045"/>
                  <a:pt x="1980085" y="815652"/>
                  <a:pt x="1986932" y="813849"/>
                </a:cubicBezTo>
                <a:cubicBezTo>
                  <a:pt x="2241383" y="762411"/>
                  <a:pt x="2501450" y="745632"/>
                  <a:pt x="2760381" y="764293"/>
                </a:cubicBezTo>
                <a:cubicBezTo>
                  <a:pt x="3050000" y="785307"/>
                  <a:pt x="3334971" y="849957"/>
                  <a:pt x="3605485" y="955909"/>
                </a:cubicBezTo>
                <a:cubicBezTo>
                  <a:pt x="3610148" y="957578"/>
                  <a:pt x="3614627" y="959470"/>
                  <a:pt x="3619514" y="961330"/>
                </a:cubicBezTo>
                <a:cubicBezTo>
                  <a:pt x="3674185" y="982923"/>
                  <a:pt x="3727510" y="1005661"/>
                  <a:pt x="3781704" y="1031411"/>
                </a:cubicBezTo>
                <a:lnTo>
                  <a:pt x="3808893" y="1044176"/>
                </a:lnTo>
                <a:lnTo>
                  <a:pt x="3851389" y="1065341"/>
                </a:lnTo>
                <a:lnTo>
                  <a:pt x="3882121" y="1081104"/>
                </a:lnTo>
                <a:cubicBezTo>
                  <a:pt x="3896764" y="1088944"/>
                  <a:pt x="3913518" y="1097431"/>
                  <a:pt x="3923204" y="1102594"/>
                </a:cubicBezTo>
                <a:cubicBezTo>
                  <a:pt x="3932892" y="1107758"/>
                  <a:pt x="3942392" y="1113142"/>
                  <a:pt x="3952301" y="1118492"/>
                </a:cubicBezTo>
                <a:cubicBezTo>
                  <a:pt x="3977993" y="1133027"/>
                  <a:pt x="4003684" y="1147562"/>
                  <a:pt x="4028812" y="1162762"/>
                </a:cubicBezTo>
                <a:cubicBezTo>
                  <a:pt x="4037903" y="1168180"/>
                  <a:pt x="4045920" y="1173070"/>
                  <a:pt x="4053940" y="1177961"/>
                </a:cubicBezTo>
                <a:cubicBezTo>
                  <a:pt x="4069314" y="1187179"/>
                  <a:pt x="4084500" y="1196619"/>
                  <a:pt x="4099277" y="1206092"/>
                </a:cubicBezTo>
                <a:cubicBezTo>
                  <a:pt x="4105781" y="1210079"/>
                  <a:pt x="4112847" y="1213403"/>
                  <a:pt x="4118601" y="1218275"/>
                </a:cubicBezTo>
                <a:cubicBezTo>
                  <a:pt x="4516456" y="1474502"/>
                  <a:pt x="4844670" y="1825541"/>
                  <a:pt x="5073708" y="2239847"/>
                </a:cubicBezTo>
                <a:cubicBezTo>
                  <a:pt x="5079747" y="2250662"/>
                  <a:pt x="5085380" y="2261511"/>
                  <a:pt x="5091422" y="2272328"/>
                </a:cubicBezTo>
                <a:cubicBezTo>
                  <a:pt x="5097465" y="2283143"/>
                  <a:pt x="5103318" y="2294181"/>
                  <a:pt x="5108951" y="2305030"/>
                </a:cubicBezTo>
                <a:cubicBezTo>
                  <a:pt x="5121202" y="2328705"/>
                  <a:pt x="5133232" y="2352191"/>
                  <a:pt x="5144854" y="2375711"/>
                </a:cubicBezTo>
                <a:lnTo>
                  <a:pt x="5147291" y="2377774"/>
                </a:lnTo>
                <a:cubicBezTo>
                  <a:pt x="5424723" y="2948083"/>
                  <a:pt x="5505616" y="3594325"/>
                  <a:pt x="5377111" y="4215472"/>
                </a:cubicBezTo>
                <a:lnTo>
                  <a:pt x="5374022" y="4230337"/>
                </a:lnTo>
                <a:lnTo>
                  <a:pt x="5364896" y="4271627"/>
                </a:lnTo>
                <a:lnTo>
                  <a:pt x="5357442" y="4303315"/>
                </a:lnTo>
                <a:lnTo>
                  <a:pt x="5351081" y="4328329"/>
                </a:lnTo>
                <a:lnTo>
                  <a:pt x="5338940" y="4375424"/>
                </a:lnTo>
                <a:lnTo>
                  <a:pt x="5336569" y="4384058"/>
                </a:lnTo>
                <a:cubicBezTo>
                  <a:pt x="5204339" y="4876771"/>
                  <a:pt x="4942799" y="5325189"/>
                  <a:pt x="4578884" y="5682700"/>
                </a:cubicBezTo>
                <a:cubicBezTo>
                  <a:pt x="4492517" y="5767641"/>
                  <a:pt x="4400957" y="5847046"/>
                  <a:pt x="4304766" y="5920252"/>
                </a:cubicBezTo>
                <a:lnTo>
                  <a:pt x="4300457" y="5925342"/>
                </a:lnTo>
                <a:lnTo>
                  <a:pt x="4249885" y="5963076"/>
                </a:lnTo>
                <a:lnTo>
                  <a:pt x="4246885" y="5966618"/>
                </a:lnTo>
                <a:lnTo>
                  <a:pt x="4232887" y="5976422"/>
                </a:lnTo>
                <a:cubicBezTo>
                  <a:pt x="4216943" y="5987621"/>
                  <a:pt x="4200403" y="5999072"/>
                  <a:pt x="4183456" y="6010563"/>
                </a:cubicBezTo>
                <a:cubicBezTo>
                  <a:pt x="4169489" y="6020774"/>
                  <a:pt x="4157359" y="6028365"/>
                  <a:pt x="4143887" y="6037093"/>
                </a:cubicBezTo>
                <a:lnTo>
                  <a:pt x="4125152" y="6049348"/>
                </a:lnTo>
                <a:cubicBezTo>
                  <a:pt x="3725169" y="6309893"/>
                  <a:pt x="3266114" y="6466084"/>
                  <a:pt x="2790247" y="6503914"/>
                </a:cubicBezTo>
                <a:lnTo>
                  <a:pt x="2774307" y="6505236"/>
                </a:lnTo>
                <a:cubicBezTo>
                  <a:pt x="2755542" y="6507205"/>
                  <a:pt x="2735448" y="6508048"/>
                  <a:pt x="2715985" y="6509045"/>
                </a:cubicBezTo>
                <a:lnTo>
                  <a:pt x="2696297" y="6509856"/>
                </a:lnTo>
                <a:cubicBezTo>
                  <a:pt x="2660417" y="6511391"/>
                  <a:pt x="2624505" y="6512519"/>
                  <a:pt x="2588522" y="6512830"/>
                </a:cubicBezTo>
                <a:lnTo>
                  <a:pt x="2570028" y="6513131"/>
                </a:lnTo>
                <a:lnTo>
                  <a:pt x="2519573" y="6512584"/>
                </a:lnTo>
                <a:cubicBezTo>
                  <a:pt x="2509475" y="6512393"/>
                  <a:pt x="2499598" y="6512388"/>
                  <a:pt x="2489687" y="6511974"/>
                </a:cubicBezTo>
                <a:cubicBezTo>
                  <a:pt x="2472797" y="6511730"/>
                  <a:pt x="2455866" y="6511078"/>
                  <a:pt x="2438941" y="6510425"/>
                </a:cubicBezTo>
                <a:lnTo>
                  <a:pt x="2413927" y="6509004"/>
                </a:lnTo>
                <a:cubicBezTo>
                  <a:pt x="2353170" y="6505810"/>
                  <a:pt x="2292463" y="6500768"/>
                  <a:pt x="2232220" y="6493830"/>
                </a:cubicBezTo>
                <a:cubicBezTo>
                  <a:pt x="2228061" y="6493351"/>
                  <a:pt x="2224129" y="6493060"/>
                  <a:pt x="2220160" y="6492362"/>
                </a:cubicBezTo>
                <a:cubicBezTo>
                  <a:pt x="1670770" y="6427652"/>
                  <a:pt x="1151728" y="6205486"/>
                  <a:pt x="725542" y="5852579"/>
                </a:cubicBezTo>
                <a:cubicBezTo>
                  <a:pt x="720231" y="5848082"/>
                  <a:pt x="714920" y="5843585"/>
                  <a:pt x="709609" y="5839087"/>
                </a:cubicBezTo>
                <a:cubicBezTo>
                  <a:pt x="520238" y="5684428"/>
                  <a:pt x="270557" y="5639864"/>
                  <a:pt x="46105" y="5707934"/>
                </a:cubicBezTo>
                <a:lnTo>
                  <a:pt x="0" y="5726184"/>
                </a:lnTo>
                <a:lnTo>
                  <a:pt x="0" y="2312242"/>
                </a:lnTo>
                <a:lnTo>
                  <a:pt x="26070" y="2262510"/>
                </a:lnTo>
                <a:lnTo>
                  <a:pt x="30861" y="2253265"/>
                </a:lnTo>
                <a:cubicBezTo>
                  <a:pt x="43367" y="2230415"/>
                  <a:pt x="56318" y="2207945"/>
                  <a:pt x="69455" y="2185250"/>
                </a:cubicBezTo>
                <a:lnTo>
                  <a:pt x="78112" y="2170540"/>
                </a:lnTo>
                <a:cubicBezTo>
                  <a:pt x="89818" y="2150434"/>
                  <a:pt x="102155" y="2130480"/>
                  <a:pt x="114491" y="2110527"/>
                </a:cubicBezTo>
                <a:lnTo>
                  <a:pt x="128479" y="2088174"/>
                </a:lnTo>
                <a:lnTo>
                  <a:pt x="161143" y="2037932"/>
                </a:lnTo>
                <a:lnTo>
                  <a:pt x="174296" y="2017914"/>
                </a:lnTo>
                <a:lnTo>
                  <a:pt x="183292" y="2007290"/>
                </a:lnTo>
                <a:lnTo>
                  <a:pt x="211795" y="1966448"/>
                </a:lnTo>
                <a:lnTo>
                  <a:pt x="241679" y="1924875"/>
                </a:lnTo>
                <a:lnTo>
                  <a:pt x="262278" y="1897859"/>
                </a:lnTo>
                <a:cubicBezTo>
                  <a:pt x="275788" y="1879659"/>
                  <a:pt x="289263" y="1861051"/>
                  <a:pt x="303881" y="1843788"/>
                </a:cubicBezTo>
                <a:lnTo>
                  <a:pt x="313438" y="1832502"/>
                </a:lnTo>
                <a:cubicBezTo>
                  <a:pt x="427176" y="1690560"/>
                  <a:pt x="553987" y="1559649"/>
                  <a:pt x="692542" y="1441798"/>
                </a:cubicBezTo>
                <a:lnTo>
                  <a:pt x="708725" y="1428521"/>
                </a:lnTo>
                <a:cubicBezTo>
                  <a:pt x="955394" y="1215304"/>
                  <a:pt x="1028093" y="862901"/>
                  <a:pt x="885820" y="569604"/>
                </a:cubicBezTo>
                <a:lnTo>
                  <a:pt x="874929" y="547463"/>
                </a:lnTo>
                <a:cubicBezTo>
                  <a:pt x="769138" y="330003"/>
                  <a:pt x="547928" y="197309"/>
                  <a:pt x="312047" y="200556"/>
                </a:cubicBezTo>
                <a:cubicBezTo>
                  <a:pt x="278350" y="201020"/>
                  <a:pt x="244353" y="204258"/>
                  <a:pt x="210351" y="210419"/>
                </a:cubicBezTo>
                <a:lnTo>
                  <a:pt x="193952" y="213631"/>
                </a:lnTo>
                <a:cubicBezTo>
                  <a:pt x="139643" y="224254"/>
                  <a:pt x="85237" y="233005"/>
                  <a:pt x="30818" y="239912"/>
                </a:cubicBezTo>
                <a:lnTo>
                  <a:pt x="0" y="242786"/>
                </a:lnTo>
                <a:close/>
              </a:path>
            </a:pathLst>
          </a:custGeom>
          <a:solidFill>
            <a:schemeClr val="accent1"/>
          </a:solidFill>
        </p:spPr>
        <p:txBody>
          <a:bodyPr wrap="square" tIns="720000" anchor="ctr">
            <a:noAutofit/>
          </a:bodyPr>
          <a:lstStyle>
            <a:lvl1pPr algn="ctr">
              <a:spcBef>
                <a:spcPts val="0"/>
              </a:spcBef>
              <a:spcAft>
                <a:spcPts val="0"/>
              </a:spcAft>
              <a:defRPr sz="1000" baseline="0">
                <a:solidFill>
                  <a:schemeClr val="accent4"/>
                </a:solidFill>
              </a:defRPr>
            </a:lvl1pPr>
          </a:lstStyle>
          <a:p>
            <a:r>
              <a:rPr lang="en-US" noProof="0" dirty="0"/>
              <a:t>Click icon to add picture</a:t>
            </a:r>
          </a:p>
        </p:txBody>
      </p:sp>
    </p:spTree>
    <p:extLst>
      <p:ext uri="{BB962C8B-B14F-4D97-AF65-F5344CB8AC3E}">
        <p14:creationId xmlns:p14="http://schemas.microsoft.com/office/powerpoint/2010/main" val="773961760"/>
      </p:ext>
    </p:extLst>
  </p:cSld>
  <p:clrMapOvr>
    <a:masterClrMapping/>
  </p:clrMapOvr>
  <p:extLst>
    <p:ext uri="{DCECCB84-F9BA-43D5-87BE-67443E8EF086}">
      <p15:sldGuideLst xmlns:p15="http://schemas.microsoft.com/office/powerpoint/2012/main">
        <p15:guide id="2" orient="horz" pos="3521">
          <p15:clr>
            <a:srgbClr val="FBAE40"/>
          </p15:clr>
        </p15:guide>
        <p15:guide id="3" pos="3749">
          <p15:clr>
            <a:srgbClr val="FBAE40"/>
          </p15:clr>
        </p15:guide>
        <p15:guide id="4" orient="horz" pos="2795">
          <p15:clr>
            <a:srgbClr val="FBAE40"/>
          </p15:clr>
        </p15:guide>
        <p15:guide id="5" orient="horz" pos="125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Rectangle 10"/>
          <p:cNvSpPr/>
          <p:nvPr userDrawn="1"/>
        </p:nvSpPr>
        <p:spPr bwMode="gray">
          <a:xfrm>
            <a:off x="1" y="0"/>
            <a:ext cx="12192000" cy="6858001"/>
          </a:xfrm>
          <a:prstGeom prst="rect">
            <a:avLst/>
          </a:prstGeom>
          <a:solidFill>
            <a:srgbClr val="FFC832"/>
          </a:solidFill>
          <a:ln w="9525" cap="flat" cmpd="sng" algn="ctr">
            <a:noFill/>
            <a:prstDash val="solid"/>
          </a:ln>
          <a:effectLst/>
        </p:spPr>
        <p:txBody>
          <a:bodyPr rtlCol="0" anchor="ctr" anchorCtr="0"/>
          <a:lstStyle/>
          <a:p>
            <a:pPr marL="0" indent="0" algn="ctr">
              <a:spcBef>
                <a:spcPts val="300"/>
              </a:spcBef>
              <a:spcAft>
                <a:spcPts val="300"/>
              </a:spcAft>
              <a:buClr>
                <a:schemeClr val="bg1"/>
              </a:buClr>
              <a:buSzPct val="100000"/>
              <a:buFont typeface="Arial" panose="020B0604020202020204" pitchFamily="34" charset="0"/>
              <a:buNone/>
            </a:pPr>
            <a:endParaRPr lang="en-US" sz="1400" kern="0" dirty="0">
              <a:solidFill>
                <a:srgbClr val="FFFFFF"/>
              </a:solidFill>
              <a:latin typeface="Verdana"/>
            </a:endParaRPr>
          </a:p>
        </p:txBody>
      </p:sp>
      <p:sp>
        <p:nvSpPr>
          <p:cNvPr id="18" name="Text Placeholder AP1 Details"/>
          <p:cNvSpPr>
            <a:spLocks noGrp="1"/>
          </p:cNvSpPr>
          <p:nvPr>
            <p:ph type="body" sz="quarter" idx="19" hasCustomPrompt="1"/>
          </p:nvPr>
        </p:nvSpPr>
        <p:spPr bwMode="gray">
          <a:xfrm>
            <a:off x="624092" y="1988680"/>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4" name="Text Placeholder AP1 Name"/>
          <p:cNvSpPr>
            <a:spLocks noGrp="1"/>
          </p:cNvSpPr>
          <p:nvPr>
            <p:ph type="body" sz="quarter" idx="10" hasCustomPrompt="1"/>
          </p:nvPr>
        </p:nvSpPr>
        <p:spPr bwMode="gray">
          <a:xfrm>
            <a:off x="624001" y="148478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sp>
        <p:nvSpPr>
          <p:cNvPr id="15" name="Text Placeholder AP1 Details">
            <a:extLst>
              <a:ext uri="{FF2B5EF4-FFF2-40B4-BE49-F238E27FC236}">
                <a16:creationId xmlns:a16="http://schemas.microsoft.com/office/drawing/2014/main" id="{9D7C527A-CAFB-4E43-BB5A-9A14F133AFF5}"/>
              </a:ext>
            </a:extLst>
          </p:cNvPr>
          <p:cNvSpPr>
            <a:spLocks noGrp="1"/>
          </p:cNvSpPr>
          <p:nvPr>
            <p:ph type="body" sz="quarter" idx="20" hasCustomPrompt="1"/>
          </p:nvPr>
        </p:nvSpPr>
        <p:spPr bwMode="gray">
          <a:xfrm>
            <a:off x="623483" y="4437320"/>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16" name="Text Placeholder AP1 Name">
            <a:extLst>
              <a:ext uri="{FF2B5EF4-FFF2-40B4-BE49-F238E27FC236}">
                <a16:creationId xmlns:a16="http://schemas.microsoft.com/office/drawing/2014/main" id="{2DA765EA-89A4-44AC-8EE1-E408FFA54A8D}"/>
              </a:ext>
            </a:extLst>
          </p:cNvPr>
          <p:cNvSpPr>
            <a:spLocks noGrp="1"/>
          </p:cNvSpPr>
          <p:nvPr>
            <p:ph type="body" sz="quarter" idx="21" hasCustomPrompt="1"/>
          </p:nvPr>
        </p:nvSpPr>
        <p:spPr bwMode="gray">
          <a:xfrm>
            <a:off x="623392" y="3933424"/>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sp>
        <p:nvSpPr>
          <p:cNvPr id="23" name="Text Placeholder AP1 Details">
            <a:extLst>
              <a:ext uri="{FF2B5EF4-FFF2-40B4-BE49-F238E27FC236}">
                <a16:creationId xmlns:a16="http://schemas.microsoft.com/office/drawing/2014/main" id="{1AD3E7E9-BC92-4039-9FE8-8B9BE2F1DFF8}"/>
              </a:ext>
            </a:extLst>
          </p:cNvPr>
          <p:cNvSpPr>
            <a:spLocks noGrp="1"/>
          </p:cNvSpPr>
          <p:nvPr>
            <p:ph type="body" sz="quarter" idx="22" hasCustomPrompt="1"/>
          </p:nvPr>
        </p:nvSpPr>
        <p:spPr bwMode="gray">
          <a:xfrm>
            <a:off x="3431795" y="4436952"/>
            <a:ext cx="2519767" cy="1655976"/>
          </a:xfrm>
          <a:prstGeom prst="rect">
            <a:avLst/>
          </a:prstGeom>
          <a:noFill/>
        </p:spPr>
        <p:txBody>
          <a:bodyPr vert="horz" lIns="0" tIns="0" rIns="0" bIns="0" rtlCol="0" anchor="t" anchorCtr="0">
            <a:noAutofit/>
          </a:bodyPr>
          <a:lstStyle>
            <a:lvl1pPr>
              <a:spcBef>
                <a:spcPts val="0"/>
              </a:spcBef>
              <a:defRPr lang="de-DE" sz="1200" b="0"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a:lvl2pPr marL="0" indent="0">
              <a:spcBef>
                <a:spcPts val="0"/>
              </a:spcBef>
              <a:buNone/>
              <a:defRPr sz="1200" baseline="0">
                <a:solidFill>
                  <a:schemeClr val="accent1"/>
                </a:solidFill>
              </a:defRPr>
            </a:lvl2pPr>
            <a:lvl3pPr marL="0" indent="0">
              <a:spcBef>
                <a:spcPts val="0"/>
              </a:spcBef>
              <a:buFontTx/>
              <a:buNone/>
              <a:defRPr sz="1200">
                <a:solidFill>
                  <a:schemeClr val="accent1"/>
                </a:solidFill>
              </a:defRPr>
            </a:lvl3pPr>
            <a:lvl4pPr marL="0" indent="0">
              <a:spcBef>
                <a:spcPts val="0"/>
              </a:spcBef>
              <a:buFontTx/>
              <a:buNone/>
              <a:defRPr sz="1200" baseline="0">
                <a:solidFill>
                  <a:schemeClr val="accent1"/>
                </a:solidFill>
              </a:defRPr>
            </a:lvl4pPr>
            <a:lvl5pPr marL="0" indent="0">
              <a:spcBef>
                <a:spcPts val="0"/>
              </a:spcBef>
              <a:buFontTx/>
              <a:buNone/>
              <a:defRPr sz="1200">
                <a:solidFill>
                  <a:schemeClr val="accent1"/>
                </a:solidFill>
              </a:defRPr>
            </a:lvl5pPr>
            <a:lvl6pPr marL="0" indent="0">
              <a:spcBef>
                <a:spcPts val="0"/>
              </a:spcBef>
              <a:buFontTx/>
              <a:buNone/>
              <a:defRPr sz="1200">
                <a:solidFill>
                  <a:schemeClr val="accent1"/>
                </a:solidFill>
              </a:defRPr>
            </a:lvl6pPr>
            <a:lvl7pPr marL="0" indent="0">
              <a:spcBef>
                <a:spcPts val="0"/>
              </a:spcBef>
              <a:buFontTx/>
              <a:buNone/>
              <a:defRPr sz="1200">
                <a:solidFill>
                  <a:schemeClr val="accent1"/>
                </a:solidFill>
              </a:defRPr>
            </a:lvl7pPr>
            <a:lvl8pPr marL="0" indent="0">
              <a:spcBef>
                <a:spcPts val="0"/>
              </a:spcBef>
              <a:buNone/>
              <a:defRPr sz="1200">
                <a:solidFill>
                  <a:schemeClr val="accent1"/>
                </a:solidFill>
              </a:defRPr>
            </a:lvl8pPr>
            <a:lvl9pPr marL="0" indent="0">
              <a:spcBef>
                <a:spcPts val="0"/>
              </a:spcBef>
              <a:buNone/>
              <a:defRPr sz="1200">
                <a:solidFill>
                  <a:schemeClr val="accent1"/>
                </a:solidFill>
              </a:defRPr>
            </a:lvl9pPr>
          </a:lstStyle>
          <a:p>
            <a:pPr lvl="0">
              <a:spcBef>
                <a:spcPts val="0"/>
              </a:spcBef>
              <a:buClr>
                <a:srgbClr val="52328F"/>
              </a:buClr>
            </a:pPr>
            <a:r>
              <a:rPr lang="en-US" noProof="0" dirty="0"/>
              <a:t>Add your contact details here.</a:t>
            </a:r>
          </a:p>
        </p:txBody>
      </p:sp>
      <p:sp>
        <p:nvSpPr>
          <p:cNvPr id="24" name="Text Placeholder AP1 Name">
            <a:extLst>
              <a:ext uri="{FF2B5EF4-FFF2-40B4-BE49-F238E27FC236}">
                <a16:creationId xmlns:a16="http://schemas.microsoft.com/office/drawing/2014/main" id="{D51B0300-283C-4494-BC4A-3BC70337C112}"/>
              </a:ext>
            </a:extLst>
          </p:cNvPr>
          <p:cNvSpPr>
            <a:spLocks noGrp="1"/>
          </p:cNvSpPr>
          <p:nvPr>
            <p:ph type="body" sz="quarter" idx="23" hasCustomPrompt="1"/>
          </p:nvPr>
        </p:nvSpPr>
        <p:spPr bwMode="gray">
          <a:xfrm>
            <a:off x="3431704" y="3933056"/>
            <a:ext cx="2519851" cy="432048"/>
          </a:xfrm>
          <a:prstGeom prst="rect">
            <a:avLst/>
          </a:prstGeom>
        </p:spPr>
        <p:txBody>
          <a:bodyPr anchor="b" anchorCtr="0"/>
          <a:lstStyle>
            <a:lvl1pPr marL="0" indent="0">
              <a:spcBef>
                <a:spcPts val="0"/>
              </a:spcBef>
              <a:spcAft>
                <a:spcPts val="0"/>
              </a:spcAft>
              <a:buFont typeface="Arial" panose="020B0604020202020204" pitchFamily="34" charset="0"/>
              <a:buNone/>
              <a:defRPr lang="en-US" sz="1400" b="1" i="0" kern="1200" cap="none" baseline="0" noProof="0" dirty="0" smtClean="0">
                <a:solidFill>
                  <a:schemeClr val="accent1"/>
                </a:solidFill>
                <a:latin typeface="+mj-lt"/>
                <a:ea typeface="Verdana" panose="020B0604030504040204" pitchFamily="34" charset="0"/>
                <a:cs typeface="Verdana" panose="020B0604030504040204" pitchFamily="34" charset="0"/>
              </a:defRPr>
            </a:lvl1pPr>
            <a:lvl2pPr marL="0" indent="0">
              <a:spcBef>
                <a:spcPts val="0"/>
              </a:spcBef>
              <a:spcAft>
                <a:spcPts val="0"/>
              </a:spcAft>
              <a:buNone/>
              <a:defRPr sz="1400" b="1" cap="none">
                <a:solidFill>
                  <a:schemeClr val="accent1"/>
                </a:solidFill>
                <a:latin typeface="+mj-lt"/>
              </a:defRPr>
            </a:lvl2pPr>
            <a:lvl3pPr marL="0" indent="0">
              <a:spcBef>
                <a:spcPts val="0"/>
              </a:spcBef>
              <a:spcAft>
                <a:spcPts val="0"/>
              </a:spcAft>
              <a:buNone/>
              <a:defRPr sz="1400" b="1" cap="none">
                <a:solidFill>
                  <a:schemeClr val="accent1"/>
                </a:solidFill>
                <a:latin typeface="+mj-lt"/>
              </a:defRPr>
            </a:lvl3pPr>
            <a:lvl4pPr marL="0" indent="0">
              <a:spcBef>
                <a:spcPts val="0"/>
              </a:spcBef>
              <a:spcAft>
                <a:spcPts val="0"/>
              </a:spcAft>
              <a:buNone/>
              <a:defRPr sz="1400" b="1" cap="none">
                <a:solidFill>
                  <a:schemeClr val="accent1"/>
                </a:solidFill>
                <a:latin typeface="+mj-lt"/>
              </a:defRPr>
            </a:lvl4pPr>
            <a:lvl5pPr marL="0" indent="0">
              <a:spcBef>
                <a:spcPts val="0"/>
              </a:spcBef>
              <a:spcAft>
                <a:spcPts val="0"/>
              </a:spcAft>
              <a:buNone/>
              <a:defRPr sz="1400" b="1" cap="none">
                <a:solidFill>
                  <a:schemeClr val="accent1"/>
                </a:solidFill>
                <a:latin typeface="+mj-lt"/>
              </a:defRPr>
            </a:lvl5pPr>
            <a:lvl6pPr marL="0" indent="0">
              <a:spcBef>
                <a:spcPts val="0"/>
              </a:spcBef>
              <a:spcAft>
                <a:spcPts val="0"/>
              </a:spcAft>
              <a:buNone/>
              <a:defRPr sz="1400" b="1" cap="none">
                <a:solidFill>
                  <a:schemeClr val="accent1"/>
                </a:solidFill>
                <a:latin typeface="+mj-lt"/>
              </a:defRPr>
            </a:lvl6pPr>
            <a:lvl7pPr marL="0" indent="0">
              <a:spcBef>
                <a:spcPts val="0"/>
              </a:spcBef>
              <a:spcAft>
                <a:spcPts val="0"/>
              </a:spcAft>
              <a:buNone/>
              <a:defRPr sz="1400" b="1" cap="none">
                <a:solidFill>
                  <a:schemeClr val="accent1"/>
                </a:solidFill>
                <a:latin typeface="+mj-lt"/>
              </a:defRPr>
            </a:lvl7pPr>
            <a:lvl8pPr marL="0" indent="0">
              <a:spcBef>
                <a:spcPts val="0"/>
              </a:spcBef>
              <a:spcAft>
                <a:spcPts val="0"/>
              </a:spcAft>
              <a:buNone/>
              <a:defRPr sz="1400" b="1" cap="none">
                <a:solidFill>
                  <a:schemeClr val="accent1"/>
                </a:solidFill>
                <a:latin typeface="+mj-lt"/>
              </a:defRPr>
            </a:lvl8pPr>
            <a:lvl9pPr marL="0" indent="0">
              <a:spcBef>
                <a:spcPts val="0"/>
              </a:spcBef>
              <a:spcAft>
                <a:spcPts val="0"/>
              </a:spcAft>
              <a:buNone/>
              <a:defRPr sz="1400" b="1" cap="none">
                <a:solidFill>
                  <a:schemeClr val="accent1"/>
                </a:solidFill>
                <a:latin typeface="+mj-lt"/>
              </a:defRPr>
            </a:lvl9pPr>
          </a:lstStyle>
          <a:p>
            <a:pPr lvl="0"/>
            <a:r>
              <a:rPr lang="en-US" noProof="0" dirty="0"/>
              <a:t>Contact (Please edit)</a:t>
            </a:r>
          </a:p>
        </p:txBody>
      </p:sp>
      <p:pic>
        <p:nvPicPr>
          <p:cNvPr id="12" name="Grafik 11">
            <a:extLst>
              <a:ext uri="{FF2B5EF4-FFF2-40B4-BE49-F238E27FC236}">
                <a16:creationId xmlns:a16="http://schemas.microsoft.com/office/drawing/2014/main" id="{7A7098BC-A76B-47A2-9C96-0DFADC9A35E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04362" y="3933056"/>
            <a:ext cx="4264155" cy="2156266"/>
          </a:xfrm>
          <a:prstGeom prst="rect">
            <a:avLst/>
          </a:prstGeom>
        </p:spPr>
      </p:pic>
    </p:spTree>
    <p:extLst>
      <p:ext uri="{BB962C8B-B14F-4D97-AF65-F5344CB8AC3E}">
        <p14:creationId xmlns:p14="http://schemas.microsoft.com/office/powerpoint/2010/main" val="2103850584"/>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AACB91-54A9-83B7-A902-51ED07970FD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3EB7E253-24D4-9B8B-E72D-8B1A375D7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19D04736-F1DF-D6AB-0E6D-3D105D955F9E}"/>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30500E0A-C1F9-9AFB-C39C-BB4B1720D6B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2ACE0098-9ADA-C256-371F-E8FDD827F518}"/>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04446856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0F7620-05D9-D8BF-E6E6-9E34F49ADD56}"/>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436447DE-D5AD-D7A9-D50B-FAFBFA7AF87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0E65E62A-60F8-341C-ED6B-7BD205AEF262}"/>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45234860-19BD-3F6E-5E60-36F03FFBF804}"/>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170354B8-B3E0-8F6F-C7D4-1B4C8EB6440D}"/>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1506296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C70D66-22C9-42BA-6575-F6FA7C8E9C7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F5C809E0-ADE8-5BE1-373F-216FE3E574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0984EC0-181B-A538-3805-B08B3CF4394F}"/>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B67A332E-242B-D472-BE41-BBD260BB904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C4D9EE8-C27E-6AB5-6ADC-1C7BFBB11FC8}"/>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3082756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64AC94-47A0-D28B-BE05-C0935D9619CA}"/>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2FB4D4B4-2D7B-F84C-5EA6-78BDE89AFB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32C75BB9-5615-FD63-2D70-CDCF243233D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228E12A1-16E7-0407-8288-38320A04C454}"/>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6" name="Нижний колонтитул 5">
            <a:extLst>
              <a:ext uri="{FF2B5EF4-FFF2-40B4-BE49-F238E27FC236}">
                <a16:creationId xmlns:a16="http://schemas.microsoft.com/office/drawing/2014/main" id="{3515B9C2-9E96-C7A4-0FEB-04BC317988A1}"/>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E4DDAC6C-597E-0584-F505-8D9F81B34B03}"/>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37011355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91A49B-D46C-8F6E-72B5-D922CF2628A4}"/>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A4BD42D1-B05C-0273-C313-8ECFEEB993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8BDDD1F-7F2C-B177-4BA9-B78B14C93CB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1AB57C25-BA00-43DE-B7C4-DCFEC3EF7A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A027446-CE85-74FE-6D9B-CC6547B196A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EC3FD5F2-CC12-919E-F58C-57B6677BF262}"/>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8" name="Нижний колонтитул 7">
            <a:extLst>
              <a:ext uri="{FF2B5EF4-FFF2-40B4-BE49-F238E27FC236}">
                <a16:creationId xmlns:a16="http://schemas.microsoft.com/office/drawing/2014/main" id="{B7D2AC10-C93B-C18E-8989-2D47DDFA79E5}"/>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992E7B4D-ED18-B094-5CAD-B2ED6B585E4E}"/>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27518435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623F0F-96A2-6FB7-ED52-6C92FCD06EDA}"/>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AFFCB9CE-AD3A-E836-32DA-5A872257D4E9}"/>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4" name="Нижний колонтитул 3">
            <a:extLst>
              <a:ext uri="{FF2B5EF4-FFF2-40B4-BE49-F238E27FC236}">
                <a16:creationId xmlns:a16="http://schemas.microsoft.com/office/drawing/2014/main" id="{84617986-D1FD-A53C-3EDB-1E062C638DF6}"/>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6ADB5F45-AC35-7574-99E6-E3FA47771401}"/>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32693346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BF6D9B-2FB2-8FE9-BD2D-B26E8A423C43}"/>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3" name="Нижний колонтитул 2">
            <a:extLst>
              <a:ext uri="{FF2B5EF4-FFF2-40B4-BE49-F238E27FC236}">
                <a16:creationId xmlns:a16="http://schemas.microsoft.com/office/drawing/2014/main" id="{FF3BE4A4-BC43-0D43-6C40-779711AB26BD}"/>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92D56065-06EF-3955-5BDA-9A78306F7774}"/>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93184306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235247-3A16-6B56-3483-D676E36D44F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5CDA7F3-9AA5-6B23-9DBB-8A8F9839A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59A31839-41B2-A80A-40B4-260386400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4AF8831-4183-489F-CDDB-59321AF21833}"/>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6" name="Нижний колонтитул 5">
            <a:extLst>
              <a:ext uri="{FF2B5EF4-FFF2-40B4-BE49-F238E27FC236}">
                <a16:creationId xmlns:a16="http://schemas.microsoft.com/office/drawing/2014/main" id="{009CEFF9-D9B3-7965-9F9F-EB09ADE1B0DB}"/>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074FC00-8148-6997-419D-DF5C1B802AD2}"/>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92306625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878845-6AC5-46FC-F4F8-4B615BADFAD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D785E522-47F5-1DE4-65CF-5571559D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151C1738-AC99-2120-AFAD-16B977B1E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146BA8B-3E98-01BB-1D0A-48875AB2FA29}"/>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6" name="Нижний колонтитул 5">
            <a:extLst>
              <a:ext uri="{FF2B5EF4-FFF2-40B4-BE49-F238E27FC236}">
                <a16:creationId xmlns:a16="http://schemas.microsoft.com/office/drawing/2014/main" id="{590748B7-FBF1-91FD-D9E6-561B489F359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C3D2B5C4-EB36-B91F-8EC6-04246F506826}"/>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12534157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C2D224-65F2-E2BF-38BB-BB5A7DC49868}"/>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6D7325FD-EDE1-AEBF-AA05-FA331249A41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25D984C9-D0DE-7E26-7C25-C13C8D13E02B}"/>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46A2C860-523D-335F-219B-93BE4EE6D0A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4B6ED299-16FF-4EBA-6BC1-455C085366A7}"/>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4149706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EBF86E2-E2D8-A1F3-FA6A-409A994DB4F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F96629B-9B4E-AABA-0418-2BA7DD0F9C1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7ED1E8A-1334-FB2A-DF48-D8311BEEA3B8}"/>
              </a:ext>
            </a:extLst>
          </p:cNvPr>
          <p:cNvSpPr>
            <a:spLocks noGrp="1"/>
          </p:cNvSpPr>
          <p:nvPr>
            <p:ph type="dt" sz="half" idx="10"/>
          </p:nvPr>
        </p:nvSpPr>
        <p:spPr/>
        <p:txBody>
          <a:body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52C84923-70A4-6A6F-96E0-2FB9562C9CA2}"/>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A6D6FBF1-04CC-86E8-1FE4-8BF26CBF0123}"/>
              </a:ext>
            </a:extLst>
          </p:cNvPr>
          <p:cNvSpPr>
            <a:spLocks noGrp="1"/>
          </p:cNvSpPr>
          <p:nvPr>
            <p:ph type="sldNum" sz="quarter" idx="12"/>
          </p:nvPr>
        </p:nvSpPr>
        <p:spPr/>
        <p:txBody>
          <a:bodyPr/>
          <a:lstStyle/>
          <a:p>
            <a:fld id="{719BC130-30E4-4AF8-9557-E5BA45C53E45}" type="slidenum">
              <a:rPr lang="en-US" smtClean="0"/>
              <a:t>‹#›</a:t>
            </a:fld>
            <a:endParaRPr lang="en-US"/>
          </a:p>
        </p:txBody>
      </p:sp>
    </p:spTree>
    <p:extLst>
      <p:ext uri="{BB962C8B-B14F-4D97-AF65-F5344CB8AC3E}">
        <p14:creationId xmlns:p14="http://schemas.microsoft.com/office/powerpoint/2010/main" val="428728723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11" name="Content Placeholder 10"/>
          <p:cNvSpPr>
            <a:spLocks noGrp="1"/>
          </p:cNvSpPr>
          <p:nvPr>
            <p:ph sz="quarter" idx="14" hasCustomPrompt="1"/>
          </p:nvPr>
        </p:nvSpPr>
        <p:spPr bwMode="gray">
          <a:xfrm>
            <a:off x="623888" y="1484313"/>
            <a:ext cx="10944227" cy="4608511"/>
          </a:xfrm>
        </p:spPr>
        <p:txBody>
          <a:bodyPr/>
          <a:lstStyle>
            <a:lvl1pPr marL="0" marR="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lvl1pPr>
            <a:lvl5pPr>
              <a:defRPr/>
            </a:lvl5pPr>
          </a:lstStyle>
          <a:p>
            <a:pPr marL="0" marR="0" lvl="0" indent="0" algn="l" defTabSz="914400" rtl="0" eaLnBrk="1" fontAlgn="auto" latinLnBrk="0" hangingPunct="1">
              <a:lnSpc>
                <a:spcPct val="100000"/>
              </a:lnSpc>
              <a:spcBef>
                <a:spcPts val="600"/>
              </a:spcBef>
              <a:spcAft>
                <a:spcPts val="300"/>
              </a:spcAft>
              <a:buClrTx/>
              <a:buSzTx/>
              <a:buFont typeface="Arial" panose="020B0604020202020204" pitchFamily="34" charset="0"/>
              <a:buNone/>
              <a:tabLst/>
              <a:defRPr/>
            </a:pPr>
            <a:r>
              <a:rPr lang="en-US" dirty="0"/>
              <a:t>You can use this field to enter text, a table, a diagram or </a:t>
            </a:r>
            <a:r>
              <a:rPr lang="en-US" dirty="0" err="1"/>
              <a:t>SmartArts</a:t>
            </a:r>
            <a:r>
              <a:rPr lang="en-US" dirty="0"/>
              <a:t>. Use the buttons “Increase List Level” for </a:t>
            </a:r>
            <a:r>
              <a:rPr lang="en-US" dirty="0" err="1"/>
              <a:t>copytext</a:t>
            </a:r>
            <a:r>
              <a:rPr lang="en-US" dirty="0"/>
              <a:t> or bullet levels. Use the icons below to create visual content.</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p:cNvSpPr>
            <a:spLocks noGrp="1"/>
          </p:cNvSpPr>
          <p:nvPr>
            <p:ph type="body" sz="quarter" idx="13" hasCustomPrompt="1"/>
          </p:nvPr>
        </p:nvSpPr>
        <p:spPr bwMode="gray">
          <a:xfrm>
            <a:off x="623888" y="332656"/>
            <a:ext cx="10944225" cy="398144"/>
          </a:xfrm>
          <a:prstGeom prst="rect">
            <a:avLst/>
          </a:prstGeom>
        </p:spPr>
        <p:txBody>
          <a:bodyPr tIns="18000" anchor="t">
            <a:noAutofit/>
          </a:bodyPr>
          <a:lstStyle>
            <a:lvl1pPr marL="0" indent="0">
              <a:lnSpc>
                <a:spcPct val="100000"/>
              </a:lnSpc>
              <a:spcBef>
                <a:spcPts val="0"/>
              </a:spcBef>
              <a:spcAft>
                <a:spcPts val="0"/>
              </a:spcAft>
              <a:buFont typeface="Arial" panose="020B0604020202020204" pitchFamily="34" charset="0"/>
              <a:buNone/>
              <a:defRPr sz="2200" b="0" baseline="0">
                <a:solidFill>
                  <a:schemeClr val="accent1"/>
                </a:solidFill>
              </a:defRPr>
            </a:lvl1pPr>
            <a:lvl2pPr marL="0" indent="0">
              <a:lnSpc>
                <a:spcPct val="100000"/>
              </a:lnSpc>
              <a:spcBef>
                <a:spcPts val="0"/>
              </a:spcBef>
              <a:spcAft>
                <a:spcPts val="0"/>
              </a:spcAft>
              <a:buFont typeface="Arial" panose="020B0604020202020204" pitchFamily="34" charset="0"/>
              <a:buNone/>
              <a:defRPr sz="2200" b="0">
                <a:solidFill>
                  <a:schemeClr val="accent1"/>
                </a:solidFill>
              </a:defRPr>
            </a:lvl2pPr>
            <a:lvl3pPr marL="0" indent="0">
              <a:lnSpc>
                <a:spcPct val="100000"/>
              </a:lnSpc>
              <a:spcBef>
                <a:spcPts val="0"/>
              </a:spcBef>
              <a:spcAft>
                <a:spcPts val="0"/>
              </a:spcAft>
              <a:buNone/>
              <a:defRPr sz="2200" b="0">
                <a:solidFill>
                  <a:schemeClr val="accent1"/>
                </a:solidFill>
              </a:defRPr>
            </a:lvl3pPr>
            <a:lvl4pPr marL="0" indent="0">
              <a:lnSpc>
                <a:spcPct val="100000"/>
              </a:lnSpc>
              <a:spcBef>
                <a:spcPts val="0"/>
              </a:spcBef>
              <a:spcAft>
                <a:spcPts val="0"/>
              </a:spcAft>
              <a:buNone/>
              <a:defRPr sz="2200" b="0">
                <a:solidFill>
                  <a:schemeClr val="accent1"/>
                </a:solidFill>
              </a:defRPr>
            </a:lvl4pPr>
            <a:lvl5pPr marL="0" indent="0">
              <a:lnSpc>
                <a:spcPct val="100000"/>
              </a:lnSpc>
              <a:spcBef>
                <a:spcPts val="0"/>
              </a:spcBef>
              <a:spcAft>
                <a:spcPts val="0"/>
              </a:spcAft>
              <a:buNone/>
              <a:defRPr sz="2200" b="0">
                <a:solidFill>
                  <a:schemeClr val="accent1"/>
                </a:solidFill>
              </a:defRPr>
            </a:lvl5pPr>
            <a:lvl6pPr marL="0" indent="0">
              <a:lnSpc>
                <a:spcPct val="100000"/>
              </a:lnSpc>
              <a:spcBef>
                <a:spcPts val="0"/>
              </a:spcBef>
              <a:spcAft>
                <a:spcPts val="0"/>
              </a:spcAft>
              <a:buNone/>
              <a:defRPr sz="2200" b="0">
                <a:solidFill>
                  <a:schemeClr val="accent1"/>
                </a:solidFill>
              </a:defRPr>
            </a:lvl6pPr>
            <a:lvl7pPr marL="0" indent="0">
              <a:lnSpc>
                <a:spcPct val="100000"/>
              </a:lnSpc>
              <a:spcBef>
                <a:spcPts val="0"/>
              </a:spcBef>
              <a:spcAft>
                <a:spcPts val="0"/>
              </a:spcAft>
              <a:buNone/>
              <a:defRPr sz="2200" b="0">
                <a:solidFill>
                  <a:schemeClr val="accent1"/>
                </a:solidFill>
              </a:defRPr>
            </a:lvl7pPr>
            <a:lvl8pPr marL="0" indent="0">
              <a:lnSpc>
                <a:spcPct val="100000"/>
              </a:lnSpc>
              <a:spcBef>
                <a:spcPts val="0"/>
              </a:spcBef>
              <a:spcAft>
                <a:spcPts val="0"/>
              </a:spcAft>
              <a:buNone/>
              <a:defRPr sz="2200" b="0">
                <a:solidFill>
                  <a:schemeClr val="accent1"/>
                </a:solidFill>
              </a:defRPr>
            </a:lvl8pPr>
            <a:lvl9pPr marL="0" indent="0">
              <a:lnSpc>
                <a:spcPct val="100000"/>
              </a:lnSpc>
              <a:spcBef>
                <a:spcPts val="0"/>
              </a:spcBef>
              <a:spcAft>
                <a:spcPts val="0"/>
              </a:spcAft>
              <a:buNone/>
              <a:defRPr sz="2200" b="0">
                <a:solidFill>
                  <a:schemeClr val="accent1"/>
                </a:solidFill>
              </a:defRPr>
            </a:lvl9pPr>
          </a:lstStyle>
          <a:p>
            <a:pPr lvl="0"/>
            <a:r>
              <a:rPr lang="en-US" noProof="0" dirty="0"/>
              <a:t> </a:t>
            </a:r>
          </a:p>
        </p:txBody>
      </p:sp>
      <p:sp>
        <p:nvSpPr>
          <p:cNvPr id="4" name="Title 3"/>
          <p:cNvSpPr>
            <a:spLocks noGrp="1"/>
          </p:cNvSpPr>
          <p:nvPr>
            <p:ph type="title" hasCustomPrompt="1"/>
            <p:custDataLst>
              <p:tags r:id="rId1"/>
            </p:custDataLst>
          </p:nvPr>
        </p:nvSpPr>
        <p:spPr bwMode="gray">
          <a:xfrm>
            <a:off x="623888" y="730800"/>
            <a:ext cx="10944225" cy="325952"/>
          </a:xfrm>
        </p:spPr>
        <p:txBody>
          <a:bodyPr/>
          <a:lstStyle>
            <a:lvl1pPr>
              <a:defRPr/>
            </a:lvl1pPr>
          </a:lstStyle>
          <a:p>
            <a:r>
              <a:rPr lang="en-US" dirty="0"/>
              <a:t>Insert slide title here (max. 2 lines | max. 1 line with Action Title)</a:t>
            </a:r>
          </a:p>
        </p:txBody>
      </p:sp>
      <p:sp>
        <p:nvSpPr>
          <p:cNvPr id="2" name="Fußzeilenplatzhalter 1">
            <a:extLst>
              <a:ext uri="{FF2B5EF4-FFF2-40B4-BE49-F238E27FC236}">
                <a16:creationId xmlns:a16="http://schemas.microsoft.com/office/drawing/2014/main" id="{2AB8F34D-A5C0-4BC9-B0F3-11856D9ED02E}"/>
              </a:ext>
            </a:extLst>
          </p:cNvPr>
          <p:cNvSpPr>
            <a:spLocks noGrp="1"/>
          </p:cNvSpPr>
          <p:nvPr>
            <p:ph type="ftr" sz="quarter" idx="15"/>
          </p:nvPr>
        </p:nvSpPr>
        <p:spPr bwMode="gray"/>
        <p:txBody>
          <a:bodyPr/>
          <a:lstStyle/>
          <a:p>
            <a:r>
              <a:rPr lang="en-US" dirty="0"/>
              <a:t>Title of Presentation | DD.MM.YYYY</a:t>
            </a:r>
          </a:p>
        </p:txBody>
      </p:sp>
      <p:sp>
        <p:nvSpPr>
          <p:cNvPr id="3" name="Foliennummernplatzhalter 2">
            <a:extLst>
              <a:ext uri="{FF2B5EF4-FFF2-40B4-BE49-F238E27FC236}">
                <a16:creationId xmlns:a16="http://schemas.microsoft.com/office/drawing/2014/main" id="{C962AE53-FF41-4032-9C92-554890CB3881}"/>
              </a:ext>
            </a:extLst>
          </p:cNvPr>
          <p:cNvSpPr>
            <a:spLocks noGrp="1"/>
          </p:cNvSpPr>
          <p:nvPr>
            <p:ph type="sldNum" sz="quarter" idx="16"/>
          </p:nvPr>
        </p:nvSpPr>
        <p:spPr bwMode="gray"/>
        <p:txBody>
          <a:bodyPr/>
          <a:lstStyle/>
          <a:p>
            <a:fld id="{FD5E7EB4-4CDF-47BB-AF16-07782904B863}" type="slidenum">
              <a:rPr lang="en-US"/>
              <a:pPr/>
              <a:t>‹#›</a:t>
            </a:fld>
            <a:endParaRPr lang="en-US" dirty="0"/>
          </a:p>
        </p:txBody>
      </p:sp>
    </p:spTree>
    <p:extLst>
      <p:ext uri="{BB962C8B-B14F-4D97-AF65-F5344CB8AC3E}">
        <p14:creationId xmlns:p14="http://schemas.microsoft.com/office/powerpoint/2010/main" val="332821027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2.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tags" Target="../tags/tag2.xml"/><Relationship Id="rId3" Type="http://schemas.openxmlformats.org/officeDocument/2006/relationships/slideLayout" Target="../slideLayouts/slideLayout53.xml"/><Relationship Id="rId21" Type="http://schemas.openxmlformats.org/officeDocument/2006/relationships/tags" Target="../tags/tag5.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tags" Target="../tags/tag1.xml"/><Relationship Id="rId2" Type="http://schemas.openxmlformats.org/officeDocument/2006/relationships/slideLayout" Target="../slideLayouts/slideLayout52.xml"/><Relationship Id="rId16" Type="http://schemas.openxmlformats.org/officeDocument/2006/relationships/theme" Target="../theme/theme4.xml"/><Relationship Id="rId20" Type="http://schemas.openxmlformats.org/officeDocument/2006/relationships/tags" Target="../tags/tag4.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image" Target="../media/image10.bin"/><Relationship Id="rId10" Type="http://schemas.openxmlformats.org/officeDocument/2006/relationships/slideLayout" Target="../slideLayouts/slideLayout60.xml"/><Relationship Id="rId19" Type="http://schemas.openxmlformats.org/officeDocument/2006/relationships/tags" Target="../tags/tag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theme" Target="../theme/theme5.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FF4264-A34F-8A16-5712-1411C528B9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A9FC4C-6C66-9F34-375A-A42A193B3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14F78-9C13-BD57-C911-A6EE8CF8C5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54D76E-BC91-4C30-BD87-DDEF40A030B9}" type="datetimeFigureOut">
              <a:rPr lang="en-US" smtClean="0"/>
              <a:t>8/27/2026</a:t>
            </a:fld>
            <a:endParaRPr lang="en-US"/>
          </a:p>
        </p:txBody>
      </p:sp>
      <p:sp>
        <p:nvSpPr>
          <p:cNvPr id="5" name="Footer Placeholder 4">
            <a:extLst>
              <a:ext uri="{FF2B5EF4-FFF2-40B4-BE49-F238E27FC236}">
                <a16:creationId xmlns:a16="http://schemas.microsoft.com/office/drawing/2014/main" id="{F5B2B08E-6A71-6402-DF9D-DB998FED21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F57A03-F8A3-FB68-351F-6287A888D1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D8F547-B9A0-4BD7-ADD7-907807ED13A7}" type="slidenum">
              <a:rPr lang="en-US" smtClean="0"/>
              <a:t>‹#›</a:t>
            </a:fld>
            <a:endParaRPr lang="en-US"/>
          </a:p>
        </p:txBody>
      </p:sp>
    </p:spTree>
    <p:extLst>
      <p:ext uri="{BB962C8B-B14F-4D97-AF65-F5344CB8AC3E}">
        <p14:creationId xmlns:p14="http://schemas.microsoft.com/office/powerpoint/2010/main" val="3203799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0A5546-2913-4299-818B-820D64FCE77B}"/>
              </a:ext>
            </a:extLst>
          </p:cNvPr>
          <p:cNvSpPr>
            <a:spLocks noGrp="1"/>
          </p:cNvSpPr>
          <p:nvPr>
            <p:ph type="title"/>
          </p:nvPr>
        </p:nvSpPr>
        <p:spPr>
          <a:xfrm>
            <a:off x="924971" y="497766"/>
            <a:ext cx="10909300" cy="783083"/>
          </a:xfrm>
          <a:prstGeom prst="rect">
            <a:avLst/>
          </a:prstGeom>
        </p:spPr>
        <p:txBody>
          <a:bodyPr vert="horz" lIns="0" tIns="0" rIns="0" bIns="0" rtlCol="0" anchor="t"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DC09AF9-FC8A-44A0-887E-4DEC222555F0}"/>
              </a:ext>
            </a:extLst>
          </p:cNvPr>
          <p:cNvSpPr>
            <a:spLocks noGrp="1"/>
          </p:cNvSpPr>
          <p:nvPr>
            <p:ph type="body" idx="1"/>
          </p:nvPr>
        </p:nvSpPr>
        <p:spPr>
          <a:xfrm>
            <a:off x="924971" y="1682496"/>
            <a:ext cx="10909300" cy="4351338"/>
          </a:xfrm>
          <a:prstGeom prst="rect">
            <a:avLst/>
          </a:prstGeom>
        </p:spPr>
        <p:txBody>
          <a:bodyPr vert="horz" lIns="0" tIns="0" rIns="0" bIns="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омер слайда 5">
            <a:extLst>
              <a:ext uri="{FF2B5EF4-FFF2-40B4-BE49-F238E27FC236}">
                <a16:creationId xmlns:a16="http://schemas.microsoft.com/office/drawing/2014/main" id="{B9915375-5669-4F4D-8050-DBA0BD8DA7DB}"/>
              </a:ext>
            </a:extLst>
          </p:cNvPr>
          <p:cNvSpPr>
            <a:spLocks noGrp="1"/>
          </p:cNvSpPr>
          <p:nvPr>
            <p:ph type="sldNum" sz="quarter" idx="4"/>
          </p:nvPr>
        </p:nvSpPr>
        <p:spPr>
          <a:xfrm>
            <a:off x="117230" y="6435481"/>
            <a:ext cx="807741" cy="365125"/>
          </a:xfrm>
          <a:prstGeom prst="rect">
            <a:avLst/>
          </a:prstGeom>
        </p:spPr>
        <p:txBody>
          <a:bodyPr vert="horz" lIns="91440" tIns="45720" rIns="91440" bIns="45720" rtlCol="0" anchor="ctr"/>
          <a:lstStyle>
            <a:lvl1pPr algn="l">
              <a:defRPr sz="800">
                <a:solidFill>
                  <a:schemeClr val="tx1">
                    <a:tint val="75000"/>
                  </a:schemeClr>
                </a:solidFill>
              </a:defRPr>
            </a:lvl1pPr>
          </a:lstStyle>
          <a:p>
            <a:fld id="{E05DA353-F16A-46E9-BF3A-5C7883ED105A}" type="slidenum">
              <a:rPr lang="ru-RU" smtClean="0"/>
              <a:pPr/>
              <a:t>‹#›</a:t>
            </a:fld>
            <a:endParaRPr lang="ru-RU" dirty="0"/>
          </a:p>
        </p:txBody>
      </p:sp>
    </p:spTree>
    <p:extLst>
      <p:ext uri="{BB962C8B-B14F-4D97-AF65-F5344CB8AC3E}">
        <p14:creationId xmlns:p14="http://schemas.microsoft.com/office/powerpoint/2010/main" val="76942779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
          <p15:clr>
            <a:srgbClr val="F26B43"/>
          </p15:clr>
        </p15:guide>
        <p15:guide id="2" orient="horz" pos="2260">
          <p15:clr>
            <a:srgbClr val="F26B43"/>
          </p15:clr>
        </p15:guide>
        <p15:guide id="3" orient="horz" pos="4133">
          <p15:clr>
            <a:srgbClr val="F26B43"/>
          </p15:clr>
        </p15:guide>
        <p15:guide id="4" pos="574">
          <p15:clr>
            <a:srgbClr val="F26B43"/>
          </p15:clr>
        </p15:guide>
        <p15:guide id="5" pos="728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728817"/>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79" r:id="rId4"/>
    <p:sldLayoutId id="2147483780" r:id="rId5"/>
    <p:sldLayoutId id="2147483781" r:id="rId6"/>
    <p:sldLayoutId id="2147483782" r:id="rId7"/>
    <p:sldLayoutId id="2147483783"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7"/>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2" imgW="353" imgH="353" progId="TCLayout.ActiveDocument.1">
                  <p:embed/>
                </p:oleObj>
              </mc:Choice>
              <mc:Fallback>
                <p:oleObj name="think-cell Slide" r:id="rId22" imgW="353" imgH="353" progId="TCLayout.ActiveDocument.1">
                  <p:embed/>
                  <p:pic>
                    <p:nvPicPr>
                      <p:cNvPr id="2" name="Object 1" hidden="1"/>
                      <p:cNvPicPr/>
                      <p:nvPr/>
                    </p:nvPicPr>
                    <p:blipFill>
                      <a:blip r:embed="rId23"/>
                      <a:stretch>
                        <a:fillRect/>
                      </a:stretch>
                    </p:blipFill>
                    <p:spPr>
                      <a:xfrm>
                        <a:off x="1588" y="1588"/>
                        <a:ext cx="1587" cy="1587"/>
                      </a:xfrm>
                      <a:prstGeom prst="rect">
                        <a:avLst/>
                      </a:prstGeom>
                    </p:spPr>
                  </p:pic>
                </p:oleObj>
              </mc:Fallback>
            </mc:AlternateContent>
          </a:graphicData>
        </a:graphic>
      </p:graphicFrame>
      <p:cxnSp>
        <p:nvCxnSpPr>
          <p:cNvPr id="14" name="Gerade Verbindung 36"/>
          <p:cNvCxnSpPr/>
          <p:nvPr userDrawn="1"/>
        </p:nvCxnSpPr>
        <p:spPr bwMode="gray">
          <a:xfrm flipV="1">
            <a:off x="624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5" name="Gerade Verbindung 37"/>
          <p:cNvCxnSpPr/>
          <p:nvPr userDrawn="1"/>
        </p:nvCxnSpPr>
        <p:spPr bwMode="gray">
          <a:xfrm flipV="1">
            <a:off x="1272000" y="-171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6" name="Gerade Verbindung 36"/>
          <p:cNvCxnSpPr/>
          <p:nvPr userDrawn="1"/>
        </p:nvCxnSpPr>
        <p:spPr bwMode="gray">
          <a:xfrm flipV="1">
            <a:off x="1560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7" name="Gerade Verbindung 37"/>
          <p:cNvCxnSpPr/>
          <p:nvPr userDrawn="1"/>
        </p:nvCxnSpPr>
        <p:spPr bwMode="gray">
          <a:xfrm flipV="1">
            <a:off x="2208000" y="-171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8" name="Gerade Verbindung 36"/>
          <p:cNvCxnSpPr/>
          <p:nvPr userDrawn="1"/>
        </p:nvCxnSpPr>
        <p:spPr bwMode="gray">
          <a:xfrm flipV="1">
            <a:off x="2496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19" name="Gerade Verbindung 37"/>
          <p:cNvCxnSpPr/>
          <p:nvPr userDrawn="1"/>
        </p:nvCxnSpPr>
        <p:spPr bwMode="gray">
          <a:xfrm flipV="1">
            <a:off x="3144000" y="-170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0" name="Gerade Verbindung 36"/>
          <p:cNvCxnSpPr/>
          <p:nvPr userDrawn="1"/>
        </p:nvCxnSpPr>
        <p:spPr bwMode="gray">
          <a:xfrm flipV="1">
            <a:off x="3432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1" name="Gerade Verbindung 37"/>
          <p:cNvCxnSpPr/>
          <p:nvPr userDrawn="1"/>
        </p:nvCxnSpPr>
        <p:spPr bwMode="gray">
          <a:xfrm flipV="1">
            <a:off x="4080000" y="-170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2" name="Gerade Verbindung 36"/>
          <p:cNvCxnSpPr/>
          <p:nvPr userDrawn="1"/>
        </p:nvCxnSpPr>
        <p:spPr bwMode="gray">
          <a:xfrm flipV="1">
            <a:off x="4368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3" name="Gerade Verbindung 37"/>
          <p:cNvCxnSpPr/>
          <p:nvPr userDrawn="1"/>
        </p:nvCxnSpPr>
        <p:spPr bwMode="gray">
          <a:xfrm flipV="1">
            <a:off x="5016000" y="-169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4" name="Gerade Verbindung 36"/>
          <p:cNvCxnSpPr/>
          <p:nvPr userDrawn="1"/>
        </p:nvCxnSpPr>
        <p:spPr bwMode="gray">
          <a:xfrm flipV="1">
            <a:off x="5304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5" name="Gerade Verbindung 37"/>
          <p:cNvCxnSpPr/>
          <p:nvPr userDrawn="1"/>
        </p:nvCxnSpPr>
        <p:spPr bwMode="gray">
          <a:xfrm flipV="1">
            <a:off x="5952000" y="-169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6" name="Gerade Verbindung 36"/>
          <p:cNvCxnSpPr/>
          <p:nvPr userDrawn="1"/>
        </p:nvCxnSpPr>
        <p:spPr bwMode="gray">
          <a:xfrm flipV="1">
            <a:off x="6240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7" name="Gerade Verbindung 37"/>
          <p:cNvCxnSpPr/>
          <p:nvPr userDrawn="1"/>
        </p:nvCxnSpPr>
        <p:spPr bwMode="gray">
          <a:xfrm flipV="1">
            <a:off x="6888000" y="-169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8" name="Gerade Verbindung 36"/>
          <p:cNvCxnSpPr/>
          <p:nvPr userDrawn="1"/>
        </p:nvCxnSpPr>
        <p:spPr bwMode="gray">
          <a:xfrm flipV="1">
            <a:off x="7176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29" name="Gerade Verbindung 37"/>
          <p:cNvCxnSpPr/>
          <p:nvPr userDrawn="1"/>
        </p:nvCxnSpPr>
        <p:spPr bwMode="gray">
          <a:xfrm flipV="1">
            <a:off x="7824000" y="-168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0" name="Gerade Verbindung 36"/>
          <p:cNvCxnSpPr/>
          <p:nvPr userDrawn="1"/>
        </p:nvCxnSpPr>
        <p:spPr bwMode="gray">
          <a:xfrm flipV="1">
            <a:off x="8112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1" name="Gerade Verbindung 37"/>
          <p:cNvCxnSpPr/>
          <p:nvPr userDrawn="1"/>
        </p:nvCxnSpPr>
        <p:spPr bwMode="gray">
          <a:xfrm flipV="1">
            <a:off x="8760000" y="-168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2" name="Gerade Verbindung 36"/>
          <p:cNvCxnSpPr/>
          <p:nvPr userDrawn="1"/>
        </p:nvCxnSpPr>
        <p:spPr bwMode="gray">
          <a:xfrm flipV="1">
            <a:off x="9048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3" name="Gerade Verbindung 37"/>
          <p:cNvCxnSpPr/>
          <p:nvPr userDrawn="1"/>
        </p:nvCxnSpPr>
        <p:spPr bwMode="gray">
          <a:xfrm flipV="1">
            <a:off x="9696000" y="-167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4" name="Gerade Verbindung 36"/>
          <p:cNvCxnSpPr/>
          <p:nvPr userDrawn="1"/>
        </p:nvCxnSpPr>
        <p:spPr bwMode="gray">
          <a:xfrm flipV="1">
            <a:off x="9984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5" name="Gerade Verbindung 37"/>
          <p:cNvCxnSpPr/>
          <p:nvPr userDrawn="1"/>
        </p:nvCxnSpPr>
        <p:spPr bwMode="gray">
          <a:xfrm flipV="1">
            <a:off x="10632000" y="-167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6" name="Gerade Verbindung 36"/>
          <p:cNvCxnSpPr/>
          <p:nvPr userDrawn="1"/>
        </p:nvCxnSpPr>
        <p:spPr bwMode="gray">
          <a:xfrm flipV="1">
            <a:off x="10920000" y="-16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7" name="Gerade Verbindung 37"/>
          <p:cNvCxnSpPr/>
          <p:nvPr userDrawn="1"/>
        </p:nvCxnSpPr>
        <p:spPr bwMode="gray">
          <a:xfrm flipV="1">
            <a:off x="11568000" y="-16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8" name="Gerade Verbindung 36"/>
          <p:cNvCxnSpPr/>
          <p:nvPr userDrawn="1"/>
        </p:nvCxnSpPr>
        <p:spPr bwMode="gray">
          <a:xfrm flipV="1">
            <a:off x="624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39" name="Gerade Verbindung 37"/>
          <p:cNvCxnSpPr/>
          <p:nvPr userDrawn="1"/>
        </p:nvCxnSpPr>
        <p:spPr bwMode="gray">
          <a:xfrm flipV="1">
            <a:off x="1272000" y="6952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0" name="Gerade Verbindung 36"/>
          <p:cNvCxnSpPr/>
          <p:nvPr userDrawn="1"/>
        </p:nvCxnSpPr>
        <p:spPr bwMode="gray">
          <a:xfrm flipV="1">
            <a:off x="1560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1" name="Gerade Verbindung 37"/>
          <p:cNvCxnSpPr/>
          <p:nvPr userDrawn="1"/>
        </p:nvCxnSpPr>
        <p:spPr bwMode="gray">
          <a:xfrm flipV="1">
            <a:off x="2208000" y="6952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2" name="Gerade Verbindung 36"/>
          <p:cNvCxnSpPr/>
          <p:nvPr userDrawn="1"/>
        </p:nvCxnSpPr>
        <p:spPr bwMode="gray">
          <a:xfrm flipV="1">
            <a:off x="2496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3" name="Gerade Verbindung 37"/>
          <p:cNvCxnSpPr/>
          <p:nvPr userDrawn="1"/>
        </p:nvCxnSpPr>
        <p:spPr bwMode="gray">
          <a:xfrm flipV="1">
            <a:off x="3144000" y="6953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4" name="Gerade Verbindung 36"/>
          <p:cNvCxnSpPr/>
          <p:nvPr userDrawn="1"/>
        </p:nvCxnSpPr>
        <p:spPr bwMode="gray">
          <a:xfrm flipV="1">
            <a:off x="3432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5" name="Gerade Verbindung 37"/>
          <p:cNvCxnSpPr/>
          <p:nvPr userDrawn="1"/>
        </p:nvCxnSpPr>
        <p:spPr bwMode="gray">
          <a:xfrm flipV="1">
            <a:off x="4080000" y="6953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6" name="Gerade Verbindung 36"/>
          <p:cNvCxnSpPr/>
          <p:nvPr userDrawn="1"/>
        </p:nvCxnSpPr>
        <p:spPr bwMode="gray">
          <a:xfrm flipV="1">
            <a:off x="4368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7" name="Gerade Verbindung 37"/>
          <p:cNvCxnSpPr/>
          <p:nvPr userDrawn="1"/>
        </p:nvCxnSpPr>
        <p:spPr bwMode="gray">
          <a:xfrm flipV="1">
            <a:off x="5016000" y="6953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8" name="Gerade Verbindung 36"/>
          <p:cNvCxnSpPr/>
          <p:nvPr userDrawn="1"/>
        </p:nvCxnSpPr>
        <p:spPr bwMode="gray">
          <a:xfrm flipV="1">
            <a:off x="5304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49" name="Gerade Verbindung 37"/>
          <p:cNvCxnSpPr/>
          <p:nvPr userDrawn="1"/>
        </p:nvCxnSpPr>
        <p:spPr bwMode="gray">
          <a:xfrm flipV="1">
            <a:off x="5952000" y="6954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0" name="Gerade Verbindung 36"/>
          <p:cNvCxnSpPr/>
          <p:nvPr userDrawn="1"/>
        </p:nvCxnSpPr>
        <p:spPr bwMode="gray">
          <a:xfrm flipV="1">
            <a:off x="6240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1" name="Gerade Verbindung 37"/>
          <p:cNvCxnSpPr/>
          <p:nvPr userDrawn="1"/>
        </p:nvCxnSpPr>
        <p:spPr bwMode="gray">
          <a:xfrm flipV="1">
            <a:off x="6888000" y="6954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2" name="Gerade Verbindung 36"/>
          <p:cNvCxnSpPr/>
          <p:nvPr userDrawn="1"/>
        </p:nvCxnSpPr>
        <p:spPr bwMode="gray">
          <a:xfrm flipV="1">
            <a:off x="7176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3" name="Gerade Verbindung 37"/>
          <p:cNvCxnSpPr/>
          <p:nvPr userDrawn="1"/>
        </p:nvCxnSpPr>
        <p:spPr bwMode="gray">
          <a:xfrm flipV="1">
            <a:off x="7824000" y="6955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4" name="Gerade Verbindung 36"/>
          <p:cNvCxnSpPr/>
          <p:nvPr userDrawn="1"/>
        </p:nvCxnSpPr>
        <p:spPr bwMode="gray">
          <a:xfrm flipV="1">
            <a:off x="8112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5" name="Gerade Verbindung 37"/>
          <p:cNvCxnSpPr/>
          <p:nvPr userDrawn="1"/>
        </p:nvCxnSpPr>
        <p:spPr bwMode="gray">
          <a:xfrm flipV="1">
            <a:off x="8760000" y="69554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6" name="Gerade Verbindung 36"/>
          <p:cNvCxnSpPr/>
          <p:nvPr userDrawn="1"/>
        </p:nvCxnSpPr>
        <p:spPr bwMode="gray">
          <a:xfrm flipV="1">
            <a:off x="9048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7" name="Gerade Verbindung 37"/>
          <p:cNvCxnSpPr/>
          <p:nvPr userDrawn="1"/>
        </p:nvCxnSpPr>
        <p:spPr bwMode="gray">
          <a:xfrm flipV="1">
            <a:off x="9696000" y="69558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8" name="Gerade Verbindung 36"/>
          <p:cNvCxnSpPr/>
          <p:nvPr userDrawn="1"/>
        </p:nvCxnSpPr>
        <p:spPr bwMode="gray">
          <a:xfrm flipV="1">
            <a:off x="9984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59" name="Gerade Verbindung 37"/>
          <p:cNvCxnSpPr/>
          <p:nvPr userDrawn="1"/>
        </p:nvCxnSpPr>
        <p:spPr bwMode="gray">
          <a:xfrm flipV="1">
            <a:off x="10632000" y="69562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0" name="Gerade Verbindung 36"/>
          <p:cNvCxnSpPr/>
          <p:nvPr userDrawn="1"/>
        </p:nvCxnSpPr>
        <p:spPr bwMode="gray">
          <a:xfrm flipV="1">
            <a:off x="10920000" y="69570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1" name="Gerade Verbindung 37"/>
          <p:cNvCxnSpPr/>
          <p:nvPr userDrawn="1"/>
        </p:nvCxnSpPr>
        <p:spPr bwMode="gray">
          <a:xfrm flipV="1">
            <a:off x="11568000" y="6956600"/>
            <a:ext cx="0" cy="72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userDrawn="1"/>
        </p:nvCxnSpPr>
        <p:spPr bwMode="gray">
          <a:xfrm rot="5400000" flipV="1">
            <a:off x="-192704" y="1437000"/>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bwMode="gray">
          <a:xfrm rot="5400000" flipV="1">
            <a:off x="-192704" y="6045296"/>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cxnSp>
        <p:nvCxnSpPr>
          <p:cNvPr id="64" name="Gerade Verbindung 64"/>
          <p:cNvCxnSpPr/>
          <p:nvPr userDrawn="1"/>
        </p:nvCxnSpPr>
        <p:spPr bwMode="gray">
          <a:xfrm rot="5400000" flipV="1">
            <a:off x="-192704" y="356664"/>
            <a:ext cx="0" cy="96000"/>
          </a:xfrm>
          <a:prstGeom prst="line">
            <a:avLst/>
          </a:prstGeom>
          <a:ln w="3175">
            <a:solidFill>
              <a:srgbClr val="999999"/>
            </a:solidFill>
          </a:ln>
        </p:spPr>
        <p:style>
          <a:lnRef idx="1">
            <a:schemeClr val="accent1"/>
          </a:lnRef>
          <a:fillRef idx="0">
            <a:schemeClr val="accent1"/>
          </a:fillRef>
          <a:effectRef idx="0">
            <a:schemeClr val="accent1"/>
          </a:effectRef>
          <a:fontRef idx="minor">
            <a:schemeClr val="tx1"/>
          </a:fontRef>
        </p:style>
      </p:cxnSp>
      <p:sp>
        <p:nvSpPr>
          <p:cNvPr id="65" name="empower - DO NOT DELETE!!!"/>
          <p:cNvSpPr/>
          <p:nvPr userDrawn="1">
            <p:custDataLst>
              <p:tags r:id="rId18"/>
            </p:custDataLst>
          </p:nvPr>
        </p:nvSpPr>
        <p:spPr bwMode="gray">
          <a:xfrm>
            <a:off x="-1270000" y="-1270000"/>
            <a:ext cx="0" cy="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66" name="Slide Number Placeholder 65"/>
          <p:cNvSpPr>
            <a:spLocks noGrp="1"/>
          </p:cNvSpPr>
          <p:nvPr>
            <p:ph type="sldNum" sz="quarter" idx="4"/>
          </p:nvPr>
        </p:nvSpPr>
        <p:spPr bwMode="gray">
          <a:xfrm>
            <a:off x="624001" y="6380999"/>
            <a:ext cx="648000" cy="216172"/>
          </a:xfrm>
          <a:prstGeom prst="rect">
            <a:avLst/>
          </a:prstGeom>
        </p:spPr>
        <p:txBody>
          <a:bodyPr vert="horz" lIns="0" tIns="0" rIns="0" bIns="36000" rtlCol="0" anchor="b" anchorCtr="0"/>
          <a:lstStyle>
            <a:lvl1pPr>
              <a:defRPr lang="de-DE" sz="80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FD5E7EB4-4CDF-47BB-AF16-07782904B863}" type="slidenum">
              <a:rPr lang="en-US" smtClean="0"/>
              <a:pPr/>
              <a:t>‹#›</a:t>
            </a:fld>
            <a:endParaRPr lang="en-US" dirty="0"/>
          </a:p>
        </p:txBody>
      </p:sp>
      <p:sp>
        <p:nvSpPr>
          <p:cNvPr id="67" name="Footer Placeholder 66"/>
          <p:cNvSpPr>
            <a:spLocks noGrp="1"/>
          </p:cNvSpPr>
          <p:nvPr>
            <p:ph type="ftr" sz="quarter" idx="3"/>
          </p:nvPr>
        </p:nvSpPr>
        <p:spPr bwMode="gray">
          <a:xfrm>
            <a:off x="1272000" y="6380999"/>
            <a:ext cx="8718972" cy="216172"/>
          </a:xfrm>
          <a:prstGeom prst="rect">
            <a:avLst/>
          </a:prstGeom>
        </p:spPr>
        <p:txBody>
          <a:bodyPr vert="horz" lIns="0" tIns="0" rIns="0" bIns="36000" rtlCol="0" anchor="b" anchorCtr="0"/>
          <a:lstStyle>
            <a:lvl1pPr>
              <a:defRPr lang="de-DE" sz="8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Title of Presentation | DD.MM.YYYY</a:t>
            </a:r>
          </a:p>
        </p:txBody>
      </p:sp>
      <p:sp>
        <p:nvSpPr>
          <p:cNvPr id="13" name="Text Placeholder 12"/>
          <p:cNvSpPr>
            <a:spLocks noGrp="1"/>
          </p:cNvSpPr>
          <p:nvPr>
            <p:ph type="body" idx="1"/>
          </p:nvPr>
        </p:nvSpPr>
        <p:spPr bwMode="gray">
          <a:xfrm>
            <a:off x="623888" y="1485000"/>
            <a:ext cx="10944227" cy="460782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a:p>
            <a:pPr lvl="4"/>
            <a:endParaRPr lang="en-US" dirty="0"/>
          </a:p>
        </p:txBody>
      </p:sp>
      <p:sp>
        <p:nvSpPr>
          <p:cNvPr id="4" name="Title Placeholder 3"/>
          <p:cNvSpPr>
            <a:spLocks noGrp="1"/>
          </p:cNvSpPr>
          <p:nvPr>
            <p:ph type="title"/>
          </p:nvPr>
        </p:nvSpPr>
        <p:spPr bwMode="gray">
          <a:xfrm>
            <a:off x="623888" y="404813"/>
            <a:ext cx="10944225" cy="651939"/>
          </a:xfrm>
          <a:prstGeom prst="rect">
            <a:avLst/>
          </a:prstGeom>
          <a:noFill/>
        </p:spPr>
        <p:txBody>
          <a:bodyPr vert="horz" lIns="0" tIns="0" rIns="0" bIns="18000" rtlCol="0" anchor="b" anchorCtr="0">
            <a:noAutofit/>
          </a:bodyPr>
          <a:lstStyle/>
          <a:p>
            <a:pPr lvl="0">
              <a:lnSpc>
                <a:spcPct val="100000"/>
              </a:lnSpc>
            </a:pPr>
            <a:r>
              <a:rPr lang="en-US" noProof="0" dirty="0"/>
              <a:t>Insert slide title here (max. 2 lines | max. 1 line with Action Title)</a:t>
            </a:r>
          </a:p>
        </p:txBody>
      </p:sp>
      <p:grpSp>
        <p:nvGrpSpPr>
          <p:cNvPr id="7" name="Logo Merck"/>
          <p:cNvGrpSpPr>
            <a:grpSpLocks noChangeAspect="1"/>
          </p:cNvGrpSpPr>
          <p:nvPr userDrawn="1">
            <p:custDataLst>
              <p:tags r:id="rId19"/>
            </p:custDataLst>
          </p:nvPr>
        </p:nvGrpSpPr>
        <p:grpSpPr bwMode="gray">
          <a:xfrm>
            <a:off x="10539522" y="6440320"/>
            <a:ext cx="1028592" cy="162000"/>
            <a:chOff x="-4548188" y="3063875"/>
            <a:chExt cx="2741613" cy="431800"/>
          </a:xfrm>
          <a:solidFill>
            <a:schemeClr val="bg2"/>
          </a:solidFill>
        </p:grpSpPr>
        <p:sp>
          <p:nvSpPr>
            <p:cNvPr id="8" name="Logo K"/>
            <p:cNvSpPr>
              <a:spLocks/>
            </p:cNvSpPr>
            <p:nvPr/>
          </p:nvSpPr>
          <p:spPr bwMode="gray">
            <a:xfrm>
              <a:off x="-2230438" y="3063875"/>
              <a:ext cx="423863" cy="423862"/>
            </a:xfrm>
            <a:custGeom>
              <a:avLst/>
              <a:gdLst>
                <a:gd name="T0" fmla="*/ 8 w 113"/>
                <a:gd name="T1" fmla="*/ 113 h 113"/>
                <a:gd name="T2" fmla="*/ 27 w 113"/>
                <a:gd name="T3" fmla="*/ 105 h 113"/>
                <a:gd name="T4" fmla="*/ 34 w 113"/>
                <a:gd name="T5" fmla="*/ 98 h 113"/>
                <a:gd name="T6" fmla="*/ 43 w 113"/>
                <a:gd name="T7" fmla="*/ 93 h 113"/>
                <a:gd name="T8" fmla="*/ 46 w 113"/>
                <a:gd name="T9" fmla="*/ 93 h 113"/>
                <a:gd name="T10" fmla="*/ 49 w 113"/>
                <a:gd name="T11" fmla="*/ 93 h 113"/>
                <a:gd name="T12" fmla="*/ 60 w 113"/>
                <a:gd name="T13" fmla="*/ 96 h 113"/>
                <a:gd name="T14" fmla="*/ 92 w 113"/>
                <a:gd name="T15" fmla="*/ 109 h 113"/>
                <a:gd name="T16" fmla="*/ 106 w 113"/>
                <a:gd name="T17" fmla="*/ 113 h 113"/>
                <a:gd name="T18" fmla="*/ 111 w 113"/>
                <a:gd name="T19" fmla="*/ 113 h 113"/>
                <a:gd name="T20" fmla="*/ 113 w 113"/>
                <a:gd name="T21" fmla="*/ 110 h 113"/>
                <a:gd name="T22" fmla="*/ 113 w 113"/>
                <a:gd name="T23" fmla="*/ 99 h 113"/>
                <a:gd name="T24" fmla="*/ 100 w 113"/>
                <a:gd name="T25" fmla="*/ 80 h 113"/>
                <a:gd name="T26" fmla="*/ 94 w 113"/>
                <a:gd name="T27" fmla="*/ 77 h 113"/>
                <a:gd name="T28" fmla="*/ 78 w 113"/>
                <a:gd name="T29" fmla="*/ 67 h 113"/>
                <a:gd name="T30" fmla="*/ 79 w 113"/>
                <a:gd name="T31" fmla="*/ 52 h 113"/>
                <a:gd name="T32" fmla="*/ 107 w 113"/>
                <a:gd name="T33" fmla="*/ 24 h 113"/>
                <a:gd name="T34" fmla="*/ 113 w 113"/>
                <a:gd name="T35" fmla="*/ 10 h 113"/>
                <a:gd name="T36" fmla="*/ 113 w 113"/>
                <a:gd name="T37" fmla="*/ 6 h 113"/>
                <a:gd name="T38" fmla="*/ 110 w 113"/>
                <a:gd name="T39" fmla="*/ 2 h 113"/>
                <a:gd name="T40" fmla="*/ 103 w 113"/>
                <a:gd name="T41" fmla="*/ 0 h 113"/>
                <a:gd name="T42" fmla="*/ 99 w 113"/>
                <a:gd name="T43" fmla="*/ 0 h 113"/>
                <a:gd name="T44" fmla="*/ 80 w 113"/>
                <a:gd name="T45" fmla="*/ 8 h 113"/>
                <a:gd name="T46" fmla="*/ 57 w 113"/>
                <a:gd name="T47" fmla="*/ 31 h 113"/>
                <a:gd name="T48" fmla="*/ 31 w 113"/>
                <a:gd name="T49" fmla="*/ 57 h 113"/>
                <a:gd name="T50" fmla="*/ 31 w 113"/>
                <a:gd name="T51" fmla="*/ 16 h 113"/>
                <a:gd name="T52" fmla="*/ 14 w 113"/>
                <a:gd name="T53" fmla="*/ 0 h 113"/>
                <a:gd name="T54" fmla="*/ 7 w 113"/>
                <a:gd name="T55" fmla="*/ 0 h 113"/>
                <a:gd name="T56" fmla="*/ 1 w 113"/>
                <a:gd name="T57" fmla="*/ 0 h 113"/>
                <a:gd name="T58" fmla="*/ 0 w 113"/>
                <a:gd name="T59" fmla="*/ 3 h 113"/>
                <a:gd name="T60" fmla="*/ 0 w 113"/>
                <a:gd name="T61" fmla="*/ 111 h 113"/>
                <a:gd name="T62" fmla="*/ 2 w 113"/>
                <a:gd name="T63" fmla="*/ 113 h 113"/>
                <a:gd name="T64" fmla="*/ 8 w 113"/>
                <a:gd name="T65"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3" h="113">
                  <a:moveTo>
                    <a:pt x="8" y="113"/>
                  </a:moveTo>
                  <a:cubicBezTo>
                    <a:pt x="16" y="113"/>
                    <a:pt x="22" y="110"/>
                    <a:pt x="27" y="105"/>
                  </a:cubicBezTo>
                  <a:cubicBezTo>
                    <a:pt x="27" y="105"/>
                    <a:pt x="30" y="102"/>
                    <a:pt x="34" y="98"/>
                  </a:cubicBezTo>
                  <a:cubicBezTo>
                    <a:pt x="36" y="95"/>
                    <a:pt x="40" y="94"/>
                    <a:pt x="43" y="93"/>
                  </a:cubicBezTo>
                  <a:cubicBezTo>
                    <a:pt x="44" y="93"/>
                    <a:pt x="45" y="93"/>
                    <a:pt x="46" y="93"/>
                  </a:cubicBezTo>
                  <a:cubicBezTo>
                    <a:pt x="47" y="93"/>
                    <a:pt x="48" y="93"/>
                    <a:pt x="49" y="93"/>
                  </a:cubicBezTo>
                  <a:cubicBezTo>
                    <a:pt x="53" y="94"/>
                    <a:pt x="57" y="95"/>
                    <a:pt x="60" y="96"/>
                  </a:cubicBezTo>
                  <a:cubicBezTo>
                    <a:pt x="92" y="109"/>
                    <a:pt x="92" y="109"/>
                    <a:pt x="92" y="109"/>
                  </a:cubicBezTo>
                  <a:cubicBezTo>
                    <a:pt x="92" y="109"/>
                    <a:pt x="100" y="113"/>
                    <a:pt x="106" y="113"/>
                  </a:cubicBezTo>
                  <a:cubicBezTo>
                    <a:pt x="111" y="113"/>
                    <a:pt x="111" y="113"/>
                    <a:pt x="111" y="113"/>
                  </a:cubicBezTo>
                  <a:cubicBezTo>
                    <a:pt x="112" y="113"/>
                    <a:pt x="113" y="112"/>
                    <a:pt x="113" y="110"/>
                  </a:cubicBezTo>
                  <a:cubicBezTo>
                    <a:pt x="113" y="99"/>
                    <a:pt x="113" y="99"/>
                    <a:pt x="113" y="99"/>
                  </a:cubicBezTo>
                  <a:cubicBezTo>
                    <a:pt x="113" y="91"/>
                    <a:pt x="108" y="83"/>
                    <a:pt x="100" y="80"/>
                  </a:cubicBezTo>
                  <a:cubicBezTo>
                    <a:pt x="94" y="77"/>
                    <a:pt x="94" y="77"/>
                    <a:pt x="94" y="77"/>
                  </a:cubicBezTo>
                  <a:cubicBezTo>
                    <a:pt x="88" y="75"/>
                    <a:pt x="82" y="70"/>
                    <a:pt x="78" y="67"/>
                  </a:cubicBezTo>
                  <a:cubicBezTo>
                    <a:pt x="78" y="67"/>
                    <a:pt x="72" y="60"/>
                    <a:pt x="79" y="52"/>
                  </a:cubicBezTo>
                  <a:cubicBezTo>
                    <a:pt x="107" y="24"/>
                    <a:pt x="107" y="24"/>
                    <a:pt x="107" y="24"/>
                  </a:cubicBezTo>
                  <a:cubicBezTo>
                    <a:pt x="111" y="20"/>
                    <a:pt x="113" y="15"/>
                    <a:pt x="113" y="10"/>
                  </a:cubicBezTo>
                  <a:cubicBezTo>
                    <a:pt x="113" y="10"/>
                    <a:pt x="113" y="8"/>
                    <a:pt x="113" y="6"/>
                  </a:cubicBezTo>
                  <a:cubicBezTo>
                    <a:pt x="112" y="5"/>
                    <a:pt x="111" y="3"/>
                    <a:pt x="110" y="2"/>
                  </a:cubicBezTo>
                  <a:cubicBezTo>
                    <a:pt x="109" y="1"/>
                    <a:pt x="106" y="0"/>
                    <a:pt x="103" y="0"/>
                  </a:cubicBezTo>
                  <a:cubicBezTo>
                    <a:pt x="103" y="0"/>
                    <a:pt x="99" y="0"/>
                    <a:pt x="99" y="0"/>
                  </a:cubicBezTo>
                  <a:cubicBezTo>
                    <a:pt x="91" y="0"/>
                    <a:pt x="85" y="3"/>
                    <a:pt x="80" y="8"/>
                  </a:cubicBezTo>
                  <a:cubicBezTo>
                    <a:pt x="80" y="8"/>
                    <a:pt x="61" y="26"/>
                    <a:pt x="57" y="31"/>
                  </a:cubicBezTo>
                  <a:cubicBezTo>
                    <a:pt x="31" y="57"/>
                    <a:pt x="31" y="57"/>
                    <a:pt x="31" y="57"/>
                  </a:cubicBezTo>
                  <a:cubicBezTo>
                    <a:pt x="31" y="57"/>
                    <a:pt x="31" y="16"/>
                    <a:pt x="31" y="16"/>
                  </a:cubicBezTo>
                  <a:cubicBezTo>
                    <a:pt x="31" y="7"/>
                    <a:pt x="23" y="0"/>
                    <a:pt x="14" y="0"/>
                  </a:cubicBezTo>
                  <a:cubicBezTo>
                    <a:pt x="14" y="0"/>
                    <a:pt x="7" y="0"/>
                    <a:pt x="7" y="0"/>
                  </a:cubicBezTo>
                  <a:cubicBezTo>
                    <a:pt x="5" y="0"/>
                    <a:pt x="2" y="0"/>
                    <a:pt x="1" y="0"/>
                  </a:cubicBezTo>
                  <a:cubicBezTo>
                    <a:pt x="0" y="1"/>
                    <a:pt x="0" y="2"/>
                    <a:pt x="0" y="3"/>
                  </a:cubicBezTo>
                  <a:cubicBezTo>
                    <a:pt x="0" y="3"/>
                    <a:pt x="0" y="111"/>
                    <a:pt x="0" y="111"/>
                  </a:cubicBezTo>
                  <a:cubicBezTo>
                    <a:pt x="0" y="112"/>
                    <a:pt x="1" y="113"/>
                    <a:pt x="2" y="113"/>
                  </a:cubicBezTo>
                  <a:lnTo>
                    <a:pt x="8"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Logo C"/>
            <p:cNvSpPr>
              <a:spLocks/>
            </p:cNvSpPr>
            <p:nvPr/>
          </p:nvSpPr>
          <p:spPr bwMode="gray">
            <a:xfrm>
              <a:off x="-2695575" y="3063875"/>
              <a:ext cx="427038" cy="431800"/>
            </a:xfrm>
            <a:custGeom>
              <a:avLst/>
              <a:gdLst>
                <a:gd name="T0" fmla="*/ 111 w 114"/>
                <a:gd name="T1" fmla="*/ 66 h 115"/>
                <a:gd name="T2" fmla="*/ 94 w 114"/>
                <a:gd name="T3" fmla="*/ 66 h 115"/>
                <a:gd name="T4" fmla="*/ 82 w 114"/>
                <a:gd name="T5" fmla="*/ 74 h 115"/>
                <a:gd name="T6" fmla="*/ 76 w 114"/>
                <a:gd name="T7" fmla="*/ 82 h 115"/>
                <a:gd name="T8" fmla="*/ 65 w 114"/>
                <a:gd name="T9" fmla="*/ 86 h 115"/>
                <a:gd name="T10" fmla="*/ 53 w 114"/>
                <a:gd name="T11" fmla="*/ 82 h 115"/>
                <a:gd name="T12" fmla="*/ 42 w 114"/>
                <a:gd name="T13" fmla="*/ 73 h 115"/>
                <a:gd name="T14" fmla="*/ 34 w 114"/>
                <a:gd name="T15" fmla="*/ 61 h 115"/>
                <a:gd name="T16" fmla="*/ 31 w 114"/>
                <a:gd name="T17" fmla="*/ 48 h 115"/>
                <a:gd name="T18" fmla="*/ 36 w 114"/>
                <a:gd name="T19" fmla="*/ 34 h 115"/>
                <a:gd name="T20" fmla="*/ 49 w 114"/>
                <a:gd name="T21" fmla="*/ 29 h 115"/>
                <a:gd name="T22" fmla="*/ 66 w 114"/>
                <a:gd name="T23" fmla="*/ 35 h 115"/>
                <a:gd name="T24" fmla="*/ 74 w 114"/>
                <a:gd name="T25" fmla="*/ 38 h 115"/>
                <a:gd name="T26" fmla="*/ 82 w 114"/>
                <a:gd name="T27" fmla="*/ 34 h 115"/>
                <a:gd name="T28" fmla="*/ 94 w 114"/>
                <a:gd name="T29" fmla="*/ 22 h 115"/>
                <a:gd name="T30" fmla="*/ 95 w 114"/>
                <a:gd name="T31" fmla="*/ 20 h 115"/>
                <a:gd name="T32" fmla="*/ 93 w 114"/>
                <a:gd name="T33" fmla="*/ 18 h 115"/>
                <a:gd name="T34" fmla="*/ 73 w 114"/>
                <a:gd name="T35" fmla="*/ 5 h 115"/>
                <a:gd name="T36" fmla="*/ 49 w 114"/>
                <a:gd name="T37" fmla="*/ 0 h 115"/>
                <a:gd name="T38" fmla="*/ 3 w 114"/>
                <a:gd name="T39" fmla="*/ 0 h 115"/>
                <a:gd name="T40" fmla="*/ 0 w 114"/>
                <a:gd name="T41" fmla="*/ 3 h 115"/>
                <a:gd name="T42" fmla="*/ 0 w 114"/>
                <a:gd name="T43" fmla="*/ 49 h 115"/>
                <a:gd name="T44" fmla="*/ 6 w 114"/>
                <a:gd name="T45" fmla="*/ 74 h 115"/>
                <a:gd name="T46" fmla="*/ 20 w 114"/>
                <a:gd name="T47" fmla="*/ 95 h 115"/>
                <a:gd name="T48" fmla="*/ 41 w 114"/>
                <a:gd name="T49" fmla="*/ 109 h 115"/>
                <a:gd name="T50" fmla="*/ 65 w 114"/>
                <a:gd name="T51" fmla="*/ 115 h 115"/>
                <a:gd name="T52" fmla="*/ 84 w 114"/>
                <a:gd name="T53" fmla="*/ 111 h 115"/>
                <a:gd name="T54" fmla="*/ 99 w 114"/>
                <a:gd name="T55" fmla="*/ 102 h 115"/>
                <a:gd name="T56" fmla="*/ 109 w 114"/>
                <a:gd name="T57" fmla="*/ 87 h 115"/>
                <a:gd name="T58" fmla="*/ 114 w 114"/>
                <a:gd name="T59" fmla="*/ 69 h 115"/>
                <a:gd name="T60" fmla="*/ 111 w 114"/>
                <a:gd name="T61"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4" h="115">
                  <a:moveTo>
                    <a:pt x="111" y="66"/>
                  </a:moveTo>
                  <a:cubicBezTo>
                    <a:pt x="94" y="66"/>
                    <a:pt x="94" y="66"/>
                    <a:pt x="94" y="66"/>
                  </a:cubicBezTo>
                  <a:cubicBezTo>
                    <a:pt x="88" y="66"/>
                    <a:pt x="84" y="68"/>
                    <a:pt x="82" y="74"/>
                  </a:cubicBezTo>
                  <a:cubicBezTo>
                    <a:pt x="81" y="77"/>
                    <a:pt x="79" y="80"/>
                    <a:pt x="76" y="82"/>
                  </a:cubicBezTo>
                  <a:cubicBezTo>
                    <a:pt x="73" y="84"/>
                    <a:pt x="70" y="86"/>
                    <a:pt x="65" y="86"/>
                  </a:cubicBezTo>
                  <a:cubicBezTo>
                    <a:pt x="62" y="86"/>
                    <a:pt x="57" y="84"/>
                    <a:pt x="53" y="82"/>
                  </a:cubicBezTo>
                  <a:cubicBezTo>
                    <a:pt x="49" y="80"/>
                    <a:pt x="46" y="77"/>
                    <a:pt x="42" y="73"/>
                  </a:cubicBezTo>
                  <a:cubicBezTo>
                    <a:pt x="39" y="70"/>
                    <a:pt x="36" y="66"/>
                    <a:pt x="34" y="61"/>
                  </a:cubicBezTo>
                  <a:cubicBezTo>
                    <a:pt x="32" y="57"/>
                    <a:pt x="31" y="52"/>
                    <a:pt x="31" y="48"/>
                  </a:cubicBezTo>
                  <a:cubicBezTo>
                    <a:pt x="31" y="42"/>
                    <a:pt x="33" y="38"/>
                    <a:pt x="36" y="34"/>
                  </a:cubicBezTo>
                  <a:cubicBezTo>
                    <a:pt x="40" y="31"/>
                    <a:pt x="44" y="29"/>
                    <a:pt x="49" y="29"/>
                  </a:cubicBezTo>
                  <a:cubicBezTo>
                    <a:pt x="55" y="29"/>
                    <a:pt x="61" y="31"/>
                    <a:pt x="66" y="35"/>
                  </a:cubicBezTo>
                  <a:cubicBezTo>
                    <a:pt x="69" y="37"/>
                    <a:pt x="71" y="38"/>
                    <a:pt x="74" y="38"/>
                  </a:cubicBezTo>
                  <a:cubicBezTo>
                    <a:pt x="76" y="38"/>
                    <a:pt x="79" y="36"/>
                    <a:pt x="82" y="34"/>
                  </a:cubicBezTo>
                  <a:cubicBezTo>
                    <a:pt x="94" y="22"/>
                    <a:pt x="94" y="22"/>
                    <a:pt x="94" y="22"/>
                  </a:cubicBezTo>
                  <a:cubicBezTo>
                    <a:pt x="95" y="21"/>
                    <a:pt x="95" y="21"/>
                    <a:pt x="95" y="20"/>
                  </a:cubicBezTo>
                  <a:cubicBezTo>
                    <a:pt x="94" y="19"/>
                    <a:pt x="94" y="19"/>
                    <a:pt x="93" y="18"/>
                  </a:cubicBezTo>
                  <a:cubicBezTo>
                    <a:pt x="87" y="12"/>
                    <a:pt x="80" y="8"/>
                    <a:pt x="73" y="5"/>
                  </a:cubicBezTo>
                  <a:cubicBezTo>
                    <a:pt x="65" y="1"/>
                    <a:pt x="57" y="0"/>
                    <a:pt x="49" y="0"/>
                  </a:cubicBezTo>
                  <a:cubicBezTo>
                    <a:pt x="3" y="0"/>
                    <a:pt x="3" y="0"/>
                    <a:pt x="3" y="0"/>
                  </a:cubicBezTo>
                  <a:cubicBezTo>
                    <a:pt x="1" y="0"/>
                    <a:pt x="0" y="1"/>
                    <a:pt x="0" y="3"/>
                  </a:cubicBezTo>
                  <a:cubicBezTo>
                    <a:pt x="0" y="49"/>
                    <a:pt x="0" y="49"/>
                    <a:pt x="0" y="49"/>
                  </a:cubicBezTo>
                  <a:cubicBezTo>
                    <a:pt x="0" y="57"/>
                    <a:pt x="2" y="66"/>
                    <a:pt x="6" y="74"/>
                  </a:cubicBezTo>
                  <a:cubicBezTo>
                    <a:pt x="9" y="82"/>
                    <a:pt x="14" y="89"/>
                    <a:pt x="20" y="95"/>
                  </a:cubicBezTo>
                  <a:cubicBezTo>
                    <a:pt x="26" y="101"/>
                    <a:pt x="33" y="106"/>
                    <a:pt x="41" y="109"/>
                  </a:cubicBezTo>
                  <a:cubicBezTo>
                    <a:pt x="49" y="113"/>
                    <a:pt x="57" y="115"/>
                    <a:pt x="65" y="115"/>
                  </a:cubicBezTo>
                  <a:cubicBezTo>
                    <a:pt x="72" y="115"/>
                    <a:pt x="78" y="114"/>
                    <a:pt x="84" y="111"/>
                  </a:cubicBezTo>
                  <a:cubicBezTo>
                    <a:pt x="90" y="109"/>
                    <a:pt x="95" y="106"/>
                    <a:pt x="99" y="102"/>
                  </a:cubicBezTo>
                  <a:cubicBezTo>
                    <a:pt x="103" y="98"/>
                    <a:pt x="107" y="93"/>
                    <a:pt x="109" y="87"/>
                  </a:cubicBezTo>
                  <a:cubicBezTo>
                    <a:pt x="112" y="81"/>
                    <a:pt x="113" y="75"/>
                    <a:pt x="114" y="69"/>
                  </a:cubicBezTo>
                  <a:cubicBezTo>
                    <a:pt x="114" y="67"/>
                    <a:pt x="113" y="66"/>
                    <a:pt x="111"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Logo R"/>
            <p:cNvSpPr>
              <a:spLocks/>
            </p:cNvSpPr>
            <p:nvPr/>
          </p:nvSpPr>
          <p:spPr bwMode="gray">
            <a:xfrm>
              <a:off x="-3157538" y="3063875"/>
              <a:ext cx="461963" cy="423862"/>
            </a:xfrm>
            <a:custGeom>
              <a:avLst/>
              <a:gdLst>
                <a:gd name="T0" fmla="*/ 121 w 123"/>
                <a:gd name="T1" fmla="*/ 99 h 113"/>
                <a:gd name="T2" fmla="*/ 104 w 123"/>
                <a:gd name="T3" fmla="*/ 88 h 113"/>
                <a:gd name="T4" fmla="*/ 91 w 123"/>
                <a:gd name="T5" fmla="*/ 78 h 113"/>
                <a:gd name="T6" fmla="*/ 107 w 123"/>
                <a:gd name="T7" fmla="*/ 67 h 113"/>
                <a:gd name="T8" fmla="*/ 113 w 123"/>
                <a:gd name="T9" fmla="*/ 49 h 113"/>
                <a:gd name="T10" fmla="*/ 107 w 123"/>
                <a:gd name="T11" fmla="*/ 30 h 113"/>
                <a:gd name="T12" fmla="*/ 92 w 123"/>
                <a:gd name="T13" fmla="*/ 14 h 113"/>
                <a:gd name="T14" fmla="*/ 71 w 123"/>
                <a:gd name="T15" fmla="*/ 4 h 113"/>
                <a:gd name="T16" fmla="*/ 48 w 123"/>
                <a:gd name="T17" fmla="*/ 0 h 113"/>
                <a:gd name="T18" fmla="*/ 2 w 123"/>
                <a:gd name="T19" fmla="*/ 0 h 113"/>
                <a:gd name="T20" fmla="*/ 0 w 123"/>
                <a:gd name="T21" fmla="*/ 2 h 113"/>
                <a:gd name="T22" fmla="*/ 0 w 123"/>
                <a:gd name="T23" fmla="*/ 79 h 113"/>
                <a:gd name="T24" fmla="*/ 0 w 123"/>
                <a:gd name="T25" fmla="*/ 96 h 113"/>
                <a:gd name="T26" fmla="*/ 0 w 123"/>
                <a:gd name="T27" fmla="*/ 102 h 113"/>
                <a:gd name="T28" fmla="*/ 0 w 123"/>
                <a:gd name="T29" fmla="*/ 109 h 113"/>
                <a:gd name="T30" fmla="*/ 1 w 123"/>
                <a:gd name="T31" fmla="*/ 112 h 113"/>
                <a:gd name="T32" fmla="*/ 7 w 123"/>
                <a:gd name="T33" fmla="*/ 113 h 113"/>
                <a:gd name="T34" fmla="*/ 15 w 123"/>
                <a:gd name="T35" fmla="*/ 112 h 113"/>
                <a:gd name="T36" fmla="*/ 25 w 123"/>
                <a:gd name="T37" fmla="*/ 105 h 113"/>
                <a:gd name="T38" fmla="*/ 30 w 123"/>
                <a:gd name="T39" fmla="*/ 86 h 113"/>
                <a:gd name="T40" fmla="*/ 30 w 123"/>
                <a:gd name="T41" fmla="*/ 39 h 113"/>
                <a:gd name="T42" fmla="*/ 31 w 123"/>
                <a:gd name="T43" fmla="*/ 36 h 113"/>
                <a:gd name="T44" fmla="*/ 32 w 123"/>
                <a:gd name="T45" fmla="*/ 34 h 113"/>
                <a:gd name="T46" fmla="*/ 60 w 123"/>
                <a:gd name="T47" fmla="*/ 28 h 113"/>
                <a:gd name="T48" fmla="*/ 80 w 123"/>
                <a:gd name="T49" fmla="*/ 50 h 113"/>
                <a:gd name="T50" fmla="*/ 64 w 123"/>
                <a:gd name="T51" fmla="*/ 58 h 113"/>
                <a:gd name="T52" fmla="*/ 53 w 123"/>
                <a:gd name="T53" fmla="*/ 57 h 113"/>
                <a:gd name="T54" fmla="*/ 48 w 123"/>
                <a:gd name="T55" fmla="*/ 55 h 113"/>
                <a:gd name="T56" fmla="*/ 44 w 123"/>
                <a:gd name="T57" fmla="*/ 54 h 113"/>
                <a:gd name="T58" fmla="*/ 43 w 123"/>
                <a:gd name="T59" fmla="*/ 57 h 113"/>
                <a:gd name="T60" fmla="*/ 43 w 123"/>
                <a:gd name="T61" fmla="*/ 69 h 113"/>
                <a:gd name="T62" fmla="*/ 47 w 123"/>
                <a:gd name="T63" fmla="*/ 79 h 113"/>
                <a:gd name="T64" fmla="*/ 84 w 123"/>
                <a:gd name="T65" fmla="*/ 109 h 113"/>
                <a:gd name="T66" fmla="*/ 96 w 123"/>
                <a:gd name="T67" fmla="*/ 113 h 113"/>
                <a:gd name="T68" fmla="*/ 121 w 123"/>
                <a:gd name="T69" fmla="*/ 113 h 113"/>
                <a:gd name="T70" fmla="*/ 123 w 123"/>
                <a:gd name="T71" fmla="*/ 110 h 113"/>
                <a:gd name="T72" fmla="*/ 123 w 123"/>
                <a:gd name="T73" fmla="*/ 102 h 113"/>
                <a:gd name="T74" fmla="*/ 121 w 123"/>
                <a:gd name="T75"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13">
                  <a:moveTo>
                    <a:pt x="121" y="99"/>
                  </a:moveTo>
                  <a:cubicBezTo>
                    <a:pt x="121" y="99"/>
                    <a:pt x="115" y="98"/>
                    <a:pt x="104" y="88"/>
                  </a:cubicBezTo>
                  <a:cubicBezTo>
                    <a:pt x="98" y="83"/>
                    <a:pt x="93" y="80"/>
                    <a:pt x="91" y="78"/>
                  </a:cubicBezTo>
                  <a:cubicBezTo>
                    <a:pt x="93" y="77"/>
                    <a:pt x="100" y="74"/>
                    <a:pt x="107" y="67"/>
                  </a:cubicBezTo>
                  <a:cubicBezTo>
                    <a:pt x="111" y="62"/>
                    <a:pt x="113" y="56"/>
                    <a:pt x="113" y="49"/>
                  </a:cubicBezTo>
                  <a:cubicBezTo>
                    <a:pt x="113" y="42"/>
                    <a:pt x="111" y="36"/>
                    <a:pt x="107" y="30"/>
                  </a:cubicBezTo>
                  <a:cubicBezTo>
                    <a:pt x="103" y="24"/>
                    <a:pt x="98" y="18"/>
                    <a:pt x="92" y="14"/>
                  </a:cubicBezTo>
                  <a:cubicBezTo>
                    <a:pt x="86" y="10"/>
                    <a:pt x="79" y="6"/>
                    <a:pt x="71" y="4"/>
                  </a:cubicBezTo>
                  <a:cubicBezTo>
                    <a:pt x="63" y="1"/>
                    <a:pt x="56" y="0"/>
                    <a:pt x="48" y="0"/>
                  </a:cubicBezTo>
                  <a:cubicBezTo>
                    <a:pt x="48" y="0"/>
                    <a:pt x="2" y="0"/>
                    <a:pt x="2" y="0"/>
                  </a:cubicBezTo>
                  <a:cubicBezTo>
                    <a:pt x="1" y="0"/>
                    <a:pt x="0" y="1"/>
                    <a:pt x="0" y="2"/>
                  </a:cubicBezTo>
                  <a:cubicBezTo>
                    <a:pt x="0" y="2"/>
                    <a:pt x="0" y="79"/>
                    <a:pt x="0" y="79"/>
                  </a:cubicBezTo>
                  <a:cubicBezTo>
                    <a:pt x="0" y="96"/>
                    <a:pt x="0" y="96"/>
                    <a:pt x="0" y="96"/>
                  </a:cubicBezTo>
                  <a:cubicBezTo>
                    <a:pt x="0" y="102"/>
                    <a:pt x="0" y="102"/>
                    <a:pt x="0" y="102"/>
                  </a:cubicBezTo>
                  <a:cubicBezTo>
                    <a:pt x="0" y="109"/>
                    <a:pt x="0" y="109"/>
                    <a:pt x="0" y="109"/>
                  </a:cubicBezTo>
                  <a:cubicBezTo>
                    <a:pt x="0" y="110"/>
                    <a:pt x="0" y="112"/>
                    <a:pt x="1" y="112"/>
                  </a:cubicBezTo>
                  <a:cubicBezTo>
                    <a:pt x="2" y="113"/>
                    <a:pt x="6" y="113"/>
                    <a:pt x="7" y="113"/>
                  </a:cubicBezTo>
                  <a:cubicBezTo>
                    <a:pt x="10" y="113"/>
                    <a:pt x="13" y="113"/>
                    <a:pt x="15" y="112"/>
                  </a:cubicBezTo>
                  <a:cubicBezTo>
                    <a:pt x="19" y="111"/>
                    <a:pt x="22" y="108"/>
                    <a:pt x="25" y="105"/>
                  </a:cubicBezTo>
                  <a:cubicBezTo>
                    <a:pt x="29" y="99"/>
                    <a:pt x="30" y="93"/>
                    <a:pt x="30" y="86"/>
                  </a:cubicBezTo>
                  <a:cubicBezTo>
                    <a:pt x="30" y="85"/>
                    <a:pt x="30" y="39"/>
                    <a:pt x="30" y="39"/>
                  </a:cubicBezTo>
                  <a:cubicBezTo>
                    <a:pt x="30" y="39"/>
                    <a:pt x="30" y="37"/>
                    <a:pt x="31" y="36"/>
                  </a:cubicBezTo>
                  <a:cubicBezTo>
                    <a:pt x="31" y="35"/>
                    <a:pt x="32" y="34"/>
                    <a:pt x="32" y="34"/>
                  </a:cubicBezTo>
                  <a:cubicBezTo>
                    <a:pt x="35" y="28"/>
                    <a:pt x="47" y="25"/>
                    <a:pt x="60" y="28"/>
                  </a:cubicBezTo>
                  <a:cubicBezTo>
                    <a:pt x="77" y="33"/>
                    <a:pt x="82" y="44"/>
                    <a:pt x="80" y="50"/>
                  </a:cubicBezTo>
                  <a:cubicBezTo>
                    <a:pt x="78" y="55"/>
                    <a:pt x="72" y="58"/>
                    <a:pt x="64" y="58"/>
                  </a:cubicBezTo>
                  <a:cubicBezTo>
                    <a:pt x="61" y="58"/>
                    <a:pt x="57" y="58"/>
                    <a:pt x="53" y="57"/>
                  </a:cubicBezTo>
                  <a:cubicBezTo>
                    <a:pt x="53" y="57"/>
                    <a:pt x="50" y="56"/>
                    <a:pt x="48" y="55"/>
                  </a:cubicBezTo>
                  <a:cubicBezTo>
                    <a:pt x="48" y="55"/>
                    <a:pt x="46" y="54"/>
                    <a:pt x="44" y="54"/>
                  </a:cubicBezTo>
                  <a:cubicBezTo>
                    <a:pt x="43" y="54"/>
                    <a:pt x="43" y="55"/>
                    <a:pt x="43" y="57"/>
                  </a:cubicBezTo>
                  <a:cubicBezTo>
                    <a:pt x="43" y="57"/>
                    <a:pt x="43" y="69"/>
                    <a:pt x="43" y="69"/>
                  </a:cubicBezTo>
                  <a:cubicBezTo>
                    <a:pt x="43" y="73"/>
                    <a:pt x="44" y="77"/>
                    <a:pt x="47" y="79"/>
                  </a:cubicBezTo>
                  <a:cubicBezTo>
                    <a:pt x="47" y="79"/>
                    <a:pt x="84" y="109"/>
                    <a:pt x="84" y="109"/>
                  </a:cubicBezTo>
                  <a:cubicBezTo>
                    <a:pt x="88" y="112"/>
                    <a:pt x="92" y="113"/>
                    <a:pt x="96" y="113"/>
                  </a:cubicBezTo>
                  <a:cubicBezTo>
                    <a:pt x="121" y="113"/>
                    <a:pt x="121" y="113"/>
                    <a:pt x="121" y="113"/>
                  </a:cubicBezTo>
                  <a:cubicBezTo>
                    <a:pt x="122" y="113"/>
                    <a:pt x="123" y="112"/>
                    <a:pt x="123" y="110"/>
                  </a:cubicBezTo>
                  <a:cubicBezTo>
                    <a:pt x="123" y="102"/>
                    <a:pt x="123" y="102"/>
                    <a:pt x="123" y="102"/>
                  </a:cubicBezTo>
                  <a:cubicBezTo>
                    <a:pt x="123" y="101"/>
                    <a:pt x="122" y="99"/>
                    <a:pt x="121"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Logo E"/>
            <p:cNvSpPr>
              <a:spLocks/>
            </p:cNvSpPr>
            <p:nvPr/>
          </p:nvSpPr>
          <p:spPr bwMode="gray">
            <a:xfrm>
              <a:off x="-3622675" y="3063875"/>
              <a:ext cx="428625" cy="423862"/>
            </a:xfrm>
            <a:custGeom>
              <a:avLst/>
              <a:gdLst>
                <a:gd name="T0" fmla="*/ 96 w 114"/>
                <a:gd name="T1" fmla="*/ 84 h 113"/>
                <a:gd name="T2" fmla="*/ 63 w 114"/>
                <a:gd name="T3" fmla="*/ 84 h 113"/>
                <a:gd name="T4" fmla="*/ 50 w 114"/>
                <a:gd name="T5" fmla="*/ 81 h 113"/>
                <a:gd name="T6" fmla="*/ 40 w 114"/>
                <a:gd name="T7" fmla="*/ 73 h 113"/>
                <a:gd name="T8" fmla="*/ 33 w 114"/>
                <a:gd name="T9" fmla="*/ 61 h 113"/>
                <a:gd name="T10" fmla="*/ 30 w 114"/>
                <a:gd name="T11" fmla="*/ 48 h 113"/>
                <a:gd name="T12" fmla="*/ 35 w 114"/>
                <a:gd name="T13" fmla="*/ 34 h 113"/>
                <a:gd name="T14" fmla="*/ 39 w 114"/>
                <a:gd name="T15" fmla="*/ 31 h 113"/>
                <a:gd name="T16" fmla="*/ 43 w 114"/>
                <a:gd name="T17" fmla="*/ 30 h 113"/>
                <a:gd name="T18" fmla="*/ 50 w 114"/>
                <a:gd name="T19" fmla="*/ 29 h 113"/>
                <a:gd name="T20" fmla="*/ 56 w 114"/>
                <a:gd name="T21" fmla="*/ 30 h 113"/>
                <a:gd name="T22" fmla="*/ 67 w 114"/>
                <a:gd name="T23" fmla="*/ 34 h 113"/>
                <a:gd name="T24" fmla="*/ 81 w 114"/>
                <a:gd name="T25" fmla="*/ 47 h 113"/>
                <a:gd name="T26" fmla="*/ 47 w 114"/>
                <a:gd name="T27" fmla="*/ 47 h 113"/>
                <a:gd name="T28" fmla="*/ 44 w 114"/>
                <a:gd name="T29" fmla="*/ 50 h 113"/>
                <a:gd name="T30" fmla="*/ 46 w 114"/>
                <a:gd name="T31" fmla="*/ 58 h 113"/>
                <a:gd name="T32" fmla="*/ 67 w 114"/>
                <a:gd name="T33" fmla="*/ 71 h 113"/>
                <a:gd name="T34" fmla="*/ 99 w 114"/>
                <a:gd name="T35" fmla="*/ 71 h 113"/>
                <a:gd name="T36" fmla="*/ 111 w 114"/>
                <a:gd name="T37" fmla="*/ 67 h 113"/>
                <a:gd name="T38" fmla="*/ 114 w 114"/>
                <a:gd name="T39" fmla="*/ 57 h 113"/>
                <a:gd name="T40" fmla="*/ 108 w 114"/>
                <a:gd name="T41" fmla="*/ 38 h 113"/>
                <a:gd name="T42" fmla="*/ 94 w 114"/>
                <a:gd name="T43" fmla="*/ 19 h 113"/>
                <a:gd name="T44" fmla="*/ 74 w 114"/>
                <a:gd name="T45" fmla="*/ 5 h 113"/>
                <a:gd name="T46" fmla="*/ 50 w 114"/>
                <a:gd name="T47" fmla="*/ 0 h 113"/>
                <a:gd name="T48" fmla="*/ 3 w 114"/>
                <a:gd name="T49" fmla="*/ 0 h 113"/>
                <a:gd name="T50" fmla="*/ 0 w 114"/>
                <a:gd name="T51" fmla="*/ 2 h 113"/>
                <a:gd name="T52" fmla="*/ 0 w 114"/>
                <a:gd name="T53" fmla="*/ 49 h 113"/>
                <a:gd name="T54" fmla="*/ 5 w 114"/>
                <a:gd name="T55" fmla="*/ 73 h 113"/>
                <a:gd name="T56" fmla="*/ 19 w 114"/>
                <a:gd name="T57" fmla="*/ 94 h 113"/>
                <a:gd name="T58" fmla="*/ 39 w 114"/>
                <a:gd name="T59" fmla="*/ 108 h 113"/>
                <a:gd name="T60" fmla="*/ 64 w 114"/>
                <a:gd name="T61" fmla="*/ 113 h 113"/>
                <a:gd name="T62" fmla="*/ 111 w 114"/>
                <a:gd name="T63" fmla="*/ 113 h 113"/>
                <a:gd name="T64" fmla="*/ 114 w 114"/>
                <a:gd name="T65" fmla="*/ 111 h 113"/>
                <a:gd name="T66" fmla="*/ 114 w 114"/>
                <a:gd name="T67" fmla="*/ 101 h 113"/>
                <a:gd name="T68" fmla="*/ 109 w 114"/>
                <a:gd name="T69" fmla="*/ 88 h 113"/>
                <a:gd name="T70" fmla="*/ 96 w 114"/>
                <a:gd name="T71" fmla="*/ 84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4" h="113">
                  <a:moveTo>
                    <a:pt x="96" y="84"/>
                  </a:moveTo>
                  <a:cubicBezTo>
                    <a:pt x="63" y="84"/>
                    <a:pt x="63" y="84"/>
                    <a:pt x="63" y="84"/>
                  </a:cubicBezTo>
                  <a:cubicBezTo>
                    <a:pt x="59" y="84"/>
                    <a:pt x="54" y="82"/>
                    <a:pt x="50" y="81"/>
                  </a:cubicBezTo>
                  <a:cubicBezTo>
                    <a:pt x="47" y="79"/>
                    <a:pt x="41" y="74"/>
                    <a:pt x="40" y="73"/>
                  </a:cubicBezTo>
                  <a:cubicBezTo>
                    <a:pt x="37" y="69"/>
                    <a:pt x="34" y="65"/>
                    <a:pt x="33" y="61"/>
                  </a:cubicBezTo>
                  <a:cubicBezTo>
                    <a:pt x="31" y="57"/>
                    <a:pt x="30" y="52"/>
                    <a:pt x="30" y="48"/>
                  </a:cubicBezTo>
                  <a:cubicBezTo>
                    <a:pt x="30" y="42"/>
                    <a:pt x="32" y="37"/>
                    <a:pt x="35" y="34"/>
                  </a:cubicBezTo>
                  <a:cubicBezTo>
                    <a:pt x="36" y="33"/>
                    <a:pt x="37" y="32"/>
                    <a:pt x="39" y="31"/>
                  </a:cubicBezTo>
                  <a:cubicBezTo>
                    <a:pt x="40" y="30"/>
                    <a:pt x="42" y="30"/>
                    <a:pt x="43" y="30"/>
                  </a:cubicBezTo>
                  <a:cubicBezTo>
                    <a:pt x="45" y="29"/>
                    <a:pt x="48" y="29"/>
                    <a:pt x="50" y="29"/>
                  </a:cubicBezTo>
                  <a:cubicBezTo>
                    <a:pt x="52" y="29"/>
                    <a:pt x="54" y="29"/>
                    <a:pt x="56" y="30"/>
                  </a:cubicBezTo>
                  <a:cubicBezTo>
                    <a:pt x="60" y="30"/>
                    <a:pt x="64" y="32"/>
                    <a:pt x="67" y="34"/>
                  </a:cubicBezTo>
                  <a:cubicBezTo>
                    <a:pt x="72" y="37"/>
                    <a:pt x="78" y="42"/>
                    <a:pt x="81" y="47"/>
                  </a:cubicBezTo>
                  <a:cubicBezTo>
                    <a:pt x="47" y="47"/>
                    <a:pt x="47" y="47"/>
                    <a:pt x="47" y="47"/>
                  </a:cubicBezTo>
                  <a:cubicBezTo>
                    <a:pt x="45" y="47"/>
                    <a:pt x="44" y="48"/>
                    <a:pt x="44" y="50"/>
                  </a:cubicBezTo>
                  <a:cubicBezTo>
                    <a:pt x="44" y="53"/>
                    <a:pt x="45" y="55"/>
                    <a:pt x="46" y="58"/>
                  </a:cubicBezTo>
                  <a:cubicBezTo>
                    <a:pt x="47" y="61"/>
                    <a:pt x="54" y="71"/>
                    <a:pt x="67" y="71"/>
                  </a:cubicBezTo>
                  <a:cubicBezTo>
                    <a:pt x="99" y="71"/>
                    <a:pt x="99" y="71"/>
                    <a:pt x="99" y="71"/>
                  </a:cubicBezTo>
                  <a:cubicBezTo>
                    <a:pt x="105" y="71"/>
                    <a:pt x="109" y="70"/>
                    <a:pt x="111" y="67"/>
                  </a:cubicBezTo>
                  <a:cubicBezTo>
                    <a:pt x="113" y="64"/>
                    <a:pt x="114" y="61"/>
                    <a:pt x="114" y="57"/>
                  </a:cubicBezTo>
                  <a:cubicBezTo>
                    <a:pt x="114" y="51"/>
                    <a:pt x="112" y="44"/>
                    <a:pt x="108" y="38"/>
                  </a:cubicBezTo>
                  <a:cubicBezTo>
                    <a:pt x="105" y="31"/>
                    <a:pt x="100" y="24"/>
                    <a:pt x="94" y="19"/>
                  </a:cubicBezTo>
                  <a:cubicBezTo>
                    <a:pt x="89" y="13"/>
                    <a:pt x="82" y="9"/>
                    <a:pt x="74" y="5"/>
                  </a:cubicBezTo>
                  <a:cubicBezTo>
                    <a:pt x="66" y="1"/>
                    <a:pt x="58" y="0"/>
                    <a:pt x="50" y="0"/>
                  </a:cubicBezTo>
                  <a:cubicBezTo>
                    <a:pt x="50" y="0"/>
                    <a:pt x="3" y="0"/>
                    <a:pt x="3" y="0"/>
                  </a:cubicBezTo>
                  <a:cubicBezTo>
                    <a:pt x="1" y="0"/>
                    <a:pt x="0" y="1"/>
                    <a:pt x="0" y="2"/>
                  </a:cubicBezTo>
                  <a:cubicBezTo>
                    <a:pt x="0" y="2"/>
                    <a:pt x="0" y="49"/>
                    <a:pt x="0" y="49"/>
                  </a:cubicBezTo>
                  <a:cubicBezTo>
                    <a:pt x="0" y="57"/>
                    <a:pt x="2" y="66"/>
                    <a:pt x="5" y="73"/>
                  </a:cubicBezTo>
                  <a:cubicBezTo>
                    <a:pt x="9" y="81"/>
                    <a:pt x="13" y="88"/>
                    <a:pt x="19" y="94"/>
                  </a:cubicBezTo>
                  <a:cubicBezTo>
                    <a:pt x="25" y="100"/>
                    <a:pt x="32" y="104"/>
                    <a:pt x="39" y="108"/>
                  </a:cubicBezTo>
                  <a:cubicBezTo>
                    <a:pt x="47" y="111"/>
                    <a:pt x="55" y="113"/>
                    <a:pt x="64" y="113"/>
                  </a:cubicBezTo>
                  <a:cubicBezTo>
                    <a:pt x="111" y="113"/>
                    <a:pt x="111" y="113"/>
                    <a:pt x="111" y="113"/>
                  </a:cubicBezTo>
                  <a:cubicBezTo>
                    <a:pt x="112" y="113"/>
                    <a:pt x="114" y="112"/>
                    <a:pt x="114" y="111"/>
                  </a:cubicBezTo>
                  <a:cubicBezTo>
                    <a:pt x="114" y="101"/>
                    <a:pt x="114" y="101"/>
                    <a:pt x="114" y="101"/>
                  </a:cubicBezTo>
                  <a:cubicBezTo>
                    <a:pt x="114" y="96"/>
                    <a:pt x="112" y="91"/>
                    <a:pt x="109" y="88"/>
                  </a:cubicBezTo>
                  <a:cubicBezTo>
                    <a:pt x="106" y="85"/>
                    <a:pt x="102" y="84"/>
                    <a:pt x="9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Logo M"/>
            <p:cNvSpPr>
              <a:spLocks/>
            </p:cNvSpPr>
            <p:nvPr/>
          </p:nvSpPr>
          <p:spPr bwMode="gray">
            <a:xfrm>
              <a:off x="-4548188" y="3063875"/>
              <a:ext cx="889000" cy="423862"/>
            </a:xfrm>
            <a:custGeom>
              <a:avLst/>
              <a:gdLst>
                <a:gd name="T0" fmla="*/ 237 w 237"/>
                <a:gd name="T1" fmla="*/ 16 h 113"/>
                <a:gd name="T2" fmla="*/ 220 w 237"/>
                <a:gd name="T3" fmla="*/ 0 h 113"/>
                <a:gd name="T4" fmla="*/ 203 w 237"/>
                <a:gd name="T5" fmla="*/ 0 h 113"/>
                <a:gd name="T6" fmla="*/ 200 w 237"/>
                <a:gd name="T7" fmla="*/ 1 h 113"/>
                <a:gd name="T8" fmla="*/ 165 w 237"/>
                <a:gd name="T9" fmla="*/ 34 h 113"/>
                <a:gd name="T10" fmla="*/ 119 w 237"/>
                <a:gd name="T11" fmla="*/ 52 h 113"/>
                <a:gd name="T12" fmla="*/ 71 w 237"/>
                <a:gd name="T13" fmla="*/ 32 h 113"/>
                <a:gd name="T14" fmla="*/ 44 w 237"/>
                <a:gd name="T15" fmla="*/ 8 h 113"/>
                <a:gd name="T16" fmla="*/ 25 w 237"/>
                <a:gd name="T17" fmla="*/ 0 h 113"/>
                <a:gd name="T18" fmla="*/ 4 w 237"/>
                <a:gd name="T19" fmla="*/ 0 h 113"/>
                <a:gd name="T20" fmla="*/ 0 w 237"/>
                <a:gd name="T21" fmla="*/ 3 h 113"/>
                <a:gd name="T22" fmla="*/ 0 w 237"/>
                <a:gd name="T23" fmla="*/ 96 h 113"/>
                <a:gd name="T24" fmla="*/ 17 w 237"/>
                <a:gd name="T25" fmla="*/ 113 h 113"/>
                <a:gd name="T26" fmla="*/ 23 w 237"/>
                <a:gd name="T27" fmla="*/ 113 h 113"/>
                <a:gd name="T28" fmla="*/ 28 w 237"/>
                <a:gd name="T29" fmla="*/ 113 h 113"/>
                <a:gd name="T30" fmla="*/ 31 w 237"/>
                <a:gd name="T31" fmla="*/ 110 h 113"/>
                <a:gd name="T32" fmla="*/ 31 w 237"/>
                <a:gd name="T33" fmla="*/ 76 h 113"/>
                <a:gd name="T34" fmla="*/ 47 w 237"/>
                <a:gd name="T35" fmla="*/ 61 h 113"/>
                <a:gd name="T36" fmla="*/ 84 w 237"/>
                <a:gd name="T37" fmla="*/ 83 h 113"/>
                <a:gd name="T38" fmla="*/ 119 w 237"/>
                <a:gd name="T39" fmla="*/ 105 h 113"/>
                <a:gd name="T40" fmla="*/ 153 w 237"/>
                <a:gd name="T41" fmla="*/ 83 h 113"/>
                <a:gd name="T42" fmla="*/ 190 w 237"/>
                <a:gd name="T43" fmla="*/ 61 h 113"/>
                <a:gd name="T44" fmla="*/ 206 w 237"/>
                <a:gd name="T45" fmla="*/ 76 h 113"/>
                <a:gd name="T46" fmla="*/ 206 w 237"/>
                <a:gd name="T47" fmla="*/ 96 h 113"/>
                <a:gd name="T48" fmla="*/ 223 w 237"/>
                <a:gd name="T49" fmla="*/ 113 h 113"/>
                <a:gd name="T50" fmla="*/ 230 w 237"/>
                <a:gd name="T51" fmla="*/ 113 h 113"/>
                <a:gd name="T52" fmla="*/ 234 w 237"/>
                <a:gd name="T53" fmla="*/ 113 h 113"/>
                <a:gd name="T54" fmla="*/ 234 w 237"/>
                <a:gd name="T55" fmla="*/ 113 h 113"/>
                <a:gd name="T56" fmla="*/ 237 w 237"/>
                <a:gd name="T57" fmla="*/ 110 h 113"/>
                <a:gd name="T58" fmla="*/ 237 w 237"/>
                <a:gd name="T59"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7" h="113">
                  <a:moveTo>
                    <a:pt x="237" y="16"/>
                  </a:moveTo>
                  <a:cubicBezTo>
                    <a:pt x="237" y="7"/>
                    <a:pt x="229" y="0"/>
                    <a:pt x="220" y="0"/>
                  </a:cubicBezTo>
                  <a:cubicBezTo>
                    <a:pt x="203" y="0"/>
                    <a:pt x="203" y="0"/>
                    <a:pt x="203" y="0"/>
                  </a:cubicBezTo>
                  <a:cubicBezTo>
                    <a:pt x="202" y="0"/>
                    <a:pt x="201" y="0"/>
                    <a:pt x="200" y="1"/>
                  </a:cubicBezTo>
                  <a:cubicBezTo>
                    <a:pt x="165" y="34"/>
                    <a:pt x="165" y="34"/>
                    <a:pt x="165" y="34"/>
                  </a:cubicBezTo>
                  <a:cubicBezTo>
                    <a:pt x="153" y="45"/>
                    <a:pt x="137" y="52"/>
                    <a:pt x="119" y="52"/>
                  </a:cubicBezTo>
                  <a:cubicBezTo>
                    <a:pt x="100" y="52"/>
                    <a:pt x="83" y="45"/>
                    <a:pt x="71" y="32"/>
                  </a:cubicBezTo>
                  <a:cubicBezTo>
                    <a:pt x="71" y="32"/>
                    <a:pt x="45" y="8"/>
                    <a:pt x="44" y="8"/>
                  </a:cubicBezTo>
                  <a:cubicBezTo>
                    <a:pt x="39" y="3"/>
                    <a:pt x="33" y="0"/>
                    <a:pt x="25" y="0"/>
                  </a:cubicBezTo>
                  <a:cubicBezTo>
                    <a:pt x="4" y="0"/>
                    <a:pt x="4" y="0"/>
                    <a:pt x="4" y="0"/>
                  </a:cubicBezTo>
                  <a:cubicBezTo>
                    <a:pt x="2" y="0"/>
                    <a:pt x="0" y="1"/>
                    <a:pt x="0" y="3"/>
                  </a:cubicBezTo>
                  <a:cubicBezTo>
                    <a:pt x="0" y="96"/>
                    <a:pt x="0" y="96"/>
                    <a:pt x="0" y="96"/>
                  </a:cubicBezTo>
                  <a:cubicBezTo>
                    <a:pt x="0" y="106"/>
                    <a:pt x="8" y="113"/>
                    <a:pt x="17" y="113"/>
                  </a:cubicBezTo>
                  <a:cubicBezTo>
                    <a:pt x="23" y="113"/>
                    <a:pt x="23" y="113"/>
                    <a:pt x="23" y="113"/>
                  </a:cubicBezTo>
                  <a:cubicBezTo>
                    <a:pt x="28" y="113"/>
                    <a:pt x="28" y="113"/>
                    <a:pt x="28" y="113"/>
                  </a:cubicBezTo>
                  <a:cubicBezTo>
                    <a:pt x="30" y="113"/>
                    <a:pt x="31" y="112"/>
                    <a:pt x="31" y="110"/>
                  </a:cubicBezTo>
                  <a:cubicBezTo>
                    <a:pt x="31" y="76"/>
                    <a:pt x="31" y="76"/>
                    <a:pt x="31" y="76"/>
                  </a:cubicBezTo>
                  <a:cubicBezTo>
                    <a:pt x="31" y="68"/>
                    <a:pt x="38" y="61"/>
                    <a:pt x="47" y="61"/>
                  </a:cubicBezTo>
                  <a:cubicBezTo>
                    <a:pt x="63" y="61"/>
                    <a:pt x="74" y="74"/>
                    <a:pt x="84" y="83"/>
                  </a:cubicBezTo>
                  <a:cubicBezTo>
                    <a:pt x="97" y="94"/>
                    <a:pt x="107" y="105"/>
                    <a:pt x="119" y="105"/>
                  </a:cubicBezTo>
                  <a:cubicBezTo>
                    <a:pt x="131" y="105"/>
                    <a:pt x="140" y="94"/>
                    <a:pt x="153" y="83"/>
                  </a:cubicBezTo>
                  <a:cubicBezTo>
                    <a:pt x="163" y="74"/>
                    <a:pt x="175" y="61"/>
                    <a:pt x="190" y="61"/>
                  </a:cubicBezTo>
                  <a:cubicBezTo>
                    <a:pt x="199" y="61"/>
                    <a:pt x="206" y="68"/>
                    <a:pt x="206" y="76"/>
                  </a:cubicBezTo>
                  <a:cubicBezTo>
                    <a:pt x="206" y="76"/>
                    <a:pt x="206" y="96"/>
                    <a:pt x="206" y="96"/>
                  </a:cubicBezTo>
                  <a:cubicBezTo>
                    <a:pt x="206" y="106"/>
                    <a:pt x="214" y="113"/>
                    <a:pt x="223" y="113"/>
                  </a:cubicBezTo>
                  <a:cubicBezTo>
                    <a:pt x="223" y="113"/>
                    <a:pt x="230" y="113"/>
                    <a:pt x="230" y="113"/>
                  </a:cubicBezTo>
                  <a:cubicBezTo>
                    <a:pt x="232" y="113"/>
                    <a:pt x="234" y="113"/>
                    <a:pt x="234" y="113"/>
                  </a:cubicBezTo>
                  <a:cubicBezTo>
                    <a:pt x="234" y="113"/>
                    <a:pt x="234" y="113"/>
                    <a:pt x="234" y="113"/>
                  </a:cubicBezTo>
                  <a:cubicBezTo>
                    <a:pt x="235" y="113"/>
                    <a:pt x="237" y="112"/>
                    <a:pt x="237" y="110"/>
                  </a:cubicBezTo>
                  <a:cubicBezTo>
                    <a:pt x="237" y="110"/>
                    <a:pt x="237" y="17"/>
                    <a:pt x="2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 name="empower - DO NOT DELETE!!!"/>
          <p:cNvSpPr/>
          <p:nvPr userDrawn="1">
            <p:custDataLst>
              <p:tags r:id="rId20"/>
            </p:custDataLst>
          </p:nvPr>
        </p:nvSpPr>
        <p:spPr bwMode="gray">
          <a:xfrm>
            <a:off x="-63500" y="-63500"/>
            <a:ext cx="0" cy="0"/>
          </a:xfrm>
          <a:prstGeom prst="ellipse">
            <a:avLst/>
          </a:prstGeom>
          <a:solidFill>
            <a:schemeClr val="accent1"/>
          </a:solidFill>
          <a:ln w="9525" cap="flat" cmpd="sng" algn="ctr">
            <a:noFill/>
            <a:prstDash val="solid"/>
          </a:ln>
          <a:effectLst/>
        </p:spPr>
        <p:txBody>
          <a:bodyPr rtlCol="0" anchor="ctr" anchorCtr="0"/>
          <a:lstStyle/>
          <a:p>
            <a:pPr marL="0" lv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
        <p:nvSpPr>
          <p:cNvPr id="5" name="empower - DO NOT DELETE!!!" hidden="1"/>
          <p:cNvSpPr/>
          <p:nvPr userDrawn="1">
            <p:custDataLst>
              <p:tags r:id="rId21"/>
            </p:custDataLst>
          </p:nvPr>
        </p:nvSpPr>
        <p:spPr bwMode="gray">
          <a:xfrm>
            <a:off x="0" y="0"/>
            <a:ext cx="0" cy="0"/>
          </a:xfrm>
          <a:prstGeom prst="ellipse">
            <a:avLst/>
          </a:prstGeom>
          <a:solidFill>
            <a:schemeClr val="accent1"/>
          </a:solidFill>
          <a:ln w="9525" cap="flat" cmpd="sng" algn="ctr">
            <a:noFill/>
            <a:prstDash val="solid"/>
          </a:ln>
          <a:effectLst/>
        </p:spPr>
        <p:txBody>
          <a:bodyPr rtlCol="0" anchor="ctr" anchorCtr="0"/>
          <a:lstStyle/>
          <a:p>
            <a:pPr marL="0" lvl="0" indent="0" algn="ctr">
              <a:spcBef>
                <a:spcPts val="300"/>
              </a:spcBef>
              <a:spcAft>
                <a:spcPts val="300"/>
              </a:spcAft>
              <a:buClr>
                <a:schemeClr val="bg1"/>
              </a:buClr>
              <a:buSzPct val="100000"/>
              <a:buFont typeface="Arial" panose="020B0604020202020204" pitchFamily="34" charset="0"/>
              <a:buNone/>
            </a:pPr>
            <a:endParaRPr lang="en-US" sz="1600" kern="0" dirty="0">
              <a:solidFill>
                <a:srgbClr val="FFFFFF"/>
              </a:solidFill>
              <a:latin typeface="Verdana"/>
            </a:endParaRPr>
          </a:p>
        </p:txBody>
      </p:sp>
    </p:spTree>
    <p:extLst>
      <p:ext uri="{BB962C8B-B14F-4D97-AF65-F5344CB8AC3E}">
        <p14:creationId xmlns:p14="http://schemas.microsoft.com/office/powerpoint/2010/main" val="246082735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Lst>
  <p:hf hdr="0" dt="0"/>
  <p:txStyles>
    <p:titleStyle>
      <a:lvl1pPr algn="l" defTabSz="914400" rtl="0" eaLnBrk="1" latinLnBrk="0" hangingPunct="1">
        <a:lnSpc>
          <a:spcPts val="2400"/>
        </a:lnSpc>
        <a:spcBef>
          <a:spcPct val="0"/>
        </a:spcBef>
        <a:buNone/>
        <a:defRPr lang="de-DE" sz="2200" b="1" kern="1200" baseline="0" dirty="0" smtClean="0">
          <a:solidFill>
            <a:schemeClr val="accent1"/>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5000"/>
        </a:lnSpc>
        <a:spcBef>
          <a:spcPts val="600"/>
        </a:spcBef>
        <a:spcAft>
          <a:spcPts val="300"/>
        </a:spcAft>
        <a:buFont typeface="Arial" panose="020B0604020202020204" pitchFamily="34" charset="0"/>
        <a:buNone/>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80000" indent="-180000" algn="l" defTabSz="914400" rtl="0" eaLnBrk="1" latinLnBrk="0" hangingPunct="1">
        <a:lnSpc>
          <a:spcPct val="105000"/>
        </a:lnSpc>
        <a:spcBef>
          <a:spcPts val="300"/>
        </a:spcBef>
        <a:spcAft>
          <a:spcPts val="300"/>
        </a:spcAft>
        <a:buClr>
          <a:schemeClr val="accent1"/>
        </a:buClr>
        <a:buFont typeface="Wingdings" panose="05000000000000000000" pitchFamily="2"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360000" indent="-180000" algn="l" defTabSz="914400" rtl="0" eaLnBrk="1" latinLnBrk="0" hangingPunct="1">
        <a:lnSpc>
          <a:spcPct val="105000"/>
        </a:lnSpc>
        <a:spcBef>
          <a:spcPts val="300"/>
        </a:spcBef>
        <a:spcAft>
          <a:spcPts val="300"/>
        </a:spcAft>
        <a:buClr>
          <a:schemeClr val="accent1"/>
        </a:buClr>
        <a:buFont typeface="Symbol" panose="05050102010706020507" pitchFamily="18"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538163"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en-US"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720725"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lang="de-DE" sz="1600" kern="1200" smtClean="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720000" indent="-180000" algn="l" defTabSz="914400" rtl="0" eaLnBrk="1" latinLnBrk="0" hangingPunct="1">
        <a:lnSpc>
          <a:spcPct val="105000"/>
        </a:lnSpc>
        <a:spcBef>
          <a:spcPts val="300"/>
        </a:spcBef>
        <a:spcAft>
          <a:spcPts val="300"/>
        </a:spcAft>
        <a:buClr>
          <a:schemeClr val="bg2"/>
        </a:buClr>
        <a:buFont typeface="Symbol" panose="05050102010706020507" pitchFamily="18"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9pPr>
    </p:bodyStyle>
    <p:otherStyle>
      <a:defPPr>
        <a:defRPr lang="fr-FR"/>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orient="horz" pos="935">
          <p15:clr>
            <a:srgbClr val="F26B43"/>
          </p15:clr>
        </p15:guide>
        <p15:guide id="3" orient="horz" pos="3838">
          <p15:clr>
            <a:srgbClr val="F26B43"/>
          </p15:clr>
        </p15:guide>
        <p15:guide id="4" pos="393">
          <p15:clr>
            <a:srgbClr val="F26B43"/>
          </p15:clr>
        </p15:guide>
        <p15:guide id="5" pos="7287">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39EDC8-8701-7C70-C333-E452D0B072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3003D738-D434-D6C8-3F44-439FE4143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56DA1D3C-761A-1E83-78B2-B895A0F20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786128-E57D-406F-B5BA-732134840070}" type="datetimeFigureOut">
              <a:rPr lang="en-US" smtClean="0"/>
              <a:t>8/27/2026</a:t>
            </a:fld>
            <a:endParaRPr lang="en-US"/>
          </a:p>
        </p:txBody>
      </p:sp>
      <p:sp>
        <p:nvSpPr>
          <p:cNvPr id="5" name="Нижний колонтитул 4">
            <a:extLst>
              <a:ext uri="{FF2B5EF4-FFF2-40B4-BE49-F238E27FC236}">
                <a16:creationId xmlns:a16="http://schemas.microsoft.com/office/drawing/2014/main" id="{7B66019B-EDFE-4111-2791-79A4A13E57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Номер слайда 5">
            <a:extLst>
              <a:ext uri="{FF2B5EF4-FFF2-40B4-BE49-F238E27FC236}">
                <a16:creationId xmlns:a16="http://schemas.microsoft.com/office/drawing/2014/main" id="{DCB2A229-452A-5491-47BA-DE38FF924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9BC130-30E4-4AF8-9557-E5BA45C53E45}" type="slidenum">
              <a:rPr lang="en-US" smtClean="0"/>
              <a:t>‹#›</a:t>
            </a:fld>
            <a:endParaRPr lang="en-US"/>
          </a:p>
        </p:txBody>
      </p:sp>
    </p:spTree>
    <p:extLst>
      <p:ext uri="{BB962C8B-B14F-4D97-AF65-F5344CB8AC3E}">
        <p14:creationId xmlns:p14="http://schemas.microsoft.com/office/powerpoint/2010/main" val="74930747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5.xml"/><Relationship Id="rId1" Type="http://schemas.openxmlformats.org/officeDocument/2006/relationships/tags" Target="../tags/tag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3.xml"/><Relationship Id="rId1" Type="http://schemas.openxmlformats.org/officeDocument/2006/relationships/tags" Target="../tags/tag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9.xml"/><Relationship Id="rId1" Type="http://schemas.openxmlformats.org/officeDocument/2006/relationships/tags" Target="../tags/tag20.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3.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9" Type="http://schemas.openxmlformats.org/officeDocument/2006/relationships/notesSlide" Target="../notesSlides/notesSlide12.xml"/><Relationship Id="rId21" Type="http://schemas.openxmlformats.org/officeDocument/2006/relationships/tags" Target="../tags/tag42.xml"/><Relationship Id="rId34" Type="http://schemas.openxmlformats.org/officeDocument/2006/relationships/tags" Target="../tags/tag55.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33" Type="http://schemas.openxmlformats.org/officeDocument/2006/relationships/tags" Target="../tags/tag54.xml"/><Relationship Id="rId38" Type="http://schemas.openxmlformats.org/officeDocument/2006/relationships/slideLayout" Target="../slideLayouts/slideLayout44.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tags" Target="../tags/tag50.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tags" Target="../tags/tag53.xml"/><Relationship Id="rId37" Type="http://schemas.openxmlformats.org/officeDocument/2006/relationships/tags" Target="../tags/tag58.xml"/><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tags" Target="../tags/tag49.xml"/><Relationship Id="rId36" Type="http://schemas.openxmlformats.org/officeDocument/2006/relationships/tags" Target="../tags/tag57.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tags" Target="../tags/tag52.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tags" Target="../tags/tag48.xml"/><Relationship Id="rId30" Type="http://schemas.openxmlformats.org/officeDocument/2006/relationships/tags" Target="../tags/tag51.xml"/><Relationship Id="rId35" Type="http://schemas.openxmlformats.org/officeDocument/2006/relationships/tags" Target="../tags/tag56.xml"/><Relationship Id="rId8" Type="http://schemas.openxmlformats.org/officeDocument/2006/relationships/tags" Target="../tags/tag29.xml"/><Relationship Id="rId3" Type="http://schemas.openxmlformats.org/officeDocument/2006/relationships/tags" Target="../tags/tag24.xml"/></Relationships>
</file>

<file path=ppt/slides/_rels/slide22.xml.rels><?xml version="1.0" encoding="UTF-8" standalone="yes"?>
<Relationships xmlns="http://schemas.openxmlformats.org/package/2006/relationships"><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9" Type="http://schemas.openxmlformats.org/officeDocument/2006/relationships/tags" Target="../tags/tag97.xml"/><Relationship Id="rId21" Type="http://schemas.openxmlformats.org/officeDocument/2006/relationships/tags" Target="../tags/tag79.xml"/><Relationship Id="rId34" Type="http://schemas.openxmlformats.org/officeDocument/2006/relationships/tags" Target="../tags/tag92.xml"/><Relationship Id="rId42" Type="http://schemas.openxmlformats.org/officeDocument/2006/relationships/tags" Target="../tags/tag100.xml"/><Relationship Id="rId47" Type="http://schemas.openxmlformats.org/officeDocument/2006/relationships/tags" Target="../tags/tag105.xml"/><Relationship Id="rId50" Type="http://schemas.openxmlformats.org/officeDocument/2006/relationships/tags" Target="../tags/tag108.xml"/><Relationship Id="rId55" Type="http://schemas.openxmlformats.org/officeDocument/2006/relationships/notesSlide" Target="../notesSlides/notesSlide13.xml"/><Relationship Id="rId7" Type="http://schemas.openxmlformats.org/officeDocument/2006/relationships/tags" Target="../tags/tag65.xml"/><Relationship Id="rId2" Type="http://schemas.openxmlformats.org/officeDocument/2006/relationships/tags" Target="../tags/tag60.xml"/><Relationship Id="rId16" Type="http://schemas.openxmlformats.org/officeDocument/2006/relationships/tags" Target="../tags/tag74.xml"/><Relationship Id="rId29" Type="http://schemas.openxmlformats.org/officeDocument/2006/relationships/tags" Target="../tags/tag87.xml"/><Relationship Id="rId11" Type="http://schemas.openxmlformats.org/officeDocument/2006/relationships/tags" Target="../tags/tag69.xml"/><Relationship Id="rId24" Type="http://schemas.openxmlformats.org/officeDocument/2006/relationships/tags" Target="../tags/tag82.xml"/><Relationship Id="rId32" Type="http://schemas.openxmlformats.org/officeDocument/2006/relationships/tags" Target="../tags/tag90.xml"/><Relationship Id="rId37" Type="http://schemas.openxmlformats.org/officeDocument/2006/relationships/tags" Target="../tags/tag95.xml"/><Relationship Id="rId40" Type="http://schemas.openxmlformats.org/officeDocument/2006/relationships/tags" Target="../tags/tag98.xml"/><Relationship Id="rId45" Type="http://schemas.openxmlformats.org/officeDocument/2006/relationships/tags" Target="../tags/tag103.xml"/><Relationship Id="rId53" Type="http://schemas.openxmlformats.org/officeDocument/2006/relationships/tags" Target="../tags/tag111.xml"/><Relationship Id="rId5" Type="http://schemas.openxmlformats.org/officeDocument/2006/relationships/tags" Target="../tags/tag63.xml"/><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tags" Target="../tags/tag89.xml"/><Relationship Id="rId44" Type="http://schemas.openxmlformats.org/officeDocument/2006/relationships/tags" Target="../tags/tag102.xml"/><Relationship Id="rId52" Type="http://schemas.openxmlformats.org/officeDocument/2006/relationships/tags" Target="../tags/tag110.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tags" Target="../tags/tag88.xml"/><Relationship Id="rId35" Type="http://schemas.openxmlformats.org/officeDocument/2006/relationships/tags" Target="../tags/tag93.xml"/><Relationship Id="rId43" Type="http://schemas.openxmlformats.org/officeDocument/2006/relationships/tags" Target="../tags/tag101.xml"/><Relationship Id="rId48" Type="http://schemas.openxmlformats.org/officeDocument/2006/relationships/tags" Target="../tags/tag106.xml"/><Relationship Id="rId8" Type="http://schemas.openxmlformats.org/officeDocument/2006/relationships/tags" Target="../tags/tag66.xml"/><Relationship Id="rId51" Type="http://schemas.openxmlformats.org/officeDocument/2006/relationships/tags" Target="../tags/tag109.xml"/><Relationship Id="rId3" Type="http://schemas.openxmlformats.org/officeDocument/2006/relationships/tags" Target="../tags/tag61.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33" Type="http://schemas.openxmlformats.org/officeDocument/2006/relationships/tags" Target="../tags/tag91.xml"/><Relationship Id="rId38" Type="http://schemas.openxmlformats.org/officeDocument/2006/relationships/tags" Target="../tags/tag96.xml"/><Relationship Id="rId46" Type="http://schemas.openxmlformats.org/officeDocument/2006/relationships/tags" Target="../tags/tag104.xml"/><Relationship Id="rId20" Type="http://schemas.openxmlformats.org/officeDocument/2006/relationships/tags" Target="../tags/tag78.xml"/><Relationship Id="rId41" Type="http://schemas.openxmlformats.org/officeDocument/2006/relationships/tags" Target="../tags/tag99.xml"/><Relationship Id="rId54" Type="http://schemas.openxmlformats.org/officeDocument/2006/relationships/slideLayout" Target="../slideLayouts/slideLayout29.xml"/><Relationship Id="rId1" Type="http://schemas.openxmlformats.org/officeDocument/2006/relationships/tags" Target="../tags/tag59.xml"/><Relationship Id="rId6" Type="http://schemas.openxmlformats.org/officeDocument/2006/relationships/tags" Target="../tags/tag64.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36" Type="http://schemas.openxmlformats.org/officeDocument/2006/relationships/tags" Target="../tags/tag94.xml"/><Relationship Id="rId49" Type="http://schemas.openxmlformats.org/officeDocument/2006/relationships/tags" Target="../tags/tag10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3.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3.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3.xml"/><Relationship Id="rId1" Type="http://schemas.openxmlformats.org/officeDocument/2006/relationships/tags" Target="../tags/tag1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9.xml"/><Relationship Id="rId1" Type="http://schemas.openxmlformats.org/officeDocument/2006/relationships/slideLayout" Target="../slideLayouts/slideLayout43.xml"/><Relationship Id="rId4" Type="http://schemas.openxmlformats.org/officeDocument/2006/relationships/image" Target="../media/image31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29.xml"/><Relationship Id="rId4" Type="http://schemas.openxmlformats.org/officeDocument/2006/relationships/chart" Target="../charts/chart3.xml"/></Relationships>
</file>

<file path=ppt/slides/_rels/slide3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29.xml"/><Relationship Id="rId4" Type="http://schemas.openxmlformats.org/officeDocument/2006/relationships/image" Target="../media/image29.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9.xml"/><Relationship Id="rId4" Type="http://schemas.openxmlformats.org/officeDocument/2006/relationships/chart" Target="../charts/char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3.xml"/><Relationship Id="rId1" Type="http://schemas.openxmlformats.org/officeDocument/2006/relationships/tags" Target="../tags/tag1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image" Target="../media/image33.svg"/><Relationship Id="rId2" Type="http://schemas.openxmlformats.org/officeDocument/2006/relationships/chart" Target="../charts/chart7.xml"/><Relationship Id="rId1" Type="http://schemas.openxmlformats.org/officeDocument/2006/relationships/slideLayout" Target="../slideLayouts/slideLayout43.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chart" Target="../charts/chart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3.xml"/><Relationship Id="rId1" Type="http://schemas.openxmlformats.org/officeDocument/2006/relationships/tags" Target="../tags/tag114.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3.xml"/><Relationship Id="rId1" Type="http://schemas.openxmlformats.org/officeDocument/2006/relationships/tags" Target="../tags/tag115.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4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43.xml"/><Relationship Id="rId6" Type="http://schemas.openxmlformats.org/officeDocument/2006/relationships/image" Target="../media/image27.png"/><Relationship Id="rId5" Type="http://schemas.openxmlformats.org/officeDocument/2006/relationships/image" Target="../media/image42.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3.xml"/><Relationship Id="rId1" Type="http://schemas.openxmlformats.org/officeDocument/2006/relationships/tags" Target="../tags/tag116.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50.xml"/><Relationship Id="rId5" Type="http://schemas.openxmlformats.org/officeDocument/2006/relationships/image" Target="../media/image45.png"/><Relationship Id="rId4" Type="http://schemas.openxmlformats.org/officeDocument/2006/relationships/image" Target="../media/image44.png"/></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50.xml"/><Relationship Id="rId5" Type="http://schemas.openxmlformats.org/officeDocument/2006/relationships/image" Target="../media/image48.png"/><Relationship Id="rId4" Type="http://schemas.openxmlformats.org/officeDocument/2006/relationships/image" Target="../media/image47.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3.xml"/><Relationship Id="rId1" Type="http://schemas.openxmlformats.org/officeDocument/2006/relationships/tags" Target="../tags/tag117.xml"/></Relationships>
</file>

<file path=ppt/slides/_rels/slide6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jpg"/><Relationship Id="rId7"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28.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6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9.jpg"/><Relationship Id="rId7"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28.xml"/><Relationship Id="rId6" Type="http://schemas.openxmlformats.org/officeDocument/2006/relationships/image" Target="../media/image52.png"/><Relationship Id="rId11" Type="http://schemas.openxmlformats.org/officeDocument/2006/relationships/image" Target="../media/image55.png"/><Relationship Id="rId5" Type="http://schemas.openxmlformats.org/officeDocument/2006/relationships/image" Target="../media/image57.png"/><Relationship Id="rId10" Type="http://schemas.openxmlformats.org/officeDocument/2006/relationships/image" Target="../media/image60.png"/><Relationship Id="rId4" Type="http://schemas.openxmlformats.org/officeDocument/2006/relationships/image" Target="../media/image50.png"/><Relationship Id="rId9" Type="http://schemas.openxmlformats.org/officeDocument/2006/relationships/image" Target="../media/image5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49.jpg"/><Relationship Id="rId7"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28.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0" Type="http://schemas.openxmlformats.org/officeDocument/2006/relationships/image" Target="../media/image60.png"/><Relationship Id="rId4" Type="http://schemas.openxmlformats.org/officeDocument/2006/relationships/image" Target="../media/image50.png"/><Relationship Id="rId9" Type="http://schemas.openxmlformats.org/officeDocument/2006/relationships/image" Target="../media/image65.png"/></Relationships>
</file>

<file path=ppt/slides/_rels/slide70.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svg"/><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7.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image" Target="../media/image69.gif"/><Relationship Id="rId1" Type="http://schemas.openxmlformats.org/officeDocument/2006/relationships/slideLayout" Target="../slideLayouts/slideLayout77.xml"/><Relationship Id="rId5" Type="http://schemas.openxmlformats.org/officeDocument/2006/relationships/image" Target="../media/image72.gif"/><Relationship Id="rId4" Type="http://schemas.openxmlformats.org/officeDocument/2006/relationships/image" Target="../media/image7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1BBF781-2A46-4E61-9879-9417A1CB86B5}"/>
              </a:ext>
            </a:extLst>
          </p:cNvPr>
          <p:cNvSpPr>
            <a:spLocks noGrp="1"/>
          </p:cNvSpPr>
          <p:nvPr>
            <p:ph type="ctrTitle"/>
          </p:nvPr>
        </p:nvSpPr>
        <p:spPr bwMode="gray">
          <a:xfrm>
            <a:off x="5760889" y="3104144"/>
            <a:ext cx="5616521" cy="1249282"/>
          </a:xfrm>
        </p:spPr>
        <p:txBody>
          <a:bodyPr/>
          <a:lstStyle/>
          <a:p>
            <a:r>
              <a:rPr lang="ru-RU" b="1">
                <a:latin typeface="Arial (Headings)"/>
              </a:rPr>
              <a:t>Фиксированные антиангинальные комбинации при ИБС: кому, когда, зачем</a:t>
            </a:r>
            <a:endParaRPr lang="en-US" b="1" dirty="0">
              <a:latin typeface="Arial (Headings)"/>
            </a:endParaRPr>
          </a:p>
        </p:txBody>
      </p:sp>
      <p:grpSp>
        <p:nvGrpSpPr>
          <p:cNvPr id="34" name="Gruppieren 33" hidden="1">
            <a:extLst>
              <a:ext uri="{FF2B5EF4-FFF2-40B4-BE49-F238E27FC236}">
                <a16:creationId xmlns:a16="http://schemas.microsoft.com/office/drawing/2014/main" id="{3905F73A-1802-4EC2-BD89-20D98E5020C4}"/>
              </a:ext>
            </a:extLst>
          </p:cNvPr>
          <p:cNvGrpSpPr/>
          <p:nvPr/>
        </p:nvGrpSpPr>
        <p:grpSpPr>
          <a:xfrm>
            <a:off x="13080776" y="1212085"/>
            <a:ext cx="7401589" cy="5346501"/>
            <a:chOff x="1407269" y="410447"/>
            <a:chExt cx="7401589" cy="5346501"/>
          </a:xfrm>
        </p:grpSpPr>
        <p:sp>
          <p:nvSpPr>
            <p:cNvPr id="27" name="Freihandform: Form 26">
              <a:extLst>
                <a:ext uri="{FF2B5EF4-FFF2-40B4-BE49-F238E27FC236}">
                  <a16:creationId xmlns:a16="http://schemas.microsoft.com/office/drawing/2014/main" id="{1411AB61-2967-4979-8538-A5F382F1F032}"/>
                </a:ext>
              </a:extLst>
            </p:cNvPr>
            <p:cNvSpPr/>
            <p:nvPr/>
          </p:nvSpPr>
          <p:spPr>
            <a:xfrm rot="20417692">
              <a:off x="1407269" y="410447"/>
              <a:ext cx="6942525" cy="5346501"/>
            </a:xfrm>
            <a:custGeom>
              <a:avLst/>
              <a:gdLst>
                <a:gd name="connsiteX0" fmla="*/ 4388610 w 6942525"/>
                <a:gd name="connsiteY0" fmla="*/ 2797988 h 5346501"/>
                <a:gd name="connsiteX1" fmla="*/ 4845199 w 6942525"/>
                <a:gd name="connsiteY1" fmla="*/ 3071724 h 5346501"/>
                <a:gd name="connsiteX2" fmla="*/ 4849579 w 6942525"/>
                <a:gd name="connsiteY2" fmla="*/ 3076103 h 5346501"/>
                <a:gd name="connsiteX3" fmla="*/ 4864910 w 6942525"/>
                <a:gd name="connsiteY3" fmla="*/ 3091433 h 5346501"/>
                <a:gd name="connsiteX4" fmla="*/ 4870384 w 6942525"/>
                <a:gd name="connsiteY4" fmla="*/ 3096908 h 5346501"/>
                <a:gd name="connsiteX5" fmla="*/ 4897756 w 6942525"/>
                <a:gd name="connsiteY5" fmla="*/ 3127565 h 5346501"/>
                <a:gd name="connsiteX6" fmla="*/ 4902137 w 6942525"/>
                <a:gd name="connsiteY6" fmla="*/ 3133040 h 5346501"/>
                <a:gd name="connsiteX7" fmla="*/ 4914180 w 6942525"/>
                <a:gd name="connsiteY7" fmla="*/ 3147274 h 5346501"/>
                <a:gd name="connsiteX8" fmla="*/ 4921846 w 6942525"/>
                <a:gd name="connsiteY8" fmla="*/ 3156034 h 5346501"/>
                <a:gd name="connsiteX9" fmla="*/ 4933890 w 6942525"/>
                <a:gd name="connsiteY9" fmla="*/ 3171363 h 5346501"/>
                <a:gd name="connsiteX10" fmla="*/ 4939364 w 6942525"/>
                <a:gd name="connsiteY10" fmla="*/ 3179028 h 5346501"/>
                <a:gd name="connsiteX11" fmla="*/ 4979880 w 6942525"/>
                <a:gd name="connsiteY11" fmla="*/ 3234870 h 5346501"/>
                <a:gd name="connsiteX12" fmla="*/ 4982067 w 6942525"/>
                <a:gd name="connsiteY12" fmla="*/ 3238154 h 5346501"/>
                <a:gd name="connsiteX13" fmla="*/ 5062135 w 6942525"/>
                <a:gd name="connsiteY13" fmla="*/ 3381728 h 5346501"/>
                <a:gd name="connsiteX14" fmla="*/ 5080445 w 6942525"/>
                <a:gd name="connsiteY14" fmla="*/ 3430512 h 5346501"/>
                <a:gd name="connsiteX15" fmla="*/ 5045549 w 6942525"/>
                <a:gd name="connsiteY15" fmla="*/ 3435607 h 5346501"/>
                <a:gd name="connsiteX16" fmla="*/ 4879551 w 6942525"/>
                <a:gd name="connsiteY16" fmla="*/ 3478187 h 5346501"/>
                <a:gd name="connsiteX17" fmla="*/ 4586973 w 6942525"/>
                <a:gd name="connsiteY17" fmla="*/ 3589312 h 5346501"/>
                <a:gd name="connsiteX18" fmla="*/ 4561618 w 6942525"/>
                <a:gd name="connsiteY18" fmla="*/ 3601296 h 5346501"/>
                <a:gd name="connsiteX19" fmla="*/ 4330412 w 6942525"/>
                <a:gd name="connsiteY19" fmla="*/ 3702809 h 5346501"/>
                <a:gd name="connsiteX20" fmla="*/ 4268693 w 6942525"/>
                <a:gd name="connsiteY20" fmla="*/ 3728097 h 5346501"/>
                <a:gd name="connsiteX21" fmla="*/ 4175275 w 6942525"/>
                <a:gd name="connsiteY21" fmla="*/ 3768366 h 5346501"/>
                <a:gd name="connsiteX22" fmla="*/ 4039156 w 6942525"/>
                <a:gd name="connsiteY22" fmla="*/ 3824940 h 5346501"/>
                <a:gd name="connsiteX23" fmla="*/ 3947413 w 6942525"/>
                <a:gd name="connsiteY23" fmla="*/ 3860545 h 5346501"/>
                <a:gd name="connsiteX24" fmla="*/ 3643827 w 6942525"/>
                <a:gd name="connsiteY24" fmla="*/ 3972996 h 5346501"/>
                <a:gd name="connsiteX25" fmla="*/ 3476707 w 6942525"/>
                <a:gd name="connsiteY25" fmla="*/ 4013197 h 5346501"/>
                <a:gd name="connsiteX26" fmla="*/ 3355633 w 6942525"/>
                <a:gd name="connsiteY26" fmla="*/ 4027765 h 5346501"/>
                <a:gd name="connsiteX27" fmla="*/ 3089870 w 6942525"/>
                <a:gd name="connsiteY27" fmla="*/ 3990506 h 5346501"/>
                <a:gd name="connsiteX28" fmla="*/ 2992368 w 6942525"/>
                <a:gd name="connsiteY28" fmla="*/ 3945152 h 5346501"/>
                <a:gd name="connsiteX29" fmla="*/ 2985393 w 6942525"/>
                <a:gd name="connsiteY29" fmla="*/ 3848037 h 5346501"/>
                <a:gd name="connsiteX30" fmla="*/ 3056068 w 6942525"/>
                <a:gd name="connsiteY30" fmla="*/ 3453858 h 5346501"/>
                <a:gd name="connsiteX31" fmla="*/ 3061542 w 6942525"/>
                <a:gd name="connsiteY31" fmla="*/ 3440719 h 5346501"/>
                <a:gd name="connsiteX32" fmla="*/ 3067017 w 6942525"/>
                <a:gd name="connsiteY32" fmla="*/ 3427579 h 5346501"/>
                <a:gd name="connsiteX33" fmla="*/ 3079060 w 6942525"/>
                <a:gd name="connsiteY33" fmla="*/ 3400206 h 5346501"/>
                <a:gd name="connsiteX34" fmla="*/ 3079061 w 6942525"/>
                <a:gd name="connsiteY34" fmla="*/ 3399111 h 5346501"/>
                <a:gd name="connsiteX35" fmla="*/ 3172131 w 6942525"/>
                <a:gd name="connsiteY35" fmla="*/ 3230490 h 5346501"/>
                <a:gd name="connsiteX36" fmla="*/ 3553170 w 6942525"/>
                <a:gd name="connsiteY36" fmla="*/ 2884488 h 5346501"/>
                <a:gd name="connsiteX37" fmla="*/ 3558645 w 6942525"/>
                <a:gd name="connsiteY37" fmla="*/ 2881204 h 5346501"/>
                <a:gd name="connsiteX38" fmla="*/ 3572879 w 6942525"/>
                <a:gd name="connsiteY38" fmla="*/ 2873539 h 5346501"/>
                <a:gd name="connsiteX39" fmla="*/ 3583829 w 6942525"/>
                <a:gd name="connsiteY39" fmla="*/ 2868065 h 5346501"/>
                <a:gd name="connsiteX40" fmla="*/ 3592588 w 6942525"/>
                <a:gd name="connsiteY40" fmla="*/ 2863686 h 5346501"/>
                <a:gd name="connsiteX41" fmla="*/ 3609013 w 6942525"/>
                <a:gd name="connsiteY41" fmla="*/ 2856020 h 5346501"/>
                <a:gd name="connsiteX42" fmla="*/ 3612297 w 6942525"/>
                <a:gd name="connsiteY42" fmla="*/ 2854926 h 5346501"/>
                <a:gd name="connsiteX43" fmla="*/ 4171812 w 6942525"/>
                <a:gd name="connsiteY43" fmla="*/ 2756381 h 5346501"/>
                <a:gd name="connsiteX44" fmla="*/ 4307585 w 6942525"/>
                <a:gd name="connsiteY44" fmla="*/ 2777184 h 5346501"/>
                <a:gd name="connsiteX45" fmla="*/ 4309775 w 6942525"/>
                <a:gd name="connsiteY45" fmla="*/ 2778279 h 5346501"/>
                <a:gd name="connsiteX46" fmla="*/ 4332768 w 6942525"/>
                <a:gd name="connsiteY46" fmla="*/ 2783754 h 5346501"/>
                <a:gd name="connsiteX47" fmla="*/ 4334957 w 6942525"/>
                <a:gd name="connsiteY47" fmla="*/ 2783754 h 5346501"/>
                <a:gd name="connsiteX48" fmla="*/ 4341527 w 6942525"/>
                <a:gd name="connsiteY48" fmla="*/ 2785945 h 5346501"/>
                <a:gd name="connsiteX49" fmla="*/ 4363426 w 6942525"/>
                <a:gd name="connsiteY49" fmla="*/ 2791418 h 5346501"/>
                <a:gd name="connsiteX50" fmla="*/ 4380946 w 6942525"/>
                <a:gd name="connsiteY50" fmla="*/ 2795799 h 5346501"/>
                <a:gd name="connsiteX51" fmla="*/ 4388610 w 6942525"/>
                <a:gd name="connsiteY51" fmla="*/ 2797988 h 5346501"/>
                <a:gd name="connsiteX52" fmla="*/ 6771598 w 6942525"/>
                <a:gd name="connsiteY52" fmla="*/ 3546932 h 5346501"/>
                <a:gd name="connsiteX53" fmla="*/ 6929240 w 6942525"/>
                <a:gd name="connsiteY53" fmla="*/ 3620440 h 5346501"/>
                <a:gd name="connsiteX54" fmla="*/ 6942525 w 6942525"/>
                <a:gd name="connsiteY54" fmla="*/ 3629091 h 5346501"/>
                <a:gd name="connsiteX55" fmla="*/ 6341311 w 6942525"/>
                <a:gd name="connsiteY55" fmla="*/ 5307743 h 5346501"/>
                <a:gd name="connsiteX56" fmla="*/ 6322731 w 6942525"/>
                <a:gd name="connsiteY56" fmla="*/ 5345603 h 5346501"/>
                <a:gd name="connsiteX57" fmla="*/ 6321801 w 6942525"/>
                <a:gd name="connsiteY57" fmla="*/ 5346501 h 5346501"/>
                <a:gd name="connsiteX58" fmla="*/ 6233585 w 6942525"/>
                <a:gd name="connsiteY58" fmla="*/ 5329491 h 5346501"/>
                <a:gd name="connsiteX59" fmla="*/ 5624340 w 6942525"/>
                <a:gd name="connsiteY59" fmla="*/ 4843958 h 5346501"/>
                <a:gd name="connsiteX60" fmla="*/ 5586835 w 6942525"/>
                <a:gd name="connsiteY60" fmla="*/ 4756564 h 5346501"/>
                <a:gd name="connsiteX61" fmla="*/ 5593276 w 6942525"/>
                <a:gd name="connsiteY61" fmla="*/ 4698185 h 5346501"/>
                <a:gd name="connsiteX62" fmla="*/ 5621590 w 6942525"/>
                <a:gd name="connsiteY62" fmla="*/ 4597078 h 5346501"/>
                <a:gd name="connsiteX63" fmla="*/ 5807147 w 6942525"/>
                <a:gd name="connsiteY63" fmla="*/ 4078983 h 5346501"/>
                <a:gd name="connsiteX64" fmla="*/ 5831463 w 6942525"/>
                <a:gd name="connsiteY64" fmla="*/ 3787766 h 5346501"/>
                <a:gd name="connsiteX65" fmla="*/ 5818045 w 6942525"/>
                <a:gd name="connsiteY65" fmla="*/ 3747493 h 5346501"/>
                <a:gd name="connsiteX66" fmla="*/ 5827361 w 6942525"/>
                <a:gd name="connsiteY66" fmla="*/ 3737448 h 5346501"/>
                <a:gd name="connsiteX67" fmla="*/ 6680322 w 6942525"/>
                <a:gd name="connsiteY67" fmla="*/ 3519554 h 5346501"/>
                <a:gd name="connsiteX68" fmla="*/ 6771598 w 6942525"/>
                <a:gd name="connsiteY68" fmla="*/ 3546932 h 5346501"/>
                <a:gd name="connsiteX69" fmla="*/ 6517110 w 6942525"/>
                <a:gd name="connsiteY69" fmla="*/ 1905535 h 5346501"/>
                <a:gd name="connsiteX70" fmla="*/ 6865206 w 6942525"/>
                <a:gd name="connsiteY70" fmla="*/ 2030207 h 5346501"/>
                <a:gd name="connsiteX71" fmla="*/ 6880422 w 6942525"/>
                <a:gd name="connsiteY71" fmla="*/ 2061641 h 5346501"/>
                <a:gd name="connsiteX72" fmla="*/ 6937632 w 6942525"/>
                <a:gd name="connsiteY72" fmla="*/ 2415855 h 5346501"/>
                <a:gd name="connsiteX73" fmla="*/ 6937632 w 6942525"/>
                <a:gd name="connsiteY73" fmla="*/ 2427898 h 5346501"/>
                <a:gd name="connsiteX74" fmla="*/ 6935443 w 6942525"/>
                <a:gd name="connsiteY74" fmla="*/ 2457462 h 5346501"/>
                <a:gd name="connsiteX75" fmla="*/ 6928873 w 6942525"/>
                <a:gd name="connsiteY75" fmla="*/ 2515494 h 5346501"/>
                <a:gd name="connsiteX76" fmla="*/ 6927780 w 6942525"/>
                <a:gd name="connsiteY76" fmla="*/ 2522064 h 5346501"/>
                <a:gd name="connsiteX77" fmla="*/ 6921210 w 6942525"/>
                <a:gd name="connsiteY77" fmla="*/ 2560387 h 5346501"/>
                <a:gd name="connsiteX78" fmla="*/ 6914640 w 6942525"/>
                <a:gd name="connsiteY78" fmla="*/ 2588856 h 5346501"/>
                <a:gd name="connsiteX79" fmla="*/ 6911353 w 6942525"/>
                <a:gd name="connsiteY79" fmla="*/ 2604185 h 5346501"/>
                <a:gd name="connsiteX80" fmla="*/ 6779964 w 6942525"/>
                <a:gd name="connsiteY80" fmla="*/ 2904199 h 5346501"/>
                <a:gd name="connsiteX81" fmla="*/ 6770107 w 6942525"/>
                <a:gd name="connsiteY81" fmla="*/ 2918433 h 5346501"/>
                <a:gd name="connsiteX82" fmla="*/ 6754778 w 6942525"/>
                <a:gd name="connsiteY82" fmla="*/ 2940332 h 5346501"/>
                <a:gd name="connsiteX83" fmla="*/ 6730689 w 6942525"/>
                <a:gd name="connsiteY83" fmla="*/ 2972084 h 5346501"/>
                <a:gd name="connsiteX84" fmla="*/ 6728498 w 6942525"/>
                <a:gd name="connsiteY84" fmla="*/ 2974275 h 5346501"/>
                <a:gd name="connsiteX85" fmla="*/ 6496372 w 6942525"/>
                <a:gd name="connsiteY85" fmla="*/ 3179028 h 5346501"/>
                <a:gd name="connsiteX86" fmla="*/ 6494183 w 6942525"/>
                <a:gd name="connsiteY86" fmla="*/ 3180123 h 5346501"/>
                <a:gd name="connsiteX87" fmla="*/ 6461333 w 6942525"/>
                <a:gd name="connsiteY87" fmla="*/ 3199833 h 5346501"/>
                <a:gd name="connsiteX88" fmla="*/ 6453670 w 6942525"/>
                <a:gd name="connsiteY88" fmla="*/ 3204212 h 5346501"/>
                <a:gd name="connsiteX89" fmla="*/ 6425200 w 6942525"/>
                <a:gd name="connsiteY89" fmla="*/ 3219541 h 5346501"/>
                <a:gd name="connsiteX90" fmla="*/ 6413155 w 6942525"/>
                <a:gd name="connsiteY90" fmla="*/ 3226112 h 5346501"/>
                <a:gd name="connsiteX91" fmla="*/ 6387972 w 6942525"/>
                <a:gd name="connsiteY91" fmla="*/ 3238155 h 5346501"/>
                <a:gd name="connsiteX92" fmla="*/ 6370454 w 6942525"/>
                <a:gd name="connsiteY92" fmla="*/ 3245819 h 5346501"/>
                <a:gd name="connsiteX93" fmla="*/ 6348555 w 6942525"/>
                <a:gd name="connsiteY93" fmla="*/ 3254580 h 5346501"/>
                <a:gd name="connsiteX94" fmla="*/ 6327751 w 6942525"/>
                <a:gd name="connsiteY94" fmla="*/ 3262244 h 5346501"/>
                <a:gd name="connsiteX95" fmla="*/ 6306946 w 6942525"/>
                <a:gd name="connsiteY95" fmla="*/ 3268813 h 5346501"/>
                <a:gd name="connsiteX96" fmla="*/ 6285047 w 6942525"/>
                <a:gd name="connsiteY96" fmla="*/ 3276478 h 5346501"/>
                <a:gd name="connsiteX97" fmla="*/ 6264243 w 6942525"/>
                <a:gd name="connsiteY97" fmla="*/ 3283048 h 5346501"/>
                <a:gd name="connsiteX98" fmla="*/ 6242346 w 6942525"/>
                <a:gd name="connsiteY98" fmla="*/ 3289617 h 5346501"/>
                <a:gd name="connsiteX99" fmla="*/ 6216068 w 6942525"/>
                <a:gd name="connsiteY99" fmla="*/ 3296187 h 5346501"/>
                <a:gd name="connsiteX100" fmla="*/ 6199642 w 6942525"/>
                <a:gd name="connsiteY100" fmla="*/ 3300566 h 5346501"/>
                <a:gd name="connsiteX101" fmla="*/ 6162416 w 6942525"/>
                <a:gd name="connsiteY101" fmla="*/ 3307137 h 5346501"/>
                <a:gd name="connsiteX102" fmla="*/ 6155844 w 6942525"/>
                <a:gd name="connsiteY102" fmla="*/ 3308231 h 5346501"/>
                <a:gd name="connsiteX103" fmla="*/ 5609469 w 6942525"/>
                <a:gd name="connsiteY103" fmla="*/ 3232680 h 5346501"/>
                <a:gd name="connsiteX104" fmla="*/ 5149595 w 6942525"/>
                <a:gd name="connsiteY104" fmla="*/ 2758571 h 5346501"/>
                <a:gd name="connsiteX105" fmla="*/ 5149594 w 6942525"/>
                <a:gd name="connsiteY105" fmla="*/ 2757476 h 5346501"/>
                <a:gd name="connsiteX106" fmla="*/ 5118935 w 6942525"/>
                <a:gd name="connsiteY106" fmla="*/ 2677546 h 5346501"/>
                <a:gd name="connsiteX107" fmla="*/ 5116746 w 6942525"/>
                <a:gd name="connsiteY107" fmla="*/ 2669881 h 5346501"/>
                <a:gd name="connsiteX108" fmla="*/ 5105797 w 6942525"/>
                <a:gd name="connsiteY108" fmla="*/ 2632653 h 5346501"/>
                <a:gd name="connsiteX109" fmla="*/ 5103609 w 6942525"/>
                <a:gd name="connsiteY109" fmla="*/ 2624990 h 5346501"/>
                <a:gd name="connsiteX110" fmla="*/ 5094847 w 6942525"/>
                <a:gd name="connsiteY110" fmla="*/ 2587760 h 5346501"/>
                <a:gd name="connsiteX111" fmla="*/ 5093752 w 6942525"/>
                <a:gd name="connsiteY111" fmla="*/ 2584476 h 5346501"/>
                <a:gd name="connsiteX112" fmla="*/ 5086087 w 6942525"/>
                <a:gd name="connsiteY112" fmla="*/ 2541774 h 5346501"/>
                <a:gd name="connsiteX113" fmla="*/ 5084995 w 6942525"/>
                <a:gd name="connsiteY113" fmla="*/ 2538489 h 5346501"/>
                <a:gd name="connsiteX114" fmla="*/ 5082804 w 6942525"/>
                <a:gd name="connsiteY114" fmla="*/ 2526445 h 5346501"/>
                <a:gd name="connsiteX115" fmla="*/ 5078286 w 6942525"/>
                <a:gd name="connsiteY115" fmla="*/ 2461983 h 5346501"/>
                <a:gd name="connsiteX116" fmla="*/ 5159963 w 6942525"/>
                <a:gd name="connsiteY116" fmla="*/ 2430582 h 5346501"/>
                <a:gd name="connsiteX117" fmla="*/ 5859576 w 6942525"/>
                <a:gd name="connsiteY117" fmla="*/ 2138728 h 5346501"/>
                <a:gd name="connsiteX118" fmla="*/ 6339331 w 6942525"/>
                <a:gd name="connsiteY118" fmla="*/ 1931386 h 5346501"/>
                <a:gd name="connsiteX119" fmla="*/ 6431079 w 6942525"/>
                <a:gd name="connsiteY119" fmla="*/ 1895788 h 5346501"/>
                <a:gd name="connsiteX120" fmla="*/ 6442085 w 6942525"/>
                <a:gd name="connsiteY120" fmla="*/ 1894460 h 5346501"/>
                <a:gd name="connsiteX121" fmla="*/ 6517110 w 6942525"/>
                <a:gd name="connsiteY121" fmla="*/ 1905535 h 5346501"/>
                <a:gd name="connsiteX122" fmla="*/ 1211371 w 6942525"/>
                <a:gd name="connsiteY122" fmla="*/ 0 h 5346501"/>
                <a:gd name="connsiteX123" fmla="*/ 1323858 w 6942525"/>
                <a:gd name="connsiteY123" fmla="*/ 40288 h 5346501"/>
                <a:gd name="connsiteX124" fmla="*/ 1505887 w 6942525"/>
                <a:gd name="connsiteY124" fmla="*/ 105482 h 5346501"/>
                <a:gd name="connsiteX125" fmla="*/ 1989090 w 6942525"/>
                <a:gd name="connsiteY125" fmla="*/ 520789 h 5346501"/>
                <a:gd name="connsiteX126" fmla="*/ 2435576 w 6942525"/>
                <a:gd name="connsiteY126" fmla="*/ 1383611 h 5346501"/>
                <a:gd name="connsiteX127" fmla="*/ 2371730 w 6942525"/>
                <a:gd name="connsiteY127" fmla="*/ 1422742 h 5346501"/>
                <a:gd name="connsiteX128" fmla="*/ 2359686 w 6942525"/>
                <a:gd name="connsiteY128" fmla="*/ 1429313 h 5346501"/>
                <a:gd name="connsiteX129" fmla="*/ 2350925 w 6942525"/>
                <a:gd name="connsiteY129" fmla="*/ 1433692 h 5346501"/>
                <a:gd name="connsiteX130" fmla="*/ 2345451 w 6942525"/>
                <a:gd name="connsiteY130" fmla="*/ 1436976 h 5346501"/>
                <a:gd name="connsiteX131" fmla="*/ 2229389 w 6942525"/>
                <a:gd name="connsiteY131" fmla="*/ 1693194 h 5346501"/>
                <a:gd name="connsiteX132" fmla="*/ 2229388 w 6942525"/>
                <a:gd name="connsiteY132" fmla="*/ 1695383 h 5346501"/>
                <a:gd name="connsiteX133" fmla="*/ 2407863 w 6942525"/>
                <a:gd name="connsiteY133" fmla="*/ 1846485 h 5346501"/>
                <a:gd name="connsiteX134" fmla="*/ 2414433 w 6942525"/>
                <a:gd name="connsiteY134" fmla="*/ 1846484 h 5346501"/>
                <a:gd name="connsiteX135" fmla="*/ 2658605 w 6942525"/>
                <a:gd name="connsiteY135" fmla="*/ 1899042 h 5346501"/>
                <a:gd name="connsiteX136" fmla="*/ 2822470 w 6942525"/>
                <a:gd name="connsiteY136" fmla="*/ 1986791 h 5346501"/>
                <a:gd name="connsiteX137" fmla="*/ 2878775 w 6942525"/>
                <a:gd name="connsiteY137" fmla="*/ 2031380 h 5346501"/>
                <a:gd name="connsiteX138" fmla="*/ 2929827 w 6942525"/>
                <a:gd name="connsiteY138" fmla="*/ 2084748 h 5346501"/>
                <a:gd name="connsiteX139" fmla="*/ 2965120 w 6942525"/>
                <a:gd name="connsiteY139" fmla="*/ 2115980 h 5346501"/>
                <a:gd name="connsiteX140" fmla="*/ 3018673 w 6942525"/>
                <a:gd name="connsiteY140" fmla="*/ 2184978 h 5346501"/>
                <a:gd name="connsiteX141" fmla="*/ 3133809 w 6942525"/>
                <a:gd name="connsiteY141" fmla="*/ 2449798 h 5346501"/>
                <a:gd name="connsiteX142" fmla="*/ 2548016 w 6942525"/>
                <a:gd name="connsiteY142" fmla="*/ 3383781 h 5346501"/>
                <a:gd name="connsiteX143" fmla="*/ 2536880 w 6942525"/>
                <a:gd name="connsiteY143" fmla="*/ 3385712 h 5346501"/>
                <a:gd name="connsiteX144" fmla="*/ 2514488 w 6942525"/>
                <a:gd name="connsiteY144" fmla="*/ 3347339 h 5346501"/>
                <a:gd name="connsiteX145" fmla="*/ 2350348 w 6942525"/>
                <a:gd name="connsiteY145" fmla="*/ 3041037 h 5346501"/>
                <a:gd name="connsiteX146" fmla="*/ 2228498 w 6942525"/>
                <a:gd name="connsiteY146" fmla="*/ 2807812 h 5346501"/>
                <a:gd name="connsiteX147" fmla="*/ 2202859 w 6942525"/>
                <a:gd name="connsiteY147" fmla="*/ 2761768 h 5346501"/>
                <a:gd name="connsiteX148" fmla="*/ 2199862 w 6942525"/>
                <a:gd name="connsiteY148" fmla="*/ 2755426 h 5346501"/>
                <a:gd name="connsiteX149" fmla="*/ 2029384 w 6942525"/>
                <a:gd name="connsiteY149" fmla="*/ 2452123 h 5346501"/>
                <a:gd name="connsiteX150" fmla="*/ 1852495 w 6942525"/>
                <a:gd name="connsiteY150" fmla="*/ 2225519 h 5346501"/>
                <a:gd name="connsiteX151" fmla="*/ 1818850 w 6942525"/>
                <a:gd name="connsiteY151" fmla="*/ 2187136 h 5346501"/>
                <a:gd name="connsiteX152" fmla="*/ 1791189 w 6942525"/>
                <a:gd name="connsiteY152" fmla="*/ 2161433 h 5346501"/>
                <a:gd name="connsiteX153" fmla="*/ 1769205 w 6942525"/>
                <a:gd name="connsiteY153" fmla="*/ 2145235 h 5346501"/>
                <a:gd name="connsiteX154" fmla="*/ 1808930 w 6942525"/>
                <a:gd name="connsiteY154" fmla="*/ 2097226 h 5346501"/>
                <a:gd name="connsiteX155" fmla="*/ 2006020 w 6942525"/>
                <a:gd name="connsiteY155" fmla="*/ 1945030 h 5346501"/>
                <a:gd name="connsiteX156" fmla="*/ 2011495 w 6942525"/>
                <a:gd name="connsiteY156" fmla="*/ 1941744 h 5346501"/>
                <a:gd name="connsiteX157" fmla="*/ 2106755 w 6942525"/>
                <a:gd name="connsiteY157" fmla="*/ 1728230 h 5346501"/>
                <a:gd name="connsiteX158" fmla="*/ 2106755 w 6942525"/>
                <a:gd name="connsiteY158" fmla="*/ 1726042 h 5346501"/>
                <a:gd name="connsiteX159" fmla="*/ 1891051 w 6942525"/>
                <a:gd name="connsiteY159" fmla="*/ 1545376 h 5346501"/>
                <a:gd name="connsiteX160" fmla="*/ 1884482 w 6942525"/>
                <a:gd name="connsiteY160" fmla="*/ 1545377 h 5346501"/>
                <a:gd name="connsiteX161" fmla="*/ 1603082 w 6942525"/>
                <a:gd name="connsiteY161" fmla="*/ 1491724 h 5346501"/>
                <a:gd name="connsiteX162" fmla="*/ 1601987 w 6942525"/>
                <a:gd name="connsiteY162" fmla="*/ 1491724 h 5346501"/>
                <a:gd name="connsiteX163" fmla="*/ 1586657 w 6942525"/>
                <a:gd name="connsiteY163" fmla="*/ 1486249 h 5346501"/>
                <a:gd name="connsiteX164" fmla="*/ 1501252 w 6942525"/>
                <a:gd name="connsiteY164" fmla="*/ 1449021 h 5346501"/>
                <a:gd name="connsiteX165" fmla="*/ 1494683 w 6942525"/>
                <a:gd name="connsiteY165" fmla="*/ 1445737 h 5346501"/>
                <a:gd name="connsiteX166" fmla="*/ 1469499 w 6942525"/>
                <a:gd name="connsiteY166" fmla="*/ 1432597 h 5346501"/>
                <a:gd name="connsiteX167" fmla="*/ 1462930 w 6942525"/>
                <a:gd name="connsiteY167" fmla="*/ 1429312 h 5346501"/>
                <a:gd name="connsiteX168" fmla="*/ 1433366 w 6942525"/>
                <a:gd name="connsiteY168" fmla="*/ 1411794 h 5346501"/>
                <a:gd name="connsiteX169" fmla="*/ 1427891 w 6942525"/>
                <a:gd name="connsiteY169" fmla="*/ 1408508 h 5346501"/>
                <a:gd name="connsiteX170" fmla="*/ 1402707 w 6942525"/>
                <a:gd name="connsiteY170" fmla="*/ 1392085 h 5346501"/>
                <a:gd name="connsiteX171" fmla="*/ 1399423 w 6942525"/>
                <a:gd name="connsiteY171" fmla="*/ 1389894 h 5346501"/>
                <a:gd name="connsiteX172" fmla="*/ 1393948 w 6942525"/>
                <a:gd name="connsiteY172" fmla="*/ 1386610 h 5346501"/>
                <a:gd name="connsiteX173" fmla="*/ 1113643 w 6942525"/>
                <a:gd name="connsiteY173" fmla="*/ 1406319 h 5346501"/>
                <a:gd name="connsiteX174" fmla="*/ 1111453 w 6942525"/>
                <a:gd name="connsiteY174" fmla="*/ 1408508 h 5346501"/>
                <a:gd name="connsiteX175" fmla="*/ 1070940 w 6942525"/>
                <a:gd name="connsiteY175" fmla="*/ 1585889 h 5346501"/>
                <a:gd name="connsiteX176" fmla="*/ 1075321 w 6942525"/>
                <a:gd name="connsiteY176" fmla="*/ 1596838 h 5346501"/>
                <a:gd name="connsiteX177" fmla="*/ 1076415 w 6942525"/>
                <a:gd name="connsiteY177" fmla="*/ 1599028 h 5346501"/>
                <a:gd name="connsiteX178" fmla="*/ 1088459 w 6942525"/>
                <a:gd name="connsiteY178" fmla="*/ 1626401 h 5346501"/>
                <a:gd name="connsiteX179" fmla="*/ 1090649 w 6942525"/>
                <a:gd name="connsiteY179" fmla="*/ 1632971 h 5346501"/>
                <a:gd name="connsiteX180" fmla="*/ 1099409 w 6942525"/>
                <a:gd name="connsiteY180" fmla="*/ 1657060 h 5346501"/>
                <a:gd name="connsiteX181" fmla="*/ 1101599 w 6942525"/>
                <a:gd name="connsiteY181" fmla="*/ 1664724 h 5346501"/>
                <a:gd name="connsiteX182" fmla="*/ 1109262 w 6942525"/>
                <a:gd name="connsiteY182" fmla="*/ 1688814 h 5346501"/>
                <a:gd name="connsiteX183" fmla="*/ 1111453 w 6942525"/>
                <a:gd name="connsiteY183" fmla="*/ 1696478 h 5346501"/>
                <a:gd name="connsiteX184" fmla="*/ 1116928 w 6942525"/>
                <a:gd name="connsiteY184" fmla="*/ 1720566 h 5346501"/>
                <a:gd name="connsiteX185" fmla="*/ 1118023 w 6942525"/>
                <a:gd name="connsiteY185" fmla="*/ 1723851 h 5346501"/>
                <a:gd name="connsiteX186" fmla="*/ 1119118 w 6942525"/>
                <a:gd name="connsiteY186" fmla="*/ 1731516 h 5346501"/>
                <a:gd name="connsiteX187" fmla="*/ 1122403 w 6942525"/>
                <a:gd name="connsiteY187" fmla="*/ 1750130 h 5346501"/>
                <a:gd name="connsiteX188" fmla="*/ 1124593 w 6942525"/>
                <a:gd name="connsiteY188" fmla="*/ 1765460 h 5346501"/>
                <a:gd name="connsiteX189" fmla="*/ 1126782 w 6942525"/>
                <a:gd name="connsiteY189" fmla="*/ 1779693 h 5346501"/>
                <a:gd name="connsiteX190" fmla="*/ 1127878 w 6942525"/>
                <a:gd name="connsiteY190" fmla="*/ 1791738 h 5346501"/>
                <a:gd name="connsiteX191" fmla="*/ 1128972 w 6942525"/>
                <a:gd name="connsiteY191" fmla="*/ 1805972 h 5346501"/>
                <a:gd name="connsiteX192" fmla="*/ 1130067 w 6942525"/>
                <a:gd name="connsiteY192" fmla="*/ 1826775 h 5346501"/>
                <a:gd name="connsiteX193" fmla="*/ 1130067 w 6942525"/>
                <a:gd name="connsiteY193" fmla="*/ 1839915 h 5346501"/>
                <a:gd name="connsiteX194" fmla="*/ 1130067 w 6942525"/>
                <a:gd name="connsiteY194" fmla="*/ 1853055 h 5346501"/>
                <a:gd name="connsiteX195" fmla="*/ 1130067 w 6942525"/>
                <a:gd name="connsiteY195" fmla="*/ 1865098 h 5346501"/>
                <a:gd name="connsiteX196" fmla="*/ 1128972 w 6942525"/>
                <a:gd name="connsiteY196" fmla="*/ 1888092 h 5346501"/>
                <a:gd name="connsiteX197" fmla="*/ 1127878 w 6942525"/>
                <a:gd name="connsiteY197" fmla="*/ 1897946 h 5346501"/>
                <a:gd name="connsiteX198" fmla="*/ 1126783 w 6942525"/>
                <a:gd name="connsiteY198" fmla="*/ 1915467 h 5346501"/>
                <a:gd name="connsiteX199" fmla="*/ 1125687 w 6942525"/>
                <a:gd name="connsiteY199" fmla="*/ 1924226 h 5346501"/>
                <a:gd name="connsiteX200" fmla="*/ 1122403 w 6942525"/>
                <a:gd name="connsiteY200" fmla="*/ 1949409 h 5346501"/>
                <a:gd name="connsiteX201" fmla="*/ 1121308 w 6942525"/>
                <a:gd name="connsiteY201" fmla="*/ 1954885 h 5346501"/>
                <a:gd name="connsiteX202" fmla="*/ 1116928 w 6942525"/>
                <a:gd name="connsiteY202" fmla="*/ 1976782 h 5346501"/>
                <a:gd name="connsiteX203" fmla="*/ 1115833 w 6942525"/>
                <a:gd name="connsiteY203" fmla="*/ 1982257 h 5346501"/>
                <a:gd name="connsiteX204" fmla="*/ 1109263 w 6942525"/>
                <a:gd name="connsiteY204" fmla="*/ 2008535 h 5346501"/>
                <a:gd name="connsiteX205" fmla="*/ 1109263 w 6942525"/>
                <a:gd name="connsiteY205" fmla="*/ 2009630 h 5346501"/>
                <a:gd name="connsiteX206" fmla="*/ 1101599 w 6942525"/>
                <a:gd name="connsiteY206" fmla="*/ 2035909 h 5346501"/>
                <a:gd name="connsiteX207" fmla="*/ 1100503 w 6942525"/>
                <a:gd name="connsiteY207" fmla="*/ 2039194 h 5346501"/>
                <a:gd name="connsiteX208" fmla="*/ 1081889 w 6942525"/>
                <a:gd name="connsiteY208" fmla="*/ 2091751 h 5346501"/>
                <a:gd name="connsiteX209" fmla="*/ 1080794 w 6942525"/>
                <a:gd name="connsiteY209" fmla="*/ 2095037 h 5346501"/>
                <a:gd name="connsiteX210" fmla="*/ 1076077 w 6942525"/>
                <a:gd name="connsiteY210" fmla="*/ 2104902 h 5346501"/>
                <a:gd name="connsiteX211" fmla="*/ 1030906 w 6942525"/>
                <a:gd name="connsiteY211" fmla="*/ 2148496 h 5346501"/>
                <a:gd name="connsiteX212" fmla="*/ 975618 w 6942525"/>
                <a:gd name="connsiteY212" fmla="*/ 2228423 h 5346501"/>
                <a:gd name="connsiteX213" fmla="*/ 944652 w 6942525"/>
                <a:gd name="connsiteY213" fmla="*/ 2296876 h 5346501"/>
                <a:gd name="connsiteX214" fmla="*/ 941737 w 6942525"/>
                <a:gd name="connsiteY214" fmla="*/ 2299790 h 5346501"/>
                <a:gd name="connsiteX215" fmla="*/ 929693 w 6942525"/>
                <a:gd name="connsiteY215" fmla="*/ 2310739 h 5346501"/>
                <a:gd name="connsiteX216" fmla="*/ 922029 w 6942525"/>
                <a:gd name="connsiteY216" fmla="*/ 2318404 h 5346501"/>
                <a:gd name="connsiteX217" fmla="*/ 919839 w 6942525"/>
                <a:gd name="connsiteY217" fmla="*/ 2320594 h 5346501"/>
                <a:gd name="connsiteX218" fmla="*/ 912174 w 6942525"/>
                <a:gd name="connsiteY218" fmla="*/ 2327164 h 5346501"/>
                <a:gd name="connsiteX219" fmla="*/ 899035 w 6942525"/>
                <a:gd name="connsiteY219" fmla="*/ 2338113 h 5346501"/>
                <a:gd name="connsiteX220" fmla="*/ 884801 w 6942525"/>
                <a:gd name="connsiteY220" fmla="*/ 2349062 h 5346501"/>
                <a:gd name="connsiteX221" fmla="*/ 877136 w 6942525"/>
                <a:gd name="connsiteY221" fmla="*/ 2354537 h 5346501"/>
                <a:gd name="connsiteX222" fmla="*/ 874946 w 6942525"/>
                <a:gd name="connsiteY222" fmla="*/ 2355632 h 5346501"/>
                <a:gd name="connsiteX223" fmla="*/ 856332 w 6942525"/>
                <a:gd name="connsiteY223" fmla="*/ 2368771 h 5346501"/>
                <a:gd name="connsiteX224" fmla="*/ 849763 w 6942525"/>
                <a:gd name="connsiteY224" fmla="*/ 2373151 h 5346501"/>
                <a:gd name="connsiteX225" fmla="*/ 828959 w 6942525"/>
                <a:gd name="connsiteY225" fmla="*/ 2386291 h 5346501"/>
                <a:gd name="connsiteX226" fmla="*/ 823484 w 6942525"/>
                <a:gd name="connsiteY226" fmla="*/ 2389575 h 5346501"/>
                <a:gd name="connsiteX227" fmla="*/ 802680 w 6942525"/>
                <a:gd name="connsiteY227" fmla="*/ 2401620 h 5346501"/>
                <a:gd name="connsiteX228" fmla="*/ 796110 w 6942525"/>
                <a:gd name="connsiteY228" fmla="*/ 2404905 h 5346501"/>
                <a:gd name="connsiteX229" fmla="*/ 776401 w 6942525"/>
                <a:gd name="connsiteY229" fmla="*/ 2414759 h 5346501"/>
                <a:gd name="connsiteX230" fmla="*/ 768737 w 6942525"/>
                <a:gd name="connsiteY230" fmla="*/ 2418043 h 5346501"/>
                <a:gd name="connsiteX231" fmla="*/ 750123 w 6942525"/>
                <a:gd name="connsiteY231" fmla="*/ 2425709 h 5346501"/>
                <a:gd name="connsiteX232" fmla="*/ 740268 w 6942525"/>
                <a:gd name="connsiteY232" fmla="*/ 2430088 h 5346501"/>
                <a:gd name="connsiteX233" fmla="*/ 723844 w 6942525"/>
                <a:gd name="connsiteY233" fmla="*/ 2435562 h 5346501"/>
                <a:gd name="connsiteX234" fmla="*/ 710705 w 6942525"/>
                <a:gd name="connsiteY234" fmla="*/ 2439943 h 5346501"/>
                <a:gd name="connsiteX235" fmla="*/ 697565 w 6942525"/>
                <a:gd name="connsiteY235" fmla="*/ 2444323 h 5346501"/>
                <a:gd name="connsiteX236" fmla="*/ 681141 w 6942525"/>
                <a:gd name="connsiteY236" fmla="*/ 2449797 h 5346501"/>
                <a:gd name="connsiteX237" fmla="*/ 670192 w 6942525"/>
                <a:gd name="connsiteY237" fmla="*/ 2453082 h 5346501"/>
                <a:gd name="connsiteX238" fmla="*/ 651578 w 6942525"/>
                <a:gd name="connsiteY238" fmla="*/ 2457462 h 5346501"/>
                <a:gd name="connsiteX239" fmla="*/ 643915 w 6942525"/>
                <a:gd name="connsiteY239" fmla="*/ 2459652 h 5346501"/>
                <a:gd name="connsiteX240" fmla="*/ 622015 w 6942525"/>
                <a:gd name="connsiteY240" fmla="*/ 2464032 h 5346501"/>
                <a:gd name="connsiteX241" fmla="*/ 615445 w 6942525"/>
                <a:gd name="connsiteY241" fmla="*/ 2465126 h 5346501"/>
                <a:gd name="connsiteX242" fmla="*/ 592452 w 6942525"/>
                <a:gd name="connsiteY242" fmla="*/ 2468412 h 5346501"/>
                <a:gd name="connsiteX243" fmla="*/ 586975 w 6942525"/>
                <a:gd name="connsiteY243" fmla="*/ 2469505 h 5346501"/>
                <a:gd name="connsiteX244" fmla="*/ 562888 w 6942525"/>
                <a:gd name="connsiteY244" fmla="*/ 2471696 h 5346501"/>
                <a:gd name="connsiteX245" fmla="*/ 557413 w 6942525"/>
                <a:gd name="connsiteY245" fmla="*/ 2471696 h 5346501"/>
                <a:gd name="connsiteX246" fmla="*/ 533324 w 6942525"/>
                <a:gd name="connsiteY246" fmla="*/ 2472791 h 5346501"/>
                <a:gd name="connsiteX247" fmla="*/ 525660 w 6942525"/>
                <a:gd name="connsiteY247" fmla="*/ 2472791 h 5346501"/>
                <a:gd name="connsiteX248" fmla="*/ 503761 w 6942525"/>
                <a:gd name="connsiteY248" fmla="*/ 2472791 h 5346501"/>
                <a:gd name="connsiteX249" fmla="*/ 493906 w 6942525"/>
                <a:gd name="connsiteY249" fmla="*/ 2472791 h 5346501"/>
                <a:gd name="connsiteX250" fmla="*/ 474198 w 6942525"/>
                <a:gd name="connsiteY250" fmla="*/ 2471696 h 5346501"/>
                <a:gd name="connsiteX251" fmla="*/ 462153 w 6942525"/>
                <a:gd name="connsiteY251" fmla="*/ 2470600 h 5346501"/>
                <a:gd name="connsiteX252" fmla="*/ 445729 w 6942525"/>
                <a:gd name="connsiteY252" fmla="*/ 2469505 h 5346501"/>
                <a:gd name="connsiteX253" fmla="*/ 430400 w 6942525"/>
                <a:gd name="connsiteY253" fmla="*/ 2467316 h 5346501"/>
                <a:gd name="connsiteX254" fmla="*/ 417260 w 6942525"/>
                <a:gd name="connsiteY254" fmla="*/ 2465125 h 5346501"/>
                <a:gd name="connsiteX255" fmla="*/ 398647 w 6942525"/>
                <a:gd name="connsiteY255" fmla="*/ 2461841 h 5346501"/>
                <a:gd name="connsiteX256" fmla="*/ 388792 w 6942525"/>
                <a:gd name="connsiteY256" fmla="*/ 2459652 h 5346501"/>
                <a:gd name="connsiteX257" fmla="*/ 367988 w 6942525"/>
                <a:gd name="connsiteY257" fmla="*/ 2455272 h 5346501"/>
                <a:gd name="connsiteX258" fmla="*/ 360324 w 6942525"/>
                <a:gd name="connsiteY258" fmla="*/ 2453082 h 5346501"/>
                <a:gd name="connsiteX259" fmla="*/ 338425 w 6942525"/>
                <a:gd name="connsiteY259" fmla="*/ 2446512 h 5346501"/>
                <a:gd name="connsiteX260" fmla="*/ 331856 w 6942525"/>
                <a:gd name="connsiteY260" fmla="*/ 2444322 h 5346501"/>
                <a:gd name="connsiteX261" fmla="*/ 309957 w 6942525"/>
                <a:gd name="connsiteY261" fmla="*/ 2436658 h 5346501"/>
                <a:gd name="connsiteX262" fmla="*/ 303387 w 6942525"/>
                <a:gd name="connsiteY262" fmla="*/ 2434468 h 5346501"/>
                <a:gd name="connsiteX263" fmla="*/ 282583 w 6942525"/>
                <a:gd name="connsiteY263" fmla="*/ 2425709 h 5346501"/>
                <a:gd name="connsiteX264" fmla="*/ 276013 w 6942525"/>
                <a:gd name="connsiteY264" fmla="*/ 2423518 h 5346501"/>
                <a:gd name="connsiteX265" fmla="*/ 256304 w 6942525"/>
                <a:gd name="connsiteY265" fmla="*/ 2414759 h 5346501"/>
                <a:gd name="connsiteX266" fmla="*/ 247545 w 6942525"/>
                <a:gd name="connsiteY266" fmla="*/ 2411474 h 5346501"/>
                <a:gd name="connsiteX267" fmla="*/ 230026 w 6942525"/>
                <a:gd name="connsiteY267" fmla="*/ 2402714 h 5346501"/>
                <a:gd name="connsiteX268" fmla="*/ 220172 w 6942525"/>
                <a:gd name="connsiteY268" fmla="*/ 2397239 h 5346501"/>
                <a:gd name="connsiteX269" fmla="*/ 205937 w 6942525"/>
                <a:gd name="connsiteY269" fmla="*/ 2389575 h 5346501"/>
                <a:gd name="connsiteX270" fmla="*/ 193892 w 6942525"/>
                <a:gd name="connsiteY270" fmla="*/ 2381911 h 5346501"/>
                <a:gd name="connsiteX271" fmla="*/ 182944 w 6942525"/>
                <a:gd name="connsiteY271" fmla="*/ 2374246 h 5346501"/>
                <a:gd name="connsiteX272" fmla="*/ 168709 w 6942525"/>
                <a:gd name="connsiteY272" fmla="*/ 2364391 h 5346501"/>
                <a:gd name="connsiteX273" fmla="*/ 159950 w 6942525"/>
                <a:gd name="connsiteY273" fmla="*/ 2357823 h 5346501"/>
                <a:gd name="connsiteX274" fmla="*/ 143526 w 6942525"/>
                <a:gd name="connsiteY274" fmla="*/ 2345778 h 5346501"/>
                <a:gd name="connsiteX275" fmla="*/ 136956 w 6942525"/>
                <a:gd name="connsiteY275" fmla="*/ 2340303 h 5346501"/>
                <a:gd name="connsiteX276" fmla="*/ 119437 w 6942525"/>
                <a:gd name="connsiteY276" fmla="*/ 2326068 h 5346501"/>
                <a:gd name="connsiteX277" fmla="*/ 113962 w 6942525"/>
                <a:gd name="connsiteY277" fmla="*/ 2321689 h 5346501"/>
                <a:gd name="connsiteX278" fmla="*/ 95349 w 6942525"/>
                <a:gd name="connsiteY278" fmla="*/ 2305264 h 5346501"/>
                <a:gd name="connsiteX279" fmla="*/ 90968 w 6942525"/>
                <a:gd name="connsiteY279" fmla="*/ 2300885 h 5346501"/>
                <a:gd name="connsiteX280" fmla="*/ 73450 w 6942525"/>
                <a:gd name="connsiteY280" fmla="*/ 2283366 h 5346501"/>
                <a:gd name="connsiteX281" fmla="*/ 67975 w 6942525"/>
                <a:gd name="connsiteY281" fmla="*/ 2277891 h 5346501"/>
                <a:gd name="connsiteX282" fmla="*/ 52645 w 6942525"/>
                <a:gd name="connsiteY282" fmla="*/ 2260373 h 5346501"/>
                <a:gd name="connsiteX283" fmla="*/ 50455 w 6942525"/>
                <a:gd name="connsiteY283" fmla="*/ 2258182 h 5346501"/>
                <a:gd name="connsiteX284" fmla="*/ 44981 w 6942525"/>
                <a:gd name="connsiteY284" fmla="*/ 2251612 h 5346501"/>
                <a:gd name="connsiteX285" fmla="*/ 32936 w 6942525"/>
                <a:gd name="connsiteY285" fmla="*/ 2237379 h 5346501"/>
                <a:gd name="connsiteX286" fmla="*/ 21988 w 6942525"/>
                <a:gd name="connsiteY286" fmla="*/ 2223144 h 5346501"/>
                <a:gd name="connsiteX287" fmla="*/ 15417 w 6942525"/>
                <a:gd name="connsiteY287" fmla="*/ 2214385 h 5346501"/>
                <a:gd name="connsiteX288" fmla="*/ 13229 w 6942525"/>
                <a:gd name="connsiteY288" fmla="*/ 2211100 h 5346501"/>
                <a:gd name="connsiteX289" fmla="*/ 6658 w 6942525"/>
                <a:gd name="connsiteY289" fmla="*/ 2202341 h 5346501"/>
                <a:gd name="connsiteX290" fmla="*/ 0 w 6942525"/>
                <a:gd name="connsiteY290" fmla="*/ 2192724 h 5346501"/>
                <a:gd name="connsiteX291" fmla="*/ 338643 w 6942525"/>
                <a:gd name="connsiteY291" fmla="*/ 1247199 h 5346501"/>
                <a:gd name="connsiteX292" fmla="*/ 365799 w 6942525"/>
                <a:gd name="connsiteY292" fmla="*/ 1239888 h 5346501"/>
                <a:gd name="connsiteX293" fmla="*/ 372368 w 6942525"/>
                <a:gd name="connsiteY293" fmla="*/ 1238793 h 5346501"/>
                <a:gd name="connsiteX294" fmla="*/ 399742 w 6942525"/>
                <a:gd name="connsiteY294" fmla="*/ 1233317 h 5346501"/>
                <a:gd name="connsiteX295" fmla="*/ 407406 w 6942525"/>
                <a:gd name="connsiteY295" fmla="*/ 1232223 h 5346501"/>
                <a:gd name="connsiteX296" fmla="*/ 431494 w 6942525"/>
                <a:gd name="connsiteY296" fmla="*/ 1228938 h 5346501"/>
                <a:gd name="connsiteX297" fmla="*/ 435875 w 6942525"/>
                <a:gd name="connsiteY297" fmla="*/ 1227844 h 5346501"/>
                <a:gd name="connsiteX298" fmla="*/ 517995 w 6942525"/>
                <a:gd name="connsiteY298" fmla="*/ 1223464 h 5346501"/>
                <a:gd name="connsiteX299" fmla="*/ 519090 w 6942525"/>
                <a:gd name="connsiteY299" fmla="*/ 1223464 h 5346501"/>
                <a:gd name="connsiteX300" fmla="*/ 538799 w 6942525"/>
                <a:gd name="connsiteY300" fmla="*/ 1224558 h 5346501"/>
                <a:gd name="connsiteX301" fmla="*/ 543179 w 6942525"/>
                <a:gd name="connsiteY301" fmla="*/ 1224558 h 5346501"/>
                <a:gd name="connsiteX302" fmla="*/ 558508 w 6942525"/>
                <a:gd name="connsiteY302" fmla="*/ 1225654 h 5346501"/>
                <a:gd name="connsiteX303" fmla="*/ 567267 w 6942525"/>
                <a:gd name="connsiteY303" fmla="*/ 1226748 h 5346501"/>
                <a:gd name="connsiteX304" fmla="*/ 578217 w 6942525"/>
                <a:gd name="connsiteY304" fmla="*/ 1227844 h 5346501"/>
                <a:gd name="connsiteX305" fmla="*/ 591356 w 6942525"/>
                <a:gd name="connsiteY305" fmla="*/ 1230033 h 5346501"/>
                <a:gd name="connsiteX306" fmla="*/ 597926 w 6942525"/>
                <a:gd name="connsiteY306" fmla="*/ 1231128 h 5346501"/>
                <a:gd name="connsiteX307" fmla="*/ 615444 w 6942525"/>
                <a:gd name="connsiteY307" fmla="*/ 1234412 h 5346501"/>
                <a:gd name="connsiteX308" fmla="*/ 617635 w 6942525"/>
                <a:gd name="connsiteY308" fmla="*/ 1234413 h 5346501"/>
                <a:gd name="connsiteX309" fmla="*/ 717275 w 6942525"/>
                <a:gd name="connsiteY309" fmla="*/ 1260692 h 5346501"/>
                <a:gd name="connsiteX310" fmla="*/ 721654 w 6942525"/>
                <a:gd name="connsiteY310" fmla="*/ 1261787 h 5346501"/>
                <a:gd name="connsiteX311" fmla="*/ 744649 w 6942525"/>
                <a:gd name="connsiteY311" fmla="*/ 1270547 h 5346501"/>
                <a:gd name="connsiteX312" fmla="*/ 751217 w 6942525"/>
                <a:gd name="connsiteY312" fmla="*/ 1273830 h 5346501"/>
                <a:gd name="connsiteX313" fmla="*/ 776401 w 6942525"/>
                <a:gd name="connsiteY313" fmla="*/ 1284780 h 5346501"/>
                <a:gd name="connsiteX314" fmla="*/ 782971 w 6942525"/>
                <a:gd name="connsiteY314" fmla="*/ 1288065 h 5346501"/>
                <a:gd name="connsiteX315" fmla="*/ 809249 w 6942525"/>
                <a:gd name="connsiteY315" fmla="*/ 1301204 h 5346501"/>
                <a:gd name="connsiteX316" fmla="*/ 810345 w 6942525"/>
                <a:gd name="connsiteY316" fmla="*/ 1302299 h 5346501"/>
                <a:gd name="connsiteX317" fmla="*/ 836624 w 6942525"/>
                <a:gd name="connsiteY317" fmla="*/ 1317628 h 5346501"/>
                <a:gd name="connsiteX318" fmla="*/ 838813 w 6942525"/>
                <a:gd name="connsiteY318" fmla="*/ 1318723 h 5346501"/>
                <a:gd name="connsiteX319" fmla="*/ 841003 w 6942525"/>
                <a:gd name="connsiteY319" fmla="*/ 1319819 h 5346501"/>
                <a:gd name="connsiteX320" fmla="*/ 845383 w 6942525"/>
                <a:gd name="connsiteY320" fmla="*/ 1323103 h 5346501"/>
                <a:gd name="connsiteX321" fmla="*/ 847573 w 6942525"/>
                <a:gd name="connsiteY321" fmla="*/ 1324198 h 5346501"/>
                <a:gd name="connsiteX322" fmla="*/ 1028238 w 6942525"/>
                <a:gd name="connsiteY322" fmla="*/ 1306679 h 5346501"/>
                <a:gd name="connsiteX323" fmla="*/ 1030428 w 6942525"/>
                <a:gd name="connsiteY323" fmla="*/ 1304489 h 5346501"/>
                <a:gd name="connsiteX324" fmla="*/ 1087364 w 6942525"/>
                <a:gd name="connsiteY324" fmla="*/ 1030754 h 5346501"/>
                <a:gd name="connsiteX325" fmla="*/ 1039187 w 6942525"/>
                <a:gd name="connsiteY325" fmla="*/ 917975 h 5346501"/>
                <a:gd name="connsiteX326" fmla="*/ 1038092 w 6942525"/>
                <a:gd name="connsiteY326" fmla="*/ 915786 h 5346501"/>
                <a:gd name="connsiteX327" fmla="*/ 1027142 w 6942525"/>
                <a:gd name="connsiteY327" fmla="*/ 882937 h 5346501"/>
                <a:gd name="connsiteX328" fmla="*/ 1026048 w 6942525"/>
                <a:gd name="connsiteY328" fmla="*/ 879652 h 5346501"/>
                <a:gd name="connsiteX329" fmla="*/ 1008528 w 6942525"/>
                <a:gd name="connsiteY329" fmla="*/ 815051 h 5346501"/>
                <a:gd name="connsiteX330" fmla="*/ 1041377 w 6942525"/>
                <a:gd name="connsiteY330" fmla="*/ 289479 h 5346501"/>
                <a:gd name="connsiteX331" fmla="*/ 1042471 w 6942525"/>
                <a:gd name="connsiteY331" fmla="*/ 287290 h 5346501"/>
                <a:gd name="connsiteX332" fmla="*/ 1050137 w 6942525"/>
                <a:gd name="connsiteY332" fmla="*/ 267581 h 5346501"/>
                <a:gd name="connsiteX333" fmla="*/ 1054516 w 6942525"/>
                <a:gd name="connsiteY333" fmla="*/ 255536 h 5346501"/>
                <a:gd name="connsiteX334" fmla="*/ 1057801 w 6942525"/>
                <a:gd name="connsiteY334" fmla="*/ 246778 h 5346501"/>
                <a:gd name="connsiteX335" fmla="*/ 1205618 w 6942525"/>
                <a:gd name="connsiteY335" fmla="*/ 5890 h 5346501"/>
                <a:gd name="connsiteX336" fmla="*/ 1209998 w 6942525"/>
                <a:gd name="connsiteY336" fmla="*/ 1509 h 534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942525" h="5346501">
                  <a:moveTo>
                    <a:pt x="4388610" y="2797988"/>
                  </a:moveTo>
                  <a:cubicBezTo>
                    <a:pt x="4567086" y="2851641"/>
                    <a:pt x="4721471" y="2946900"/>
                    <a:pt x="4845199" y="3071724"/>
                  </a:cubicBezTo>
                  <a:cubicBezTo>
                    <a:pt x="4846296" y="3072819"/>
                    <a:pt x="4848484" y="3075008"/>
                    <a:pt x="4849579" y="3076103"/>
                  </a:cubicBezTo>
                  <a:cubicBezTo>
                    <a:pt x="4855054" y="3080483"/>
                    <a:pt x="4859435" y="3085958"/>
                    <a:pt x="4864910" y="3091433"/>
                  </a:cubicBezTo>
                  <a:cubicBezTo>
                    <a:pt x="4867099" y="3093623"/>
                    <a:pt x="4868192" y="3094717"/>
                    <a:pt x="4870384" y="3096908"/>
                  </a:cubicBezTo>
                  <a:cubicBezTo>
                    <a:pt x="4880239" y="3106762"/>
                    <a:pt x="4888998" y="3117711"/>
                    <a:pt x="4897756" y="3127565"/>
                  </a:cubicBezTo>
                  <a:cubicBezTo>
                    <a:pt x="4898851" y="3129756"/>
                    <a:pt x="4901043" y="3130850"/>
                    <a:pt x="4902137" y="3133040"/>
                  </a:cubicBezTo>
                  <a:cubicBezTo>
                    <a:pt x="4906518" y="3137420"/>
                    <a:pt x="4909801" y="3142894"/>
                    <a:pt x="4914180" y="3147274"/>
                  </a:cubicBezTo>
                  <a:cubicBezTo>
                    <a:pt x="4917465" y="3150560"/>
                    <a:pt x="4919657" y="3152749"/>
                    <a:pt x="4921846" y="3156034"/>
                  </a:cubicBezTo>
                  <a:cubicBezTo>
                    <a:pt x="4926224" y="3161508"/>
                    <a:pt x="4929510" y="3165888"/>
                    <a:pt x="4933890" y="3171363"/>
                  </a:cubicBezTo>
                  <a:cubicBezTo>
                    <a:pt x="4936080" y="3173553"/>
                    <a:pt x="4937174" y="3176838"/>
                    <a:pt x="4939364" y="3179028"/>
                  </a:cubicBezTo>
                  <a:cubicBezTo>
                    <a:pt x="4953599" y="3196547"/>
                    <a:pt x="4966739" y="3216256"/>
                    <a:pt x="4979880" y="3234870"/>
                  </a:cubicBezTo>
                  <a:cubicBezTo>
                    <a:pt x="4979879" y="3235965"/>
                    <a:pt x="4980972" y="3237060"/>
                    <a:pt x="4982067" y="3238154"/>
                  </a:cubicBezTo>
                  <a:cubicBezTo>
                    <a:pt x="5012178" y="3284141"/>
                    <a:pt x="5039005" y="3332045"/>
                    <a:pt x="5062135" y="3381728"/>
                  </a:cubicBezTo>
                  <a:lnTo>
                    <a:pt x="5080445" y="3430512"/>
                  </a:lnTo>
                  <a:lnTo>
                    <a:pt x="5045549" y="3435607"/>
                  </a:lnTo>
                  <a:cubicBezTo>
                    <a:pt x="4990803" y="3446938"/>
                    <a:pt x="4935597" y="3461397"/>
                    <a:pt x="4879551" y="3478187"/>
                  </a:cubicBezTo>
                  <a:cubicBezTo>
                    <a:pt x="4783139" y="3512115"/>
                    <a:pt x="4682062" y="3544378"/>
                    <a:pt x="4586973" y="3589312"/>
                  </a:cubicBezTo>
                  <a:cubicBezTo>
                    <a:pt x="4580637" y="3592311"/>
                    <a:pt x="4567958" y="3598303"/>
                    <a:pt x="4561618" y="3601296"/>
                  </a:cubicBezTo>
                  <a:cubicBezTo>
                    <a:pt x="4479209" y="3640244"/>
                    <a:pt x="4404811" y="3671524"/>
                    <a:pt x="4330412" y="3702809"/>
                  </a:cubicBezTo>
                  <a:cubicBezTo>
                    <a:pt x="4311393" y="3711793"/>
                    <a:pt x="4287706" y="3719111"/>
                    <a:pt x="4268693" y="3728097"/>
                  </a:cubicBezTo>
                  <a:cubicBezTo>
                    <a:pt x="4236994" y="3743078"/>
                    <a:pt x="4206972" y="3753391"/>
                    <a:pt x="4175275" y="3768366"/>
                  </a:cubicBezTo>
                  <a:cubicBezTo>
                    <a:pt x="4130902" y="3789340"/>
                    <a:pt x="4083532" y="3803972"/>
                    <a:pt x="4039156" y="3824940"/>
                  </a:cubicBezTo>
                  <a:cubicBezTo>
                    <a:pt x="4009134" y="3835252"/>
                    <a:pt x="3977435" y="3850233"/>
                    <a:pt x="3947413" y="3860545"/>
                  </a:cubicBezTo>
                  <a:cubicBezTo>
                    <a:pt x="3847659" y="3903808"/>
                    <a:pt x="3744905" y="3940734"/>
                    <a:pt x="3643827" y="3972996"/>
                  </a:cubicBezTo>
                  <a:cubicBezTo>
                    <a:pt x="3585452" y="3988949"/>
                    <a:pt x="3528747" y="4000238"/>
                    <a:pt x="3476707" y="4013197"/>
                  </a:cubicBezTo>
                  <a:cubicBezTo>
                    <a:pt x="3437350" y="4020166"/>
                    <a:pt x="3393323" y="4025462"/>
                    <a:pt x="3355633" y="4027765"/>
                  </a:cubicBezTo>
                  <a:cubicBezTo>
                    <a:pt x="3264586" y="4032017"/>
                    <a:pt x="3178549" y="4022267"/>
                    <a:pt x="3089870" y="3990506"/>
                  </a:cubicBezTo>
                  <a:lnTo>
                    <a:pt x="2992368" y="3945152"/>
                  </a:lnTo>
                  <a:lnTo>
                    <a:pt x="2985393" y="3848037"/>
                  </a:lnTo>
                  <a:cubicBezTo>
                    <a:pt x="2984007" y="3716644"/>
                    <a:pt x="3006795" y="3582787"/>
                    <a:pt x="3056068" y="3453858"/>
                  </a:cubicBezTo>
                  <a:cubicBezTo>
                    <a:pt x="3058257" y="3449478"/>
                    <a:pt x="3059351" y="3445099"/>
                    <a:pt x="3061542" y="3440719"/>
                  </a:cubicBezTo>
                  <a:cubicBezTo>
                    <a:pt x="3063731" y="3436339"/>
                    <a:pt x="3064827" y="3431958"/>
                    <a:pt x="3067017" y="3427579"/>
                  </a:cubicBezTo>
                  <a:cubicBezTo>
                    <a:pt x="3071396" y="3418820"/>
                    <a:pt x="3074681" y="3408965"/>
                    <a:pt x="3079060" y="3400206"/>
                  </a:cubicBezTo>
                  <a:cubicBezTo>
                    <a:pt x="3079060" y="3400206"/>
                    <a:pt x="3079061" y="3399111"/>
                    <a:pt x="3079061" y="3399111"/>
                  </a:cubicBezTo>
                  <a:cubicBezTo>
                    <a:pt x="3105340" y="3338890"/>
                    <a:pt x="3137092" y="3283047"/>
                    <a:pt x="3172131" y="3230490"/>
                  </a:cubicBezTo>
                  <a:cubicBezTo>
                    <a:pt x="3271770" y="3082673"/>
                    <a:pt x="3403163" y="2966609"/>
                    <a:pt x="3553170" y="2884488"/>
                  </a:cubicBezTo>
                  <a:cubicBezTo>
                    <a:pt x="3555361" y="2883394"/>
                    <a:pt x="3556455" y="2882299"/>
                    <a:pt x="3558645" y="2881204"/>
                  </a:cubicBezTo>
                  <a:cubicBezTo>
                    <a:pt x="3563024" y="2877920"/>
                    <a:pt x="3568499" y="2875729"/>
                    <a:pt x="3572879" y="2873539"/>
                  </a:cubicBezTo>
                  <a:cubicBezTo>
                    <a:pt x="3576164" y="2871349"/>
                    <a:pt x="3580544" y="2870254"/>
                    <a:pt x="3583829" y="2868065"/>
                  </a:cubicBezTo>
                  <a:cubicBezTo>
                    <a:pt x="3587114" y="2866970"/>
                    <a:pt x="3589303" y="2864779"/>
                    <a:pt x="3592588" y="2863686"/>
                  </a:cubicBezTo>
                  <a:cubicBezTo>
                    <a:pt x="3598062" y="2861495"/>
                    <a:pt x="3603537" y="2858211"/>
                    <a:pt x="3609013" y="2856020"/>
                  </a:cubicBezTo>
                  <a:cubicBezTo>
                    <a:pt x="3610108" y="2856020"/>
                    <a:pt x="3611202" y="2854926"/>
                    <a:pt x="3612297" y="2854926"/>
                  </a:cubicBezTo>
                  <a:cubicBezTo>
                    <a:pt x="3783108" y="2774995"/>
                    <a:pt x="3975817" y="2738861"/>
                    <a:pt x="4171812" y="2756381"/>
                  </a:cubicBezTo>
                  <a:cubicBezTo>
                    <a:pt x="4217798" y="2760760"/>
                    <a:pt x="4262692" y="2767331"/>
                    <a:pt x="4307585" y="2777184"/>
                  </a:cubicBezTo>
                  <a:cubicBezTo>
                    <a:pt x="4307584" y="2778279"/>
                    <a:pt x="4308680" y="2778279"/>
                    <a:pt x="4309775" y="2778279"/>
                  </a:cubicBezTo>
                  <a:cubicBezTo>
                    <a:pt x="4317439" y="2780470"/>
                    <a:pt x="4325103" y="2781565"/>
                    <a:pt x="4332768" y="2783754"/>
                  </a:cubicBezTo>
                  <a:cubicBezTo>
                    <a:pt x="4333862" y="2783754"/>
                    <a:pt x="4333862" y="2783754"/>
                    <a:pt x="4334957" y="2783754"/>
                  </a:cubicBezTo>
                  <a:cubicBezTo>
                    <a:pt x="4337148" y="2784849"/>
                    <a:pt x="4339337" y="2785945"/>
                    <a:pt x="4341527" y="2785945"/>
                  </a:cubicBezTo>
                  <a:cubicBezTo>
                    <a:pt x="4348097" y="2787038"/>
                    <a:pt x="4355762" y="2789229"/>
                    <a:pt x="4363426" y="2791418"/>
                  </a:cubicBezTo>
                  <a:cubicBezTo>
                    <a:pt x="4368901" y="2792513"/>
                    <a:pt x="4375471" y="2793609"/>
                    <a:pt x="4380946" y="2795799"/>
                  </a:cubicBezTo>
                  <a:cubicBezTo>
                    <a:pt x="4383135" y="2795799"/>
                    <a:pt x="4386421" y="2796893"/>
                    <a:pt x="4388610" y="2797988"/>
                  </a:cubicBezTo>
                  <a:close/>
                  <a:moveTo>
                    <a:pt x="6771598" y="3546932"/>
                  </a:moveTo>
                  <a:cubicBezTo>
                    <a:pt x="6827147" y="3566724"/>
                    <a:pt x="6879820" y="3591434"/>
                    <a:pt x="6929240" y="3620440"/>
                  </a:cubicBezTo>
                  <a:lnTo>
                    <a:pt x="6942525" y="3629091"/>
                  </a:lnTo>
                  <a:lnTo>
                    <a:pt x="6341311" y="5307743"/>
                  </a:lnTo>
                  <a:cubicBezTo>
                    <a:pt x="6335878" y="5322911"/>
                    <a:pt x="6329717" y="5335516"/>
                    <a:pt x="6322731" y="5345603"/>
                  </a:cubicBezTo>
                  <a:lnTo>
                    <a:pt x="6321801" y="5346501"/>
                  </a:lnTo>
                  <a:lnTo>
                    <a:pt x="6233585" y="5329491"/>
                  </a:lnTo>
                  <a:cubicBezTo>
                    <a:pt x="5958619" y="5261468"/>
                    <a:pt x="5742334" y="5078596"/>
                    <a:pt x="5624340" y="4843958"/>
                  </a:cubicBezTo>
                  <a:lnTo>
                    <a:pt x="5586835" y="4756564"/>
                  </a:lnTo>
                  <a:lnTo>
                    <a:pt x="5593276" y="4698185"/>
                  </a:lnTo>
                  <a:cubicBezTo>
                    <a:pt x="5599684" y="4665591"/>
                    <a:pt x="5609053" y="4632083"/>
                    <a:pt x="5621590" y="4597078"/>
                  </a:cubicBezTo>
                  <a:lnTo>
                    <a:pt x="5807147" y="4078983"/>
                  </a:lnTo>
                  <a:cubicBezTo>
                    <a:pt x="5844760" y="3973964"/>
                    <a:pt x="5852158" y="3878861"/>
                    <a:pt x="5831463" y="3787766"/>
                  </a:cubicBezTo>
                  <a:lnTo>
                    <a:pt x="5818045" y="3747493"/>
                  </a:lnTo>
                  <a:lnTo>
                    <a:pt x="5827361" y="3737448"/>
                  </a:lnTo>
                  <a:cubicBezTo>
                    <a:pt x="6049633" y="3533789"/>
                    <a:pt x="6366072" y="3441814"/>
                    <a:pt x="6680322" y="3519554"/>
                  </a:cubicBezTo>
                  <a:cubicBezTo>
                    <a:pt x="6711527" y="3527219"/>
                    <a:pt x="6741972" y="3536376"/>
                    <a:pt x="6771598" y="3546932"/>
                  </a:cubicBezTo>
                  <a:close/>
                  <a:moveTo>
                    <a:pt x="6517110" y="1905535"/>
                  </a:moveTo>
                  <a:lnTo>
                    <a:pt x="6865206" y="2030207"/>
                  </a:lnTo>
                  <a:lnTo>
                    <a:pt x="6880422" y="2061641"/>
                  </a:lnTo>
                  <a:cubicBezTo>
                    <a:pt x="6921484" y="2171957"/>
                    <a:pt x="6942014" y="2291580"/>
                    <a:pt x="6937632" y="2415855"/>
                  </a:cubicBezTo>
                  <a:cubicBezTo>
                    <a:pt x="6937632" y="2420235"/>
                    <a:pt x="6937632" y="2423519"/>
                    <a:pt x="6937632" y="2427898"/>
                  </a:cubicBezTo>
                  <a:cubicBezTo>
                    <a:pt x="6936537" y="2437753"/>
                    <a:pt x="6936538" y="2447608"/>
                    <a:pt x="6935443" y="2457462"/>
                  </a:cubicBezTo>
                  <a:cubicBezTo>
                    <a:pt x="6933253" y="2477172"/>
                    <a:pt x="6931065" y="2495787"/>
                    <a:pt x="6928873" y="2515494"/>
                  </a:cubicBezTo>
                  <a:cubicBezTo>
                    <a:pt x="6928873" y="2517684"/>
                    <a:pt x="6927778" y="2519874"/>
                    <a:pt x="6927780" y="2522064"/>
                  </a:cubicBezTo>
                  <a:cubicBezTo>
                    <a:pt x="6925588" y="2535203"/>
                    <a:pt x="6923400" y="2547249"/>
                    <a:pt x="6921210" y="2560387"/>
                  </a:cubicBezTo>
                  <a:cubicBezTo>
                    <a:pt x="6919018" y="2570242"/>
                    <a:pt x="6916829" y="2579001"/>
                    <a:pt x="6914640" y="2588856"/>
                  </a:cubicBezTo>
                  <a:cubicBezTo>
                    <a:pt x="6913544" y="2594330"/>
                    <a:pt x="6912449" y="2598709"/>
                    <a:pt x="6911353" y="2604185"/>
                  </a:cubicBezTo>
                  <a:cubicBezTo>
                    <a:pt x="6885075" y="2713678"/>
                    <a:pt x="6840182" y="2814413"/>
                    <a:pt x="6779964" y="2904199"/>
                  </a:cubicBezTo>
                  <a:cubicBezTo>
                    <a:pt x="6776676" y="2909673"/>
                    <a:pt x="6773393" y="2914053"/>
                    <a:pt x="6770107" y="2918433"/>
                  </a:cubicBezTo>
                  <a:cubicBezTo>
                    <a:pt x="6764632" y="2926098"/>
                    <a:pt x="6760251" y="2933762"/>
                    <a:pt x="6754778" y="2940332"/>
                  </a:cubicBezTo>
                  <a:cubicBezTo>
                    <a:pt x="6747113" y="2951281"/>
                    <a:pt x="6739448" y="2962230"/>
                    <a:pt x="6730689" y="2972084"/>
                  </a:cubicBezTo>
                  <a:cubicBezTo>
                    <a:pt x="6729595" y="2972085"/>
                    <a:pt x="6729593" y="2973180"/>
                    <a:pt x="6728498" y="2974275"/>
                  </a:cubicBezTo>
                  <a:cubicBezTo>
                    <a:pt x="6662803" y="3056396"/>
                    <a:pt x="6583968" y="3125376"/>
                    <a:pt x="6496372" y="3179028"/>
                  </a:cubicBezTo>
                  <a:cubicBezTo>
                    <a:pt x="6495276" y="3179028"/>
                    <a:pt x="6495277" y="3180123"/>
                    <a:pt x="6494183" y="3180123"/>
                  </a:cubicBezTo>
                  <a:cubicBezTo>
                    <a:pt x="6483232" y="3186693"/>
                    <a:pt x="6472282" y="3193262"/>
                    <a:pt x="6461333" y="3199833"/>
                  </a:cubicBezTo>
                  <a:cubicBezTo>
                    <a:pt x="6458049" y="3202022"/>
                    <a:pt x="6455859" y="3203117"/>
                    <a:pt x="6453670" y="3204212"/>
                  </a:cubicBezTo>
                  <a:cubicBezTo>
                    <a:pt x="6444909" y="3209686"/>
                    <a:pt x="6435058" y="3215162"/>
                    <a:pt x="6425200" y="3219541"/>
                  </a:cubicBezTo>
                  <a:cubicBezTo>
                    <a:pt x="6421915" y="3221732"/>
                    <a:pt x="6417534" y="3223921"/>
                    <a:pt x="6413155" y="3226112"/>
                  </a:cubicBezTo>
                  <a:cubicBezTo>
                    <a:pt x="6404396" y="3230491"/>
                    <a:pt x="6396732" y="3234870"/>
                    <a:pt x="6387972" y="3238155"/>
                  </a:cubicBezTo>
                  <a:cubicBezTo>
                    <a:pt x="6381403" y="3240345"/>
                    <a:pt x="6375928" y="3243630"/>
                    <a:pt x="6370454" y="3245819"/>
                  </a:cubicBezTo>
                  <a:cubicBezTo>
                    <a:pt x="6362789" y="3249105"/>
                    <a:pt x="6356218" y="3251294"/>
                    <a:pt x="6348555" y="3254580"/>
                  </a:cubicBezTo>
                  <a:cubicBezTo>
                    <a:pt x="6341985" y="3256769"/>
                    <a:pt x="6334320" y="3260055"/>
                    <a:pt x="6327751" y="3262244"/>
                  </a:cubicBezTo>
                  <a:cubicBezTo>
                    <a:pt x="6320086" y="3264434"/>
                    <a:pt x="6313517" y="3266624"/>
                    <a:pt x="6306946" y="3268813"/>
                  </a:cubicBezTo>
                  <a:cubicBezTo>
                    <a:pt x="6300377" y="3271003"/>
                    <a:pt x="6292712" y="3274288"/>
                    <a:pt x="6285047" y="3276478"/>
                  </a:cubicBezTo>
                  <a:cubicBezTo>
                    <a:pt x="6278478" y="3278668"/>
                    <a:pt x="6270815" y="3280858"/>
                    <a:pt x="6264243" y="3283048"/>
                  </a:cubicBezTo>
                  <a:cubicBezTo>
                    <a:pt x="6256581" y="3285237"/>
                    <a:pt x="6250009" y="3287427"/>
                    <a:pt x="6242346" y="3289617"/>
                  </a:cubicBezTo>
                  <a:cubicBezTo>
                    <a:pt x="6233587" y="3291807"/>
                    <a:pt x="6224825" y="3293997"/>
                    <a:pt x="6216068" y="3296187"/>
                  </a:cubicBezTo>
                  <a:cubicBezTo>
                    <a:pt x="6210593" y="3298377"/>
                    <a:pt x="6205117" y="3299472"/>
                    <a:pt x="6199642" y="3300566"/>
                  </a:cubicBezTo>
                  <a:cubicBezTo>
                    <a:pt x="6187600" y="3302757"/>
                    <a:pt x="6174460" y="3304946"/>
                    <a:pt x="6162416" y="3307137"/>
                  </a:cubicBezTo>
                  <a:cubicBezTo>
                    <a:pt x="6160228" y="3307137"/>
                    <a:pt x="6158035" y="3308231"/>
                    <a:pt x="6155844" y="3308231"/>
                  </a:cubicBezTo>
                  <a:cubicBezTo>
                    <a:pt x="5976276" y="3337796"/>
                    <a:pt x="5786850" y="3315896"/>
                    <a:pt x="5609469" y="3232680"/>
                  </a:cubicBezTo>
                  <a:cubicBezTo>
                    <a:pt x="5394861" y="3131946"/>
                    <a:pt x="5237189" y="2960041"/>
                    <a:pt x="5149595" y="2758571"/>
                  </a:cubicBezTo>
                  <a:cubicBezTo>
                    <a:pt x="5149594" y="2757476"/>
                    <a:pt x="5149594" y="2757476"/>
                    <a:pt x="5149594" y="2757476"/>
                  </a:cubicBezTo>
                  <a:cubicBezTo>
                    <a:pt x="5137549" y="2731198"/>
                    <a:pt x="5127695" y="2704919"/>
                    <a:pt x="5118935" y="2677546"/>
                  </a:cubicBezTo>
                  <a:cubicBezTo>
                    <a:pt x="5118938" y="2675357"/>
                    <a:pt x="5117841" y="2672072"/>
                    <a:pt x="5116746" y="2669881"/>
                  </a:cubicBezTo>
                  <a:cubicBezTo>
                    <a:pt x="5113460" y="2657837"/>
                    <a:pt x="5109081" y="2645792"/>
                    <a:pt x="5105797" y="2632653"/>
                  </a:cubicBezTo>
                  <a:cubicBezTo>
                    <a:pt x="5104703" y="2630465"/>
                    <a:pt x="5104703" y="2627179"/>
                    <a:pt x="5103609" y="2624990"/>
                  </a:cubicBezTo>
                  <a:cubicBezTo>
                    <a:pt x="5100324" y="2612944"/>
                    <a:pt x="5097036" y="2599805"/>
                    <a:pt x="5094847" y="2587760"/>
                  </a:cubicBezTo>
                  <a:cubicBezTo>
                    <a:pt x="5093752" y="2586666"/>
                    <a:pt x="5093753" y="2585571"/>
                    <a:pt x="5093752" y="2584476"/>
                  </a:cubicBezTo>
                  <a:cubicBezTo>
                    <a:pt x="5091561" y="2570241"/>
                    <a:pt x="5088277" y="2556007"/>
                    <a:pt x="5086087" y="2541774"/>
                  </a:cubicBezTo>
                  <a:cubicBezTo>
                    <a:pt x="5084993" y="2540678"/>
                    <a:pt x="5084992" y="2539583"/>
                    <a:pt x="5084995" y="2538489"/>
                  </a:cubicBezTo>
                  <a:cubicBezTo>
                    <a:pt x="5083898" y="2534108"/>
                    <a:pt x="5083899" y="2530824"/>
                    <a:pt x="5082804" y="2526445"/>
                  </a:cubicBezTo>
                  <a:lnTo>
                    <a:pt x="5078286" y="2461983"/>
                  </a:lnTo>
                  <a:lnTo>
                    <a:pt x="5159963" y="2430582"/>
                  </a:lnTo>
                  <a:lnTo>
                    <a:pt x="5859576" y="2138728"/>
                  </a:lnTo>
                  <a:lnTo>
                    <a:pt x="6339331" y="1931386"/>
                  </a:lnTo>
                  <a:cubicBezTo>
                    <a:pt x="6377367" y="1913412"/>
                    <a:pt x="6409065" y="1898436"/>
                    <a:pt x="6431079" y="1895788"/>
                  </a:cubicBezTo>
                  <a:cubicBezTo>
                    <a:pt x="6435743" y="1897458"/>
                    <a:pt x="6437416" y="1892788"/>
                    <a:pt x="6442085" y="1894460"/>
                  </a:cubicBezTo>
                  <a:cubicBezTo>
                    <a:pt x="6468763" y="1893483"/>
                    <a:pt x="6493774" y="1897177"/>
                    <a:pt x="6517110" y="1905535"/>
                  </a:cubicBezTo>
                  <a:close/>
                  <a:moveTo>
                    <a:pt x="1211371" y="0"/>
                  </a:moveTo>
                  <a:lnTo>
                    <a:pt x="1323858" y="40288"/>
                  </a:lnTo>
                  <a:lnTo>
                    <a:pt x="1505887" y="105482"/>
                  </a:lnTo>
                  <a:cubicBezTo>
                    <a:pt x="1743932" y="190739"/>
                    <a:pt x="1900886" y="325948"/>
                    <a:pt x="1989090" y="520789"/>
                  </a:cubicBezTo>
                  <a:lnTo>
                    <a:pt x="2435576" y="1383611"/>
                  </a:lnTo>
                  <a:lnTo>
                    <a:pt x="2371730" y="1422742"/>
                  </a:lnTo>
                  <a:cubicBezTo>
                    <a:pt x="2367350" y="1424933"/>
                    <a:pt x="2364064" y="1427122"/>
                    <a:pt x="2359686" y="1429313"/>
                  </a:cubicBezTo>
                  <a:cubicBezTo>
                    <a:pt x="2356401" y="1430408"/>
                    <a:pt x="2354211" y="1432597"/>
                    <a:pt x="2350925" y="1433692"/>
                  </a:cubicBezTo>
                  <a:cubicBezTo>
                    <a:pt x="2348736" y="1434787"/>
                    <a:pt x="2347642" y="1435883"/>
                    <a:pt x="2345451" y="1436976"/>
                  </a:cubicBezTo>
                  <a:cubicBezTo>
                    <a:pt x="2255666" y="1485154"/>
                    <a:pt x="2205299" y="1589174"/>
                    <a:pt x="2229389" y="1693194"/>
                  </a:cubicBezTo>
                  <a:lnTo>
                    <a:pt x="2229388" y="1695383"/>
                  </a:lnTo>
                  <a:cubicBezTo>
                    <a:pt x="2249097" y="1781883"/>
                    <a:pt x="2323553" y="1842105"/>
                    <a:pt x="2407863" y="1846485"/>
                  </a:cubicBezTo>
                  <a:cubicBezTo>
                    <a:pt x="2410054" y="1846484"/>
                    <a:pt x="2412243" y="1846485"/>
                    <a:pt x="2414433" y="1846484"/>
                  </a:cubicBezTo>
                  <a:cubicBezTo>
                    <a:pt x="2499838" y="1850864"/>
                    <a:pt x="2581959" y="1869478"/>
                    <a:pt x="2658605" y="1899042"/>
                  </a:cubicBezTo>
                  <a:cubicBezTo>
                    <a:pt x="2716637" y="1921762"/>
                    <a:pt x="2771657" y="1951257"/>
                    <a:pt x="2822470" y="1986791"/>
                  </a:cubicBezTo>
                  <a:lnTo>
                    <a:pt x="2878775" y="2031380"/>
                  </a:lnTo>
                  <a:lnTo>
                    <a:pt x="2929827" y="2084748"/>
                  </a:lnTo>
                  <a:lnTo>
                    <a:pt x="2965120" y="2115980"/>
                  </a:lnTo>
                  <a:lnTo>
                    <a:pt x="3018673" y="2184978"/>
                  </a:lnTo>
                  <a:cubicBezTo>
                    <a:pt x="3071910" y="2262973"/>
                    <a:pt x="3111636" y="2352074"/>
                    <a:pt x="3133809" y="2449798"/>
                  </a:cubicBezTo>
                  <a:cubicBezTo>
                    <a:pt x="3227974" y="2868064"/>
                    <a:pt x="2967378" y="3284141"/>
                    <a:pt x="2548016" y="3383781"/>
                  </a:cubicBezTo>
                  <a:lnTo>
                    <a:pt x="2536880" y="3385712"/>
                  </a:lnTo>
                  <a:lnTo>
                    <a:pt x="2514488" y="3347339"/>
                  </a:lnTo>
                  <a:cubicBezTo>
                    <a:pt x="2460219" y="3248906"/>
                    <a:pt x="2407615" y="3145807"/>
                    <a:pt x="2350348" y="3041037"/>
                  </a:cubicBezTo>
                  <a:cubicBezTo>
                    <a:pt x="2312726" y="2969636"/>
                    <a:pt x="2272110" y="2891895"/>
                    <a:pt x="2228498" y="2807812"/>
                  </a:cubicBezTo>
                  <a:cubicBezTo>
                    <a:pt x="2217837" y="2793461"/>
                    <a:pt x="2211845" y="2780782"/>
                    <a:pt x="2202859" y="2761768"/>
                  </a:cubicBezTo>
                  <a:cubicBezTo>
                    <a:pt x="2199862" y="2755426"/>
                    <a:pt x="2199862" y="2755426"/>
                    <a:pt x="2199862" y="2755426"/>
                  </a:cubicBezTo>
                  <a:cubicBezTo>
                    <a:pt x="2148935" y="2647663"/>
                    <a:pt x="2094661" y="2549229"/>
                    <a:pt x="2029384" y="2452123"/>
                  </a:cubicBezTo>
                  <a:cubicBezTo>
                    <a:pt x="1974764" y="2369366"/>
                    <a:pt x="1918472" y="2291279"/>
                    <a:pt x="1852495" y="2225519"/>
                  </a:cubicBezTo>
                  <a:cubicBezTo>
                    <a:pt x="1841838" y="2211170"/>
                    <a:pt x="1831177" y="2196819"/>
                    <a:pt x="1818850" y="2187136"/>
                  </a:cubicBezTo>
                  <a:cubicBezTo>
                    <a:pt x="1811185" y="2179127"/>
                    <a:pt x="1798853" y="2169441"/>
                    <a:pt x="1791189" y="2161433"/>
                  </a:cubicBezTo>
                  <a:lnTo>
                    <a:pt x="1769205" y="2145235"/>
                  </a:lnTo>
                  <a:lnTo>
                    <a:pt x="1808930" y="2097226"/>
                  </a:lnTo>
                  <a:cubicBezTo>
                    <a:pt x="1864773" y="2037005"/>
                    <a:pt x="1931564" y="1985542"/>
                    <a:pt x="2006020" y="1945030"/>
                  </a:cubicBezTo>
                  <a:cubicBezTo>
                    <a:pt x="2007115" y="1943935"/>
                    <a:pt x="2009305" y="1942839"/>
                    <a:pt x="2011495" y="1941744"/>
                  </a:cubicBezTo>
                  <a:cubicBezTo>
                    <a:pt x="2084855" y="1901232"/>
                    <a:pt x="2126463" y="1814732"/>
                    <a:pt x="2106755" y="1728230"/>
                  </a:cubicBezTo>
                  <a:lnTo>
                    <a:pt x="2106755" y="1726042"/>
                  </a:lnTo>
                  <a:cubicBezTo>
                    <a:pt x="2082666" y="1622022"/>
                    <a:pt x="1992880" y="1549756"/>
                    <a:pt x="1891051" y="1545376"/>
                  </a:cubicBezTo>
                  <a:cubicBezTo>
                    <a:pt x="1888862" y="1545376"/>
                    <a:pt x="1886671" y="1545376"/>
                    <a:pt x="1884482" y="1545377"/>
                  </a:cubicBezTo>
                  <a:cubicBezTo>
                    <a:pt x="1787032" y="1542092"/>
                    <a:pt x="1692867" y="1523478"/>
                    <a:pt x="1603082" y="1491724"/>
                  </a:cubicBezTo>
                  <a:cubicBezTo>
                    <a:pt x="1601987" y="1491724"/>
                    <a:pt x="1601987" y="1491724"/>
                    <a:pt x="1601987" y="1491724"/>
                  </a:cubicBezTo>
                  <a:cubicBezTo>
                    <a:pt x="1597607" y="1489534"/>
                    <a:pt x="1592132" y="1488439"/>
                    <a:pt x="1586657" y="1486249"/>
                  </a:cubicBezTo>
                  <a:cubicBezTo>
                    <a:pt x="1558190" y="1475301"/>
                    <a:pt x="1528626" y="1463256"/>
                    <a:pt x="1501252" y="1449021"/>
                  </a:cubicBezTo>
                  <a:cubicBezTo>
                    <a:pt x="1499062" y="1447926"/>
                    <a:pt x="1496873" y="1446831"/>
                    <a:pt x="1494683" y="1445737"/>
                  </a:cubicBezTo>
                  <a:cubicBezTo>
                    <a:pt x="1485924" y="1441357"/>
                    <a:pt x="1478258" y="1436976"/>
                    <a:pt x="1469499" y="1432597"/>
                  </a:cubicBezTo>
                  <a:cubicBezTo>
                    <a:pt x="1467309" y="1431503"/>
                    <a:pt x="1465119" y="1430408"/>
                    <a:pt x="1462930" y="1429312"/>
                  </a:cubicBezTo>
                  <a:cubicBezTo>
                    <a:pt x="1453075" y="1423837"/>
                    <a:pt x="1443220" y="1417269"/>
                    <a:pt x="1433366" y="1411794"/>
                  </a:cubicBezTo>
                  <a:cubicBezTo>
                    <a:pt x="1431176" y="1410699"/>
                    <a:pt x="1430080" y="1409603"/>
                    <a:pt x="1427891" y="1408508"/>
                  </a:cubicBezTo>
                  <a:cubicBezTo>
                    <a:pt x="1419132" y="1403033"/>
                    <a:pt x="1411467" y="1397560"/>
                    <a:pt x="1402707" y="1392085"/>
                  </a:cubicBezTo>
                  <a:cubicBezTo>
                    <a:pt x="1401612" y="1390990"/>
                    <a:pt x="1400517" y="1390990"/>
                    <a:pt x="1399423" y="1389894"/>
                  </a:cubicBezTo>
                  <a:cubicBezTo>
                    <a:pt x="1397233" y="1388799"/>
                    <a:pt x="1396137" y="1387705"/>
                    <a:pt x="1393948" y="1386610"/>
                  </a:cubicBezTo>
                  <a:cubicBezTo>
                    <a:pt x="1308543" y="1330767"/>
                    <a:pt x="1193573" y="1336242"/>
                    <a:pt x="1113643" y="1406319"/>
                  </a:cubicBezTo>
                  <a:lnTo>
                    <a:pt x="1111453" y="1408508"/>
                  </a:lnTo>
                  <a:cubicBezTo>
                    <a:pt x="1059991" y="1454496"/>
                    <a:pt x="1045757" y="1525667"/>
                    <a:pt x="1070940" y="1585889"/>
                  </a:cubicBezTo>
                  <a:cubicBezTo>
                    <a:pt x="1072035" y="1590269"/>
                    <a:pt x="1073130" y="1593553"/>
                    <a:pt x="1075321" y="1596838"/>
                  </a:cubicBezTo>
                  <a:cubicBezTo>
                    <a:pt x="1075321" y="1597933"/>
                    <a:pt x="1076415" y="1597933"/>
                    <a:pt x="1076415" y="1599028"/>
                  </a:cubicBezTo>
                  <a:cubicBezTo>
                    <a:pt x="1080795" y="1607787"/>
                    <a:pt x="1085174" y="1616547"/>
                    <a:pt x="1088459" y="1626401"/>
                  </a:cubicBezTo>
                  <a:cubicBezTo>
                    <a:pt x="1088460" y="1628592"/>
                    <a:pt x="1089555" y="1630781"/>
                    <a:pt x="1090649" y="1632971"/>
                  </a:cubicBezTo>
                  <a:cubicBezTo>
                    <a:pt x="1093935" y="1640635"/>
                    <a:pt x="1097219" y="1649396"/>
                    <a:pt x="1099409" y="1657060"/>
                  </a:cubicBezTo>
                  <a:cubicBezTo>
                    <a:pt x="1100504" y="1659250"/>
                    <a:pt x="1100503" y="1662535"/>
                    <a:pt x="1101599" y="1664724"/>
                  </a:cubicBezTo>
                  <a:cubicBezTo>
                    <a:pt x="1104883" y="1672389"/>
                    <a:pt x="1107074" y="1681149"/>
                    <a:pt x="1109262" y="1688814"/>
                  </a:cubicBezTo>
                  <a:cubicBezTo>
                    <a:pt x="1110358" y="1691003"/>
                    <a:pt x="1110358" y="1694287"/>
                    <a:pt x="1111453" y="1696478"/>
                  </a:cubicBezTo>
                  <a:cubicBezTo>
                    <a:pt x="1113643" y="1704142"/>
                    <a:pt x="1114738" y="1712902"/>
                    <a:pt x="1116928" y="1720566"/>
                  </a:cubicBezTo>
                  <a:cubicBezTo>
                    <a:pt x="1116928" y="1721661"/>
                    <a:pt x="1118023" y="1722757"/>
                    <a:pt x="1118023" y="1723851"/>
                  </a:cubicBezTo>
                  <a:cubicBezTo>
                    <a:pt x="1118023" y="1726041"/>
                    <a:pt x="1119118" y="1729326"/>
                    <a:pt x="1119118" y="1731516"/>
                  </a:cubicBezTo>
                  <a:cubicBezTo>
                    <a:pt x="1120212" y="1738085"/>
                    <a:pt x="1121307" y="1743560"/>
                    <a:pt x="1122403" y="1750130"/>
                  </a:cubicBezTo>
                  <a:cubicBezTo>
                    <a:pt x="1123498" y="1755605"/>
                    <a:pt x="1123499" y="1759985"/>
                    <a:pt x="1124593" y="1765460"/>
                  </a:cubicBezTo>
                  <a:cubicBezTo>
                    <a:pt x="1125688" y="1770934"/>
                    <a:pt x="1125687" y="1775314"/>
                    <a:pt x="1126782" y="1779693"/>
                  </a:cubicBezTo>
                  <a:cubicBezTo>
                    <a:pt x="1126783" y="1784073"/>
                    <a:pt x="1127877" y="1787358"/>
                    <a:pt x="1127878" y="1791738"/>
                  </a:cubicBezTo>
                  <a:cubicBezTo>
                    <a:pt x="1127878" y="1796117"/>
                    <a:pt x="1128972" y="1801592"/>
                    <a:pt x="1128972" y="1805972"/>
                  </a:cubicBezTo>
                  <a:cubicBezTo>
                    <a:pt x="1128972" y="1812542"/>
                    <a:pt x="1130067" y="1820206"/>
                    <a:pt x="1130067" y="1826775"/>
                  </a:cubicBezTo>
                  <a:cubicBezTo>
                    <a:pt x="1130067" y="1831155"/>
                    <a:pt x="1130067" y="1835535"/>
                    <a:pt x="1130067" y="1839915"/>
                  </a:cubicBezTo>
                  <a:cubicBezTo>
                    <a:pt x="1130067" y="1844294"/>
                    <a:pt x="1130067" y="1848675"/>
                    <a:pt x="1130067" y="1853055"/>
                  </a:cubicBezTo>
                  <a:cubicBezTo>
                    <a:pt x="1130067" y="1857434"/>
                    <a:pt x="1130067" y="1860719"/>
                    <a:pt x="1130067" y="1865098"/>
                  </a:cubicBezTo>
                  <a:cubicBezTo>
                    <a:pt x="1130067" y="1872762"/>
                    <a:pt x="1128972" y="1880428"/>
                    <a:pt x="1128972" y="1888092"/>
                  </a:cubicBezTo>
                  <a:cubicBezTo>
                    <a:pt x="1127878" y="1891378"/>
                    <a:pt x="1127878" y="1894662"/>
                    <a:pt x="1127878" y="1897946"/>
                  </a:cubicBezTo>
                  <a:cubicBezTo>
                    <a:pt x="1127878" y="1903422"/>
                    <a:pt x="1127878" y="1909991"/>
                    <a:pt x="1126783" y="1915467"/>
                  </a:cubicBezTo>
                  <a:cubicBezTo>
                    <a:pt x="1126782" y="1918751"/>
                    <a:pt x="1125687" y="1920940"/>
                    <a:pt x="1125687" y="1924226"/>
                  </a:cubicBezTo>
                  <a:cubicBezTo>
                    <a:pt x="1124592" y="1932985"/>
                    <a:pt x="1123498" y="1940650"/>
                    <a:pt x="1122403" y="1949409"/>
                  </a:cubicBezTo>
                  <a:cubicBezTo>
                    <a:pt x="1122403" y="1951599"/>
                    <a:pt x="1121308" y="1952694"/>
                    <a:pt x="1121308" y="1954885"/>
                  </a:cubicBezTo>
                  <a:cubicBezTo>
                    <a:pt x="1120213" y="1962548"/>
                    <a:pt x="1118023" y="1969118"/>
                    <a:pt x="1116928" y="1976782"/>
                  </a:cubicBezTo>
                  <a:cubicBezTo>
                    <a:pt x="1116928" y="1978973"/>
                    <a:pt x="1115833" y="1980068"/>
                    <a:pt x="1115833" y="1982257"/>
                  </a:cubicBezTo>
                  <a:cubicBezTo>
                    <a:pt x="1113643" y="1991016"/>
                    <a:pt x="1111453" y="1999776"/>
                    <a:pt x="1109263" y="2008535"/>
                  </a:cubicBezTo>
                  <a:cubicBezTo>
                    <a:pt x="1109263" y="2008535"/>
                    <a:pt x="1109263" y="2009630"/>
                    <a:pt x="1109263" y="2009630"/>
                  </a:cubicBezTo>
                  <a:cubicBezTo>
                    <a:pt x="1107073" y="2018391"/>
                    <a:pt x="1103789" y="2027150"/>
                    <a:pt x="1101599" y="2035909"/>
                  </a:cubicBezTo>
                  <a:cubicBezTo>
                    <a:pt x="1101598" y="2037005"/>
                    <a:pt x="1100503" y="2038099"/>
                    <a:pt x="1100503" y="2039194"/>
                  </a:cubicBezTo>
                  <a:cubicBezTo>
                    <a:pt x="1095029" y="2056714"/>
                    <a:pt x="1089555" y="2074232"/>
                    <a:pt x="1081889" y="2091751"/>
                  </a:cubicBezTo>
                  <a:cubicBezTo>
                    <a:pt x="1081890" y="2092846"/>
                    <a:pt x="1080794" y="2093941"/>
                    <a:pt x="1080794" y="2095037"/>
                  </a:cubicBezTo>
                  <a:lnTo>
                    <a:pt x="1076077" y="2104902"/>
                  </a:lnTo>
                  <a:lnTo>
                    <a:pt x="1030906" y="2148496"/>
                  </a:lnTo>
                  <a:cubicBezTo>
                    <a:pt x="1010373" y="2172739"/>
                    <a:pt x="991944" y="2199382"/>
                    <a:pt x="975618" y="2228423"/>
                  </a:cubicBezTo>
                  <a:lnTo>
                    <a:pt x="944652" y="2296876"/>
                  </a:lnTo>
                  <a:lnTo>
                    <a:pt x="941737" y="2299790"/>
                  </a:lnTo>
                  <a:cubicBezTo>
                    <a:pt x="937358" y="2303075"/>
                    <a:pt x="934073" y="2307455"/>
                    <a:pt x="929693" y="2310739"/>
                  </a:cubicBezTo>
                  <a:cubicBezTo>
                    <a:pt x="927503" y="2314025"/>
                    <a:pt x="924219" y="2316214"/>
                    <a:pt x="922029" y="2318404"/>
                  </a:cubicBezTo>
                  <a:cubicBezTo>
                    <a:pt x="922029" y="2319499"/>
                    <a:pt x="920933" y="2319500"/>
                    <a:pt x="919839" y="2320594"/>
                  </a:cubicBezTo>
                  <a:cubicBezTo>
                    <a:pt x="917649" y="2322784"/>
                    <a:pt x="914364" y="2324973"/>
                    <a:pt x="912174" y="2327164"/>
                  </a:cubicBezTo>
                  <a:cubicBezTo>
                    <a:pt x="907794" y="2330448"/>
                    <a:pt x="903414" y="2334828"/>
                    <a:pt x="899035" y="2338113"/>
                  </a:cubicBezTo>
                  <a:cubicBezTo>
                    <a:pt x="894655" y="2341398"/>
                    <a:pt x="890276" y="2345777"/>
                    <a:pt x="884801" y="2349062"/>
                  </a:cubicBezTo>
                  <a:cubicBezTo>
                    <a:pt x="882610" y="2350157"/>
                    <a:pt x="879326" y="2352348"/>
                    <a:pt x="877136" y="2354537"/>
                  </a:cubicBezTo>
                  <a:cubicBezTo>
                    <a:pt x="876042" y="2354537"/>
                    <a:pt x="876041" y="2355632"/>
                    <a:pt x="874946" y="2355632"/>
                  </a:cubicBezTo>
                  <a:cubicBezTo>
                    <a:pt x="869471" y="2360011"/>
                    <a:pt x="862901" y="2364391"/>
                    <a:pt x="856332" y="2368771"/>
                  </a:cubicBezTo>
                  <a:cubicBezTo>
                    <a:pt x="854142" y="2369867"/>
                    <a:pt x="851953" y="2372057"/>
                    <a:pt x="849763" y="2373151"/>
                  </a:cubicBezTo>
                  <a:cubicBezTo>
                    <a:pt x="843193" y="2377531"/>
                    <a:pt x="835528" y="2381911"/>
                    <a:pt x="828959" y="2386291"/>
                  </a:cubicBezTo>
                  <a:cubicBezTo>
                    <a:pt x="827864" y="2387385"/>
                    <a:pt x="825674" y="2388480"/>
                    <a:pt x="823484" y="2389575"/>
                  </a:cubicBezTo>
                  <a:cubicBezTo>
                    <a:pt x="816914" y="2393955"/>
                    <a:pt x="809249" y="2398334"/>
                    <a:pt x="802680" y="2401620"/>
                  </a:cubicBezTo>
                  <a:cubicBezTo>
                    <a:pt x="800490" y="2402714"/>
                    <a:pt x="798301" y="2403809"/>
                    <a:pt x="796110" y="2404905"/>
                  </a:cubicBezTo>
                  <a:cubicBezTo>
                    <a:pt x="789540" y="2408189"/>
                    <a:pt x="782971" y="2411475"/>
                    <a:pt x="776401" y="2414759"/>
                  </a:cubicBezTo>
                  <a:cubicBezTo>
                    <a:pt x="774212" y="2415854"/>
                    <a:pt x="770926" y="2416948"/>
                    <a:pt x="768737" y="2418043"/>
                  </a:cubicBezTo>
                  <a:cubicBezTo>
                    <a:pt x="762167" y="2420234"/>
                    <a:pt x="756692" y="2423518"/>
                    <a:pt x="750123" y="2425709"/>
                  </a:cubicBezTo>
                  <a:cubicBezTo>
                    <a:pt x="746838" y="2426803"/>
                    <a:pt x="743553" y="2428993"/>
                    <a:pt x="740268" y="2430088"/>
                  </a:cubicBezTo>
                  <a:cubicBezTo>
                    <a:pt x="734794" y="2432277"/>
                    <a:pt x="729319" y="2433373"/>
                    <a:pt x="723844" y="2435562"/>
                  </a:cubicBezTo>
                  <a:cubicBezTo>
                    <a:pt x="719464" y="2436657"/>
                    <a:pt x="715085" y="2438848"/>
                    <a:pt x="710705" y="2439943"/>
                  </a:cubicBezTo>
                  <a:cubicBezTo>
                    <a:pt x="706326" y="2442132"/>
                    <a:pt x="701946" y="2443227"/>
                    <a:pt x="697565" y="2444323"/>
                  </a:cubicBezTo>
                  <a:cubicBezTo>
                    <a:pt x="692092" y="2446512"/>
                    <a:pt x="686616" y="2448702"/>
                    <a:pt x="681141" y="2449797"/>
                  </a:cubicBezTo>
                  <a:cubicBezTo>
                    <a:pt x="676762" y="2450891"/>
                    <a:pt x="673476" y="2451987"/>
                    <a:pt x="670192" y="2453082"/>
                  </a:cubicBezTo>
                  <a:cubicBezTo>
                    <a:pt x="664717" y="2454177"/>
                    <a:pt x="658148" y="2456366"/>
                    <a:pt x="651578" y="2457462"/>
                  </a:cubicBezTo>
                  <a:cubicBezTo>
                    <a:pt x="649388" y="2458557"/>
                    <a:pt x="646103" y="2458557"/>
                    <a:pt x="643915" y="2459652"/>
                  </a:cubicBezTo>
                  <a:cubicBezTo>
                    <a:pt x="636249" y="2460746"/>
                    <a:pt x="629679" y="2462936"/>
                    <a:pt x="622015" y="2464032"/>
                  </a:cubicBezTo>
                  <a:cubicBezTo>
                    <a:pt x="619824" y="2464032"/>
                    <a:pt x="617635" y="2465126"/>
                    <a:pt x="615445" y="2465126"/>
                  </a:cubicBezTo>
                  <a:cubicBezTo>
                    <a:pt x="607781" y="2466221"/>
                    <a:pt x="600117" y="2467316"/>
                    <a:pt x="592452" y="2468412"/>
                  </a:cubicBezTo>
                  <a:cubicBezTo>
                    <a:pt x="590262" y="2469505"/>
                    <a:pt x="589166" y="2469505"/>
                    <a:pt x="586975" y="2469505"/>
                  </a:cubicBezTo>
                  <a:cubicBezTo>
                    <a:pt x="579311" y="2470600"/>
                    <a:pt x="570553" y="2470601"/>
                    <a:pt x="562888" y="2471696"/>
                  </a:cubicBezTo>
                  <a:cubicBezTo>
                    <a:pt x="561793" y="2471696"/>
                    <a:pt x="559604" y="2471696"/>
                    <a:pt x="557413" y="2471696"/>
                  </a:cubicBezTo>
                  <a:cubicBezTo>
                    <a:pt x="548653" y="2471696"/>
                    <a:pt x="540989" y="2472791"/>
                    <a:pt x="533324" y="2472791"/>
                  </a:cubicBezTo>
                  <a:cubicBezTo>
                    <a:pt x="530040" y="2472791"/>
                    <a:pt x="527850" y="2472791"/>
                    <a:pt x="525660" y="2472791"/>
                  </a:cubicBezTo>
                  <a:cubicBezTo>
                    <a:pt x="519090" y="2472790"/>
                    <a:pt x="511426" y="2472791"/>
                    <a:pt x="503761" y="2472791"/>
                  </a:cubicBezTo>
                  <a:cubicBezTo>
                    <a:pt x="500476" y="2472791"/>
                    <a:pt x="497192" y="2472791"/>
                    <a:pt x="493906" y="2472791"/>
                  </a:cubicBezTo>
                  <a:cubicBezTo>
                    <a:pt x="487338" y="2472791"/>
                    <a:pt x="480767" y="2471696"/>
                    <a:pt x="474198" y="2471696"/>
                  </a:cubicBezTo>
                  <a:cubicBezTo>
                    <a:pt x="470913" y="2471696"/>
                    <a:pt x="466533" y="2470600"/>
                    <a:pt x="462153" y="2470600"/>
                  </a:cubicBezTo>
                  <a:cubicBezTo>
                    <a:pt x="456679" y="2470600"/>
                    <a:pt x="451204" y="2470600"/>
                    <a:pt x="445729" y="2469505"/>
                  </a:cubicBezTo>
                  <a:cubicBezTo>
                    <a:pt x="441349" y="2468411"/>
                    <a:pt x="435874" y="2468411"/>
                    <a:pt x="430400" y="2467316"/>
                  </a:cubicBezTo>
                  <a:cubicBezTo>
                    <a:pt x="426020" y="2466221"/>
                    <a:pt x="421641" y="2466221"/>
                    <a:pt x="417260" y="2465125"/>
                  </a:cubicBezTo>
                  <a:cubicBezTo>
                    <a:pt x="410692" y="2464031"/>
                    <a:pt x="405217" y="2462936"/>
                    <a:pt x="398647" y="2461841"/>
                  </a:cubicBezTo>
                  <a:cubicBezTo>
                    <a:pt x="395363" y="2460746"/>
                    <a:pt x="392076" y="2460746"/>
                    <a:pt x="388792" y="2459652"/>
                  </a:cubicBezTo>
                  <a:cubicBezTo>
                    <a:pt x="382222" y="2458557"/>
                    <a:pt x="374558" y="2457462"/>
                    <a:pt x="367988" y="2455272"/>
                  </a:cubicBezTo>
                  <a:cubicBezTo>
                    <a:pt x="365798" y="2454177"/>
                    <a:pt x="362513" y="2454177"/>
                    <a:pt x="360324" y="2453082"/>
                  </a:cubicBezTo>
                  <a:cubicBezTo>
                    <a:pt x="352660" y="2450892"/>
                    <a:pt x="346090" y="2448702"/>
                    <a:pt x="338425" y="2446512"/>
                  </a:cubicBezTo>
                  <a:cubicBezTo>
                    <a:pt x="336236" y="2445418"/>
                    <a:pt x="334045" y="2445418"/>
                    <a:pt x="331856" y="2444322"/>
                  </a:cubicBezTo>
                  <a:cubicBezTo>
                    <a:pt x="324189" y="2442132"/>
                    <a:pt x="317622" y="2438848"/>
                    <a:pt x="309957" y="2436658"/>
                  </a:cubicBezTo>
                  <a:cubicBezTo>
                    <a:pt x="307767" y="2435562"/>
                    <a:pt x="305576" y="2435562"/>
                    <a:pt x="303387" y="2434468"/>
                  </a:cubicBezTo>
                  <a:cubicBezTo>
                    <a:pt x="296817" y="2431183"/>
                    <a:pt x="289153" y="2428993"/>
                    <a:pt x="282583" y="2425709"/>
                  </a:cubicBezTo>
                  <a:cubicBezTo>
                    <a:pt x="280393" y="2425709"/>
                    <a:pt x="278204" y="2424613"/>
                    <a:pt x="276013" y="2423518"/>
                  </a:cubicBezTo>
                  <a:cubicBezTo>
                    <a:pt x="269444" y="2420234"/>
                    <a:pt x="262875" y="2418043"/>
                    <a:pt x="256304" y="2414759"/>
                  </a:cubicBezTo>
                  <a:cubicBezTo>
                    <a:pt x="253019" y="2413663"/>
                    <a:pt x="249735" y="2412568"/>
                    <a:pt x="247545" y="2411474"/>
                  </a:cubicBezTo>
                  <a:cubicBezTo>
                    <a:pt x="240976" y="2408189"/>
                    <a:pt x="235501" y="2406000"/>
                    <a:pt x="230026" y="2402714"/>
                  </a:cubicBezTo>
                  <a:cubicBezTo>
                    <a:pt x="226742" y="2400525"/>
                    <a:pt x="223456" y="2399430"/>
                    <a:pt x="220172" y="2397239"/>
                  </a:cubicBezTo>
                  <a:cubicBezTo>
                    <a:pt x="215792" y="2395050"/>
                    <a:pt x="210318" y="2391765"/>
                    <a:pt x="205937" y="2389575"/>
                  </a:cubicBezTo>
                  <a:cubicBezTo>
                    <a:pt x="202652" y="2386291"/>
                    <a:pt x="198273" y="2384100"/>
                    <a:pt x="193892" y="2381911"/>
                  </a:cubicBezTo>
                  <a:cubicBezTo>
                    <a:pt x="190608" y="2378625"/>
                    <a:pt x="186228" y="2376436"/>
                    <a:pt x="182944" y="2374246"/>
                  </a:cubicBezTo>
                  <a:cubicBezTo>
                    <a:pt x="178564" y="2370961"/>
                    <a:pt x="173090" y="2367677"/>
                    <a:pt x="168709" y="2364391"/>
                  </a:cubicBezTo>
                  <a:cubicBezTo>
                    <a:pt x="165425" y="2362202"/>
                    <a:pt x="163235" y="2360012"/>
                    <a:pt x="159950" y="2357823"/>
                  </a:cubicBezTo>
                  <a:cubicBezTo>
                    <a:pt x="154474" y="2353441"/>
                    <a:pt x="149000" y="2350157"/>
                    <a:pt x="143526" y="2345778"/>
                  </a:cubicBezTo>
                  <a:cubicBezTo>
                    <a:pt x="141336" y="2343587"/>
                    <a:pt x="139146" y="2342493"/>
                    <a:pt x="136956" y="2340303"/>
                  </a:cubicBezTo>
                  <a:cubicBezTo>
                    <a:pt x="131482" y="2335923"/>
                    <a:pt x="124911" y="2330448"/>
                    <a:pt x="119437" y="2326068"/>
                  </a:cubicBezTo>
                  <a:cubicBezTo>
                    <a:pt x="117247" y="2324973"/>
                    <a:pt x="116152" y="2322784"/>
                    <a:pt x="113962" y="2321689"/>
                  </a:cubicBezTo>
                  <a:cubicBezTo>
                    <a:pt x="107393" y="2316214"/>
                    <a:pt x="101918" y="2310739"/>
                    <a:pt x="95349" y="2305264"/>
                  </a:cubicBezTo>
                  <a:cubicBezTo>
                    <a:pt x="94254" y="2304171"/>
                    <a:pt x="92063" y="2301980"/>
                    <a:pt x="90968" y="2300885"/>
                  </a:cubicBezTo>
                  <a:cubicBezTo>
                    <a:pt x="85494" y="2295410"/>
                    <a:pt x="78924" y="2288841"/>
                    <a:pt x="73450" y="2283366"/>
                  </a:cubicBezTo>
                  <a:cubicBezTo>
                    <a:pt x="71260" y="2281176"/>
                    <a:pt x="70165" y="2280082"/>
                    <a:pt x="67975" y="2277891"/>
                  </a:cubicBezTo>
                  <a:cubicBezTo>
                    <a:pt x="63594" y="2272416"/>
                    <a:pt x="58120" y="2265846"/>
                    <a:pt x="52645" y="2260373"/>
                  </a:cubicBezTo>
                  <a:cubicBezTo>
                    <a:pt x="51551" y="2259278"/>
                    <a:pt x="51551" y="2259278"/>
                    <a:pt x="50455" y="2258182"/>
                  </a:cubicBezTo>
                  <a:cubicBezTo>
                    <a:pt x="48265" y="2255993"/>
                    <a:pt x="47172" y="2253802"/>
                    <a:pt x="44981" y="2251612"/>
                  </a:cubicBezTo>
                  <a:cubicBezTo>
                    <a:pt x="40601" y="2247232"/>
                    <a:pt x="37317" y="2242853"/>
                    <a:pt x="32936" y="2237379"/>
                  </a:cubicBezTo>
                  <a:cubicBezTo>
                    <a:pt x="28556" y="2231904"/>
                    <a:pt x="25272" y="2227523"/>
                    <a:pt x="21988" y="2223144"/>
                  </a:cubicBezTo>
                  <a:cubicBezTo>
                    <a:pt x="19797" y="2219859"/>
                    <a:pt x="17608" y="2217669"/>
                    <a:pt x="15417" y="2214385"/>
                  </a:cubicBezTo>
                  <a:cubicBezTo>
                    <a:pt x="14322" y="2213289"/>
                    <a:pt x="14322" y="2212195"/>
                    <a:pt x="13229" y="2211100"/>
                  </a:cubicBezTo>
                  <a:cubicBezTo>
                    <a:pt x="11038" y="2207816"/>
                    <a:pt x="8847" y="2205625"/>
                    <a:pt x="6658" y="2202341"/>
                  </a:cubicBezTo>
                  <a:lnTo>
                    <a:pt x="0" y="2192724"/>
                  </a:lnTo>
                  <a:lnTo>
                    <a:pt x="338643" y="1247199"/>
                  </a:lnTo>
                  <a:lnTo>
                    <a:pt x="365799" y="1239888"/>
                  </a:lnTo>
                  <a:cubicBezTo>
                    <a:pt x="367988" y="1239887"/>
                    <a:pt x="370179" y="1238792"/>
                    <a:pt x="372368" y="1238793"/>
                  </a:cubicBezTo>
                  <a:cubicBezTo>
                    <a:pt x="381128" y="1236603"/>
                    <a:pt x="390983" y="1235508"/>
                    <a:pt x="399742" y="1233317"/>
                  </a:cubicBezTo>
                  <a:cubicBezTo>
                    <a:pt x="403026" y="1233317"/>
                    <a:pt x="405217" y="1232223"/>
                    <a:pt x="407406" y="1232223"/>
                  </a:cubicBezTo>
                  <a:cubicBezTo>
                    <a:pt x="415071" y="1231128"/>
                    <a:pt x="423830" y="1230033"/>
                    <a:pt x="431494" y="1228938"/>
                  </a:cubicBezTo>
                  <a:cubicBezTo>
                    <a:pt x="432590" y="1227844"/>
                    <a:pt x="434780" y="1227844"/>
                    <a:pt x="435875" y="1227844"/>
                  </a:cubicBezTo>
                  <a:cubicBezTo>
                    <a:pt x="463249" y="1224558"/>
                    <a:pt x="490621" y="1223464"/>
                    <a:pt x="517995" y="1223464"/>
                  </a:cubicBezTo>
                  <a:cubicBezTo>
                    <a:pt x="519090" y="1223464"/>
                    <a:pt x="519090" y="1223464"/>
                    <a:pt x="519090" y="1223464"/>
                  </a:cubicBezTo>
                  <a:cubicBezTo>
                    <a:pt x="525660" y="1224558"/>
                    <a:pt x="532229" y="1224558"/>
                    <a:pt x="538799" y="1224558"/>
                  </a:cubicBezTo>
                  <a:cubicBezTo>
                    <a:pt x="539895" y="1224558"/>
                    <a:pt x="542083" y="1224558"/>
                    <a:pt x="543179" y="1224558"/>
                  </a:cubicBezTo>
                  <a:cubicBezTo>
                    <a:pt x="547559" y="1224558"/>
                    <a:pt x="553033" y="1225653"/>
                    <a:pt x="558508" y="1225654"/>
                  </a:cubicBezTo>
                  <a:cubicBezTo>
                    <a:pt x="561793" y="1225654"/>
                    <a:pt x="563983" y="1226748"/>
                    <a:pt x="567267" y="1226748"/>
                  </a:cubicBezTo>
                  <a:cubicBezTo>
                    <a:pt x="570553" y="1226749"/>
                    <a:pt x="574933" y="1227844"/>
                    <a:pt x="578217" y="1227844"/>
                  </a:cubicBezTo>
                  <a:cubicBezTo>
                    <a:pt x="582597" y="1228938"/>
                    <a:pt x="586976" y="1228937"/>
                    <a:pt x="591356" y="1230033"/>
                  </a:cubicBezTo>
                  <a:cubicBezTo>
                    <a:pt x="593546" y="1231128"/>
                    <a:pt x="595736" y="1231128"/>
                    <a:pt x="597926" y="1231128"/>
                  </a:cubicBezTo>
                  <a:cubicBezTo>
                    <a:pt x="603401" y="1232224"/>
                    <a:pt x="609971" y="1233318"/>
                    <a:pt x="615444" y="1234412"/>
                  </a:cubicBezTo>
                  <a:cubicBezTo>
                    <a:pt x="616539" y="1234413"/>
                    <a:pt x="616539" y="1234413"/>
                    <a:pt x="617635" y="1234413"/>
                  </a:cubicBezTo>
                  <a:cubicBezTo>
                    <a:pt x="651578" y="1240982"/>
                    <a:pt x="684426" y="1249742"/>
                    <a:pt x="717275" y="1260692"/>
                  </a:cubicBezTo>
                  <a:cubicBezTo>
                    <a:pt x="718370" y="1260692"/>
                    <a:pt x="720560" y="1261787"/>
                    <a:pt x="721654" y="1261787"/>
                  </a:cubicBezTo>
                  <a:cubicBezTo>
                    <a:pt x="729319" y="1265071"/>
                    <a:pt x="736983" y="1267260"/>
                    <a:pt x="744649" y="1270547"/>
                  </a:cubicBezTo>
                  <a:cubicBezTo>
                    <a:pt x="746838" y="1271642"/>
                    <a:pt x="749028" y="1272735"/>
                    <a:pt x="751217" y="1273830"/>
                  </a:cubicBezTo>
                  <a:cubicBezTo>
                    <a:pt x="759978" y="1277115"/>
                    <a:pt x="767642" y="1280401"/>
                    <a:pt x="776401" y="1284780"/>
                  </a:cubicBezTo>
                  <a:cubicBezTo>
                    <a:pt x="778592" y="1285876"/>
                    <a:pt x="780781" y="1286970"/>
                    <a:pt x="782971" y="1288065"/>
                  </a:cubicBezTo>
                  <a:cubicBezTo>
                    <a:pt x="791730" y="1292444"/>
                    <a:pt x="800490" y="1296824"/>
                    <a:pt x="809249" y="1301204"/>
                  </a:cubicBezTo>
                  <a:cubicBezTo>
                    <a:pt x="809249" y="1302299"/>
                    <a:pt x="810345" y="1302299"/>
                    <a:pt x="810345" y="1302299"/>
                  </a:cubicBezTo>
                  <a:cubicBezTo>
                    <a:pt x="819104" y="1306679"/>
                    <a:pt x="827864" y="1312153"/>
                    <a:pt x="836624" y="1317628"/>
                  </a:cubicBezTo>
                  <a:cubicBezTo>
                    <a:pt x="837719" y="1317628"/>
                    <a:pt x="837719" y="1318723"/>
                    <a:pt x="838813" y="1318723"/>
                  </a:cubicBezTo>
                  <a:cubicBezTo>
                    <a:pt x="839908" y="1318723"/>
                    <a:pt x="839908" y="1319818"/>
                    <a:pt x="841003" y="1319819"/>
                  </a:cubicBezTo>
                  <a:cubicBezTo>
                    <a:pt x="842098" y="1320913"/>
                    <a:pt x="844288" y="1322008"/>
                    <a:pt x="845383" y="1323103"/>
                  </a:cubicBezTo>
                  <a:cubicBezTo>
                    <a:pt x="845383" y="1323103"/>
                    <a:pt x="846478" y="1324198"/>
                    <a:pt x="847573" y="1324198"/>
                  </a:cubicBezTo>
                  <a:cubicBezTo>
                    <a:pt x="903415" y="1357046"/>
                    <a:pt x="976776" y="1351572"/>
                    <a:pt x="1028238" y="1306679"/>
                  </a:cubicBezTo>
                  <a:lnTo>
                    <a:pt x="1030428" y="1304489"/>
                  </a:lnTo>
                  <a:cubicBezTo>
                    <a:pt x="1110358" y="1234413"/>
                    <a:pt x="1130067" y="1121633"/>
                    <a:pt x="1087364" y="1030754"/>
                  </a:cubicBezTo>
                  <a:cubicBezTo>
                    <a:pt x="1068750" y="994621"/>
                    <a:pt x="1053421" y="957393"/>
                    <a:pt x="1039187" y="917975"/>
                  </a:cubicBezTo>
                  <a:cubicBezTo>
                    <a:pt x="1038092" y="916880"/>
                    <a:pt x="1038092" y="916880"/>
                    <a:pt x="1038092" y="915786"/>
                  </a:cubicBezTo>
                  <a:cubicBezTo>
                    <a:pt x="1033712" y="904836"/>
                    <a:pt x="1030427" y="893886"/>
                    <a:pt x="1027142" y="882937"/>
                  </a:cubicBezTo>
                  <a:cubicBezTo>
                    <a:pt x="1027143" y="881842"/>
                    <a:pt x="1026048" y="880747"/>
                    <a:pt x="1026048" y="879652"/>
                  </a:cubicBezTo>
                  <a:cubicBezTo>
                    <a:pt x="1019478" y="858849"/>
                    <a:pt x="1014003" y="836949"/>
                    <a:pt x="1008528" y="815051"/>
                  </a:cubicBezTo>
                  <a:cubicBezTo>
                    <a:pt x="966921" y="633290"/>
                    <a:pt x="982250" y="452625"/>
                    <a:pt x="1041377" y="289479"/>
                  </a:cubicBezTo>
                  <a:cubicBezTo>
                    <a:pt x="1041377" y="288384"/>
                    <a:pt x="1042471" y="288384"/>
                    <a:pt x="1042471" y="287290"/>
                  </a:cubicBezTo>
                  <a:cubicBezTo>
                    <a:pt x="1044662" y="280720"/>
                    <a:pt x="1047946" y="274150"/>
                    <a:pt x="1050137" y="267581"/>
                  </a:cubicBezTo>
                  <a:cubicBezTo>
                    <a:pt x="1051232" y="263200"/>
                    <a:pt x="1053422" y="259915"/>
                    <a:pt x="1054516" y="255536"/>
                  </a:cubicBezTo>
                  <a:cubicBezTo>
                    <a:pt x="1055612" y="252252"/>
                    <a:pt x="1056706" y="248966"/>
                    <a:pt x="1057801" y="246778"/>
                  </a:cubicBezTo>
                  <a:cubicBezTo>
                    <a:pt x="1093934" y="160276"/>
                    <a:pt x="1143207" y="79250"/>
                    <a:pt x="1205618" y="5890"/>
                  </a:cubicBezTo>
                  <a:cubicBezTo>
                    <a:pt x="1206713" y="4795"/>
                    <a:pt x="1208903" y="2604"/>
                    <a:pt x="1209998" y="1509"/>
                  </a:cubicBezTo>
                  <a:close/>
                </a:path>
              </a:pathLst>
            </a:custGeom>
            <a:solidFill>
              <a:srgbClr val="29B8CE"/>
            </a:solidFill>
            <a:ln w="92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0000"/>
                </a:solidFill>
                <a:effectLst/>
                <a:uLnTx/>
                <a:uFillTx/>
                <a:latin typeface="Verdana"/>
                <a:ea typeface="+mn-ea"/>
                <a:cs typeface="+mn-cs"/>
                <a:sym typeface="Helvetica Neue"/>
              </a:endParaRPr>
            </a:p>
          </p:txBody>
        </p:sp>
        <p:sp>
          <p:nvSpPr>
            <p:cNvPr id="31" name="Grafik 29">
              <a:extLst>
                <a:ext uri="{FF2B5EF4-FFF2-40B4-BE49-F238E27FC236}">
                  <a16:creationId xmlns:a16="http://schemas.microsoft.com/office/drawing/2014/main" id="{B25CA1CA-777E-4727-AB19-96851FD9AB3F}"/>
                </a:ext>
              </a:extLst>
            </p:cNvPr>
            <p:cNvSpPr/>
            <p:nvPr/>
          </p:nvSpPr>
          <p:spPr>
            <a:xfrm rot="12078484" flipH="1">
              <a:off x="3793710" y="2591968"/>
              <a:ext cx="2215394" cy="1433935"/>
            </a:xfrm>
            <a:custGeom>
              <a:avLst/>
              <a:gdLst>
                <a:gd name="connsiteX0" fmla="*/ 3093720 w 3333429"/>
                <a:gd name="connsiteY0" fmla="*/ 963930 h 2157594"/>
                <a:gd name="connsiteX1" fmla="*/ 2475548 w 3333429"/>
                <a:gd name="connsiteY1" fmla="*/ 831533 h 2157594"/>
                <a:gd name="connsiteX2" fmla="*/ 2279333 w 3333429"/>
                <a:gd name="connsiteY2" fmla="*/ 923925 h 2157594"/>
                <a:gd name="connsiteX3" fmla="*/ 2274570 w 3333429"/>
                <a:gd name="connsiteY3" fmla="*/ 926783 h 2157594"/>
                <a:gd name="connsiteX4" fmla="*/ 2071688 w 3333429"/>
                <a:gd name="connsiteY4" fmla="*/ 916305 h 2157594"/>
                <a:gd name="connsiteX5" fmla="*/ 2070735 w 3333429"/>
                <a:gd name="connsiteY5" fmla="*/ 915353 h 2157594"/>
                <a:gd name="connsiteX6" fmla="*/ 2031683 w 3333429"/>
                <a:gd name="connsiteY6" fmla="*/ 762000 h 2157594"/>
                <a:gd name="connsiteX7" fmla="*/ 2035493 w 3333429"/>
                <a:gd name="connsiteY7" fmla="*/ 752475 h 2157594"/>
                <a:gd name="connsiteX8" fmla="*/ 2035493 w 3333429"/>
                <a:gd name="connsiteY8" fmla="*/ 751523 h 2157594"/>
                <a:gd name="connsiteX9" fmla="*/ 2055495 w 3333429"/>
                <a:gd name="connsiteY9" fmla="*/ 698183 h 2157594"/>
                <a:gd name="connsiteX10" fmla="*/ 2057400 w 3333429"/>
                <a:gd name="connsiteY10" fmla="*/ 692468 h 2157594"/>
                <a:gd name="connsiteX11" fmla="*/ 2063115 w 3333429"/>
                <a:gd name="connsiteY11" fmla="*/ 671513 h 2157594"/>
                <a:gd name="connsiteX12" fmla="*/ 2065020 w 3333429"/>
                <a:gd name="connsiteY12" fmla="*/ 662940 h 2157594"/>
                <a:gd name="connsiteX13" fmla="*/ 2068830 w 3333429"/>
                <a:gd name="connsiteY13" fmla="*/ 643890 h 2157594"/>
                <a:gd name="connsiteX14" fmla="*/ 2069783 w 3333429"/>
                <a:gd name="connsiteY14" fmla="*/ 641033 h 2157594"/>
                <a:gd name="connsiteX15" fmla="*/ 2072640 w 3333429"/>
                <a:gd name="connsiteY15" fmla="*/ 623888 h 2157594"/>
                <a:gd name="connsiteX16" fmla="*/ 2073593 w 3333429"/>
                <a:gd name="connsiteY16" fmla="*/ 620078 h 2157594"/>
                <a:gd name="connsiteX17" fmla="*/ 2076450 w 3333429"/>
                <a:gd name="connsiteY17" fmla="*/ 600075 h 2157594"/>
                <a:gd name="connsiteX18" fmla="*/ 2077403 w 3333429"/>
                <a:gd name="connsiteY18" fmla="*/ 593408 h 2157594"/>
                <a:gd name="connsiteX19" fmla="*/ 2079308 w 3333429"/>
                <a:gd name="connsiteY19" fmla="*/ 569595 h 2157594"/>
                <a:gd name="connsiteX20" fmla="*/ 2079308 w 3333429"/>
                <a:gd name="connsiteY20" fmla="*/ 564833 h 2157594"/>
                <a:gd name="connsiteX21" fmla="*/ 2080260 w 3333429"/>
                <a:gd name="connsiteY21" fmla="*/ 543878 h 2157594"/>
                <a:gd name="connsiteX22" fmla="*/ 2080260 w 3333429"/>
                <a:gd name="connsiteY22" fmla="*/ 540068 h 2157594"/>
                <a:gd name="connsiteX23" fmla="*/ 2080260 w 3333429"/>
                <a:gd name="connsiteY23" fmla="*/ 538163 h 2157594"/>
                <a:gd name="connsiteX24" fmla="*/ 2079308 w 3333429"/>
                <a:gd name="connsiteY24" fmla="*/ 515303 h 2157594"/>
                <a:gd name="connsiteX25" fmla="*/ 2079308 w 3333429"/>
                <a:gd name="connsiteY25" fmla="*/ 507683 h 2157594"/>
                <a:gd name="connsiteX26" fmla="*/ 2078355 w 3333429"/>
                <a:gd name="connsiteY26" fmla="*/ 491490 h 2157594"/>
                <a:gd name="connsiteX27" fmla="*/ 2077403 w 3333429"/>
                <a:gd name="connsiteY27" fmla="*/ 479108 h 2157594"/>
                <a:gd name="connsiteX28" fmla="*/ 2075498 w 3333429"/>
                <a:gd name="connsiteY28" fmla="*/ 462915 h 2157594"/>
                <a:gd name="connsiteX29" fmla="*/ 2073593 w 3333429"/>
                <a:gd name="connsiteY29" fmla="*/ 450533 h 2157594"/>
                <a:gd name="connsiteX30" fmla="*/ 2071688 w 3333429"/>
                <a:gd name="connsiteY30" fmla="*/ 441008 h 2157594"/>
                <a:gd name="connsiteX31" fmla="*/ 2066925 w 3333429"/>
                <a:gd name="connsiteY31" fmla="*/ 418148 h 2157594"/>
                <a:gd name="connsiteX32" fmla="*/ 2065020 w 3333429"/>
                <a:gd name="connsiteY32" fmla="*/ 410528 h 2157594"/>
                <a:gd name="connsiteX33" fmla="*/ 2061210 w 3333429"/>
                <a:gd name="connsiteY33" fmla="*/ 397193 h 2157594"/>
                <a:gd name="connsiteX34" fmla="*/ 2059305 w 3333429"/>
                <a:gd name="connsiteY34" fmla="*/ 389573 h 2157594"/>
                <a:gd name="connsiteX35" fmla="*/ 2052638 w 3333429"/>
                <a:gd name="connsiteY35" fmla="*/ 369570 h 2157594"/>
                <a:gd name="connsiteX36" fmla="*/ 2048828 w 3333429"/>
                <a:gd name="connsiteY36" fmla="*/ 359093 h 2157594"/>
                <a:gd name="connsiteX37" fmla="*/ 2045018 w 3333429"/>
                <a:gd name="connsiteY37" fmla="*/ 348615 h 2157594"/>
                <a:gd name="connsiteX38" fmla="*/ 2039303 w 3333429"/>
                <a:gd name="connsiteY38" fmla="*/ 333375 h 2157594"/>
                <a:gd name="connsiteX39" fmla="*/ 2036445 w 3333429"/>
                <a:gd name="connsiteY39" fmla="*/ 325755 h 2157594"/>
                <a:gd name="connsiteX40" fmla="*/ 2027873 w 3333429"/>
                <a:gd name="connsiteY40" fmla="*/ 307658 h 2157594"/>
                <a:gd name="connsiteX41" fmla="*/ 2025015 w 3333429"/>
                <a:gd name="connsiteY41" fmla="*/ 302895 h 2157594"/>
                <a:gd name="connsiteX42" fmla="*/ 2001203 w 3333429"/>
                <a:gd name="connsiteY42" fmla="*/ 260033 h 2157594"/>
                <a:gd name="connsiteX43" fmla="*/ 2001203 w 3333429"/>
                <a:gd name="connsiteY43" fmla="*/ 260033 h 2157594"/>
                <a:gd name="connsiteX44" fmla="*/ 1923098 w 3333429"/>
                <a:gd name="connsiteY44" fmla="*/ 160020 h 2157594"/>
                <a:gd name="connsiteX45" fmla="*/ 1920240 w 3333429"/>
                <a:gd name="connsiteY45" fmla="*/ 157163 h 2157594"/>
                <a:gd name="connsiteX46" fmla="*/ 1905000 w 3333429"/>
                <a:gd name="connsiteY46" fmla="*/ 142875 h 2157594"/>
                <a:gd name="connsiteX47" fmla="*/ 1902143 w 3333429"/>
                <a:gd name="connsiteY47" fmla="*/ 140970 h 2157594"/>
                <a:gd name="connsiteX48" fmla="*/ 1886903 w 3333429"/>
                <a:gd name="connsiteY48" fmla="*/ 127635 h 2157594"/>
                <a:gd name="connsiteX49" fmla="*/ 1884998 w 3333429"/>
                <a:gd name="connsiteY49" fmla="*/ 126683 h 2157594"/>
                <a:gd name="connsiteX50" fmla="*/ 1869758 w 3333429"/>
                <a:gd name="connsiteY50" fmla="*/ 114300 h 2157594"/>
                <a:gd name="connsiteX51" fmla="*/ 1864043 w 3333429"/>
                <a:gd name="connsiteY51" fmla="*/ 109538 h 2157594"/>
                <a:gd name="connsiteX52" fmla="*/ 1845945 w 3333429"/>
                <a:gd name="connsiteY52" fmla="*/ 96203 h 2157594"/>
                <a:gd name="connsiteX53" fmla="*/ 1842135 w 3333429"/>
                <a:gd name="connsiteY53" fmla="*/ 93345 h 2157594"/>
                <a:gd name="connsiteX54" fmla="*/ 1796415 w 3333429"/>
                <a:gd name="connsiteY54" fmla="*/ 65723 h 2157594"/>
                <a:gd name="connsiteX55" fmla="*/ 1788795 w 3333429"/>
                <a:gd name="connsiteY55" fmla="*/ 61913 h 2157594"/>
                <a:gd name="connsiteX56" fmla="*/ 1772603 w 3333429"/>
                <a:gd name="connsiteY56" fmla="*/ 53340 h 2157594"/>
                <a:gd name="connsiteX57" fmla="*/ 1763078 w 3333429"/>
                <a:gd name="connsiteY57" fmla="*/ 48578 h 2157594"/>
                <a:gd name="connsiteX58" fmla="*/ 1748790 w 3333429"/>
                <a:gd name="connsiteY58" fmla="*/ 41910 h 2157594"/>
                <a:gd name="connsiteX59" fmla="*/ 1738313 w 3333429"/>
                <a:gd name="connsiteY59" fmla="*/ 38100 h 2157594"/>
                <a:gd name="connsiteX60" fmla="*/ 1724025 w 3333429"/>
                <a:gd name="connsiteY60" fmla="*/ 32385 h 2157594"/>
                <a:gd name="connsiteX61" fmla="*/ 1713548 w 3333429"/>
                <a:gd name="connsiteY61" fmla="*/ 28575 h 2157594"/>
                <a:gd name="connsiteX62" fmla="*/ 1698308 w 3333429"/>
                <a:gd name="connsiteY62" fmla="*/ 23813 h 2157594"/>
                <a:gd name="connsiteX63" fmla="*/ 1688783 w 3333429"/>
                <a:gd name="connsiteY63" fmla="*/ 20955 h 2157594"/>
                <a:gd name="connsiteX64" fmla="*/ 1672590 w 3333429"/>
                <a:gd name="connsiteY64" fmla="*/ 16193 h 2157594"/>
                <a:gd name="connsiteX65" fmla="*/ 1663065 w 3333429"/>
                <a:gd name="connsiteY65" fmla="*/ 14288 h 2157594"/>
                <a:gd name="connsiteX66" fmla="*/ 1646873 w 3333429"/>
                <a:gd name="connsiteY66" fmla="*/ 10478 h 2157594"/>
                <a:gd name="connsiteX67" fmla="*/ 1629728 w 3333429"/>
                <a:gd name="connsiteY67" fmla="*/ 7620 h 2157594"/>
                <a:gd name="connsiteX68" fmla="*/ 1614488 w 3333429"/>
                <a:gd name="connsiteY68" fmla="*/ 4763 h 2157594"/>
                <a:gd name="connsiteX69" fmla="*/ 1595438 w 3333429"/>
                <a:gd name="connsiteY69" fmla="*/ 1905 h 2157594"/>
                <a:gd name="connsiteX70" fmla="*/ 1586865 w 3333429"/>
                <a:gd name="connsiteY70" fmla="*/ 953 h 2157594"/>
                <a:gd name="connsiteX71" fmla="*/ 1567815 w 3333429"/>
                <a:gd name="connsiteY71" fmla="*/ 0 h 2157594"/>
                <a:gd name="connsiteX72" fmla="*/ 1558290 w 3333429"/>
                <a:gd name="connsiteY72" fmla="*/ 0 h 2157594"/>
                <a:gd name="connsiteX73" fmla="*/ 1541145 w 3333429"/>
                <a:gd name="connsiteY73" fmla="*/ 0 h 2157594"/>
                <a:gd name="connsiteX74" fmla="*/ 1539240 w 3333429"/>
                <a:gd name="connsiteY74" fmla="*/ 0 h 2157594"/>
                <a:gd name="connsiteX75" fmla="*/ 1518285 w 3333429"/>
                <a:gd name="connsiteY75" fmla="*/ 0 h 2157594"/>
                <a:gd name="connsiteX76" fmla="*/ 1516380 w 3333429"/>
                <a:gd name="connsiteY76" fmla="*/ 0 h 2157594"/>
                <a:gd name="connsiteX77" fmla="*/ 1493520 w 3333429"/>
                <a:gd name="connsiteY77" fmla="*/ 1905 h 2157594"/>
                <a:gd name="connsiteX78" fmla="*/ 1490663 w 3333429"/>
                <a:gd name="connsiteY78" fmla="*/ 1905 h 2157594"/>
                <a:gd name="connsiteX79" fmla="*/ 1319213 w 3333429"/>
                <a:gd name="connsiteY79" fmla="*/ 46673 h 2157594"/>
                <a:gd name="connsiteX80" fmla="*/ 1314450 w 3333429"/>
                <a:gd name="connsiteY80" fmla="*/ 48578 h 2157594"/>
                <a:gd name="connsiteX81" fmla="*/ 1295400 w 3333429"/>
                <a:gd name="connsiteY81" fmla="*/ 58103 h 2157594"/>
                <a:gd name="connsiteX82" fmla="*/ 1290638 w 3333429"/>
                <a:gd name="connsiteY82" fmla="*/ 60960 h 2157594"/>
                <a:gd name="connsiteX83" fmla="*/ 1274445 w 3333429"/>
                <a:gd name="connsiteY83" fmla="*/ 69533 h 2157594"/>
                <a:gd name="connsiteX84" fmla="*/ 1265873 w 3333429"/>
                <a:gd name="connsiteY84" fmla="*/ 74295 h 2157594"/>
                <a:gd name="connsiteX85" fmla="*/ 1255395 w 3333429"/>
                <a:gd name="connsiteY85" fmla="*/ 80963 h 2157594"/>
                <a:gd name="connsiteX86" fmla="*/ 1239203 w 3333429"/>
                <a:gd name="connsiteY86" fmla="*/ 91440 h 2157594"/>
                <a:gd name="connsiteX87" fmla="*/ 1231583 w 3333429"/>
                <a:gd name="connsiteY87" fmla="*/ 97155 h 2157594"/>
                <a:gd name="connsiteX88" fmla="*/ 1221105 w 3333429"/>
                <a:gd name="connsiteY88" fmla="*/ 104775 h 2157594"/>
                <a:gd name="connsiteX89" fmla="*/ 1213485 w 3333429"/>
                <a:gd name="connsiteY89" fmla="*/ 110490 h 2157594"/>
                <a:gd name="connsiteX90" fmla="*/ 1197293 w 3333429"/>
                <a:gd name="connsiteY90" fmla="*/ 123825 h 2157594"/>
                <a:gd name="connsiteX91" fmla="*/ 1189673 w 3333429"/>
                <a:gd name="connsiteY91" fmla="*/ 130493 h 2157594"/>
                <a:gd name="connsiteX92" fmla="*/ 1181100 w 3333429"/>
                <a:gd name="connsiteY92" fmla="*/ 138113 h 2157594"/>
                <a:gd name="connsiteX93" fmla="*/ 1167765 w 3333429"/>
                <a:gd name="connsiteY93" fmla="*/ 150495 h 2157594"/>
                <a:gd name="connsiteX94" fmla="*/ 1160145 w 3333429"/>
                <a:gd name="connsiteY94" fmla="*/ 158115 h 2157594"/>
                <a:gd name="connsiteX95" fmla="*/ 1148715 w 3333429"/>
                <a:gd name="connsiteY95" fmla="*/ 170498 h 2157594"/>
                <a:gd name="connsiteX96" fmla="*/ 1143953 w 3333429"/>
                <a:gd name="connsiteY96" fmla="*/ 176213 h 2157594"/>
                <a:gd name="connsiteX97" fmla="*/ 1128713 w 3333429"/>
                <a:gd name="connsiteY97" fmla="*/ 193358 h 2157594"/>
                <a:gd name="connsiteX98" fmla="*/ 1127760 w 3333429"/>
                <a:gd name="connsiteY98" fmla="*/ 194310 h 2157594"/>
                <a:gd name="connsiteX99" fmla="*/ 1125855 w 3333429"/>
                <a:gd name="connsiteY99" fmla="*/ 197168 h 2157594"/>
                <a:gd name="connsiteX100" fmla="*/ 1112520 w 3333429"/>
                <a:gd name="connsiteY100" fmla="*/ 214313 h 2157594"/>
                <a:gd name="connsiteX101" fmla="*/ 1109663 w 3333429"/>
                <a:gd name="connsiteY101" fmla="*/ 217170 h 2157594"/>
                <a:gd name="connsiteX102" fmla="*/ 1095375 w 3333429"/>
                <a:gd name="connsiteY102" fmla="*/ 236220 h 2157594"/>
                <a:gd name="connsiteX103" fmla="*/ 1091565 w 3333429"/>
                <a:gd name="connsiteY103" fmla="*/ 240983 h 2157594"/>
                <a:gd name="connsiteX104" fmla="*/ 1080135 w 3333429"/>
                <a:gd name="connsiteY104" fmla="*/ 258128 h 2157594"/>
                <a:gd name="connsiteX105" fmla="*/ 1078230 w 3333429"/>
                <a:gd name="connsiteY105" fmla="*/ 260985 h 2157594"/>
                <a:gd name="connsiteX106" fmla="*/ 1069658 w 3333429"/>
                <a:gd name="connsiteY106" fmla="*/ 276225 h 2157594"/>
                <a:gd name="connsiteX107" fmla="*/ 1067753 w 3333429"/>
                <a:gd name="connsiteY107" fmla="*/ 279083 h 2157594"/>
                <a:gd name="connsiteX108" fmla="*/ 1059180 w 3333429"/>
                <a:gd name="connsiteY108" fmla="*/ 296228 h 2157594"/>
                <a:gd name="connsiteX109" fmla="*/ 1055370 w 3333429"/>
                <a:gd name="connsiteY109" fmla="*/ 303848 h 2157594"/>
                <a:gd name="connsiteX110" fmla="*/ 1045845 w 3333429"/>
                <a:gd name="connsiteY110" fmla="*/ 323850 h 2157594"/>
                <a:gd name="connsiteX111" fmla="*/ 1042988 w 3333429"/>
                <a:gd name="connsiteY111" fmla="*/ 329565 h 2157594"/>
                <a:gd name="connsiteX112" fmla="*/ 1023938 w 3333429"/>
                <a:gd name="connsiteY112" fmla="*/ 382905 h 2157594"/>
                <a:gd name="connsiteX113" fmla="*/ 1023938 w 3333429"/>
                <a:gd name="connsiteY113" fmla="*/ 383858 h 2157594"/>
                <a:gd name="connsiteX114" fmla="*/ 1021080 w 3333429"/>
                <a:gd name="connsiteY114" fmla="*/ 393383 h 2157594"/>
                <a:gd name="connsiteX115" fmla="*/ 890588 w 3333429"/>
                <a:gd name="connsiteY115" fmla="*/ 485775 h 2157594"/>
                <a:gd name="connsiteX116" fmla="*/ 886778 w 3333429"/>
                <a:gd name="connsiteY116" fmla="*/ 485775 h 2157594"/>
                <a:gd name="connsiteX117" fmla="*/ 791528 w 3333429"/>
                <a:gd name="connsiteY117" fmla="*/ 417195 h 2157594"/>
                <a:gd name="connsiteX118" fmla="*/ 790575 w 3333429"/>
                <a:gd name="connsiteY118" fmla="*/ 413385 h 2157594"/>
                <a:gd name="connsiteX119" fmla="*/ 681990 w 3333429"/>
                <a:gd name="connsiteY119" fmla="*/ 243840 h 2157594"/>
                <a:gd name="connsiteX120" fmla="*/ 405765 w 3333429"/>
                <a:gd name="connsiteY120" fmla="*/ 134303 h 2157594"/>
                <a:gd name="connsiteX121" fmla="*/ 0 w 3333429"/>
                <a:gd name="connsiteY121" fmla="*/ 540068 h 2157594"/>
                <a:gd name="connsiteX122" fmla="*/ 404813 w 3333429"/>
                <a:gd name="connsiteY122" fmla="*/ 944880 h 2157594"/>
                <a:gd name="connsiteX123" fmla="*/ 681038 w 3333429"/>
                <a:gd name="connsiteY123" fmla="*/ 835343 h 2157594"/>
                <a:gd name="connsiteX124" fmla="*/ 789623 w 3333429"/>
                <a:gd name="connsiteY124" fmla="*/ 665798 h 2157594"/>
                <a:gd name="connsiteX125" fmla="*/ 790575 w 3333429"/>
                <a:gd name="connsiteY125" fmla="*/ 661988 h 2157594"/>
                <a:gd name="connsiteX126" fmla="*/ 885825 w 3333429"/>
                <a:gd name="connsiteY126" fmla="*/ 593408 h 2157594"/>
                <a:gd name="connsiteX127" fmla="*/ 889635 w 3333429"/>
                <a:gd name="connsiteY127" fmla="*/ 593408 h 2157594"/>
                <a:gd name="connsiteX128" fmla="*/ 1017270 w 3333429"/>
                <a:gd name="connsiteY128" fmla="*/ 685800 h 2157594"/>
                <a:gd name="connsiteX129" fmla="*/ 1020128 w 3333429"/>
                <a:gd name="connsiteY129" fmla="*/ 695325 h 2157594"/>
                <a:gd name="connsiteX130" fmla="*/ 1022985 w 3333429"/>
                <a:gd name="connsiteY130" fmla="*/ 704850 h 2157594"/>
                <a:gd name="connsiteX131" fmla="*/ 1026795 w 3333429"/>
                <a:gd name="connsiteY131" fmla="*/ 718185 h 2157594"/>
                <a:gd name="connsiteX132" fmla="*/ 1031558 w 3333429"/>
                <a:gd name="connsiteY132" fmla="*/ 730568 h 2157594"/>
                <a:gd name="connsiteX133" fmla="*/ 1037273 w 3333429"/>
                <a:gd name="connsiteY133" fmla="*/ 744855 h 2157594"/>
                <a:gd name="connsiteX134" fmla="*/ 1042035 w 3333429"/>
                <a:gd name="connsiteY134" fmla="*/ 755333 h 2157594"/>
                <a:gd name="connsiteX135" fmla="*/ 1049655 w 3333429"/>
                <a:gd name="connsiteY135" fmla="*/ 772478 h 2157594"/>
                <a:gd name="connsiteX136" fmla="*/ 1053465 w 3333429"/>
                <a:gd name="connsiteY136" fmla="*/ 780098 h 2157594"/>
                <a:gd name="connsiteX137" fmla="*/ 1064895 w 3333429"/>
                <a:gd name="connsiteY137" fmla="*/ 802005 h 2157594"/>
                <a:gd name="connsiteX138" fmla="*/ 1065848 w 3333429"/>
                <a:gd name="connsiteY138" fmla="*/ 803910 h 2157594"/>
                <a:gd name="connsiteX139" fmla="*/ 1065848 w 3333429"/>
                <a:gd name="connsiteY139" fmla="*/ 804863 h 2157594"/>
                <a:gd name="connsiteX140" fmla="*/ 1072515 w 3333429"/>
                <a:gd name="connsiteY140" fmla="*/ 816293 h 2157594"/>
                <a:gd name="connsiteX141" fmla="*/ 1076325 w 3333429"/>
                <a:gd name="connsiteY141" fmla="*/ 822960 h 2157594"/>
                <a:gd name="connsiteX142" fmla="*/ 1102043 w 3333429"/>
                <a:gd name="connsiteY142" fmla="*/ 862013 h 2157594"/>
                <a:gd name="connsiteX143" fmla="*/ 1104900 w 3333429"/>
                <a:gd name="connsiteY143" fmla="*/ 865823 h 2157594"/>
                <a:gd name="connsiteX144" fmla="*/ 1122045 w 3333429"/>
                <a:gd name="connsiteY144" fmla="*/ 886778 h 2157594"/>
                <a:gd name="connsiteX145" fmla="*/ 1125855 w 3333429"/>
                <a:gd name="connsiteY145" fmla="*/ 890588 h 2157594"/>
                <a:gd name="connsiteX146" fmla="*/ 1134428 w 3333429"/>
                <a:gd name="connsiteY146" fmla="*/ 901065 h 2157594"/>
                <a:gd name="connsiteX147" fmla="*/ 1142048 w 3333429"/>
                <a:gd name="connsiteY147" fmla="*/ 908685 h 2157594"/>
                <a:gd name="connsiteX148" fmla="*/ 1153478 w 3333429"/>
                <a:gd name="connsiteY148" fmla="*/ 920115 h 2157594"/>
                <a:gd name="connsiteX149" fmla="*/ 1164908 w 3333429"/>
                <a:gd name="connsiteY149" fmla="*/ 931545 h 2157594"/>
                <a:gd name="connsiteX150" fmla="*/ 1171575 w 3333429"/>
                <a:gd name="connsiteY150" fmla="*/ 937260 h 2157594"/>
                <a:gd name="connsiteX151" fmla="*/ 1188720 w 3333429"/>
                <a:gd name="connsiteY151" fmla="*/ 952500 h 2157594"/>
                <a:gd name="connsiteX152" fmla="*/ 1189673 w 3333429"/>
                <a:gd name="connsiteY152" fmla="*/ 953453 h 2157594"/>
                <a:gd name="connsiteX153" fmla="*/ 1196340 w 3333429"/>
                <a:gd name="connsiteY153" fmla="*/ 959168 h 2157594"/>
                <a:gd name="connsiteX154" fmla="*/ 1203008 w 3333429"/>
                <a:gd name="connsiteY154" fmla="*/ 964883 h 2157594"/>
                <a:gd name="connsiteX155" fmla="*/ 1210628 w 3333429"/>
                <a:gd name="connsiteY155" fmla="*/ 970598 h 2157594"/>
                <a:gd name="connsiteX156" fmla="*/ 1217295 w 3333429"/>
                <a:gd name="connsiteY156" fmla="*/ 976313 h 2157594"/>
                <a:gd name="connsiteX157" fmla="*/ 1224915 w 3333429"/>
                <a:gd name="connsiteY157" fmla="*/ 982028 h 2157594"/>
                <a:gd name="connsiteX158" fmla="*/ 1231583 w 3333429"/>
                <a:gd name="connsiteY158" fmla="*/ 986790 h 2157594"/>
                <a:gd name="connsiteX159" fmla="*/ 1240155 w 3333429"/>
                <a:gd name="connsiteY159" fmla="*/ 992505 h 2157594"/>
                <a:gd name="connsiteX160" fmla="*/ 1246823 w 3333429"/>
                <a:gd name="connsiteY160" fmla="*/ 996315 h 2157594"/>
                <a:gd name="connsiteX161" fmla="*/ 1255395 w 3333429"/>
                <a:gd name="connsiteY161" fmla="*/ 1002030 h 2157594"/>
                <a:gd name="connsiteX162" fmla="*/ 1262063 w 3333429"/>
                <a:gd name="connsiteY162" fmla="*/ 1005840 h 2157594"/>
                <a:gd name="connsiteX163" fmla="*/ 1271588 w 3333429"/>
                <a:gd name="connsiteY163" fmla="*/ 1011555 h 2157594"/>
                <a:gd name="connsiteX164" fmla="*/ 1277303 w 3333429"/>
                <a:gd name="connsiteY164" fmla="*/ 1015365 h 2157594"/>
                <a:gd name="connsiteX165" fmla="*/ 1286828 w 3333429"/>
                <a:gd name="connsiteY165" fmla="*/ 1020128 h 2157594"/>
                <a:gd name="connsiteX166" fmla="*/ 1292543 w 3333429"/>
                <a:gd name="connsiteY166" fmla="*/ 1022985 h 2157594"/>
                <a:gd name="connsiteX167" fmla="*/ 1302068 w 3333429"/>
                <a:gd name="connsiteY167" fmla="*/ 1027748 h 2157594"/>
                <a:gd name="connsiteX168" fmla="*/ 1308735 w 3333429"/>
                <a:gd name="connsiteY168" fmla="*/ 1030605 h 2157594"/>
                <a:gd name="connsiteX169" fmla="*/ 1318260 w 3333429"/>
                <a:gd name="connsiteY169" fmla="*/ 1035368 h 2157594"/>
                <a:gd name="connsiteX170" fmla="*/ 1324928 w 3333429"/>
                <a:gd name="connsiteY170" fmla="*/ 1038225 h 2157594"/>
                <a:gd name="connsiteX171" fmla="*/ 1334453 w 3333429"/>
                <a:gd name="connsiteY171" fmla="*/ 1042035 h 2157594"/>
                <a:gd name="connsiteX172" fmla="*/ 1341120 w 3333429"/>
                <a:gd name="connsiteY172" fmla="*/ 1044893 h 2157594"/>
                <a:gd name="connsiteX173" fmla="*/ 1350645 w 3333429"/>
                <a:gd name="connsiteY173" fmla="*/ 1048703 h 2157594"/>
                <a:gd name="connsiteX174" fmla="*/ 1358265 w 3333429"/>
                <a:gd name="connsiteY174" fmla="*/ 1051560 h 2157594"/>
                <a:gd name="connsiteX175" fmla="*/ 1366838 w 3333429"/>
                <a:gd name="connsiteY175" fmla="*/ 1054418 h 2157594"/>
                <a:gd name="connsiteX176" fmla="*/ 1375410 w 3333429"/>
                <a:gd name="connsiteY176" fmla="*/ 1057275 h 2157594"/>
                <a:gd name="connsiteX177" fmla="*/ 1383983 w 3333429"/>
                <a:gd name="connsiteY177" fmla="*/ 1060133 h 2157594"/>
                <a:gd name="connsiteX178" fmla="*/ 1392555 w 3333429"/>
                <a:gd name="connsiteY178" fmla="*/ 1062990 h 2157594"/>
                <a:gd name="connsiteX179" fmla="*/ 1401128 w 3333429"/>
                <a:gd name="connsiteY179" fmla="*/ 1064895 h 2157594"/>
                <a:gd name="connsiteX180" fmla="*/ 1410653 w 3333429"/>
                <a:gd name="connsiteY180" fmla="*/ 1066800 h 2157594"/>
                <a:gd name="connsiteX181" fmla="*/ 1419225 w 3333429"/>
                <a:gd name="connsiteY181" fmla="*/ 1068705 h 2157594"/>
                <a:gd name="connsiteX182" fmla="*/ 1428750 w 3333429"/>
                <a:gd name="connsiteY182" fmla="*/ 1070610 h 2157594"/>
                <a:gd name="connsiteX183" fmla="*/ 1437323 w 3333429"/>
                <a:gd name="connsiteY183" fmla="*/ 1072515 h 2157594"/>
                <a:gd name="connsiteX184" fmla="*/ 1445895 w 3333429"/>
                <a:gd name="connsiteY184" fmla="*/ 1074420 h 2157594"/>
                <a:gd name="connsiteX185" fmla="*/ 1455420 w 3333429"/>
                <a:gd name="connsiteY185" fmla="*/ 1075373 h 2157594"/>
                <a:gd name="connsiteX186" fmla="*/ 1463993 w 3333429"/>
                <a:gd name="connsiteY186" fmla="*/ 1076325 h 2157594"/>
                <a:gd name="connsiteX187" fmla="*/ 1473518 w 3333429"/>
                <a:gd name="connsiteY187" fmla="*/ 1077278 h 2157594"/>
                <a:gd name="connsiteX188" fmla="*/ 1481138 w 3333429"/>
                <a:gd name="connsiteY188" fmla="*/ 1078230 h 2157594"/>
                <a:gd name="connsiteX189" fmla="*/ 1491615 w 3333429"/>
                <a:gd name="connsiteY189" fmla="*/ 1079183 h 2157594"/>
                <a:gd name="connsiteX190" fmla="*/ 1499235 w 3333429"/>
                <a:gd name="connsiteY190" fmla="*/ 1080135 h 2157594"/>
                <a:gd name="connsiteX191" fmla="*/ 1510665 w 3333429"/>
                <a:gd name="connsiteY191" fmla="*/ 1081088 h 2157594"/>
                <a:gd name="connsiteX192" fmla="*/ 1517333 w 3333429"/>
                <a:gd name="connsiteY192" fmla="*/ 1081088 h 2157594"/>
                <a:gd name="connsiteX193" fmla="*/ 1529715 w 3333429"/>
                <a:gd name="connsiteY193" fmla="*/ 1081088 h 2157594"/>
                <a:gd name="connsiteX194" fmla="*/ 1535430 w 3333429"/>
                <a:gd name="connsiteY194" fmla="*/ 1081088 h 2157594"/>
                <a:gd name="connsiteX195" fmla="*/ 1536383 w 3333429"/>
                <a:gd name="connsiteY195" fmla="*/ 1081088 h 2157594"/>
                <a:gd name="connsiteX196" fmla="*/ 1560195 w 3333429"/>
                <a:gd name="connsiteY196" fmla="*/ 1080135 h 2157594"/>
                <a:gd name="connsiteX197" fmla="*/ 1567815 w 3333429"/>
                <a:gd name="connsiteY197" fmla="*/ 1080135 h 2157594"/>
                <a:gd name="connsiteX198" fmla="*/ 1585913 w 3333429"/>
                <a:gd name="connsiteY198" fmla="*/ 1079183 h 2157594"/>
                <a:gd name="connsiteX199" fmla="*/ 1598295 w 3333429"/>
                <a:gd name="connsiteY199" fmla="*/ 1078230 h 2157594"/>
                <a:gd name="connsiteX200" fmla="*/ 1610678 w 3333429"/>
                <a:gd name="connsiteY200" fmla="*/ 1076325 h 2157594"/>
                <a:gd name="connsiteX201" fmla="*/ 1623060 w 3333429"/>
                <a:gd name="connsiteY201" fmla="*/ 1074420 h 2157594"/>
                <a:gd name="connsiteX202" fmla="*/ 1631633 w 3333429"/>
                <a:gd name="connsiteY202" fmla="*/ 1072515 h 2157594"/>
                <a:gd name="connsiteX203" fmla="*/ 1654493 w 3333429"/>
                <a:gd name="connsiteY203" fmla="*/ 1067753 h 2157594"/>
                <a:gd name="connsiteX204" fmla="*/ 1661160 w 3333429"/>
                <a:gd name="connsiteY204" fmla="*/ 1065848 h 2157594"/>
                <a:gd name="connsiteX205" fmla="*/ 1675448 w 3333429"/>
                <a:gd name="connsiteY205" fmla="*/ 1062038 h 2157594"/>
                <a:gd name="connsiteX206" fmla="*/ 1678305 w 3333429"/>
                <a:gd name="connsiteY206" fmla="*/ 1061085 h 2157594"/>
                <a:gd name="connsiteX207" fmla="*/ 1704975 w 3333429"/>
                <a:gd name="connsiteY207" fmla="*/ 1052513 h 2157594"/>
                <a:gd name="connsiteX208" fmla="*/ 1713548 w 3333429"/>
                <a:gd name="connsiteY208" fmla="*/ 1049655 h 2157594"/>
                <a:gd name="connsiteX209" fmla="*/ 1724978 w 3333429"/>
                <a:gd name="connsiteY209" fmla="*/ 1045845 h 2157594"/>
                <a:gd name="connsiteX210" fmla="*/ 1725930 w 3333429"/>
                <a:gd name="connsiteY210" fmla="*/ 1045845 h 2157594"/>
                <a:gd name="connsiteX211" fmla="*/ 1728788 w 3333429"/>
                <a:gd name="connsiteY211" fmla="*/ 1044893 h 2157594"/>
                <a:gd name="connsiteX212" fmla="*/ 1749743 w 3333429"/>
                <a:gd name="connsiteY212" fmla="*/ 1036320 h 2157594"/>
                <a:gd name="connsiteX213" fmla="*/ 1757363 w 3333429"/>
                <a:gd name="connsiteY213" fmla="*/ 1032510 h 2157594"/>
                <a:gd name="connsiteX214" fmla="*/ 1773555 w 3333429"/>
                <a:gd name="connsiteY214" fmla="*/ 1024890 h 2157594"/>
                <a:gd name="connsiteX215" fmla="*/ 1784033 w 3333429"/>
                <a:gd name="connsiteY215" fmla="*/ 1019175 h 2157594"/>
                <a:gd name="connsiteX216" fmla="*/ 1797368 w 3333429"/>
                <a:gd name="connsiteY216" fmla="*/ 1012508 h 2157594"/>
                <a:gd name="connsiteX217" fmla="*/ 1809750 w 3333429"/>
                <a:gd name="connsiteY217" fmla="*/ 1005840 h 2157594"/>
                <a:gd name="connsiteX218" fmla="*/ 1820228 w 3333429"/>
                <a:gd name="connsiteY218" fmla="*/ 999173 h 2157594"/>
                <a:gd name="connsiteX219" fmla="*/ 1828800 w 3333429"/>
                <a:gd name="connsiteY219" fmla="*/ 993458 h 2157594"/>
                <a:gd name="connsiteX220" fmla="*/ 1837373 w 3333429"/>
                <a:gd name="connsiteY220" fmla="*/ 987743 h 2157594"/>
                <a:gd name="connsiteX221" fmla="*/ 1994535 w 3333429"/>
                <a:gd name="connsiteY221" fmla="*/ 999173 h 2157594"/>
                <a:gd name="connsiteX222" fmla="*/ 1995488 w 3333429"/>
                <a:gd name="connsiteY222" fmla="*/ 1000125 h 2157594"/>
                <a:gd name="connsiteX223" fmla="*/ 2041208 w 3333429"/>
                <a:gd name="connsiteY223" fmla="*/ 1198245 h 2157594"/>
                <a:gd name="connsiteX224" fmla="*/ 2038350 w 3333429"/>
                <a:gd name="connsiteY224" fmla="*/ 1203960 h 2157594"/>
                <a:gd name="connsiteX225" fmla="*/ 1982153 w 3333429"/>
                <a:gd name="connsiteY225" fmla="*/ 1413510 h 2157594"/>
                <a:gd name="connsiteX226" fmla="*/ 2219325 w 3333429"/>
                <a:gd name="connsiteY226" fmla="*/ 1999298 h 2157594"/>
                <a:gd name="connsiteX227" fmla="*/ 3169920 w 3333429"/>
                <a:gd name="connsiteY227" fmla="*/ 1916430 h 2157594"/>
                <a:gd name="connsiteX228" fmla="*/ 3093720 w 3333429"/>
                <a:gd name="connsiteY228" fmla="*/ 963930 h 215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Lst>
              <a:rect l="l" t="t" r="r" b="b"/>
              <a:pathLst>
                <a:path w="3333429" h="2157594">
                  <a:moveTo>
                    <a:pt x="3093720" y="963930"/>
                  </a:moveTo>
                  <a:cubicBezTo>
                    <a:pt x="2915603" y="814388"/>
                    <a:pt x="2683193" y="772478"/>
                    <a:pt x="2475548" y="831533"/>
                  </a:cubicBezTo>
                  <a:cubicBezTo>
                    <a:pt x="2406015" y="851535"/>
                    <a:pt x="2340293" y="882015"/>
                    <a:pt x="2279333" y="923925"/>
                  </a:cubicBezTo>
                  <a:cubicBezTo>
                    <a:pt x="2277428" y="924878"/>
                    <a:pt x="2276475" y="925830"/>
                    <a:pt x="2274570" y="926783"/>
                  </a:cubicBezTo>
                  <a:cubicBezTo>
                    <a:pt x="2213610" y="967740"/>
                    <a:pt x="2130743" y="965835"/>
                    <a:pt x="2071688" y="916305"/>
                  </a:cubicBezTo>
                  <a:lnTo>
                    <a:pt x="2070735" y="915353"/>
                  </a:lnTo>
                  <a:cubicBezTo>
                    <a:pt x="2025015" y="877253"/>
                    <a:pt x="2010728" y="814388"/>
                    <a:pt x="2031683" y="762000"/>
                  </a:cubicBezTo>
                  <a:cubicBezTo>
                    <a:pt x="2032635" y="759143"/>
                    <a:pt x="2034540" y="755333"/>
                    <a:pt x="2035493" y="752475"/>
                  </a:cubicBezTo>
                  <a:cubicBezTo>
                    <a:pt x="2035493" y="752475"/>
                    <a:pt x="2035493" y="751523"/>
                    <a:pt x="2035493" y="751523"/>
                  </a:cubicBezTo>
                  <a:cubicBezTo>
                    <a:pt x="2043113" y="734378"/>
                    <a:pt x="2049780" y="716280"/>
                    <a:pt x="2055495" y="698183"/>
                  </a:cubicBezTo>
                  <a:cubicBezTo>
                    <a:pt x="2056448" y="696278"/>
                    <a:pt x="2056448" y="694373"/>
                    <a:pt x="2057400" y="692468"/>
                  </a:cubicBezTo>
                  <a:cubicBezTo>
                    <a:pt x="2059305" y="685800"/>
                    <a:pt x="2061210" y="678180"/>
                    <a:pt x="2063115" y="671513"/>
                  </a:cubicBezTo>
                  <a:cubicBezTo>
                    <a:pt x="2064068" y="668655"/>
                    <a:pt x="2064068" y="665798"/>
                    <a:pt x="2065020" y="662940"/>
                  </a:cubicBezTo>
                  <a:cubicBezTo>
                    <a:pt x="2066925" y="656273"/>
                    <a:pt x="2067878" y="650558"/>
                    <a:pt x="2068830" y="643890"/>
                  </a:cubicBezTo>
                  <a:cubicBezTo>
                    <a:pt x="2068830" y="642938"/>
                    <a:pt x="2069783" y="641985"/>
                    <a:pt x="2069783" y="641033"/>
                  </a:cubicBezTo>
                  <a:cubicBezTo>
                    <a:pt x="2070735" y="635318"/>
                    <a:pt x="2071688" y="629603"/>
                    <a:pt x="2072640" y="623888"/>
                  </a:cubicBezTo>
                  <a:cubicBezTo>
                    <a:pt x="2072640" y="622935"/>
                    <a:pt x="2072640" y="621030"/>
                    <a:pt x="2073593" y="620078"/>
                  </a:cubicBezTo>
                  <a:cubicBezTo>
                    <a:pt x="2074545" y="613410"/>
                    <a:pt x="2075498" y="606743"/>
                    <a:pt x="2076450" y="600075"/>
                  </a:cubicBezTo>
                  <a:cubicBezTo>
                    <a:pt x="2076450" y="598170"/>
                    <a:pt x="2077403" y="595313"/>
                    <a:pt x="2077403" y="593408"/>
                  </a:cubicBezTo>
                  <a:cubicBezTo>
                    <a:pt x="2078355" y="585788"/>
                    <a:pt x="2078355" y="578168"/>
                    <a:pt x="2079308" y="569595"/>
                  </a:cubicBezTo>
                  <a:cubicBezTo>
                    <a:pt x="2079308" y="567690"/>
                    <a:pt x="2079308" y="566738"/>
                    <a:pt x="2079308" y="564833"/>
                  </a:cubicBezTo>
                  <a:cubicBezTo>
                    <a:pt x="2079308" y="558165"/>
                    <a:pt x="2080260" y="550545"/>
                    <a:pt x="2080260" y="543878"/>
                  </a:cubicBezTo>
                  <a:cubicBezTo>
                    <a:pt x="2080260" y="542925"/>
                    <a:pt x="2080260" y="541020"/>
                    <a:pt x="2080260" y="540068"/>
                  </a:cubicBezTo>
                  <a:cubicBezTo>
                    <a:pt x="2080260" y="539115"/>
                    <a:pt x="2080260" y="539115"/>
                    <a:pt x="2080260" y="538163"/>
                  </a:cubicBezTo>
                  <a:cubicBezTo>
                    <a:pt x="2080260" y="530543"/>
                    <a:pt x="2080260" y="522923"/>
                    <a:pt x="2079308" y="515303"/>
                  </a:cubicBezTo>
                  <a:cubicBezTo>
                    <a:pt x="2079308" y="512445"/>
                    <a:pt x="2079308" y="509588"/>
                    <a:pt x="2079308" y="507683"/>
                  </a:cubicBezTo>
                  <a:cubicBezTo>
                    <a:pt x="2079308" y="501968"/>
                    <a:pt x="2078355" y="497205"/>
                    <a:pt x="2078355" y="491490"/>
                  </a:cubicBezTo>
                  <a:cubicBezTo>
                    <a:pt x="2078355" y="487680"/>
                    <a:pt x="2077403" y="482918"/>
                    <a:pt x="2077403" y="479108"/>
                  </a:cubicBezTo>
                  <a:cubicBezTo>
                    <a:pt x="2076450" y="473393"/>
                    <a:pt x="2076450" y="468630"/>
                    <a:pt x="2075498" y="462915"/>
                  </a:cubicBezTo>
                  <a:cubicBezTo>
                    <a:pt x="2074545" y="459105"/>
                    <a:pt x="2074545" y="454343"/>
                    <a:pt x="2073593" y="450533"/>
                  </a:cubicBezTo>
                  <a:cubicBezTo>
                    <a:pt x="2072640" y="447675"/>
                    <a:pt x="2072640" y="444818"/>
                    <a:pt x="2071688" y="441008"/>
                  </a:cubicBezTo>
                  <a:cubicBezTo>
                    <a:pt x="2070735" y="433388"/>
                    <a:pt x="2068830" y="425768"/>
                    <a:pt x="2066925" y="418148"/>
                  </a:cubicBezTo>
                  <a:cubicBezTo>
                    <a:pt x="2065973" y="415290"/>
                    <a:pt x="2065973" y="413385"/>
                    <a:pt x="2065020" y="410528"/>
                  </a:cubicBezTo>
                  <a:cubicBezTo>
                    <a:pt x="2064068" y="405765"/>
                    <a:pt x="2063115" y="401955"/>
                    <a:pt x="2061210" y="397193"/>
                  </a:cubicBezTo>
                  <a:cubicBezTo>
                    <a:pt x="2060258" y="394335"/>
                    <a:pt x="2059305" y="391478"/>
                    <a:pt x="2059305" y="389573"/>
                  </a:cubicBezTo>
                  <a:cubicBezTo>
                    <a:pt x="2057400" y="382905"/>
                    <a:pt x="2055495" y="376238"/>
                    <a:pt x="2052638" y="369570"/>
                  </a:cubicBezTo>
                  <a:cubicBezTo>
                    <a:pt x="2051685" y="365760"/>
                    <a:pt x="2050733" y="362903"/>
                    <a:pt x="2048828" y="359093"/>
                  </a:cubicBezTo>
                  <a:cubicBezTo>
                    <a:pt x="2047875" y="355283"/>
                    <a:pt x="2045970" y="352425"/>
                    <a:pt x="2045018" y="348615"/>
                  </a:cubicBezTo>
                  <a:cubicBezTo>
                    <a:pt x="2043113" y="343853"/>
                    <a:pt x="2041208" y="339090"/>
                    <a:pt x="2039303" y="333375"/>
                  </a:cubicBezTo>
                  <a:cubicBezTo>
                    <a:pt x="2038350" y="330518"/>
                    <a:pt x="2037398" y="328613"/>
                    <a:pt x="2036445" y="325755"/>
                  </a:cubicBezTo>
                  <a:cubicBezTo>
                    <a:pt x="2033588" y="320040"/>
                    <a:pt x="2030730" y="313373"/>
                    <a:pt x="2027873" y="307658"/>
                  </a:cubicBezTo>
                  <a:cubicBezTo>
                    <a:pt x="2026920" y="305753"/>
                    <a:pt x="2025968" y="303848"/>
                    <a:pt x="2025015" y="302895"/>
                  </a:cubicBezTo>
                  <a:cubicBezTo>
                    <a:pt x="2018348" y="288608"/>
                    <a:pt x="2009775" y="273368"/>
                    <a:pt x="2001203" y="260033"/>
                  </a:cubicBezTo>
                  <a:cubicBezTo>
                    <a:pt x="2001203" y="260033"/>
                    <a:pt x="2001203" y="260033"/>
                    <a:pt x="2001203" y="260033"/>
                  </a:cubicBezTo>
                  <a:cubicBezTo>
                    <a:pt x="1979295" y="223838"/>
                    <a:pt x="1953578" y="190500"/>
                    <a:pt x="1923098" y="160020"/>
                  </a:cubicBezTo>
                  <a:cubicBezTo>
                    <a:pt x="1922145" y="159068"/>
                    <a:pt x="1921193" y="158115"/>
                    <a:pt x="1920240" y="157163"/>
                  </a:cubicBezTo>
                  <a:cubicBezTo>
                    <a:pt x="1915478" y="152400"/>
                    <a:pt x="1909763" y="147638"/>
                    <a:pt x="1905000" y="142875"/>
                  </a:cubicBezTo>
                  <a:cubicBezTo>
                    <a:pt x="1904048" y="141923"/>
                    <a:pt x="1903095" y="140970"/>
                    <a:pt x="1902143" y="140970"/>
                  </a:cubicBezTo>
                  <a:cubicBezTo>
                    <a:pt x="1897380" y="136208"/>
                    <a:pt x="1891665" y="132398"/>
                    <a:pt x="1886903" y="127635"/>
                  </a:cubicBezTo>
                  <a:cubicBezTo>
                    <a:pt x="1885950" y="127635"/>
                    <a:pt x="1885950" y="126683"/>
                    <a:pt x="1884998" y="126683"/>
                  </a:cubicBezTo>
                  <a:cubicBezTo>
                    <a:pt x="1880235" y="122873"/>
                    <a:pt x="1874520" y="118110"/>
                    <a:pt x="1869758" y="114300"/>
                  </a:cubicBezTo>
                  <a:cubicBezTo>
                    <a:pt x="1867853" y="112395"/>
                    <a:pt x="1865948" y="111443"/>
                    <a:pt x="1864043" y="109538"/>
                  </a:cubicBezTo>
                  <a:cubicBezTo>
                    <a:pt x="1858328" y="104775"/>
                    <a:pt x="1851660" y="100965"/>
                    <a:pt x="1845945" y="96203"/>
                  </a:cubicBezTo>
                  <a:cubicBezTo>
                    <a:pt x="1844993" y="95250"/>
                    <a:pt x="1843088" y="94298"/>
                    <a:pt x="1842135" y="93345"/>
                  </a:cubicBezTo>
                  <a:cubicBezTo>
                    <a:pt x="1827848" y="82868"/>
                    <a:pt x="1811655" y="74295"/>
                    <a:pt x="1796415" y="65723"/>
                  </a:cubicBezTo>
                  <a:cubicBezTo>
                    <a:pt x="1793558" y="64770"/>
                    <a:pt x="1791653" y="62865"/>
                    <a:pt x="1788795" y="61913"/>
                  </a:cubicBezTo>
                  <a:cubicBezTo>
                    <a:pt x="1783080" y="59055"/>
                    <a:pt x="1778318" y="56198"/>
                    <a:pt x="1772603" y="53340"/>
                  </a:cubicBezTo>
                  <a:cubicBezTo>
                    <a:pt x="1769745" y="51435"/>
                    <a:pt x="1765935" y="50483"/>
                    <a:pt x="1763078" y="48578"/>
                  </a:cubicBezTo>
                  <a:cubicBezTo>
                    <a:pt x="1758315" y="46673"/>
                    <a:pt x="1753553" y="43815"/>
                    <a:pt x="1748790" y="41910"/>
                  </a:cubicBezTo>
                  <a:cubicBezTo>
                    <a:pt x="1744980" y="40005"/>
                    <a:pt x="1742123" y="39053"/>
                    <a:pt x="1738313" y="38100"/>
                  </a:cubicBezTo>
                  <a:cubicBezTo>
                    <a:pt x="1733550" y="36195"/>
                    <a:pt x="1728788" y="34290"/>
                    <a:pt x="1724025" y="32385"/>
                  </a:cubicBezTo>
                  <a:cubicBezTo>
                    <a:pt x="1720215" y="31433"/>
                    <a:pt x="1717358" y="30480"/>
                    <a:pt x="1713548" y="28575"/>
                  </a:cubicBezTo>
                  <a:cubicBezTo>
                    <a:pt x="1708785" y="26670"/>
                    <a:pt x="1704023" y="24765"/>
                    <a:pt x="1698308" y="23813"/>
                  </a:cubicBezTo>
                  <a:cubicBezTo>
                    <a:pt x="1695450" y="22860"/>
                    <a:pt x="1691640" y="21908"/>
                    <a:pt x="1688783" y="20955"/>
                  </a:cubicBezTo>
                  <a:cubicBezTo>
                    <a:pt x="1684020" y="19050"/>
                    <a:pt x="1678305" y="18098"/>
                    <a:pt x="1672590" y="16193"/>
                  </a:cubicBezTo>
                  <a:cubicBezTo>
                    <a:pt x="1669733" y="15240"/>
                    <a:pt x="1665923" y="14288"/>
                    <a:pt x="1663065" y="14288"/>
                  </a:cubicBezTo>
                  <a:cubicBezTo>
                    <a:pt x="1657350" y="13335"/>
                    <a:pt x="1652588" y="11430"/>
                    <a:pt x="1646873" y="10478"/>
                  </a:cubicBezTo>
                  <a:cubicBezTo>
                    <a:pt x="1641158" y="9525"/>
                    <a:pt x="1635443" y="8573"/>
                    <a:pt x="1629728" y="7620"/>
                  </a:cubicBezTo>
                  <a:cubicBezTo>
                    <a:pt x="1624965" y="6668"/>
                    <a:pt x="1619250" y="5715"/>
                    <a:pt x="1614488" y="4763"/>
                  </a:cubicBezTo>
                  <a:cubicBezTo>
                    <a:pt x="1607820" y="3810"/>
                    <a:pt x="1601153" y="2858"/>
                    <a:pt x="1595438" y="1905"/>
                  </a:cubicBezTo>
                  <a:cubicBezTo>
                    <a:pt x="1592580" y="1905"/>
                    <a:pt x="1589723" y="1905"/>
                    <a:pt x="1586865" y="953"/>
                  </a:cubicBezTo>
                  <a:cubicBezTo>
                    <a:pt x="1580198" y="0"/>
                    <a:pt x="1574483" y="0"/>
                    <a:pt x="1567815" y="0"/>
                  </a:cubicBezTo>
                  <a:cubicBezTo>
                    <a:pt x="1564958" y="0"/>
                    <a:pt x="1561148" y="0"/>
                    <a:pt x="1558290" y="0"/>
                  </a:cubicBezTo>
                  <a:cubicBezTo>
                    <a:pt x="1552575" y="0"/>
                    <a:pt x="1546860" y="0"/>
                    <a:pt x="1541145" y="0"/>
                  </a:cubicBezTo>
                  <a:cubicBezTo>
                    <a:pt x="1540193" y="0"/>
                    <a:pt x="1539240" y="0"/>
                    <a:pt x="1539240" y="0"/>
                  </a:cubicBezTo>
                  <a:cubicBezTo>
                    <a:pt x="1532573" y="0"/>
                    <a:pt x="1525905" y="0"/>
                    <a:pt x="1518285" y="0"/>
                  </a:cubicBezTo>
                  <a:cubicBezTo>
                    <a:pt x="1517333" y="0"/>
                    <a:pt x="1517333" y="0"/>
                    <a:pt x="1516380" y="0"/>
                  </a:cubicBezTo>
                  <a:cubicBezTo>
                    <a:pt x="1508760" y="0"/>
                    <a:pt x="1501140" y="953"/>
                    <a:pt x="1493520" y="1905"/>
                  </a:cubicBezTo>
                  <a:cubicBezTo>
                    <a:pt x="1492568" y="1905"/>
                    <a:pt x="1491615" y="1905"/>
                    <a:pt x="1490663" y="1905"/>
                  </a:cubicBezTo>
                  <a:cubicBezTo>
                    <a:pt x="1429703" y="7620"/>
                    <a:pt x="1372553" y="22860"/>
                    <a:pt x="1319213" y="46673"/>
                  </a:cubicBezTo>
                  <a:cubicBezTo>
                    <a:pt x="1317308" y="47625"/>
                    <a:pt x="1316355" y="47625"/>
                    <a:pt x="1314450" y="48578"/>
                  </a:cubicBezTo>
                  <a:cubicBezTo>
                    <a:pt x="1307783" y="51435"/>
                    <a:pt x="1301115" y="54293"/>
                    <a:pt x="1295400" y="58103"/>
                  </a:cubicBezTo>
                  <a:cubicBezTo>
                    <a:pt x="1293495" y="59055"/>
                    <a:pt x="1291590" y="60008"/>
                    <a:pt x="1290638" y="60960"/>
                  </a:cubicBezTo>
                  <a:cubicBezTo>
                    <a:pt x="1284923" y="63818"/>
                    <a:pt x="1280160" y="66675"/>
                    <a:pt x="1274445" y="69533"/>
                  </a:cubicBezTo>
                  <a:cubicBezTo>
                    <a:pt x="1271588" y="71438"/>
                    <a:pt x="1268730" y="73343"/>
                    <a:pt x="1265873" y="74295"/>
                  </a:cubicBezTo>
                  <a:cubicBezTo>
                    <a:pt x="1262063" y="76200"/>
                    <a:pt x="1259205" y="78105"/>
                    <a:pt x="1255395" y="80963"/>
                  </a:cubicBezTo>
                  <a:cubicBezTo>
                    <a:pt x="1249680" y="83820"/>
                    <a:pt x="1244918" y="87630"/>
                    <a:pt x="1239203" y="91440"/>
                  </a:cubicBezTo>
                  <a:cubicBezTo>
                    <a:pt x="1236345" y="93345"/>
                    <a:pt x="1233488" y="95250"/>
                    <a:pt x="1231583" y="97155"/>
                  </a:cubicBezTo>
                  <a:cubicBezTo>
                    <a:pt x="1227773" y="100013"/>
                    <a:pt x="1223963" y="101918"/>
                    <a:pt x="1221105" y="104775"/>
                  </a:cubicBezTo>
                  <a:cubicBezTo>
                    <a:pt x="1218248" y="106680"/>
                    <a:pt x="1216343" y="108585"/>
                    <a:pt x="1213485" y="110490"/>
                  </a:cubicBezTo>
                  <a:cubicBezTo>
                    <a:pt x="1207770" y="114300"/>
                    <a:pt x="1202055" y="119063"/>
                    <a:pt x="1197293" y="123825"/>
                  </a:cubicBezTo>
                  <a:cubicBezTo>
                    <a:pt x="1194435" y="125730"/>
                    <a:pt x="1191578" y="128588"/>
                    <a:pt x="1189673" y="130493"/>
                  </a:cubicBezTo>
                  <a:cubicBezTo>
                    <a:pt x="1186815" y="133350"/>
                    <a:pt x="1183958" y="135255"/>
                    <a:pt x="1181100" y="138113"/>
                  </a:cubicBezTo>
                  <a:cubicBezTo>
                    <a:pt x="1176338" y="141923"/>
                    <a:pt x="1172528" y="145733"/>
                    <a:pt x="1167765" y="150495"/>
                  </a:cubicBezTo>
                  <a:cubicBezTo>
                    <a:pt x="1164908" y="152400"/>
                    <a:pt x="1163003" y="155258"/>
                    <a:pt x="1160145" y="158115"/>
                  </a:cubicBezTo>
                  <a:cubicBezTo>
                    <a:pt x="1156335" y="161925"/>
                    <a:pt x="1152525" y="165735"/>
                    <a:pt x="1148715" y="170498"/>
                  </a:cubicBezTo>
                  <a:cubicBezTo>
                    <a:pt x="1146810" y="172403"/>
                    <a:pt x="1144905" y="174308"/>
                    <a:pt x="1143953" y="176213"/>
                  </a:cubicBezTo>
                  <a:cubicBezTo>
                    <a:pt x="1138238" y="181928"/>
                    <a:pt x="1133475" y="187643"/>
                    <a:pt x="1128713" y="193358"/>
                  </a:cubicBezTo>
                  <a:cubicBezTo>
                    <a:pt x="1128713" y="193358"/>
                    <a:pt x="1127760" y="194310"/>
                    <a:pt x="1127760" y="194310"/>
                  </a:cubicBezTo>
                  <a:cubicBezTo>
                    <a:pt x="1126808" y="195263"/>
                    <a:pt x="1126808" y="196215"/>
                    <a:pt x="1125855" y="197168"/>
                  </a:cubicBezTo>
                  <a:cubicBezTo>
                    <a:pt x="1121093" y="202883"/>
                    <a:pt x="1116330" y="208598"/>
                    <a:pt x="1112520" y="214313"/>
                  </a:cubicBezTo>
                  <a:cubicBezTo>
                    <a:pt x="1111568" y="215265"/>
                    <a:pt x="1110615" y="216218"/>
                    <a:pt x="1109663" y="217170"/>
                  </a:cubicBezTo>
                  <a:cubicBezTo>
                    <a:pt x="1104900" y="223838"/>
                    <a:pt x="1100138" y="229553"/>
                    <a:pt x="1095375" y="236220"/>
                  </a:cubicBezTo>
                  <a:cubicBezTo>
                    <a:pt x="1094423" y="238125"/>
                    <a:pt x="1093470" y="240030"/>
                    <a:pt x="1091565" y="240983"/>
                  </a:cubicBezTo>
                  <a:cubicBezTo>
                    <a:pt x="1087755" y="246698"/>
                    <a:pt x="1083945" y="252413"/>
                    <a:pt x="1080135" y="258128"/>
                  </a:cubicBezTo>
                  <a:cubicBezTo>
                    <a:pt x="1079183" y="259080"/>
                    <a:pt x="1079183" y="260033"/>
                    <a:pt x="1078230" y="260985"/>
                  </a:cubicBezTo>
                  <a:cubicBezTo>
                    <a:pt x="1075373" y="265748"/>
                    <a:pt x="1072515" y="271463"/>
                    <a:pt x="1069658" y="276225"/>
                  </a:cubicBezTo>
                  <a:cubicBezTo>
                    <a:pt x="1068705" y="277178"/>
                    <a:pt x="1068705" y="278130"/>
                    <a:pt x="1067753" y="279083"/>
                  </a:cubicBezTo>
                  <a:cubicBezTo>
                    <a:pt x="1064895" y="284798"/>
                    <a:pt x="1062038" y="290513"/>
                    <a:pt x="1059180" y="296228"/>
                  </a:cubicBezTo>
                  <a:cubicBezTo>
                    <a:pt x="1058228" y="299085"/>
                    <a:pt x="1056323" y="301943"/>
                    <a:pt x="1055370" y="303848"/>
                  </a:cubicBezTo>
                  <a:cubicBezTo>
                    <a:pt x="1052513" y="310515"/>
                    <a:pt x="1048703" y="317183"/>
                    <a:pt x="1045845" y="323850"/>
                  </a:cubicBezTo>
                  <a:cubicBezTo>
                    <a:pt x="1044893" y="325755"/>
                    <a:pt x="1043940" y="327660"/>
                    <a:pt x="1042988" y="329565"/>
                  </a:cubicBezTo>
                  <a:cubicBezTo>
                    <a:pt x="1035368" y="346710"/>
                    <a:pt x="1028700" y="364808"/>
                    <a:pt x="1023938" y="382905"/>
                  </a:cubicBezTo>
                  <a:cubicBezTo>
                    <a:pt x="1023938" y="382905"/>
                    <a:pt x="1023938" y="383858"/>
                    <a:pt x="1023938" y="383858"/>
                  </a:cubicBezTo>
                  <a:cubicBezTo>
                    <a:pt x="1022985" y="386715"/>
                    <a:pt x="1022033" y="390525"/>
                    <a:pt x="1021080" y="393383"/>
                  </a:cubicBezTo>
                  <a:cubicBezTo>
                    <a:pt x="1001078" y="447675"/>
                    <a:pt x="950595" y="485775"/>
                    <a:pt x="890588" y="485775"/>
                  </a:cubicBezTo>
                  <a:lnTo>
                    <a:pt x="886778" y="485775"/>
                  </a:lnTo>
                  <a:cubicBezTo>
                    <a:pt x="842010" y="485775"/>
                    <a:pt x="804863" y="457200"/>
                    <a:pt x="791528" y="417195"/>
                  </a:cubicBezTo>
                  <a:cubicBezTo>
                    <a:pt x="791528" y="416243"/>
                    <a:pt x="790575" y="414338"/>
                    <a:pt x="790575" y="413385"/>
                  </a:cubicBezTo>
                  <a:cubicBezTo>
                    <a:pt x="768668" y="347663"/>
                    <a:pt x="731520" y="289560"/>
                    <a:pt x="681990" y="243840"/>
                  </a:cubicBezTo>
                  <a:cubicBezTo>
                    <a:pt x="609600" y="176213"/>
                    <a:pt x="512445" y="134303"/>
                    <a:pt x="405765" y="134303"/>
                  </a:cubicBezTo>
                  <a:cubicBezTo>
                    <a:pt x="180975" y="135255"/>
                    <a:pt x="0" y="316230"/>
                    <a:pt x="0" y="540068"/>
                  </a:cubicBezTo>
                  <a:cubicBezTo>
                    <a:pt x="0" y="763905"/>
                    <a:pt x="180975" y="944880"/>
                    <a:pt x="404813" y="944880"/>
                  </a:cubicBezTo>
                  <a:cubicBezTo>
                    <a:pt x="511493" y="944880"/>
                    <a:pt x="608648" y="902970"/>
                    <a:pt x="681038" y="835343"/>
                  </a:cubicBezTo>
                  <a:cubicBezTo>
                    <a:pt x="730568" y="789623"/>
                    <a:pt x="767715" y="731520"/>
                    <a:pt x="789623" y="665798"/>
                  </a:cubicBezTo>
                  <a:cubicBezTo>
                    <a:pt x="789623" y="664845"/>
                    <a:pt x="790575" y="662940"/>
                    <a:pt x="790575" y="661988"/>
                  </a:cubicBezTo>
                  <a:cubicBezTo>
                    <a:pt x="803910" y="621983"/>
                    <a:pt x="842010" y="593408"/>
                    <a:pt x="885825" y="593408"/>
                  </a:cubicBezTo>
                  <a:lnTo>
                    <a:pt x="889635" y="593408"/>
                  </a:lnTo>
                  <a:cubicBezTo>
                    <a:pt x="949643" y="593408"/>
                    <a:pt x="1000125" y="632460"/>
                    <a:pt x="1017270" y="685800"/>
                  </a:cubicBezTo>
                  <a:cubicBezTo>
                    <a:pt x="1018223" y="688658"/>
                    <a:pt x="1019175" y="692468"/>
                    <a:pt x="1020128" y="695325"/>
                  </a:cubicBezTo>
                  <a:cubicBezTo>
                    <a:pt x="1021080" y="698183"/>
                    <a:pt x="1022033" y="701993"/>
                    <a:pt x="1022985" y="704850"/>
                  </a:cubicBezTo>
                  <a:cubicBezTo>
                    <a:pt x="1023938" y="709613"/>
                    <a:pt x="1025843" y="713423"/>
                    <a:pt x="1026795" y="718185"/>
                  </a:cubicBezTo>
                  <a:cubicBezTo>
                    <a:pt x="1028700" y="721995"/>
                    <a:pt x="1029653" y="726758"/>
                    <a:pt x="1031558" y="730568"/>
                  </a:cubicBezTo>
                  <a:cubicBezTo>
                    <a:pt x="1033463" y="735330"/>
                    <a:pt x="1035368" y="740093"/>
                    <a:pt x="1037273" y="744855"/>
                  </a:cubicBezTo>
                  <a:cubicBezTo>
                    <a:pt x="1038225" y="748665"/>
                    <a:pt x="1040130" y="751523"/>
                    <a:pt x="1042035" y="755333"/>
                  </a:cubicBezTo>
                  <a:cubicBezTo>
                    <a:pt x="1044893" y="761048"/>
                    <a:pt x="1046798" y="766763"/>
                    <a:pt x="1049655" y="772478"/>
                  </a:cubicBezTo>
                  <a:cubicBezTo>
                    <a:pt x="1050608" y="775335"/>
                    <a:pt x="1051560" y="777240"/>
                    <a:pt x="1053465" y="780098"/>
                  </a:cubicBezTo>
                  <a:cubicBezTo>
                    <a:pt x="1057275" y="787718"/>
                    <a:pt x="1061085" y="794385"/>
                    <a:pt x="1064895" y="802005"/>
                  </a:cubicBezTo>
                  <a:cubicBezTo>
                    <a:pt x="1064895" y="802958"/>
                    <a:pt x="1065848" y="802958"/>
                    <a:pt x="1065848" y="803910"/>
                  </a:cubicBezTo>
                  <a:cubicBezTo>
                    <a:pt x="1065848" y="803910"/>
                    <a:pt x="1065848" y="804863"/>
                    <a:pt x="1065848" y="804863"/>
                  </a:cubicBezTo>
                  <a:cubicBezTo>
                    <a:pt x="1067753" y="808673"/>
                    <a:pt x="1070610" y="812483"/>
                    <a:pt x="1072515" y="816293"/>
                  </a:cubicBezTo>
                  <a:cubicBezTo>
                    <a:pt x="1073468" y="818198"/>
                    <a:pt x="1075373" y="820103"/>
                    <a:pt x="1076325" y="822960"/>
                  </a:cubicBezTo>
                  <a:cubicBezTo>
                    <a:pt x="1084898" y="836295"/>
                    <a:pt x="1093470" y="848678"/>
                    <a:pt x="1102043" y="862013"/>
                  </a:cubicBezTo>
                  <a:cubicBezTo>
                    <a:pt x="1102995" y="862965"/>
                    <a:pt x="1103948" y="864870"/>
                    <a:pt x="1104900" y="865823"/>
                  </a:cubicBezTo>
                  <a:cubicBezTo>
                    <a:pt x="1110615" y="873443"/>
                    <a:pt x="1116330" y="880110"/>
                    <a:pt x="1122045" y="886778"/>
                  </a:cubicBezTo>
                  <a:cubicBezTo>
                    <a:pt x="1122998" y="887730"/>
                    <a:pt x="1123950" y="889635"/>
                    <a:pt x="1125855" y="890588"/>
                  </a:cubicBezTo>
                  <a:cubicBezTo>
                    <a:pt x="1128713" y="894398"/>
                    <a:pt x="1131570" y="897255"/>
                    <a:pt x="1134428" y="901065"/>
                  </a:cubicBezTo>
                  <a:cubicBezTo>
                    <a:pt x="1136333" y="903923"/>
                    <a:pt x="1139190" y="905828"/>
                    <a:pt x="1142048" y="908685"/>
                  </a:cubicBezTo>
                  <a:cubicBezTo>
                    <a:pt x="1145858" y="912495"/>
                    <a:pt x="1149668" y="916305"/>
                    <a:pt x="1153478" y="920115"/>
                  </a:cubicBezTo>
                  <a:cubicBezTo>
                    <a:pt x="1157288" y="923925"/>
                    <a:pt x="1161098" y="927735"/>
                    <a:pt x="1164908" y="931545"/>
                  </a:cubicBezTo>
                  <a:cubicBezTo>
                    <a:pt x="1166813" y="933450"/>
                    <a:pt x="1169670" y="935355"/>
                    <a:pt x="1171575" y="937260"/>
                  </a:cubicBezTo>
                  <a:cubicBezTo>
                    <a:pt x="1177290" y="942023"/>
                    <a:pt x="1183005" y="947738"/>
                    <a:pt x="1188720" y="952500"/>
                  </a:cubicBezTo>
                  <a:cubicBezTo>
                    <a:pt x="1188720" y="952500"/>
                    <a:pt x="1189673" y="952500"/>
                    <a:pt x="1189673" y="953453"/>
                  </a:cubicBezTo>
                  <a:cubicBezTo>
                    <a:pt x="1191578" y="955358"/>
                    <a:pt x="1194435" y="957263"/>
                    <a:pt x="1196340" y="959168"/>
                  </a:cubicBezTo>
                  <a:cubicBezTo>
                    <a:pt x="1198245" y="961073"/>
                    <a:pt x="1201103" y="962978"/>
                    <a:pt x="1203008" y="964883"/>
                  </a:cubicBezTo>
                  <a:cubicBezTo>
                    <a:pt x="1205865" y="966788"/>
                    <a:pt x="1207770" y="968693"/>
                    <a:pt x="1210628" y="970598"/>
                  </a:cubicBezTo>
                  <a:cubicBezTo>
                    <a:pt x="1212533" y="972503"/>
                    <a:pt x="1215390" y="974408"/>
                    <a:pt x="1217295" y="976313"/>
                  </a:cubicBezTo>
                  <a:cubicBezTo>
                    <a:pt x="1220153" y="978218"/>
                    <a:pt x="1222058" y="980123"/>
                    <a:pt x="1224915" y="982028"/>
                  </a:cubicBezTo>
                  <a:cubicBezTo>
                    <a:pt x="1226820" y="983933"/>
                    <a:pt x="1229678" y="984885"/>
                    <a:pt x="1231583" y="986790"/>
                  </a:cubicBezTo>
                  <a:cubicBezTo>
                    <a:pt x="1234440" y="988695"/>
                    <a:pt x="1237298" y="990600"/>
                    <a:pt x="1240155" y="992505"/>
                  </a:cubicBezTo>
                  <a:cubicBezTo>
                    <a:pt x="1242060" y="994410"/>
                    <a:pt x="1244918" y="995363"/>
                    <a:pt x="1246823" y="996315"/>
                  </a:cubicBezTo>
                  <a:cubicBezTo>
                    <a:pt x="1249680" y="998220"/>
                    <a:pt x="1252538" y="1000125"/>
                    <a:pt x="1255395" y="1002030"/>
                  </a:cubicBezTo>
                  <a:cubicBezTo>
                    <a:pt x="1257300" y="1002983"/>
                    <a:pt x="1259205" y="1004888"/>
                    <a:pt x="1262063" y="1005840"/>
                  </a:cubicBezTo>
                  <a:cubicBezTo>
                    <a:pt x="1264920" y="1007745"/>
                    <a:pt x="1268730" y="1009650"/>
                    <a:pt x="1271588" y="1011555"/>
                  </a:cubicBezTo>
                  <a:cubicBezTo>
                    <a:pt x="1273493" y="1012508"/>
                    <a:pt x="1275398" y="1013460"/>
                    <a:pt x="1277303" y="1015365"/>
                  </a:cubicBezTo>
                  <a:cubicBezTo>
                    <a:pt x="1280160" y="1017270"/>
                    <a:pt x="1283970" y="1019175"/>
                    <a:pt x="1286828" y="1020128"/>
                  </a:cubicBezTo>
                  <a:cubicBezTo>
                    <a:pt x="1288733" y="1021080"/>
                    <a:pt x="1290638" y="1022033"/>
                    <a:pt x="1292543" y="1022985"/>
                  </a:cubicBezTo>
                  <a:cubicBezTo>
                    <a:pt x="1295400" y="1024890"/>
                    <a:pt x="1299210" y="1025843"/>
                    <a:pt x="1302068" y="1027748"/>
                  </a:cubicBezTo>
                  <a:cubicBezTo>
                    <a:pt x="1303973" y="1028700"/>
                    <a:pt x="1305878" y="1029653"/>
                    <a:pt x="1308735" y="1030605"/>
                  </a:cubicBezTo>
                  <a:cubicBezTo>
                    <a:pt x="1311593" y="1032510"/>
                    <a:pt x="1315403" y="1033463"/>
                    <a:pt x="1318260" y="1035368"/>
                  </a:cubicBezTo>
                  <a:cubicBezTo>
                    <a:pt x="1320165" y="1036320"/>
                    <a:pt x="1323023" y="1037273"/>
                    <a:pt x="1324928" y="1038225"/>
                  </a:cubicBezTo>
                  <a:cubicBezTo>
                    <a:pt x="1327785" y="1039178"/>
                    <a:pt x="1331595" y="1041083"/>
                    <a:pt x="1334453" y="1042035"/>
                  </a:cubicBezTo>
                  <a:cubicBezTo>
                    <a:pt x="1336358" y="1042988"/>
                    <a:pt x="1339215" y="1043940"/>
                    <a:pt x="1341120" y="1044893"/>
                  </a:cubicBezTo>
                  <a:cubicBezTo>
                    <a:pt x="1343978" y="1045845"/>
                    <a:pt x="1347788" y="1046798"/>
                    <a:pt x="1350645" y="1048703"/>
                  </a:cubicBezTo>
                  <a:cubicBezTo>
                    <a:pt x="1353503" y="1049655"/>
                    <a:pt x="1355408" y="1050608"/>
                    <a:pt x="1358265" y="1051560"/>
                  </a:cubicBezTo>
                  <a:cubicBezTo>
                    <a:pt x="1361123" y="1052513"/>
                    <a:pt x="1363980" y="1053465"/>
                    <a:pt x="1366838" y="1054418"/>
                  </a:cubicBezTo>
                  <a:cubicBezTo>
                    <a:pt x="1369695" y="1055370"/>
                    <a:pt x="1372553" y="1056323"/>
                    <a:pt x="1375410" y="1057275"/>
                  </a:cubicBezTo>
                  <a:cubicBezTo>
                    <a:pt x="1378268" y="1058228"/>
                    <a:pt x="1381125" y="1059180"/>
                    <a:pt x="1383983" y="1060133"/>
                  </a:cubicBezTo>
                  <a:cubicBezTo>
                    <a:pt x="1386840" y="1061085"/>
                    <a:pt x="1389698" y="1062038"/>
                    <a:pt x="1392555" y="1062990"/>
                  </a:cubicBezTo>
                  <a:cubicBezTo>
                    <a:pt x="1395413" y="1063943"/>
                    <a:pt x="1398270" y="1064895"/>
                    <a:pt x="1401128" y="1064895"/>
                  </a:cubicBezTo>
                  <a:cubicBezTo>
                    <a:pt x="1403985" y="1065848"/>
                    <a:pt x="1406843" y="1066800"/>
                    <a:pt x="1410653" y="1066800"/>
                  </a:cubicBezTo>
                  <a:cubicBezTo>
                    <a:pt x="1413510" y="1067753"/>
                    <a:pt x="1416368" y="1067753"/>
                    <a:pt x="1419225" y="1068705"/>
                  </a:cubicBezTo>
                  <a:cubicBezTo>
                    <a:pt x="1422083" y="1069658"/>
                    <a:pt x="1424940" y="1069658"/>
                    <a:pt x="1428750" y="1070610"/>
                  </a:cubicBezTo>
                  <a:cubicBezTo>
                    <a:pt x="1431608" y="1071563"/>
                    <a:pt x="1434465" y="1071563"/>
                    <a:pt x="1437323" y="1072515"/>
                  </a:cubicBezTo>
                  <a:cubicBezTo>
                    <a:pt x="1440180" y="1073468"/>
                    <a:pt x="1443038" y="1073468"/>
                    <a:pt x="1445895" y="1074420"/>
                  </a:cubicBezTo>
                  <a:cubicBezTo>
                    <a:pt x="1448753" y="1075373"/>
                    <a:pt x="1451610" y="1075373"/>
                    <a:pt x="1455420" y="1075373"/>
                  </a:cubicBezTo>
                  <a:cubicBezTo>
                    <a:pt x="1458278" y="1075373"/>
                    <a:pt x="1461135" y="1076325"/>
                    <a:pt x="1463993" y="1076325"/>
                  </a:cubicBezTo>
                  <a:cubicBezTo>
                    <a:pt x="1466850" y="1076325"/>
                    <a:pt x="1470660" y="1077278"/>
                    <a:pt x="1473518" y="1077278"/>
                  </a:cubicBezTo>
                  <a:cubicBezTo>
                    <a:pt x="1476375" y="1077278"/>
                    <a:pt x="1479233" y="1078230"/>
                    <a:pt x="1481138" y="1078230"/>
                  </a:cubicBezTo>
                  <a:cubicBezTo>
                    <a:pt x="1484948" y="1078230"/>
                    <a:pt x="1487805" y="1079183"/>
                    <a:pt x="1491615" y="1079183"/>
                  </a:cubicBezTo>
                  <a:cubicBezTo>
                    <a:pt x="1494473" y="1079183"/>
                    <a:pt x="1496378" y="1079183"/>
                    <a:pt x="1499235" y="1080135"/>
                  </a:cubicBezTo>
                  <a:cubicBezTo>
                    <a:pt x="1503045" y="1080135"/>
                    <a:pt x="1506855" y="1080135"/>
                    <a:pt x="1510665" y="1081088"/>
                  </a:cubicBezTo>
                  <a:cubicBezTo>
                    <a:pt x="1512570" y="1081088"/>
                    <a:pt x="1515428" y="1081088"/>
                    <a:pt x="1517333" y="1081088"/>
                  </a:cubicBezTo>
                  <a:cubicBezTo>
                    <a:pt x="1521143" y="1081088"/>
                    <a:pt x="1524953" y="1081088"/>
                    <a:pt x="1529715" y="1081088"/>
                  </a:cubicBezTo>
                  <a:cubicBezTo>
                    <a:pt x="1531620" y="1081088"/>
                    <a:pt x="1533525" y="1081088"/>
                    <a:pt x="1535430" y="1081088"/>
                  </a:cubicBezTo>
                  <a:cubicBezTo>
                    <a:pt x="1535430" y="1081088"/>
                    <a:pt x="1535430" y="1081088"/>
                    <a:pt x="1536383" y="1081088"/>
                  </a:cubicBezTo>
                  <a:cubicBezTo>
                    <a:pt x="1544003" y="1081088"/>
                    <a:pt x="1551623" y="1081088"/>
                    <a:pt x="1560195" y="1080135"/>
                  </a:cubicBezTo>
                  <a:cubicBezTo>
                    <a:pt x="1563053" y="1080135"/>
                    <a:pt x="1564958" y="1080135"/>
                    <a:pt x="1567815" y="1080135"/>
                  </a:cubicBezTo>
                  <a:cubicBezTo>
                    <a:pt x="1573530" y="1080135"/>
                    <a:pt x="1580198" y="1079183"/>
                    <a:pt x="1585913" y="1079183"/>
                  </a:cubicBezTo>
                  <a:cubicBezTo>
                    <a:pt x="1589723" y="1079183"/>
                    <a:pt x="1594485" y="1078230"/>
                    <a:pt x="1598295" y="1078230"/>
                  </a:cubicBezTo>
                  <a:cubicBezTo>
                    <a:pt x="1602105" y="1077278"/>
                    <a:pt x="1606868" y="1077278"/>
                    <a:pt x="1610678" y="1076325"/>
                  </a:cubicBezTo>
                  <a:cubicBezTo>
                    <a:pt x="1614488" y="1075373"/>
                    <a:pt x="1619250" y="1075373"/>
                    <a:pt x="1623060" y="1074420"/>
                  </a:cubicBezTo>
                  <a:cubicBezTo>
                    <a:pt x="1625918" y="1074420"/>
                    <a:pt x="1628775" y="1073468"/>
                    <a:pt x="1631633" y="1072515"/>
                  </a:cubicBezTo>
                  <a:cubicBezTo>
                    <a:pt x="1639253" y="1071563"/>
                    <a:pt x="1646873" y="1069658"/>
                    <a:pt x="1654493" y="1067753"/>
                  </a:cubicBezTo>
                  <a:cubicBezTo>
                    <a:pt x="1656398" y="1066800"/>
                    <a:pt x="1659255" y="1066800"/>
                    <a:pt x="1661160" y="1065848"/>
                  </a:cubicBezTo>
                  <a:cubicBezTo>
                    <a:pt x="1665923" y="1064895"/>
                    <a:pt x="1670685" y="1063943"/>
                    <a:pt x="1675448" y="1062038"/>
                  </a:cubicBezTo>
                  <a:cubicBezTo>
                    <a:pt x="1676400" y="1062038"/>
                    <a:pt x="1677353" y="1062038"/>
                    <a:pt x="1678305" y="1061085"/>
                  </a:cubicBezTo>
                  <a:cubicBezTo>
                    <a:pt x="1686878" y="1058228"/>
                    <a:pt x="1696403" y="1056323"/>
                    <a:pt x="1704975" y="1052513"/>
                  </a:cubicBezTo>
                  <a:cubicBezTo>
                    <a:pt x="1707833" y="1051560"/>
                    <a:pt x="1710690" y="1050608"/>
                    <a:pt x="1713548" y="1049655"/>
                  </a:cubicBezTo>
                  <a:cubicBezTo>
                    <a:pt x="1717358" y="1048703"/>
                    <a:pt x="1721168" y="1046798"/>
                    <a:pt x="1724978" y="1045845"/>
                  </a:cubicBezTo>
                  <a:cubicBezTo>
                    <a:pt x="1724978" y="1045845"/>
                    <a:pt x="1725930" y="1045845"/>
                    <a:pt x="1725930" y="1045845"/>
                  </a:cubicBezTo>
                  <a:cubicBezTo>
                    <a:pt x="1726883" y="1045845"/>
                    <a:pt x="1727835" y="1044893"/>
                    <a:pt x="1728788" y="1044893"/>
                  </a:cubicBezTo>
                  <a:cubicBezTo>
                    <a:pt x="1736408" y="1042035"/>
                    <a:pt x="1743075" y="1039178"/>
                    <a:pt x="1749743" y="1036320"/>
                  </a:cubicBezTo>
                  <a:cubicBezTo>
                    <a:pt x="1752600" y="1035368"/>
                    <a:pt x="1755458" y="1033463"/>
                    <a:pt x="1757363" y="1032510"/>
                  </a:cubicBezTo>
                  <a:cubicBezTo>
                    <a:pt x="1763078" y="1029653"/>
                    <a:pt x="1768793" y="1027748"/>
                    <a:pt x="1773555" y="1024890"/>
                  </a:cubicBezTo>
                  <a:cubicBezTo>
                    <a:pt x="1777365" y="1022985"/>
                    <a:pt x="1780223" y="1021080"/>
                    <a:pt x="1784033" y="1019175"/>
                  </a:cubicBezTo>
                  <a:cubicBezTo>
                    <a:pt x="1788795" y="1017270"/>
                    <a:pt x="1792605" y="1014413"/>
                    <a:pt x="1797368" y="1012508"/>
                  </a:cubicBezTo>
                  <a:cubicBezTo>
                    <a:pt x="1801178" y="1010603"/>
                    <a:pt x="1805940" y="1007745"/>
                    <a:pt x="1809750" y="1005840"/>
                  </a:cubicBezTo>
                  <a:cubicBezTo>
                    <a:pt x="1813560" y="1003935"/>
                    <a:pt x="1817370" y="1001078"/>
                    <a:pt x="1820228" y="999173"/>
                  </a:cubicBezTo>
                  <a:cubicBezTo>
                    <a:pt x="1823085" y="997268"/>
                    <a:pt x="1825943" y="995363"/>
                    <a:pt x="1828800" y="993458"/>
                  </a:cubicBezTo>
                  <a:cubicBezTo>
                    <a:pt x="1831658" y="991553"/>
                    <a:pt x="1834515" y="989648"/>
                    <a:pt x="1837373" y="987743"/>
                  </a:cubicBezTo>
                  <a:cubicBezTo>
                    <a:pt x="1885950" y="958215"/>
                    <a:pt x="1948815" y="961073"/>
                    <a:pt x="1994535" y="999173"/>
                  </a:cubicBezTo>
                  <a:lnTo>
                    <a:pt x="1995488" y="1000125"/>
                  </a:lnTo>
                  <a:cubicBezTo>
                    <a:pt x="2054543" y="1049655"/>
                    <a:pt x="2070735" y="1131570"/>
                    <a:pt x="2041208" y="1198245"/>
                  </a:cubicBezTo>
                  <a:cubicBezTo>
                    <a:pt x="2040255" y="1200150"/>
                    <a:pt x="2039303" y="1202055"/>
                    <a:pt x="2038350" y="1203960"/>
                  </a:cubicBezTo>
                  <a:cubicBezTo>
                    <a:pt x="2007870" y="1270635"/>
                    <a:pt x="1988820" y="1342073"/>
                    <a:pt x="1982153" y="1413510"/>
                  </a:cubicBezTo>
                  <a:cubicBezTo>
                    <a:pt x="1960245" y="1628775"/>
                    <a:pt x="2041208" y="1850708"/>
                    <a:pt x="2219325" y="1999298"/>
                  </a:cubicBezTo>
                  <a:cubicBezTo>
                    <a:pt x="2505075" y="2239328"/>
                    <a:pt x="2930843" y="2202180"/>
                    <a:pt x="3169920" y="1916430"/>
                  </a:cubicBezTo>
                  <a:cubicBezTo>
                    <a:pt x="3416618" y="1629728"/>
                    <a:pt x="3378518" y="1203960"/>
                    <a:pt x="3093720" y="96393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0000"/>
                </a:solidFill>
                <a:effectLst/>
                <a:uLnTx/>
                <a:uFillTx/>
                <a:latin typeface="Verdana"/>
                <a:ea typeface="+mn-ea"/>
                <a:cs typeface="+mn-cs"/>
                <a:sym typeface="Helvetica Neue"/>
              </a:endParaRPr>
            </a:p>
          </p:txBody>
        </p:sp>
        <p:sp>
          <p:nvSpPr>
            <p:cNvPr id="21" name="Grafik 19">
              <a:extLst>
                <a:ext uri="{FF2B5EF4-FFF2-40B4-BE49-F238E27FC236}">
                  <a16:creationId xmlns:a16="http://schemas.microsoft.com/office/drawing/2014/main" id="{5B4309B9-49EE-481B-B23E-0639B473573A}"/>
                </a:ext>
              </a:extLst>
            </p:cNvPr>
            <p:cNvSpPr/>
            <p:nvPr/>
          </p:nvSpPr>
          <p:spPr>
            <a:xfrm rot="18807008">
              <a:off x="7035915" y="1813421"/>
              <a:ext cx="1438550" cy="2107336"/>
            </a:xfrm>
            <a:custGeom>
              <a:avLst/>
              <a:gdLst>
                <a:gd name="connsiteX0" fmla="*/ 2701168 w 3617914"/>
                <a:gd name="connsiteY0" fmla="*/ 113654 h 5299894"/>
                <a:gd name="connsiteX1" fmla="*/ 760925 w 3617914"/>
                <a:gd name="connsiteY1" fmla="*/ 917564 h 5299894"/>
                <a:gd name="connsiteX2" fmla="*/ 1133353 w 3617914"/>
                <a:gd name="connsiteY2" fmla="*/ 2584439 h 5299894"/>
                <a:gd name="connsiteX3" fmla="*/ 1267655 w 3617914"/>
                <a:gd name="connsiteY3" fmla="*/ 2693024 h 5299894"/>
                <a:gd name="connsiteX4" fmla="*/ 1271465 w 3617914"/>
                <a:gd name="connsiteY4" fmla="*/ 2695882 h 5299894"/>
                <a:gd name="connsiteX5" fmla="*/ 1391480 w 3617914"/>
                <a:gd name="connsiteY5" fmla="*/ 3134984 h 5299894"/>
                <a:gd name="connsiteX6" fmla="*/ 1333378 w 3617914"/>
                <a:gd name="connsiteY6" fmla="*/ 3275954 h 5299894"/>
                <a:gd name="connsiteX7" fmla="*/ 1083823 w 3617914"/>
                <a:gd name="connsiteY7" fmla="*/ 3419782 h 5299894"/>
                <a:gd name="connsiteX8" fmla="*/ 1077155 w 3617914"/>
                <a:gd name="connsiteY8" fmla="*/ 3418829 h 5299894"/>
                <a:gd name="connsiteX9" fmla="*/ 822838 w 3617914"/>
                <a:gd name="connsiteY9" fmla="*/ 3417877 h 5299894"/>
                <a:gd name="connsiteX10" fmla="*/ 72268 w 3617914"/>
                <a:gd name="connsiteY10" fmla="*/ 3993187 h 5299894"/>
                <a:gd name="connsiteX11" fmla="*/ 583760 w 3617914"/>
                <a:gd name="connsiteY11" fmla="*/ 5227627 h 5299894"/>
                <a:gd name="connsiteX12" fmla="*/ 1818200 w 3617914"/>
                <a:gd name="connsiteY12" fmla="*/ 4716134 h 5299894"/>
                <a:gd name="connsiteX13" fmla="*/ 1694375 w 3617914"/>
                <a:gd name="connsiteY13" fmla="*/ 3778874 h 5299894"/>
                <a:gd name="connsiteX14" fmla="*/ 1513400 w 3617914"/>
                <a:gd name="connsiteY14" fmla="*/ 3599804 h 5299894"/>
                <a:gd name="connsiteX15" fmla="*/ 1507685 w 3617914"/>
                <a:gd name="connsiteY15" fmla="*/ 3595994 h 5299894"/>
                <a:gd name="connsiteX16" fmla="*/ 1432438 w 3617914"/>
                <a:gd name="connsiteY16" fmla="*/ 3317864 h 5299894"/>
                <a:gd name="connsiteX17" fmla="*/ 1490540 w 3617914"/>
                <a:gd name="connsiteY17" fmla="*/ 3176894 h 5299894"/>
                <a:gd name="connsiteX18" fmla="*/ 1885828 w 3617914"/>
                <a:gd name="connsiteY18" fmla="*/ 2951152 h 5299894"/>
                <a:gd name="connsiteX19" fmla="*/ 1889638 w 3617914"/>
                <a:gd name="connsiteY19" fmla="*/ 2952104 h 5299894"/>
                <a:gd name="connsiteX20" fmla="*/ 2061088 w 3617914"/>
                <a:gd name="connsiteY20" fmla="*/ 2970202 h 5299894"/>
                <a:gd name="connsiteX21" fmla="*/ 3503173 w 3617914"/>
                <a:gd name="connsiteY21" fmla="*/ 2054849 h 5299894"/>
                <a:gd name="connsiteX22" fmla="*/ 2701168 w 3617914"/>
                <a:gd name="connsiteY22" fmla="*/ 113654 h 529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7914" h="5299894">
                  <a:moveTo>
                    <a:pt x="2701168" y="113654"/>
                  </a:moveTo>
                  <a:cubicBezTo>
                    <a:pt x="1943930" y="-200671"/>
                    <a:pt x="1075250" y="159374"/>
                    <a:pt x="760925" y="917564"/>
                  </a:cubicBezTo>
                  <a:cubicBezTo>
                    <a:pt x="514228" y="1511924"/>
                    <a:pt x="682820" y="2174864"/>
                    <a:pt x="1133353" y="2584439"/>
                  </a:cubicBezTo>
                  <a:cubicBezTo>
                    <a:pt x="1175263" y="2622539"/>
                    <a:pt x="1220030" y="2658734"/>
                    <a:pt x="1267655" y="2693024"/>
                  </a:cubicBezTo>
                  <a:cubicBezTo>
                    <a:pt x="1268608" y="2693977"/>
                    <a:pt x="1269560" y="2694929"/>
                    <a:pt x="1271465" y="2695882"/>
                  </a:cubicBezTo>
                  <a:cubicBezTo>
                    <a:pt x="1403863" y="2794942"/>
                    <a:pt x="1458155" y="2974964"/>
                    <a:pt x="1391480" y="3134984"/>
                  </a:cubicBezTo>
                  <a:lnTo>
                    <a:pt x="1333378" y="3275954"/>
                  </a:lnTo>
                  <a:cubicBezTo>
                    <a:pt x="1291468" y="3376919"/>
                    <a:pt x="1187645" y="3434069"/>
                    <a:pt x="1083823" y="3419782"/>
                  </a:cubicBezTo>
                  <a:cubicBezTo>
                    <a:pt x="1081918" y="3419782"/>
                    <a:pt x="1079060" y="3418829"/>
                    <a:pt x="1077155" y="3418829"/>
                  </a:cubicBezTo>
                  <a:cubicBezTo>
                    <a:pt x="991430" y="3406447"/>
                    <a:pt x="905705" y="3406447"/>
                    <a:pt x="822838" y="3417877"/>
                  </a:cubicBezTo>
                  <a:cubicBezTo>
                    <a:pt x="498988" y="3460739"/>
                    <a:pt x="206570" y="3670289"/>
                    <a:pt x="72268" y="3993187"/>
                  </a:cubicBezTo>
                  <a:cubicBezTo>
                    <a:pt x="-127757" y="4475152"/>
                    <a:pt x="101795" y="5028555"/>
                    <a:pt x="583760" y="5227627"/>
                  </a:cubicBezTo>
                  <a:cubicBezTo>
                    <a:pt x="1065725" y="5427652"/>
                    <a:pt x="1619128" y="5198100"/>
                    <a:pt x="1818200" y="4716134"/>
                  </a:cubicBezTo>
                  <a:cubicBezTo>
                    <a:pt x="1952503" y="4392284"/>
                    <a:pt x="1893448" y="4037954"/>
                    <a:pt x="1694375" y="3778874"/>
                  </a:cubicBezTo>
                  <a:cubicBezTo>
                    <a:pt x="1642940" y="3712199"/>
                    <a:pt x="1582933" y="3651239"/>
                    <a:pt x="1513400" y="3599804"/>
                  </a:cubicBezTo>
                  <a:cubicBezTo>
                    <a:pt x="1511495" y="3598852"/>
                    <a:pt x="1509590" y="3596947"/>
                    <a:pt x="1507685" y="3595994"/>
                  </a:cubicBezTo>
                  <a:cubicBezTo>
                    <a:pt x="1424818" y="3532177"/>
                    <a:pt x="1391480" y="3418829"/>
                    <a:pt x="1432438" y="3317864"/>
                  </a:cubicBezTo>
                  <a:lnTo>
                    <a:pt x="1490540" y="3176894"/>
                  </a:lnTo>
                  <a:cubicBezTo>
                    <a:pt x="1557215" y="3016874"/>
                    <a:pt x="1721998" y="2927339"/>
                    <a:pt x="1885828" y="2951152"/>
                  </a:cubicBezTo>
                  <a:cubicBezTo>
                    <a:pt x="1886780" y="2951152"/>
                    <a:pt x="1888685" y="2952104"/>
                    <a:pt x="1889638" y="2952104"/>
                  </a:cubicBezTo>
                  <a:cubicBezTo>
                    <a:pt x="1946788" y="2961629"/>
                    <a:pt x="2003938" y="2967344"/>
                    <a:pt x="2061088" y="2970202"/>
                  </a:cubicBezTo>
                  <a:cubicBezTo>
                    <a:pt x="2668783" y="2998777"/>
                    <a:pt x="3257428" y="2649209"/>
                    <a:pt x="3503173" y="2054849"/>
                  </a:cubicBezTo>
                  <a:cubicBezTo>
                    <a:pt x="3819403" y="1296659"/>
                    <a:pt x="3459358" y="427979"/>
                    <a:pt x="2701168" y="113654"/>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0000"/>
                </a:solidFill>
                <a:effectLst/>
                <a:uLnTx/>
                <a:uFillTx/>
                <a:latin typeface="Verdana"/>
                <a:ea typeface="+mn-ea"/>
                <a:cs typeface="+mn-cs"/>
                <a:sym typeface="Helvetica Neue"/>
              </a:endParaRPr>
            </a:p>
          </p:txBody>
        </p:sp>
        <p:sp>
          <p:nvSpPr>
            <p:cNvPr id="25" name="Freihandform: Form 24">
              <a:extLst>
                <a:ext uri="{FF2B5EF4-FFF2-40B4-BE49-F238E27FC236}">
                  <a16:creationId xmlns:a16="http://schemas.microsoft.com/office/drawing/2014/main" id="{6ECE866B-98C5-47CF-8B2D-440395C4B932}"/>
                </a:ext>
              </a:extLst>
            </p:cNvPr>
            <p:cNvSpPr/>
            <p:nvPr/>
          </p:nvSpPr>
          <p:spPr>
            <a:xfrm>
              <a:off x="1448521" y="1328981"/>
              <a:ext cx="7020657" cy="3361408"/>
            </a:xfrm>
            <a:custGeom>
              <a:avLst/>
              <a:gdLst>
                <a:gd name="connsiteX0" fmla="*/ 3648463 w 7020657"/>
                <a:gd name="connsiteY0" fmla="*/ 3109363 h 3361408"/>
                <a:gd name="connsiteX1" fmla="*/ 3515103 w 7020657"/>
                <a:gd name="connsiteY1" fmla="*/ 3123432 h 3361408"/>
                <a:gd name="connsiteX2" fmla="*/ 3461505 w 7020657"/>
                <a:gd name="connsiteY2" fmla="*/ 3118516 h 3361408"/>
                <a:gd name="connsiteX3" fmla="*/ 3515104 w 7020657"/>
                <a:gd name="connsiteY3" fmla="*/ 3123432 h 3361408"/>
                <a:gd name="connsiteX4" fmla="*/ 6124147 w 7020657"/>
                <a:gd name="connsiteY4" fmla="*/ 3002705 h 3361408"/>
                <a:gd name="connsiteX5" fmla="*/ 6188923 w 7020657"/>
                <a:gd name="connsiteY5" fmla="*/ 3072335 h 3361408"/>
                <a:gd name="connsiteX6" fmla="*/ 6926203 w 7020657"/>
                <a:gd name="connsiteY6" fmla="*/ 3324010 h 3361408"/>
                <a:gd name="connsiteX7" fmla="*/ 7014988 w 7020657"/>
                <a:gd name="connsiteY7" fmla="*/ 3310279 h 3361408"/>
                <a:gd name="connsiteX8" fmla="*/ 7001075 w 7020657"/>
                <a:gd name="connsiteY8" fmla="*/ 3338479 h 3361408"/>
                <a:gd name="connsiteX9" fmla="*/ 6940960 w 7020657"/>
                <a:gd name="connsiteY9" fmla="*/ 3361408 h 3361408"/>
                <a:gd name="connsiteX10" fmla="*/ 6618704 w 7020657"/>
                <a:gd name="connsiteY10" fmla="*/ 3361408 h 3361408"/>
                <a:gd name="connsiteX11" fmla="*/ 6395599 w 7020657"/>
                <a:gd name="connsiteY11" fmla="*/ 3321745 h 3361408"/>
                <a:gd name="connsiteX12" fmla="*/ 6246864 w 7020657"/>
                <a:gd name="connsiteY12" fmla="*/ 3227549 h 3361408"/>
                <a:gd name="connsiteX13" fmla="*/ 6241909 w 7020657"/>
                <a:gd name="connsiteY13" fmla="*/ 3222589 h 3361408"/>
                <a:gd name="connsiteX14" fmla="*/ 6207202 w 7020657"/>
                <a:gd name="connsiteY14" fmla="*/ 3182926 h 3361408"/>
                <a:gd name="connsiteX15" fmla="*/ 6202247 w 7020657"/>
                <a:gd name="connsiteY15" fmla="*/ 3177971 h 3361408"/>
                <a:gd name="connsiteX16" fmla="*/ 6177455 w 7020657"/>
                <a:gd name="connsiteY16" fmla="*/ 3138308 h 3361408"/>
                <a:gd name="connsiteX17" fmla="*/ 6177455 w 7020657"/>
                <a:gd name="connsiteY17" fmla="*/ 3133348 h 3361408"/>
                <a:gd name="connsiteX18" fmla="*/ 6152668 w 7020657"/>
                <a:gd name="connsiteY18" fmla="*/ 3088730 h 3361408"/>
                <a:gd name="connsiteX19" fmla="*/ 6132837 w 7020657"/>
                <a:gd name="connsiteY19" fmla="*/ 3039152 h 3361408"/>
                <a:gd name="connsiteX20" fmla="*/ 2420514 w 7020657"/>
                <a:gd name="connsiteY20" fmla="*/ 2406699 h 3361408"/>
                <a:gd name="connsiteX21" fmla="*/ 2498747 w 7020657"/>
                <a:gd name="connsiteY21" fmla="*/ 2478915 h 3361408"/>
                <a:gd name="connsiteX22" fmla="*/ 2718247 w 7020657"/>
                <a:gd name="connsiteY22" fmla="*/ 2677312 h 3361408"/>
                <a:gd name="connsiteX23" fmla="*/ 2498746 w 7020657"/>
                <a:gd name="connsiteY23" fmla="*/ 2478915 h 3361408"/>
                <a:gd name="connsiteX24" fmla="*/ 6103088 w 7020657"/>
                <a:gd name="connsiteY24" fmla="*/ 2290496 h 3361408"/>
                <a:gd name="connsiteX25" fmla="*/ 6103091 w 7020657"/>
                <a:gd name="connsiteY25" fmla="*/ 2290517 h 3361408"/>
                <a:gd name="connsiteX26" fmla="*/ 6103091 w 7020657"/>
                <a:gd name="connsiteY26" fmla="*/ 2840839 h 3361408"/>
                <a:gd name="connsiteX27" fmla="*/ 6108825 w 7020657"/>
                <a:gd name="connsiteY27" fmla="*/ 2921614 h 3361408"/>
                <a:gd name="connsiteX28" fmla="*/ 6103090 w 7020657"/>
                <a:gd name="connsiteY28" fmla="*/ 2840839 h 3361408"/>
                <a:gd name="connsiteX29" fmla="*/ 6103090 w 7020657"/>
                <a:gd name="connsiteY29" fmla="*/ 2290517 h 3361408"/>
                <a:gd name="connsiteX30" fmla="*/ 6077936 w 7020657"/>
                <a:gd name="connsiteY30" fmla="*/ 2122601 h 3361408"/>
                <a:gd name="connsiteX31" fmla="*/ 6084265 w 7020657"/>
                <a:gd name="connsiteY31" fmla="*/ 2137048 h 3361408"/>
                <a:gd name="connsiteX32" fmla="*/ 6086340 w 7020657"/>
                <a:gd name="connsiteY32" fmla="*/ 2153961 h 3361408"/>
                <a:gd name="connsiteX33" fmla="*/ 5051393 w 7020657"/>
                <a:gd name="connsiteY33" fmla="*/ 2021321 h 3361408"/>
                <a:gd name="connsiteX34" fmla="*/ 5027239 w 7020657"/>
                <a:gd name="connsiteY34" fmla="*/ 2037670 h 3361408"/>
                <a:gd name="connsiteX35" fmla="*/ 4906392 w 7020657"/>
                <a:gd name="connsiteY35" fmla="*/ 2135586 h 3361408"/>
                <a:gd name="connsiteX36" fmla="*/ 4877518 w 7020657"/>
                <a:gd name="connsiteY36" fmla="*/ 2161557 h 3361408"/>
                <a:gd name="connsiteX37" fmla="*/ 4906392 w 7020657"/>
                <a:gd name="connsiteY37" fmla="*/ 2135586 h 3361408"/>
                <a:gd name="connsiteX38" fmla="*/ 5027239 w 7020657"/>
                <a:gd name="connsiteY38" fmla="*/ 2037670 h 3361408"/>
                <a:gd name="connsiteX39" fmla="*/ 1696129 w 7020657"/>
                <a:gd name="connsiteY39" fmla="*/ 1848090 h 3361408"/>
                <a:gd name="connsiteX40" fmla="*/ 1710455 w 7020657"/>
                <a:gd name="connsiteY40" fmla="*/ 1854229 h 3361408"/>
                <a:gd name="connsiteX41" fmla="*/ 1755072 w 7020657"/>
                <a:gd name="connsiteY41" fmla="*/ 1879020 h 3361408"/>
                <a:gd name="connsiteX42" fmla="*/ 1998008 w 7020657"/>
                <a:gd name="connsiteY42" fmla="*/ 2032710 h 3361408"/>
                <a:gd name="connsiteX43" fmla="*/ 2260771 w 7020657"/>
                <a:gd name="connsiteY43" fmla="*/ 2260770 h 3361408"/>
                <a:gd name="connsiteX44" fmla="*/ 2265731 w 7020657"/>
                <a:gd name="connsiteY44" fmla="*/ 2265730 h 3361408"/>
                <a:gd name="connsiteX45" fmla="*/ 2290250 w 7020657"/>
                <a:gd name="connsiteY45" fmla="*/ 2287183 h 3361408"/>
                <a:gd name="connsiteX46" fmla="*/ 2265731 w 7020657"/>
                <a:gd name="connsiteY46" fmla="*/ 2265731 h 3361408"/>
                <a:gd name="connsiteX47" fmla="*/ 2260770 w 7020657"/>
                <a:gd name="connsiteY47" fmla="*/ 2260770 h 3361408"/>
                <a:gd name="connsiteX48" fmla="*/ 1998008 w 7020657"/>
                <a:gd name="connsiteY48" fmla="*/ 2032710 h 3361408"/>
                <a:gd name="connsiteX49" fmla="*/ 1755072 w 7020657"/>
                <a:gd name="connsiteY49" fmla="*/ 1879020 h 3361408"/>
                <a:gd name="connsiteX50" fmla="*/ 1710454 w 7020657"/>
                <a:gd name="connsiteY50" fmla="*/ 1854228 h 3361408"/>
                <a:gd name="connsiteX51" fmla="*/ 1636233 w 7020657"/>
                <a:gd name="connsiteY51" fmla="*/ 1215543 h 3361408"/>
                <a:gd name="connsiteX52" fmla="*/ 1826029 w 7020657"/>
                <a:gd name="connsiteY52" fmla="*/ 1323060 h 3361408"/>
                <a:gd name="connsiteX53" fmla="*/ 1826767 w 7020657"/>
                <a:gd name="connsiteY53" fmla="*/ 1325120 h 3361408"/>
                <a:gd name="connsiteX54" fmla="*/ 1809078 w 7020657"/>
                <a:gd name="connsiteY54" fmla="*/ 1558251 h 3361408"/>
                <a:gd name="connsiteX55" fmla="*/ 1805031 w 7020657"/>
                <a:gd name="connsiteY55" fmla="*/ 1563190 h 3361408"/>
                <a:gd name="connsiteX56" fmla="*/ 1670800 w 7020657"/>
                <a:gd name="connsiteY56" fmla="*/ 1772929 h 3361408"/>
                <a:gd name="connsiteX57" fmla="*/ 1649589 w 7020657"/>
                <a:gd name="connsiteY57" fmla="*/ 1831521 h 3361408"/>
                <a:gd name="connsiteX58" fmla="*/ 1671500 w 7020657"/>
                <a:gd name="connsiteY58" fmla="*/ 1838085 h 3361408"/>
                <a:gd name="connsiteX59" fmla="*/ 1541265 w 7020657"/>
                <a:gd name="connsiteY59" fmla="*/ 1799073 h 3361408"/>
                <a:gd name="connsiteX60" fmla="*/ 1403068 w 7020657"/>
                <a:gd name="connsiteY60" fmla="*/ 1784819 h 3361408"/>
                <a:gd name="connsiteX61" fmla="*/ 1056020 w 7020657"/>
                <a:gd name="connsiteY61" fmla="*/ 1923638 h 3361408"/>
                <a:gd name="connsiteX62" fmla="*/ 997456 w 7020657"/>
                <a:gd name="connsiteY62" fmla="*/ 1998936 h 3361408"/>
                <a:gd name="connsiteX63" fmla="*/ 983451 w 7020657"/>
                <a:gd name="connsiteY63" fmla="*/ 2027256 h 3361408"/>
                <a:gd name="connsiteX64" fmla="*/ 984565 w 7020657"/>
                <a:gd name="connsiteY64" fmla="*/ 2016380 h 3361408"/>
                <a:gd name="connsiteX65" fmla="*/ 984488 w 7020657"/>
                <a:gd name="connsiteY65" fmla="*/ 2012918 h 3361408"/>
                <a:gd name="connsiteX66" fmla="*/ 984291 w 7020657"/>
                <a:gd name="connsiteY66" fmla="*/ 1957162 h 3361408"/>
                <a:gd name="connsiteX67" fmla="*/ 984216 w 7020657"/>
                <a:gd name="connsiteY67" fmla="*/ 1953700 h 3361408"/>
                <a:gd name="connsiteX68" fmla="*/ 982570 w 7020657"/>
                <a:gd name="connsiteY68" fmla="*/ 1926376 h 3361408"/>
                <a:gd name="connsiteX69" fmla="*/ 982201 w 7020657"/>
                <a:gd name="connsiteY69" fmla="*/ 1925345 h 3361408"/>
                <a:gd name="connsiteX70" fmla="*/ 979525 w 7020657"/>
                <a:gd name="connsiteY70" fmla="*/ 1898390 h 3361408"/>
                <a:gd name="connsiteX71" fmla="*/ 978710 w 7020657"/>
                <a:gd name="connsiteY71" fmla="*/ 1892867 h 3361408"/>
                <a:gd name="connsiteX72" fmla="*/ 975450 w 7020657"/>
                <a:gd name="connsiteY72" fmla="*/ 1870775 h 3361408"/>
                <a:gd name="connsiteX73" fmla="*/ 974635 w 7020657"/>
                <a:gd name="connsiteY73" fmla="*/ 1865251 h 3361408"/>
                <a:gd name="connsiteX74" fmla="*/ 969235 w 7020657"/>
                <a:gd name="connsiteY74" fmla="*/ 1840435 h 3361408"/>
                <a:gd name="connsiteX75" fmla="*/ 967314 w 7020657"/>
                <a:gd name="connsiteY75" fmla="*/ 1831819 h 3361408"/>
                <a:gd name="connsiteX76" fmla="*/ 962437 w 7020657"/>
                <a:gd name="connsiteY76" fmla="*/ 1814955 h 3361408"/>
                <a:gd name="connsiteX77" fmla="*/ 960145 w 7020657"/>
                <a:gd name="connsiteY77" fmla="*/ 1805309 h 3361408"/>
                <a:gd name="connsiteX78" fmla="*/ 953422 w 7020657"/>
                <a:gd name="connsiteY78" fmla="*/ 1783293 h 3361408"/>
                <a:gd name="connsiteX79" fmla="*/ 949362 w 7020657"/>
                <a:gd name="connsiteY79" fmla="*/ 1771955 h 3361408"/>
                <a:gd name="connsiteX80" fmla="*/ 944931 w 7020657"/>
                <a:gd name="connsiteY80" fmla="*/ 1759584 h 3361408"/>
                <a:gd name="connsiteX81" fmla="*/ 940500 w 7020657"/>
                <a:gd name="connsiteY81" fmla="*/ 1747214 h 3361408"/>
                <a:gd name="connsiteX82" fmla="*/ 932455 w 7020657"/>
                <a:gd name="connsiteY82" fmla="*/ 1727998 h 3361408"/>
                <a:gd name="connsiteX83" fmla="*/ 926626 w 7020657"/>
                <a:gd name="connsiteY83" fmla="*/ 1714967 h 3361408"/>
                <a:gd name="connsiteX84" fmla="*/ 921533 w 7020657"/>
                <a:gd name="connsiteY84" fmla="*/ 1703997 h 3361408"/>
                <a:gd name="connsiteX85" fmla="*/ 914673 w 7020657"/>
                <a:gd name="connsiteY85" fmla="*/ 1691335 h 3361408"/>
                <a:gd name="connsiteX86" fmla="*/ 907442 w 7020657"/>
                <a:gd name="connsiteY86" fmla="*/ 1677641 h 3361408"/>
                <a:gd name="connsiteX87" fmla="*/ 898073 w 7020657"/>
                <a:gd name="connsiteY87" fmla="*/ 1661225 h 3361408"/>
                <a:gd name="connsiteX88" fmla="*/ 894458 w 7020657"/>
                <a:gd name="connsiteY88" fmla="*/ 1654378 h 3361408"/>
                <a:gd name="connsiteX89" fmla="*/ 892319 w 7020657"/>
                <a:gd name="connsiteY89" fmla="*/ 1651655 h 3361408"/>
                <a:gd name="connsiteX90" fmla="*/ 879043 w 7020657"/>
                <a:gd name="connsiteY90" fmla="*/ 1630823 h 3361408"/>
                <a:gd name="connsiteX91" fmla="*/ 874396 w 7020657"/>
                <a:gd name="connsiteY91" fmla="*/ 1624347 h 3361408"/>
                <a:gd name="connsiteX92" fmla="*/ 859059 w 7020657"/>
                <a:gd name="connsiteY92" fmla="*/ 1604251 h 3361408"/>
                <a:gd name="connsiteX93" fmla="*/ 854413 w 7020657"/>
                <a:gd name="connsiteY93" fmla="*/ 1597775 h 3361408"/>
                <a:gd name="connsiteX94" fmla="*/ 838044 w 7020657"/>
                <a:gd name="connsiteY94" fmla="*/ 1578050 h 3361408"/>
                <a:gd name="connsiteX95" fmla="*/ 833767 w 7020657"/>
                <a:gd name="connsiteY95" fmla="*/ 1572603 h 3361408"/>
                <a:gd name="connsiteX96" fmla="*/ 813199 w 7020657"/>
                <a:gd name="connsiteY96" fmla="*/ 1550894 h 3361408"/>
                <a:gd name="connsiteX97" fmla="*/ 811430 w 7020657"/>
                <a:gd name="connsiteY97" fmla="*/ 1549201 h 3361408"/>
                <a:gd name="connsiteX98" fmla="*/ 803614 w 7020657"/>
                <a:gd name="connsiteY98" fmla="*/ 1540370 h 3361408"/>
                <a:gd name="connsiteX99" fmla="*/ 781945 w 7020657"/>
                <a:gd name="connsiteY99" fmla="*/ 1359717 h 3361408"/>
                <a:gd name="connsiteX100" fmla="*/ 783269 w 7020657"/>
                <a:gd name="connsiteY100" fmla="*/ 1356917 h 3361408"/>
                <a:gd name="connsiteX101" fmla="*/ 1040514 w 7020657"/>
                <a:gd name="connsiteY101" fmla="*/ 1243849 h 3361408"/>
                <a:gd name="connsiteX102" fmla="*/ 1046776 w 7020657"/>
                <a:gd name="connsiteY102" fmla="*/ 1245095 h 3361408"/>
                <a:gd name="connsiteX103" fmla="*/ 1050606 w 7020657"/>
                <a:gd name="connsiteY103" fmla="*/ 1246050 h 3361408"/>
                <a:gd name="connsiteX104" fmla="*/ 1079853 w 7020657"/>
                <a:gd name="connsiteY104" fmla="*/ 1253020 h 3361408"/>
                <a:gd name="connsiteX105" fmla="*/ 1086115 w 7020657"/>
                <a:gd name="connsiteY105" fmla="*/ 1254268 h 3361408"/>
                <a:gd name="connsiteX106" fmla="*/ 1119855 w 7020657"/>
                <a:gd name="connsiteY106" fmla="*/ 1260792 h 3361408"/>
                <a:gd name="connsiteX107" fmla="*/ 1127147 w 7020657"/>
                <a:gd name="connsiteY107" fmla="*/ 1261669 h 3361408"/>
                <a:gd name="connsiteX108" fmla="*/ 1155286 w 7020657"/>
                <a:gd name="connsiteY108" fmla="*/ 1265548 h 3361408"/>
                <a:gd name="connsiteX109" fmla="*/ 1162578 w 7020657"/>
                <a:gd name="connsiteY109" fmla="*/ 1266425 h 3361408"/>
                <a:gd name="connsiteX110" fmla="*/ 1255534 w 7020657"/>
                <a:gd name="connsiteY110" fmla="*/ 1272676 h 3361408"/>
                <a:gd name="connsiteX111" fmla="*/ 1271813 w 7020657"/>
                <a:gd name="connsiteY111" fmla="*/ 1272661 h 3361408"/>
                <a:gd name="connsiteX112" fmla="*/ 1272844 w 7020657"/>
                <a:gd name="connsiteY112" fmla="*/ 1272292 h 3361408"/>
                <a:gd name="connsiteX113" fmla="*/ 1555856 w 7020657"/>
                <a:gd name="connsiteY113" fmla="*/ 1227921 h 3361408"/>
                <a:gd name="connsiteX114" fmla="*/ 1562039 w 7020657"/>
                <a:gd name="connsiteY114" fmla="*/ 1225705 h 3361408"/>
                <a:gd name="connsiteX115" fmla="*/ 1636233 w 7020657"/>
                <a:gd name="connsiteY115" fmla="*/ 1215543 h 3361408"/>
                <a:gd name="connsiteX116" fmla="*/ 1247143 w 7020657"/>
                <a:gd name="connsiteY116" fmla="*/ 176445 h 3361408"/>
                <a:gd name="connsiteX117" fmla="*/ 1308867 w 7020657"/>
                <a:gd name="connsiteY117" fmla="*/ 228060 h 3361408"/>
                <a:gd name="connsiteX118" fmla="*/ 1308867 w 7020657"/>
                <a:gd name="connsiteY118" fmla="*/ 228061 h 3361408"/>
                <a:gd name="connsiteX119" fmla="*/ 5961847 w 7020657"/>
                <a:gd name="connsiteY119" fmla="*/ 21044 h 3361408"/>
                <a:gd name="connsiteX120" fmla="*/ 5954357 w 7020657"/>
                <a:gd name="connsiteY120" fmla="*/ 24792 h 3361408"/>
                <a:gd name="connsiteX121" fmla="*/ 5920889 w 7020657"/>
                <a:gd name="connsiteY121" fmla="*/ 49580 h 3361408"/>
                <a:gd name="connsiteX122" fmla="*/ 5887672 w 7020657"/>
                <a:gd name="connsiteY122" fmla="*/ 81788 h 3361408"/>
                <a:gd name="connsiteX123" fmla="*/ 5920889 w 7020657"/>
                <a:gd name="connsiteY123" fmla="*/ 49580 h 3361408"/>
                <a:gd name="connsiteX124" fmla="*/ 5954355 w 7020657"/>
                <a:gd name="connsiteY124" fmla="*/ 24792 h 3361408"/>
                <a:gd name="connsiteX125" fmla="*/ 6038636 w 7020657"/>
                <a:gd name="connsiteY125" fmla="*/ 4960 h 3361408"/>
                <a:gd name="connsiteX126" fmla="*/ 6509632 w 7020657"/>
                <a:gd name="connsiteY126" fmla="*/ 4960 h 3361408"/>
                <a:gd name="connsiteX127" fmla="*/ 6539379 w 7020657"/>
                <a:gd name="connsiteY127" fmla="*/ 4960 h 3361408"/>
                <a:gd name="connsiteX128" fmla="*/ 6569126 w 7020657"/>
                <a:gd name="connsiteY128" fmla="*/ 4960 h 3361408"/>
                <a:gd name="connsiteX129" fmla="*/ 6608789 w 7020657"/>
                <a:gd name="connsiteY129" fmla="*/ 9916 h 3361408"/>
                <a:gd name="connsiteX130" fmla="*/ 6623659 w 7020657"/>
                <a:gd name="connsiteY130" fmla="*/ 9916 h 3361408"/>
                <a:gd name="connsiteX131" fmla="*/ 6668282 w 7020657"/>
                <a:gd name="connsiteY131" fmla="*/ 19831 h 3361408"/>
                <a:gd name="connsiteX132" fmla="*/ 6673238 w 7020657"/>
                <a:gd name="connsiteY132" fmla="*/ 19831 h 3361408"/>
                <a:gd name="connsiteX133" fmla="*/ 6722816 w 7020657"/>
                <a:gd name="connsiteY133" fmla="*/ 34707 h 3361408"/>
                <a:gd name="connsiteX134" fmla="*/ 6886427 w 7020657"/>
                <a:gd name="connsiteY134" fmla="*/ 133864 h 3361408"/>
                <a:gd name="connsiteX135" fmla="*/ 6891382 w 7020657"/>
                <a:gd name="connsiteY135" fmla="*/ 138819 h 3361408"/>
                <a:gd name="connsiteX136" fmla="*/ 7020285 w 7020657"/>
                <a:gd name="connsiteY136" fmla="*/ 520575 h 3361408"/>
                <a:gd name="connsiteX137" fmla="*/ 7020285 w 7020657"/>
                <a:gd name="connsiteY137" fmla="*/ 1298951 h 3361408"/>
                <a:gd name="connsiteX138" fmla="*/ 7020285 w 7020657"/>
                <a:gd name="connsiteY138" fmla="*/ 1484144 h 3361408"/>
                <a:gd name="connsiteX139" fmla="*/ 7004863 w 7020657"/>
                <a:gd name="connsiteY139" fmla="*/ 1480480 h 3361408"/>
                <a:gd name="connsiteX140" fmla="*/ 6831667 w 7020657"/>
                <a:gd name="connsiteY140" fmla="*/ 1464430 h 3361408"/>
                <a:gd name="connsiteX141" fmla="*/ 6736505 w 7020657"/>
                <a:gd name="connsiteY141" fmla="*/ 1469431 h 3361408"/>
                <a:gd name="connsiteX142" fmla="*/ 6006963 w 7020657"/>
                <a:gd name="connsiteY142" fmla="*/ 1962167 h 3361408"/>
                <a:gd name="connsiteX143" fmla="*/ 6001579 w 7020657"/>
                <a:gd name="connsiteY143" fmla="*/ 1974765 h 3361408"/>
                <a:gd name="connsiteX144" fmla="*/ 6016471 w 7020657"/>
                <a:gd name="connsiteY144" fmla="*/ 1993735 h 3361408"/>
                <a:gd name="connsiteX145" fmla="*/ 5969226 w 7020657"/>
                <a:gd name="connsiteY145" fmla="*/ 1933553 h 3361408"/>
                <a:gd name="connsiteX146" fmla="*/ 5622178 w 7020657"/>
                <a:gd name="connsiteY146" fmla="*/ 1794734 h 3361408"/>
                <a:gd name="connsiteX147" fmla="*/ 5314793 w 7020657"/>
                <a:gd name="connsiteY147" fmla="*/ 1864144 h 3361408"/>
                <a:gd name="connsiteX148" fmla="*/ 5194518 w 7020657"/>
                <a:gd name="connsiteY148" fmla="*/ 1928122 h 3361408"/>
                <a:gd name="connsiteX149" fmla="*/ 5200293 w 7020657"/>
                <a:gd name="connsiteY149" fmla="*/ 1925050 h 3361408"/>
                <a:gd name="connsiteX150" fmla="*/ 5166606 w 7020657"/>
                <a:gd name="connsiteY150" fmla="*/ 1885296 h 3361408"/>
                <a:gd name="connsiteX151" fmla="*/ 5042817 w 7020657"/>
                <a:gd name="connsiteY151" fmla="*/ 1777127 h 3361408"/>
                <a:gd name="connsiteX152" fmla="*/ 5039651 w 7020657"/>
                <a:gd name="connsiteY152" fmla="*/ 1774773 h 3361408"/>
                <a:gd name="connsiteX153" fmla="*/ 4982679 w 7020657"/>
                <a:gd name="connsiteY153" fmla="*/ 1735862 h 3361408"/>
                <a:gd name="connsiteX154" fmla="*/ 4974941 w 7020657"/>
                <a:gd name="connsiteY154" fmla="*/ 1730492 h 3361408"/>
                <a:gd name="connsiteX155" fmla="*/ 4958433 w 7020657"/>
                <a:gd name="connsiteY155" fmla="*/ 1720121 h 3361408"/>
                <a:gd name="connsiteX156" fmla="*/ 4948263 w 7020657"/>
                <a:gd name="connsiteY156" fmla="*/ 1714459 h 3361408"/>
                <a:gd name="connsiteX157" fmla="*/ 4932125 w 7020657"/>
                <a:gd name="connsiteY157" fmla="*/ 1705119 h 3361408"/>
                <a:gd name="connsiteX158" fmla="*/ 4926155 w 7020657"/>
                <a:gd name="connsiteY158" fmla="*/ 1701442 h 3361408"/>
                <a:gd name="connsiteX159" fmla="*/ 4890049 w 7020657"/>
                <a:gd name="connsiteY159" fmla="*/ 1681810 h 3361408"/>
                <a:gd name="connsiteX160" fmla="*/ 4883049 w 7020657"/>
                <a:gd name="connsiteY160" fmla="*/ 1678501 h 3361408"/>
                <a:gd name="connsiteX161" fmla="*/ 4863447 w 7020657"/>
                <a:gd name="connsiteY161" fmla="*/ 1669238 h 3361408"/>
                <a:gd name="connsiteX162" fmla="*/ 4857847 w 7020657"/>
                <a:gd name="connsiteY162" fmla="*/ 1666592 h 3361408"/>
                <a:gd name="connsiteX163" fmla="*/ 4335698 w 7020657"/>
                <a:gd name="connsiteY163" fmla="*/ 1562839 h 3361408"/>
                <a:gd name="connsiteX164" fmla="*/ 4327744 w 7020657"/>
                <a:gd name="connsiteY164" fmla="*/ 1563362 h 3361408"/>
                <a:gd name="connsiteX165" fmla="*/ 4309773 w 7020657"/>
                <a:gd name="connsiteY165" fmla="*/ 1565145 h 3361408"/>
                <a:gd name="connsiteX166" fmla="*/ 4287311 w 7020657"/>
                <a:gd name="connsiteY166" fmla="*/ 1567376 h 3361408"/>
                <a:gd name="connsiteX167" fmla="*/ 4280387 w 7020657"/>
                <a:gd name="connsiteY167" fmla="*/ 1567529 h 3361408"/>
                <a:gd name="connsiteX168" fmla="*/ 4278326 w 7020657"/>
                <a:gd name="connsiteY168" fmla="*/ 1568267 h 3361408"/>
                <a:gd name="connsiteX169" fmla="*/ 4254834 w 7020657"/>
                <a:gd name="connsiteY169" fmla="*/ 1570865 h 3361408"/>
                <a:gd name="connsiteX170" fmla="*/ 4252403 w 7020657"/>
                <a:gd name="connsiteY170" fmla="*/ 1570573 h 3361408"/>
                <a:gd name="connsiteX171" fmla="*/ 4117566 w 7020657"/>
                <a:gd name="connsiteY171" fmla="*/ 1596768 h 3361408"/>
                <a:gd name="connsiteX172" fmla="*/ 3624044 w 7020657"/>
                <a:gd name="connsiteY172" fmla="*/ 1878199 h 3361408"/>
                <a:gd name="connsiteX173" fmla="*/ 3621321 w 7020657"/>
                <a:gd name="connsiteY173" fmla="*/ 1880337 h 3361408"/>
                <a:gd name="connsiteX174" fmla="*/ 3608442 w 7020657"/>
                <a:gd name="connsiteY174" fmla="*/ 1893092 h 3361408"/>
                <a:gd name="connsiteX175" fmla="*/ 3601673 w 7020657"/>
                <a:gd name="connsiteY175" fmla="*/ 1900168 h 3361408"/>
                <a:gd name="connsiteX176" fmla="*/ 3593210 w 7020657"/>
                <a:gd name="connsiteY176" fmla="*/ 1909013 h 3361408"/>
                <a:gd name="connsiteX177" fmla="*/ 3582394 w 7020657"/>
                <a:gd name="connsiteY177" fmla="*/ 1921029 h 3361408"/>
                <a:gd name="connsiteX178" fmla="*/ 3578347 w 7020657"/>
                <a:gd name="connsiteY178" fmla="*/ 1925967 h 3361408"/>
                <a:gd name="connsiteX179" fmla="*/ 3336286 w 7020657"/>
                <a:gd name="connsiteY179" fmla="*/ 2380185 h 3361408"/>
                <a:gd name="connsiteX180" fmla="*/ 3305522 w 7020657"/>
                <a:gd name="connsiteY180" fmla="*/ 2570313 h 3361408"/>
                <a:gd name="connsiteX181" fmla="*/ 3305890 w 7020657"/>
                <a:gd name="connsiteY181" fmla="*/ 2571345 h 3361408"/>
                <a:gd name="connsiteX182" fmla="*/ 3303782 w 7020657"/>
                <a:gd name="connsiteY182" fmla="*/ 2601175 h 3361408"/>
                <a:gd name="connsiteX183" fmla="*/ 3303058 w 7020657"/>
                <a:gd name="connsiteY183" fmla="*/ 2615392 h 3361408"/>
                <a:gd name="connsiteX184" fmla="*/ 3302335 w 7020657"/>
                <a:gd name="connsiteY184" fmla="*/ 2629607 h 3361408"/>
                <a:gd name="connsiteX185" fmla="*/ 3368708 w 7020657"/>
                <a:gd name="connsiteY185" fmla="*/ 3024533 h 3361408"/>
                <a:gd name="connsiteX186" fmla="*/ 3408019 w 7020657"/>
                <a:gd name="connsiteY186" fmla="*/ 3113609 h 3361408"/>
                <a:gd name="connsiteX187" fmla="*/ 3380001 w 7020657"/>
                <a:gd name="connsiteY187" fmla="*/ 3111039 h 3361408"/>
                <a:gd name="connsiteX188" fmla="*/ 3252336 w 7020657"/>
                <a:gd name="connsiteY188" fmla="*/ 3068899 h 3361408"/>
                <a:gd name="connsiteX189" fmla="*/ 3128393 w 7020657"/>
                <a:gd name="connsiteY189" fmla="*/ 3004444 h 3361408"/>
                <a:gd name="connsiteX190" fmla="*/ 3004444 w 7020657"/>
                <a:gd name="connsiteY190" fmla="*/ 2920164 h 3361408"/>
                <a:gd name="connsiteX191" fmla="*/ 2763870 w 7020657"/>
                <a:gd name="connsiteY191" fmla="*/ 2718081 h 3361408"/>
                <a:gd name="connsiteX192" fmla="*/ 2790573 w 7020657"/>
                <a:gd name="connsiteY192" fmla="*/ 2740511 h 3361408"/>
                <a:gd name="connsiteX193" fmla="*/ 2800406 w 7020657"/>
                <a:gd name="connsiteY193" fmla="*/ 2734939 h 3361408"/>
                <a:gd name="connsiteX194" fmla="*/ 3036975 w 7020657"/>
                <a:gd name="connsiteY194" fmla="*/ 1658132 h 3361408"/>
                <a:gd name="connsiteX195" fmla="*/ 2839289 w 7020657"/>
                <a:gd name="connsiteY195" fmla="*/ 1447641 h 3361408"/>
                <a:gd name="connsiteX196" fmla="*/ 2765608 w 7020657"/>
                <a:gd name="connsiteY196" fmla="*/ 1400741 h 3361408"/>
                <a:gd name="connsiteX197" fmla="*/ 2721850 w 7020657"/>
                <a:gd name="connsiteY197" fmla="*/ 1383238 h 3361408"/>
                <a:gd name="connsiteX198" fmla="*/ 2655794 w 7020657"/>
                <a:gd name="connsiteY198" fmla="*/ 1350209 h 3361408"/>
                <a:gd name="connsiteX199" fmla="*/ 2587751 w 7020657"/>
                <a:gd name="connsiteY199" fmla="*/ 1327216 h 3361408"/>
                <a:gd name="connsiteX200" fmla="*/ 2403895 w 7020657"/>
                <a:gd name="connsiteY200" fmla="*/ 1299857 h 3361408"/>
                <a:gd name="connsiteX201" fmla="*/ 2156300 w 7020657"/>
                <a:gd name="connsiteY201" fmla="*/ 1332707 h 3361408"/>
                <a:gd name="connsiteX202" fmla="*/ 2150115 w 7020657"/>
                <a:gd name="connsiteY202" fmla="*/ 1334923 h 3361408"/>
                <a:gd name="connsiteX203" fmla="*/ 1931143 w 7020657"/>
                <a:gd name="connsiteY203" fmla="*/ 1252847 h 3361408"/>
                <a:gd name="connsiteX204" fmla="*/ 1930406 w 7020657"/>
                <a:gd name="connsiteY204" fmla="*/ 1250786 h 3361408"/>
                <a:gd name="connsiteX205" fmla="*/ 1953280 w 7020657"/>
                <a:gd name="connsiteY205" fmla="*/ 970439 h 3361408"/>
                <a:gd name="connsiteX206" fmla="*/ 1957326 w 7020657"/>
                <a:gd name="connsiteY206" fmla="*/ 965501 h 3361408"/>
                <a:gd name="connsiteX207" fmla="*/ 1964098 w 7020657"/>
                <a:gd name="connsiteY207" fmla="*/ 958425 h 3361408"/>
                <a:gd name="connsiteX208" fmla="*/ 1973220 w 7020657"/>
                <a:gd name="connsiteY208" fmla="*/ 948177 h 3361408"/>
                <a:gd name="connsiteX209" fmla="*/ 2020133 w 7020657"/>
                <a:gd name="connsiteY209" fmla="*/ 889810 h 3361408"/>
                <a:gd name="connsiteX210" fmla="*/ 2092204 w 7020657"/>
                <a:gd name="connsiteY210" fmla="*/ 956864 h 3361408"/>
                <a:gd name="connsiteX211" fmla="*/ 2136827 w 7020657"/>
                <a:gd name="connsiteY211" fmla="*/ 996526 h 3361408"/>
                <a:gd name="connsiteX212" fmla="*/ 2201276 w 7020657"/>
                <a:gd name="connsiteY212" fmla="*/ 1051060 h 3361408"/>
                <a:gd name="connsiteX213" fmla="*/ 2206236 w 7020657"/>
                <a:gd name="connsiteY213" fmla="*/ 1056020 h 3361408"/>
                <a:gd name="connsiteX214" fmla="*/ 2270686 w 7020657"/>
                <a:gd name="connsiteY214" fmla="*/ 1105599 h 3361408"/>
                <a:gd name="connsiteX215" fmla="*/ 2280601 w 7020657"/>
                <a:gd name="connsiteY215" fmla="*/ 1110554 h 3361408"/>
                <a:gd name="connsiteX216" fmla="*/ 2340096 w 7020657"/>
                <a:gd name="connsiteY216" fmla="*/ 1155177 h 3361408"/>
                <a:gd name="connsiteX217" fmla="*/ 2354971 w 7020657"/>
                <a:gd name="connsiteY217" fmla="*/ 1165093 h 3361408"/>
                <a:gd name="connsiteX218" fmla="*/ 2414466 w 7020657"/>
                <a:gd name="connsiteY218" fmla="*/ 1204755 h 3361408"/>
                <a:gd name="connsiteX219" fmla="*/ 2434297 w 7020657"/>
                <a:gd name="connsiteY219" fmla="*/ 1219626 h 3361408"/>
                <a:gd name="connsiteX220" fmla="*/ 2488830 w 7020657"/>
                <a:gd name="connsiteY220" fmla="*/ 1254334 h 3361408"/>
                <a:gd name="connsiteX221" fmla="*/ 2518577 w 7020657"/>
                <a:gd name="connsiteY221" fmla="*/ 1274165 h 3361408"/>
                <a:gd name="connsiteX222" fmla="*/ 2563200 w 7020657"/>
                <a:gd name="connsiteY222" fmla="*/ 1298951 h 3361408"/>
                <a:gd name="connsiteX223" fmla="*/ 2607818 w 7020657"/>
                <a:gd name="connsiteY223" fmla="*/ 1323743 h 3361408"/>
                <a:gd name="connsiteX224" fmla="*/ 2642525 w 7020657"/>
                <a:gd name="connsiteY224" fmla="*/ 1343574 h 3361408"/>
                <a:gd name="connsiteX225" fmla="*/ 2721851 w 7020657"/>
                <a:gd name="connsiteY225" fmla="*/ 1383237 h 3361408"/>
                <a:gd name="connsiteX226" fmla="*/ 2796216 w 7020657"/>
                <a:gd name="connsiteY226" fmla="*/ 1412984 h 3361408"/>
                <a:gd name="connsiteX227" fmla="*/ 2825962 w 7020657"/>
                <a:gd name="connsiteY227" fmla="*/ 1427855 h 3361408"/>
                <a:gd name="connsiteX228" fmla="*/ 2865625 w 7020657"/>
                <a:gd name="connsiteY228" fmla="*/ 1442731 h 3361408"/>
                <a:gd name="connsiteX229" fmla="*/ 2969742 w 7020657"/>
                <a:gd name="connsiteY229" fmla="*/ 1477433 h 3361408"/>
                <a:gd name="connsiteX230" fmla="*/ 3515103 w 7020657"/>
                <a:gd name="connsiteY230" fmla="*/ 1546843 h 3361408"/>
                <a:gd name="connsiteX231" fmla="*/ 4268693 w 7020657"/>
                <a:gd name="connsiteY231" fmla="*/ 1403068 h 3361408"/>
                <a:gd name="connsiteX232" fmla="*/ 4273649 w 7020657"/>
                <a:gd name="connsiteY232" fmla="*/ 1403068 h 3361408"/>
                <a:gd name="connsiteX233" fmla="*/ 4308356 w 7020657"/>
                <a:gd name="connsiteY233" fmla="*/ 1388192 h 3361408"/>
                <a:gd name="connsiteX234" fmla="*/ 4937998 w 7020657"/>
                <a:gd name="connsiteY234" fmla="*/ 956864 h 3361408"/>
                <a:gd name="connsiteX235" fmla="*/ 5498235 w 7020657"/>
                <a:gd name="connsiteY235" fmla="*/ 446205 h 3361408"/>
                <a:gd name="connsiteX236" fmla="*/ 5786844 w 7020657"/>
                <a:gd name="connsiteY236" fmla="*/ 176334 h 3361408"/>
                <a:gd name="connsiteX237" fmla="*/ 5498235 w 7020657"/>
                <a:gd name="connsiteY237" fmla="*/ 446205 h 3361408"/>
                <a:gd name="connsiteX238" fmla="*/ 4937999 w 7020657"/>
                <a:gd name="connsiteY238" fmla="*/ 956863 h 3361408"/>
                <a:gd name="connsiteX239" fmla="*/ 4871692 w 7020657"/>
                <a:gd name="connsiteY239" fmla="*/ 1013965 h 3361408"/>
                <a:gd name="connsiteX240" fmla="*/ 4897681 w 7020657"/>
                <a:gd name="connsiteY240" fmla="*/ 1073129 h 3361408"/>
                <a:gd name="connsiteX241" fmla="*/ 4903805 w 7020657"/>
                <a:gd name="connsiteY241" fmla="*/ 1083729 h 3361408"/>
                <a:gd name="connsiteX242" fmla="*/ 4905940 w 7020657"/>
                <a:gd name="connsiteY242" fmla="*/ 1086453 h 3361408"/>
                <a:gd name="connsiteX243" fmla="*/ 4927555 w 7020657"/>
                <a:gd name="connsiteY243" fmla="*/ 1124070 h 3361408"/>
                <a:gd name="connsiteX244" fmla="*/ 4929693 w 7020657"/>
                <a:gd name="connsiteY244" fmla="*/ 1126793 h 3361408"/>
                <a:gd name="connsiteX245" fmla="*/ 4950495 w 7020657"/>
                <a:gd name="connsiteY245" fmla="*/ 1158888 h 3361408"/>
                <a:gd name="connsiteX246" fmla="*/ 4955139 w 7020657"/>
                <a:gd name="connsiteY246" fmla="*/ 1165365 h 3361408"/>
                <a:gd name="connsiteX247" fmla="*/ 4977999 w 7020657"/>
                <a:gd name="connsiteY247" fmla="*/ 1196721 h 3361408"/>
                <a:gd name="connsiteX248" fmla="*/ 4982644 w 7020657"/>
                <a:gd name="connsiteY248" fmla="*/ 1203199 h 3361408"/>
                <a:gd name="connsiteX249" fmla="*/ 5038459 w 7020657"/>
                <a:gd name="connsiteY249" fmla="*/ 1268111 h 3361408"/>
                <a:gd name="connsiteX250" fmla="*/ 5038829 w 7020657"/>
                <a:gd name="connsiteY250" fmla="*/ 1269141 h 3361408"/>
                <a:gd name="connsiteX251" fmla="*/ 5631633 w 7020657"/>
                <a:gd name="connsiteY251" fmla="*/ 1560426 h 3361408"/>
                <a:gd name="connsiteX252" fmla="*/ 6171487 w 7020657"/>
                <a:gd name="connsiteY252" fmla="*/ 1447327 h 3361408"/>
                <a:gd name="connsiteX253" fmla="*/ 6177305 w 7020657"/>
                <a:gd name="connsiteY253" fmla="*/ 1444081 h 3361408"/>
                <a:gd name="connsiteX254" fmla="*/ 6210135 w 7020657"/>
                <a:gd name="connsiteY254" fmla="*/ 1425343 h 3361408"/>
                <a:gd name="connsiteX255" fmla="*/ 6224123 w 7020657"/>
                <a:gd name="connsiteY255" fmla="*/ 1415682 h 3361408"/>
                <a:gd name="connsiteX256" fmla="*/ 6246647 w 7020657"/>
                <a:gd name="connsiteY256" fmla="*/ 1400636 h 3361408"/>
                <a:gd name="connsiteX257" fmla="*/ 6265047 w 7020657"/>
                <a:gd name="connsiteY257" fmla="*/ 1387069 h 3361408"/>
                <a:gd name="connsiteX258" fmla="*/ 6282417 w 7020657"/>
                <a:gd name="connsiteY258" fmla="*/ 1373869 h 3361408"/>
                <a:gd name="connsiteX259" fmla="*/ 6300449 w 7020657"/>
                <a:gd name="connsiteY259" fmla="*/ 1359269 h 3361408"/>
                <a:gd name="connsiteX260" fmla="*/ 6317821 w 7020657"/>
                <a:gd name="connsiteY260" fmla="*/ 1346069 h 3361408"/>
                <a:gd name="connsiteX261" fmla="*/ 6334822 w 7020657"/>
                <a:gd name="connsiteY261" fmla="*/ 1331839 h 3361408"/>
                <a:gd name="connsiteX262" fmla="*/ 6352485 w 7020657"/>
                <a:gd name="connsiteY262" fmla="*/ 1316207 h 3361408"/>
                <a:gd name="connsiteX263" fmla="*/ 6366393 w 7020657"/>
                <a:gd name="connsiteY263" fmla="*/ 1303086 h 3361408"/>
                <a:gd name="connsiteX264" fmla="*/ 6386041 w 7020657"/>
                <a:gd name="connsiteY264" fmla="*/ 1283257 h 3361408"/>
                <a:gd name="connsiteX265" fmla="*/ 6395165 w 7020657"/>
                <a:gd name="connsiteY265" fmla="*/ 1273009 h 3361408"/>
                <a:gd name="connsiteX266" fmla="*/ 6416799 w 7020657"/>
                <a:gd name="connsiteY266" fmla="*/ 1248978 h 3361408"/>
                <a:gd name="connsiteX267" fmla="*/ 6422537 w 7020657"/>
                <a:gd name="connsiteY267" fmla="*/ 1242272 h 3361408"/>
                <a:gd name="connsiteX268" fmla="*/ 6446817 w 7020657"/>
                <a:gd name="connsiteY268" fmla="*/ 1212640 h 3361408"/>
                <a:gd name="connsiteX269" fmla="*/ 6448509 w 7020657"/>
                <a:gd name="connsiteY269" fmla="*/ 1210871 h 3361408"/>
                <a:gd name="connsiteX270" fmla="*/ 6598003 w 7020657"/>
                <a:gd name="connsiteY270" fmla="*/ 939840 h 3361408"/>
                <a:gd name="connsiteX271" fmla="*/ 6599327 w 7020657"/>
                <a:gd name="connsiteY271" fmla="*/ 937038 h 3361408"/>
                <a:gd name="connsiteX272" fmla="*/ 6611299 w 7020657"/>
                <a:gd name="connsiteY272" fmla="*/ 899023 h 3361408"/>
                <a:gd name="connsiteX273" fmla="*/ 6618347 w 7020657"/>
                <a:gd name="connsiteY273" fmla="*/ 873238 h 3361408"/>
                <a:gd name="connsiteX274" fmla="*/ 6622827 w 7020657"/>
                <a:gd name="connsiteY274" fmla="*/ 856514 h 3361408"/>
                <a:gd name="connsiteX275" fmla="*/ 6645363 w 7020657"/>
                <a:gd name="connsiteY275" fmla="*/ 529767 h 3361408"/>
                <a:gd name="connsiteX276" fmla="*/ 6643289 w 7020657"/>
                <a:gd name="connsiteY276" fmla="*/ 514228 h 3361408"/>
                <a:gd name="connsiteX277" fmla="*/ 6639875 w 7020657"/>
                <a:gd name="connsiteY277" fmla="*/ 485210 h 3361408"/>
                <a:gd name="connsiteX278" fmla="*/ 6633139 w 7020657"/>
                <a:gd name="connsiteY278" fmla="*/ 446916 h 3361408"/>
                <a:gd name="connsiteX279" fmla="*/ 6631952 w 7020657"/>
                <a:gd name="connsiteY279" fmla="*/ 440363 h 3361408"/>
                <a:gd name="connsiteX280" fmla="*/ 6618571 w 7020657"/>
                <a:gd name="connsiteY280" fmla="*/ 383514 h 3361408"/>
                <a:gd name="connsiteX281" fmla="*/ 6610663 w 7020657"/>
                <a:gd name="connsiteY281" fmla="*/ 354943 h 3361408"/>
                <a:gd name="connsiteX282" fmla="*/ 6606602 w 7020657"/>
                <a:gd name="connsiteY282" fmla="*/ 343605 h 3361408"/>
                <a:gd name="connsiteX283" fmla="*/ 6433309 w 7020657"/>
                <a:gd name="connsiteY283" fmla="*/ 29424 h 3361408"/>
                <a:gd name="connsiteX284" fmla="*/ 6408385 w 7020657"/>
                <a:gd name="connsiteY284" fmla="*/ 4961 h 3361408"/>
                <a:gd name="connsiteX285" fmla="*/ 6038636 w 7020657"/>
                <a:gd name="connsiteY285" fmla="*/ 4961 h 3361408"/>
                <a:gd name="connsiteX286" fmla="*/ 6008875 w 7020657"/>
                <a:gd name="connsiteY286" fmla="*/ 10912 h 3361408"/>
                <a:gd name="connsiteX287" fmla="*/ 401092 w 7020657"/>
                <a:gd name="connsiteY287" fmla="*/ 0 h 3361408"/>
                <a:gd name="connsiteX288" fmla="*/ 520575 w 7020657"/>
                <a:gd name="connsiteY288" fmla="*/ 0 h 3361408"/>
                <a:gd name="connsiteX289" fmla="*/ 713928 w 7020657"/>
                <a:gd name="connsiteY289" fmla="*/ 0 h 3361408"/>
                <a:gd name="connsiteX290" fmla="*/ 1188718 w 7020657"/>
                <a:gd name="connsiteY290" fmla="*/ 127588 h 3361408"/>
                <a:gd name="connsiteX291" fmla="*/ 1188718 w 7020657"/>
                <a:gd name="connsiteY291" fmla="*/ 127588 h 3361408"/>
                <a:gd name="connsiteX292" fmla="*/ 1050442 w 7020657"/>
                <a:gd name="connsiteY292" fmla="*/ 56397 h 3361408"/>
                <a:gd name="connsiteX293" fmla="*/ 713928 w 7020657"/>
                <a:gd name="connsiteY293" fmla="*/ 0 h 3361408"/>
                <a:gd name="connsiteX294" fmla="*/ 520576 w 7020657"/>
                <a:gd name="connsiteY294" fmla="*/ 0 h 3361408"/>
                <a:gd name="connsiteX295" fmla="*/ 74370 w 7020657"/>
                <a:gd name="connsiteY295" fmla="*/ 0 h 3361408"/>
                <a:gd name="connsiteX296" fmla="*/ 401092 w 7020657"/>
                <a:gd name="connsiteY296" fmla="*/ 0 h 3361408"/>
                <a:gd name="connsiteX297" fmla="*/ 400308 w 7020657"/>
                <a:gd name="connsiteY297" fmla="*/ 1884 h 3361408"/>
                <a:gd name="connsiteX298" fmla="*/ 397662 w 7020657"/>
                <a:gd name="connsiteY298" fmla="*/ 7485 h 3361408"/>
                <a:gd name="connsiteX299" fmla="*/ 339724 w 7020657"/>
                <a:gd name="connsiteY299" fmla="*/ 284107 h 3361408"/>
                <a:gd name="connsiteX300" fmla="*/ 339584 w 7020657"/>
                <a:gd name="connsiteY300" fmla="*/ 293460 h 3361408"/>
                <a:gd name="connsiteX301" fmla="*/ 339523 w 7020657"/>
                <a:gd name="connsiteY301" fmla="*/ 306276 h 3361408"/>
                <a:gd name="connsiteX302" fmla="*/ 338951 w 7020657"/>
                <a:gd name="connsiteY302" fmla="*/ 327416 h 3361408"/>
                <a:gd name="connsiteX303" fmla="*/ 338659 w 7020657"/>
                <a:gd name="connsiteY303" fmla="*/ 329846 h 3361408"/>
                <a:gd name="connsiteX304" fmla="*/ 484946 w 7020657"/>
                <a:gd name="connsiteY304" fmla="*/ 835717 h 3361408"/>
                <a:gd name="connsiteX305" fmla="*/ 523222 w 7020657"/>
                <a:gd name="connsiteY305" fmla="*/ 890627 h 3361408"/>
                <a:gd name="connsiteX306" fmla="*/ 525360 w 7020657"/>
                <a:gd name="connsiteY306" fmla="*/ 893351 h 3361408"/>
                <a:gd name="connsiteX307" fmla="*/ 546745 w 7020657"/>
                <a:gd name="connsiteY307" fmla="*/ 920584 h 3361408"/>
                <a:gd name="connsiteX308" fmla="*/ 548514 w 7020657"/>
                <a:gd name="connsiteY308" fmla="*/ 922276 h 3361408"/>
                <a:gd name="connsiteX309" fmla="*/ 631896 w 7020657"/>
                <a:gd name="connsiteY309" fmla="*/ 1012206 h 3361408"/>
                <a:gd name="connsiteX310" fmla="*/ 670592 w 7020657"/>
                <a:gd name="connsiteY310" fmla="*/ 1289109 h 3361408"/>
                <a:gd name="connsiteX311" fmla="*/ 669269 w 7020657"/>
                <a:gd name="connsiteY311" fmla="*/ 1291909 h 3361408"/>
                <a:gd name="connsiteX312" fmla="*/ 505091 w 7020657"/>
                <a:gd name="connsiteY312" fmla="*/ 1369319 h 3361408"/>
                <a:gd name="connsiteX313" fmla="*/ 502660 w 7020657"/>
                <a:gd name="connsiteY313" fmla="*/ 1369026 h 3361408"/>
                <a:gd name="connsiteX314" fmla="*/ 497429 w 7020657"/>
                <a:gd name="connsiteY314" fmla="*/ 1367411 h 3361408"/>
                <a:gd name="connsiteX315" fmla="*/ 494997 w 7020657"/>
                <a:gd name="connsiteY315" fmla="*/ 1367118 h 3361408"/>
                <a:gd name="connsiteX316" fmla="*/ 492567 w 7020657"/>
                <a:gd name="connsiteY316" fmla="*/ 1366825 h 3361408"/>
                <a:gd name="connsiteX317" fmla="*/ 462659 w 7020657"/>
                <a:gd name="connsiteY317" fmla="*/ 1361255 h 3361408"/>
                <a:gd name="connsiteX318" fmla="*/ 461258 w 7020657"/>
                <a:gd name="connsiteY318" fmla="*/ 1360593 h 3361408"/>
                <a:gd name="connsiteX319" fmla="*/ 432088 w 7020657"/>
                <a:gd name="connsiteY319" fmla="*/ 1357084 h 3361408"/>
                <a:gd name="connsiteX320" fmla="*/ 424795 w 7020657"/>
                <a:gd name="connsiteY320" fmla="*/ 1356207 h 3361408"/>
                <a:gd name="connsiteX321" fmla="*/ 397394 w 7020657"/>
                <a:gd name="connsiteY321" fmla="*/ 1354390 h 3361408"/>
                <a:gd name="connsiteX322" fmla="*/ 390104 w 7020657"/>
                <a:gd name="connsiteY322" fmla="*/ 1353513 h 3361408"/>
                <a:gd name="connsiteX323" fmla="*/ 365502 w 7020657"/>
                <a:gd name="connsiteY323" fmla="*/ 1353020 h 3361408"/>
                <a:gd name="connsiteX324" fmla="*/ 361010 w 7020657"/>
                <a:gd name="connsiteY324" fmla="*/ 1353465 h 3361408"/>
                <a:gd name="connsiteX325" fmla="*/ 258344 w 7020657"/>
                <a:gd name="connsiteY325" fmla="*/ 1362322 h 3361408"/>
                <a:gd name="connsiteX326" fmla="*/ 256281 w 7020657"/>
                <a:gd name="connsiteY326" fmla="*/ 1363060 h 3361408"/>
                <a:gd name="connsiteX327" fmla="*/ 238682 w 7020657"/>
                <a:gd name="connsiteY327" fmla="*/ 1365875 h 3361408"/>
                <a:gd name="connsiteX328" fmla="*/ 232127 w 7020657"/>
                <a:gd name="connsiteY328" fmla="*/ 1367059 h 3361408"/>
                <a:gd name="connsiteX329" fmla="*/ 219019 w 7020657"/>
                <a:gd name="connsiteY329" fmla="*/ 1369429 h 3361408"/>
                <a:gd name="connsiteX330" fmla="*/ 208341 w 7020657"/>
                <a:gd name="connsiteY330" fmla="*/ 1372089 h 3361408"/>
                <a:gd name="connsiteX331" fmla="*/ 199726 w 7020657"/>
                <a:gd name="connsiteY331" fmla="*/ 1374012 h 3361408"/>
                <a:gd name="connsiteX332" fmla="*/ 184925 w 7020657"/>
                <a:gd name="connsiteY332" fmla="*/ 1378149 h 3361408"/>
                <a:gd name="connsiteX333" fmla="*/ 180802 w 7020657"/>
                <a:gd name="connsiteY333" fmla="*/ 1379626 h 3361408"/>
                <a:gd name="connsiteX334" fmla="*/ 161878 w 7020657"/>
                <a:gd name="connsiteY334" fmla="*/ 1385241 h 3361408"/>
                <a:gd name="connsiteX335" fmla="*/ 160847 w 7020657"/>
                <a:gd name="connsiteY335" fmla="*/ 1385611 h 3361408"/>
                <a:gd name="connsiteX336" fmla="*/ 85013 w 7020657"/>
                <a:gd name="connsiteY336" fmla="*/ 1417423 h 3361408"/>
                <a:gd name="connsiteX337" fmla="*/ 81257 w 7020657"/>
                <a:gd name="connsiteY337" fmla="*/ 1419931 h 3361408"/>
                <a:gd name="connsiteX338" fmla="*/ 59687 w 7020657"/>
                <a:gd name="connsiteY338" fmla="*/ 1431145 h 3361408"/>
                <a:gd name="connsiteX339" fmla="*/ 52841 w 7020657"/>
                <a:gd name="connsiteY339" fmla="*/ 1434759 h 3361408"/>
                <a:gd name="connsiteX340" fmla="*/ 28917 w 7020657"/>
                <a:gd name="connsiteY340" fmla="*/ 1449144 h 3361408"/>
                <a:gd name="connsiteX341" fmla="*/ 23101 w 7020657"/>
                <a:gd name="connsiteY341" fmla="*/ 1452390 h 3361408"/>
                <a:gd name="connsiteX342" fmla="*/ 1 w 7020657"/>
                <a:gd name="connsiteY342" fmla="*/ 1468430 h 3361408"/>
                <a:gd name="connsiteX343" fmla="*/ 0 w 7020657"/>
                <a:gd name="connsiteY343" fmla="*/ 2472769 h 3361408"/>
                <a:gd name="connsiteX344" fmla="*/ 9511 w 7020657"/>
                <a:gd name="connsiteY344" fmla="*/ 2479577 h 3361408"/>
                <a:gd name="connsiteX345" fmla="*/ 18651 w 7020657"/>
                <a:gd name="connsiteY345" fmla="*/ 2485608 h 3361408"/>
                <a:gd name="connsiteX346" fmla="*/ 21818 w 7020657"/>
                <a:gd name="connsiteY346" fmla="*/ 2487963 h 3361408"/>
                <a:gd name="connsiteX347" fmla="*/ 30958 w 7020657"/>
                <a:gd name="connsiteY347" fmla="*/ 2493993 h 3361408"/>
                <a:gd name="connsiteX348" fmla="*/ 46064 w 7020657"/>
                <a:gd name="connsiteY348" fmla="*/ 2503703 h 3361408"/>
                <a:gd name="connsiteX349" fmla="*/ 62203 w 7020657"/>
                <a:gd name="connsiteY349" fmla="*/ 2513041 h 3361408"/>
                <a:gd name="connsiteX350" fmla="*/ 69572 w 7020657"/>
                <a:gd name="connsiteY350" fmla="*/ 2517381 h 3361408"/>
                <a:gd name="connsiteX351" fmla="*/ 72372 w 7020657"/>
                <a:gd name="connsiteY351" fmla="*/ 2518705 h 3361408"/>
                <a:gd name="connsiteX352" fmla="*/ 92711 w 7020657"/>
                <a:gd name="connsiteY352" fmla="*/ 2530028 h 3361408"/>
                <a:gd name="connsiteX353" fmla="*/ 99712 w 7020657"/>
                <a:gd name="connsiteY353" fmla="*/ 2533337 h 3361408"/>
                <a:gd name="connsiteX354" fmla="*/ 122111 w 7020657"/>
                <a:gd name="connsiteY354" fmla="*/ 2543923 h 3361408"/>
                <a:gd name="connsiteX355" fmla="*/ 127712 w 7020657"/>
                <a:gd name="connsiteY355" fmla="*/ 2546568 h 3361408"/>
                <a:gd name="connsiteX356" fmla="*/ 150773 w 7020657"/>
                <a:gd name="connsiteY356" fmla="*/ 2555756 h 3361408"/>
                <a:gd name="connsiteX357" fmla="*/ 157404 w 7020657"/>
                <a:gd name="connsiteY357" fmla="*/ 2558032 h 3361408"/>
                <a:gd name="connsiteX358" fmla="*/ 178697 w 7020657"/>
                <a:gd name="connsiteY358" fmla="*/ 2565527 h 3361408"/>
                <a:gd name="connsiteX359" fmla="*/ 186728 w 7020657"/>
                <a:gd name="connsiteY359" fmla="*/ 2568466 h 3361408"/>
                <a:gd name="connsiteX360" fmla="*/ 206252 w 7020657"/>
                <a:gd name="connsiteY360" fmla="*/ 2574267 h 3361408"/>
                <a:gd name="connsiteX361" fmla="*/ 216712 w 7020657"/>
                <a:gd name="connsiteY361" fmla="*/ 2577498 h 3361408"/>
                <a:gd name="connsiteX362" fmla="*/ 233437 w 7020657"/>
                <a:gd name="connsiteY362" fmla="*/ 2581976 h 3361408"/>
                <a:gd name="connsiteX363" fmla="*/ 246328 w 7020657"/>
                <a:gd name="connsiteY363" fmla="*/ 2585500 h 3361408"/>
                <a:gd name="connsiteX364" fmla="*/ 260252 w 7020657"/>
                <a:gd name="connsiteY364" fmla="*/ 2588654 h 3361408"/>
                <a:gd name="connsiteX365" fmla="*/ 276237 w 7020657"/>
                <a:gd name="connsiteY365" fmla="*/ 2591070 h 3361408"/>
                <a:gd name="connsiteX366" fmla="*/ 287361 w 7020657"/>
                <a:gd name="connsiteY366" fmla="*/ 2592901 h 3361408"/>
                <a:gd name="connsiteX367" fmla="*/ 306807 w 7020657"/>
                <a:gd name="connsiteY367" fmla="*/ 2595241 h 3361408"/>
                <a:gd name="connsiteX368" fmla="*/ 316161 w 7020657"/>
                <a:gd name="connsiteY368" fmla="*/ 2595381 h 3361408"/>
                <a:gd name="connsiteX369" fmla="*/ 337669 w 7020657"/>
                <a:gd name="connsiteY369" fmla="*/ 2596981 h 3361408"/>
                <a:gd name="connsiteX370" fmla="*/ 344593 w 7020657"/>
                <a:gd name="connsiteY370" fmla="*/ 2596829 h 3361408"/>
                <a:gd name="connsiteX371" fmla="*/ 367132 w 7020657"/>
                <a:gd name="connsiteY371" fmla="*/ 2598060 h 3361408"/>
                <a:gd name="connsiteX372" fmla="*/ 374056 w 7020657"/>
                <a:gd name="connsiteY372" fmla="*/ 2597907 h 3361408"/>
                <a:gd name="connsiteX373" fmla="*/ 397257 w 7020657"/>
                <a:gd name="connsiteY373" fmla="*/ 2597738 h 3361408"/>
                <a:gd name="connsiteX374" fmla="*/ 404179 w 7020657"/>
                <a:gd name="connsiteY374" fmla="*/ 2597585 h 3361408"/>
                <a:gd name="connsiteX375" fmla="*/ 427011 w 7020657"/>
                <a:gd name="connsiteY375" fmla="*/ 2596386 h 3361408"/>
                <a:gd name="connsiteX376" fmla="*/ 434965 w 7020657"/>
                <a:gd name="connsiteY376" fmla="*/ 2595864 h 3361408"/>
                <a:gd name="connsiteX377" fmla="*/ 456028 w 7020657"/>
                <a:gd name="connsiteY377" fmla="*/ 2592973 h 3361408"/>
                <a:gd name="connsiteX378" fmla="*/ 466044 w 7020657"/>
                <a:gd name="connsiteY378" fmla="*/ 2591710 h 3361408"/>
                <a:gd name="connsiteX379" fmla="*/ 484674 w 7020657"/>
                <a:gd name="connsiteY379" fmla="*/ 2588526 h 3361408"/>
                <a:gd name="connsiteX380" fmla="*/ 497783 w 7020657"/>
                <a:gd name="connsiteY380" fmla="*/ 2586158 h 3361408"/>
                <a:gd name="connsiteX381" fmla="*/ 512953 w 7020657"/>
                <a:gd name="connsiteY381" fmla="*/ 2583051 h 3361408"/>
                <a:gd name="connsiteX382" fmla="*/ 528784 w 7020657"/>
                <a:gd name="connsiteY382" fmla="*/ 2578544 h 3361408"/>
                <a:gd name="connsiteX383" fmla="*/ 540493 w 7020657"/>
                <a:gd name="connsiteY383" fmla="*/ 2575514 h 3361408"/>
                <a:gd name="connsiteX384" fmla="*/ 559416 w 7020657"/>
                <a:gd name="connsiteY384" fmla="*/ 2569900 h 3361408"/>
                <a:gd name="connsiteX385" fmla="*/ 568694 w 7020657"/>
                <a:gd name="connsiteY385" fmla="*/ 2566577 h 3361408"/>
                <a:gd name="connsiteX386" fmla="*/ 589311 w 7020657"/>
                <a:gd name="connsiteY386" fmla="*/ 2559193 h 3361408"/>
                <a:gd name="connsiteX387" fmla="*/ 596526 w 7020657"/>
                <a:gd name="connsiteY387" fmla="*/ 2556609 h 3361408"/>
                <a:gd name="connsiteX388" fmla="*/ 618835 w 7020657"/>
                <a:gd name="connsiteY388" fmla="*/ 2547456 h 3361408"/>
                <a:gd name="connsiteX389" fmla="*/ 623990 w 7020657"/>
                <a:gd name="connsiteY389" fmla="*/ 2545610 h 3361408"/>
                <a:gd name="connsiteX390" fmla="*/ 645927 w 7020657"/>
                <a:gd name="connsiteY390" fmla="*/ 2535425 h 3361408"/>
                <a:gd name="connsiteX391" fmla="*/ 650715 w 7020657"/>
                <a:gd name="connsiteY391" fmla="*/ 2532550 h 3361408"/>
                <a:gd name="connsiteX392" fmla="*/ 671254 w 7020657"/>
                <a:gd name="connsiteY392" fmla="*/ 2521703 h 3361408"/>
                <a:gd name="connsiteX393" fmla="*/ 677070 w 7020657"/>
                <a:gd name="connsiteY393" fmla="*/ 2518458 h 3361408"/>
                <a:gd name="connsiteX394" fmla="*/ 696211 w 7020657"/>
                <a:gd name="connsiteY394" fmla="*/ 2506950 h 3361408"/>
                <a:gd name="connsiteX395" fmla="*/ 702686 w 7020657"/>
                <a:gd name="connsiteY395" fmla="*/ 2502305 h 3361408"/>
                <a:gd name="connsiteX396" fmla="*/ 718734 w 7020657"/>
                <a:gd name="connsiteY396" fmla="*/ 2491905 h 3361408"/>
                <a:gd name="connsiteX397" fmla="*/ 727934 w 7020657"/>
                <a:gd name="connsiteY397" fmla="*/ 2485121 h 3361408"/>
                <a:gd name="connsiteX398" fmla="*/ 741550 w 7020657"/>
                <a:gd name="connsiteY398" fmla="*/ 2474429 h 3361408"/>
                <a:gd name="connsiteX399" fmla="*/ 752444 w 7020657"/>
                <a:gd name="connsiteY399" fmla="*/ 2465875 h 3361408"/>
                <a:gd name="connsiteX400" fmla="*/ 763336 w 7020657"/>
                <a:gd name="connsiteY400" fmla="*/ 2457321 h 3361408"/>
                <a:gd name="connsiteX401" fmla="*/ 776953 w 7020657"/>
                <a:gd name="connsiteY401" fmla="*/ 2446629 h 3361408"/>
                <a:gd name="connsiteX402" fmla="*/ 784754 w 7020657"/>
                <a:gd name="connsiteY402" fmla="*/ 2439184 h 3361408"/>
                <a:gd name="connsiteX403" fmla="*/ 799693 w 7020657"/>
                <a:gd name="connsiteY403" fmla="*/ 2425690 h 3361408"/>
                <a:gd name="connsiteX404" fmla="*/ 805801 w 7020657"/>
                <a:gd name="connsiteY404" fmla="*/ 2420015 h 3361408"/>
                <a:gd name="connsiteX405" fmla="*/ 821034 w 7020657"/>
                <a:gd name="connsiteY405" fmla="*/ 2404092 h 3361408"/>
                <a:gd name="connsiteX406" fmla="*/ 826111 w 7020657"/>
                <a:gd name="connsiteY406" fmla="*/ 2398784 h 3361408"/>
                <a:gd name="connsiteX407" fmla="*/ 841636 w 7020657"/>
                <a:gd name="connsiteY407" fmla="*/ 2380430 h 3361408"/>
                <a:gd name="connsiteX408" fmla="*/ 845683 w 7020657"/>
                <a:gd name="connsiteY408" fmla="*/ 2375492 h 3361408"/>
                <a:gd name="connsiteX409" fmla="*/ 860838 w 7020657"/>
                <a:gd name="connsiteY409" fmla="*/ 2356107 h 3361408"/>
                <a:gd name="connsiteX410" fmla="*/ 865545 w 7020657"/>
                <a:gd name="connsiteY410" fmla="*/ 2349769 h 3361408"/>
                <a:gd name="connsiteX411" fmla="*/ 878639 w 7020657"/>
                <a:gd name="connsiteY411" fmla="*/ 2331123 h 3361408"/>
                <a:gd name="connsiteX412" fmla="*/ 880332 w 7020657"/>
                <a:gd name="connsiteY412" fmla="*/ 2329353 h 3361408"/>
                <a:gd name="connsiteX413" fmla="*/ 885702 w 7020657"/>
                <a:gd name="connsiteY413" fmla="*/ 2321615 h 3361408"/>
                <a:gd name="connsiteX414" fmla="*/ 895410 w 7020657"/>
                <a:gd name="connsiteY414" fmla="*/ 2306507 h 3361408"/>
                <a:gd name="connsiteX415" fmla="*/ 904088 w 7020657"/>
                <a:gd name="connsiteY415" fmla="*/ 2291769 h 3361408"/>
                <a:gd name="connsiteX416" fmla="*/ 909089 w 7020657"/>
                <a:gd name="connsiteY416" fmla="*/ 2283000 h 3361408"/>
                <a:gd name="connsiteX417" fmla="*/ 910413 w 7020657"/>
                <a:gd name="connsiteY417" fmla="*/ 2280199 h 3361408"/>
                <a:gd name="connsiteX418" fmla="*/ 915043 w 7020657"/>
                <a:gd name="connsiteY418" fmla="*/ 2270399 h 3361408"/>
                <a:gd name="connsiteX419" fmla="*/ 922690 w 7020657"/>
                <a:gd name="connsiteY419" fmla="*/ 2256030 h 3361408"/>
                <a:gd name="connsiteX420" fmla="*/ 924451 w 7020657"/>
                <a:gd name="connsiteY420" fmla="*/ 2252307 h 3361408"/>
                <a:gd name="connsiteX421" fmla="*/ 922156 w 7020657"/>
                <a:gd name="connsiteY421" fmla="*/ 2280601 h 3361408"/>
                <a:gd name="connsiteX422" fmla="*/ 922156 w 7020657"/>
                <a:gd name="connsiteY422" fmla="*/ 3257296 h 3361408"/>
                <a:gd name="connsiteX423" fmla="*/ 842831 w 7020657"/>
                <a:gd name="connsiteY423" fmla="*/ 3351492 h 3361408"/>
                <a:gd name="connsiteX424" fmla="*/ 520575 w 7020657"/>
                <a:gd name="connsiteY424" fmla="*/ 3351492 h 3361408"/>
                <a:gd name="connsiteX425" fmla="*/ 352009 w 7020657"/>
                <a:gd name="connsiteY425" fmla="*/ 3331661 h 3361408"/>
                <a:gd name="connsiteX426" fmla="*/ 143780 w 7020657"/>
                <a:gd name="connsiteY426" fmla="*/ 3217634 h 3361408"/>
                <a:gd name="connsiteX427" fmla="*/ 138819 w 7020657"/>
                <a:gd name="connsiteY427" fmla="*/ 3212673 h 3361408"/>
                <a:gd name="connsiteX428" fmla="*/ 109072 w 7020657"/>
                <a:gd name="connsiteY428" fmla="*/ 3177971 h 3361408"/>
                <a:gd name="connsiteX429" fmla="*/ 94202 w 7020657"/>
                <a:gd name="connsiteY429" fmla="*/ 3168055 h 3361408"/>
                <a:gd name="connsiteX430" fmla="*/ 79325 w 7020657"/>
                <a:gd name="connsiteY430" fmla="*/ 3148224 h 3361408"/>
                <a:gd name="connsiteX431" fmla="*/ 69410 w 7020657"/>
                <a:gd name="connsiteY431" fmla="*/ 3128393 h 3361408"/>
                <a:gd name="connsiteX432" fmla="*/ 59494 w 7020657"/>
                <a:gd name="connsiteY432" fmla="*/ 3108561 h 3361408"/>
                <a:gd name="connsiteX433" fmla="*/ 49578 w 7020657"/>
                <a:gd name="connsiteY433" fmla="*/ 3083770 h 3361408"/>
                <a:gd name="connsiteX434" fmla="*/ 44623 w 7020657"/>
                <a:gd name="connsiteY434" fmla="*/ 3068899 h 3361408"/>
                <a:gd name="connsiteX435" fmla="*/ 4961 w 7020657"/>
                <a:gd name="connsiteY435" fmla="*/ 2910248 h 3361408"/>
                <a:gd name="connsiteX436" fmla="*/ 0 w 7020657"/>
                <a:gd name="connsiteY436" fmla="*/ 2835878 h 3361408"/>
                <a:gd name="connsiteX437" fmla="*/ 0 w 7020657"/>
                <a:gd name="connsiteY437" fmla="*/ 1412984 h 3361408"/>
                <a:gd name="connsiteX438" fmla="*/ 0 w 7020657"/>
                <a:gd name="connsiteY438" fmla="*/ 94201 h 3361408"/>
                <a:gd name="connsiteX439" fmla="*/ 14876 w 7020657"/>
                <a:gd name="connsiteY439" fmla="*/ 34707 h 3361408"/>
                <a:gd name="connsiteX440" fmla="*/ 74370 w 7020657"/>
                <a:gd name="connsiteY440" fmla="*/ 0 h 336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Lst>
              <a:rect l="l" t="t" r="r" b="b"/>
              <a:pathLst>
                <a:path w="7020657" h="3361408">
                  <a:moveTo>
                    <a:pt x="3648463" y="3109363"/>
                  </a:moveTo>
                  <a:lnTo>
                    <a:pt x="3515103" y="3123432"/>
                  </a:lnTo>
                  <a:lnTo>
                    <a:pt x="3461505" y="3118516"/>
                  </a:lnTo>
                  <a:lnTo>
                    <a:pt x="3515104" y="3123432"/>
                  </a:lnTo>
                  <a:close/>
                  <a:moveTo>
                    <a:pt x="6124147" y="3002705"/>
                  </a:moveTo>
                  <a:lnTo>
                    <a:pt x="6188923" y="3072335"/>
                  </a:lnTo>
                  <a:cubicBezTo>
                    <a:pt x="6379123" y="3253447"/>
                    <a:pt x="6644403" y="3352683"/>
                    <a:pt x="6926203" y="3324010"/>
                  </a:cubicBezTo>
                  <a:lnTo>
                    <a:pt x="7014988" y="3310279"/>
                  </a:lnTo>
                  <a:lnTo>
                    <a:pt x="7001075" y="3338479"/>
                  </a:lnTo>
                  <a:cubicBezTo>
                    <a:pt x="6988061" y="3353972"/>
                    <a:pt x="6968229" y="3361408"/>
                    <a:pt x="6940960" y="3361408"/>
                  </a:cubicBezTo>
                  <a:lnTo>
                    <a:pt x="6618704" y="3361408"/>
                  </a:lnTo>
                  <a:cubicBezTo>
                    <a:pt x="6534418" y="3361408"/>
                    <a:pt x="6460054" y="3346537"/>
                    <a:pt x="6395599" y="3321745"/>
                  </a:cubicBezTo>
                  <a:cubicBezTo>
                    <a:pt x="6341066" y="3301914"/>
                    <a:pt x="6291487" y="3267212"/>
                    <a:pt x="6246864" y="3227549"/>
                  </a:cubicBezTo>
                  <a:cubicBezTo>
                    <a:pt x="6246864" y="3227549"/>
                    <a:pt x="6241909" y="3222589"/>
                    <a:pt x="6241909" y="3222589"/>
                  </a:cubicBezTo>
                  <a:cubicBezTo>
                    <a:pt x="6227033" y="3207718"/>
                    <a:pt x="6217117" y="3197802"/>
                    <a:pt x="6207202" y="3182926"/>
                  </a:cubicBezTo>
                  <a:cubicBezTo>
                    <a:pt x="6207202" y="3182926"/>
                    <a:pt x="6202247" y="3177971"/>
                    <a:pt x="6202247" y="3177971"/>
                  </a:cubicBezTo>
                  <a:cubicBezTo>
                    <a:pt x="6192331" y="3163095"/>
                    <a:pt x="6187370" y="3153179"/>
                    <a:pt x="6177455" y="3138308"/>
                  </a:cubicBezTo>
                  <a:cubicBezTo>
                    <a:pt x="6177455" y="3138308"/>
                    <a:pt x="6177455" y="3133348"/>
                    <a:pt x="6177455" y="3133348"/>
                  </a:cubicBezTo>
                  <a:cubicBezTo>
                    <a:pt x="6167539" y="3118477"/>
                    <a:pt x="6157623" y="3103601"/>
                    <a:pt x="6152668" y="3088730"/>
                  </a:cubicBezTo>
                  <a:cubicBezTo>
                    <a:pt x="6142753" y="3073854"/>
                    <a:pt x="6137792" y="3058983"/>
                    <a:pt x="6132837" y="3039152"/>
                  </a:cubicBezTo>
                  <a:close/>
                  <a:moveTo>
                    <a:pt x="2420514" y="2406699"/>
                  </a:moveTo>
                  <a:lnTo>
                    <a:pt x="2498747" y="2478915"/>
                  </a:lnTo>
                  <a:lnTo>
                    <a:pt x="2718247" y="2677312"/>
                  </a:lnTo>
                  <a:lnTo>
                    <a:pt x="2498746" y="2478915"/>
                  </a:lnTo>
                  <a:close/>
                  <a:moveTo>
                    <a:pt x="6103088" y="2290496"/>
                  </a:moveTo>
                  <a:lnTo>
                    <a:pt x="6103091" y="2290517"/>
                  </a:lnTo>
                  <a:lnTo>
                    <a:pt x="6103091" y="2840839"/>
                  </a:lnTo>
                  <a:lnTo>
                    <a:pt x="6108825" y="2921614"/>
                  </a:lnTo>
                  <a:lnTo>
                    <a:pt x="6103090" y="2840839"/>
                  </a:lnTo>
                  <a:lnTo>
                    <a:pt x="6103090" y="2290517"/>
                  </a:lnTo>
                  <a:close/>
                  <a:moveTo>
                    <a:pt x="6077936" y="2122601"/>
                  </a:moveTo>
                  <a:lnTo>
                    <a:pt x="6084265" y="2137048"/>
                  </a:lnTo>
                  <a:lnTo>
                    <a:pt x="6086340" y="2153961"/>
                  </a:lnTo>
                  <a:close/>
                  <a:moveTo>
                    <a:pt x="5051393" y="2021321"/>
                  </a:moveTo>
                  <a:lnTo>
                    <a:pt x="5027239" y="2037670"/>
                  </a:lnTo>
                  <a:cubicBezTo>
                    <a:pt x="4987576" y="2069895"/>
                    <a:pt x="4946674" y="2102121"/>
                    <a:pt x="4906392" y="2135586"/>
                  </a:cubicBezTo>
                  <a:lnTo>
                    <a:pt x="4877518" y="2161557"/>
                  </a:lnTo>
                  <a:lnTo>
                    <a:pt x="4906392" y="2135586"/>
                  </a:lnTo>
                  <a:cubicBezTo>
                    <a:pt x="4946674" y="2102121"/>
                    <a:pt x="4987576" y="2069895"/>
                    <a:pt x="5027239" y="2037670"/>
                  </a:cubicBezTo>
                  <a:close/>
                  <a:moveTo>
                    <a:pt x="1696129" y="1848090"/>
                  </a:moveTo>
                  <a:lnTo>
                    <a:pt x="1710455" y="1854229"/>
                  </a:lnTo>
                  <a:cubicBezTo>
                    <a:pt x="1725325" y="1859188"/>
                    <a:pt x="1740201" y="1869104"/>
                    <a:pt x="1755072" y="1879020"/>
                  </a:cubicBezTo>
                  <a:cubicBezTo>
                    <a:pt x="1839358" y="1918683"/>
                    <a:pt x="1918683" y="1973216"/>
                    <a:pt x="1998008" y="2032710"/>
                  </a:cubicBezTo>
                  <a:cubicBezTo>
                    <a:pt x="2092205" y="2102120"/>
                    <a:pt x="2176491" y="2176489"/>
                    <a:pt x="2260771" y="2260770"/>
                  </a:cubicBezTo>
                  <a:cubicBezTo>
                    <a:pt x="2260771" y="2260770"/>
                    <a:pt x="2260771" y="2260770"/>
                    <a:pt x="2265731" y="2265730"/>
                  </a:cubicBezTo>
                  <a:lnTo>
                    <a:pt x="2290250" y="2287183"/>
                  </a:lnTo>
                  <a:lnTo>
                    <a:pt x="2265731" y="2265731"/>
                  </a:lnTo>
                  <a:cubicBezTo>
                    <a:pt x="2260770" y="2260770"/>
                    <a:pt x="2260770" y="2260770"/>
                    <a:pt x="2260770" y="2260770"/>
                  </a:cubicBezTo>
                  <a:cubicBezTo>
                    <a:pt x="2176490" y="2176490"/>
                    <a:pt x="2092204" y="2102120"/>
                    <a:pt x="1998008" y="2032710"/>
                  </a:cubicBezTo>
                  <a:cubicBezTo>
                    <a:pt x="1918682" y="1973216"/>
                    <a:pt x="1839357" y="1918683"/>
                    <a:pt x="1755072" y="1879020"/>
                  </a:cubicBezTo>
                  <a:cubicBezTo>
                    <a:pt x="1740201" y="1869104"/>
                    <a:pt x="1725325" y="1859189"/>
                    <a:pt x="1710454" y="1854228"/>
                  </a:cubicBezTo>
                  <a:close/>
                  <a:moveTo>
                    <a:pt x="1636233" y="1215543"/>
                  </a:moveTo>
                  <a:cubicBezTo>
                    <a:pt x="1710633" y="1217627"/>
                    <a:pt x="1782715" y="1255706"/>
                    <a:pt x="1826029" y="1323060"/>
                  </a:cubicBezTo>
                  <a:lnTo>
                    <a:pt x="1826767" y="1325120"/>
                  </a:lnTo>
                  <a:cubicBezTo>
                    <a:pt x="1874487" y="1399912"/>
                    <a:pt x="1864482" y="1495376"/>
                    <a:pt x="1809078" y="1558251"/>
                  </a:cubicBezTo>
                  <a:cubicBezTo>
                    <a:pt x="1807385" y="1560020"/>
                    <a:pt x="1805693" y="1561790"/>
                    <a:pt x="1805031" y="1563190"/>
                  </a:cubicBezTo>
                  <a:cubicBezTo>
                    <a:pt x="1748595" y="1626435"/>
                    <a:pt x="1703068" y="1697405"/>
                    <a:pt x="1670800" y="1772929"/>
                  </a:cubicBezTo>
                  <a:lnTo>
                    <a:pt x="1649589" y="1831521"/>
                  </a:lnTo>
                  <a:lnTo>
                    <a:pt x="1671500" y="1838085"/>
                  </a:lnTo>
                  <a:lnTo>
                    <a:pt x="1541265" y="1799073"/>
                  </a:lnTo>
                  <a:cubicBezTo>
                    <a:pt x="1496026" y="1789776"/>
                    <a:pt x="1450166" y="1784819"/>
                    <a:pt x="1403068" y="1784819"/>
                  </a:cubicBezTo>
                  <a:cubicBezTo>
                    <a:pt x="1259289" y="1784819"/>
                    <a:pt x="1145261" y="1829442"/>
                    <a:pt x="1056020" y="1923638"/>
                  </a:cubicBezTo>
                  <a:cubicBezTo>
                    <a:pt x="1033710" y="1947188"/>
                    <a:pt x="1014188" y="1972288"/>
                    <a:pt x="997456" y="1998936"/>
                  </a:cubicBezTo>
                  <a:lnTo>
                    <a:pt x="983451" y="2027256"/>
                  </a:lnTo>
                  <a:lnTo>
                    <a:pt x="984565" y="2016380"/>
                  </a:lnTo>
                  <a:cubicBezTo>
                    <a:pt x="984196" y="2015349"/>
                    <a:pt x="984858" y="2013948"/>
                    <a:pt x="984488" y="2012918"/>
                  </a:cubicBezTo>
                  <a:cubicBezTo>
                    <a:pt x="985798" y="1993840"/>
                    <a:pt x="985045" y="1975502"/>
                    <a:pt x="984291" y="1957162"/>
                  </a:cubicBezTo>
                  <a:cubicBezTo>
                    <a:pt x="983922" y="1956131"/>
                    <a:pt x="984584" y="1954732"/>
                    <a:pt x="984216" y="1953700"/>
                  </a:cubicBezTo>
                  <a:cubicBezTo>
                    <a:pt x="983324" y="1944715"/>
                    <a:pt x="983462" y="1935362"/>
                    <a:pt x="982570" y="1926376"/>
                  </a:cubicBezTo>
                  <a:cubicBezTo>
                    <a:pt x="982570" y="1926376"/>
                    <a:pt x="982201" y="1925345"/>
                    <a:pt x="982201" y="1925345"/>
                  </a:cubicBezTo>
                  <a:cubicBezTo>
                    <a:pt x="981309" y="1916360"/>
                    <a:pt x="980417" y="1907375"/>
                    <a:pt x="979525" y="1898390"/>
                  </a:cubicBezTo>
                  <a:cubicBezTo>
                    <a:pt x="978788" y="1896329"/>
                    <a:pt x="979449" y="1894929"/>
                    <a:pt x="978710" y="1892867"/>
                  </a:cubicBezTo>
                  <a:cubicBezTo>
                    <a:pt x="977157" y="1885282"/>
                    <a:pt x="977003" y="1878359"/>
                    <a:pt x="975450" y="1870775"/>
                  </a:cubicBezTo>
                  <a:cubicBezTo>
                    <a:pt x="974712" y="1868712"/>
                    <a:pt x="975373" y="1867312"/>
                    <a:pt x="974635" y="1865251"/>
                  </a:cubicBezTo>
                  <a:cubicBezTo>
                    <a:pt x="972712" y="1856635"/>
                    <a:pt x="971158" y="1849050"/>
                    <a:pt x="969235" y="1840435"/>
                  </a:cubicBezTo>
                  <a:cubicBezTo>
                    <a:pt x="968127" y="1837341"/>
                    <a:pt x="968420" y="1834911"/>
                    <a:pt x="967314" y="1831819"/>
                  </a:cubicBezTo>
                  <a:cubicBezTo>
                    <a:pt x="966498" y="1826295"/>
                    <a:pt x="964283" y="1820110"/>
                    <a:pt x="962437" y="1814955"/>
                  </a:cubicBezTo>
                  <a:cubicBezTo>
                    <a:pt x="961330" y="1811863"/>
                    <a:pt x="960222" y="1808772"/>
                    <a:pt x="960145" y="1805309"/>
                  </a:cubicBezTo>
                  <a:cubicBezTo>
                    <a:pt x="957561" y="1798094"/>
                    <a:pt x="956006" y="1790508"/>
                    <a:pt x="953422" y="1783293"/>
                  </a:cubicBezTo>
                  <a:cubicBezTo>
                    <a:pt x="951946" y="1779170"/>
                    <a:pt x="950838" y="1776077"/>
                    <a:pt x="949362" y="1771955"/>
                  </a:cubicBezTo>
                  <a:cubicBezTo>
                    <a:pt x="947885" y="1767831"/>
                    <a:pt x="946408" y="1763707"/>
                    <a:pt x="944931" y="1759584"/>
                  </a:cubicBezTo>
                  <a:cubicBezTo>
                    <a:pt x="943454" y="1755461"/>
                    <a:pt x="941977" y="1751337"/>
                    <a:pt x="940500" y="1747214"/>
                  </a:cubicBezTo>
                  <a:cubicBezTo>
                    <a:pt x="938286" y="1741029"/>
                    <a:pt x="934671" y="1734184"/>
                    <a:pt x="932455" y="1727998"/>
                  </a:cubicBezTo>
                  <a:cubicBezTo>
                    <a:pt x="930978" y="1723875"/>
                    <a:pt x="928102" y="1719089"/>
                    <a:pt x="926626" y="1714967"/>
                  </a:cubicBezTo>
                  <a:cubicBezTo>
                    <a:pt x="925148" y="1710843"/>
                    <a:pt x="923011" y="1708120"/>
                    <a:pt x="921533" y="1703997"/>
                  </a:cubicBezTo>
                  <a:cubicBezTo>
                    <a:pt x="919025" y="1700243"/>
                    <a:pt x="917550" y="1696119"/>
                    <a:pt x="914673" y="1691335"/>
                  </a:cubicBezTo>
                  <a:cubicBezTo>
                    <a:pt x="911797" y="1686550"/>
                    <a:pt x="910319" y="1682426"/>
                    <a:pt x="907442" y="1677641"/>
                  </a:cubicBezTo>
                  <a:cubicBezTo>
                    <a:pt x="904195" y="1671826"/>
                    <a:pt x="901318" y="1667040"/>
                    <a:pt x="898073" y="1661225"/>
                  </a:cubicBezTo>
                  <a:cubicBezTo>
                    <a:pt x="897335" y="1659163"/>
                    <a:pt x="895196" y="1656440"/>
                    <a:pt x="894458" y="1654378"/>
                  </a:cubicBezTo>
                  <a:cubicBezTo>
                    <a:pt x="894089" y="1653348"/>
                    <a:pt x="892689" y="1652685"/>
                    <a:pt x="892319" y="1651655"/>
                  </a:cubicBezTo>
                  <a:cubicBezTo>
                    <a:pt x="887673" y="1645178"/>
                    <a:pt x="883689" y="1637300"/>
                    <a:pt x="879043" y="1630823"/>
                  </a:cubicBezTo>
                  <a:cubicBezTo>
                    <a:pt x="877274" y="1629130"/>
                    <a:pt x="876166" y="1626038"/>
                    <a:pt x="874396" y="1624347"/>
                  </a:cubicBezTo>
                  <a:cubicBezTo>
                    <a:pt x="869752" y="1617868"/>
                    <a:pt x="864736" y="1610360"/>
                    <a:pt x="859059" y="1604251"/>
                  </a:cubicBezTo>
                  <a:cubicBezTo>
                    <a:pt x="857289" y="1602560"/>
                    <a:pt x="856183" y="1599467"/>
                    <a:pt x="854413" y="1597775"/>
                  </a:cubicBezTo>
                  <a:cubicBezTo>
                    <a:pt x="849767" y="1591298"/>
                    <a:pt x="843722" y="1584157"/>
                    <a:pt x="838044" y="1578050"/>
                  </a:cubicBezTo>
                  <a:cubicBezTo>
                    <a:pt x="836276" y="1576357"/>
                    <a:pt x="834507" y="1574665"/>
                    <a:pt x="833767" y="1572603"/>
                  </a:cubicBezTo>
                  <a:cubicBezTo>
                    <a:pt x="827352" y="1564434"/>
                    <a:pt x="820276" y="1557663"/>
                    <a:pt x="813199" y="1550894"/>
                  </a:cubicBezTo>
                  <a:cubicBezTo>
                    <a:pt x="812829" y="1549863"/>
                    <a:pt x="811800" y="1550232"/>
                    <a:pt x="811430" y="1549201"/>
                  </a:cubicBezTo>
                  <a:cubicBezTo>
                    <a:pt x="808260" y="1546847"/>
                    <a:pt x="806122" y="1544125"/>
                    <a:pt x="803614" y="1540370"/>
                  </a:cubicBezTo>
                  <a:cubicBezTo>
                    <a:pt x="759600" y="1492166"/>
                    <a:pt x="749003" y="1420364"/>
                    <a:pt x="781945" y="1359717"/>
                  </a:cubicBezTo>
                  <a:lnTo>
                    <a:pt x="783269" y="1356917"/>
                  </a:lnTo>
                  <a:cubicBezTo>
                    <a:pt x="834890" y="1263993"/>
                    <a:pt x="941281" y="1220073"/>
                    <a:pt x="1040514" y="1243849"/>
                  </a:cubicBezTo>
                  <a:cubicBezTo>
                    <a:pt x="1042944" y="1244142"/>
                    <a:pt x="1044345" y="1244803"/>
                    <a:pt x="1046776" y="1245095"/>
                  </a:cubicBezTo>
                  <a:cubicBezTo>
                    <a:pt x="1048175" y="1245758"/>
                    <a:pt x="1049206" y="1245389"/>
                    <a:pt x="1050606" y="1246050"/>
                  </a:cubicBezTo>
                  <a:cubicBezTo>
                    <a:pt x="1060699" y="1248251"/>
                    <a:pt x="1069761" y="1250819"/>
                    <a:pt x="1079853" y="1253020"/>
                  </a:cubicBezTo>
                  <a:cubicBezTo>
                    <a:pt x="1082283" y="1253313"/>
                    <a:pt x="1083684" y="1253975"/>
                    <a:pt x="1086115" y="1254268"/>
                  </a:cubicBezTo>
                  <a:cubicBezTo>
                    <a:pt x="1097239" y="1256100"/>
                    <a:pt x="1108731" y="1258960"/>
                    <a:pt x="1119855" y="1260792"/>
                  </a:cubicBezTo>
                  <a:cubicBezTo>
                    <a:pt x="1122285" y="1261085"/>
                    <a:pt x="1124716" y="1261378"/>
                    <a:pt x="1127147" y="1261669"/>
                  </a:cubicBezTo>
                  <a:cubicBezTo>
                    <a:pt x="1136869" y="1262838"/>
                    <a:pt x="1145564" y="1264378"/>
                    <a:pt x="1155286" y="1265548"/>
                  </a:cubicBezTo>
                  <a:cubicBezTo>
                    <a:pt x="1157717" y="1265840"/>
                    <a:pt x="1160147" y="1266133"/>
                    <a:pt x="1162578" y="1266425"/>
                  </a:cubicBezTo>
                  <a:cubicBezTo>
                    <a:pt x="1193149" y="1270596"/>
                    <a:pt x="1225043" y="1271968"/>
                    <a:pt x="1255534" y="1272676"/>
                  </a:cubicBezTo>
                  <a:cubicBezTo>
                    <a:pt x="1261427" y="1272892"/>
                    <a:pt x="1266951" y="1272077"/>
                    <a:pt x="1271813" y="1272661"/>
                  </a:cubicBezTo>
                  <a:cubicBezTo>
                    <a:pt x="1271813" y="1272661"/>
                    <a:pt x="1271813" y="1272661"/>
                    <a:pt x="1272844" y="1272292"/>
                  </a:cubicBezTo>
                  <a:cubicBezTo>
                    <a:pt x="1368078" y="1271913"/>
                    <a:pt x="1463005" y="1257687"/>
                    <a:pt x="1555856" y="1227921"/>
                  </a:cubicBezTo>
                  <a:cubicBezTo>
                    <a:pt x="1557916" y="1227182"/>
                    <a:pt x="1559979" y="1226443"/>
                    <a:pt x="1562039" y="1225705"/>
                  </a:cubicBezTo>
                  <a:cubicBezTo>
                    <a:pt x="1586375" y="1218152"/>
                    <a:pt x="1611433" y="1214848"/>
                    <a:pt x="1636233" y="1215543"/>
                  </a:cubicBezTo>
                  <a:close/>
                  <a:moveTo>
                    <a:pt x="1247143" y="176445"/>
                  </a:moveTo>
                  <a:lnTo>
                    <a:pt x="1308867" y="228060"/>
                  </a:lnTo>
                  <a:lnTo>
                    <a:pt x="1308867" y="228061"/>
                  </a:lnTo>
                  <a:close/>
                  <a:moveTo>
                    <a:pt x="5961847" y="21044"/>
                  </a:moveTo>
                  <a:lnTo>
                    <a:pt x="5954357" y="24792"/>
                  </a:lnTo>
                  <a:cubicBezTo>
                    <a:pt x="5944441" y="29750"/>
                    <a:pt x="5933285" y="38426"/>
                    <a:pt x="5920889" y="49580"/>
                  </a:cubicBezTo>
                  <a:lnTo>
                    <a:pt x="5887672" y="81788"/>
                  </a:lnTo>
                  <a:lnTo>
                    <a:pt x="5920889" y="49580"/>
                  </a:lnTo>
                  <a:cubicBezTo>
                    <a:pt x="5933284" y="38425"/>
                    <a:pt x="5944440" y="29750"/>
                    <a:pt x="5954355" y="24792"/>
                  </a:cubicBezTo>
                  <a:close/>
                  <a:moveTo>
                    <a:pt x="6038636" y="4960"/>
                  </a:moveTo>
                  <a:lnTo>
                    <a:pt x="6509632" y="4960"/>
                  </a:lnTo>
                  <a:cubicBezTo>
                    <a:pt x="6519548" y="4960"/>
                    <a:pt x="6529463" y="4960"/>
                    <a:pt x="6539379" y="4960"/>
                  </a:cubicBezTo>
                  <a:cubicBezTo>
                    <a:pt x="6549295" y="4960"/>
                    <a:pt x="6559210" y="4960"/>
                    <a:pt x="6569126" y="4960"/>
                  </a:cubicBezTo>
                  <a:cubicBezTo>
                    <a:pt x="6579042" y="4960"/>
                    <a:pt x="6593912" y="9916"/>
                    <a:pt x="6608789" y="9916"/>
                  </a:cubicBezTo>
                  <a:cubicBezTo>
                    <a:pt x="6613744" y="9916"/>
                    <a:pt x="6618704" y="9916"/>
                    <a:pt x="6623659" y="9916"/>
                  </a:cubicBezTo>
                  <a:cubicBezTo>
                    <a:pt x="6638535" y="14876"/>
                    <a:pt x="6653406" y="14876"/>
                    <a:pt x="6668282" y="19831"/>
                  </a:cubicBezTo>
                  <a:cubicBezTo>
                    <a:pt x="6668282" y="19831"/>
                    <a:pt x="6673238" y="19831"/>
                    <a:pt x="6673238" y="19831"/>
                  </a:cubicBezTo>
                  <a:cubicBezTo>
                    <a:pt x="6693069" y="24792"/>
                    <a:pt x="6707945" y="29747"/>
                    <a:pt x="6722816" y="34707"/>
                  </a:cubicBezTo>
                  <a:cubicBezTo>
                    <a:pt x="6787270" y="54539"/>
                    <a:pt x="6841804" y="89241"/>
                    <a:pt x="6886427" y="133864"/>
                  </a:cubicBezTo>
                  <a:cubicBezTo>
                    <a:pt x="6886427" y="133864"/>
                    <a:pt x="6886427" y="133864"/>
                    <a:pt x="6891382" y="138819"/>
                  </a:cubicBezTo>
                  <a:cubicBezTo>
                    <a:pt x="6980623" y="228060"/>
                    <a:pt x="7025246" y="356964"/>
                    <a:pt x="7020285" y="520575"/>
                  </a:cubicBezTo>
                  <a:lnTo>
                    <a:pt x="7020285" y="1298951"/>
                  </a:lnTo>
                  <a:lnTo>
                    <a:pt x="7020285" y="1484144"/>
                  </a:lnTo>
                  <a:lnTo>
                    <a:pt x="7004863" y="1480480"/>
                  </a:lnTo>
                  <a:cubicBezTo>
                    <a:pt x="6948557" y="1469836"/>
                    <a:pt x="6890637" y="1464333"/>
                    <a:pt x="6831667" y="1464430"/>
                  </a:cubicBezTo>
                  <a:cubicBezTo>
                    <a:pt x="6800217" y="1464481"/>
                    <a:pt x="6768467" y="1466126"/>
                    <a:pt x="6736505" y="1469431"/>
                  </a:cubicBezTo>
                  <a:cubicBezTo>
                    <a:pt x="6414445" y="1502203"/>
                    <a:pt x="6147549" y="1695488"/>
                    <a:pt x="6006963" y="1962167"/>
                  </a:cubicBezTo>
                  <a:lnTo>
                    <a:pt x="6001579" y="1974765"/>
                  </a:lnTo>
                  <a:lnTo>
                    <a:pt x="6016471" y="1993735"/>
                  </a:lnTo>
                  <a:lnTo>
                    <a:pt x="5969226" y="1933553"/>
                  </a:lnTo>
                  <a:cubicBezTo>
                    <a:pt x="5875030" y="1839357"/>
                    <a:pt x="5760997" y="1794734"/>
                    <a:pt x="5622178" y="1794734"/>
                  </a:cubicBezTo>
                  <a:cubicBezTo>
                    <a:pt x="5518066" y="1794734"/>
                    <a:pt x="5413949" y="1819526"/>
                    <a:pt x="5314793" y="1864144"/>
                  </a:cubicBezTo>
                  <a:lnTo>
                    <a:pt x="5194518" y="1928122"/>
                  </a:lnTo>
                  <a:lnTo>
                    <a:pt x="5200293" y="1925050"/>
                  </a:lnTo>
                  <a:lnTo>
                    <a:pt x="5166606" y="1885296"/>
                  </a:lnTo>
                  <a:cubicBezTo>
                    <a:pt x="5128079" y="1846322"/>
                    <a:pt x="5086671" y="1810268"/>
                    <a:pt x="5042817" y="1777127"/>
                  </a:cubicBezTo>
                  <a:cubicBezTo>
                    <a:pt x="5041417" y="1776466"/>
                    <a:pt x="5040019" y="1775804"/>
                    <a:pt x="5039651" y="1774773"/>
                  </a:cubicBezTo>
                  <a:cubicBezTo>
                    <a:pt x="5021003" y="1761680"/>
                    <a:pt x="5001987" y="1747555"/>
                    <a:pt x="4982679" y="1735862"/>
                  </a:cubicBezTo>
                  <a:cubicBezTo>
                    <a:pt x="4979878" y="1734539"/>
                    <a:pt x="4977741" y="1731815"/>
                    <a:pt x="4974941" y="1730492"/>
                  </a:cubicBezTo>
                  <a:cubicBezTo>
                    <a:pt x="4968971" y="1726814"/>
                    <a:pt x="4964401" y="1723799"/>
                    <a:pt x="4958433" y="1720121"/>
                  </a:cubicBezTo>
                  <a:cubicBezTo>
                    <a:pt x="4955265" y="1717767"/>
                    <a:pt x="4952463" y="1716445"/>
                    <a:pt x="4948263" y="1714459"/>
                  </a:cubicBezTo>
                  <a:cubicBezTo>
                    <a:pt x="4942663" y="1711812"/>
                    <a:pt x="4937727" y="1707766"/>
                    <a:pt x="4932125" y="1705119"/>
                  </a:cubicBezTo>
                  <a:cubicBezTo>
                    <a:pt x="4930357" y="1703426"/>
                    <a:pt x="4927924" y="1703136"/>
                    <a:pt x="4926155" y="1701442"/>
                  </a:cubicBezTo>
                  <a:cubicBezTo>
                    <a:pt x="4914587" y="1695118"/>
                    <a:pt x="4902649" y="1687764"/>
                    <a:pt x="4890049" y="1681810"/>
                  </a:cubicBezTo>
                  <a:cubicBezTo>
                    <a:pt x="4887246" y="1680486"/>
                    <a:pt x="4885849" y="1679825"/>
                    <a:pt x="4883049" y="1678501"/>
                  </a:cubicBezTo>
                  <a:cubicBezTo>
                    <a:pt x="4876049" y="1675193"/>
                    <a:pt x="4870078" y="1671515"/>
                    <a:pt x="4863447" y="1669238"/>
                  </a:cubicBezTo>
                  <a:cubicBezTo>
                    <a:pt x="4862047" y="1668576"/>
                    <a:pt x="4859249" y="1667253"/>
                    <a:pt x="4857847" y="1666592"/>
                  </a:cubicBezTo>
                  <a:cubicBezTo>
                    <a:pt x="4699276" y="1590796"/>
                    <a:pt x="4521813" y="1553171"/>
                    <a:pt x="4335698" y="1562839"/>
                  </a:cubicBezTo>
                  <a:cubicBezTo>
                    <a:pt x="4333268" y="1562546"/>
                    <a:pt x="4329805" y="1562624"/>
                    <a:pt x="4327744" y="1563362"/>
                  </a:cubicBezTo>
                  <a:cubicBezTo>
                    <a:pt x="4321852" y="1563146"/>
                    <a:pt x="4315297" y="1564330"/>
                    <a:pt x="4309773" y="1565145"/>
                  </a:cubicBezTo>
                  <a:cubicBezTo>
                    <a:pt x="4301820" y="1565668"/>
                    <a:pt x="4293865" y="1566190"/>
                    <a:pt x="4287311" y="1567376"/>
                  </a:cubicBezTo>
                  <a:cubicBezTo>
                    <a:pt x="4285249" y="1568115"/>
                    <a:pt x="4282819" y="1567821"/>
                    <a:pt x="4280387" y="1567529"/>
                  </a:cubicBezTo>
                  <a:cubicBezTo>
                    <a:pt x="4279356" y="1567898"/>
                    <a:pt x="4279356" y="1567898"/>
                    <a:pt x="4278326" y="1568267"/>
                  </a:cubicBezTo>
                  <a:cubicBezTo>
                    <a:pt x="4270372" y="1568791"/>
                    <a:pt x="4262788" y="1570344"/>
                    <a:pt x="4254834" y="1570865"/>
                  </a:cubicBezTo>
                  <a:cubicBezTo>
                    <a:pt x="4253803" y="1571235"/>
                    <a:pt x="4252771" y="1571604"/>
                    <a:pt x="4252403" y="1570573"/>
                  </a:cubicBezTo>
                  <a:cubicBezTo>
                    <a:pt x="4206816" y="1576434"/>
                    <a:pt x="4162336" y="1585385"/>
                    <a:pt x="4117566" y="1596768"/>
                  </a:cubicBezTo>
                  <a:cubicBezTo>
                    <a:pt x="3927141" y="1646360"/>
                    <a:pt x="3757901" y="1745355"/>
                    <a:pt x="3624044" y="1878199"/>
                  </a:cubicBezTo>
                  <a:cubicBezTo>
                    <a:pt x="3623013" y="1878569"/>
                    <a:pt x="3622352" y="1879967"/>
                    <a:pt x="3621321" y="1880337"/>
                  </a:cubicBezTo>
                  <a:cubicBezTo>
                    <a:pt x="3616904" y="1884246"/>
                    <a:pt x="3612857" y="1889183"/>
                    <a:pt x="3608442" y="1893092"/>
                  </a:cubicBezTo>
                  <a:cubicBezTo>
                    <a:pt x="3605718" y="1895228"/>
                    <a:pt x="3604396" y="1898029"/>
                    <a:pt x="3601673" y="1900168"/>
                  </a:cubicBezTo>
                  <a:cubicBezTo>
                    <a:pt x="3599318" y="1903336"/>
                    <a:pt x="3595564" y="1905844"/>
                    <a:pt x="3593210" y="1909013"/>
                  </a:cubicBezTo>
                  <a:cubicBezTo>
                    <a:pt x="3589825" y="1912552"/>
                    <a:pt x="3585409" y="1916461"/>
                    <a:pt x="3582394" y="1921029"/>
                  </a:cubicBezTo>
                  <a:cubicBezTo>
                    <a:pt x="3580701" y="1922798"/>
                    <a:pt x="3580041" y="1924198"/>
                    <a:pt x="3578347" y="1925967"/>
                  </a:cubicBezTo>
                  <a:cubicBezTo>
                    <a:pt x="3464814" y="2053858"/>
                    <a:pt x="3380249" y="2207428"/>
                    <a:pt x="3336286" y="2380185"/>
                  </a:cubicBezTo>
                  <a:cubicBezTo>
                    <a:pt x="3321020" y="2441479"/>
                    <a:pt x="3309957" y="2504758"/>
                    <a:pt x="3305522" y="2570313"/>
                  </a:cubicBezTo>
                  <a:cubicBezTo>
                    <a:pt x="3305522" y="2570313"/>
                    <a:pt x="3305890" y="2571345"/>
                    <a:pt x="3305890" y="2571345"/>
                  </a:cubicBezTo>
                  <a:cubicBezTo>
                    <a:pt x="3304721" y="2581067"/>
                    <a:pt x="3304951" y="2591453"/>
                    <a:pt x="3303782" y="2601175"/>
                  </a:cubicBezTo>
                  <a:cubicBezTo>
                    <a:pt x="3303197" y="2606036"/>
                    <a:pt x="3303642" y="2610530"/>
                    <a:pt x="3303058" y="2615392"/>
                  </a:cubicBezTo>
                  <a:cubicBezTo>
                    <a:pt x="3302472" y="2620254"/>
                    <a:pt x="3302919" y="2624746"/>
                    <a:pt x="3302335" y="2629607"/>
                  </a:cubicBezTo>
                  <a:cubicBezTo>
                    <a:pt x="3299419" y="2767600"/>
                    <a:pt x="3323100" y="2901302"/>
                    <a:pt x="3368708" y="3024533"/>
                  </a:cubicBezTo>
                  <a:lnTo>
                    <a:pt x="3408019" y="3113609"/>
                  </a:lnTo>
                  <a:lnTo>
                    <a:pt x="3380001" y="3111039"/>
                  </a:lnTo>
                  <a:cubicBezTo>
                    <a:pt x="3336620" y="3102363"/>
                    <a:pt x="3294479" y="3088730"/>
                    <a:pt x="3252336" y="3068899"/>
                  </a:cubicBezTo>
                  <a:cubicBezTo>
                    <a:pt x="3212673" y="3054023"/>
                    <a:pt x="3168055" y="3029236"/>
                    <a:pt x="3128393" y="3004444"/>
                  </a:cubicBezTo>
                  <a:cubicBezTo>
                    <a:pt x="3088730" y="2979658"/>
                    <a:pt x="3044107" y="2949911"/>
                    <a:pt x="3004444" y="2920164"/>
                  </a:cubicBezTo>
                  <a:lnTo>
                    <a:pt x="2763870" y="2718081"/>
                  </a:lnTo>
                  <a:lnTo>
                    <a:pt x="2790573" y="2740511"/>
                  </a:lnTo>
                  <a:lnTo>
                    <a:pt x="2800406" y="2734939"/>
                  </a:lnTo>
                  <a:cubicBezTo>
                    <a:pt x="3161613" y="2499733"/>
                    <a:pt x="3266656" y="2020154"/>
                    <a:pt x="3036975" y="1658132"/>
                  </a:cubicBezTo>
                  <a:cubicBezTo>
                    <a:pt x="2983150" y="1573607"/>
                    <a:pt x="2915707" y="1503118"/>
                    <a:pt x="2839289" y="1447641"/>
                  </a:cubicBezTo>
                  <a:lnTo>
                    <a:pt x="2765608" y="1400741"/>
                  </a:lnTo>
                  <a:lnTo>
                    <a:pt x="2721850" y="1383238"/>
                  </a:lnTo>
                  <a:lnTo>
                    <a:pt x="2655794" y="1350209"/>
                  </a:lnTo>
                  <a:lnTo>
                    <a:pt x="2587751" y="1327216"/>
                  </a:lnTo>
                  <a:cubicBezTo>
                    <a:pt x="2527933" y="1310896"/>
                    <a:pt x="2466189" y="1301679"/>
                    <a:pt x="2403895" y="1299857"/>
                  </a:cubicBezTo>
                  <a:cubicBezTo>
                    <a:pt x="2321769" y="1297868"/>
                    <a:pt x="2238181" y="1308033"/>
                    <a:pt x="2156300" y="1332707"/>
                  </a:cubicBezTo>
                  <a:cubicBezTo>
                    <a:pt x="2154238" y="1333446"/>
                    <a:pt x="2152178" y="1334183"/>
                    <a:pt x="2150115" y="1334923"/>
                  </a:cubicBezTo>
                  <a:cubicBezTo>
                    <a:pt x="2069266" y="1359227"/>
                    <a:pt x="1978864" y="1327637"/>
                    <a:pt x="1931143" y="1252847"/>
                  </a:cubicBezTo>
                  <a:lnTo>
                    <a:pt x="1930406" y="1250786"/>
                  </a:lnTo>
                  <a:cubicBezTo>
                    <a:pt x="1872653" y="1160980"/>
                    <a:pt x="1884997" y="1046069"/>
                    <a:pt x="1953280" y="970439"/>
                  </a:cubicBezTo>
                  <a:cubicBezTo>
                    <a:pt x="1954974" y="968671"/>
                    <a:pt x="1955634" y="967270"/>
                    <a:pt x="1957326" y="965501"/>
                  </a:cubicBezTo>
                  <a:cubicBezTo>
                    <a:pt x="1960050" y="963362"/>
                    <a:pt x="1961374" y="960563"/>
                    <a:pt x="1964098" y="958425"/>
                  </a:cubicBezTo>
                  <a:cubicBezTo>
                    <a:pt x="1967480" y="954886"/>
                    <a:pt x="1969836" y="951717"/>
                    <a:pt x="1973220" y="948177"/>
                  </a:cubicBezTo>
                  <a:lnTo>
                    <a:pt x="2020133" y="889810"/>
                  </a:lnTo>
                  <a:lnTo>
                    <a:pt x="2092204" y="956864"/>
                  </a:lnTo>
                  <a:cubicBezTo>
                    <a:pt x="2107080" y="966779"/>
                    <a:pt x="2121951" y="981650"/>
                    <a:pt x="2136827" y="996526"/>
                  </a:cubicBezTo>
                  <a:cubicBezTo>
                    <a:pt x="2156658" y="1011397"/>
                    <a:pt x="2181445" y="1031229"/>
                    <a:pt x="2201276" y="1051060"/>
                  </a:cubicBezTo>
                  <a:cubicBezTo>
                    <a:pt x="2201276" y="1056020"/>
                    <a:pt x="2206236" y="1056020"/>
                    <a:pt x="2206236" y="1056020"/>
                  </a:cubicBezTo>
                  <a:cubicBezTo>
                    <a:pt x="2226068" y="1070891"/>
                    <a:pt x="2250854" y="1090723"/>
                    <a:pt x="2270686" y="1105599"/>
                  </a:cubicBezTo>
                  <a:cubicBezTo>
                    <a:pt x="2275646" y="1105599"/>
                    <a:pt x="2275646" y="1110554"/>
                    <a:pt x="2280601" y="1110554"/>
                  </a:cubicBezTo>
                  <a:cubicBezTo>
                    <a:pt x="2300433" y="1125430"/>
                    <a:pt x="2320264" y="1140301"/>
                    <a:pt x="2340096" y="1155177"/>
                  </a:cubicBezTo>
                  <a:cubicBezTo>
                    <a:pt x="2345056" y="1160132"/>
                    <a:pt x="2350011" y="1160132"/>
                    <a:pt x="2354971" y="1165093"/>
                  </a:cubicBezTo>
                  <a:cubicBezTo>
                    <a:pt x="2374803" y="1179963"/>
                    <a:pt x="2394634" y="1189879"/>
                    <a:pt x="2414466" y="1204755"/>
                  </a:cubicBezTo>
                  <a:cubicBezTo>
                    <a:pt x="2419421" y="1209710"/>
                    <a:pt x="2429336" y="1214671"/>
                    <a:pt x="2434297" y="1219626"/>
                  </a:cubicBezTo>
                  <a:cubicBezTo>
                    <a:pt x="2454128" y="1234502"/>
                    <a:pt x="2468999" y="1244418"/>
                    <a:pt x="2488830" y="1254334"/>
                  </a:cubicBezTo>
                  <a:cubicBezTo>
                    <a:pt x="2498746" y="1264249"/>
                    <a:pt x="2508662" y="1269204"/>
                    <a:pt x="2518577" y="1274165"/>
                  </a:cubicBezTo>
                  <a:cubicBezTo>
                    <a:pt x="2533453" y="1279120"/>
                    <a:pt x="2548324" y="1289036"/>
                    <a:pt x="2563200" y="1298951"/>
                  </a:cubicBezTo>
                  <a:cubicBezTo>
                    <a:pt x="2578071" y="1308867"/>
                    <a:pt x="2592947" y="1313827"/>
                    <a:pt x="2607818" y="1323743"/>
                  </a:cubicBezTo>
                  <a:cubicBezTo>
                    <a:pt x="2617734" y="1328698"/>
                    <a:pt x="2632610" y="1338614"/>
                    <a:pt x="2642525" y="1343574"/>
                  </a:cubicBezTo>
                  <a:cubicBezTo>
                    <a:pt x="2667312" y="1358445"/>
                    <a:pt x="2697059" y="1368361"/>
                    <a:pt x="2721851" y="1383237"/>
                  </a:cubicBezTo>
                  <a:cubicBezTo>
                    <a:pt x="2746637" y="1393153"/>
                    <a:pt x="2771429" y="1403068"/>
                    <a:pt x="2796216" y="1412984"/>
                  </a:cubicBezTo>
                  <a:cubicBezTo>
                    <a:pt x="2806131" y="1417939"/>
                    <a:pt x="2816047" y="1422900"/>
                    <a:pt x="2825962" y="1427855"/>
                  </a:cubicBezTo>
                  <a:cubicBezTo>
                    <a:pt x="2840839" y="1432815"/>
                    <a:pt x="2850754" y="1437771"/>
                    <a:pt x="2865625" y="1442731"/>
                  </a:cubicBezTo>
                  <a:cubicBezTo>
                    <a:pt x="2900333" y="1457602"/>
                    <a:pt x="2935035" y="1467518"/>
                    <a:pt x="2969742" y="1477433"/>
                  </a:cubicBezTo>
                  <a:cubicBezTo>
                    <a:pt x="3133348" y="1522056"/>
                    <a:pt x="3316790" y="1546843"/>
                    <a:pt x="3515103" y="1546843"/>
                  </a:cubicBezTo>
                  <a:cubicBezTo>
                    <a:pt x="3797697" y="1546843"/>
                    <a:pt x="4050549" y="1497265"/>
                    <a:pt x="4268693" y="1403068"/>
                  </a:cubicBezTo>
                  <a:cubicBezTo>
                    <a:pt x="4273649" y="1403068"/>
                    <a:pt x="4273649" y="1403068"/>
                    <a:pt x="4273649" y="1403068"/>
                  </a:cubicBezTo>
                  <a:cubicBezTo>
                    <a:pt x="4283564" y="1398108"/>
                    <a:pt x="4298440" y="1393153"/>
                    <a:pt x="4308356" y="1388192"/>
                  </a:cubicBezTo>
                  <a:cubicBezTo>
                    <a:pt x="4536416" y="1279120"/>
                    <a:pt x="4744645" y="1135346"/>
                    <a:pt x="4937998" y="956864"/>
                  </a:cubicBezTo>
                  <a:lnTo>
                    <a:pt x="5498235" y="446205"/>
                  </a:lnTo>
                  <a:lnTo>
                    <a:pt x="5786844" y="176334"/>
                  </a:lnTo>
                  <a:lnTo>
                    <a:pt x="5498235" y="446205"/>
                  </a:lnTo>
                  <a:lnTo>
                    <a:pt x="4937999" y="956863"/>
                  </a:lnTo>
                  <a:lnTo>
                    <a:pt x="4871692" y="1013965"/>
                  </a:lnTo>
                  <a:lnTo>
                    <a:pt x="4897681" y="1073129"/>
                  </a:lnTo>
                  <a:cubicBezTo>
                    <a:pt x="4900188" y="1076882"/>
                    <a:pt x="4901295" y="1079974"/>
                    <a:pt x="4903805" y="1083729"/>
                  </a:cubicBezTo>
                  <a:cubicBezTo>
                    <a:pt x="4904171" y="1084760"/>
                    <a:pt x="4904541" y="1085791"/>
                    <a:pt x="4905940" y="1086453"/>
                  </a:cubicBezTo>
                  <a:cubicBezTo>
                    <a:pt x="4912801" y="1099115"/>
                    <a:pt x="4920692" y="1111408"/>
                    <a:pt x="4927555" y="1124070"/>
                  </a:cubicBezTo>
                  <a:cubicBezTo>
                    <a:pt x="4927925" y="1125101"/>
                    <a:pt x="4928293" y="1126132"/>
                    <a:pt x="4929693" y="1126793"/>
                  </a:cubicBezTo>
                  <a:cubicBezTo>
                    <a:pt x="4935815" y="1137394"/>
                    <a:pt x="4943341" y="1148655"/>
                    <a:pt x="4950495" y="1158888"/>
                  </a:cubicBezTo>
                  <a:cubicBezTo>
                    <a:pt x="4952263" y="1160580"/>
                    <a:pt x="4953371" y="1163674"/>
                    <a:pt x="4955139" y="1165365"/>
                  </a:cubicBezTo>
                  <a:cubicBezTo>
                    <a:pt x="4962661" y="1176627"/>
                    <a:pt x="4970845" y="1186490"/>
                    <a:pt x="4977999" y="1196721"/>
                  </a:cubicBezTo>
                  <a:cubicBezTo>
                    <a:pt x="4979769" y="1198414"/>
                    <a:pt x="4981909" y="1201137"/>
                    <a:pt x="4982644" y="1203199"/>
                  </a:cubicBezTo>
                  <a:cubicBezTo>
                    <a:pt x="5000121" y="1226015"/>
                    <a:pt x="5018259" y="1247433"/>
                    <a:pt x="5038459" y="1268111"/>
                  </a:cubicBezTo>
                  <a:cubicBezTo>
                    <a:pt x="5038459" y="1268111"/>
                    <a:pt x="5038459" y="1268111"/>
                    <a:pt x="5038829" y="1269141"/>
                  </a:cubicBezTo>
                  <a:cubicBezTo>
                    <a:pt x="5189225" y="1429278"/>
                    <a:pt x="5395627" y="1537953"/>
                    <a:pt x="5631633" y="1560426"/>
                  </a:cubicBezTo>
                  <a:cubicBezTo>
                    <a:pt x="5826685" y="1578960"/>
                    <a:pt x="6012403" y="1535707"/>
                    <a:pt x="6171487" y="1447327"/>
                  </a:cubicBezTo>
                  <a:cubicBezTo>
                    <a:pt x="6173549" y="1446588"/>
                    <a:pt x="6175245" y="1444819"/>
                    <a:pt x="6177305" y="1444081"/>
                  </a:cubicBezTo>
                  <a:cubicBezTo>
                    <a:pt x="6187905" y="1437957"/>
                    <a:pt x="6199537" y="1431466"/>
                    <a:pt x="6210135" y="1425343"/>
                  </a:cubicBezTo>
                  <a:cubicBezTo>
                    <a:pt x="6214921" y="1422467"/>
                    <a:pt x="6219707" y="1419590"/>
                    <a:pt x="6224123" y="1415682"/>
                  </a:cubicBezTo>
                  <a:cubicBezTo>
                    <a:pt x="6231629" y="1410667"/>
                    <a:pt x="6239139" y="1405651"/>
                    <a:pt x="6246647" y="1400636"/>
                  </a:cubicBezTo>
                  <a:cubicBezTo>
                    <a:pt x="6253123" y="1395991"/>
                    <a:pt x="6258571" y="1391713"/>
                    <a:pt x="6265047" y="1387069"/>
                  </a:cubicBezTo>
                  <a:cubicBezTo>
                    <a:pt x="6270495" y="1382791"/>
                    <a:pt x="6276971" y="1378145"/>
                    <a:pt x="6282417" y="1373869"/>
                  </a:cubicBezTo>
                  <a:cubicBezTo>
                    <a:pt x="6288895" y="1369222"/>
                    <a:pt x="6295003" y="1363545"/>
                    <a:pt x="6300449" y="1359269"/>
                  </a:cubicBezTo>
                  <a:cubicBezTo>
                    <a:pt x="6305897" y="1354992"/>
                    <a:pt x="6311343" y="1350715"/>
                    <a:pt x="6317821" y="1346069"/>
                  </a:cubicBezTo>
                  <a:cubicBezTo>
                    <a:pt x="6323267" y="1341793"/>
                    <a:pt x="6329375" y="1336115"/>
                    <a:pt x="6334822" y="1331839"/>
                  </a:cubicBezTo>
                  <a:cubicBezTo>
                    <a:pt x="6340929" y="1326162"/>
                    <a:pt x="6346377" y="1321886"/>
                    <a:pt x="6352485" y="1316207"/>
                  </a:cubicBezTo>
                  <a:cubicBezTo>
                    <a:pt x="6356900" y="1312301"/>
                    <a:pt x="6360947" y="1307362"/>
                    <a:pt x="6366393" y="1303086"/>
                  </a:cubicBezTo>
                  <a:cubicBezTo>
                    <a:pt x="6373532" y="1297039"/>
                    <a:pt x="6379271" y="1290333"/>
                    <a:pt x="6386041" y="1283257"/>
                  </a:cubicBezTo>
                  <a:cubicBezTo>
                    <a:pt x="6389424" y="1279717"/>
                    <a:pt x="6392811" y="1276179"/>
                    <a:pt x="6395165" y="1273009"/>
                  </a:cubicBezTo>
                  <a:cubicBezTo>
                    <a:pt x="6402969" y="1265563"/>
                    <a:pt x="6410397" y="1257086"/>
                    <a:pt x="6416799" y="1248978"/>
                  </a:cubicBezTo>
                  <a:cubicBezTo>
                    <a:pt x="6418490" y="1247209"/>
                    <a:pt x="6420183" y="1245440"/>
                    <a:pt x="6422537" y="1242272"/>
                  </a:cubicBezTo>
                  <a:cubicBezTo>
                    <a:pt x="6430629" y="1232394"/>
                    <a:pt x="6438723" y="1222517"/>
                    <a:pt x="6446817" y="1212640"/>
                  </a:cubicBezTo>
                  <a:cubicBezTo>
                    <a:pt x="6447847" y="1212271"/>
                    <a:pt x="6447477" y="1211240"/>
                    <a:pt x="6448509" y="1210871"/>
                  </a:cubicBezTo>
                  <a:cubicBezTo>
                    <a:pt x="6512885" y="1130825"/>
                    <a:pt x="6563845" y="1039303"/>
                    <a:pt x="6598003" y="939840"/>
                  </a:cubicBezTo>
                  <a:cubicBezTo>
                    <a:pt x="6598665" y="938440"/>
                    <a:pt x="6598297" y="937408"/>
                    <a:pt x="6599327" y="937038"/>
                  </a:cubicBezTo>
                  <a:cubicBezTo>
                    <a:pt x="6604250" y="924808"/>
                    <a:pt x="6607775" y="911916"/>
                    <a:pt x="6611299" y="899023"/>
                  </a:cubicBezTo>
                  <a:cubicBezTo>
                    <a:pt x="6614236" y="890993"/>
                    <a:pt x="6615777" y="882300"/>
                    <a:pt x="6618347" y="873238"/>
                  </a:cubicBezTo>
                  <a:cubicBezTo>
                    <a:pt x="6619963" y="868007"/>
                    <a:pt x="6621577" y="862776"/>
                    <a:pt x="6622827" y="856514"/>
                  </a:cubicBezTo>
                  <a:cubicBezTo>
                    <a:pt x="6649245" y="751682"/>
                    <a:pt x="6657543" y="641709"/>
                    <a:pt x="6645363" y="529767"/>
                  </a:cubicBezTo>
                  <a:cubicBezTo>
                    <a:pt x="6644549" y="524242"/>
                    <a:pt x="6644103" y="519750"/>
                    <a:pt x="6643289" y="514228"/>
                  </a:cubicBezTo>
                  <a:cubicBezTo>
                    <a:pt x="6642027" y="504212"/>
                    <a:pt x="6641134" y="495227"/>
                    <a:pt x="6639875" y="485210"/>
                  </a:cubicBezTo>
                  <a:cubicBezTo>
                    <a:pt x="6637507" y="472103"/>
                    <a:pt x="6635505" y="460025"/>
                    <a:pt x="6633139" y="446916"/>
                  </a:cubicBezTo>
                  <a:cubicBezTo>
                    <a:pt x="6632398" y="444855"/>
                    <a:pt x="6632691" y="442424"/>
                    <a:pt x="6631952" y="440363"/>
                  </a:cubicBezTo>
                  <a:cubicBezTo>
                    <a:pt x="6627371" y="421070"/>
                    <a:pt x="6623155" y="402808"/>
                    <a:pt x="6618571" y="383514"/>
                  </a:cubicBezTo>
                  <a:cubicBezTo>
                    <a:pt x="6616279" y="373868"/>
                    <a:pt x="6612955" y="364590"/>
                    <a:pt x="6610663" y="354943"/>
                  </a:cubicBezTo>
                  <a:cubicBezTo>
                    <a:pt x="6609186" y="350820"/>
                    <a:pt x="6608079" y="347728"/>
                    <a:pt x="6606602" y="343605"/>
                  </a:cubicBezTo>
                  <a:cubicBezTo>
                    <a:pt x="6568825" y="225130"/>
                    <a:pt x="6509163" y="119434"/>
                    <a:pt x="6433309" y="29424"/>
                  </a:cubicBezTo>
                  <a:lnTo>
                    <a:pt x="6408385" y="4961"/>
                  </a:lnTo>
                  <a:lnTo>
                    <a:pt x="6038636" y="4961"/>
                  </a:lnTo>
                  <a:lnTo>
                    <a:pt x="6008875" y="10912"/>
                  </a:lnTo>
                  <a:close/>
                  <a:moveTo>
                    <a:pt x="401092" y="0"/>
                  </a:moveTo>
                  <a:lnTo>
                    <a:pt x="520575" y="0"/>
                  </a:lnTo>
                  <a:lnTo>
                    <a:pt x="713928" y="0"/>
                  </a:lnTo>
                  <a:cubicBezTo>
                    <a:pt x="903566" y="0"/>
                    <a:pt x="1059737" y="41833"/>
                    <a:pt x="1188718" y="127588"/>
                  </a:cubicBezTo>
                  <a:lnTo>
                    <a:pt x="1188718" y="127588"/>
                  </a:lnTo>
                  <a:lnTo>
                    <a:pt x="1050442" y="56397"/>
                  </a:lnTo>
                  <a:cubicBezTo>
                    <a:pt x="951905" y="18593"/>
                    <a:pt x="840354" y="1"/>
                    <a:pt x="713928" y="0"/>
                  </a:cubicBezTo>
                  <a:lnTo>
                    <a:pt x="520576" y="0"/>
                  </a:lnTo>
                  <a:close/>
                  <a:moveTo>
                    <a:pt x="74370" y="0"/>
                  </a:moveTo>
                  <a:lnTo>
                    <a:pt x="401092" y="0"/>
                  </a:lnTo>
                  <a:lnTo>
                    <a:pt x="400308" y="1884"/>
                  </a:lnTo>
                  <a:cubicBezTo>
                    <a:pt x="399647" y="3284"/>
                    <a:pt x="398324" y="6085"/>
                    <a:pt x="397662" y="7485"/>
                  </a:cubicBezTo>
                  <a:cubicBezTo>
                    <a:pt x="363641" y="97593"/>
                    <a:pt x="344574" y="190488"/>
                    <a:pt x="339724" y="284107"/>
                  </a:cubicBezTo>
                  <a:cubicBezTo>
                    <a:pt x="339430" y="286537"/>
                    <a:pt x="339509" y="289999"/>
                    <a:pt x="339584" y="293460"/>
                  </a:cubicBezTo>
                  <a:cubicBezTo>
                    <a:pt x="340031" y="297952"/>
                    <a:pt x="339076" y="301783"/>
                    <a:pt x="339523" y="306276"/>
                  </a:cubicBezTo>
                  <a:cubicBezTo>
                    <a:pt x="339675" y="313200"/>
                    <a:pt x="338799" y="320492"/>
                    <a:pt x="338951" y="327416"/>
                  </a:cubicBezTo>
                  <a:cubicBezTo>
                    <a:pt x="339320" y="328446"/>
                    <a:pt x="338290" y="328815"/>
                    <a:pt x="338659" y="329846"/>
                  </a:cubicBezTo>
                  <a:cubicBezTo>
                    <a:pt x="338004" y="503374"/>
                    <a:pt x="384489" y="678628"/>
                    <a:pt x="484946" y="835717"/>
                  </a:cubicBezTo>
                  <a:cubicBezTo>
                    <a:pt x="497484" y="854486"/>
                    <a:pt x="510023" y="873258"/>
                    <a:pt x="523222" y="890627"/>
                  </a:cubicBezTo>
                  <a:cubicBezTo>
                    <a:pt x="523591" y="891658"/>
                    <a:pt x="524992" y="892320"/>
                    <a:pt x="525360" y="893351"/>
                  </a:cubicBezTo>
                  <a:cubicBezTo>
                    <a:pt x="532144" y="902551"/>
                    <a:pt x="538929" y="911752"/>
                    <a:pt x="546745" y="920584"/>
                  </a:cubicBezTo>
                  <a:cubicBezTo>
                    <a:pt x="547114" y="921614"/>
                    <a:pt x="547114" y="921614"/>
                    <a:pt x="548514" y="922276"/>
                  </a:cubicBezTo>
                  <a:cubicBezTo>
                    <a:pt x="575205" y="954586"/>
                    <a:pt x="602189" y="984465"/>
                    <a:pt x="631896" y="1012206"/>
                  </a:cubicBezTo>
                  <a:cubicBezTo>
                    <a:pt x="702741" y="1083365"/>
                    <a:pt x="722213" y="1196186"/>
                    <a:pt x="670592" y="1289109"/>
                  </a:cubicBezTo>
                  <a:lnTo>
                    <a:pt x="669269" y="1291909"/>
                  </a:lnTo>
                  <a:cubicBezTo>
                    <a:pt x="635957" y="1351525"/>
                    <a:pt x="568738" y="1381414"/>
                    <a:pt x="505091" y="1369319"/>
                  </a:cubicBezTo>
                  <a:cubicBezTo>
                    <a:pt x="504060" y="1369688"/>
                    <a:pt x="502660" y="1369026"/>
                    <a:pt x="502660" y="1369026"/>
                  </a:cubicBezTo>
                  <a:cubicBezTo>
                    <a:pt x="501260" y="1368365"/>
                    <a:pt x="498829" y="1368072"/>
                    <a:pt x="497429" y="1367411"/>
                  </a:cubicBezTo>
                  <a:cubicBezTo>
                    <a:pt x="496398" y="1367780"/>
                    <a:pt x="496028" y="1366749"/>
                    <a:pt x="494997" y="1367118"/>
                  </a:cubicBezTo>
                  <a:cubicBezTo>
                    <a:pt x="493968" y="1367487"/>
                    <a:pt x="493598" y="1366456"/>
                    <a:pt x="492567" y="1366825"/>
                  </a:cubicBezTo>
                  <a:cubicBezTo>
                    <a:pt x="482474" y="1364625"/>
                    <a:pt x="472382" y="1362425"/>
                    <a:pt x="462659" y="1361255"/>
                  </a:cubicBezTo>
                  <a:cubicBezTo>
                    <a:pt x="462659" y="1361255"/>
                    <a:pt x="461627" y="1361624"/>
                    <a:pt x="461258" y="1360593"/>
                  </a:cubicBezTo>
                  <a:cubicBezTo>
                    <a:pt x="451535" y="1359423"/>
                    <a:pt x="441811" y="1358253"/>
                    <a:pt x="432088" y="1357084"/>
                  </a:cubicBezTo>
                  <a:cubicBezTo>
                    <a:pt x="429657" y="1356792"/>
                    <a:pt x="427228" y="1356500"/>
                    <a:pt x="424795" y="1356207"/>
                  </a:cubicBezTo>
                  <a:cubicBezTo>
                    <a:pt x="415073" y="1355038"/>
                    <a:pt x="406750" y="1354528"/>
                    <a:pt x="397394" y="1354390"/>
                  </a:cubicBezTo>
                  <a:cubicBezTo>
                    <a:pt x="394964" y="1354097"/>
                    <a:pt x="392534" y="1353806"/>
                    <a:pt x="390104" y="1353513"/>
                  </a:cubicBezTo>
                  <a:cubicBezTo>
                    <a:pt x="381778" y="1353004"/>
                    <a:pt x="373825" y="1353527"/>
                    <a:pt x="365502" y="1353020"/>
                  </a:cubicBezTo>
                  <a:cubicBezTo>
                    <a:pt x="364472" y="1353389"/>
                    <a:pt x="362041" y="1353096"/>
                    <a:pt x="361010" y="1353465"/>
                  </a:cubicBezTo>
                  <a:cubicBezTo>
                    <a:pt x="326392" y="1354233"/>
                    <a:pt x="292514" y="1357061"/>
                    <a:pt x="258344" y="1362322"/>
                  </a:cubicBezTo>
                  <a:cubicBezTo>
                    <a:pt x="257312" y="1362692"/>
                    <a:pt x="257312" y="1362692"/>
                    <a:pt x="256281" y="1363060"/>
                  </a:cubicBezTo>
                  <a:cubicBezTo>
                    <a:pt x="250760" y="1363875"/>
                    <a:pt x="244205" y="1365061"/>
                    <a:pt x="238682" y="1365875"/>
                  </a:cubicBezTo>
                  <a:cubicBezTo>
                    <a:pt x="236620" y="1366613"/>
                    <a:pt x="234558" y="1367352"/>
                    <a:pt x="232127" y="1367059"/>
                  </a:cubicBezTo>
                  <a:cubicBezTo>
                    <a:pt x="227634" y="1367504"/>
                    <a:pt x="223512" y="1368982"/>
                    <a:pt x="219019" y="1369429"/>
                  </a:cubicBezTo>
                  <a:cubicBezTo>
                    <a:pt x="215928" y="1370536"/>
                    <a:pt x="211435" y="1370982"/>
                    <a:pt x="208341" y="1372089"/>
                  </a:cubicBezTo>
                  <a:cubicBezTo>
                    <a:pt x="205249" y="1373196"/>
                    <a:pt x="202819" y="1372905"/>
                    <a:pt x="199726" y="1374012"/>
                  </a:cubicBezTo>
                  <a:cubicBezTo>
                    <a:pt x="194571" y="1375857"/>
                    <a:pt x="189049" y="1376672"/>
                    <a:pt x="184925" y="1378149"/>
                  </a:cubicBezTo>
                  <a:cubicBezTo>
                    <a:pt x="183893" y="1378519"/>
                    <a:pt x="181834" y="1379256"/>
                    <a:pt x="180802" y="1379626"/>
                  </a:cubicBezTo>
                  <a:cubicBezTo>
                    <a:pt x="174616" y="1381841"/>
                    <a:pt x="168432" y="1384056"/>
                    <a:pt x="161878" y="1385241"/>
                  </a:cubicBezTo>
                  <a:cubicBezTo>
                    <a:pt x="161878" y="1385241"/>
                    <a:pt x="161878" y="1385241"/>
                    <a:pt x="160847" y="1385611"/>
                  </a:cubicBezTo>
                  <a:cubicBezTo>
                    <a:pt x="135076" y="1394841"/>
                    <a:pt x="109676" y="1405100"/>
                    <a:pt x="85013" y="1417423"/>
                  </a:cubicBezTo>
                  <a:cubicBezTo>
                    <a:pt x="83982" y="1417793"/>
                    <a:pt x="81920" y="1418531"/>
                    <a:pt x="81257" y="1419931"/>
                  </a:cubicBezTo>
                  <a:cubicBezTo>
                    <a:pt x="74411" y="1423546"/>
                    <a:pt x="66534" y="1427530"/>
                    <a:pt x="59687" y="1431145"/>
                  </a:cubicBezTo>
                  <a:cubicBezTo>
                    <a:pt x="57627" y="1431883"/>
                    <a:pt x="55933" y="1433652"/>
                    <a:pt x="52841" y="1434759"/>
                  </a:cubicBezTo>
                  <a:cubicBezTo>
                    <a:pt x="45334" y="1439775"/>
                    <a:pt x="36425" y="1444129"/>
                    <a:pt x="28917" y="1449144"/>
                  </a:cubicBezTo>
                  <a:cubicBezTo>
                    <a:pt x="26855" y="1449882"/>
                    <a:pt x="25162" y="1451651"/>
                    <a:pt x="23101" y="1452390"/>
                  </a:cubicBezTo>
                  <a:lnTo>
                    <a:pt x="1" y="1468430"/>
                  </a:lnTo>
                  <a:lnTo>
                    <a:pt x="0" y="2472769"/>
                  </a:lnTo>
                  <a:lnTo>
                    <a:pt x="9511" y="2479577"/>
                  </a:lnTo>
                  <a:cubicBezTo>
                    <a:pt x="12679" y="2481931"/>
                    <a:pt x="15481" y="2483255"/>
                    <a:pt x="18651" y="2485608"/>
                  </a:cubicBezTo>
                  <a:cubicBezTo>
                    <a:pt x="20049" y="2486270"/>
                    <a:pt x="20418" y="2487300"/>
                    <a:pt x="21818" y="2487963"/>
                  </a:cubicBezTo>
                  <a:cubicBezTo>
                    <a:pt x="24988" y="2490316"/>
                    <a:pt x="27787" y="2491639"/>
                    <a:pt x="30958" y="2493993"/>
                  </a:cubicBezTo>
                  <a:cubicBezTo>
                    <a:pt x="35526" y="2497008"/>
                    <a:pt x="40095" y="2500026"/>
                    <a:pt x="46064" y="2503703"/>
                  </a:cubicBezTo>
                  <a:cubicBezTo>
                    <a:pt x="52035" y="2507379"/>
                    <a:pt x="56603" y="2510395"/>
                    <a:pt x="62203" y="2513041"/>
                  </a:cubicBezTo>
                  <a:cubicBezTo>
                    <a:pt x="65004" y="2514364"/>
                    <a:pt x="66772" y="2516059"/>
                    <a:pt x="69572" y="2517381"/>
                  </a:cubicBezTo>
                  <a:cubicBezTo>
                    <a:pt x="70973" y="2518043"/>
                    <a:pt x="70973" y="2518043"/>
                    <a:pt x="72372" y="2518705"/>
                  </a:cubicBezTo>
                  <a:cubicBezTo>
                    <a:pt x="79372" y="2522012"/>
                    <a:pt x="86741" y="2526351"/>
                    <a:pt x="92711" y="2530028"/>
                  </a:cubicBezTo>
                  <a:cubicBezTo>
                    <a:pt x="95512" y="2531353"/>
                    <a:pt x="96912" y="2532013"/>
                    <a:pt x="99712" y="2533337"/>
                  </a:cubicBezTo>
                  <a:cubicBezTo>
                    <a:pt x="106711" y="2536645"/>
                    <a:pt x="115111" y="2540614"/>
                    <a:pt x="122111" y="2543923"/>
                  </a:cubicBezTo>
                  <a:cubicBezTo>
                    <a:pt x="123511" y="2544585"/>
                    <a:pt x="126313" y="2545909"/>
                    <a:pt x="127712" y="2546568"/>
                  </a:cubicBezTo>
                  <a:cubicBezTo>
                    <a:pt x="135742" y="2549508"/>
                    <a:pt x="142743" y="2552816"/>
                    <a:pt x="150773" y="2555756"/>
                  </a:cubicBezTo>
                  <a:cubicBezTo>
                    <a:pt x="153204" y="2556048"/>
                    <a:pt x="154973" y="2557740"/>
                    <a:pt x="157404" y="2558032"/>
                  </a:cubicBezTo>
                  <a:cubicBezTo>
                    <a:pt x="164034" y="2560310"/>
                    <a:pt x="172067" y="2563249"/>
                    <a:pt x="178697" y="2565527"/>
                  </a:cubicBezTo>
                  <a:cubicBezTo>
                    <a:pt x="181497" y="2566850"/>
                    <a:pt x="183928" y="2567141"/>
                    <a:pt x="186728" y="2568466"/>
                  </a:cubicBezTo>
                  <a:cubicBezTo>
                    <a:pt x="193358" y="2570743"/>
                    <a:pt x="199619" y="2571989"/>
                    <a:pt x="206252" y="2574267"/>
                  </a:cubicBezTo>
                  <a:cubicBezTo>
                    <a:pt x="210083" y="2575221"/>
                    <a:pt x="212883" y="2576544"/>
                    <a:pt x="216712" y="2577498"/>
                  </a:cubicBezTo>
                  <a:cubicBezTo>
                    <a:pt x="221945" y="2579114"/>
                    <a:pt x="228206" y="2580360"/>
                    <a:pt x="233437" y="2581976"/>
                  </a:cubicBezTo>
                  <a:cubicBezTo>
                    <a:pt x="237267" y="2582930"/>
                    <a:pt x="242128" y="2583514"/>
                    <a:pt x="246328" y="2585500"/>
                  </a:cubicBezTo>
                  <a:cubicBezTo>
                    <a:pt x="251191" y="2586084"/>
                    <a:pt x="256052" y="2586670"/>
                    <a:pt x="260252" y="2588654"/>
                  </a:cubicBezTo>
                  <a:cubicBezTo>
                    <a:pt x="265115" y="2589239"/>
                    <a:pt x="271376" y="2590486"/>
                    <a:pt x="276237" y="2591070"/>
                  </a:cubicBezTo>
                  <a:cubicBezTo>
                    <a:pt x="280068" y="2592025"/>
                    <a:pt x="283531" y="2591948"/>
                    <a:pt x="287361" y="2592901"/>
                  </a:cubicBezTo>
                  <a:cubicBezTo>
                    <a:pt x="293623" y="2594149"/>
                    <a:pt x="299515" y="2594364"/>
                    <a:pt x="306807" y="2595241"/>
                  </a:cubicBezTo>
                  <a:cubicBezTo>
                    <a:pt x="309238" y="2595533"/>
                    <a:pt x="312699" y="2595457"/>
                    <a:pt x="316161" y="2595381"/>
                  </a:cubicBezTo>
                  <a:cubicBezTo>
                    <a:pt x="323455" y="2596257"/>
                    <a:pt x="330378" y="2596105"/>
                    <a:pt x="337669" y="2596981"/>
                  </a:cubicBezTo>
                  <a:cubicBezTo>
                    <a:pt x="340101" y="2597273"/>
                    <a:pt x="342531" y="2597567"/>
                    <a:pt x="344593" y="2596829"/>
                  </a:cubicBezTo>
                  <a:cubicBezTo>
                    <a:pt x="351886" y="2597705"/>
                    <a:pt x="359839" y="2597183"/>
                    <a:pt x="367132" y="2598060"/>
                  </a:cubicBezTo>
                  <a:cubicBezTo>
                    <a:pt x="369562" y="2598352"/>
                    <a:pt x="371625" y="2597613"/>
                    <a:pt x="374056" y="2597907"/>
                  </a:cubicBezTo>
                  <a:cubicBezTo>
                    <a:pt x="382011" y="2597384"/>
                    <a:pt x="389300" y="2598261"/>
                    <a:pt x="397257" y="2597738"/>
                  </a:cubicBezTo>
                  <a:cubicBezTo>
                    <a:pt x="399687" y="2598032"/>
                    <a:pt x="401750" y="2597293"/>
                    <a:pt x="404179" y="2597585"/>
                  </a:cubicBezTo>
                  <a:cubicBezTo>
                    <a:pt x="412134" y="2597062"/>
                    <a:pt x="419058" y="2596909"/>
                    <a:pt x="427011" y="2596386"/>
                  </a:cubicBezTo>
                  <a:cubicBezTo>
                    <a:pt x="429441" y="2596679"/>
                    <a:pt x="432534" y="2595571"/>
                    <a:pt x="434965" y="2595864"/>
                  </a:cubicBezTo>
                  <a:cubicBezTo>
                    <a:pt x="441889" y="2595710"/>
                    <a:pt x="449473" y="2594157"/>
                    <a:pt x="456028" y="2592973"/>
                  </a:cubicBezTo>
                  <a:cubicBezTo>
                    <a:pt x="459488" y="2592895"/>
                    <a:pt x="462583" y="2591787"/>
                    <a:pt x="466044" y="2591710"/>
                  </a:cubicBezTo>
                  <a:cubicBezTo>
                    <a:pt x="472598" y="2590526"/>
                    <a:pt x="478122" y="2589711"/>
                    <a:pt x="484674" y="2588526"/>
                  </a:cubicBezTo>
                  <a:cubicBezTo>
                    <a:pt x="489168" y="2588081"/>
                    <a:pt x="493290" y="2586604"/>
                    <a:pt x="497783" y="2586158"/>
                  </a:cubicBezTo>
                  <a:cubicBezTo>
                    <a:pt x="503306" y="2585344"/>
                    <a:pt x="508460" y="2583497"/>
                    <a:pt x="512953" y="2583051"/>
                  </a:cubicBezTo>
                  <a:cubicBezTo>
                    <a:pt x="518476" y="2582235"/>
                    <a:pt x="523631" y="2580389"/>
                    <a:pt x="528784" y="2578544"/>
                  </a:cubicBezTo>
                  <a:cubicBezTo>
                    <a:pt x="532908" y="2577067"/>
                    <a:pt x="537400" y="2576622"/>
                    <a:pt x="540493" y="2575514"/>
                  </a:cubicBezTo>
                  <a:cubicBezTo>
                    <a:pt x="546678" y="2573299"/>
                    <a:pt x="553233" y="2572114"/>
                    <a:pt x="559416" y="2569900"/>
                  </a:cubicBezTo>
                  <a:cubicBezTo>
                    <a:pt x="562510" y="2568792"/>
                    <a:pt x="565602" y="2567685"/>
                    <a:pt x="568694" y="2566577"/>
                  </a:cubicBezTo>
                  <a:cubicBezTo>
                    <a:pt x="575910" y="2563992"/>
                    <a:pt x="583125" y="2561407"/>
                    <a:pt x="589311" y="2559193"/>
                  </a:cubicBezTo>
                  <a:cubicBezTo>
                    <a:pt x="591372" y="2558455"/>
                    <a:pt x="593434" y="2557716"/>
                    <a:pt x="596526" y="2556609"/>
                  </a:cubicBezTo>
                  <a:cubicBezTo>
                    <a:pt x="603742" y="2554024"/>
                    <a:pt x="610588" y="2550409"/>
                    <a:pt x="618835" y="2547456"/>
                  </a:cubicBezTo>
                  <a:cubicBezTo>
                    <a:pt x="620898" y="2546717"/>
                    <a:pt x="622959" y="2545979"/>
                    <a:pt x="623990" y="2545610"/>
                  </a:cubicBezTo>
                  <a:cubicBezTo>
                    <a:pt x="630836" y="2541994"/>
                    <a:pt x="639081" y="2539040"/>
                    <a:pt x="645927" y="2535425"/>
                  </a:cubicBezTo>
                  <a:cubicBezTo>
                    <a:pt x="647990" y="2534687"/>
                    <a:pt x="649022" y="2534317"/>
                    <a:pt x="650715" y="2532550"/>
                  </a:cubicBezTo>
                  <a:cubicBezTo>
                    <a:pt x="657562" y="2528933"/>
                    <a:pt x="664408" y="2525318"/>
                    <a:pt x="671254" y="2521703"/>
                  </a:cubicBezTo>
                  <a:cubicBezTo>
                    <a:pt x="673315" y="2520965"/>
                    <a:pt x="675007" y="2519197"/>
                    <a:pt x="677070" y="2518458"/>
                  </a:cubicBezTo>
                  <a:cubicBezTo>
                    <a:pt x="683916" y="2514842"/>
                    <a:pt x="689362" y="2510565"/>
                    <a:pt x="696211" y="2506950"/>
                  </a:cubicBezTo>
                  <a:cubicBezTo>
                    <a:pt x="697901" y="2505182"/>
                    <a:pt x="700994" y="2504074"/>
                    <a:pt x="702686" y="2502305"/>
                  </a:cubicBezTo>
                  <a:cubicBezTo>
                    <a:pt x="708502" y="2499058"/>
                    <a:pt x="713948" y="2494782"/>
                    <a:pt x="718734" y="2491905"/>
                  </a:cubicBezTo>
                  <a:cubicBezTo>
                    <a:pt x="721456" y="2489767"/>
                    <a:pt x="724180" y="2487627"/>
                    <a:pt x="727934" y="2485121"/>
                  </a:cubicBezTo>
                  <a:cubicBezTo>
                    <a:pt x="732719" y="2482244"/>
                    <a:pt x="737136" y="2478335"/>
                    <a:pt x="741550" y="2474429"/>
                  </a:cubicBezTo>
                  <a:cubicBezTo>
                    <a:pt x="745305" y="2471920"/>
                    <a:pt x="749059" y="2469413"/>
                    <a:pt x="752444" y="2465875"/>
                  </a:cubicBezTo>
                  <a:cubicBezTo>
                    <a:pt x="756198" y="2463368"/>
                    <a:pt x="759582" y="2459828"/>
                    <a:pt x="763336" y="2457321"/>
                  </a:cubicBezTo>
                  <a:cubicBezTo>
                    <a:pt x="767753" y="2453414"/>
                    <a:pt x="772537" y="2450536"/>
                    <a:pt x="776953" y="2446629"/>
                  </a:cubicBezTo>
                  <a:cubicBezTo>
                    <a:pt x="779676" y="2444491"/>
                    <a:pt x="782031" y="2441321"/>
                    <a:pt x="784754" y="2439184"/>
                  </a:cubicBezTo>
                  <a:cubicBezTo>
                    <a:pt x="790200" y="2434906"/>
                    <a:pt x="794247" y="2429968"/>
                    <a:pt x="799693" y="2425690"/>
                  </a:cubicBezTo>
                  <a:cubicBezTo>
                    <a:pt x="801385" y="2423922"/>
                    <a:pt x="804110" y="2421784"/>
                    <a:pt x="805801" y="2420015"/>
                  </a:cubicBezTo>
                  <a:cubicBezTo>
                    <a:pt x="810879" y="2414708"/>
                    <a:pt x="815956" y="2409399"/>
                    <a:pt x="821034" y="2404092"/>
                  </a:cubicBezTo>
                  <a:cubicBezTo>
                    <a:pt x="822727" y="2402322"/>
                    <a:pt x="824419" y="2400553"/>
                    <a:pt x="826111" y="2398784"/>
                  </a:cubicBezTo>
                  <a:cubicBezTo>
                    <a:pt x="831187" y="2393476"/>
                    <a:pt x="836927" y="2386769"/>
                    <a:pt x="841636" y="2380430"/>
                  </a:cubicBezTo>
                  <a:cubicBezTo>
                    <a:pt x="843328" y="2378661"/>
                    <a:pt x="845021" y="2376891"/>
                    <a:pt x="845683" y="2375492"/>
                  </a:cubicBezTo>
                  <a:cubicBezTo>
                    <a:pt x="850390" y="2369154"/>
                    <a:pt x="856129" y="2362446"/>
                    <a:pt x="860838" y="2356107"/>
                  </a:cubicBezTo>
                  <a:cubicBezTo>
                    <a:pt x="862531" y="2354339"/>
                    <a:pt x="863853" y="2351539"/>
                    <a:pt x="865545" y="2349769"/>
                  </a:cubicBezTo>
                  <a:cubicBezTo>
                    <a:pt x="870253" y="2343430"/>
                    <a:pt x="874961" y="2337091"/>
                    <a:pt x="878639" y="2331123"/>
                  </a:cubicBezTo>
                  <a:cubicBezTo>
                    <a:pt x="879670" y="2330754"/>
                    <a:pt x="879302" y="2329722"/>
                    <a:pt x="880332" y="2329353"/>
                  </a:cubicBezTo>
                  <a:cubicBezTo>
                    <a:pt x="881655" y="2326554"/>
                    <a:pt x="884008" y="2323384"/>
                    <a:pt x="885702" y="2321615"/>
                  </a:cubicBezTo>
                  <a:cubicBezTo>
                    <a:pt x="889748" y="2316676"/>
                    <a:pt x="892395" y="2311077"/>
                    <a:pt x="895410" y="2306507"/>
                  </a:cubicBezTo>
                  <a:cubicBezTo>
                    <a:pt x="898426" y="2301938"/>
                    <a:pt x="901072" y="2296338"/>
                    <a:pt x="904088" y="2291769"/>
                  </a:cubicBezTo>
                  <a:cubicBezTo>
                    <a:pt x="905411" y="2288968"/>
                    <a:pt x="907766" y="2285800"/>
                    <a:pt x="909089" y="2283000"/>
                  </a:cubicBezTo>
                  <a:cubicBezTo>
                    <a:pt x="909750" y="2281601"/>
                    <a:pt x="910782" y="2281230"/>
                    <a:pt x="910413" y="2280199"/>
                  </a:cubicBezTo>
                  <a:cubicBezTo>
                    <a:pt x="911736" y="2277399"/>
                    <a:pt x="914089" y="2274231"/>
                    <a:pt x="915043" y="2270399"/>
                  </a:cubicBezTo>
                  <a:cubicBezTo>
                    <a:pt x="918060" y="2265831"/>
                    <a:pt x="919675" y="2260599"/>
                    <a:pt x="922690" y="2256030"/>
                  </a:cubicBezTo>
                  <a:lnTo>
                    <a:pt x="924451" y="2252307"/>
                  </a:lnTo>
                  <a:lnTo>
                    <a:pt x="922156" y="2280601"/>
                  </a:lnTo>
                  <a:lnTo>
                    <a:pt x="922156" y="3257296"/>
                  </a:lnTo>
                  <a:cubicBezTo>
                    <a:pt x="922156" y="3321745"/>
                    <a:pt x="897370" y="3351492"/>
                    <a:pt x="842831" y="3351492"/>
                  </a:cubicBezTo>
                  <a:lnTo>
                    <a:pt x="520575" y="3351492"/>
                  </a:lnTo>
                  <a:cubicBezTo>
                    <a:pt x="461081" y="3351492"/>
                    <a:pt x="401587" y="3346537"/>
                    <a:pt x="352009" y="3331661"/>
                  </a:cubicBezTo>
                  <a:cubicBezTo>
                    <a:pt x="267723" y="3306875"/>
                    <a:pt x="198313" y="3272167"/>
                    <a:pt x="143780" y="3217634"/>
                  </a:cubicBezTo>
                  <a:cubicBezTo>
                    <a:pt x="143780" y="3217634"/>
                    <a:pt x="138819" y="3212673"/>
                    <a:pt x="138819" y="3212673"/>
                  </a:cubicBezTo>
                  <a:cubicBezTo>
                    <a:pt x="128904" y="3202758"/>
                    <a:pt x="118988" y="3187887"/>
                    <a:pt x="109072" y="3177971"/>
                  </a:cubicBezTo>
                  <a:cubicBezTo>
                    <a:pt x="104117" y="3173011"/>
                    <a:pt x="99157" y="3168055"/>
                    <a:pt x="94202" y="3168055"/>
                  </a:cubicBezTo>
                  <a:cubicBezTo>
                    <a:pt x="89241" y="3163095"/>
                    <a:pt x="84286" y="3158140"/>
                    <a:pt x="79325" y="3148224"/>
                  </a:cubicBezTo>
                  <a:cubicBezTo>
                    <a:pt x="79325" y="3143264"/>
                    <a:pt x="74370" y="3133348"/>
                    <a:pt x="69410" y="3128393"/>
                  </a:cubicBezTo>
                  <a:cubicBezTo>
                    <a:pt x="64455" y="3123432"/>
                    <a:pt x="64455" y="3113517"/>
                    <a:pt x="59494" y="3108561"/>
                  </a:cubicBezTo>
                  <a:cubicBezTo>
                    <a:pt x="59494" y="3098646"/>
                    <a:pt x="54539" y="3093685"/>
                    <a:pt x="49578" y="3083770"/>
                  </a:cubicBezTo>
                  <a:cubicBezTo>
                    <a:pt x="49578" y="3078814"/>
                    <a:pt x="44623" y="3073854"/>
                    <a:pt x="44623" y="3068899"/>
                  </a:cubicBezTo>
                  <a:cubicBezTo>
                    <a:pt x="24792" y="3024276"/>
                    <a:pt x="9916" y="2969742"/>
                    <a:pt x="4961" y="2910248"/>
                  </a:cubicBezTo>
                  <a:cubicBezTo>
                    <a:pt x="0" y="2885457"/>
                    <a:pt x="0" y="2860670"/>
                    <a:pt x="0" y="2835878"/>
                  </a:cubicBezTo>
                  <a:lnTo>
                    <a:pt x="0" y="1412984"/>
                  </a:lnTo>
                  <a:lnTo>
                    <a:pt x="0" y="94201"/>
                  </a:lnTo>
                  <a:cubicBezTo>
                    <a:pt x="0" y="69410"/>
                    <a:pt x="4961" y="49578"/>
                    <a:pt x="14876" y="34707"/>
                  </a:cubicBezTo>
                  <a:cubicBezTo>
                    <a:pt x="24792" y="9916"/>
                    <a:pt x="44623" y="0"/>
                    <a:pt x="74370"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0000"/>
                </a:solidFill>
                <a:effectLst/>
                <a:uLnTx/>
                <a:uFillTx/>
                <a:latin typeface="Verdana"/>
                <a:ea typeface="+mn-ea"/>
                <a:cs typeface="+mn-cs"/>
                <a:sym typeface="Helvetica Neue"/>
              </a:endParaRPr>
            </a:p>
          </p:txBody>
        </p:sp>
      </p:grpSp>
      <p:sp>
        <p:nvSpPr>
          <p:cNvPr id="3" name="TextBox 2">
            <a:extLst>
              <a:ext uri="{FF2B5EF4-FFF2-40B4-BE49-F238E27FC236}">
                <a16:creationId xmlns:a16="http://schemas.microsoft.com/office/drawing/2014/main" id="{B07E3C6F-0CB4-5AC5-C05D-0608059CB9AE}"/>
              </a:ext>
            </a:extLst>
          </p:cNvPr>
          <p:cNvSpPr txBox="1"/>
          <p:nvPr/>
        </p:nvSpPr>
        <p:spPr bwMode="gray">
          <a:xfrm>
            <a:off x="175437" y="6407519"/>
            <a:ext cx="2503968" cy="215444"/>
          </a:xfrm>
          <a:prstGeom prst="rect">
            <a:avLst/>
          </a:prstGeom>
          <a:noFill/>
        </p:spPr>
        <p:txBody>
          <a:bodyPr wrap="square">
            <a:spAutoFit/>
          </a:bodyPr>
          <a:lstStyle/>
          <a:p>
            <a:r>
              <a:rPr lang="en-US" sz="800" dirty="0"/>
              <a:t>RU-CONCO-00606</a:t>
            </a:r>
            <a:endParaRPr lang="ru-RU" sz="800" dirty="0"/>
          </a:p>
        </p:txBody>
      </p:sp>
      <p:sp>
        <p:nvSpPr>
          <p:cNvPr id="2" name="Untertitel 2">
            <a:extLst>
              <a:ext uri="{FF2B5EF4-FFF2-40B4-BE49-F238E27FC236}">
                <a16:creationId xmlns:a16="http://schemas.microsoft.com/office/drawing/2014/main" id="{2226377C-1327-5A57-0C9D-1CD8576BF87A}"/>
              </a:ext>
            </a:extLst>
          </p:cNvPr>
          <p:cNvSpPr>
            <a:spLocks noGrp="1"/>
          </p:cNvSpPr>
          <p:nvPr>
            <p:ph type="subTitle" idx="1"/>
          </p:nvPr>
        </p:nvSpPr>
        <p:spPr bwMode="gray">
          <a:xfrm>
            <a:off x="5760888" y="4480896"/>
            <a:ext cx="5616521" cy="1249281"/>
          </a:xfrm>
        </p:spPr>
        <p:txBody>
          <a:bodyPr/>
          <a:lstStyle/>
          <a:p>
            <a:pPr>
              <a:spcAft>
                <a:spcPts val="0"/>
              </a:spcAft>
            </a:pPr>
            <a:r>
              <a:rPr lang="ru-RU" sz="2000" dirty="0"/>
              <a:t>Имя лектора,</a:t>
            </a:r>
          </a:p>
          <a:p>
            <a:r>
              <a:rPr lang="ru-RU" sz="1800" dirty="0"/>
              <a:t>Ученая степень</a:t>
            </a:r>
          </a:p>
          <a:p>
            <a:r>
              <a:rPr lang="ru-RU" sz="1800" dirty="0"/>
              <a:t>Место работы </a:t>
            </a:r>
            <a:endParaRPr lang="en-US" sz="1800" dirty="0"/>
          </a:p>
        </p:txBody>
      </p:sp>
    </p:spTree>
    <p:custDataLst>
      <p:tags r:id="rId1"/>
    </p:custDataLst>
    <p:extLst>
      <p:ext uri="{BB962C8B-B14F-4D97-AF65-F5344CB8AC3E}">
        <p14:creationId xmlns:p14="http://schemas.microsoft.com/office/powerpoint/2010/main" val="115274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2E5F26-91B4-C73F-2DB5-AE886F49E21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sym typeface="Helvetica Neue"/>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sym typeface="Helvetica Neue"/>
            </a:endParaRPr>
          </a:p>
        </p:txBody>
      </p:sp>
      <p:sp>
        <p:nvSpPr>
          <p:cNvPr id="3" name="Заголовок 1">
            <a:extLst>
              <a:ext uri="{FF2B5EF4-FFF2-40B4-BE49-F238E27FC236}">
                <a16:creationId xmlns:a16="http://schemas.microsoft.com/office/drawing/2014/main" id="{7F1CB001-21D0-ACFD-27FB-4880C01E14E5}"/>
              </a:ext>
            </a:extLst>
          </p:cNvPr>
          <p:cNvSpPr txBox="1">
            <a:spLocks/>
          </p:cNvSpPr>
          <p:nvPr/>
        </p:nvSpPr>
        <p:spPr>
          <a:xfrm>
            <a:off x="1750741" y="1467237"/>
            <a:ext cx="10083800" cy="388938"/>
          </a:xfrm>
          <a:prstGeom prst="rect">
            <a:avLst/>
          </a:prstGeom>
        </p:spPr>
        <p:txBody>
          <a:bodyPr vert="horz" lIns="0" tIns="0" rIns="0" bIns="0" rtlCol="0" anchor="t" anchorCtr="0">
            <a:normAutofit fontScale="52500" lnSpcReduction="20000"/>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3200" b="1"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j-cs"/>
                <a:sym typeface="Helvetica Neue"/>
              </a:rPr>
              <a:t>Раскрытие конфликта интересов</a:t>
            </a:r>
            <a:br>
              <a:rPr kumimoji="0" lang="ru-RU" sz="2300" b="1"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j-cs"/>
                <a:sym typeface="Helvetica Neue"/>
              </a:rPr>
            </a:br>
            <a:endParaRPr kumimoji="0" lang="en-US" sz="2300" b="1"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j-cs"/>
              <a:sym typeface="Helvetica Neue"/>
            </a:endParaRPr>
          </a:p>
        </p:txBody>
      </p:sp>
      <p:sp>
        <p:nvSpPr>
          <p:cNvPr id="4" name="Объект 2">
            <a:extLst>
              <a:ext uri="{FF2B5EF4-FFF2-40B4-BE49-F238E27FC236}">
                <a16:creationId xmlns:a16="http://schemas.microsoft.com/office/drawing/2014/main" id="{92DCFC96-4574-A9D3-FEB9-40ACC1B3DF17}"/>
              </a:ext>
            </a:extLst>
          </p:cNvPr>
          <p:cNvSpPr txBox="1">
            <a:spLocks/>
          </p:cNvSpPr>
          <p:nvPr/>
        </p:nvSpPr>
        <p:spPr>
          <a:xfrm>
            <a:off x="1639229" y="2331961"/>
            <a:ext cx="8069146" cy="1013405"/>
          </a:xfrm>
          <a:prstGeom prst="rect">
            <a:avLst/>
          </a:prstGeom>
        </p:spPr>
        <p:txBody>
          <a:bodyPr vert="horz" lIns="0" tIns="0" rIns="0" bIns="0" rtlCol="0">
            <a:noAutofit/>
          </a:bodyPr>
          <a:lst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a:pPr>
            <a:r>
              <a:rPr kumimoji="0" lang="ru-RU" alt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rPr>
              <a:t>Презентация проводится при поддержке компании</a:t>
            </a:r>
            <a:r>
              <a:rPr kumimoji="0" lang="en-US" alt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rPr>
              <a:t> Merck</a:t>
            </a:r>
            <a:endParaRPr kumimoji="0" lang="ru-RU" alt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endParaRPr>
          </a:p>
          <a:p>
            <a:pPr marL="228600" marR="0" lvl="0" indent="-2286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a:pPr>
            <a:r>
              <a:rPr kumimoji="0" lang="ru-RU" alt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rPr>
              <a:t>Информация, предоставляемая лектором, не обязательно отражает мнение, идеи и взгляды компании </a:t>
            </a:r>
            <a:r>
              <a:rPr kumimoji="0" lang="en-US" alt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rPr>
              <a:t>Merck </a:t>
            </a:r>
            <a:br>
              <a:rPr kumimoji="0" lang="ru-RU"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rPr>
            </a:br>
            <a:endParaRPr kumimoji="0" lang="en-US" sz="1800" b="0" i="0" u="none" strike="noStrike" kern="1200" cap="none" spc="0" normalizeH="0" baseline="0" noProof="0" dirty="0">
              <a:ln>
                <a:noFill/>
              </a:ln>
              <a:solidFill>
                <a:srgbClr val="398ACB">
                  <a:lumMod val="75000"/>
                </a:srgbClr>
              </a:solidFill>
              <a:effectLst/>
              <a:uLnTx/>
              <a:uFillTx/>
              <a:latin typeface="Verdana" panose="020B0604030504040204" pitchFamily="34" charset="0"/>
              <a:ea typeface="Verdana" panose="020B0604030504040204" pitchFamily="34" charset="0"/>
              <a:cs typeface="+mn-cs"/>
              <a:sym typeface="Helvetica Neue"/>
            </a:endParaRPr>
          </a:p>
        </p:txBody>
      </p:sp>
    </p:spTree>
    <p:extLst>
      <p:ext uri="{BB962C8B-B14F-4D97-AF65-F5344CB8AC3E}">
        <p14:creationId xmlns:p14="http://schemas.microsoft.com/office/powerpoint/2010/main" val="2121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B582106-1C2B-A424-FF0F-69B7D8644CB3}"/>
              </a:ext>
            </a:extLst>
          </p:cNvPr>
          <p:cNvSpPr txBox="1"/>
          <p:nvPr/>
        </p:nvSpPr>
        <p:spPr>
          <a:xfrm>
            <a:off x="474998" y="709175"/>
            <a:ext cx="3493990" cy="4049351"/>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182880" bIns="2743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1" i="0" u="sng" strike="noStrike" kern="0" cap="none" spc="0" normalizeH="0" baseline="0" noProof="0" dirty="0">
                <a:ln>
                  <a:noFill/>
                </a:ln>
                <a:solidFill>
                  <a:srgbClr val="FFFFFF"/>
                </a:solidFill>
                <a:effectLst/>
                <a:uLnTx/>
                <a:uFillTx/>
                <a:latin typeface="Arial" panose="020B0604020202020204"/>
                <a:ea typeface="+mn-ea"/>
                <a:cs typeface="+mn-cs"/>
              </a:rPr>
              <a:t>Ишемическая болезнь сердца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поражение миокарда, вызванное нарушением кровотока по КА.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Возникает в результате органических (необратимых) и функциональных (преходящих) изменений.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Главная причина органического поражения —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атеросклероз КА</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К функциональным изменениям относят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спазм</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и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внутрисосудистый тромбоз</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Понятие включает в себя острые преходящие (нестабильные) и хронические (стабильные) состояния.</a:t>
            </a:r>
          </a:p>
        </p:txBody>
      </p:sp>
      <p:sp>
        <p:nvSpPr>
          <p:cNvPr id="19" name="Isosceles Triangle 18">
            <a:extLst>
              <a:ext uri="{FF2B5EF4-FFF2-40B4-BE49-F238E27FC236}">
                <a16:creationId xmlns:a16="http://schemas.microsoft.com/office/drawing/2014/main" id="{C954EB72-CEE4-7DAF-104F-79B283E67970}"/>
              </a:ext>
            </a:extLst>
          </p:cNvPr>
          <p:cNvSpPr/>
          <p:nvPr/>
        </p:nvSpPr>
        <p:spPr>
          <a:xfrm rot="10800000">
            <a:off x="474995" y="4758526"/>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20" name="Title 1">
            <a:extLst>
              <a:ext uri="{FF2B5EF4-FFF2-40B4-BE49-F238E27FC236}">
                <a16:creationId xmlns:a16="http://schemas.microsoft.com/office/drawing/2014/main" id="{33DCB137-89F0-6AD2-A24C-DB34AC375754}"/>
              </a:ext>
            </a:extLst>
          </p:cNvPr>
          <p:cNvSpPr txBox="1">
            <a:spLocks/>
          </p:cNvSpPr>
          <p:nvPr/>
        </p:nvSpPr>
        <p:spPr>
          <a:xfrm>
            <a:off x="384694" y="-205262"/>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Одна болезнь, три определения: МЗ РФ, ESC, AHA/ACC</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3" name="TextBox 22">
            <a:extLst>
              <a:ext uri="{FF2B5EF4-FFF2-40B4-BE49-F238E27FC236}">
                <a16:creationId xmlns:a16="http://schemas.microsoft.com/office/drawing/2014/main" id="{51841B68-7622-E70E-5FFA-96F85D12CEA2}"/>
              </a:ext>
            </a:extLst>
          </p:cNvPr>
          <p:cNvSpPr txBox="1"/>
          <p:nvPr/>
        </p:nvSpPr>
        <p:spPr>
          <a:xfrm>
            <a:off x="4349002" y="709174"/>
            <a:ext cx="3493990" cy="4242474"/>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72000" bIns="2743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1" i="0" u="sng" strike="noStrike" kern="0" cap="none" spc="0" normalizeH="0" baseline="0" noProof="0" dirty="0">
                <a:ln>
                  <a:noFill/>
                </a:ln>
                <a:solidFill>
                  <a:srgbClr val="FFFFFF"/>
                </a:solidFill>
                <a:effectLst/>
                <a:uLnTx/>
                <a:uFillTx/>
                <a:latin typeface="Arial" panose="020B0604020202020204"/>
                <a:ea typeface="+mn-ea"/>
                <a:cs typeface="+mn-cs"/>
              </a:rPr>
              <a:t>Хронические коронарные синдромы</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(ХКС) — это спектр клинических проявлений, вследствие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структурных</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и/или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функциональных</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изменений</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0" i="0" u="none" strike="noStrike" kern="0" cap="none" spc="-20" normalizeH="0" baseline="0" noProof="0" dirty="0">
                <a:ln>
                  <a:noFill/>
                </a:ln>
                <a:solidFill>
                  <a:srgbClr val="FFFFFF"/>
                </a:solidFill>
                <a:effectLst/>
                <a:uLnTx/>
                <a:uFillTx/>
                <a:latin typeface="Arial" panose="020B0604020202020204"/>
                <a:ea typeface="+mn-ea"/>
                <a:cs typeface="+mn-cs"/>
              </a:rPr>
              <a:t>связанных с </a:t>
            </a:r>
            <a:r>
              <a:rPr kumimoji="0" lang="ru-RU" sz="1300" b="1" i="0" u="none" strike="noStrike" kern="0" cap="none" spc="-20" normalizeH="0" baseline="0" noProof="0" dirty="0">
                <a:ln>
                  <a:noFill/>
                </a:ln>
                <a:solidFill>
                  <a:srgbClr val="FFFFFF"/>
                </a:solidFill>
                <a:effectLst/>
                <a:uLnTx/>
                <a:uFillTx/>
                <a:latin typeface="Arial" panose="020B0604020202020204"/>
                <a:ea typeface="+mn-ea"/>
                <a:cs typeface="+mn-cs"/>
              </a:rPr>
              <a:t>хроническими заболеваниями КА и/или микроциркуляции</a:t>
            </a:r>
            <a:r>
              <a:rPr kumimoji="0" lang="ru-RU" sz="1300" b="0" i="0" u="none" strike="noStrike" kern="0" cap="none" spc="-20" normalizeH="0" baseline="0" noProof="0" dirty="0">
                <a:ln>
                  <a:noFill/>
                </a:ln>
                <a:solidFill>
                  <a:srgbClr val="FFFFFF"/>
                </a:solidFill>
                <a:effectLst/>
                <a:uLnTx/>
                <a:uFillTx/>
                <a:latin typeface="Arial" panose="020B0604020202020204"/>
                <a:ea typeface="+mn-ea"/>
                <a:cs typeface="+mn-cs"/>
              </a:rPr>
              <a:t>.</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Могут приводить к преходящему, обратимому несоответствию между потребностью миокарда в </a:t>
            </a:r>
            <a:r>
              <a:rPr kumimoji="0" lang="en-US" sz="1300" b="0" i="0" u="none" strike="noStrike" kern="0" cap="none" spc="0" normalizeH="0" baseline="0" noProof="0" dirty="0">
                <a:ln>
                  <a:noFill/>
                </a:ln>
                <a:solidFill>
                  <a:srgbClr val="FFFFFF"/>
                </a:solidFill>
                <a:effectLst/>
                <a:uLnTx/>
                <a:uFillTx/>
                <a:latin typeface="Arial" panose="020B0604020202020204"/>
                <a:ea typeface="+mn-ea"/>
                <a:cs typeface="+mn-cs"/>
              </a:rPr>
              <a:t>O2</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и его кровоснабжением, </a:t>
            </a:r>
            <a:r>
              <a:rPr kumimoji="0" lang="ru-RU" sz="1300" b="0" i="0" u="none" strike="noStrike" kern="0" cap="none" spc="-20" normalizeH="0" baseline="0" noProof="0" dirty="0">
                <a:ln>
                  <a:noFill/>
                </a:ln>
                <a:solidFill>
                  <a:srgbClr val="FFFFFF"/>
                </a:solidFill>
                <a:effectLst/>
                <a:uLnTx/>
                <a:uFillTx/>
                <a:latin typeface="Arial" panose="020B0604020202020204"/>
                <a:ea typeface="+mn-ea"/>
                <a:cs typeface="+mn-cs"/>
              </a:rPr>
              <a:t>вызывающему </a:t>
            </a:r>
            <a:r>
              <a:rPr kumimoji="0" lang="ru-RU" sz="1300" b="0" i="0" u="none" strike="noStrike" kern="0" cap="none" spc="-20" normalizeH="0" baseline="0" noProof="0" dirty="0" err="1">
                <a:ln>
                  <a:noFill/>
                </a:ln>
                <a:solidFill>
                  <a:srgbClr val="FFFFFF"/>
                </a:solidFill>
                <a:effectLst/>
                <a:uLnTx/>
                <a:uFillTx/>
                <a:latin typeface="Arial" panose="020B0604020202020204"/>
                <a:ea typeface="+mn-ea"/>
                <a:cs typeface="+mn-cs"/>
              </a:rPr>
              <a:t>гипоперфузию</a:t>
            </a:r>
            <a:r>
              <a:rPr kumimoji="0" lang="ru-RU" sz="1300" b="0" i="0" u="none" strike="noStrike" kern="0" cap="none" spc="-20" normalizeH="0" baseline="0" noProof="0" dirty="0">
                <a:ln>
                  <a:noFill/>
                </a:ln>
                <a:solidFill>
                  <a:srgbClr val="FFFFFF"/>
                </a:solidFill>
                <a:effectLst/>
                <a:uLnTx/>
                <a:uFillTx/>
                <a:latin typeface="Arial" panose="020B0604020202020204"/>
                <a:ea typeface="+mn-ea"/>
                <a:cs typeface="+mn-cs"/>
              </a:rPr>
              <a:t> (ишемию), обычно, хотя и не всегда, провоцируемую</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физической нагрузкой, эмоциями или другим стрессом.</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Проявляется стенокардией, иными болями/дискомфортом в грудной клетке, одышкой либо протекает бессимптомно.</a:t>
            </a:r>
          </a:p>
        </p:txBody>
      </p:sp>
      <p:sp>
        <p:nvSpPr>
          <p:cNvPr id="24" name="Isosceles Triangle 23">
            <a:extLst>
              <a:ext uri="{FF2B5EF4-FFF2-40B4-BE49-F238E27FC236}">
                <a16:creationId xmlns:a16="http://schemas.microsoft.com/office/drawing/2014/main" id="{38BB7935-AE84-6DCF-90F3-C2B237406CDD}"/>
              </a:ext>
            </a:extLst>
          </p:cNvPr>
          <p:cNvSpPr/>
          <p:nvPr/>
        </p:nvSpPr>
        <p:spPr>
          <a:xfrm rot="10800000">
            <a:off x="4348999" y="4951648"/>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8EDDCD4F-7D86-90DA-8CE3-250598CDDCCF}"/>
              </a:ext>
            </a:extLst>
          </p:cNvPr>
          <p:cNvSpPr txBox="1"/>
          <p:nvPr/>
        </p:nvSpPr>
        <p:spPr>
          <a:xfrm>
            <a:off x="8203862" y="709174"/>
            <a:ext cx="3493990" cy="4050000"/>
          </a:xfrm>
          <a:prstGeom prst="rect">
            <a:avLst/>
          </a:prstGeom>
          <a:gradFill flip="none" rotWithShape="1">
            <a:gsLst>
              <a:gs pos="80000">
                <a:srgbClr val="00A3E0"/>
              </a:gs>
              <a:gs pos="20000">
                <a:srgbClr val="005587"/>
              </a:gs>
            </a:gsLst>
            <a:lin ang="2700000" scaled="1"/>
            <a:tileRect/>
          </a:gradFill>
          <a:ln>
            <a:noFill/>
          </a:ln>
        </p:spPr>
        <p:txBody>
          <a:bodyPr wrap="square" lIns="252000" tIns="432000" rIns="182880" bIns="2743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1" i="0" u="sng" strike="noStrike" kern="0" cap="none" spc="0" normalizeH="0" baseline="0" noProof="0" dirty="0">
                <a:ln>
                  <a:noFill/>
                </a:ln>
                <a:solidFill>
                  <a:srgbClr val="FFFFFF"/>
                </a:solidFill>
                <a:effectLst/>
                <a:uLnTx/>
                <a:uFillTx/>
                <a:latin typeface="Arial" panose="020B0604020202020204"/>
                <a:ea typeface="+mn-ea"/>
                <a:cs typeface="+mn-cs"/>
              </a:rPr>
              <a:t>Хроническая коронарная болезнь</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300" b="1"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a:t>
            </a:r>
            <a:r>
              <a:rPr kumimoji="0" lang="ru-RU" sz="1300" b="0" i="0" u="none" strike="noStrike" kern="0" cap="none" spc="0" normalizeH="0" baseline="0" noProof="0" dirty="0" err="1">
                <a:ln>
                  <a:noFill/>
                </a:ln>
                <a:solidFill>
                  <a:srgbClr val="FFFFFF"/>
                </a:solidFill>
                <a:effectLst/>
                <a:uLnTx/>
                <a:uFillTx/>
                <a:latin typeface="Arial" panose="020B0604020202020204"/>
                <a:ea typeface="+mn-ea"/>
                <a:cs typeface="+mn-cs"/>
              </a:rPr>
              <a:t>Chronic</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0" i="0" u="none" strike="noStrike" kern="0" cap="none" spc="0" normalizeH="0" baseline="0" noProof="0" dirty="0" err="1">
                <a:ln>
                  <a:noFill/>
                </a:ln>
                <a:solidFill>
                  <a:srgbClr val="FFFFFF"/>
                </a:solidFill>
                <a:effectLst/>
                <a:uLnTx/>
                <a:uFillTx/>
                <a:latin typeface="Arial" panose="020B0604020202020204"/>
                <a:ea typeface="+mn-ea"/>
                <a:cs typeface="+mn-cs"/>
              </a:rPr>
              <a:t>Coronary</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r>
              <a:rPr kumimoji="0" lang="ru-RU" sz="1300" b="0" i="0" u="none" strike="noStrike" kern="0" cap="none" spc="0" normalizeH="0" baseline="0" noProof="0" dirty="0" err="1">
                <a:ln>
                  <a:noFill/>
                </a:ln>
                <a:solidFill>
                  <a:srgbClr val="FFFFFF"/>
                </a:solidFill>
                <a:effectLst/>
                <a:uLnTx/>
                <a:uFillTx/>
                <a:latin typeface="Arial" panose="020B0604020202020204"/>
                <a:ea typeface="+mn-ea"/>
                <a:cs typeface="+mn-cs"/>
              </a:rPr>
              <a:t>Disease</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CCD) — это гетерогенная группа состояний, включающая </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обструктивную и </a:t>
            </a:r>
            <a:r>
              <a:rPr kumimoji="0" lang="ru-RU" sz="1300" b="0" i="0" u="none" strike="noStrike" kern="0" cap="none" spc="0" normalizeH="0" baseline="0" noProof="0" dirty="0" err="1">
                <a:ln>
                  <a:noFill/>
                </a:ln>
                <a:solidFill>
                  <a:srgbClr val="FFFFFF"/>
                </a:solidFill>
                <a:effectLst/>
                <a:uLnTx/>
                <a:uFillTx/>
                <a:latin typeface="Arial" panose="020B0604020202020204"/>
                <a:ea typeface="+mn-ea"/>
                <a:cs typeface="+mn-cs"/>
              </a:rPr>
              <a:t>необструктивную</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ИБС, </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с перенесённым или без перенесённого инфаркта миокарда</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или </a:t>
            </a:r>
            <a:r>
              <a:rPr kumimoji="0" lang="ru-RU" sz="1300" b="0" i="0" u="none" strike="noStrike" kern="0" cap="none" spc="0" normalizeH="0" baseline="0" noProof="0" dirty="0" err="1">
                <a:ln>
                  <a:noFill/>
                </a:ln>
                <a:solidFill>
                  <a:srgbClr val="FFFFFF"/>
                </a:solidFill>
                <a:effectLst/>
                <a:uLnTx/>
                <a:uFillTx/>
                <a:latin typeface="Arial" panose="020B0604020202020204"/>
                <a:ea typeface="+mn-ea"/>
                <a:cs typeface="+mn-cs"/>
              </a:rPr>
              <a:t>реваскуляризации</a:t>
            </a: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 </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ишемическую болезнь сердца, диагностированную только с помощью неинвазивных тестов,</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1300" b="0" i="0" u="none" strike="noStrike" kern="0" cap="none" spc="0" normalizeH="0" baseline="0" noProof="0" dirty="0">
                <a:ln>
                  <a:noFill/>
                </a:ln>
                <a:solidFill>
                  <a:srgbClr val="FFFFFF"/>
                </a:solidFill>
                <a:effectLst/>
                <a:uLnTx/>
                <a:uFillTx/>
                <a:latin typeface="Arial" panose="020B0604020202020204"/>
                <a:ea typeface="+mn-ea"/>
                <a:cs typeface="+mn-cs"/>
              </a:rPr>
              <a:t>а также хронические ангинозные синдромы с различными причинами</a:t>
            </a:r>
            <a:endParaRPr kumimoji="0" lang="en-GB" sz="13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 name="Isosceles Triangle 26">
            <a:extLst>
              <a:ext uri="{FF2B5EF4-FFF2-40B4-BE49-F238E27FC236}">
                <a16:creationId xmlns:a16="http://schemas.microsoft.com/office/drawing/2014/main" id="{0ECDCB06-02B3-70D7-B4F6-655783671408}"/>
              </a:ext>
            </a:extLst>
          </p:cNvPr>
          <p:cNvSpPr/>
          <p:nvPr/>
        </p:nvSpPr>
        <p:spPr>
          <a:xfrm rot="10800000">
            <a:off x="8203859" y="4758526"/>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pic>
        <p:nvPicPr>
          <p:cNvPr id="29" name="Graphic 28">
            <a:extLst>
              <a:ext uri="{FF2B5EF4-FFF2-40B4-BE49-F238E27FC236}">
                <a16:creationId xmlns:a16="http://schemas.microsoft.com/office/drawing/2014/main" id="{C6F5AC51-6342-1660-CEDF-2939188592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4149" y="694875"/>
            <a:ext cx="468000" cy="468000"/>
          </a:xfrm>
          <a:prstGeom prst="rect">
            <a:avLst/>
          </a:prstGeom>
        </p:spPr>
      </p:pic>
      <p:pic>
        <p:nvPicPr>
          <p:cNvPr id="30" name="Graphic 29">
            <a:extLst>
              <a:ext uri="{FF2B5EF4-FFF2-40B4-BE49-F238E27FC236}">
                <a16:creationId xmlns:a16="http://schemas.microsoft.com/office/drawing/2014/main" id="{29FAB5A0-87C3-5A01-553C-35185C4514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24425" y="728363"/>
            <a:ext cx="468000" cy="468000"/>
          </a:xfrm>
          <a:prstGeom prst="rect">
            <a:avLst/>
          </a:prstGeom>
        </p:spPr>
      </p:pic>
      <p:pic>
        <p:nvPicPr>
          <p:cNvPr id="31" name="Graphic 30">
            <a:extLst>
              <a:ext uri="{FF2B5EF4-FFF2-40B4-BE49-F238E27FC236}">
                <a16:creationId xmlns:a16="http://schemas.microsoft.com/office/drawing/2014/main" id="{031EA9FA-91AD-0B37-E95B-F6EDC8C48E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87475" y="728363"/>
            <a:ext cx="468000" cy="468000"/>
          </a:xfrm>
          <a:prstGeom prst="rect">
            <a:avLst/>
          </a:prstGeom>
        </p:spPr>
      </p:pic>
      <p:sp>
        <p:nvSpPr>
          <p:cNvPr id="34" name="Rectangle 33">
            <a:extLst>
              <a:ext uri="{FF2B5EF4-FFF2-40B4-BE49-F238E27FC236}">
                <a16:creationId xmlns:a16="http://schemas.microsoft.com/office/drawing/2014/main" id="{5EBE3651-3CC4-22AA-76E5-031972F126C9}"/>
              </a:ext>
            </a:extLst>
          </p:cNvPr>
          <p:cNvSpPr/>
          <p:nvPr/>
        </p:nvSpPr>
        <p:spPr>
          <a:xfrm>
            <a:off x="312214" y="5131711"/>
            <a:ext cx="3819558" cy="873658"/>
          </a:xfrm>
          <a:prstGeom prst="rect">
            <a:avLst/>
          </a:prstGeom>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Клинические рекомендации МЗ РФ 2024. Стабильная ишемическая болезнь сердца</a:t>
            </a:r>
            <a:r>
              <a:rPr kumimoji="0" lang="ru-RU" sz="1600" b="1" i="0" u="none" strike="noStrike" kern="1200" cap="none" spc="0" normalizeH="0" baseline="30000" noProof="0" dirty="0">
                <a:ln>
                  <a:noFill/>
                </a:ln>
                <a:solidFill>
                  <a:srgbClr val="2B3A42"/>
                </a:solidFill>
                <a:effectLst/>
                <a:uLnTx/>
                <a:uFillTx/>
                <a:latin typeface="Arial" panose="020B0604020202020204"/>
                <a:ea typeface="+mn-ea"/>
                <a:cs typeface="+mn-cs"/>
              </a:rPr>
              <a:t>1</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p>
        </p:txBody>
      </p:sp>
      <p:sp>
        <p:nvSpPr>
          <p:cNvPr id="35" name="Rectangle 34">
            <a:extLst>
              <a:ext uri="{FF2B5EF4-FFF2-40B4-BE49-F238E27FC236}">
                <a16:creationId xmlns:a16="http://schemas.microsoft.com/office/drawing/2014/main" id="{B3290BD7-FEA9-99B5-EEC6-EAF91A4DF075}"/>
              </a:ext>
            </a:extLst>
          </p:cNvPr>
          <p:cNvSpPr/>
          <p:nvPr/>
        </p:nvSpPr>
        <p:spPr>
          <a:xfrm>
            <a:off x="4424426" y="5325681"/>
            <a:ext cx="3493990" cy="873658"/>
          </a:xfrm>
          <a:prstGeom prst="rect">
            <a:avLst/>
          </a:prstGeom>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2024 ESC Guidelines for the management</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of chronic</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coronary syndromes</a:t>
            </a:r>
            <a:r>
              <a:rPr kumimoji="0" lang="ru-RU" sz="1600" b="1" i="0" u="none" strike="noStrike" kern="1200" cap="none" spc="0" normalizeH="0" baseline="30000" noProof="0" dirty="0">
                <a:ln>
                  <a:noFill/>
                </a:ln>
                <a:solidFill>
                  <a:srgbClr val="2B3A42"/>
                </a:solidFill>
                <a:effectLst/>
                <a:uLnTx/>
                <a:uFillTx/>
                <a:latin typeface="Arial" panose="020B0604020202020204"/>
                <a:ea typeface="+mn-ea"/>
                <a:cs typeface="+mn-cs"/>
              </a:rPr>
              <a:t>2</a:t>
            </a:r>
            <a:endParaRPr kumimoji="0" lang="en-US" sz="1600" b="1" i="0" u="none" strike="noStrike" kern="1200" cap="none" spc="0" normalizeH="0" baseline="30000" noProof="0" dirty="0">
              <a:ln>
                <a:noFill/>
              </a:ln>
              <a:solidFill>
                <a:srgbClr val="2B3A42"/>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CEC37F36-9775-1F9B-5918-A4E46E03CDDF}"/>
              </a:ext>
            </a:extLst>
          </p:cNvPr>
          <p:cNvSpPr/>
          <p:nvPr/>
        </p:nvSpPr>
        <p:spPr>
          <a:xfrm>
            <a:off x="7969297" y="5131711"/>
            <a:ext cx="4222704" cy="873658"/>
          </a:xfrm>
          <a:prstGeom prst="rect">
            <a:avLst/>
          </a:prstGeom>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2023</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AHA/ACC/ACCP/ASPC/NLA/PCNA</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Guideline for the Management</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of Patients</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With</a:t>
            </a:r>
            <a:r>
              <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2B3A42"/>
                </a:solidFill>
                <a:effectLst/>
                <a:uLnTx/>
                <a:uFillTx/>
                <a:latin typeface="Arial" panose="020B0604020202020204"/>
                <a:ea typeface="+mn-ea"/>
                <a:cs typeface="+mn-cs"/>
              </a:rPr>
              <a:t>Chronic Coronary Disease</a:t>
            </a:r>
            <a:r>
              <a:rPr kumimoji="0" lang="ru-RU" sz="1600" b="1" i="0" u="none" strike="noStrike" kern="1200" cap="none" spc="0" normalizeH="0" baseline="30000" noProof="0" dirty="0">
                <a:ln>
                  <a:noFill/>
                </a:ln>
                <a:solidFill>
                  <a:srgbClr val="2B3A42"/>
                </a:solidFill>
                <a:effectLst/>
                <a:uLnTx/>
                <a:uFillTx/>
                <a:latin typeface="Arial" panose="020B0604020202020204"/>
                <a:ea typeface="+mn-ea"/>
                <a:cs typeface="+mn-cs"/>
              </a:rPr>
              <a:t>3</a:t>
            </a:r>
            <a:endParaRPr kumimoji="0" lang="en-US" sz="1600" b="1" i="0" u="none" strike="noStrike" kern="1200" cap="none" spc="0" normalizeH="0" baseline="30000" noProof="0" dirty="0">
              <a:ln>
                <a:noFill/>
              </a:ln>
              <a:solidFill>
                <a:srgbClr val="2B3A42"/>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C9CCF28A-BE20-F0A1-C644-4CBA45D75D61}"/>
              </a:ext>
            </a:extLst>
          </p:cNvPr>
          <p:cNvSpPr txBox="1"/>
          <p:nvPr/>
        </p:nvSpPr>
        <p:spPr>
          <a:xfrm>
            <a:off x="289856" y="6245572"/>
            <a:ext cx="1133855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Барбараш О. Л., и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соавт</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Стабильная ишемическая болезнь сердца.</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Клинические рекомендации 2024. Российский кардиологический журнал.</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2024;29(9):6110.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10.15829/1560-4071-2024-6110. EDN HHJJUT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Vrints</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 et al. 2024 ESC Guidelines for the management of chronic coronary syndromes.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Heart J. 2024 Aug 30: ehae177.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10.1093/</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eurheartj</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/ehae177. PMID: 39210710</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Virani SS, et al. 2023 AHA/ACC/ACCP/ASPC/NLA/PCNA guideline for the management of patients with chronic coronary disease: a report of the American Heart Association/American College of Cardiology Joint Committee on Clinical Practice Guidelines. J Am Coll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Cardiol</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2023;82:833-955</a:t>
            </a:r>
          </a:p>
        </p:txBody>
      </p:sp>
    </p:spTree>
    <p:extLst>
      <p:ext uri="{BB962C8B-B14F-4D97-AF65-F5344CB8AC3E}">
        <p14:creationId xmlns:p14="http://schemas.microsoft.com/office/powerpoint/2010/main" val="2679277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F1B6F-FE5F-77D8-A554-44D63345EF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477DAA-3A0F-5C34-2A04-CBD3CADA58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5E7EB4-4CDF-47BB-AF16-07782904B863}" type="slidenum">
              <a:rPr kumimoji="0" lang="en-US" sz="1200" b="0" i="0" u="none" strike="noStrike" kern="1200" cap="none" spc="0" normalizeH="0" baseline="0" noProof="0" smtClean="0">
                <a:ln>
                  <a:noFill/>
                </a:ln>
                <a:solidFill>
                  <a:srgbClr val="FFC832"/>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FFC832"/>
              </a:solidFill>
              <a:effectLst/>
              <a:uLnTx/>
              <a:uFillTx/>
              <a:latin typeface="Aptos" panose="02110004020202020204"/>
              <a:ea typeface="+mn-ea"/>
              <a:cs typeface="+mn-cs"/>
            </a:endParaRPr>
          </a:p>
        </p:txBody>
      </p:sp>
      <p:sp>
        <p:nvSpPr>
          <p:cNvPr id="3" name="Text Placeholder 2">
            <a:extLst>
              <a:ext uri="{FF2B5EF4-FFF2-40B4-BE49-F238E27FC236}">
                <a16:creationId xmlns:a16="http://schemas.microsoft.com/office/drawing/2014/main" id="{929AAB51-B58E-29F5-4192-CE3C6E45496D}"/>
              </a:ext>
            </a:extLst>
          </p:cNvPr>
          <p:cNvSpPr>
            <a:spLocks noGrp="1"/>
          </p:cNvSpPr>
          <p:nvPr>
            <p:ph type="body" sz="quarter" idx="4294967295"/>
          </p:nvPr>
        </p:nvSpPr>
        <p:spPr>
          <a:xfrm>
            <a:off x="338459" y="6571099"/>
            <a:ext cx="9747250" cy="225425"/>
          </a:xfrm>
        </p:spPr>
        <p:txBody>
          <a:bodyPr>
            <a:normAutofit fontScale="32500" lnSpcReduction="20000"/>
          </a:bodyPr>
          <a:lstStyle/>
          <a:p>
            <a:pPr marL="0" indent="0">
              <a:buNone/>
            </a:pPr>
            <a:r>
              <a:rPr lang="en-US" dirty="0" err="1"/>
              <a:t>Vrints</a:t>
            </a:r>
            <a:r>
              <a:rPr lang="en-US" dirty="0"/>
              <a:t> C. et al. 2024 ESC Guidelines for the management of chronic coronary syndromes. Eur Heart J. 2024 Aug 30:ehae177. </a:t>
            </a:r>
            <a:r>
              <a:rPr lang="en-US" dirty="0" err="1"/>
              <a:t>doi</a:t>
            </a:r>
            <a:r>
              <a:rPr lang="en-US" dirty="0"/>
              <a:t>: 10.1093/</a:t>
            </a:r>
            <a:r>
              <a:rPr lang="en-US" dirty="0" err="1"/>
              <a:t>eurheartj</a:t>
            </a:r>
            <a:r>
              <a:rPr lang="en-US" dirty="0"/>
              <a:t>/ehae177. PMID: 39210710.</a:t>
            </a:r>
          </a:p>
        </p:txBody>
      </p:sp>
      <p:sp>
        <p:nvSpPr>
          <p:cNvPr id="4" name="Title 3">
            <a:extLst>
              <a:ext uri="{FF2B5EF4-FFF2-40B4-BE49-F238E27FC236}">
                <a16:creationId xmlns:a16="http://schemas.microsoft.com/office/drawing/2014/main" id="{9AC7CF16-4458-6D0D-C85C-5E060757B191}"/>
              </a:ext>
            </a:extLst>
          </p:cNvPr>
          <p:cNvSpPr>
            <a:spLocks noGrp="1"/>
          </p:cNvSpPr>
          <p:nvPr>
            <p:ph type="title" idx="4294967295"/>
          </p:nvPr>
        </p:nvSpPr>
        <p:spPr>
          <a:xfrm>
            <a:off x="338459" y="351187"/>
            <a:ext cx="11659437" cy="390525"/>
          </a:xfrm>
        </p:spPr>
        <p:txBody>
          <a:bodyPr vert="horz" lIns="0" tIns="0" rIns="0" bIns="0" rtlCol="0" anchor="t">
            <a:noAutofit/>
          </a:bodyPr>
          <a:lstStyle/>
          <a:p>
            <a:r>
              <a:rPr lang="ru-RU" sz="2000" b="1" dirty="0">
                <a:latin typeface="Verdana" panose="020B0604030504040204" pitchFamily="34" charset="0"/>
                <a:ea typeface="Verdana" panose="020B0604030504040204" pitchFamily="34" charset="0"/>
              </a:rPr>
              <a:t>Разнообразие клинических форм хронического коронарного синдрома</a:t>
            </a:r>
            <a:r>
              <a:rPr lang="en-US" sz="2000" b="1" dirty="0">
                <a:latin typeface="Verdana" panose="020B0604030504040204" pitchFamily="34" charset="0"/>
                <a:ea typeface="Verdana" panose="020B0604030504040204" pitchFamily="34" charset="0"/>
              </a:rPr>
              <a:t> (</a:t>
            </a:r>
            <a:r>
              <a:rPr lang="ru-RU" sz="2000" b="1" dirty="0">
                <a:latin typeface="Verdana" panose="020B0604030504040204" pitchFamily="34" charset="0"/>
                <a:ea typeface="Verdana" panose="020B0604030504040204" pitchFamily="34" charset="0"/>
              </a:rPr>
              <a:t>ХКС)</a:t>
            </a:r>
            <a:r>
              <a:rPr lang="en-US" sz="2000" b="1" dirty="0">
                <a:latin typeface="Verdana" panose="020B0604030504040204" pitchFamily="34" charset="0"/>
                <a:ea typeface="Verdana" panose="020B0604030504040204" pitchFamily="34" charset="0"/>
              </a:rPr>
              <a:t> </a:t>
            </a:r>
            <a:br>
              <a:rPr lang="en-US" sz="2000" b="1" dirty="0">
                <a:latin typeface="Verdana" panose="020B0604030504040204" pitchFamily="34" charset="0"/>
                <a:ea typeface="Verdana" panose="020B0604030504040204" pitchFamily="34" charset="0"/>
              </a:rPr>
            </a:br>
            <a:r>
              <a:rPr lang="en-US" sz="2000" b="1" dirty="0">
                <a:latin typeface="Verdana" panose="020B0604030504040204" pitchFamily="34" charset="0"/>
                <a:ea typeface="Verdana" panose="020B0604030504040204" pitchFamily="34" charset="0"/>
              </a:rPr>
              <a:t>(ESC 2024)</a:t>
            </a:r>
          </a:p>
        </p:txBody>
      </p:sp>
      <p:sp>
        <p:nvSpPr>
          <p:cNvPr id="6" name="Title 3">
            <a:extLst>
              <a:ext uri="{FF2B5EF4-FFF2-40B4-BE49-F238E27FC236}">
                <a16:creationId xmlns:a16="http://schemas.microsoft.com/office/drawing/2014/main" id="{907BFA33-CD70-48CE-7AFB-47432304929D}"/>
              </a:ext>
            </a:extLst>
          </p:cNvPr>
          <p:cNvSpPr txBox="1">
            <a:spLocks/>
          </p:cNvSpPr>
          <p:nvPr/>
        </p:nvSpPr>
        <p:spPr bwMode="gray">
          <a:xfrm>
            <a:off x="902970" y="5854926"/>
            <a:ext cx="9384384" cy="46706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ишемия ОКС</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острый коронарный синдром</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ANOCA</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стенокардия без обструктивного поражения коронарных артерий</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КШ</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коронарное ш</a:t>
            </a:r>
            <a:r>
              <a:rPr kumimoji="0" lang="ru-RU" sz="900" b="0" i="0" u="none" strike="noStrike" kern="1200" cap="none" spc="0" normalizeH="0" baseline="0" noProof="0" dirty="0" err="1">
                <a:ln>
                  <a:noFill/>
                </a:ln>
                <a:solidFill>
                  <a:srgbClr val="156082"/>
                </a:solidFill>
                <a:effectLst/>
                <a:uLnTx/>
                <a:uFillTx/>
                <a:latin typeface="Verdana" panose="020B0604030504040204" pitchFamily="34" charset="0"/>
                <a:ea typeface="Verdana" panose="020B0604030504040204" pitchFamily="34" charset="0"/>
              </a:rPr>
              <a:t>унтировние</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INOCA</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en-US" sz="900" b="0" i="0" u="none" strike="noStrike" kern="1200" cap="none" spc="0" normalizeH="0" baseline="0" noProof="0" dirty="0" err="1">
                <a:ln>
                  <a:noFill/>
                </a:ln>
                <a:solidFill>
                  <a:srgbClr val="156082"/>
                </a:solidFill>
                <a:effectLst/>
                <a:uLnTx/>
                <a:uFillTx/>
                <a:latin typeface="Verdana" panose="020B0604030504040204" pitchFamily="34" charset="0"/>
                <a:ea typeface="Verdana" panose="020B0604030504040204" pitchFamily="34" charset="0"/>
              </a:rPr>
              <a:t>i</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ишемия без обструктивного поражения коронарных артерий</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ЛЖ</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левый желудочек</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ЧКВ</a:t>
            </a:r>
            <a:r>
              <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 </a:t>
            </a:r>
            <a:r>
              <a:rPr kumimoji="0" lang="ru-RU"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чрескожное коронарное вмешательство</a:t>
            </a:r>
            <a:endParaRPr kumimoji="0" lang="en-US" sz="9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pic>
        <p:nvPicPr>
          <p:cNvPr id="8" name="Graphic 7">
            <a:extLst>
              <a:ext uri="{FF2B5EF4-FFF2-40B4-BE49-F238E27FC236}">
                <a16:creationId xmlns:a16="http://schemas.microsoft.com/office/drawing/2014/main" id="{1D12D54A-B507-4ED1-F3CF-481F9359691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12756" y="2087932"/>
            <a:ext cx="5375189" cy="3190851"/>
          </a:xfrm>
          <a:prstGeom prst="rect">
            <a:avLst/>
          </a:prstGeom>
        </p:spPr>
      </p:pic>
      <p:sp>
        <p:nvSpPr>
          <p:cNvPr id="9" name="Title 3">
            <a:extLst>
              <a:ext uri="{FF2B5EF4-FFF2-40B4-BE49-F238E27FC236}">
                <a16:creationId xmlns:a16="http://schemas.microsoft.com/office/drawing/2014/main" id="{5115D8E5-AC9F-8D70-30E4-39D9ED89CF3B}"/>
              </a:ext>
            </a:extLst>
          </p:cNvPr>
          <p:cNvSpPr txBox="1">
            <a:spLocks/>
          </p:cNvSpPr>
          <p:nvPr/>
        </p:nvSpPr>
        <p:spPr bwMode="gray">
          <a:xfrm>
            <a:off x="1673318" y="3071037"/>
            <a:ext cx="2147027"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Стенокардия или эквивалент без обструктивного поражения КА (ANOCA/INOCA)</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0" name="Title 3">
            <a:extLst>
              <a:ext uri="{FF2B5EF4-FFF2-40B4-BE49-F238E27FC236}">
                <a16:creationId xmlns:a16="http://schemas.microsoft.com/office/drawing/2014/main" id="{1CB5EDCE-989D-8B01-5C1E-54D514B29A64}"/>
              </a:ext>
            </a:extLst>
          </p:cNvPr>
          <p:cNvSpPr txBox="1">
            <a:spLocks/>
          </p:cNvSpPr>
          <p:nvPr/>
        </p:nvSpPr>
        <p:spPr bwMode="gray">
          <a:xfrm>
            <a:off x="3820345" y="1652588"/>
            <a:ext cx="3856013"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Стресс-индуцированная стенокардия (или эквивалент) при обструктивном поражении КА</a:t>
            </a:r>
            <a:endParaRPr kumimoji="0" lang="en-US"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1" name="Title 3">
            <a:extLst>
              <a:ext uri="{FF2B5EF4-FFF2-40B4-BE49-F238E27FC236}">
                <a16:creationId xmlns:a16="http://schemas.microsoft.com/office/drawing/2014/main" id="{181EB1C6-FF86-1FC0-EDBC-0E15BBCDD1BD}"/>
              </a:ext>
            </a:extLst>
          </p:cNvPr>
          <p:cNvSpPr txBox="1">
            <a:spLocks/>
          </p:cNvSpPr>
          <p:nvPr/>
        </p:nvSpPr>
        <p:spPr bwMode="gray">
          <a:xfrm>
            <a:off x="7996491" y="2745279"/>
            <a:ext cx="2413600" cy="390161"/>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Стабильное состояние после ОКС, ЧКВ или КШ</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2" name="Title 3">
            <a:extLst>
              <a:ext uri="{FF2B5EF4-FFF2-40B4-BE49-F238E27FC236}">
                <a16:creationId xmlns:a16="http://schemas.microsoft.com/office/drawing/2014/main" id="{BE1BA76B-9546-7A8E-F823-2FB70DD57EBD}"/>
              </a:ext>
            </a:extLst>
          </p:cNvPr>
          <p:cNvSpPr txBox="1">
            <a:spLocks/>
          </p:cNvSpPr>
          <p:nvPr/>
        </p:nvSpPr>
        <p:spPr bwMode="gray">
          <a:xfrm>
            <a:off x="338459" y="5012090"/>
            <a:ext cx="2874297" cy="50055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Бессимптомные пациенты с патологией КА по данным визуализации и/или функциональных тестов</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
        <p:nvSpPr>
          <p:cNvPr id="13" name="Title 3">
            <a:extLst>
              <a:ext uri="{FF2B5EF4-FFF2-40B4-BE49-F238E27FC236}">
                <a16:creationId xmlns:a16="http://schemas.microsoft.com/office/drawing/2014/main" id="{EA5B1CB1-D097-1297-8DC7-ADEA526CD292}"/>
              </a:ext>
            </a:extLst>
          </p:cNvPr>
          <p:cNvSpPr txBox="1">
            <a:spLocks/>
          </p:cNvSpPr>
          <p:nvPr/>
        </p:nvSpPr>
        <p:spPr bwMode="gray">
          <a:xfrm>
            <a:off x="4207750" y="3754348"/>
            <a:ext cx="3384000" cy="1993204"/>
          </a:xfrm>
          <a:prstGeom prst="ellipse">
            <a:avLst/>
          </a:prstGeom>
          <a:noFill/>
          <a:ln>
            <a:noFill/>
          </a:ln>
        </p:spPr>
        <p:txBody>
          <a:bodyPr vert="horz" lIns="0" tIns="0" rIns="0" bIns="18000" rtlCol="0" anchor="ctr"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800" b="1"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rPr>
              <a:t>Клинический спектр предполагаемого или подтверждённого ХКС</a:t>
            </a:r>
            <a:endParaRPr kumimoji="0" lang="en-US" sz="1800" b="1"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endParaRPr>
          </a:p>
        </p:txBody>
      </p:sp>
      <p:sp>
        <p:nvSpPr>
          <p:cNvPr id="14" name="Title 3">
            <a:extLst>
              <a:ext uri="{FF2B5EF4-FFF2-40B4-BE49-F238E27FC236}">
                <a16:creationId xmlns:a16="http://schemas.microsoft.com/office/drawing/2014/main" id="{E1D6B3BC-9A46-2C97-82EF-76A5B65B124D}"/>
              </a:ext>
            </a:extLst>
          </p:cNvPr>
          <p:cNvSpPr txBox="1">
            <a:spLocks/>
          </p:cNvSpPr>
          <p:nvPr/>
        </p:nvSpPr>
        <p:spPr bwMode="gray">
          <a:xfrm>
            <a:off x="9133879" y="4759937"/>
            <a:ext cx="2552423" cy="500556"/>
          </a:xfrm>
          <a:prstGeom prst="rect">
            <a:avLst/>
          </a:prstGeom>
          <a:noFill/>
        </p:spPr>
        <p:txBody>
          <a:bodyPr vert="horz" lIns="0" tIns="0" rIns="0" bIns="18000" rtlCol="0" anchor="b" anchorCtr="0">
            <a:noAutofit/>
          </a:bodyPr>
          <a:lstStyle>
            <a:lvl1pPr algn="l" defTabSz="914400" rtl="0" eaLnBrk="1" latinLnBrk="0" hangingPunct="1">
              <a:lnSpc>
                <a:spcPts val="2400"/>
              </a:lnSpc>
              <a:spcBef>
                <a:spcPct val="0"/>
              </a:spcBef>
              <a:buNone/>
              <a:defRPr lang="de-DE" sz="2200" b="1" kern="1200" baseline="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1700" b="1"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rPr>
              <a:t>Дисфункция ЛЖ или сердечная недостаточность ишемического генеза</a:t>
            </a:r>
            <a:endParaRPr kumimoji="0" lang="en-US" sz="1700" b="0" i="0" u="none" strike="noStrike" kern="1200" cap="none" spc="0" normalizeH="0" baseline="0" noProof="0" dirty="0">
              <a:ln>
                <a:noFill/>
              </a:ln>
              <a:solidFill>
                <a:srgbClr val="15608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8871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46CA1-E56D-45F0-A292-37B3EC5ADFB5}"/>
              </a:ext>
            </a:extLst>
          </p:cNvPr>
          <p:cNvSpPr>
            <a:spLocks noGrp="1"/>
          </p:cNvSpPr>
          <p:nvPr>
            <p:ph type="title"/>
          </p:nvPr>
        </p:nvSpPr>
        <p:spPr>
          <a:xfrm>
            <a:off x="623887" y="323530"/>
            <a:ext cx="10944225" cy="364056"/>
          </a:xfrm>
        </p:spPr>
        <p:txBody>
          <a:bodyPr vert="horz" lIns="0" tIns="0" rIns="0" bIns="0" rtlCol="0" anchor="t">
            <a:noAutofit/>
          </a:bodyPr>
          <a:lstStyle/>
          <a:p>
            <a:r>
              <a:rPr lang="ru-RU" sz="2000" b="1" dirty="0">
                <a:latin typeface="Verdana" panose="020B0604030504040204" pitchFamily="34" charset="0"/>
                <a:ea typeface="Verdana" panose="020B0604030504040204" pitchFamily="34" charset="0"/>
              </a:rPr>
              <a:t>Различные механизмы развития ишемии миокарда</a:t>
            </a:r>
            <a:endParaRPr lang="en-PH" sz="2000" b="1" dirty="0">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690866EB-9CF9-C1E4-D14E-FFB57886F960}"/>
              </a:ext>
            </a:extLst>
          </p:cNvPr>
          <p:cNvGrpSpPr/>
          <p:nvPr/>
        </p:nvGrpSpPr>
        <p:grpSpPr>
          <a:xfrm>
            <a:off x="1512992" y="940018"/>
            <a:ext cx="8407731" cy="5342022"/>
            <a:chOff x="1512992" y="940018"/>
            <a:chExt cx="8407731" cy="5342022"/>
          </a:xfrm>
        </p:grpSpPr>
        <p:pic>
          <p:nvPicPr>
            <p:cNvPr id="23" name="Picture 22">
              <a:extLst>
                <a:ext uri="{FF2B5EF4-FFF2-40B4-BE49-F238E27FC236}">
                  <a16:creationId xmlns:a16="http://schemas.microsoft.com/office/drawing/2014/main" id="{0A32C5A8-7B54-C99C-31EA-C8F96CBD7886}"/>
                </a:ext>
              </a:extLst>
            </p:cNvPr>
            <p:cNvPicPr>
              <a:picLocks noChangeAspect="1"/>
            </p:cNvPicPr>
            <p:nvPr/>
          </p:nvPicPr>
          <p:blipFill>
            <a:blip r:embed="rId3"/>
            <a:srcRect b="4459"/>
            <a:stretch>
              <a:fillRect/>
            </a:stretch>
          </p:blipFill>
          <p:spPr>
            <a:xfrm>
              <a:off x="1512992" y="940018"/>
              <a:ext cx="8407731" cy="5342022"/>
            </a:xfrm>
            <a:prstGeom prst="rect">
              <a:avLst/>
            </a:prstGeom>
          </p:spPr>
        </p:pic>
        <p:sp>
          <p:nvSpPr>
            <p:cNvPr id="6" name="TextBox 5">
              <a:extLst>
                <a:ext uri="{FF2B5EF4-FFF2-40B4-BE49-F238E27FC236}">
                  <a16:creationId xmlns:a16="http://schemas.microsoft.com/office/drawing/2014/main" id="{A83E7B27-4F39-C05A-36BB-74F89C50F4CD}"/>
                </a:ext>
              </a:extLst>
            </p:cNvPr>
            <p:cNvSpPr txBox="1"/>
            <p:nvPr/>
          </p:nvSpPr>
          <p:spPr>
            <a:xfrm>
              <a:off x="3768435" y="1131522"/>
              <a:ext cx="3787791" cy="461665"/>
            </a:xfrm>
            <a:prstGeom prst="rect">
              <a:avLst/>
            </a:prstGeom>
            <a:solidFill>
              <a:srgbClr val="DEECF7"/>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Основные механизмы ишемии миокарда при хронических коронарных синдромах</a:t>
              </a:r>
            </a:p>
          </p:txBody>
        </p:sp>
        <p:sp>
          <p:nvSpPr>
            <p:cNvPr id="7" name="TextBox 6">
              <a:extLst>
                <a:ext uri="{FF2B5EF4-FFF2-40B4-BE49-F238E27FC236}">
                  <a16:creationId xmlns:a16="http://schemas.microsoft.com/office/drawing/2014/main" id="{06F18C61-169D-4685-4EB8-5F57E81C8C6E}"/>
                </a:ext>
              </a:extLst>
            </p:cNvPr>
            <p:cNvSpPr txBox="1"/>
            <p:nvPr/>
          </p:nvSpPr>
          <p:spPr>
            <a:xfrm>
              <a:off x="7054735" y="2073366"/>
              <a:ext cx="1431283" cy="338554"/>
            </a:xfrm>
            <a:prstGeom prst="rect">
              <a:avLst/>
            </a:prstGeom>
            <a:solidFill>
              <a:srgbClr val="DEECF7"/>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Микрососудистый уровень</a:t>
              </a:r>
            </a:p>
          </p:txBody>
        </p:sp>
        <p:sp>
          <p:nvSpPr>
            <p:cNvPr id="8" name="TextBox 7">
              <a:extLst>
                <a:ext uri="{FF2B5EF4-FFF2-40B4-BE49-F238E27FC236}">
                  <a16:creationId xmlns:a16="http://schemas.microsoft.com/office/drawing/2014/main" id="{DB9EB36F-64AF-0D79-D029-DCE1CD9D55CF}"/>
                </a:ext>
              </a:extLst>
            </p:cNvPr>
            <p:cNvSpPr txBox="1"/>
            <p:nvPr/>
          </p:nvSpPr>
          <p:spPr>
            <a:xfrm>
              <a:off x="2945477" y="2076863"/>
              <a:ext cx="1431283" cy="338554"/>
            </a:xfrm>
            <a:prstGeom prst="rect">
              <a:avLst/>
            </a:prstGeom>
            <a:solidFill>
              <a:srgbClr val="EDE4F0"/>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Эпикардиальный</a:t>
              </a:r>
              <a:r>
                <a:rPr kumimoji="0" lang="ru-RU" sz="1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уровень</a:t>
              </a:r>
            </a:p>
          </p:txBody>
        </p:sp>
        <p:sp>
          <p:nvSpPr>
            <p:cNvPr id="9" name="TextBox 8">
              <a:extLst>
                <a:ext uri="{FF2B5EF4-FFF2-40B4-BE49-F238E27FC236}">
                  <a16:creationId xmlns:a16="http://schemas.microsoft.com/office/drawing/2014/main" id="{EDB6E813-111E-EEF3-3B89-2950E2E162C6}"/>
                </a:ext>
              </a:extLst>
            </p:cNvPr>
            <p:cNvSpPr txBox="1"/>
            <p:nvPr/>
          </p:nvSpPr>
          <p:spPr>
            <a:xfrm>
              <a:off x="1905639" y="2954573"/>
              <a:ext cx="1431283" cy="338554"/>
            </a:xfrm>
            <a:prstGeom prst="rect">
              <a:avLst/>
            </a:prstGeom>
            <a:solidFill>
              <a:srgbClr val="EDE4F0"/>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Структурные нарушения</a:t>
              </a:r>
            </a:p>
          </p:txBody>
        </p:sp>
        <p:sp>
          <p:nvSpPr>
            <p:cNvPr id="11" name="TextBox 10">
              <a:extLst>
                <a:ext uri="{FF2B5EF4-FFF2-40B4-BE49-F238E27FC236}">
                  <a16:creationId xmlns:a16="http://schemas.microsoft.com/office/drawing/2014/main" id="{DEE22957-D98F-0E14-4C5D-2B1C39667F8C}"/>
                </a:ext>
              </a:extLst>
            </p:cNvPr>
            <p:cNvSpPr txBox="1"/>
            <p:nvPr/>
          </p:nvSpPr>
          <p:spPr>
            <a:xfrm>
              <a:off x="3958884" y="2947293"/>
              <a:ext cx="1431283" cy="338554"/>
            </a:xfrm>
            <a:prstGeom prst="rect">
              <a:avLst/>
            </a:prstGeom>
            <a:solidFill>
              <a:srgbClr val="EDE4F0"/>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Функциональные нарушения</a:t>
              </a:r>
            </a:p>
          </p:txBody>
        </p:sp>
        <p:sp>
          <p:nvSpPr>
            <p:cNvPr id="12" name="TextBox 11">
              <a:extLst>
                <a:ext uri="{FF2B5EF4-FFF2-40B4-BE49-F238E27FC236}">
                  <a16:creationId xmlns:a16="http://schemas.microsoft.com/office/drawing/2014/main" id="{7082CBF0-ECB6-D342-DFD0-801F4D72C060}"/>
                </a:ext>
              </a:extLst>
            </p:cNvPr>
            <p:cNvSpPr txBox="1"/>
            <p:nvPr/>
          </p:nvSpPr>
          <p:spPr>
            <a:xfrm>
              <a:off x="2461696" y="3456886"/>
              <a:ext cx="1080000" cy="507831"/>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Атеросклероз (очаговый или диффузный)</a:t>
              </a:r>
            </a:p>
          </p:txBody>
        </p:sp>
        <p:sp>
          <p:nvSpPr>
            <p:cNvPr id="13" name="TextBox 12">
              <a:extLst>
                <a:ext uri="{FF2B5EF4-FFF2-40B4-BE49-F238E27FC236}">
                  <a16:creationId xmlns:a16="http://schemas.microsoft.com/office/drawing/2014/main" id="{4FF98FE0-54A9-C3AE-D0E0-629F31CADFB1}"/>
                </a:ext>
              </a:extLst>
            </p:cNvPr>
            <p:cNvSpPr txBox="1"/>
            <p:nvPr/>
          </p:nvSpPr>
          <p:spPr>
            <a:xfrm>
              <a:off x="2470635" y="4192039"/>
              <a:ext cx="1116000" cy="507831"/>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Стабильная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интрамуральная</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гематома</a:t>
              </a:r>
            </a:p>
          </p:txBody>
        </p:sp>
        <p:sp>
          <p:nvSpPr>
            <p:cNvPr id="14" name="TextBox 13">
              <a:extLst>
                <a:ext uri="{FF2B5EF4-FFF2-40B4-BE49-F238E27FC236}">
                  <a16:creationId xmlns:a16="http://schemas.microsoft.com/office/drawing/2014/main" id="{6EA44BB7-0108-AD27-AAD0-D7B6CA0AFA03}"/>
                </a:ext>
              </a:extLst>
            </p:cNvPr>
            <p:cNvSpPr txBox="1"/>
            <p:nvPr/>
          </p:nvSpPr>
          <p:spPr>
            <a:xfrm>
              <a:off x="2425290" y="4999063"/>
              <a:ext cx="1161345" cy="338554"/>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Миокардиальный</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мостик</a:t>
              </a:r>
            </a:p>
          </p:txBody>
        </p:sp>
        <p:sp>
          <p:nvSpPr>
            <p:cNvPr id="15" name="TextBox 14">
              <a:extLst>
                <a:ext uri="{FF2B5EF4-FFF2-40B4-BE49-F238E27FC236}">
                  <a16:creationId xmlns:a16="http://schemas.microsoft.com/office/drawing/2014/main" id="{B034A4B8-2EDB-D226-6FF0-135B9A50242D}"/>
                </a:ext>
              </a:extLst>
            </p:cNvPr>
            <p:cNvSpPr txBox="1"/>
            <p:nvPr/>
          </p:nvSpPr>
          <p:spPr>
            <a:xfrm>
              <a:off x="2451239" y="5648946"/>
              <a:ext cx="1116000" cy="507831"/>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Аневризма коронарной артерии</a:t>
              </a:r>
            </a:p>
          </p:txBody>
        </p:sp>
        <p:sp>
          <p:nvSpPr>
            <p:cNvPr id="16" name="TextBox 15">
              <a:extLst>
                <a:ext uri="{FF2B5EF4-FFF2-40B4-BE49-F238E27FC236}">
                  <a16:creationId xmlns:a16="http://schemas.microsoft.com/office/drawing/2014/main" id="{74B4F21F-C199-C203-E738-CE4414CBA49D}"/>
                </a:ext>
              </a:extLst>
            </p:cNvPr>
            <p:cNvSpPr txBox="1"/>
            <p:nvPr/>
          </p:nvSpPr>
          <p:spPr>
            <a:xfrm>
              <a:off x="4696685" y="3570125"/>
              <a:ext cx="936000" cy="360000"/>
            </a:xfrm>
            <a:prstGeom prst="rect">
              <a:avLst/>
            </a:prstGeom>
            <a:solidFill>
              <a:schemeClr val="bg1"/>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Эпикардиальный</a:t>
              </a:r>
              <a:r>
                <a:rPr kumimoji="0" lang="ru-RU"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9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вазоспазм</a:t>
              </a:r>
              <a:endParaRPr kumimoji="0" lang="ru-RU"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9" name="Group 18">
              <a:extLst>
                <a:ext uri="{FF2B5EF4-FFF2-40B4-BE49-F238E27FC236}">
                  <a16:creationId xmlns:a16="http://schemas.microsoft.com/office/drawing/2014/main" id="{957D9BD2-9924-E3BE-8BFA-601A34F5A933}"/>
                </a:ext>
              </a:extLst>
            </p:cNvPr>
            <p:cNvGrpSpPr/>
            <p:nvPr/>
          </p:nvGrpSpPr>
          <p:grpSpPr>
            <a:xfrm>
              <a:off x="3843051" y="4123289"/>
              <a:ext cx="1618323" cy="1620000"/>
              <a:chOff x="4993467" y="4350851"/>
              <a:chExt cx="1618323" cy="1620000"/>
            </a:xfrm>
          </p:grpSpPr>
          <p:sp>
            <p:nvSpPr>
              <p:cNvPr id="18" name="Oval 17">
                <a:extLst>
                  <a:ext uri="{FF2B5EF4-FFF2-40B4-BE49-F238E27FC236}">
                    <a16:creationId xmlns:a16="http://schemas.microsoft.com/office/drawing/2014/main" id="{F949927A-35B4-951D-5099-F7CCDE7BD539}"/>
                  </a:ext>
                </a:extLst>
              </p:cNvPr>
              <p:cNvSpPr>
                <a:spLocks noChangeAspect="1"/>
              </p:cNvSpPr>
              <p:nvPr/>
            </p:nvSpPr>
            <p:spPr>
              <a:xfrm>
                <a:off x="4993467" y="4350851"/>
                <a:ext cx="1618323" cy="1620000"/>
              </a:xfrm>
              <a:prstGeom prst="ellipse">
                <a:avLst/>
              </a:prstGeom>
              <a:solidFill>
                <a:srgbClr val="EDE4F0"/>
              </a:solidFill>
              <a:ln>
                <a:solidFill>
                  <a:srgbClr val="EDE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AE25B5FF-0F76-BBF3-6C21-7AE7508A93E1}"/>
                  </a:ext>
                </a:extLst>
              </p:cNvPr>
              <p:cNvSpPr txBox="1"/>
              <p:nvPr/>
            </p:nvSpPr>
            <p:spPr>
              <a:xfrm>
                <a:off x="5164685" y="4573928"/>
                <a:ext cx="1260000" cy="1184940"/>
              </a:xfrm>
              <a:prstGeom prst="rect">
                <a:avLst/>
              </a:prstGeom>
              <a:solidFill>
                <a:srgbClr val="EDE4F0"/>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Эндотелиальная дисфункция и/или гиперреактивность ГМК сосудов</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Вегетативная </a:t>
                </a: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дисрегуляция</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grpSp>
        <p:sp>
          <p:nvSpPr>
            <p:cNvPr id="20" name="TextBox 19">
              <a:extLst>
                <a:ext uri="{FF2B5EF4-FFF2-40B4-BE49-F238E27FC236}">
                  <a16:creationId xmlns:a16="http://schemas.microsoft.com/office/drawing/2014/main" id="{AD6048A9-04D7-AC6D-81EA-7D30DD5880FF}"/>
                </a:ext>
              </a:extLst>
            </p:cNvPr>
            <p:cNvSpPr txBox="1"/>
            <p:nvPr/>
          </p:nvSpPr>
          <p:spPr>
            <a:xfrm>
              <a:off x="6012129" y="2954573"/>
              <a:ext cx="1431283" cy="338554"/>
            </a:xfrm>
            <a:prstGeom prst="rect">
              <a:avLst/>
            </a:prstGeom>
            <a:solidFill>
              <a:srgbClr val="DCEDF8"/>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Структурные нарушения</a:t>
              </a:r>
            </a:p>
          </p:txBody>
        </p:sp>
        <p:sp>
          <p:nvSpPr>
            <p:cNvPr id="21" name="TextBox 20">
              <a:extLst>
                <a:ext uri="{FF2B5EF4-FFF2-40B4-BE49-F238E27FC236}">
                  <a16:creationId xmlns:a16="http://schemas.microsoft.com/office/drawing/2014/main" id="{0C39469D-DAA9-91C1-2494-884D3833075A}"/>
                </a:ext>
              </a:extLst>
            </p:cNvPr>
            <p:cNvSpPr txBox="1"/>
            <p:nvPr/>
          </p:nvSpPr>
          <p:spPr>
            <a:xfrm>
              <a:off x="8065374" y="2961853"/>
              <a:ext cx="1431283" cy="338554"/>
            </a:xfrm>
            <a:prstGeom prst="rect">
              <a:avLst/>
            </a:prstGeom>
            <a:solidFill>
              <a:srgbClr val="DCEDF8"/>
            </a:solid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Функциональные нарушения</a:t>
              </a:r>
            </a:p>
          </p:txBody>
        </p:sp>
        <p:sp>
          <p:nvSpPr>
            <p:cNvPr id="22" name="TextBox 21">
              <a:extLst>
                <a:ext uri="{FF2B5EF4-FFF2-40B4-BE49-F238E27FC236}">
                  <a16:creationId xmlns:a16="http://schemas.microsoft.com/office/drawing/2014/main" id="{8FBB385C-816E-6316-F572-CE9A709DD665}"/>
                </a:ext>
              </a:extLst>
            </p:cNvPr>
            <p:cNvSpPr txBox="1"/>
            <p:nvPr/>
          </p:nvSpPr>
          <p:spPr>
            <a:xfrm>
              <a:off x="6001316" y="3429000"/>
              <a:ext cx="1634257" cy="507831"/>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Внутрь направленное </a:t>
              </a: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ремоделирование</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артериол</a:t>
              </a:r>
            </a:p>
          </p:txBody>
        </p:sp>
        <p:sp>
          <p:nvSpPr>
            <p:cNvPr id="24" name="TextBox 23">
              <a:extLst>
                <a:ext uri="{FF2B5EF4-FFF2-40B4-BE49-F238E27FC236}">
                  <a16:creationId xmlns:a16="http://schemas.microsoft.com/office/drawing/2014/main" id="{B3CF0D63-FF6B-F1D6-2B48-4349E6CB776D}"/>
                </a:ext>
              </a:extLst>
            </p:cNvPr>
            <p:cNvSpPr txBox="1"/>
            <p:nvPr/>
          </p:nvSpPr>
          <p:spPr>
            <a:xfrm>
              <a:off x="6012129" y="3988051"/>
              <a:ext cx="1634257" cy="338554"/>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Разрежение капиллярной сети</a:t>
              </a:r>
            </a:p>
          </p:txBody>
        </p:sp>
        <p:sp>
          <p:nvSpPr>
            <p:cNvPr id="25" name="TextBox 24">
              <a:extLst>
                <a:ext uri="{FF2B5EF4-FFF2-40B4-BE49-F238E27FC236}">
                  <a16:creationId xmlns:a16="http://schemas.microsoft.com/office/drawing/2014/main" id="{FF1DA4C2-11A4-2108-118B-C5A486824F39}"/>
                </a:ext>
              </a:extLst>
            </p:cNvPr>
            <p:cNvSpPr txBox="1"/>
            <p:nvPr/>
          </p:nvSpPr>
          <p:spPr>
            <a:xfrm>
              <a:off x="6001315" y="4359672"/>
              <a:ext cx="1634257" cy="338554"/>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Внутрисосудистая обструкция</a:t>
              </a:r>
            </a:p>
          </p:txBody>
        </p:sp>
        <p:sp>
          <p:nvSpPr>
            <p:cNvPr id="26" name="TextBox 25">
              <a:extLst>
                <a:ext uri="{FF2B5EF4-FFF2-40B4-BE49-F238E27FC236}">
                  <a16:creationId xmlns:a16="http://schemas.microsoft.com/office/drawing/2014/main" id="{A9ACD946-FD79-4C4C-17B0-FB2DEC016810}"/>
                </a:ext>
              </a:extLst>
            </p:cNvPr>
            <p:cNvSpPr txBox="1"/>
            <p:nvPr/>
          </p:nvSpPr>
          <p:spPr>
            <a:xfrm>
              <a:off x="6001313" y="4736266"/>
              <a:ext cx="1554913" cy="507831"/>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Периваскулярный</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фиброз или инфильтрация</a:t>
              </a:r>
            </a:p>
          </p:txBody>
        </p:sp>
        <p:sp>
          <p:nvSpPr>
            <p:cNvPr id="27" name="TextBox 26">
              <a:extLst>
                <a:ext uri="{FF2B5EF4-FFF2-40B4-BE49-F238E27FC236}">
                  <a16:creationId xmlns:a16="http://schemas.microsoft.com/office/drawing/2014/main" id="{D3C840FE-3CD0-8BD7-47B9-98C2529677F4}"/>
                </a:ext>
              </a:extLst>
            </p:cNvPr>
            <p:cNvSpPr txBox="1"/>
            <p:nvPr/>
          </p:nvSpPr>
          <p:spPr>
            <a:xfrm>
              <a:off x="5998781" y="5290899"/>
              <a:ext cx="1554913" cy="846386"/>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Экстрамуральная</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компрессия (гипертрофия миокарда, повышение КДДЛЖ)</a:t>
              </a:r>
            </a:p>
          </p:txBody>
        </p:sp>
        <p:sp>
          <p:nvSpPr>
            <p:cNvPr id="28" name="TextBox 27">
              <a:extLst>
                <a:ext uri="{FF2B5EF4-FFF2-40B4-BE49-F238E27FC236}">
                  <a16:creationId xmlns:a16="http://schemas.microsoft.com/office/drawing/2014/main" id="{D9834833-48BA-0FDC-68B0-4319B319A6B6}"/>
                </a:ext>
              </a:extLst>
            </p:cNvPr>
            <p:cNvSpPr txBox="1"/>
            <p:nvPr/>
          </p:nvSpPr>
          <p:spPr>
            <a:xfrm>
              <a:off x="8562907" y="5849679"/>
              <a:ext cx="1116000" cy="360000"/>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Усиленная </a:t>
              </a: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вазоконстрикция</a:t>
              </a:r>
              <a:endPar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29" name="Group 28">
              <a:extLst>
                <a:ext uri="{FF2B5EF4-FFF2-40B4-BE49-F238E27FC236}">
                  <a16:creationId xmlns:a16="http://schemas.microsoft.com/office/drawing/2014/main" id="{643E0EB3-DF17-FF47-778A-F56F11DC3E8B}"/>
                </a:ext>
              </a:extLst>
            </p:cNvPr>
            <p:cNvGrpSpPr>
              <a:grpSpLocks noChangeAspect="1"/>
            </p:cNvGrpSpPr>
            <p:nvPr/>
          </p:nvGrpSpPr>
          <p:grpSpPr>
            <a:xfrm>
              <a:off x="7980173" y="4047644"/>
              <a:ext cx="1548000" cy="1549604"/>
              <a:chOff x="4993467" y="4350851"/>
              <a:chExt cx="1618323" cy="1620000"/>
            </a:xfrm>
            <a:solidFill>
              <a:srgbClr val="DCEDF8"/>
            </a:solidFill>
          </p:grpSpPr>
          <p:sp>
            <p:nvSpPr>
              <p:cNvPr id="30" name="Oval 29">
                <a:extLst>
                  <a:ext uri="{FF2B5EF4-FFF2-40B4-BE49-F238E27FC236}">
                    <a16:creationId xmlns:a16="http://schemas.microsoft.com/office/drawing/2014/main" id="{9E4EEAD3-E938-A2FC-33B0-26CFE978758F}"/>
                  </a:ext>
                </a:extLst>
              </p:cNvPr>
              <p:cNvSpPr>
                <a:spLocks noChangeAspect="1"/>
              </p:cNvSpPr>
              <p:nvPr/>
            </p:nvSpPr>
            <p:spPr>
              <a:xfrm>
                <a:off x="4993467" y="4350851"/>
                <a:ext cx="1618323" cy="1620000"/>
              </a:xfrm>
              <a:prstGeom prst="ellipse">
                <a:avLst/>
              </a:prstGeom>
              <a:grp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TextBox 30">
                <a:extLst>
                  <a:ext uri="{FF2B5EF4-FFF2-40B4-BE49-F238E27FC236}">
                    <a16:creationId xmlns:a16="http://schemas.microsoft.com/office/drawing/2014/main" id="{5525FA77-9255-D6DF-5091-F1868EF95F3D}"/>
                  </a:ext>
                </a:extLst>
              </p:cNvPr>
              <p:cNvSpPr txBox="1"/>
              <p:nvPr/>
            </p:nvSpPr>
            <p:spPr>
              <a:xfrm>
                <a:off x="5164685" y="4573928"/>
                <a:ext cx="1260000" cy="1238770"/>
              </a:xfrm>
              <a:prstGeom prst="rect">
                <a:avLst/>
              </a:prstGeom>
              <a:grpFill/>
              <a:ln>
                <a:solidFill>
                  <a:srgbClr val="DCEDF8"/>
                </a:solidFill>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Эндотелиальная дисфункция и/или </a:t>
                </a:r>
                <a:r>
                  <a:rPr kumimoji="0" lang="ru-RU" sz="1100" b="0" i="0" u="none" strike="noStrike" kern="1200" cap="none" spc="-4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гиперреактивность</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ГМК сосудов</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Вегетативная </a:t>
                </a: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дисрегуляция</a:t>
                </a: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grpSp>
        <p:sp>
          <p:nvSpPr>
            <p:cNvPr id="33" name="TextBox 32">
              <a:extLst>
                <a:ext uri="{FF2B5EF4-FFF2-40B4-BE49-F238E27FC236}">
                  <a16:creationId xmlns:a16="http://schemas.microsoft.com/office/drawing/2014/main" id="{48BDF0FA-97A7-E999-CF08-C37D092D905F}"/>
                </a:ext>
              </a:extLst>
            </p:cNvPr>
            <p:cNvSpPr txBox="1"/>
            <p:nvPr/>
          </p:nvSpPr>
          <p:spPr>
            <a:xfrm>
              <a:off x="8611626" y="3547231"/>
              <a:ext cx="1068333" cy="338554"/>
            </a:xfrm>
            <a:prstGeom prst="rect">
              <a:avLst/>
            </a:prstGeom>
            <a:solidFill>
              <a:schemeClr val="bg1"/>
            </a:solid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Нарушенная </a:t>
              </a:r>
              <a:r>
                <a:rPr kumimoji="0" lang="ru-RU"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вазодилатация</a:t>
              </a:r>
              <a:endParaRPr kumimoji="0" lang="ru-RU"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35" name="TextBox 34">
            <a:extLst>
              <a:ext uri="{FF2B5EF4-FFF2-40B4-BE49-F238E27FC236}">
                <a16:creationId xmlns:a16="http://schemas.microsoft.com/office/drawing/2014/main" id="{15916766-2483-DD2C-71F3-F097D2F38E79}"/>
              </a:ext>
            </a:extLst>
          </p:cNvPr>
          <p:cNvSpPr txBox="1"/>
          <p:nvPr/>
        </p:nvSpPr>
        <p:spPr>
          <a:xfrm>
            <a:off x="10130264" y="5906452"/>
            <a:ext cx="206173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ГМК – гладкомышечные клетки. КДДЛЖ – конечно-диастолический размер ЛЖ</a:t>
            </a:r>
          </a:p>
        </p:txBody>
      </p:sp>
      <p:sp>
        <p:nvSpPr>
          <p:cNvPr id="36" name="Text Placeholder 2">
            <a:extLst>
              <a:ext uri="{FF2B5EF4-FFF2-40B4-BE49-F238E27FC236}">
                <a16:creationId xmlns:a16="http://schemas.microsoft.com/office/drawing/2014/main" id="{A0426AA5-7246-754A-4F9A-8F05F175C04B}"/>
              </a:ext>
            </a:extLst>
          </p:cNvPr>
          <p:cNvSpPr txBox="1">
            <a:spLocks/>
          </p:cNvSpPr>
          <p:nvPr/>
        </p:nvSpPr>
        <p:spPr>
          <a:xfrm>
            <a:off x="1222374" y="6590603"/>
            <a:ext cx="9747250" cy="225425"/>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Vrints</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C. et al. 2024 ESC Guidelines for the management of chronic coronary syndromes. </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Eur</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Heart J. 2024 Aug 30:ehae177. </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doi</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10.1093/</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eurheartj</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/ehae177. PMID: 39210710.</a:t>
            </a:r>
          </a:p>
        </p:txBody>
      </p:sp>
      <p:sp>
        <p:nvSpPr>
          <p:cNvPr id="3" name="TextBox 2">
            <a:extLst>
              <a:ext uri="{FF2B5EF4-FFF2-40B4-BE49-F238E27FC236}">
                <a16:creationId xmlns:a16="http://schemas.microsoft.com/office/drawing/2014/main" id="{BCF9D64A-E491-6141-C666-6587983DF760}"/>
              </a:ext>
            </a:extLst>
          </p:cNvPr>
          <p:cNvSpPr txBox="1"/>
          <p:nvPr/>
        </p:nvSpPr>
        <p:spPr>
          <a:xfrm>
            <a:off x="536939" y="575961"/>
            <a:ext cx="9746757" cy="497929"/>
          </a:xfrm>
          <a:prstGeom prst="rect">
            <a:avLst/>
          </a:prstGeom>
          <a:solidFill>
            <a:schemeClr val="bg1"/>
          </a:solidFill>
        </p:spPr>
        <p:txBody>
          <a:bodyPr/>
          <a:lstStyle>
            <a:lvl1pPr marR="0" lvl="0" indent="0" fontAlgn="auto">
              <a:lnSpc>
                <a:spcPct val="90000"/>
              </a:lnSpc>
              <a:spcBef>
                <a:spcPts val="0"/>
              </a:spcBef>
              <a:spcAft>
                <a:spcPts val="0"/>
              </a:spcAft>
              <a:buClrTx/>
              <a:buSzTx/>
              <a:buFont typeface="Arial" panose="020B0604020202020204" pitchFamily="34" charset="0"/>
              <a:buNone/>
              <a:tabLst/>
              <a:defRPr kumimoji="0" sz="2000" b="0" i="1" u="none" strike="noStrike" cap="none" spc="0" normalizeH="0" baseline="0">
                <a:ln>
                  <a:noFill/>
                </a:ln>
                <a:solidFill>
                  <a:srgbClr val="00A3E0"/>
                </a:solidFill>
                <a:effectLst/>
                <a:uLnTx/>
                <a:uFillTx/>
                <a:latin typeface="Arial" panose="020B060402020202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ru-RU" sz="1600" b="0" i="1" u="none" strike="noStrike" kern="1200" cap="none" spc="0" normalizeH="0" baseline="0" noProof="0" dirty="0">
                <a:ln>
                  <a:noFill/>
                </a:ln>
                <a:solidFill>
                  <a:srgbClr val="00A3E0"/>
                </a:solidFill>
                <a:effectLst/>
                <a:uLnTx/>
                <a:uFillTx/>
                <a:latin typeface="Arial" panose="020B0604020202020204"/>
                <a:ea typeface="+mn-ea"/>
                <a:cs typeface="+mn-cs"/>
              </a:rPr>
              <a:t>Ишемия миокарда при ХКС развивается по разным механизмам</a:t>
            </a:r>
            <a:r>
              <a:rPr kumimoji="0" lang="en-US" sz="1600" b="0" i="1" u="none" strike="noStrike" kern="1200" cap="none" spc="0" normalizeH="0" baseline="0" noProof="0" dirty="0">
                <a:ln>
                  <a:noFill/>
                </a:ln>
                <a:solidFill>
                  <a:srgbClr val="00A3E0"/>
                </a:solidFill>
                <a:effectLst/>
                <a:uLnTx/>
                <a:uFillTx/>
                <a:latin typeface="Arial" panose="020B0604020202020204"/>
                <a:ea typeface="+mn-ea"/>
                <a:cs typeface="+mn-cs"/>
              </a:rPr>
              <a:t>:</a:t>
            </a:r>
            <a:r>
              <a:rPr kumimoji="0" lang="ru-RU" sz="1600" b="0" i="1" u="none" strike="noStrike" kern="1200" cap="none" spc="0" normalizeH="0" baseline="0" noProof="0" dirty="0">
                <a:ln>
                  <a:noFill/>
                </a:ln>
                <a:solidFill>
                  <a:srgbClr val="00A3E0"/>
                </a:solidFill>
                <a:effectLst/>
                <a:uLnTx/>
                <a:uFillTx/>
                <a:latin typeface="Arial" panose="020B0604020202020204"/>
                <a:ea typeface="+mn-ea"/>
                <a:cs typeface="+mn-cs"/>
              </a:rPr>
              <a:t> на </a:t>
            </a:r>
            <a:r>
              <a:rPr kumimoji="0" lang="ru-RU" sz="1600" b="0" i="1" u="none" strike="noStrike" kern="1200" cap="none" spc="0" normalizeH="0" baseline="0" noProof="0" dirty="0" err="1">
                <a:ln>
                  <a:noFill/>
                </a:ln>
                <a:solidFill>
                  <a:srgbClr val="00A3E0"/>
                </a:solidFill>
                <a:effectLst/>
                <a:uLnTx/>
                <a:uFillTx/>
                <a:latin typeface="Arial" panose="020B0604020202020204"/>
                <a:ea typeface="+mn-ea"/>
                <a:cs typeface="+mn-cs"/>
              </a:rPr>
              <a:t>эпикардиальном</a:t>
            </a:r>
            <a:r>
              <a:rPr kumimoji="0" lang="ru-RU" sz="1600" b="0" i="1" u="none" strike="noStrike" kern="1200" cap="none" spc="0" normalizeH="0" baseline="0" noProof="0" dirty="0">
                <a:ln>
                  <a:noFill/>
                </a:ln>
                <a:solidFill>
                  <a:srgbClr val="00A3E0"/>
                </a:solidFill>
                <a:effectLst/>
                <a:uLnTx/>
                <a:uFillTx/>
                <a:latin typeface="Arial" panose="020B0604020202020204"/>
                <a:ea typeface="+mn-ea"/>
                <a:cs typeface="+mn-cs"/>
              </a:rPr>
              <a:t> и микрососудистом уровнях</a:t>
            </a:r>
          </a:p>
        </p:txBody>
      </p:sp>
    </p:spTree>
    <p:extLst>
      <p:ext uri="{BB962C8B-B14F-4D97-AF65-F5344CB8AC3E}">
        <p14:creationId xmlns:p14="http://schemas.microsoft.com/office/powerpoint/2010/main" val="1493109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902AEB-666B-818F-822D-DDAC6FBC3EB4}"/>
              </a:ext>
            </a:extLst>
          </p:cNvPr>
          <p:cNvSpPr txBox="1"/>
          <p:nvPr/>
        </p:nvSpPr>
        <p:spPr>
          <a:xfrm>
            <a:off x="285750" y="114804"/>
            <a:ext cx="1142254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2B3A42"/>
                </a:solidFill>
                <a:effectLst/>
                <a:uLnTx/>
                <a:uFillTx/>
                <a:latin typeface="Arial" panose="020B0604020202020204"/>
                <a:ea typeface="+mn-ea"/>
                <a:cs typeface="+mn-cs"/>
              </a:rPr>
              <a:t>ESC 2024: выбор антиишемического препарата определяется клиническим профилем пациента, а не самим фактом ишемии</a:t>
            </a:r>
          </a:p>
        </p:txBody>
      </p:sp>
      <p:sp>
        <p:nvSpPr>
          <p:cNvPr id="10" name="TextBox 9">
            <a:extLst>
              <a:ext uri="{FF2B5EF4-FFF2-40B4-BE49-F238E27FC236}">
                <a16:creationId xmlns:a16="http://schemas.microsoft.com/office/drawing/2014/main" id="{863317E9-80E5-D525-BA47-8F3DD225447C}"/>
              </a:ext>
            </a:extLst>
          </p:cNvPr>
          <p:cNvSpPr txBox="1"/>
          <p:nvPr/>
        </p:nvSpPr>
        <p:spPr>
          <a:xfrm>
            <a:off x="9871256" y="5670298"/>
            <a:ext cx="1924663" cy="615553"/>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ДГП-БКК - </a:t>
            </a:r>
            <a:r>
              <a:rPr kumimoji="0" lang="ru-RU" sz="1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дигидропиридиновые</a:t>
            </a:r>
            <a:r>
              <a:rPr kumimoji="0" lang="ru-RU"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блокаторы кальциевых каналов</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ГКМП (гипертрофическая кардиомиопатия)</a:t>
            </a:r>
          </a:p>
        </p:txBody>
      </p:sp>
      <p:grpSp>
        <p:nvGrpSpPr>
          <p:cNvPr id="36" name="Group 35">
            <a:extLst>
              <a:ext uri="{FF2B5EF4-FFF2-40B4-BE49-F238E27FC236}">
                <a16:creationId xmlns:a16="http://schemas.microsoft.com/office/drawing/2014/main" id="{31E6E460-E854-722E-5605-64998B00E6A4}"/>
              </a:ext>
            </a:extLst>
          </p:cNvPr>
          <p:cNvGrpSpPr/>
          <p:nvPr/>
        </p:nvGrpSpPr>
        <p:grpSpPr>
          <a:xfrm>
            <a:off x="2205085" y="822690"/>
            <a:ext cx="6934626" cy="5859915"/>
            <a:chOff x="2719738" y="888597"/>
            <a:chExt cx="6934626" cy="5859915"/>
          </a:xfrm>
        </p:grpSpPr>
        <p:pic>
          <p:nvPicPr>
            <p:cNvPr id="16" name="Picture 15">
              <a:extLst>
                <a:ext uri="{FF2B5EF4-FFF2-40B4-BE49-F238E27FC236}">
                  <a16:creationId xmlns:a16="http://schemas.microsoft.com/office/drawing/2014/main" id="{98CB3754-0A41-188A-85D6-F099BFDE3AB6}"/>
                </a:ext>
              </a:extLst>
            </p:cNvPr>
            <p:cNvPicPr>
              <a:picLocks noChangeAspect="1"/>
            </p:cNvPicPr>
            <p:nvPr/>
          </p:nvPicPr>
          <p:blipFill>
            <a:blip r:embed="rId2"/>
            <a:stretch>
              <a:fillRect/>
            </a:stretch>
          </p:blipFill>
          <p:spPr>
            <a:xfrm>
              <a:off x="2719738" y="888597"/>
              <a:ext cx="6934626" cy="5859915"/>
            </a:xfrm>
            <a:prstGeom prst="rect">
              <a:avLst/>
            </a:prstGeom>
          </p:spPr>
        </p:pic>
        <p:sp>
          <p:nvSpPr>
            <p:cNvPr id="2" name="TextBox 1">
              <a:extLst>
                <a:ext uri="{FF2B5EF4-FFF2-40B4-BE49-F238E27FC236}">
                  <a16:creationId xmlns:a16="http://schemas.microsoft.com/office/drawing/2014/main" id="{50891E7D-77E0-7E7F-6631-88E70BA52F0D}"/>
                </a:ext>
              </a:extLst>
            </p:cNvPr>
            <p:cNvSpPr txBox="1"/>
            <p:nvPr/>
          </p:nvSpPr>
          <p:spPr>
            <a:xfrm>
              <a:off x="5763449" y="2240913"/>
              <a:ext cx="1148005"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Бета-блокаторы</a:t>
              </a:r>
            </a:p>
          </p:txBody>
        </p:sp>
        <p:sp>
          <p:nvSpPr>
            <p:cNvPr id="4" name="TextBox 3">
              <a:extLst>
                <a:ext uri="{FF2B5EF4-FFF2-40B4-BE49-F238E27FC236}">
                  <a16:creationId xmlns:a16="http://schemas.microsoft.com/office/drawing/2014/main" id="{7C7D95EB-DEA8-36A3-A6AF-133F3BDAD6F3}"/>
                </a:ext>
              </a:extLst>
            </p:cNvPr>
            <p:cNvSpPr txBox="1"/>
            <p:nvPr/>
          </p:nvSpPr>
          <p:spPr>
            <a:xfrm>
              <a:off x="4555687" y="2603649"/>
              <a:ext cx="944398"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ДГП-БКК</a:t>
              </a:r>
            </a:p>
          </p:txBody>
        </p:sp>
        <p:sp>
          <p:nvSpPr>
            <p:cNvPr id="5" name="TextBox 4">
              <a:extLst>
                <a:ext uri="{FF2B5EF4-FFF2-40B4-BE49-F238E27FC236}">
                  <a16:creationId xmlns:a16="http://schemas.microsoft.com/office/drawing/2014/main" id="{60E97536-3EEF-B2D0-680B-2D3C618C37F0}"/>
                </a:ext>
              </a:extLst>
            </p:cNvPr>
            <p:cNvSpPr txBox="1"/>
            <p:nvPr/>
          </p:nvSpPr>
          <p:spPr>
            <a:xfrm>
              <a:off x="7145689" y="2603649"/>
              <a:ext cx="756000" cy="307777"/>
            </a:xfrm>
            <a:prstGeom prst="rect">
              <a:avLst/>
            </a:prstGeom>
            <a:solidFill>
              <a:srgbClr val="FFFFFF"/>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Нитраты</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Никорандил</a:t>
              </a:r>
              <a:endPar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1AC644F-D6EC-890C-CB08-308A9078445F}"/>
                </a:ext>
              </a:extLst>
            </p:cNvPr>
            <p:cNvSpPr txBox="1"/>
            <p:nvPr/>
          </p:nvSpPr>
          <p:spPr>
            <a:xfrm>
              <a:off x="4597252" y="3822661"/>
              <a:ext cx="684000" cy="307777"/>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Дилтиазем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Верапамил</a:t>
              </a:r>
            </a:p>
          </p:txBody>
        </p:sp>
        <p:sp>
          <p:nvSpPr>
            <p:cNvPr id="7" name="TextBox 6">
              <a:extLst>
                <a:ext uri="{FF2B5EF4-FFF2-40B4-BE49-F238E27FC236}">
                  <a16:creationId xmlns:a16="http://schemas.microsoft.com/office/drawing/2014/main" id="{327BEF3A-40D3-2918-1E81-2BBD03BF91FC}"/>
                </a:ext>
              </a:extLst>
            </p:cNvPr>
            <p:cNvSpPr txBox="1"/>
            <p:nvPr/>
          </p:nvSpPr>
          <p:spPr>
            <a:xfrm>
              <a:off x="7173399" y="3822661"/>
              <a:ext cx="648000"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Ивабрадин</a:t>
              </a:r>
              <a:endPar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1F3132A1-BBA9-0A4F-5087-142E289ECA2F}"/>
                </a:ext>
              </a:extLst>
            </p:cNvPr>
            <p:cNvSpPr txBox="1"/>
            <p:nvPr/>
          </p:nvSpPr>
          <p:spPr>
            <a:xfrm>
              <a:off x="5253301" y="4450289"/>
              <a:ext cx="842699"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Триметазидин</a:t>
              </a:r>
            </a:p>
          </p:txBody>
        </p:sp>
        <p:sp>
          <p:nvSpPr>
            <p:cNvPr id="9" name="TextBox 8">
              <a:extLst>
                <a:ext uri="{FF2B5EF4-FFF2-40B4-BE49-F238E27FC236}">
                  <a16:creationId xmlns:a16="http://schemas.microsoft.com/office/drawing/2014/main" id="{A1043245-0A11-CF12-0F8C-5137CA474D85}"/>
                </a:ext>
              </a:extLst>
            </p:cNvPr>
            <p:cNvSpPr txBox="1"/>
            <p:nvPr/>
          </p:nvSpPr>
          <p:spPr>
            <a:xfrm>
              <a:off x="6506731" y="4468710"/>
              <a:ext cx="842699"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Ранолазин</a:t>
              </a:r>
              <a:endPar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7D221AF-6804-BF58-3D41-18DB2E9A8F2F}"/>
                </a:ext>
              </a:extLst>
            </p:cNvPr>
            <p:cNvSpPr txBox="1"/>
            <p:nvPr/>
          </p:nvSpPr>
          <p:spPr>
            <a:xfrm>
              <a:off x="4811715" y="2759669"/>
              <a:ext cx="469194" cy="153888"/>
            </a:xfrm>
            <a:prstGeom prst="rect">
              <a:avLst/>
            </a:prstGeom>
            <a:solidFill>
              <a:srgbClr val="FFFFFF"/>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92A9238-4400-4789-F135-0B48D2B96C31}"/>
                </a:ext>
              </a:extLst>
            </p:cNvPr>
            <p:cNvSpPr txBox="1"/>
            <p:nvPr/>
          </p:nvSpPr>
          <p:spPr>
            <a:xfrm>
              <a:off x="4795089" y="1202160"/>
              <a:ext cx="1406205" cy="830997"/>
            </a:xfrm>
            <a:prstGeom prst="rect">
              <a:avLst/>
            </a:prstGeom>
            <a:solidFill>
              <a:srgbClr val="DEEBF6"/>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Артериальная гипертензия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Фибрилляция предсердий</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14" name="Rectangle: Rounded Corners 13">
              <a:extLst>
                <a:ext uri="{FF2B5EF4-FFF2-40B4-BE49-F238E27FC236}">
                  <a16:creationId xmlns:a16="http://schemas.microsoft.com/office/drawing/2014/main" id="{B3E9F1CD-FB0C-B0EF-90E3-56A14C699968}"/>
                </a:ext>
              </a:extLst>
            </p:cNvPr>
            <p:cNvSpPr/>
            <p:nvPr/>
          </p:nvSpPr>
          <p:spPr>
            <a:xfrm>
              <a:off x="2902723" y="2193557"/>
              <a:ext cx="1512000" cy="72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Артериальная гипертензия</a:t>
              </a:r>
            </a:p>
          </p:txBody>
        </p:sp>
        <p:sp>
          <p:nvSpPr>
            <p:cNvPr id="15" name="Rectangle: Rounded Corners 14">
              <a:extLst>
                <a:ext uri="{FF2B5EF4-FFF2-40B4-BE49-F238E27FC236}">
                  <a16:creationId xmlns:a16="http://schemas.microsoft.com/office/drawing/2014/main" id="{4FCFEA53-3DA6-21C9-19D3-0C593C40AB68}"/>
                </a:ext>
              </a:extLst>
            </p:cNvPr>
            <p:cNvSpPr/>
            <p:nvPr/>
          </p:nvSpPr>
          <p:spPr>
            <a:xfrm>
              <a:off x="2902723" y="3443690"/>
              <a:ext cx="1512000" cy="612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Фибрилляция предсердий</a:t>
              </a:r>
            </a:p>
          </p:txBody>
        </p:sp>
        <p:sp>
          <p:nvSpPr>
            <p:cNvPr id="17" name="Rectangle: Rounded Corners 16">
              <a:extLst>
                <a:ext uri="{FF2B5EF4-FFF2-40B4-BE49-F238E27FC236}">
                  <a16:creationId xmlns:a16="http://schemas.microsoft.com/office/drawing/2014/main" id="{6535FD37-0651-B1A3-6C67-12EF56F1E5D2}"/>
                </a:ext>
              </a:extLst>
            </p:cNvPr>
            <p:cNvSpPr/>
            <p:nvPr/>
          </p:nvSpPr>
          <p:spPr>
            <a:xfrm>
              <a:off x="7966608" y="228195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Вазоспастическая стенокардия</a:t>
              </a:r>
            </a:p>
          </p:txBody>
        </p:sp>
        <p:sp>
          <p:nvSpPr>
            <p:cNvPr id="18" name="Rectangle: Rounded Corners 17">
              <a:extLst>
                <a:ext uri="{FF2B5EF4-FFF2-40B4-BE49-F238E27FC236}">
                  <a16:creationId xmlns:a16="http://schemas.microsoft.com/office/drawing/2014/main" id="{9908551D-E7BB-719E-A3FE-9B59F0C7C1AE}"/>
                </a:ext>
              </a:extLst>
            </p:cNvPr>
            <p:cNvSpPr/>
            <p:nvPr/>
          </p:nvSpPr>
          <p:spPr>
            <a:xfrm>
              <a:off x="4548000" y="476547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p:txBody>
        </p:sp>
        <p:sp>
          <p:nvSpPr>
            <p:cNvPr id="19" name="Rectangle: Rounded Corners 18">
              <a:extLst>
                <a:ext uri="{FF2B5EF4-FFF2-40B4-BE49-F238E27FC236}">
                  <a16:creationId xmlns:a16="http://schemas.microsoft.com/office/drawing/2014/main" id="{DC51D641-2C38-3B7C-7F27-C3F97685BE65}"/>
                </a:ext>
              </a:extLst>
            </p:cNvPr>
            <p:cNvSpPr/>
            <p:nvPr/>
          </p:nvSpPr>
          <p:spPr>
            <a:xfrm>
              <a:off x="6500057" y="4752672"/>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Обструктивная ИБС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Микрососудистая дисфункция</a:t>
              </a:r>
            </a:p>
          </p:txBody>
        </p:sp>
        <p:sp>
          <p:nvSpPr>
            <p:cNvPr id="20" name="Rectangle: Rounded Corners 19">
              <a:extLst>
                <a:ext uri="{FF2B5EF4-FFF2-40B4-BE49-F238E27FC236}">
                  <a16:creationId xmlns:a16="http://schemas.microsoft.com/office/drawing/2014/main" id="{0EFC6C8C-179A-99B4-549D-792ADF46F558}"/>
                </a:ext>
              </a:extLst>
            </p:cNvPr>
            <p:cNvSpPr/>
            <p:nvPr/>
          </p:nvSpPr>
          <p:spPr>
            <a:xfrm>
              <a:off x="3823252" y="5550037"/>
              <a:ext cx="1548000" cy="360000"/>
            </a:xfrm>
            <a:prstGeom prst="roundRect">
              <a:avLst/>
            </a:prstGeom>
            <a:solidFill>
              <a:srgbClr val="DEEBF6"/>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Показано при отсутствии специфических противопоказаний</a:t>
              </a:r>
            </a:p>
          </p:txBody>
        </p:sp>
        <p:sp>
          <p:nvSpPr>
            <p:cNvPr id="21" name="Rectangle: Rounded Corners 20">
              <a:extLst>
                <a:ext uri="{FF2B5EF4-FFF2-40B4-BE49-F238E27FC236}">
                  <a16:creationId xmlns:a16="http://schemas.microsoft.com/office/drawing/2014/main" id="{00932E5A-EF95-30E5-91FA-4F142775D28C}"/>
                </a:ext>
              </a:extLst>
            </p:cNvPr>
            <p:cNvSpPr/>
            <p:nvPr/>
          </p:nvSpPr>
          <p:spPr>
            <a:xfrm>
              <a:off x="6259104" y="1187310"/>
              <a:ext cx="1620000" cy="504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ХОБЛ</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Периферический атеросклероз</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Сахарный диабет 1 типа</a:t>
              </a:r>
            </a:p>
          </p:txBody>
        </p:sp>
        <p:sp>
          <p:nvSpPr>
            <p:cNvPr id="22" name="Rectangle: Rounded Corners 21">
              <a:extLst>
                <a:ext uri="{FF2B5EF4-FFF2-40B4-BE49-F238E27FC236}">
                  <a16:creationId xmlns:a16="http://schemas.microsoft.com/office/drawing/2014/main" id="{8B9497E8-193C-0C94-264E-FF71EED95413}"/>
                </a:ext>
              </a:extLst>
            </p:cNvPr>
            <p:cNvSpPr/>
            <p:nvPr/>
          </p:nvSpPr>
          <p:spPr>
            <a:xfrm>
              <a:off x="3000967" y="3008942"/>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3" name="Rectangle: Rounded Corners 22">
              <a:extLst>
                <a:ext uri="{FF2B5EF4-FFF2-40B4-BE49-F238E27FC236}">
                  <a16:creationId xmlns:a16="http://schemas.microsoft.com/office/drawing/2014/main" id="{6405563A-28A1-7B93-0061-0BC24AEB05BD}"/>
                </a:ext>
              </a:extLst>
            </p:cNvPr>
            <p:cNvSpPr/>
            <p:nvPr/>
          </p:nvSpPr>
          <p:spPr>
            <a:xfrm>
              <a:off x="8065277" y="2760016"/>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4" name="Rectangle: Rounded Corners 23">
              <a:extLst>
                <a:ext uri="{FF2B5EF4-FFF2-40B4-BE49-F238E27FC236}">
                  <a16:creationId xmlns:a16="http://schemas.microsoft.com/office/drawing/2014/main" id="{8EC76FC3-1148-E0DE-8A59-A1BD8193B6D1}"/>
                </a:ext>
              </a:extLst>
            </p:cNvPr>
            <p:cNvSpPr/>
            <p:nvPr/>
          </p:nvSpPr>
          <p:spPr>
            <a:xfrm>
              <a:off x="8064681" y="3623359"/>
              <a:ext cx="1224000" cy="216000"/>
            </a:xfrm>
            <a:prstGeom prst="roundRect">
              <a:avLst/>
            </a:prstGeom>
            <a:solidFill>
              <a:srgbClr val="E9E9EA"/>
            </a:solidFill>
            <a:ln>
              <a:solidFill>
                <a:srgbClr val="DCEDF8"/>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5" name="Rectangle: Rounded Corners 24">
              <a:extLst>
                <a:ext uri="{FF2B5EF4-FFF2-40B4-BE49-F238E27FC236}">
                  <a16:creationId xmlns:a16="http://schemas.microsoft.com/office/drawing/2014/main" id="{A6AC62F4-6C54-8FAA-D4E0-6DC18FA96B2C}"/>
                </a:ext>
              </a:extLst>
            </p:cNvPr>
            <p:cNvSpPr/>
            <p:nvPr/>
          </p:nvSpPr>
          <p:spPr>
            <a:xfrm>
              <a:off x="2903041" y="4151713"/>
              <a:ext cx="1512000" cy="396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ХСН со сниженной ФВ</a:t>
              </a:r>
            </a:p>
          </p:txBody>
        </p:sp>
        <p:sp>
          <p:nvSpPr>
            <p:cNvPr id="26" name="Rectangle: Rounded Corners 25">
              <a:extLst>
                <a:ext uri="{FF2B5EF4-FFF2-40B4-BE49-F238E27FC236}">
                  <a16:creationId xmlns:a16="http://schemas.microsoft.com/office/drawing/2014/main" id="{6EF2CDE7-9E7C-44D8-1D71-224D81711581}"/>
                </a:ext>
              </a:extLst>
            </p:cNvPr>
            <p:cNvSpPr/>
            <p:nvPr/>
          </p:nvSpPr>
          <p:spPr>
            <a:xfrm>
              <a:off x="6259104" y="1752119"/>
              <a:ext cx="1620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p:txBody>
        </p:sp>
        <p:sp>
          <p:nvSpPr>
            <p:cNvPr id="27" name="Rectangle: Rounded Corners 26">
              <a:extLst>
                <a:ext uri="{FF2B5EF4-FFF2-40B4-BE49-F238E27FC236}">
                  <a16:creationId xmlns:a16="http://schemas.microsoft.com/office/drawing/2014/main" id="{0FAABAA2-EEF5-62E6-9520-D6D155277E78}"/>
                </a:ext>
              </a:extLst>
            </p:cNvPr>
            <p:cNvSpPr/>
            <p:nvPr/>
          </p:nvSpPr>
          <p:spPr>
            <a:xfrm>
              <a:off x="7986005" y="3928044"/>
              <a:ext cx="1512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Синдром слабости синусового узла</a:t>
              </a:r>
            </a:p>
          </p:txBody>
        </p:sp>
        <p:sp>
          <p:nvSpPr>
            <p:cNvPr id="28" name="Rectangle: Rounded Corners 27">
              <a:extLst>
                <a:ext uri="{FF2B5EF4-FFF2-40B4-BE49-F238E27FC236}">
                  <a16:creationId xmlns:a16="http://schemas.microsoft.com/office/drawing/2014/main" id="{B533135D-95AF-BFB3-0740-2484E2850D7C}"/>
                </a:ext>
              </a:extLst>
            </p:cNvPr>
            <p:cNvSpPr/>
            <p:nvPr/>
          </p:nvSpPr>
          <p:spPr>
            <a:xfrm>
              <a:off x="7984608" y="3067045"/>
              <a:ext cx="1512000" cy="288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ГКМП</a:t>
              </a:r>
            </a:p>
          </p:txBody>
        </p:sp>
        <p:sp>
          <p:nvSpPr>
            <p:cNvPr id="29" name="Rectangle: Rounded Corners 28">
              <a:extLst>
                <a:ext uri="{FF2B5EF4-FFF2-40B4-BE49-F238E27FC236}">
                  <a16:creationId xmlns:a16="http://schemas.microsoft.com/office/drawing/2014/main" id="{A9D7237D-D3FE-8D11-B9FC-FB33E75F3C6E}"/>
                </a:ext>
              </a:extLst>
            </p:cNvPr>
            <p:cNvSpPr/>
            <p:nvPr/>
          </p:nvSpPr>
          <p:spPr>
            <a:xfrm>
              <a:off x="5427294" y="5556999"/>
              <a:ext cx="1548000" cy="360000"/>
            </a:xfrm>
            <a:prstGeom prst="roundRect">
              <a:avLst/>
            </a:prstGeom>
            <a:solidFill>
              <a:srgbClr val="E9E9EA"/>
            </a:solidFill>
            <a:ln>
              <a:solidFill>
                <a:srgbClr val="E9E9EA"/>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Может быть показано в определённых ситуациях</a:t>
              </a:r>
            </a:p>
          </p:txBody>
        </p:sp>
        <p:sp>
          <p:nvSpPr>
            <p:cNvPr id="30" name="Rectangle: Rounded Corners 29">
              <a:extLst>
                <a:ext uri="{FF2B5EF4-FFF2-40B4-BE49-F238E27FC236}">
                  <a16:creationId xmlns:a16="http://schemas.microsoft.com/office/drawing/2014/main" id="{03386402-740A-E045-FE88-8738195CD6C7}"/>
                </a:ext>
              </a:extLst>
            </p:cNvPr>
            <p:cNvSpPr/>
            <p:nvPr/>
          </p:nvSpPr>
          <p:spPr>
            <a:xfrm>
              <a:off x="7031336" y="5563961"/>
              <a:ext cx="1548000" cy="360000"/>
            </a:xfrm>
            <a:prstGeom prst="roundRect">
              <a:avLst/>
            </a:prstGeom>
            <a:solidFill>
              <a:srgbClr val="EBC7C9"/>
            </a:solidFill>
            <a:ln>
              <a:solidFill>
                <a:srgbClr val="EBC7C9"/>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Противопоказано</a:t>
              </a:r>
            </a:p>
          </p:txBody>
        </p:sp>
        <p:sp>
          <p:nvSpPr>
            <p:cNvPr id="31" name="Rectangle: Rounded Corners 30">
              <a:extLst>
                <a:ext uri="{FF2B5EF4-FFF2-40B4-BE49-F238E27FC236}">
                  <a16:creationId xmlns:a16="http://schemas.microsoft.com/office/drawing/2014/main" id="{75D948F1-F982-3165-6758-5BCC652CE43E}"/>
                </a:ext>
              </a:extLst>
            </p:cNvPr>
            <p:cNvSpPr/>
            <p:nvPr/>
          </p:nvSpPr>
          <p:spPr>
            <a:xfrm>
              <a:off x="4540593" y="6235793"/>
              <a:ext cx="1264773"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Полезные комбинации</a:t>
              </a:r>
            </a:p>
          </p:txBody>
        </p:sp>
        <p:sp>
          <p:nvSpPr>
            <p:cNvPr id="32" name="Rectangle: Rounded Corners 31">
              <a:extLst>
                <a:ext uri="{FF2B5EF4-FFF2-40B4-BE49-F238E27FC236}">
                  <a16:creationId xmlns:a16="http://schemas.microsoft.com/office/drawing/2014/main" id="{7B3FF93E-7A44-1892-6FC8-EE3637A0AC88}"/>
                </a:ext>
              </a:extLst>
            </p:cNvPr>
            <p:cNvSpPr/>
            <p:nvPr/>
          </p:nvSpPr>
          <p:spPr>
            <a:xfrm>
              <a:off x="6849399" y="6399974"/>
              <a:ext cx="1645865" cy="20095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Препараты со схожим эффектом</a:t>
              </a:r>
            </a:p>
          </p:txBody>
        </p:sp>
        <p:sp>
          <p:nvSpPr>
            <p:cNvPr id="33" name="Rectangle: Rounded Corners 32">
              <a:extLst>
                <a:ext uri="{FF2B5EF4-FFF2-40B4-BE49-F238E27FC236}">
                  <a16:creationId xmlns:a16="http://schemas.microsoft.com/office/drawing/2014/main" id="{A4CD05F5-AA6B-D669-6DCC-A0C7280C7187}"/>
                </a:ext>
              </a:extLst>
            </p:cNvPr>
            <p:cNvSpPr/>
            <p:nvPr/>
          </p:nvSpPr>
          <p:spPr>
            <a:xfrm>
              <a:off x="6849399" y="6225937"/>
              <a:ext cx="1296000"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Возможные комбинации</a:t>
              </a:r>
            </a:p>
          </p:txBody>
        </p:sp>
        <p:sp>
          <p:nvSpPr>
            <p:cNvPr id="34" name="Rectangle: Rounded Corners 33">
              <a:extLst>
                <a:ext uri="{FF2B5EF4-FFF2-40B4-BE49-F238E27FC236}">
                  <a16:creationId xmlns:a16="http://schemas.microsoft.com/office/drawing/2014/main" id="{1E44D871-5406-414A-5F62-1DCDCD36D76B}"/>
                </a:ext>
              </a:extLst>
            </p:cNvPr>
            <p:cNvSpPr/>
            <p:nvPr/>
          </p:nvSpPr>
          <p:spPr>
            <a:xfrm>
              <a:off x="4540593" y="6420930"/>
              <a:ext cx="1296000" cy="18000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Не рекомендуется</a:t>
              </a:r>
            </a:p>
          </p:txBody>
        </p:sp>
      </p:grpSp>
      <p:sp>
        <p:nvSpPr>
          <p:cNvPr id="35" name="Text Placeholder 2">
            <a:extLst>
              <a:ext uri="{FF2B5EF4-FFF2-40B4-BE49-F238E27FC236}">
                <a16:creationId xmlns:a16="http://schemas.microsoft.com/office/drawing/2014/main" id="{CE069C16-A938-C247-2EEE-80AAFFCAC36D}"/>
              </a:ext>
            </a:extLst>
          </p:cNvPr>
          <p:cNvSpPr txBox="1">
            <a:spLocks/>
          </p:cNvSpPr>
          <p:nvPr/>
        </p:nvSpPr>
        <p:spPr>
          <a:xfrm>
            <a:off x="379676" y="6644148"/>
            <a:ext cx="9747250" cy="225425"/>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Vrints</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C. et al. 2024 ESC Guidelines for the management of chronic coronary syndromes. </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Eur</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Heart J. 2024 Aug 30:ehae177. </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doi</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10.1093/</a:t>
            </a:r>
            <a:r>
              <a:rPr kumimoji="0" lang="en-US" sz="2800" b="0" i="0" u="none" strike="noStrike" kern="1200" cap="none" spc="0" normalizeH="0" baseline="0" noProof="0" dirty="0" err="1">
                <a:ln>
                  <a:noFill/>
                </a:ln>
                <a:solidFill>
                  <a:prstClr val="black"/>
                </a:solidFill>
                <a:effectLst/>
                <a:uLnTx/>
                <a:uFillTx/>
                <a:latin typeface="Aptos" panose="02110004020202020204"/>
                <a:ea typeface="+mn-ea"/>
                <a:cs typeface="+mn-cs"/>
              </a:rPr>
              <a:t>eurheartj</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/ehae177. PMID: 39210710.</a:t>
            </a:r>
          </a:p>
        </p:txBody>
      </p:sp>
    </p:spTree>
    <p:extLst>
      <p:ext uri="{BB962C8B-B14F-4D97-AF65-F5344CB8AC3E}">
        <p14:creationId xmlns:p14="http://schemas.microsoft.com/office/powerpoint/2010/main" val="3355492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E616D-0B11-B8EF-24C3-30C045207B8C}"/>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B80FA15-FB5C-23DF-EF7A-4BABE2961549}"/>
              </a:ext>
            </a:extLst>
          </p:cNvPr>
          <p:cNvSpPr>
            <a:spLocks noGrp="1"/>
          </p:cNvSpPr>
          <p:nvPr>
            <p:ph type="title"/>
          </p:nvPr>
        </p:nvSpPr>
        <p:spPr bwMode="gray">
          <a:xfrm>
            <a:off x="5765800" y="2240992"/>
            <a:ext cx="5943600" cy="2232000"/>
          </a:xfrm>
        </p:spPr>
        <p:txBody>
          <a:bodyPr/>
          <a:lstStyle/>
          <a:p>
            <a:pPr lvl="0">
              <a:lnSpc>
                <a:spcPct val="90000"/>
              </a:lnSpc>
              <a:spcAft>
                <a:spcPts val="1200"/>
              </a:spcAft>
              <a:defRPr/>
            </a:pPr>
            <a:r>
              <a:rPr lang="ru-RU" sz="4000" b="1" dirty="0">
                <a:solidFill>
                  <a:srgbClr val="2B3A42"/>
                </a:solidFill>
                <a:latin typeface="Arial" panose="020B0604020202020204"/>
              </a:rPr>
              <a:t>С чего начинать антиангинальную терапию? </a:t>
            </a:r>
            <a:br>
              <a:rPr lang="ru-RU" sz="4000" b="1" dirty="0">
                <a:solidFill>
                  <a:srgbClr val="2B3A42"/>
                </a:solidFill>
                <a:latin typeface="Arial" panose="020B0604020202020204"/>
              </a:rPr>
            </a:br>
            <a:r>
              <a:rPr lang="ru-RU" sz="4000" b="1" dirty="0">
                <a:solidFill>
                  <a:srgbClr val="2B3A42"/>
                </a:solidFill>
                <a:latin typeface="Arial" panose="020B0604020202020204"/>
              </a:rPr>
              <a:t>Позиция в руководствах…</a:t>
            </a:r>
            <a:endParaRPr lang="en-US" sz="4000" b="1" dirty="0">
              <a:solidFill>
                <a:srgbClr val="2B3A42"/>
              </a:solidFill>
              <a:latin typeface="Arial" panose="020B0604020202020204"/>
            </a:endParaRPr>
          </a:p>
        </p:txBody>
      </p:sp>
    </p:spTree>
    <p:custDataLst>
      <p:tags r:id="rId1"/>
    </p:custDataLst>
    <p:extLst>
      <p:ext uri="{BB962C8B-B14F-4D97-AF65-F5344CB8AC3E}">
        <p14:creationId xmlns:p14="http://schemas.microsoft.com/office/powerpoint/2010/main" val="293632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4CC3734-98F4-87AC-AC91-A1EF57E82988}"/>
              </a:ext>
            </a:extLst>
          </p:cNvPr>
          <p:cNvSpPr txBox="1"/>
          <p:nvPr/>
        </p:nvSpPr>
        <p:spPr>
          <a:xfrm>
            <a:off x="9590400"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Низкое АД</a:t>
            </a:r>
          </a:p>
        </p:txBody>
      </p:sp>
      <p:sp>
        <p:nvSpPr>
          <p:cNvPr id="7" name="TextBox 6">
            <a:extLst>
              <a:ext uri="{FF2B5EF4-FFF2-40B4-BE49-F238E27FC236}">
                <a16:creationId xmlns:a16="http://schemas.microsoft.com/office/drawing/2014/main" id="{14361AE4-D6FD-A7A5-AEBE-F696F0C9D467}"/>
              </a:ext>
            </a:extLst>
          </p:cNvPr>
          <p:cNvSpPr txBox="1"/>
          <p:nvPr/>
        </p:nvSpPr>
        <p:spPr>
          <a:xfrm>
            <a:off x="3775283"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Высокая ЧСС</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&gt; 80 </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уд.</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мин.</a:t>
            </a:r>
          </a:p>
        </p:txBody>
      </p:sp>
      <p:sp>
        <p:nvSpPr>
          <p:cNvPr id="11" name="TextBox 10">
            <a:extLst>
              <a:ext uri="{FF2B5EF4-FFF2-40B4-BE49-F238E27FC236}">
                <a16:creationId xmlns:a16="http://schemas.microsoft.com/office/drawing/2014/main" id="{F6B9D9EA-D38C-ADFD-8C93-D71864486921}"/>
              </a:ext>
            </a:extLst>
          </p:cNvPr>
          <p:cNvSpPr txBox="1"/>
          <p:nvPr/>
        </p:nvSpPr>
        <p:spPr>
          <a:xfrm>
            <a:off x="5713655"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Низкая ЧСС</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&lt;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5</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0 </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уд.</a:t>
            </a:r>
            <a:r>
              <a:rPr kumimoji="0" lang="en-US"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мин.</a:t>
            </a:r>
          </a:p>
        </p:txBody>
      </p:sp>
      <p:sp>
        <p:nvSpPr>
          <p:cNvPr id="12" name="TextBox 11">
            <a:extLst>
              <a:ext uri="{FF2B5EF4-FFF2-40B4-BE49-F238E27FC236}">
                <a16:creationId xmlns:a16="http://schemas.microsoft.com/office/drawing/2014/main" id="{35D6E008-FFF1-9757-6729-56899F48E589}"/>
              </a:ext>
            </a:extLst>
          </p:cNvPr>
          <p:cNvSpPr txBox="1"/>
          <p:nvPr/>
        </p:nvSpPr>
        <p:spPr>
          <a:xfrm>
            <a:off x="7652027"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ЛЖ дисфункция</a:t>
            </a:r>
            <a:b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b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или СН</a:t>
            </a:r>
          </a:p>
        </p:txBody>
      </p:sp>
      <p:sp>
        <p:nvSpPr>
          <p:cNvPr id="4" name="TextBox 3">
            <a:extLst>
              <a:ext uri="{FF2B5EF4-FFF2-40B4-BE49-F238E27FC236}">
                <a16:creationId xmlns:a16="http://schemas.microsoft.com/office/drawing/2014/main" id="{A7D0636B-A32E-5037-B774-9D1CF93AE8E1}"/>
              </a:ext>
            </a:extLst>
          </p:cNvPr>
          <p:cNvSpPr txBox="1"/>
          <p:nvPr/>
        </p:nvSpPr>
        <p:spPr>
          <a:xfrm>
            <a:off x="1836911" y="1654013"/>
            <a:ext cx="1863615" cy="4055545"/>
          </a:xfrm>
          <a:prstGeom prst="roundRect">
            <a:avLst>
              <a:gd name="adj" fmla="val 12599"/>
            </a:avLst>
          </a:prstGeom>
          <a:solidFill>
            <a:schemeClr val="bg1"/>
          </a:solidFill>
          <a:ln w="12700">
            <a:solidFill>
              <a:srgbClr val="28BECD"/>
            </a:solidFill>
          </a:ln>
        </p:spPr>
        <p:txBody>
          <a:bodyPr wrap="square" lIns="72000" tIns="72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Стандартная терапия</a:t>
            </a:r>
          </a:p>
        </p:txBody>
      </p:sp>
      <p:sp>
        <p:nvSpPr>
          <p:cNvPr id="2" name="Прямоугольник: скругленные углы 1">
            <a:extLst>
              <a:ext uri="{FF2B5EF4-FFF2-40B4-BE49-F238E27FC236}">
                <a16:creationId xmlns:a16="http://schemas.microsoft.com/office/drawing/2014/main" id="{A1B236A2-AA29-3364-8EC2-2CCB9BEAB4F4}"/>
              </a:ext>
            </a:extLst>
          </p:cNvPr>
          <p:cNvSpPr/>
          <p:nvPr/>
        </p:nvSpPr>
        <p:spPr>
          <a:xfrm>
            <a:off x="924970" y="2263870"/>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1</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3" name="Прямоугольник: скругленные углы 32">
            <a:extLst>
              <a:ext uri="{FF2B5EF4-FFF2-40B4-BE49-F238E27FC236}">
                <a16:creationId xmlns:a16="http://schemas.microsoft.com/office/drawing/2014/main" id="{0128B99B-0865-B000-C995-4F6D71E9A5EE}"/>
              </a:ext>
            </a:extLst>
          </p:cNvPr>
          <p:cNvSpPr/>
          <p:nvPr/>
        </p:nvSpPr>
        <p:spPr>
          <a:xfrm>
            <a:off x="924970" y="3111083"/>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2</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4" name="Прямоугольник: скругленные углы 33">
            <a:extLst>
              <a:ext uri="{FF2B5EF4-FFF2-40B4-BE49-F238E27FC236}">
                <a16:creationId xmlns:a16="http://schemas.microsoft.com/office/drawing/2014/main" id="{0EF88EFC-2134-23FC-D07D-37001B7C32BD}"/>
              </a:ext>
            </a:extLst>
          </p:cNvPr>
          <p:cNvSpPr/>
          <p:nvPr/>
        </p:nvSpPr>
        <p:spPr>
          <a:xfrm>
            <a:off x="924970" y="3958296"/>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3</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35" name="Прямоугольник: скругленные углы 34">
            <a:extLst>
              <a:ext uri="{FF2B5EF4-FFF2-40B4-BE49-F238E27FC236}">
                <a16:creationId xmlns:a16="http://schemas.microsoft.com/office/drawing/2014/main" id="{A5B1A497-F650-40D0-8652-A6D7CCE08F8A}"/>
              </a:ext>
            </a:extLst>
          </p:cNvPr>
          <p:cNvSpPr/>
          <p:nvPr/>
        </p:nvSpPr>
        <p:spPr>
          <a:xfrm>
            <a:off x="924970" y="4805509"/>
            <a:ext cx="10726256" cy="746702"/>
          </a:xfrm>
          <a:prstGeom prst="roundRect">
            <a:avLst>
              <a:gd name="adj" fmla="val 32505"/>
            </a:avLst>
          </a:prstGeom>
          <a:gradFill flip="none" rotWithShape="1">
            <a:gsLst>
              <a:gs pos="14000">
                <a:srgbClr val="398ACB"/>
              </a:gs>
              <a:gs pos="83000">
                <a:srgbClr val="28BECD"/>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ШАГ 4</a:t>
            </a:r>
            <a:endParaRPr kumimoji="0" lang="ru-RU"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0" name="Номер слайда 9">
            <a:extLst>
              <a:ext uri="{FF2B5EF4-FFF2-40B4-BE49-F238E27FC236}">
                <a16:creationId xmlns:a16="http://schemas.microsoft.com/office/drawing/2014/main" id="{1BA9275A-E1AF-38FD-4F1B-031487374FC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40E91411-6E1F-557D-4D9E-ED97BF2D2732}"/>
              </a:ext>
            </a:extLst>
          </p:cNvPr>
          <p:cNvSpPr txBox="1"/>
          <p:nvPr/>
        </p:nvSpPr>
        <p:spPr>
          <a:xfrm>
            <a:off x="1932106"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или БКК</a:t>
            </a:r>
            <a:endParaRPr kumimoji="0" lang="ru-RU" sz="11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 name="TextBox 15">
            <a:extLst>
              <a:ext uri="{FF2B5EF4-FFF2-40B4-BE49-F238E27FC236}">
                <a16:creationId xmlns:a16="http://schemas.microsoft.com/office/drawing/2014/main" id="{EB21BC63-E952-9B09-6738-474743A3EADF}"/>
              </a:ext>
            </a:extLst>
          </p:cNvPr>
          <p:cNvSpPr txBox="1"/>
          <p:nvPr/>
        </p:nvSpPr>
        <p:spPr>
          <a:xfrm>
            <a:off x="3870478"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или</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не-ДПР-БКК</a:t>
            </a:r>
          </a:p>
        </p:txBody>
      </p:sp>
      <p:sp>
        <p:nvSpPr>
          <p:cNvPr id="17" name="TextBox 16">
            <a:extLst>
              <a:ext uri="{FF2B5EF4-FFF2-40B4-BE49-F238E27FC236}">
                <a16:creationId xmlns:a16="http://schemas.microsoft.com/office/drawing/2014/main" id="{73C8F53A-DF84-0E8A-7BBC-941FB3CEFFB3}"/>
              </a:ext>
            </a:extLst>
          </p:cNvPr>
          <p:cNvSpPr txBox="1"/>
          <p:nvPr/>
        </p:nvSpPr>
        <p:spPr>
          <a:xfrm>
            <a:off x="5808850"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18" name="TextBox 17">
            <a:extLst>
              <a:ext uri="{FF2B5EF4-FFF2-40B4-BE49-F238E27FC236}">
                <a16:creationId xmlns:a16="http://schemas.microsoft.com/office/drawing/2014/main" id="{23346085-5DF0-54EA-1954-F66E303623D4}"/>
              </a:ext>
            </a:extLst>
          </p:cNvPr>
          <p:cNvSpPr txBox="1"/>
          <p:nvPr/>
        </p:nvSpPr>
        <p:spPr>
          <a:xfrm>
            <a:off x="7747222"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p>
        </p:txBody>
      </p:sp>
      <p:sp>
        <p:nvSpPr>
          <p:cNvPr id="19" name="TextBox 18">
            <a:extLst>
              <a:ext uri="{FF2B5EF4-FFF2-40B4-BE49-F238E27FC236}">
                <a16:creationId xmlns:a16="http://schemas.microsoft.com/office/drawing/2014/main" id="{66F3846A-0D28-3157-3089-B825E13FD3ED}"/>
              </a:ext>
            </a:extLst>
          </p:cNvPr>
          <p:cNvSpPr txBox="1"/>
          <p:nvPr/>
        </p:nvSpPr>
        <p:spPr>
          <a:xfrm>
            <a:off x="9685595" y="231765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Низкие дозы </a:t>
            </a:r>
            <a:b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a:t>
            </a:r>
            <a: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или низкие дозы</a:t>
            </a:r>
            <a:r>
              <a:rPr kumimoji="0" lang="en-US"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20" name="TextBox 19">
            <a:extLst>
              <a:ext uri="{FF2B5EF4-FFF2-40B4-BE49-F238E27FC236}">
                <a16:creationId xmlns:a16="http://schemas.microsoft.com/office/drawing/2014/main" id="{64856A29-4266-2CC0-2737-6E651996BDC8}"/>
              </a:ext>
            </a:extLst>
          </p:cNvPr>
          <p:cNvSpPr txBox="1"/>
          <p:nvPr/>
        </p:nvSpPr>
        <p:spPr>
          <a:xfrm>
            <a:off x="1932106"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a:t>
            </a:r>
          </a:p>
        </p:txBody>
      </p:sp>
      <p:sp>
        <p:nvSpPr>
          <p:cNvPr id="21" name="TextBox 20">
            <a:extLst>
              <a:ext uri="{FF2B5EF4-FFF2-40B4-BE49-F238E27FC236}">
                <a16:creationId xmlns:a16="http://schemas.microsoft.com/office/drawing/2014/main" id="{964F42F2-80F8-D010-6680-A86F72051490}"/>
              </a:ext>
            </a:extLst>
          </p:cNvPr>
          <p:cNvSpPr txBox="1"/>
          <p:nvPr/>
        </p:nvSpPr>
        <p:spPr>
          <a:xfrm>
            <a:off x="3870478"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БАБ и </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не-ДПР-БКК</a:t>
            </a:r>
          </a:p>
        </p:txBody>
      </p:sp>
      <p:sp>
        <p:nvSpPr>
          <p:cNvPr id="22" name="TextBox 21">
            <a:extLst>
              <a:ext uri="{FF2B5EF4-FFF2-40B4-BE49-F238E27FC236}">
                <a16:creationId xmlns:a16="http://schemas.microsoft.com/office/drawing/2014/main" id="{3A2BC712-C852-4C62-6426-239CF3FE46FF}"/>
              </a:ext>
            </a:extLst>
          </p:cNvPr>
          <p:cNvSpPr txBox="1"/>
          <p:nvPr/>
        </p:nvSpPr>
        <p:spPr>
          <a:xfrm>
            <a:off x="5808850"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a:t>
            </a:r>
          </a:p>
        </p:txBody>
      </p:sp>
      <p:sp>
        <p:nvSpPr>
          <p:cNvPr id="23" name="TextBox 22">
            <a:extLst>
              <a:ext uri="{FF2B5EF4-FFF2-40B4-BE49-F238E27FC236}">
                <a16:creationId xmlns:a16="http://schemas.microsoft.com/office/drawing/2014/main" id="{5F54AE8F-FD91-55A4-F4EE-E8B8DBFA7A9C}"/>
              </a:ext>
            </a:extLst>
          </p:cNvPr>
          <p:cNvSpPr txBox="1"/>
          <p:nvPr/>
        </p:nvSpPr>
        <p:spPr>
          <a:xfrm>
            <a:off x="7747222"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a:t>
            </a:r>
            <a:r>
              <a:rPr kumimoji="0" lang="ru-RU" sz="1100" b="1" i="0" u="none" strike="noStrike" kern="1200" cap="none" spc="-2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 или </a:t>
            </a:r>
            <a:r>
              <a:rPr kumimoji="0" lang="ru-RU" sz="1100" b="1" i="0" u="none" strike="noStrike" kern="1200" cap="none" spc="-2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endParaRPr kumimoji="0" lang="ru-RU" sz="1100" b="1" i="0" u="none" strike="noStrike" kern="1200" cap="none" spc="-2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4" name="TextBox 23">
            <a:extLst>
              <a:ext uri="{FF2B5EF4-FFF2-40B4-BE49-F238E27FC236}">
                <a16:creationId xmlns:a16="http://schemas.microsoft.com/office/drawing/2014/main" id="{2437169A-CA92-AE1D-181D-FCEF9849E35C}"/>
              </a:ext>
            </a:extLst>
          </p:cNvPr>
          <p:cNvSpPr txBox="1"/>
          <p:nvPr/>
        </p:nvSpPr>
        <p:spPr>
          <a:xfrm>
            <a:off x="9685595" y="318409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низкие дозы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нитратов</a:t>
            </a:r>
          </a:p>
        </p:txBody>
      </p:sp>
      <p:sp>
        <p:nvSpPr>
          <p:cNvPr id="25" name="TextBox 24">
            <a:extLst>
              <a:ext uri="{FF2B5EF4-FFF2-40B4-BE49-F238E27FC236}">
                <a16:creationId xmlns:a16="http://schemas.microsoft.com/office/drawing/2014/main" id="{7578633B-8BFD-F6FE-4636-EA2006CF3D50}"/>
              </a:ext>
            </a:extLst>
          </p:cNvPr>
          <p:cNvSpPr txBox="1"/>
          <p:nvPr/>
        </p:nvSpPr>
        <p:spPr>
          <a:xfrm>
            <a:off x="1932106" y="4011886"/>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препарат</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2-й линии</a:t>
            </a:r>
          </a:p>
        </p:txBody>
      </p:sp>
      <p:sp>
        <p:nvSpPr>
          <p:cNvPr id="26" name="TextBox 25">
            <a:extLst>
              <a:ext uri="{FF2B5EF4-FFF2-40B4-BE49-F238E27FC236}">
                <a16:creationId xmlns:a16="http://schemas.microsoft.com/office/drawing/2014/main" id="{A4879685-F8D3-AAC4-3E3E-84142DA43FA4}"/>
              </a:ext>
            </a:extLst>
          </p:cNvPr>
          <p:cNvSpPr txBox="1"/>
          <p:nvPr/>
        </p:nvSpPr>
        <p:spPr>
          <a:xfrm>
            <a:off x="3870478"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TextBox 26">
            <a:extLst>
              <a:ext uri="{FF2B5EF4-FFF2-40B4-BE49-F238E27FC236}">
                <a16:creationId xmlns:a16="http://schemas.microsoft.com/office/drawing/2014/main" id="{6C8679DC-26B2-0D51-D898-78999DEE0B5C}"/>
              </a:ext>
            </a:extLst>
          </p:cNvPr>
          <p:cNvSpPr txBox="1"/>
          <p:nvPr/>
        </p:nvSpPr>
        <p:spPr>
          <a:xfrm>
            <a:off x="5808850"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ДПР-БКК +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пролонг</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нитраты</a:t>
            </a:r>
          </a:p>
        </p:txBody>
      </p:sp>
      <p:sp>
        <p:nvSpPr>
          <p:cNvPr id="28" name="TextBox 27">
            <a:extLst>
              <a:ext uri="{FF2B5EF4-FFF2-40B4-BE49-F238E27FC236}">
                <a16:creationId xmlns:a16="http://schemas.microsoft.com/office/drawing/2014/main" id="{563F37C7-41F9-F4DA-8202-2C7545BD6319}"/>
              </a:ext>
            </a:extLst>
          </p:cNvPr>
          <p:cNvSpPr txBox="1"/>
          <p:nvPr/>
        </p:nvSpPr>
        <p:spPr>
          <a:xfrm>
            <a:off x="7747222"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препарат</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2-й линии</a:t>
            </a:r>
          </a:p>
        </p:txBody>
      </p:sp>
      <p:sp>
        <p:nvSpPr>
          <p:cNvPr id="29" name="TextBox 28">
            <a:extLst>
              <a:ext uri="{FF2B5EF4-FFF2-40B4-BE49-F238E27FC236}">
                <a16:creationId xmlns:a16="http://schemas.microsoft.com/office/drawing/2014/main" id="{7FD09EED-BC7E-D20D-E013-2D4C29267F7A}"/>
              </a:ext>
            </a:extLst>
          </p:cNvPr>
          <p:cNvSpPr txBox="1"/>
          <p:nvPr/>
        </p:nvSpPr>
        <p:spPr>
          <a:xfrm>
            <a:off x="9685595" y="4016819"/>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ранолазин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или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триметазидин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TextBox 29">
            <a:extLst>
              <a:ext uri="{FF2B5EF4-FFF2-40B4-BE49-F238E27FC236}">
                <a16:creationId xmlns:a16="http://schemas.microsoft.com/office/drawing/2014/main" id="{A8148F49-E08F-0B7E-FB1B-4C410CE52497}"/>
              </a:ext>
            </a:extLst>
          </p:cNvPr>
          <p:cNvSpPr txBox="1"/>
          <p:nvPr/>
        </p:nvSpPr>
        <p:spPr>
          <a:xfrm>
            <a:off x="5808850" y="4860881"/>
            <a:ext cx="1673225" cy="631343"/>
          </a:xfrm>
          <a:prstGeom prst="roundRect">
            <a:avLst/>
          </a:prstGeom>
          <a:solidFill>
            <a:schemeClr val="bg1"/>
          </a:solidFill>
          <a:ln w="12700">
            <a:solidFill>
              <a:schemeClr val="bg1"/>
            </a:solidFill>
          </a:ln>
        </p:spPr>
        <p:txBody>
          <a:bodyPr wrap="square" rtlCol="0" anchor="ctr"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Добавить</a:t>
            </a:r>
            <a:b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ивабрадин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ранолазин</a:t>
            </a:r>
            <a:r>
              <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или </a:t>
            </a:r>
            <a:r>
              <a:rPr kumimoji="0" lang="ru-RU" sz="1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триметазидин</a:t>
            </a:r>
            <a:endParaRPr kumimoji="0" lang="ru-RU" sz="1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 name="Объект 8">
            <a:extLst>
              <a:ext uri="{FF2B5EF4-FFF2-40B4-BE49-F238E27FC236}">
                <a16:creationId xmlns:a16="http://schemas.microsoft.com/office/drawing/2014/main" id="{79E0A517-22D2-9764-EFA9-1D69E7B638F9}"/>
              </a:ext>
            </a:extLst>
          </p:cNvPr>
          <p:cNvSpPr txBox="1">
            <a:spLocks/>
          </p:cNvSpPr>
          <p:nvPr/>
        </p:nvSpPr>
        <p:spPr>
          <a:xfrm>
            <a:off x="911225" y="5938684"/>
            <a:ext cx="9441291" cy="650419"/>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АД </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артериальное  давление,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БАБ</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бета-адреноблокаторы,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ДПР-БКК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дигидриропиридиновые</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ЛЖ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левый желудочек,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не-ДПР-БКК</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недигидропиридиновые</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блокаторы "медленных" кальциевых каналов,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СН</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сердечная недостаточность,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ЧСС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частота сердечных сокращений</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Адаптировано из ссылки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Барбараш</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О. Л.,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соавт</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Стабильная ишемическая болезнь сердца. Клинические рекомендации 2024. Российский кардиологический журнал. 2024;29(9):6110.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doi</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10.15829/1560-4071-2024-6110. EDN HHJJUT</a:t>
            </a:r>
          </a:p>
        </p:txBody>
      </p:sp>
      <p:sp>
        <p:nvSpPr>
          <p:cNvPr id="37" name="Заголовок 7">
            <a:extLst>
              <a:ext uri="{FF2B5EF4-FFF2-40B4-BE49-F238E27FC236}">
                <a16:creationId xmlns:a16="http://schemas.microsoft.com/office/drawing/2014/main" id="{803F9A97-7BBD-75D2-937C-CAB4F2F83641}"/>
              </a:ext>
            </a:extLst>
          </p:cNvPr>
          <p:cNvSpPr txBox="1">
            <a:spLocks/>
          </p:cNvSpPr>
          <p:nvPr/>
        </p:nvSpPr>
        <p:spPr>
          <a:xfrm>
            <a:off x="911225" y="497766"/>
            <a:ext cx="101609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Клинические рекомендации МЗ РФ 2024 - Стратегия долгосрочной </a:t>
            </a:r>
            <a:r>
              <a:rPr kumimoji="0" lang="ru-RU" sz="20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антиишемической</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лекарственной терапии у пациентов со стабильной ИБС с различными типами гемодинамики</a:t>
            </a:r>
          </a:p>
        </p:txBody>
      </p:sp>
      <p:sp>
        <p:nvSpPr>
          <p:cNvPr id="3" name="Rectangle: Rounded Corners 2">
            <a:extLst>
              <a:ext uri="{FF2B5EF4-FFF2-40B4-BE49-F238E27FC236}">
                <a16:creationId xmlns:a16="http://schemas.microsoft.com/office/drawing/2014/main" id="{0E4E3553-8C70-F3D8-CA30-D11FD5F73CEE}"/>
              </a:ext>
            </a:extLst>
          </p:cNvPr>
          <p:cNvSpPr/>
          <p:nvPr/>
        </p:nvSpPr>
        <p:spPr>
          <a:xfrm>
            <a:off x="1012723" y="2438400"/>
            <a:ext cx="722172" cy="383458"/>
          </a:xfrm>
          <a:prstGeom prst="roundRect">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A7F22C-5B59-82A7-43A0-D5088608C47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Rectangle: Rounded Corners 3">
            <a:extLst>
              <a:ext uri="{FF2B5EF4-FFF2-40B4-BE49-F238E27FC236}">
                <a16:creationId xmlns:a16="http://schemas.microsoft.com/office/drawing/2014/main" id="{8A8A2D94-59AD-316C-86E2-4E691B9AC059}"/>
              </a:ext>
            </a:extLst>
          </p:cNvPr>
          <p:cNvSpPr>
            <a:spLocks/>
          </p:cNvSpPr>
          <p:nvPr/>
        </p:nvSpPr>
        <p:spPr>
          <a:xfrm>
            <a:off x="1800539" y="1719132"/>
            <a:ext cx="3672470" cy="1226660"/>
          </a:xfrm>
          <a:prstGeom prst="roundRect">
            <a:avLst>
              <a:gd name="adj" fmla="val 50000"/>
            </a:avLst>
          </a:prstGeom>
          <a:solidFill>
            <a:srgbClr val="FFFFFF"/>
          </a:solidFill>
          <a:ln w="76200" cap="flat" cmpd="sng" algn="ctr">
            <a:solidFill>
              <a:srgbClr val="00A3E0"/>
            </a:solidFill>
            <a:prstDash val="solid"/>
            <a:miter lim="800000"/>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ru-RU" sz="2000" b="1" i="0" u="none" strike="noStrike" kern="0" cap="none" spc="0" normalizeH="0" baseline="0" noProof="0" dirty="0">
                <a:ln>
                  <a:noFill/>
                </a:ln>
                <a:solidFill>
                  <a:srgbClr val="00A3E0"/>
                </a:solidFill>
                <a:effectLst/>
                <a:uLnTx/>
                <a:uFillTx/>
                <a:latin typeface="Arial" panose="020B0604020202020204"/>
                <a:ea typeface="+mn-ea"/>
                <a:cs typeface="+mn-cs"/>
              </a:rPr>
              <a:t>Стенокардия </a:t>
            </a:r>
          </a:p>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2000" b="1" i="0" u="none" strike="noStrike" kern="0" cap="none" spc="0" normalizeH="0" baseline="0" noProof="0" dirty="0">
                <a:ln>
                  <a:noFill/>
                </a:ln>
                <a:solidFill>
                  <a:srgbClr val="00A3E0"/>
                </a:solidFill>
                <a:effectLst/>
                <a:uLnTx/>
                <a:uFillTx/>
                <a:latin typeface="Arial" panose="020B0604020202020204"/>
                <a:ea typeface="+mn-ea"/>
                <a:cs typeface="+mn-cs"/>
              </a:rPr>
              <a:t>I-II </a:t>
            </a:r>
            <a:r>
              <a:rPr kumimoji="0" lang="ru-RU" sz="2000" b="1" i="0" u="none" strike="noStrike" kern="0" cap="none" spc="0" normalizeH="0" baseline="0" noProof="0" dirty="0">
                <a:ln>
                  <a:noFill/>
                </a:ln>
                <a:solidFill>
                  <a:srgbClr val="00A3E0"/>
                </a:solidFill>
                <a:effectLst/>
                <a:uLnTx/>
                <a:uFillTx/>
                <a:latin typeface="Arial" panose="020B0604020202020204"/>
                <a:ea typeface="+mn-ea"/>
                <a:cs typeface="+mn-cs"/>
              </a:rPr>
              <a:t>ФК класса</a:t>
            </a:r>
            <a:endParaRPr kumimoji="0" lang="en-US" sz="2000" b="1" i="0" u="none" strike="noStrike" kern="0" cap="none" spc="0" normalizeH="0" baseline="0" noProof="0" dirty="0">
              <a:ln>
                <a:noFill/>
              </a:ln>
              <a:solidFill>
                <a:srgbClr val="00A3E0"/>
              </a:solidFill>
              <a:effectLst/>
              <a:uLnTx/>
              <a:uFillTx/>
              <a:latin typeface="Arial" panose="020B0604020202020204"/>
              <a:ea typeface="+mn-ea"/>
              <a:cs typeface="+mn-cs"/>
            </a:endParaRPr>
          </a:p>
        </p:txBody>
      </p:sp>
      <p:sp>
        <p:nvSpPr>
          <p:cNvPr id="5" name="Rectangle: Rounded Corners 4">
            <a:extLst>
              <a:ext uri="{FF2B5EF4-FFF2-40B4-BE49-F238E27FC236}">
                <a16:creationId xmlns:a16="http://schemas.microsoft.com/office/drawing/2014/main" id="{DA9B85A0-20AF-4847-AA43-6A2A44251A2C}"/>
              </a:ext>
            </a:extLst>
          </p:cNvPr>
          <p:cNvSpPr/>
          <p:nvPr/>
        </p:nvSpPr>
        <p:spPr>
          <a:xfrm>
            <a:off x="6506830" y="1719132"/>
            <a:ext cx="3672470" cy="1226660"/>
          </a:xfrm>
          <a:prstGeom prst="roundRect">
            <a:avLst>
              <a:gd name="adj" fmla="val 50000"/>
            </a:avLst>
          </a:prstGeom>
          <a:solidFill>
            <a:srgbClr val="FFFFFF"/>
          </a:solidFill>
          <a:ln w="76200" cap="flat" cmpd="sng" algn="ctr">
            <a:solidFill>
              <a:srgbClr val="005587"/>
            </a:solidFill>
            <a:prstDash val="solid"/>
            <a:miter lim="800000"/>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Стенокардия </a:t>
            </a:r>
          </a:p>
          <a:p>
            <a:pPr marL="268288" marR="0" lvl="0" indent="0" algn="ctr" defTabSz="914400" rtl="0" eaLnBrk="1" fontAlgn="auto" latinLnBrk="0" hangingPunct="1">
              <a:lnSpc>
                <a:spcPct val="100000"/>
              </a:lnSpc>
              <a:spcBef>
                <a:spcPts val="300"/>
              </a:spcBef>
              <a:spcAft>
                <a:spcPts val="0"/>
              </a:spcAft>
              <a:buClrTx/>
              <a:buSzTx/>
              <a:buFontTx/>
              <a:buNone/>
              <a:tabLst/>
              <a:defRPr/>
            </a:pPr>
            <a:r>
              <a:rPr kumimoji="0" lang="en-US" sz="2000" b="1" i="0" u="none" strike="noStrike" kern="0" cap="none" spc="0" normalizeH="0" baseline="0" noProof="0" dirty="0">
                <a:ln>
                  <a:noFill/>
                </a:ln>
                <a:solidFill>
                  <a:srgbClr val="005587"/>
                </a:solidFill>
                <a:effectLst/>
                <a:uLnTx/>
                <a:uFillTx/>
                <a:latin typeface="Arial" panose="020B0604020202020204"/>
                <a:ea typeface="+mn-ea"/>
                <a:cs typeface="+mn-cs"/>
              </a:rPr>
              <a:t>III</a:t>
            </a: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a:t>
            </a:r>
            <a:r>
              <a:rPr kumimoji="0" lang="en-US" sz="2000" b="1" i="0" u="none" strike="noStrike" kern="0" cap="none" spc="0" normalizeH="0" baseline="0" noProof="0" dirty="0">
                <a:ln>
                  <a:noFill/>
                </a:ln>
                <a:solidFill>
                  <a:srgbClr val="005587"/>
                </a:solidFill>
                <a:effectLst/>
                <a:uLnTx/>
                <a:uFillTx/>
                <a:latin typeface="Arial" panose="020B0604020202020204"/>
                <a:ea typeface="+mn-ea"/>
                <a:cs typeface="+mn-cs"/>
              </a:rPr>
              <a:t>IV </a:t>
            </a: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ФК класса</a:t>
            </a:r>
          </a:p>
        </p:txBody>
      </p:sp>
      <p:sp>
        <p:nvSpPr>
          <p:cNvPr id="6" name="Oval 5">
            <a:extLst>
              <a:ext uri="{FF2B5EF4-FFF2-40B4-BE49-F238E27FC236}">
                <a16:creationId xmlns:a16="http://schemas.microsoft.com/office/drawing/2014/main" id="{8FFE8093-BFDC-3406-1728-90CD40D99CE8}"/>
              </a:ext>
            </a:extLst>
          </p:cNvPr>
          <p:cNvSpPr/>
          <p:nvPr/>
        </p:nvSpPr>
        <p:spPr>
          <a:xfrm>
            <a:off x="2086123" y="1992891"/>
            <a:ext cx="679142" cy="679142"/>
          </a:xfrm>
          <a:prstGeom prst="ellipse">
            <a:avLst/>
          </a:prstGeom>
          <a:solidFill>
            <a:srgbClr val="00A3E0"/>
          </a:solidFill>
          <a:ln w="12700" cap="flat" cmpd="sng" algn="ctr">
            <a:noFill/>
            <a:prstDash val="solid"/>
            <a:miter lim="800000"/>
          </a:ln>
          <a:effectLst/>
        </p:spPr>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rial" panose="020B0604020202020204"/>
                <a:ea typeface="+mn-ea"/>
                <a:cs typeface="+mn-cs"/>
              </a:rPr>
              <a:t>1</a:t>
            </a:r>
          </a:p>
        </p:txBody>
      </p:sp>
      <p:sp>
        <p:nvSpPr>
          <p:cNvPr id="7" name="Oval 6">
            <a:extLst>
              <a:ext uri="{FF2B5EF4-FFF2-40B4-BE49-F238E27FC236}">
                <a16:creationId xmlns:a16="http://schemas.microsoft.com/office/drawing/2014/main" id="{9AEB32EC-516F-CC5C-D1C8-CFC5D4ED475D}"/>
              </a:ext>
            </a:extLst>
          </p:cNvPr>
          <p:cNvSpPr/>
          <p:nvPr/>
        </p:nvSpPr>
        <p:spPr>
          <a:xfrm>
            <a:off x="6792414" y="1992891"/>
            <a:ext cx="679142" cy="679142"/>
          </a:xfrm>
          <a:prstGeom prst="ellipse">
            <a:avLst/>
          </a:prstGeom>
          <a:solidFill>
            <a:srgbClr val="005587"/>
          </a:solidFill>
          <a:ln w="12700" cap="flat" cmpd="sng" algn="ctr">
            <a:noFill/>
            <a:prstDash val="solid"/>
            <a:miter lim="800000"/>
          </a:ln>
          <a:effectLst/>
        </p:spPr>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rial" panose="020B0604020202020204"/>
                <a:ea typeface="+mn-ea"/>
                <a:cs typeface="+mn-cs"/>
              </a:rPr>
              <a:t>2</a:t>
            </a:r>
          </a:p>
        </p:txBody>
      </p:sp>
      <p:sp>
        <p:nvSpPr>
          <p:cNvPr id="8" name="TextBox 7">
            <a:extLst>
              <a:ext uri="{FF2B5EF4-FFF2-40B4-BE49-F238E27FC236}">
                <a16:creationId xmlns:a16="http://schemas.microsoft.com/office/drawing/2014/main" id="{76C9E7E9-A921-DCA4-0A2D-83264DB43D3A}"/>
              </a:ext>
            </a:extLst>
          </p:cNvPr>
          <p:cNvSpPr txBox="1">
            <a:spLocks/>
          </p:cNvSpPr>
          <p:nvPr/>
        </p:nvSpPr>
        <p:spPr>
          <a:xfrm>
            <a:off x="1689652" y="3113326"/>
            <a:ext cx="3995519" cy="3009177"/>
          </a:xfrm>
          <a:prstGeom prst="rect">
            <a:avLst/>
          </a:prstGeom>
          <a:ln>
            <a:noFill/>
          </a:ln>
        </p:spPr>
        <p:txBody>
          <a:bodyPr vert="horz" wrap="square" lIns="91440" tIns="45720" rIns="91440" bIns="45720" numCol="1" rtlCol="0" anchor="t" anchorCtr="0" compatLnSpc="1">
            <a:prstTxWarp prst="textNoShape">
              <a:avLst/>
            </a:prstTxWarp>
            <a:noAutofit/>
          </a:bodyPr>
          <a:lstStyle/>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При стабильной стенокардии I-II ФК и ЧСС &gt;60 уд./мин рекомендуется назначить в качестве препарата 1‑й линии БАБ или</a:t>
            </a:r>
            <a:r>
              <a:rPr kumimoji="0" lang="en-US" sz="1600" b="0"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ru-RU" sz="1600" b="0" i="0" u="none" strike="noStrike" kern="1200" cap="none" spc="0" normalizeH="0" baseline="0" noProof="0" dirty="0" err="1">
                <a:ln>
                  <a:noFill/>
                </a:ln>
                <a:solidFill>
                  <a:srgbClr val="2B3A42"/>
                </a:solidFill>
                <a:effectLst/>
                <a:uLnTx/>
                <a:uFillTx/>
                <a:latin typeface="Arial" panose="020B0604020202020204"/>
                <a:ea typeface="+mn-ea"/>
                <a:cs typeface="+mn-cs"/>
              </a:rPr>
              <a:t>недигидропиридиновые</a:t>
            </a: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 блокаторы "медленных" кальциевых каналов (ДГП-БКК): верапамил** или дилтиазем) </a:t>
            </a:r>
            <a:r>
              <a:rPr kumimoji="0" lang="ru-RU" sz="1600" b="1" i="0" u="none" strike="noStrike" kern="1200" cap="none" spc="0" normalizeH="0" baseline="0" noProof="0" dirty="0">
                <a:ln>
                  <a:noFill/>
                </a:ln>
                <a:solidFill>
                  <a:srgbClr val="FF0000"/>
                </a:solidFill>
                <a:effectLst/>
                <a:uLnTx/>
                <a:uFillTx/>
                <a:latin typeface="Arial" panose="020B0604020202020204"/>
                <a:ea typeface="+mn-ea"/>
                <a:cs typeface="+mn-cs"/>
              </a:rPr>
              <a:t>для снижения ЧСС до значений 55-60 уд./мин</a:t>
            </a:r>
          </a:p>
          <a:p>
            <a:pPr marL="179388" marR="0" lvl="0" indent="0" algn="l" defTabSz="914400" rtl="0" eaLnBrk="1" fontAlgn="auto" latinLnBrk="0" hangingPunct="1">
              <a:lnSpc>
                <a:spcPct val="100000"/>
              </a:lnSpc>
              <a:spcBef>
                <a:spcPts val="1200"/>
              </a:spcBef>
              <a:spcAft>
                <a:spcPts val="0"/>
              </a:spcAft>
              <a:buClrTx/>
              <a:buSzTx/>
              <a:buFontTx/>
              <a:buNone/>
              <a:tabLst/>
              <a:defRPr/>
            </a:pPr>
            <a:r>
              <a:rPr kumimoji="0" lang="ru-RU" sz="1600" b="0" i="1" u="none" strike="noStrike" kern="1200" cap="none" spc="0" normalizeH="0" baseline="0" noProof="0" dirty="0">
                <a:ln>
                  <a:noFill/>
                </a:ln>
                <a:solidFill>
                  <a:srgbClr val="2B3A42"/>
                </a:solidFill>
                <a:effectLst/>
                <a:uLnTx/>
                <a:uFillTx/>
                <a:latin typeface="Arial" panose="020B0604020202020204"/>
                <a:ea typeface="+mn-ea"/>
                <a:cs typeface="+mn-cs"/>
              </a:rPr>
              <a:t>EOK I A (УУР А, УДД 5)</a:t>
            </a:r>
          </a:p>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kumimoji="0" lang="da-DK" sz="16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F13AD3E6-84B7-54D4-3F4B-541F35445876}"/>
              </a:ext>
            </a:extLst>
          </p:cNvPr>
          <p:cNvSpPr txBox="1">
            <a:spLocks/>
          </p:cNvSpPr>
          <p:nvPr/>
        </p:nvSpPr>
        <p:spPr>
          <a:xfrm>
            <a:off x="6506830" y="3113327"/>
            <a:ext cx="3672470" cy="1901234"/>
          </a:xfrm>
          <a:prstGeom prst="rect">
            <a:avLst/>
          </a:prstGeom>
          <a:ln>
            <a:noFill/>
          </a:ln>
        </p:spPr>
        <p:txBody>
          <a:bodyPr vert="horz" wrap="square" lIns="91440" tIns="45720" rIns="91440" bIns="45720" numCol="1" rtlCol="0" anchor="t" anchorCtr="0" compatLnSpc="1">
            <a:prstTxWarp prst="textNoShape">
              <a:avLst/>
            </a:prstTxWarp>
            <a:noAutofit/>
          </a:bodyPr>
          <a:lstStyle/>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При стабильной стенокардии III-IV ФК при отсутствии противопоказаний рекомендуется сразу назначить комбинацию БАБ с ДГП-БКК для достижения ФК I</a:t>
            </a:r>
          </a:p>
          <a:p>
            <a:pPr marL="179388" marR="0" lvl="0" indent="0" algn="l" defTabSz="914400" rtl="0" eaLnBrk="1" fontAlgn="auto" latinLnBrk="0" hangingPunct="1">
              <a:lnSpc>
                <a:spcPct val="100000"/>
              </a:lnSpc>
              <a:spcBef>
                <a:spcPts val="1200"/>
              </a:spcBef>
              <a:spcAft>
                <a:spcPts val="0"/>
              </a:spcAft>
              <a:buClrTx/>
              <a:buSzTx/>
              <a:buFontTx/>
              <a:buNone/>
              <a:tabLst/>
              <a:defRPr/>
            </a:pPr>
            <a:r>
              <a:rPr kumimoji="0" lang="nn-NO" sz="1600" b="0" i="1" u="none" strike="noStrike" kern="1200" cap="none" spc="0" normalizeH="0" baseline="0" noProof="0" dirty="0">
                <a:ln>
                  <a:noFill/>
                </a:ln>
                <a:solidFill>
                  <a:srgbClr val="2B3A42"/>
                </a:solidFill>
                <a:effectLst/>
                <a:uLnTx/>
                <a:uFillTx/>
                <a:latin typeface="Arial" panose="020B0604020202020204"/>
                <a:ea typeface="+mn-ea"/>
                <a:cs typeface="+mn-cs"/>
              </a:rPr>
              <a:t>EOK I C (УУР C, УДД 5)</a:t>
            </a:r>
            <a:endParaRPr kumimoji="0" lang="ru-RU" sz="1600" b="0" i="1" u="none" strike="noStrike" kern="1200" cap="none" spc="0" normalizeH="0" baseline="0" noProof="0" dirty="0">
              <a:ln>
                <a:noFill/>
              </a:ln>
              <a:solidFill>
                <a:srgbClr val="2B3A42"/>
              </a:solidFill>
              <a:effectLst/>
              <a:uLnTx/>
              <a:uFillTx/>
              <a:latin typeface="Arial" panose="020B0604020202020204"/>
              <a:ea typeface="+mn-ea"/>
              <a:cs typeface="+mn-cs"/>
            </a:endParaRPr>
          </a:p>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kumimoji="0" lang="da-DK" sz="16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10" name="Заголовок 7">
            <a:extLst>
              <a:ext uri="{FF2B5EF4-FFF2-40B4-BE49-F238E27FC236}">
                <a16:creationId xmlns:a16="http://schemas.microsoft.com/office/drawing/2014/main" id="{D4579F09-DA66-D358-F9E8-7D20B95D77AF}"/>
              </a:ext>
            </a:extLst>
          </p:cNvPr>
          <p:cNvSpPr txBox="1">
            <a:spLocks/>
          </p:cNvSpPr>
          <p:nvPr/>
        </p:nvSpPr>
        <p:spPr>
          <a:xfrm>
            <a:off x="911225" y="497766"/>
            <a:ext cx="101609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Клинические рекомендации МЗ РФ 2024</a:t>
            </a:r>
            <a:r>
              <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 Лечение, направленное на устранение симптомов заболевания</a:t>
            </a:r>
          </a:p>
        </p:txBody>
      </p:sp>
      <p:sp>
        <p:nvSpPr>
          <p:cNvPr id="11" name="Объект 8">
            <a:extLst>
              <a:ext uri="{FF2B5EF4-FFF2-40B4-BE49-F238E27FC236}">
                <a16:creationId xmlns:a16="http://schemas.microsoft.com/office/drawing/2014/main" id="{4C49300C-EE84-F24B-FBC4-2E19BD20B0B3}"/>
              </a:ext>
            </a:extLst>
          </p:cNvPr>
          <p:cNvSpPr txBox="1">
            <a:spLocks/>
          </p:cNvSpPr>
          <p:nvPr/>
        </p:nvSpPr>
        <p:spPr>
          <a:xfrm>
            <a:off x="652808" y="6290037"/>
            <a:ext cx="9441291" cy="365125"/>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Адаптировано из ссылки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Барбараш</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О. Л.,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соавт</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Стабильная ишемическая болезнь сердца. Клинические рекомендации 2024. Российский кардиологический журнал. 2024;29(9):6110.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doi</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10.15829/1560-4071-2024-6110. EDN HHJJUT</a:t>
            </a:r>
          </a:p>
        </p:txBody>
      </p:sp>
    </p:spTree>
    <p:extLst>
      <p:ext uri="{BB962C8B-B14F-4D97-AF65-F5344CB8AC3E}">
        <p14:creationId xmlns:p14="http://schemas.microsoft.com/office/powerpoint/2010/main" val="1574084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6240" y="388620"/>
            <a:ext cx="117348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ESC 2024: β-блокатор + </a:t>
            </a:r>
            <a:r>
              <a:rPr kumimoji="0" lang="ru-RU" sz="2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дигидропиридиновый</a:t>
            </a:r>
            <a:r>
              <a:rPr kumimoji="0" lang="ru-RU"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блокатор кальциевых каналов — комбинация выбора при недостаточном контроле стенокардии</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37360"/>
            <a:ext cx="11247120" cy="1463040"/>
          </a:xfrm>
          <a:prstGeom prst="rect">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017915"/>
            <a:ext cx="1069848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Calibri" pitchFamily="34" charset="-122"/>
                <a:cs typeface="Arial" panose="020B0604020202020204" pitchFamily="34" charset="0"/>
              </a:rPr>
              <a:t>Выбор антиангинального препарата определяется гемодинамическим профилем, коморбидностью, сопутствующей терапией и патофизиологией ишемии у конкретного пациента.</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hape 6"/>
          <p:cNvSpPr/>
          <p:nvPr/>
        </p:nvSpPr>
        <p:spPr>
          <a:xfrm>
            <a:off x="457200" y="3474720"/>
            <a:ext cx="5486400" cy="265176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3474720"/>
            <a:ext cx="91440" cy="2651760"/>
          </a:xfrm>
          <a:prstGeom prst="rect">
            <a:avLst/>
          </a:prstGeom>
          <a:solidFill>
            <a:srgbClr val="C810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3611880"/>
            <a:ext cx="5029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400" normalizeH="0" baseline="0" noProof="0" dirty="0">
                <a:ln>
                  <a:noFill/>
                </a:ln>
                <a:solidFill>
                  <a:srgbClr val="C8102E"/>
                </a:solidFill>
                <a:effectLst/>
                <a:uLnTx/>
                <a:uFillTx/>
                <a:latin typeface="Arial" panose="020B0604020202020204" pitchFamily="34" charset="0"/>
                <a:ea typeface="Calibri" pitchFamily="34" charset="-122"/>
                <a:cs typeface="Arial" panose="020B0604020202020204" pitchFamily="34" charset="0"/>
              </a:rPr>
              <a:t>Старт терапии</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 9"/>
          <p:cNvSpPr/>
          <p:nvPr/>
        </p:nvSpPr>
        <p:spPr>
          <a:xfrm>
            <a:off x="731520" y="4023360"/>
            <a:ext cx="50292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β-</a:t>
            </a:r>
            <a:r>
              <a:rPr kumimoji="0" lang="en-US" sz="1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блокатор</a:t>
            </a: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a:t>
            </a:r>
            <a:r>
              <a:rPr kumimoji="0" lang="ru-RU"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и/</a:t>
            </a:r>
            <a:r>
              <a:rPr kumimoji="0" lang="en-US" sz="1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или</a:t>
            </a: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блокатор </a:t>
            </a:r>
            <a:r>
              <a:rPr kumimoji="0" lang="en-US" sz="1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кальциевых</a:t>
            </a: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a:t>
            </a:r>
            <a:r>
              <a:rPr kumimoji="0" lang="en-US" sz="1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каналов</a:t>
            </a:r>
            <a:r>
              <a:rPr kumimoji="0" lang="ru-RU"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(БКК)</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4846320"/>
            <a:ext cx="50292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i="0" u="none" strike="noStrike" kern="1200" cap="none" spc="0" normalizeH="0" baseline="0" noProof="0" dirty="0">
                <a:ln>
                  <a:noFill/>
                </a:ln>
                <a:effectLst/>
                <a:uLnTx/>
                <a:uFillTx/>
                <a:latin typeface="Calibri" pitchFamily="34" charset="0"/>
                <a:ea typeface="Calibri" pitchFamily="34" charset="-122"/>
                <a:cs typeface="Calibri" pitchFamily="34" charset="-120"/>
              </a:rPr>
              <a:t>Стартовая терапия бета-блокаторами и/или БКК </a:t>
            </a:r>
            <a:r>
              <a:rPr kumimoji="0" lang="ru-RU" sz="18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для контроля ЧСС и симптомов рекомендуется большинству пациентов с ХКС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Класс </a:t>
            </a:r>
            <a: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t>I, </a:t>
            </a:r>
            <a:r>
              <a:rPr kumimoji="0" lang="ru-RU" sz="1400" b="0" i="1" u="none" strike="noStrike" kern="1200" cap="none" spc="0" normalizeH="0" baseline="0" noProof="0" dirty="0">
                <a:ln>
                  <a:noFill/>
                </a:ln>
                <a:solidFill>
                  <a:prstClr val="black"/>
                </a:solidFill>
                <a:effectLst/>
                <a:uLnTx/>
                <a:uFillTx/>
                <a:latin typeface="Calibri" panose="020F0502020204030204"/>
                <a:ea typeface="+mn-ea"/>
                <a:cs typeface="+mn-cs"/>
              </a:rPr>
              <a:t>Уровень</a:t>
            </a:r>
            <a:r>
              <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rPr>
              <a:t> B</a:t>
            </a:r>
          </a:p>
        </p:txBody>
      </p:sp>
      <p:sp>
        <p:nvSpPr>
          <p:cNvPr id="13" name="Shape 11"/>
          <p:cNvSpPr/>
          <p:nvPr/>
        </p:nvSpPr>
        <p:spPr>
          <a:xfrm>
            <a:off x="6217920" y="3474720"/>
            <a:ext cx="5486400" cy="265176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6217920" y="3474720"/>
            <a:ext cx="91440" cy="2651760"/>
          </a:xfrm>
          <a:prstGeom prst="rect">
            <a:avLst/>
          </a:prstGeom>
          <a:solidFill>
            <a:srgbClr val="2E7D4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6492240" y="3611880"/>
            <a:ext cx="5120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400" normalizeH="0" baseline="0" noProof="0" dirty="0">
                <a:ln>
                  <a:noFill/>
                </a:ln>
                <a:solidFill>
                  <a:srgbClr val="2E7D4F"/>
                </a:solidFill>
                <a:effectLst/>
                <a:uLnTx/>
                <a:uFillTx/>
                <a:latin typeface="Arial" panose="020B0604020202020204" pitchFamily="34" charset="0"/>
                <a:ea typeface="Calibri" pitchFamily="34" charset="-122"/>
                <a:cs typeface="Arial" panose="020B0604020202020204" pitchFamily="34" charset="0"/>
              </a:rPr>
              <a:t>При недостаточном контроле</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14"/>
          <p:cNvSpPr/>
          <p:nvPr/>
        </p:nvSpPr>
        <p:spPr>
          <a:xfrm>
            <a:off x="6492240" y="4738931"/>
            <a:ext cx="50292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Если симптомы стенокардии не удаётся эффективно контролировать </a:t>
            </a:r>
            <a:r>
              <a:rPr kumimoji="0" lang="ru-RU" sz="18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монотерапией</a:t>
            </a:r>
            <a:r>
              <a:rPr kumimoji="0" lang="ru-RU"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бета-блокатором или БКК, следует рассмотреть </a:t>
            </a:r>
            <a:r>
              <a:rPr kumimoji="0" lang="ru-RU" sz="1800" b="1" i="0" u="sng"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комбинацию бета-блокатора и </a:t>
            </a:r>
            <a:r>
              <a:rPr kumimoji="0" lang="ru-RU" sz="1800" b="1" i="0" u="sng"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дигидропиридинового</a:t>
            </a:r>
            <a:r>
              <a:rPr kumimoji="0" lang="ru-RU" sz="1800" b="1" i="0" u="sng"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БКК</a:t>
            </a:r>
            <a:r>
              <a:rPr kumimoji="0" lang="ru-RU"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если нет противопоказаний</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Класс </a:t>
            </a: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IIa, </a:t>
            </a:r>
            <a:r>
              <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rPr>
              <a:t>Уровень</a:t>
            </a: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 B</a:t>
            </a:r>
          </a:p>
        </p:txBody>
      </p:sp>
      <p:sp>
        <p:nvSpPr>
          <p:cNvPr id="18" name="Text 16"/>
          <p:cNvSpPr/>
          <p:nvPr/>
        </p:nvSpPr>
        <p:spPr>
          <a:xfrm>
            <a:off x="457200" y="6446520"/>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C6B7A"/>
                </a:solidFill>
                <a:effectLst/>
                <a:uLnTx/>
                <a:uFillTx/>
                <a:latin typeface="Calibri" pitchFamily="34" charset="0"/>
                <a:ea typeface="Calibri" pitchFamily="34" charset="-122"/>
                <a:cs typeface="Calibri" pitchFamily="34" charset="-120"/>
              </a:rPr>
              <a:t>Vrints C et al. 2024 ESC Guidelines for the management of chronic coronary syndromes. Eur Heart J 2024;45(36):3415–3537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1247120" y="6446520"/>
            <a:ext cx="7315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7A"/>
                </a:solidFill>
                <a:effectLst/>
                <a:uLnTx/>
                <a:uFillTx/>
                <a:latin typeface="Calibri" pitchFamily="34" charset="0"/>
                <a:ea typeface="Calibri" pitchFamily="34" charset="-122"/>
                <a:cs typeface="Calibri" pitchFamily="34" charset="-120"/>
              </a:rPr>
              <a:t>4 / 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40EB444E-CA6F-BD82-D228-2C0970569DBF}"/>
              </a:ext>
            </a:extLst>
          </p:cNvPr>
          <p:cNvSpPr/>
          <p:nvPr/>
        </p:nvSpPr>
        <p:spPr>
          <a:xfrm>
            <a:off x="272551" y="3617627"/>
            <a:ext cx="3312000" cy="2952000"/>
          </a:xfrm>
          <a:prstGeom prst="roundRect">
            <a:avLst>
              <a:gd name="adj" fmla="val 4635"/>
            </a:avLst>
          </a:prstGeom>
          <a:noFill/>
          <a:ln w="19050" cap="rnd" cmpd="sng" algn="ctr">
            <a:solidFill>
              <a:srgbClr val="00A3E0"/>
            </a:solidFill>
            <a:prstDash val="solid"/>
            <a:round/>
          </a:ln>
          <a:effectLst/>
        </p:spPr>
        <p:txBody>
          <a:bodyPr lIns="91440" tIns="45720" rIns="91440" rtlCol="0" anchor="ctr" anchorCtr="0"/>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a:ea typeface="+mn-ea"/>
                <a:cs typeface="+mn-cs"/>
              </a:rPr>
              <a:t>Мета-анализ, 90 РКИ</a:t>
            </a:r>
            <a:endParaRPr kumimoji="0" lang="en-US" sz="1600" b="1" i="0" u="none" strike="noStrike" kern="0" cap="none" spc="0" normalizeH="0" baseline="0" noProof="0" dirty="0">
              <a:ln>
                <a:noFill/>
              </a:ln>
              <a:solidFill>
                <a:srgbClr val="00A3E0"/>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Сравнени</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е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монотерапии</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β-блокаторами, нитратами и АК</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При физической нагрузке статистически значимых различий во времени до развития ишемии (депрессии сегмента ST на 1 мм) между антагонистами кальция и β-блокаторами не выявлено.</a:t>
            </a: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β-блокаторы реже отменялись из-за побочных эффектов, чем БКК* (OR 0,72; p&lt;0,001)</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14" name="Freeform: Shape 13">
            <a:extLst>
              <a:ext uri="{FF2B5EF4-FFF2-40B4-BE49-F238E27FC236}">
                <a16:creationId xmlns:a16="http://schemas.microsoft.com/office/drawing/2014/main" id="{E661F851-3C65-976D-61B1-57D85658ABF3}"/>
              </a:ext>
            </a:extLst>
          </p:cNvPr>
          <p:cNvSpPr/>
          <p:nvPr/>
        </p:nvSpPr>
        <p:spPr>
          <a:xfrm rot="16200000">
            <a:off x="1863648" y="3378496"/>
            <a:ext cx="1872000" cy="1944000"/>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A3E0"/>
          </a:solidFill>
          <a:ln w="12700" cap="flat" cmpd="sng" algn="ctr">
            <a:noFill/>
            <a:prstDash val="solid"/>
            <a:miter lim="800000"/>
          </a:ln>
          <a:effectLst/>
        </p:spPr>
        <p:txBody>
          <a:bodyPr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D03CD81B-1701-878D-5F9F-1292B7649FDB}"/>
              </a:ext>
            </a:extLst>
          </p:cNvPr>
          <p:cNvSpPr/>
          <p:nvPr/>
        </p:nvSpPr>
        <p:spPr>
          <a:xfrm>
            <a:off x="4028715" y="2376644"/>
            <a:ext cx="3996000" cy="2772000"/>
          </a:xfrm>
          <a:prstGeom prst="roundRect">
            <a:avLst>
              <a:gd name="adj" fmla="val 4635"/>
            </a:avLst>
          </a:prstGeom>
          <a:noFill/>
          <a:ln w="19050" cap="rnd" cmpd="sng" algn="ctr">
            <a:solidFill>
              <a:srgbClr val="005587"/>
            </a:solidFill>
            <a:prstDash val="solid"/>
            <a:round/>
          </a:ln>
          <a:effectLst/>
        </p:spPr>
        <p:txBody>
          <a:bodyPr lIns="91440" tIns="45720" rIns="91440" rtlCol="0" anchor="ctr" anchorCtr="0"/>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a:ea typeface="+mn-ea"/>
                <a:cs typeface="+mn-cs"/>
              </a:rPr>
              <a:t>Мета-анализ, 22 РКИ, двойные-слепые</a:t>
            </a:r>
            <a:endParaRPr kumimoji="0" lang="en-US" sz="1600" b="1" i="0" u="none" strike="noStrike" kern="0" cap="none" spc="0" normalizeH="0" baseline="0" noProof="0" dirty="0">
              <a:ln>
                <a:noFill/>
              </a:ln>
              <a:solidFill>
                <a:srgbClr val="005587"/>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1980–1999 годы,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монотерапия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a:t>
            </a:r>
            <a:r>
              <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vs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комбинация</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Комбинированная терапия увеличивала время до ишемии, длительность нагрузки и время до ангинозной боли по сравнению с </a:t>
            </a:r>
            <a:r>
              <a:rPr kumimoji="0" lang="ru-RU" sz="1400" b="1"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монотерапией</a:t>
            </a: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β-блокатором (+8%, +5% и +12%).</a:t>
            </a:r>
          </a:p>
        </p:txBody>
      </p:sp>
      <p:sp>
        <p:nvSpPr>
          <p:cNvPr id="16" name="Freeform: Shape 15">
            <a:extLst>
              <a:ext uri="{FF2B5EF4-FFF2-40B4-BE49-F238E27FC236}">
                <a16:creationId xmlns:a16="http://schemas.microsoft.com/office/drawing/2014/main" id="{35C680BB-CCE8-5DFF-04F1-297D4F62623E}"/>
              </a:ext>
            </a:extLst>
          </p:cNvPr>
          <p:cNvSpPr/>
          <p:nvPr/>
        </p:nvSpPr>
        <p:spPr>
          <a:xfrm rot="16200000">
            <a:off x="6335477" y="2129954"/>
            <a:ext cx="1858980" cy="1936492"/>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5587"/>
          </a:solidFill>
          <a:ln w="12700" cap="flat" cmpd="sng" algn="ctr">
            <a:noFill/>
            <a:prstDash val="solid"/>
            <a:miter lim="800000"/>
          </a:ln>
          <a:effectLst/>
        </p:spPr>
        <p:txBody>
          <a:bodyPr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CEB99FC6-B742-9A50-CFD2-290E69CC2040}"/>
              </a:ext>
            </a:extLst>
          </p:cNvPr>
          <p:cNvGrpSpPr/>
          <p:nvPr/>
        </p:nvGrpSpPr>
        <p:grpSpPr>
          <a:xfrm>
            <a:off x="8422634" y="1133605"/>
            <a:ext cx="3277097" cy="2705675"/>
            <a:chOff x="9241031" y="1706563"/>
            <a:chExt cx="2479069" cy="1941402"/>
          </a:xfrm>
        </p:grpSpPr>
        <p:sp>
          <p:nvSpPr>
            <p:cNvPr id="21" name="Rectangle: Rounded Corners 20">
              <a:extLst>
                <a:ext uri="{FF2B5EF4-FFF2-40B4-BE49-F238E27FC236}">
                  <a16:creationId xmlns:a16="http://schemas.microsoft.com/office/drawing/2014/main" id="{860F46A2-DB9F-7227-6BCB-81D18D3609FD}"/>
                </a:ext>
              </a:extLst>
            </p:cNvPr>
            <p:cNvSpPr/>
            <p:nvPr/>
          </p:nvSpPr>
          <p:spPr>
            <a:xfrm>
              <a:off x="9241031" y="1865621"/>
              <a:ext cx="2314838" cy="1782344"/>
            </a:xfrm>
            <a:prstGeom prst="roundRect">
              <a:avLst>
                <a:gd name="adj" fmla="val 4635"/>
              </a:avLst>
            </a:prstGeom>
            <a:noFill/>
            <a:ln w="19050" cap="rnd" cmpd="sng" algn="ctr">
              <a:solidFill>
                <a:srgbClr val="00BFB3"/>
              </a:solidFill>
              <a:prstDash val="solid"/>
              <a:round/>
            </a:ln>
            <a:effectLst/>
          </p:spPr>
          <p:txBody>
            <a:bodyPr lIns="91440" tIns="45720" rIns="91440" rtlCol="0" anchor="ctr" anchorCtr="0"/>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BFB3"/>
                  </a:solidFill>
                  <a:effectLst/>
                  <a:uLnTx/>
                  <a:uFillTx/>
                  <a:latin typeface="Arial" panose="020B0604020202020204"/>
                  <a:ea typeface="+mn-ea"/>
                  <a:cs typeface="+mn-cs"/>
                </a:rPr>
                <a:t>Мета-анализ, 46 РКИ, 3957 пациентов</a:t>
              </a:r>
              <a:endParaRPr kumimoji="0" lang="en-US" sz="1600" b="1" i="0" u="none" strike="noStrike" kern="0" cap="none" spc="0" normalizeH="0" baseline="0" noProof="0" dirty="0">
                <a:ln>
                  <a:noFill/>
                </a:ln>
                <a:solidFill>
                  <a:srgbClr val="00BFB3"/>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РКИ до сентября 2013 г.</a:t>
              </a: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−18%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Частота приступов стенокардии (p = 0,002)</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−23%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Нитраты «по требованию» (p = 0,01)</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+3,3% </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Общее время нагрузки (p &lt; 0,0001)</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22" name="Freeform: Shape 21">
              <a:extLst>
                <a:ext uri="{FF2B5EF4-FFF2-40B4-BE49-F238E27FC236}">
                  <a16:creationId xmlns:a16="http://schemas.microsoft.com/office/drawing/2014/main" id="{57C64347-A8EE-08E3-4AF1-6F36A954F71B}"/>
                </a:ext>
              </a:extLst>
            </p:cNvPr>
            <p:cNvSpPr/>
            <p:nvPr/>
          </p:nvSpPr>
          <p:spPr>
            <a:xfrm rot="16200000">
              <a:off x="10348500" y="1706563"/>
              <a:ext cx="1371600" cy="1371600"/>
            </a:xfrm>
            <a:custGeom>
              <a:avLst/>
              <a:gdLst>
                <a:gd name="connsiteX0" fmla="*/ 1371600 w 1371600"/>
                <a:gd name="connsiteY0" fmla="*/ 45720 h 1371600"/>
                <a:gd name="connsiteX1" fmla="*/ 1371600 w 1371600"/>
                <a:gd name="connsiteY1" fmla="*/ 1325880 h 1371600"/>
                <a:gd name="connsiteX2" fmla="*/ 1325880 w 1371600"/>
                <a:gd name="connsiteY2" fmla="*/ 1371600 h 1371600"/>
                <a:gd name="connsiteX3" fmla="*/ 45720 w 1371600"/>
                <a:gd name="connsiteY3" fmla="*/ 1371600 h 1371600"/>
                <a:gd name="connsiteX4" fmla="*/ 0 w 1371600"/>
                <a:gd name="connsiteY4" fmla="*/ 1325880 h 1371600"/>
                <a:gd name="connsiteX5" fmla="*/ 45720 w 1371600"/>
                <a:gd name="connsiteY5" fmla="*/ 1280160 h 1371600"/>
                <a:gd name="connsiteX6" fmla="*/ 1280160 w 1371600"/>
                <a:gd name="connsiteY6" fmla="*/ 1280160 h 1371600"/>
                <a:gd name="connsiteX7" fmla="*/ 1280160 w 1371600"/>
                <a:gd name="connsiteY7" fmla="*/ 45720 h 1371600"/>
                <a:gd name="connsiteX8" fmla="*/ 1325880 w 1371600"/>
                <a:gd name="connsiteY8" fmla="*/ 0 h 1371600"/>
                <a:gd name="connsiteX9" fmla="*/ 1371600 w 1371600"/>
                <a:gd name="connsiteY9" fmla="*/ 4572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1371600">
                  <a:moveTo>
                    <a:pt x="1371600" y="45720"/>
                  </a:moveTo>
                  <a:lnTo>
                    <a:pt x="1371600" y="1325880"/>
                  </a:lnTo>
                  <a:cubicBezTo>
                    <a:pt x="1371600" y="1351130"/>
                    <a:pt x="1351130" y="1371600"/>
                    <a:pt x="1325880" y="1371600"/>
                  </a:cubicBezTo>
                  <a:lnTo>
                    <a:pt x="45720" y="1371600"/>
                  </a:lnTo>
                  <a:cubicBezTo>
                    <a:pt x="20470" y="1371600"/>
                    <a:pt x="0" y="1351130"/>
                    <a:pt x="0" y="1325880"/>
                  </a:cubicBezTo>
                  <a:cubicBezTo>
                    <a:pt x="0" y="1300630"/>
                    <a:pt x="20470" y="1280160"/>
                    <a:pt x="45720" y="1280160"/>
                  </a:cubicBezTo>
                  <a:lnTo>
                    <a:pt x="1280160" y="1280160"/>
                  </a:lnTo>
                  <a:lnTo>
                    <a:pt x="1280160" y="45720"/>
                  </a:lnTo>
                  <a:cubicBezTo>
                    <a:pt x="1280160" y="20470"/>
                    <a:pt x="1300630" y="0"/>
                    <a:pt x="1325880" y="0"/>
                  </a:cubicBezTo>
                  <a:cubicBezTo>
                    <a:pt x="1351130" y="0"/>
                    <a:pt x="1371600" y="20470"/>
                    <a:pt x="1371600" y="45720"/>
                  </a:cubicBezTo>
                  <a:close/>
                </a:path>
              </a:pathLst>
            </a:custGeom>
            <a:solidFill>
              <a:srgbClr val="00BFB3"/>
            </a:solidFill>
            <a:ln w="12700" cap="flat" cmpd="sng" algn="ctr">
              <a:noFill/>
              <a:prstDash val="solid"/>
              <a:miter lim="800000"/>
            </a:ln>
            <a:effectLst/>
          </p:spPr>
          <p:txBody>
            <a:bodyPr wrap="squar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B5F1AAF2-1C07-D0E3-5CA4-2C4752F67535}"/>
              </a:ext>
            </a:extLst>
          </p:cNvPr>
          <p:cNvSpPr txBox="1"/>
          <p:nvPr/>
        </p:nvSpPr>
        <p:spPr>
          <a:xfrm>
            <a:off x="1719200" y="3035424"/>
            <a:ext cx="18089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1999</a:t>
            </a:r>
            <a:r>
              <a:rPr kumimoji="0" lang="ru-RU" sz="1800" b="1" i="0" u="none" strike="noStrike" kern="1200" cap="none" spc="0" normalizeH="0" baseline="30000" noProof="0" dirty="0">
                <a:ln>
                  <a:noFill/>
                </a:ln>
                <a:solidFill>
                  <a:srgbClr val="00A3E0"/>
                </a:solidFill>
                <a:effectLst/>
                <a:uLnTx/>
                <a:uFillTx/>
                <a:latin typeface="Arial" panose="020B0604020202020204" pitchFamily="34" charset="0"/>
                <a:ea typeface="+mn-ea"/>
                <a:cs typeface="Arial" panose="020B0604020202020204" pitchFamily="34" charset="0"/>
              </a:rPr>
              <a:t>1</a:t>
            </a:r>
          </a:p>
        </p:txBody>
      </p:sp>
      <p:sp>
        <p:nvSpPr>
          <p:cNvPr id="24" name="TextBox 23">
            <a:extLst>
              <a:ext uri="{FF2B5EF4-FFF2-40B4-BE49-F238E27FC236}">
                <a16:creationId xmlns:a16="http://schemas.microsoft.com/office/drawing/2014/main" id="{6FDB2C73-4873-EE50-F621-649397F7D6F2}"/>
              </a:ext>
            </a:extLst>
          </p:cNvPr>
          <p:cNvSpPr txBox="1"/>
          <p:nvPr/>
        </p:nvSpPr>
        <p:spPr>
          <a:xfrm>
            <a:off x="6199259" y="1788578"/>
            <a:ext cx="18089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2002</a:t>
            </a:r>
            <a:r>
              <a:rPr kumimoji="0" lang="ru-RU" sz="1800" b="1" i="0" u="none" strike="noStrike" kern="1200" cap="none" spc="0" normalizeH="0" baseline="30000" noProof="0" dirty="0">
                <a:ln>
                  <a:noFill/>
                </a:ln>
                <a:solidFill>
                  <a:srgbClr val="005587"/>
                </a:solidFill>
                <a:effectLst/>
                <a:uLnTx/>
                <a:uFillTx/>
                <a:latin typeface="Arial" panose="020B0604020202020204" pitchFamily="34" charset="0"/>
                <a:ea typeface="+mn-ea"/>
                <a:cs typeface="Arial" panose="020B0604020202020204" pitchFamily="34" charset="0"/>
              </a:rPr>
              <a:t>2</a:t>
            </a:r>
          </a:p>
        </p:txBody>
      </p:sp>
      <p:sp>
        <p:nvSpPr>
          <p:cNvPr id="25" name="TextBox 24">
            <a:extLst>
              <a:ext uri="{FF2B5EF4-FFF2-40B4-BE49-F238E27FC236}">
                <a16:creationId xmlns:a16="http://schemas.microsoft.com/office/drawing/2014/main" id="{DE54AF30-D1D8-0559-CA00-C7AC40A86A5A}"/>
              </a:ext>
            </a:extLst>
          </p:cNvPr>
          <p:cNvSpPr txBox="1"/>
          <p:nvPr/>
        </p:nvSpPr>
        <p:spPr>
          <a:xfrm>
            <a:off x="9787613" y="746743"/>
            <a:ext cx="18089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2015</a:t>
            </a:r>
            <a:r>
              <a:rPr kumimoji="0" lang="ru-RU" sz="1800" b="1" i="0" u="none" strike="noStrike" kern="1200" cap="none" spc="0" normalizeH="0" baseline="30000" noProof="0" dirty="0">
                <a:ln>
                  <a:noFill/>
                </a:ln>
                <a:solidFill>
                  <a:srgbClr val="00BFB3"/>
                </a:solidFill>
                <a:effectLst/>
                <a:uLnTx/>
                <a:uFillTx/>
                <a:latin typeface="Arial" panose="020B0604020202020204" pitchFamily="34" charset="0"/>
                <a:ea typeface="+mn-ea"/>
                <a:cs typeface="Arial" panose="020B0604020202020204" pitchFamily="34" charset="0"/>
              </a:rPr>
              <a:t>3</a:t>
            </a:r>
          </a:p>
        </p:txBody>
      </p:sp>
      <p:sp>
        <p:nvSpPr>
          <p:cNvPr id="4" name="Title 1">
            <a:extLst>
              <a:ext uri="{FF2B5EF4-FFF2-40B4-BE49-F238E27FC236}">
                <a16:creationId xmlns:a16="http://schemas.microsoft.com/office/drawing/2014/main" id="{85C7F0E6-7F7C-5E3F-8FE5-32D4A87F6988}"/>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Комбинация БАБ и </a:t>
            </a: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дигидропиридиновых</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БКК в лечении стенокардии - подтверждённая стратегия</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12" name="Group 11">
            <a:extLst>
              <a:ext uri="{FF2B5EF4-FFF2-40B4-BE49-F238E27FC236}">
                <a16:creationId xmlns:a16="http://schemas.microsoft.com/office/drawing/2014/main" id="{53E62997-DE59-85B4-73F3-5231662D9EE6}"/>
              </a:ext>
            </a:extLst>
          </p:cNvPr>
          <p:cNvGrpSpPr/>
          <p:nvPr/>
        </p:nvGrpSpPr>
        <p:grpSpPr>
          <a:xfrm>
            <a:off x="8859451" y="4134525"/>
            <a:ext cx="2634777" cy="2303941"/>
            <a:chOff x="8346869" y="3776938"/>
            <a:chExt cx="2634777" cy="2989619"/>
          </a:xfrm>
        </p:grpSpPr>
        <p:sp>
          <p:nvSpPr>
            <p:cNvPr id="7" name="Rounded Rectangle 32">
              <a:extLst>
                <a:ext uri="{FF2B5EF4-FFF2-40B4-BE49-F238E27FC236}">
                  <a16:creationId xmlns:a16="http://schemas.microsoft.com/office/drawing/2014/main" id="{A85FCF35-3EEC-BD62-738D-8A33E57DB745}"/>
                </a:ext>
              </a:extLst>
            </p:cNvPr>
            <p:cNvSpPr/>
            <p:nvPr/>
          </p:nvSpPr>
          <p:spPr>
            <a:xfrm>
              <a:off x="8587865" y="4047885"/>
              <a:ext cx="2393781" cy="2710052"/>
            </a:xfrm>
            <a:prstGeom prst="roundRect">
              <a:avLst>
                <a:gd name="adj" fmla="val 2356"/>
              </a:avLst>
            </a:prstGeom>
            <a:noFill/>
            <a:ln w="38100" cap="flat" cmpd="sng" algn="ctr">
              <a:solidFill>
                <a:srgbClr val="00BFB3"/>
              </a:solidFill>
              <a:prstDash val="solid"/>
              <a:miter lim="800000"/>
            </a:ln>
            <a:effectLst/>
          </p:spPr>
          <p:txBody>
            <a:bodyPr rtlCol="0" anchor="t" anchorCtr="0"/>
            <a:lstStyle/>
            <a:p>
              <a:pPr marL="0" marR="0" lvl="0" indent="0" algn="l" defTabSz="1304483"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err="1">
                <a:ln>
                  <a:noFill/>
                </a:ln>
                <a:solidFill>
                  <a:prstClr val="white"/>
                </a:solidFill>
                <a:effectLst/>
                <a:uLnTx/>
                <a:uFillTx/>
                <a:latin typeface="Arial"/>
                <a:ea typeface="+mn-ea"/>
                <a:cs typeface="+mn-cs"/>
              </a:endParaRPr>
            </a:p>
          </p:txBody>
        </p:sp>
        <p:sp>
          <p:nvSpPr>
            <p:cNvPr id="8" name="Rectangle 7">
              <a:extLst>
                <a:ext uri="{FF2B5EF4-FFF2-40B4-BE49-F238E27FC236}">
                  <a16:creationId xmlns:a16="http://schemas.microsoft.com/office/drawing/2014/main" id="{E405DDBA-6725-AA86-FF38-1A78DBD08E77}"/>
                </a:ext>
              </a:extLst>
            </p:cNvPr>
            <p:cNvSpPr/>
            <p:nvPr/>
          </p:nvSpPr>
          <p:spPr>
            <a:xfrm>
              <a:off x="8625392" y="4038490"/>
              <a:ext cx="2336549" cy="2080266"/>
            </a:xfrm>
            <a:prstGeom prst="rect">
              <a:avLst/>
            </a:prstGeom>
          </p:spPr>
          <p:txBody>
            <a:bodyPr wrap="square" lIns="144000" tIns="0" rIns="144000" bIns="0" anchor="ctr">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ru-RU" sz="1200" b="0" i="0" u="none" strike="noStrike" kern="1200" cap="none" spc="0" normalizeH="0" baseline="0" noProof="0" dirty="0">
                  <a:ln>
                    <a:noFill/>
                  </a:ln>
                  <a:solidFill>
                    <a:srgbClr val="00BFB3"/>
                  </a:solidFill>
                  <a:effectLst/>
                  <a:uLnTx/>
                  <a:uFillTx/>
                  <a:latin typeface="Arial" panose="020B0604020202020204"/>
                  <a:ea typeface="+mn-ea"/>
                  <a:cs typeface="+mn-cs"/>
                </a:rPr>
                <a:t>При стабильной стенокардии III-IV ФК при отсутствии противопоказаний рекомендуется сразу назначить комбинацию БАБ с ДГП-БКК для достижения ФК I.</a:t>
              </a:r>
            </a:p>
          </p:txBody>
        </p:sp>
        <p:sp>
          <p:nvSpPr>
            <p:cNvPr id="9" name="Round Same Side Corner Rectangle 44">
              <a:extLst>
                <a:ext uri="{FF2B5EF4-FFF2-40B4-BE49-F238E27FC236}">
                  <a16:creationId xmlns:a16="http://schemas.microsoft.com/office/drawing/2014/main" id="{175F95E3-ECAE-1142-F3BE-FE666950F909}"/>
                </a:ext>
              </a:extLst>
            </p:cNvPr>
            <p:cNvSpPr/>
            <p:nvPr/>
          </p:nvSpPr>
          <p:spPr>
            <a:xfrm>
              <a:off x="8577730" y="6118756"/>
              <a:ext cx="2403916" cy="647801"/>
            </a:xfrm>
            <a:prstGeom prst="round2SameRect">
              <a:avLst>
                <a:gd name="adj1" fmla="val 0"/>
                <a:gd name="adj2" fmla="val 12074"/>
              </a:avLst>
            </a:prstGeom>
            <a:solidFill>
              <a:srgbClr val="00BFB3"/>
            </a:solidFill>
          </p:spPr>
          <p:txBody>
            <a:bodyPr wrap="square" lIns="144000" tIns="72000" rIns="108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0" cap="none" spc="0" normalizeH="0" baseline="0" noProof="0" dirty="0">
                  <a:ln>
                    <a:noFill/>
                  </a:ln>
                  <a:solidFill>
                    <a:srgbClr val="FFFFFF"/>
                  </a:solidFill>
                  <a:effectLst/>
                  <a:uLnTx/>
                  <a:uFillTx/>
                  <a:latin typeface="Arial" panose="020B0604020202020204"/>
                  <a:ea typeface="+mn-ea"/>
                  <a:cs typeface="+mn-cs"/>
                </a:rPr>
                <a:t>Клинические рекомендации МЗ РФ 2024 Стабильная ИБС</a:t>
              </a:r>
              <a:endParaRPr kumimoji="0" lang="en-US" sz="12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4315FBA4-F8C3-3725-F14C-A8F67FF0AB20}"/>
                </a:ext>
              </a:extLst>
            </p:cNvPr>
            <p:cNvSpPr/>
            <p:nvPr/>
          </p:nvSpPr>
          <p:spPr>
            <a:xfrm>
              <a:off x="8369229" y="4004853"/>
              <a:ext cx="650189" cy="457763"/>
            </a:xfrm>
            <a:prstGeom prst="rect">
              <a:avLst/>
            </a:prstGeom>
            <a:solidFill>
              <a:srgbClr val="FFFFFF"/>
            </a:solidFill>
            <a:ln w="12700" cap="flat" cmpd="sng" algn="ctr">
              <a:noFill/>
              <a:prstDash val="solid"/>
              <a:miter lim="800000"/>
            </a:ln>
            <a:effectLst/>
          </p:spPr>
          <p:txBody>
            <a:bodyPr rtlCol="0" anchor="t" anchorCtr="0"/>
            <a:lstStyle/>
            <a:p>
              <a:pPr marL="0" marR="0" lvl="0" indent="0" algn="l" defTabSz="1304483"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err="1">
                <a:ln>
                  <a:noFill/>
                </a:ln>
                <a:solidFill>
                  <a:prstClr val="white"/>
                </a:solidFill>
                <a:effectLst/>
                <a:uLnTx/>
                <a:uFillTx/>
                <a:latin typeface="Arial"/>
                <a:ea typeface="+mn-ea"/>
                <a:cs typeface="+mn-cs"/>
              </a:endParaRPr>
            </a:p>
          </p:txBody>
        </p:sp>
        <p:pic>
          <p:nvPicPr>
            <p:cNvPr id="10" name="Graphic 9">
              <a:extLst>
                <a:ext uri="{FF2B5EF4-FFF2-40B4-BE49-F238E27FC236}">
                  <a16:creationId xmlns:a16="http://schemas.microsoft.com/office/drawing/2014/main" id="{1723AF6D-6048-6D80-AD54-56A78CE316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46869" y="3776938"/>
              <a:ext cx="642991" cy="642991"/>
            </a:xfrm>
            <a:prstGeom prst="rect">
              <a:avLst/>
            </a:prstGeom>
          </p:spPr>
        </p:pic>
      </p:grpSp>
      <p:sp>
        <p:nvSpPr>
          <p:cNvPr id="18" name="TextBox 17">
            <a:extLst>
              <a:ext uri="{FF2B5EF4-FFF2-40B4-BE49-F238E27FC236}">
                <a16:creationId xmlns:a16="http://schemas.microsoft.com/office/drawing/2014/main" id="{881D1700-D6E2-F941-4DF5-236672736FA9}"/>
              </a:ext>
            </a:extLst>
          </p:cNvPr>
          <p:cNvSpPr txBox="1"/>
          <p:nvPr/>
        </p:nvSpPr>
        <p:spPr>
          <a:xfrm>
            <a:off x="3693473" y="6338794"/>
            <a:ext cx="609414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¹ Heidenreich PA et al. JAMA 1999;281:1927–1936. DOI: 10.1001/jama.281.20.1927</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² Klein WW, Jackson G,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Tavazzi</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 Coron Artery Dis 2002;13:427–436. DOI: 10.1097/00019501-200212000-00008</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³ Belsey J et al.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J Prev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Cardiol</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2015;22:837–848. DOI: 10.1177/2047487314533217</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5F2CBA57-F2F9-7A7F-389C-AF097C2AE6ED}"/>
              </a:ext>
            </a:extLst>
          </p:cNvPr>
          <p:cNvSpPr txBox="1"/>
          <p:nvPr/>
        </p:nvSpPr>
        <p:spPr>
          <a:xfrm>
            <a:off x="246313" y="6600231"/>
            <a:ext cx="2220812"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*БКК – блокаторы кальциевых каналов</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6803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9358-DBE6-F80D-45CA-E1EFF5D7D0AA}"/>
              </a:ext>
            </a:extLst>
          </p:cNvPr>
          <p:cNvSpPr txBox="1">
            <a:spLocks/>
          </p:cNvSpPr>
          <p:nvPr/>
        </p:nvSpPr>
        <p:spPr>
          <a:xfrm>
            <a:off x="426720" y="627349"/>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ESC 2024: прямая рекомендация для фиксированной комбинации у пациента с хроническими коронарными синдромами (ХКС)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3" name="Graphic 15">
            <a:extLst>
              <a:ext uri="{FF2B5EF4-FFF2-40B4-BE49-F238E27FC236}">
                <a16:creationId xmlns:a16="http://schemas.microsoft.com/office/drawing/2014/main" id="{00D8B619-0308-3ED1-5A76-99519F81CFD7}"/>
              </a:ext>
            </a:extLst>
          </p:cNvPr>
          <p:cNvGrpSpPr/>
          <p:nvPr/>
        </p:nvGrpSpPr>
        <p:grpSpPr>
          <a:xfrm>
            <a:off x="3610646" y="1823299"/>
            <a:ext cx="4462463" cy="4067288"/>
            <a:chOff x="3728085" y="1689949"/>
            <a:chExt cx="4462463" cy="4067288"/>
          </a:xfrm>
        </p:grpSpPr>
        <p:sp>
          <p:nvSpPr>
            <p:cNvPr id="4" name="Freeform: Shape 3">
              <a:extLst>
                <a:ext uri="{FF2B5EF4-FFF2-40B4-BE49-F238E27FC236}">
                  <a16:creationId xmlns:a16="http://schemas.microsoft.com/office/drawing/2014/main" id="{6F2EDE9B-317A-30FA-2833-9EFE14382710}"/>
                </a:ext>
              </a:extLst>
            </p:cNvPr>
            <p:cNvSpPr/>
            <p:nvPr/>
          </p:nvSpPr>
          <p:spPr>
            <a:xfrm>
              <a:off x="3728085" y="1689949"/>
              <a:ext cx="9525" cy="9525"/>
            </a:xfrm>
            <a:custGeom>
              <a:avLst/>
              <a:gdLst/>
              <a:ahLst/>
              <a:cxnLst/>
              <a:rect l="l" t="t" r="r" b="b"/>
              <a:pathLst>
                <a:path/>
              </a:pathLst>
            </a:custGeom>
            <a:noFill/>
            <a:ln w="28575" cap="rnd">
              <a:solidFill>
                <a:srgbClr val="000000"/>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5" name="Freeform: Shape 4">
              <a:extLst>
                <a:ext uri="{FF2B5EF4-FFF2-40B4-BE49-F238E27FC236}">
                  <a16:creationId xmlns:a16="http://schemas.microsoft.com/office/drawing/2014/main" id="{01ED2183-9E96-0454-4327-BD37395A6082}"/>
                </a:ext>
              </a:extLst>
            </p:cNvPr>
            <p:cNvSpPr/>
            <p:nvPr/>
          </p:nvSpPr>
          <p:spPr>
            <a:xfrm>
              <a:off x="3742632" y="2965346"/>
              <a:ext cx="1609725" cy="2790825"/>
            </a:xfrm>
            <a:custGeom>
              <a:avLst/>
              <a:gdLst>
                <a:gd name="connsiteX0" fmla="*/ 1355148 w 1609725"/>
                <a:gd name="connsiteY0" fmla="*/ 1410653 h 2790825"/>
                <a:gd name="connsiteX1" fmla="*/ 385503 w 1609725"/>
                <a:gd name="connsiteY1" fmla="*/ 1309688 h 2790825"/>
                <a:gd name="connsiteX2" fmla="*/ 117850 w 1609725"/>
                <a:gd name="connsiteY2" fmla="*/ 2414588 h 2790825"/>
                <a:gd name="connsiteX3" fmla="*/ 1222750 w 1609725"/>
                <a:gd name="connsiteY3" fmla="*/ 2682240 h 2790825"/>
                <a:gd name="connsiteX4" fmla="*/ 1538028 w 1609725"/>
                <a:gd name="connsiteY4" fmla="*/ 2324100 h 2790825"/>
                <a:gd name="connsiteX5" fmla="*/ 1501833 w 1609725"/>
                <a:gd name="connsiteY5" fmla="*/ 1355408 h 2790825"/>
                <a:gd name="connsiteX6" fmla="*/ 1224656 w 1609725"/>
                <a:gd name="connsiteY6" fmla="*/ 0 h 279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25" h="2790825">
                  <a:moveTo>
                    <a:pt x="1355148" y="1410653"/>
                  </a:moveTo>
                  <a:cubicBezTo>
                    <a:pt x="1097973" y="1167765"/>
                    <a:pt x="701733" y="1116330"/>
                    <a:pt x="385503" y="1309688"/>
                  </a:cubicBezTo>
                  <a:cubicBezTo>
                    <a:pt x="6408" y="1541145"/>
                    <a:pt x="-113607" y="2035493"/>
                    <a:pt x="117850" y="2414588"/>
                  </a:cubicBezTo>
                  <a:cubicBezTo>
                    <a:pt x="349308" y="2793683"/>
                    <a:pt x="843655" y="2913698"/>
                    <a:pt x="1222750" y="2682240"/>
                  </a:cubicBezTo>
                  <a:cubicBezTo>
                    <a:pt x="1367531" y="2594610"/>
                    <a:pt x="1474211" y="2467928"/>
                    <a:pt x="1538028" y="2324100"/>
                  </a:cubicBezTo>
                  <a:cubicBezTo>
                    <a:pt x="1538028" y="2324100"/>
                    <a:pt x="1728528" y="1971675"/>
                    <a:pt x="1501833" y="1355408"/>
                  </a:cubicBezTo>
                  <a:cubicBezTo>
                    <a:pt x="1269423" y="726758"/>
                    <a:pt x="1204653" y="79058"/>
                    <a:pt x="1224656" y="0"/>
                  </a:cubicBezTo>
                </a:path>
              </a:pathLst>
            </a:custGeom>
            <a:noFill/>
            <a:ln w="28575" cap="rnd">
              <a:solidFill>
                <a:srgbClr val="43B02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983C1504-C291-FD56-9681-50D1DBD0E94B}"/>
                </a:ext>
              </a:extLst>
            </p:cNvPr>
            <p:cNvSpPr/>
            <p:nvPr/>
          </p:nvSpPr>
          <p:spPr>
            <a:xfrm>
              <a:off x="4876258" y="2853164"/>
              <a:ext cx="161925" cy="152400"/>
            </a:xfrm>
            <a:custGeom>
              <a:avLst/>
              <a:gdLst>
                <a:gd name="connsiteX0" fmla="*/ 83410 w 161925"/>
                <a:gd name="connsiteY0" fmla="*/ 4550 h 152400"/>
                <a:gd name="connsiteX1" fmla="*/ 1495 w 161925"/>
                <a:gd name="connsiteY1" fmla="*/ 132185 h 152400"/>
                <a:gd name="connsiteX2" fmla="*/ 9115 w 161925"/>
                <a:gd name="connsiteY2" fmla="*/ 147425 h 152400"/>
                <a:gd name="connsiteX3" fmla="*/ 160562 w 161925"/>
                <a:gd name="connsiteY3" fmla="*/ 155045 h 152400"/>
                <a:gd name="connsiteX4" fmla="*/ 170087 w 161925"/>
                <a:gd name="connsiteY4" fmla="*/ 140757 h 152400"/>
                <a:gd name="connsiteX5" fmla="*/ 100555 w 161925"/>
                <a:gd name="connsiteY5" fmla="*/ 5502 h 152400"/>
                <a:gd name="connsiteX6" fmla="*/ 83410 w 161925"/>
                <a:gd name="connsiteY6" fmla="*/ 45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83410" y="4550"/>
                  </a:moveTo>
                  <a:lnTo>
                    <a:pt x="1495" y="132185"/>
                  </a:lnTo>
                  <a:cubicBezTo>
                    <a:pt x="-2315" y="138852"/>
                    <a:pt x="1495" y="147425"/>
                    <a:pt x="9115" y="147425"/>
                  </a:cubicBezTo>
                  <a:lnTo>
                    <a:pt x="160562" y="155045"/>
                  </a:lnTo>
                  <a:cubicBezTo>
                    <a:pt x="168182" y="155045"/>
                    <a:pt x="172945" y="147425"/>
                    <a:pt x="170087" y="140757"/>
                  </a:cubicBezTo>
                  <a:lnTo>
                    <a:pt x="100555" y="5502"/>
                  </a:lnTo>
                  <a:cubicBezTo>
                    <a:pt x="97697" y="-1165"/>
                    <a:pt x="88172" y="-2118"/>
                    <a:pt x="83410" y="4550"/>
                  </a:cubicBezTo>
                  <a:close/>
                </a:path>
              </a:pathLst>
            </a:custGeom>
            <a:solidFill>
              <a:srgbClr val="43B02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7" name="Freeform: Shape 6">
              <a:extLst>
                <a:ext uri="{FF2B5EF4-FFF2-40B4-BE49-F238E27FC236}">
                  <a16:creationId xmlns:a16="http://schemas.microsoft.com/office/drawing/2014/main" id="{48BB7ACA-D9BD-AEA0-4304-59B1A9EE81DB}"/>
                </a:ext>
              </a:extLst>
            </p:cNvPr>
            <p:cNvSpPr/>
            <p:nvPr/>
          </p:nvSpPr>
          <p:spPr>
            <a:xfrm>
              <a:off x="5151067" y="1705142"/>
              <a:ext cx="2266950" cy="2219325"/>
            </a:xfrm>
            <a:custGeom>
              <a:avLst/>
              <a:gdLst>
                <a:gd name="connsiteX0" fmla="*/ 1005893 w 2266950"/>
                <a:gd name="connsiteY0" fmla="*/ 1581198 h 2219325"/>
                <a:gd name="connsiteX1" fmla="*/ 1606921 w 2266950"/>
                <a:gd name="connsiteY1" fmla="*/ 813482 h 2219325"/>
                <a:gd name="connsiteX2" fmla="*/ 813488 w 2266950"/>
                <a:gd name="connsiteY2" fmla="*/ 47 h 2219325"/>
                <a:gd name="connsiteX3" fmla="*/ 53 w 2266950"/>
                <a:gd name="connsiteY3" fmla="*/ 793480 h 2219325"/>
                <a:gd name="connsiteX4" fmla="*/ 135308 w 2266950"/>
                <a:gd name="connsiteY4" fmla="*/ 1250680 h 2219325"/>
                <a:gd name="connsiteX5" fmla="*/ 975413 w 2266950"/>
                <a:gd name="connsiteY5" fmla="*/ 1734550 h 2219325"/>
                <a:gd name="connsiteX6" fmla="*/ 2271766 w 2266950"/>
                <a:gd name="connsiteY6" fmla="*/ 2219373 h 221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6950" h="2219325">
                  <a:moveTo>
                    <a:pt x="1005893" y="1581198"/>
                  </a:moveTo>
                  <a:cubicBezTo>
                    <a:pt x="1347841" y="1492615"/>
                    <a:pt x="1602158" y="1184005"/>
                    <a:pt x="1606921" y="813482"/>
                  </a:cubicBezTo>
                  <a:cubicBezTo>
                    <a:pt x="1612636" y="369617"/>
                    <a:pt x="1257353" y="4810"/>
                    <a:pt x="813488" y="47"/>
                  </a:cubicBezTo>
                  <a:cubicBezTo>
                    <a:pt x="369623" y="-4715"/>
                    <a:pt x="4816" y="349615"/>
                    <a:pt x="53" y="793480"/>
                  </a:cubicBezTo>
                  <a:cubicBezTo>
                    <a:pt x="-1852" y="962072"/>
                    <a:pt x="47678" y="1120187"/>
                    <a:pt x="135308" y="1250680"/>
                  </a:cubicBezTo>
                  <a:cubicBezTo>
                    <a:pt x="135308" y="1250680"/>
                    <a:pt x="332476" y="1599295"/>
                    <a:pt x="975413" y="1734550"/>
                  </a:cubicBezTo>
                  <a:cubicBezTo>
                    <a:pt x="1631686" y="1872662"/>
                    <a:pt x="2214616" y="2161270"/>
                    <a:pt x="2271766" y="2219373"/>
                  </a:cubicBezTo>
                </a:path>
              </a:pathLst>
            </a:custGeom>
            <a:noFill/>
            <a:ln w="28575" cap="rnd">
              <a:solidFill>
                <a:srgbClr val="005587"/>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8" name="Freeform: Shape 7">
              <a:extLst>
                <a:ext uri="{FF2B5EF4-FFF2-40B4-BE49-F238E27FC236}">
                  <a16:creationId xmlns:a16="http://schemas.microsoft.com/office/drawing/2014/main" id="{FEE0EB75-A779-31C7-3F81-3A5BE8090E61}"/>
                </a:ext>
              </a:extLst>
            </p:cNvPr>
            <p:cNvSpPr/>
            <p:nvPr/>
          </p:nvSpPr>
          <p:spPr>
            <a:xfrm>
              <a:off x="7345678" y="3833131"/>
              <a:ext cx="161925" cy="152400"/>
            </a:xfrm>
            <a:custGeom>
              <a:avLst/>
              <a:gdLst>
                <a:gd name="connsiteX0" fmla="*/ 170499 w 161925"/>
                <a:gd name="connsiteY0" fmla="*/ 142818 h 152400"/>
                <a:gd name="connsiteX1" fmla="*/ 105729 w 161925"/>
                <a:gd name="connsiteY1" fmla="*/ 5658 h 152400"/>
                <a:gd name="connsiteX2" fmla="*/ 88584 w 161925"/>
                <a:gd name="connsiteY2" fmla="*/ 3753 h 152400"/>
                <a:gd name="connsiteX3" fmla="*/ 1907 w 161925"/>
                <a:gd name="connsiteY3" fmla="*/ 128530 h 152400"/>
                <a:gd name="connsiteX4" fmla="*/ 9527 w 161925"/>
                <a:gd name="connsiteY4" fmla="*/ 143770 h 152400"/>
                <a:gd name="connsiteX5" fmla="*/ 160974 w 161925"/>
                <a:gd name="connsiteY5" fmla="*/ 156153 h 152400"/>
                <a:gd name="connsiteX6" fmla="*/ 170499 w 161925"/>
                <a:gd name="connsiteY6" fmla="*/ 142818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170499" y="142818"/>
                  </a:moveTo>
                  <a:lnTo>
                    <a:pt x="105729" y="5658"/>
                  </a:lnTo>
                  <a:cubicBezTo>
                    <a:pt x="102872" y="-1010"/>
                    <a:pt x="93347" y="-1962"/>
                    <a:pt x="88584" y="3753"/>
                  </a:cubicBezTo>
                  <a:lnTo>
                    <a:pt x="1907" y="128530"/>
                  </a:lnTo>
                  <a:cubicBezTo>
                    <a:pt x="-2856" y="135198"/>
                    <a:pt x="1907" y="143770"/>
                    <a:pt x="9527" y="143770"/>
                  </a:cubicBezTo>
                  <a:lnTo>
                    <a:pt x="160974" y="156153"/>
                  </a:lnTo>
                  <a:cubicBezTo>
                    <a:pt x="168594" y="158058"/>
                    <a:pt x="173357" y="149485"/>
                    <a:pt x="170499" y="142818"/>
                  </a:cubicBezTo>
                  <a:close/>
                </a:path>
              </a:pathLst>
            </a:custGeom>
            <a:solidFill>
              <a:srgbClr val="00558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9" name="Freeform: Shape 8">
              <a:extLst>
                <a:ext uri="{FF2B5EF4-FFF2-40B4-BE49-F238E27FC236}">
                  <a16:creationId xmlns:a16="http://schemas.microsoft.com/office/drawing/2014/main" id="{9E4C2A44-CE4B-FC33-41F4-6CB68C486471}"/>
                </a:ext>
              </a:extLst>
            </p:cNvPr>
            <p:cNvSpPr/>
            <p:nvPr/>
          </p:nvSpPr>
          <p:spPr>
            <a:xfrm>
              <a:off x="5428298" y="4157037"/>
              <a:ext cx="2762250" cy="1600200"/>
            </a:xfrm>
            <a:custGeom>
              <a:avLst/>
              <a:gdLst>
                <a:gd name="connsiteX0" fmla="*/ 1185863 w 2762250"/>
                <a:gd name="connsiteY0" fmla="*/ 590437 h 1600200"/>
                <a:gd name="connsiteX1" fmla="*/ 1549718 w 2762250"/>
                <a:gd name="connsiteY1" fmla="*/ 1495312 h 1600200"/>
                <a:gd name="connsiteX2" fmla="*/ 2651760 w 2762250"/>
                <a:gd name="connsiteY2" fmla="*/ 1215277 h 1600200"/>
                <a:gd name="connsiteX3" fmla="*/ 2371725 w 2762250"/>
                <a:gd name="connsiteY3" fmla="*/ 113235 h 1600200"/>
                <a:gd name="connsiteX4" fmla="*/ 1907857 w 2762250"/>
                <a:gd name="connsiteY4" fmla="*/ 1792 h 1600200"/>
                <a:gd name="connsiteX5" fmla="*/ 1068705 w 2762250"/>
                <a:gd name="connsiteY5" fmla="*/ 487567 h 1600200"/>
                <a:gd name="connsiteX6" fmla="*/ 0 w 2762250"/>
                <a:gd name="connsiteY6" fmla="*/ 1367677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62250" h="1600200">
                  <a:moveTo>
                    <a:pt x="1185863" y="590437"/>
                  </a:moveTo>
                  <a:cubicBezTo>
                    <a:pt x="1091565" y="931432"/>
                    <a:pt x="1231582" y="1305765"/>
                    <a:pt x="1549718" y="1495312"/>
                  </a:cubicBezTo>
                  <a:cubicBezTo>
                    <a:pt x="1931670" y="1722007"/>
                    <a:pt x="2424113" y="1597230"/>
                    <a:pt x="2651760" y="1215277"/>
                  </a:cubicBezTo>
                  <a:cubicBezTo>
                    <a:pt x="2878455" y="833325"/>
                    <a:pt x="2753678" y="340882"/>
                    <a:pt x="2371725" y="113235"/>
                  </a:cubicBezTo>
                  <a:cubicBezTo>
                    <a:pt x="2225993" y="26557"/>
                    <a:pt x="2065020" y="-8685"/>
                    <a:pt x="1907857" y="1792"/>
                  </a:cubicBezTo>
                  <a:cubicBezTo>
                    <a:pt x="1907857" y="1792"/>
                    <a:pt x="1506855" y="-2018"/>
                    <a:pt x="1068705" y="487567"/>
                  </a:cubicBezTo>
                  <a:cubicBezTo>
                    <a:pt x="621030" y="986677"/>
                    <a:pt x="80010" y="1346722"/>
                    <a:pt x="0" y="1367677"/>
                  </a:cubicBezTo>
                </a:path>
              </a:pathLst>
            </a:custGeom>
            <a:noFill/>
            <a:ln w="28575" cap="rnd">
              <a:solidFill>
                <a:srgbClr val="00A3E0"/>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0" name="Freeform: Shape 9">
              <a:extLst>
                <a:ext uri="{FF2B5EF4-FFF2-40B4-BE49-F238E27FC236}">
                  <a16:creationId xmlns:a16="http://schemas.microsoft.com/office/drawing/2014/main" id="{0096DBDD-2A8C-CD74-2079-EF78C2AB1EA7}"/>
                </a:ext>
              </a:extLst>
            </p:cNvPr>
            <p:cNvSpPr/>
            <p:nvPr/>
          </p:nvSpPr>
          <p:spPr>
            <a:xfrm>
              <a:off x="5327743" y="5434284"/>
              <a:ext cx="161925" cy="152400"/>
            </a:xfrm>
            <a:custGeom>
              <a:avLst/>
              <a:gdLst>
                <a:gd name="connsiteX0" fmla="*/ 9115 w 161925"/>
                <a:gd name="connsiteY0" fmla="*/ 144722 h 152400"/>
                <a:gd name="connsiteX1" fmla="*/ 160562 w 161925"/>
                <a:gd name="connsiteY1" fmla="*/ 157105 h 152400"/>
                <a:gd name="connsiteX2" fmla="*/ 170087 w 161925"/>
                <a:gd name="connsiteY2" fmla="*/ 142818 h 152400"/>
                <a:gd name="connsiteX3" fmla="*/ 105317 w 161925"/>
                <a:gd name="connsiteY3" fmla="*/ 5658 h 152400"/>
                <a:gd name="connsiteX4" fmla="*/ 88172 w 161925"/>
                <a:gd name="connsiteY4" fmla="*/ 3753 h 152400"/>
                <a:gd name="connsiteX5" fmla="*/ 1495 w 161925"/>
                <a:gd name="connsiteY5" fmla="*/ 128530 h 152400"/>
                <a:gd name="connsiteX6" fmla="*/ 9115 w 161925"/>
                <a:gd name="connsiteY6" fmla="*/ 144722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52400">
                  <a:moveTo>
                    <a:pt x="9115" y="144722"/>
                  </a:moveTo>
                  <a:lnTo>
                    <a:pt x="160562" y="157105"/>
                  </a:lnTo>
                  <a:cubicBezTo>
                    <a:pt x="168182" y="158058"/>
                    <a:pt x="173897" y="149485"/>
                    <a:pt x="170087" y="142818"/>
                  </a:cubicBezTo>
                  <a:lnTo>
                    <a:pt x="105317" y="5658"/>
                  </a:lnTo>
                  <a:cubicBezTo>
                    <a:pt x="102460" y="-1010"/>
                    <a:pt x="92935" y="-1962"/>
                    <a:pt x="88172" y="3753"/>
                  </a:cubicBezTo>
                  <a:lnTo>
                    <a:pt x="1495" y="128530"/>
                  </a:lnTo>
                  <a:cubicBezTo>
                    <a:pt x="-2315" y="136150"/>
                    <a:pt x="1495" y="144722"/>
                    <a:pt x="9115" y="144722"/>
                  </a:cubicBezTo>
                  <a:close/>
                </a:path>
              </a:pathLst>
            </a:custGeom>
            <a:solidFill>
              <a:srgbClr val="00A3E0"/>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grpSp>
      <p:sp>
        <p:nvSpPr>
          <p:cNvPr id="14" name="Rectangle 13">
            <a:extLst>
              <a:ext uri="{FF2B5EF4-FFF2-40B4-BE49-F238E27FC236}">
                <a16:creationId xmlns:a16="http://schemas.microsoft.com/office/drawing/2014/main" id="{ECE4087E-A7A3-57A5-DD5A-1E71343CF81B}"/>
              </a:ext>
            </a:extLst>
          </p:cNvPr>
          <p:cNvSpPr/>
          <p:nvPr/>
        </p:nvSpPr>
        <p:spPr>
          <a:xfrm>
            <a:off x="5111610" y="3636518"/>
            <a:ext cx="1428587" cy="120032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2B3A42"/>
                </a:solidFill>
                <a:effectLst/>
                <a:uLnTx/>
                <a:uFillTx/>
                <a:latin typeface="Arial" panose="020B0604020202020204"/>
                <a:ea typeface="+mn-ea"/>
                <a:cs typeface="+mn-cs"/>
              </a:rPr>
              <a:t>Всё сходится в одной таблетке</a:t>
            </a:r>
            <a:endParaRPr kumimoji="0" lang="en-US" sz="1800" b="1"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15" name="TextBox 14">
            <a:extLst>
              <a:ext uri="{FF2B5EF4-FFF2-40B4-BE49-F238E27FC236}">
                <a16:creationId xmlns:a16="http://schemas.microsoft.com/office/drawing/2014/main" id="{C8171E30-3C6C-09DE-6F03-BA248805F1B3}"/>
              </a:ext>
            </a:extLst>
          </p:cNvPr>
          <p:cNvSpPr txBox="1"/>
          <p:nvPr/>
        </p:nvSpPr>
        <p:spPr>
          <a:xfrm>
            <a:off x="2269096" y="1755949"/>
            <a:ext cx="3041763" cy="434478"/>
          </a:xfrm>
          <a:prstGeom prst="rect">
            <a:avLst/>
          </a:prstGeom>
        </p:spPr>
        <p:txBody>
          <a:bodyPr wrap="square" lIns="91440" tIns="91440" rIns="18288" bIns="18288" rtlCol="0" anchor="t" anchorCtr="0">
            <a:spAutoFit/>
          </a:bodyPr>
          <a:lstStyle/>
          <a:p>
            <a:pPr marL="0" marR="0" lvl="0" indent="0" algn="l" defTabSz="914400" rtl="0" eaLnBrk="1" fontAlgn="base" latinLnBrk="0" hangingPunct="1">
              <a:lnSpc>
                <a:spcPct val="150000"/>
              </a:lnSpc>
              <a:spcBef>
                <a:spcPts val="0"/>
              </a:spcBef>
              <a:spcAft>
                <a:spcPts val="600"/>
              </a:spcAft>
              <a:buClrTx/>
              <a:buSzTx/>
              <a:buFontTx/>
              <a:buNone/>
              <a:tabLst/>
              <a:defRPr/>
            </a:pPr>
            <a:r>
              <a:rPr kumimoji="0" lang="ru-RU" sz="1600" b="1" i="0" u="none" strike="noStrike" kern="120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Выбирай </a:t>
            </a:r>
            <a:r>
              <a:rPr kumimoji="0" lang="el-GR" sz="1600" b="1" i="0" u="none" strike="noStrike" kern="120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β-</a:t>
            </a:r>
            <a:r>
              <a:rPr kumimoji="0" lang="ru-RU" sz="1600" b="1" i="0" u="none" strike="noStrike" kern="120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блокатор + БКК</a:t>
            </a:r>
            <a:r>
              <a:rPr kumimoji="0" lang="ru-RU" sz="1600" b="1" i="0" u="none" strike="noStrike" kern="1200" cap="none" spc="0" normalizeH="0" baseline="30000" noProof="0" dirty="0">
                <a:ln>
                  <a:noFill/>
                </a:ln>
                <a:solidFill>
                  <a:srgbClr val="005587"/>
                </a:solidFill>
                <a:effectLst/>
                <a:uLnTx/>
                <a:uFillTx/>
                <a:latin typeface="Arial" panose="020B0604020202020204" pitchFamily="34" charset="0"/>
                <a:ea typeface="+mn-ea"/>
                <a:cs typeface="Arial" panose="020B0604020202020204" pitchFamily="34" charset="0"/>
              </a:rPr>
              <a:t>2</a:t>
            </a:r>
            <a:endParaRPr kumimoji="0" lang="en-US" sz="1400" b="1" i="0" u="none" strike="noStrike" kern="1200" cap="none" spc="0" normalizeH="0" baseline="30000" noProof="0" dirty="0">
              <a:ln>
                <a:noFill/>
              </a:ln>
              <a:solidFill>
                <a:srgbClr val="005587"/>
              </a:solidFill>
              <a:effectLst/>
              <a:uLnTx/>
              <a:uFillTx/>
              <a:latin typeface="Arial" panose="020B0604020202020204" pitchFamily="34" charset="0"/>
              <a:ea typeface="+mn-ea"/>
              <a:cs typeface="Arial" panose="020B0604020202020204" pitchFamily="34" charset="0"/>
            </a:endParaRPr>
          </a:p>
        </p:txBody>
      </p:sp>
      <p:cxnSp>
        <p:nvCxnSpPr>
          <p:cNvPr id="16" name="Straight Connector 15">
            <a:extLst>
              <a:ext uri="{FF2B5EF4-FFF2-40B4-BE49-F238E27FC236}">
                <a16:creationId xmlns:a16="http://schemas.microsoft.com/office/drawing/2014/main" id="{A85ADD44-2178-A672-B864-468539BF321E}"/>
              </a:ext>
            </a:extLst>
          </p:cNvPr>
          <p:cNvCxnSpPr>
            <a:cxnSpLocks/>
          </p:cNvCxnSpPr>
          <p:nvPr/>
        </p:nvCxnSpPr>
        <p:spPr>
          <a:xfrm flipH="1">
            <a:off x="2357120" y="2222951"/>
            <a:ext cx="2743200" cy="0"/>
          </a:xfrm>
          <a:prstGeom prst="line">
            <a:avLst/>
          </a:prstGeom>
          <a:noFill/>
          <a:ln w="28575" cap="rnd" cmpd="sng" algn="ctr">
            <a:solidFill>
              <a:srgbClr val="005587"/>
            </a:solidFill>
            <a:prstDash val="solid"/>
            <a:round/>
          </a:ln>
          <a:effectLst/>
        </p:spPr>
      </p:cxnSp>
      <p:sp>
        <p:nvSpPr>
          <p:cNvPr id="17" name="TextBox 16">
            <a:extLst>
              <a:ext uri="{FF2B5EF4-FFF2-40B4-BE49-F238E27FC236}">
                <a16:creationId xmlns:a16="http://schemas.microsoft.com/office/drawing/2014/main" id="{62C2CBEC-CC2B-8B35-B33C-39499ED0ABBD}"/>
              </a:ext>
            </a:extLst>
          </p:cNvPr>
          <p:cNvSpPr txBox="1"/>
          <p:nvPr/>
        </p:nvSpPr>
        <p:spPr>
          <a:xfrm>
            <a:off x="8858756" y="3963086"/>
            <a:ext cx="2219962" cy="434478"/>
          </a:xfrm>
          <a:prstGeom prst="rect">
            <a:avLst/>
          </a:prstGeom>
        </p:spPr>
        <p:txBody>
          <a:bodyPr wrap="square" lIns="91440" tIns="91440" rIns="18288" bIns="18288" rtlCol="0" anchor="t" anchorCtr="0">
            <a:spAutoFit/>
          </a:bodyPr>
          <a:lstStyle/>
          <a:p>
            <a:pPr marL="0" marR="0" lvl="0" indent="0" algn="l" defTabSz="914400" rtl="0" eaLnBrk="1" fontAlgn="base" latinLnBrk="0" hangingPunct="1">
              <a:lnSpc>
                <a:spcPct val="150000"/>
              </a:lnSpc>
              <a:spcBef>
                <a:spcPts val="0"/>
              </a:spcBef>
              <a:spcAft>
                <a:spcPts val="600"/>
              </a:spcAft>
              <a:buClrTx/>
              <a:buSzTx/>
              <a:buFontTx/>
              <a:buNone/>
              <a:tabLst/>
              <a:defRPr/>
            </a:pPr>
            <a:r>
              <a:rPr kumimoji="0" lang="ru-RU" sz="1600" b="1" i="0" u="none" strike="noStrike" kern="120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Упрощай приём</a:t>
            </a:r>
            <a:r>
              <a:rPr kumimoji="0" lang="ru-RU" sz="1600" b="1" i="0" u="none" strike="noStrike" kern="1200" cap="none" spc="0" normalizeH="0" baseline="30000" noProof="0" dirty="0">
                <a:ln>
                  <a:noFill/>
                </a:ln>
                <a:solidFill>
                  <a:srgbClr val="00A3E0"/>
                </a:solidFill>
                <a:effectLst/>
                <a:uLnTx/>
                <a:uFillTx/>
                <a:latin typeface="Arial" panose="020B0604020202020204" pitchFamily="34" charset="0"/>
                <a:ea typeface="+mn-ea"/>
                <a:cs typeface="Arial" panose="020B0604020202020204" pitchFamily="34" charset="0"/>
              </a:rPr>
              <a:t>2</a:t>
            </a:r>
            <a:endParaRPr kumimoji="0" lang="en-US" sz="1400" b="1" i="0" u="none" strike="noStrike" kern="1200" cap="none" spc="0" normalizeH="0" baseline="30000" noProof="0" dirty="0">
              <a:ln>
                <a:noFill/>
              </a:ln>
              <a:solidFill>
                <a:srgbClr val="00A3E0"/>
              </a:solidFill>
              <a:effectLst/>
              <a:uLnTx/>
              <a:uFillTx/>
              <a:latin typeface="Arial" panose="020B0604020202020204" pitchFamily="34" charset="0"/>
              <a:ea typeface="+mn-ea"/>
              <a:cs typeface="Arial" panose="020B0604020202020204" pitchFamily="34" charset="0"/>
            </a:endParaRPr>
          </a:p>
        </p:txBody>
      </p:sp>
      <p:cxnSp>
        <p:nvCxnSpPr>
          <p:cNvPr id="18" name="Straight Connector 17">
            <a:extLst>
              <a:ext uri="{FF2B5EF4-FFF2-40B4-BE49-F238E27FC236}">
                <a16:creationId xmlns:a16="http://schemas.microsoft.com/office/drawing/2014/main" id="{A47933F6-8C90-A930-9AA5-5AA90DA4A486}"/>
              </a:ext>
            </a:extLst>
          </p:cNvPr>
          <p:cNvCxnSpPr>
            <a:cxnSpLocks/>
          </p:cNvCxnSpPr>
          <p:nvPr/>
        </p:nvCxnSpPr>
        <p:spPr>
          <a:xfrm flipH="1">
            <a:off x="7784333" y="4462717"/>
            <a:ext cx="2743200" cy="0"/>
          </a:xfrm>
          <a:prstGeom prst="line">
            <a:avLst/>
          </a:prstGeom>
          <a:noFill/>
          <a:ln w="28575" cap="rnd" cmpd="sng" algn="ctr">
            <a:solidFill>
              <a:srgbClr val="00A3E0"/>
            </a:solidFill>
            <a:prstDash val="solid"/>
            <a:round/>
          </a:ln>
          <a:effectLst/>
        </p:spPr>
      </p:cxnSp>
      <p:cxnSp>
        <p:nvCxnSpPr>
          <p:cNvPr id="19" name="Straight Connector 18">
            <a:extLst>
              <a:ext uri="{FF2B5EF4-FFF2-40B4-BE49-F238E27FC236}">
                <a16:creationId xmlns:a16="http://schemas.microsoft.com/office/drawing/2014/main" id="{AC66E9D4-CD0A-6E96-A691-BD2FA3257629}"/>
              </a:ext>
            </a:extLst>
          </p:cNvPr>
          <p:cNvCxnSpPr>
            <a:cxnSpLocks/>
          </p:cNvCxnSpPr>
          <p:nvPr/>
        </p:nvCxnSpPr>
        <p:spPr>
          <a:xfrm flipH="1">
            <a:off x="1188719" y="4462717"/>
            <a:ext cx="2743200" cy="0"/>
          </a:xfrm>
          <a:prstGeom prst="line">
            <a:avLst/>
          </a:prstGeom>
          <a:noFill/>
          <a:ln w="28575" cap="rnd" cmpd="sng" algn="ctr">
            <a:solidFill>
              <a:srgbClr val="43B02A"/>
            </a:solidFill>
            <a:prstDash val="solid"/>
            <a:round/>
          </a:ln>
          <a:effectLst/>
        </p:spPr>
      </p:cxnSp>
      <p:sp>
        <p:nvSpPr>
          <p:cNvPr id="20" name="TextBox 19">
            <a:extLst>
              <a:ext uri="{FF2B5EF4-FFF2-40B4-BE49-F238E27FC236}">
                <a16:creationId xmlns:a16="http://schemas.microsoft.com/office/drawing/2014/main" id="{71E3EC15-E941-0B0D-0816-EA6FB65E8F69}"/>
              </a:ext>
            </a:extLst>
          </p:cNvPr>
          <p:cNvSpPr txBox="1"/>
          <p:nvPr/>
        </p:nvSpPr>
        <p:spPr>
          <a:xfrm>
            <a:off x="1113282" y="3796812"/>
            <a:ext cx="2895004" cy="603242"/>
          </a:xfrm>
          <a:prstGeom prst="rect">
            <a:avLst/>
          </a:prstGeom>
        </p:spPr>
        <p:txBody>
          <a:bodyPr wrap="square" lIns="91440" tIns="91440" rIns="18288" bIns="18288" rtlCol="0" anchor="t" anchorCtr="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43B02A"/>
                </a:solidFill>
                <a:effectLst/>
                <a:uLnTx/>
                <a:uFillTx/>
                <a:latin typeface="Arial" panose="020B0604020202020204" pitchFamily="34" charset="0"/>
                <a:ea typeface="+mn-ea"/>
                <a:cs typeface="Arial" panose="020B0604020202020204" pitchFamily="34" charset="0"/>
              </a:rPr>
              <a:t>Назначай фиксированную комбинацию</a:t>
            </a:r>
            <a:r>
              <a:rPr kumimoji="0" lang="ru-RU" sz="1600" b="1" i="0" u="none" strike="noStrike" kern="1200" cap="none" spc="0" normalizeH="0" baseline="30000" noProof="0" dirty="0">
                <a:ln>
                  <a:noFill/>
                </a:ln>
                <a:solidFill>
                  <a:srgbClr val="43B02A"/>
                </a:solidFill>
                <a:effectLst/>
                <a:uLnTx/>
                <a:uFillTx/>
                <a:latin typeface="Arial" panose="020B0604020202020204" pitchFamily="34" charset="0"/>
                <a:ea typeface="+mn-ea"/>
                <a:cs typeface="Arial" panose="020B0604020202020204" pitchFamily="34" charset="0"/>
              </a:rPr>
              <a:t>1</a:t>
            </a:r>
            <a:endParaRPr kumimoji="0" lang="en-US" sz="1400" b="1" i="0" u="none" strike="noStrike" kern="1200" cap="none" spc="0" normalizeH="0" baseline="30000" noProof="0" dirty="0">
              <a:ln>
                <a:noFill/>
              </a:ln>
              <a:solidFill>
                <a:srgbClr val="43B02A"/>
              </a:solidFill>
              <a:effectLst/>
              <a:uLnTx/>
              <a:uFillTx/>
              <a:latin typeface="Arial" panose="020B0604020202020204" pitchFamily="34" charset="0"/>
              <a:ea typeface="+mn-ea"/>
              <a:cs typeface="Arial" panose="020B0604020202020204" pitchFamily="34" charset="0"/>
            </a:endParaRPr>
          </a:p>
        </p:txBody>
      </p:sp>
      <p:sp>
        <p:nvSpPr>
          <p:cNvPr id="21" name="Rectangle 20">
            <a:extLst>
              <a:ext uri="{FF2B5EF4-FFF2-40B4-BE49-F238E27FC236}">
                <a16:creationId xmlns:a16="http://schemas.microsoft.com/office/drawing/2014/main" id="{CA3FE5AD-AD6E-3E77-360D-6E3079273B4E}"/>
              </a:ext>
            </a:extLst>
          </p:cNvPr>
          <p:cNvSpPr/>
          <p:nvPr/>
        </p:nvSpPr>
        <p:spPr>
          <a:xfrm>
            <a:off x="5218524" y="2243858"/>
            <a:ext cx="1296000" cy="83099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Выбор для большинства при стенокардии</a:t>
            </a:r>
          </a:p>
        </p:txBody>
      </p:sp>
      <p:sp>
        <p:nvSpPr>
          <p:cNvPr id="22" name="Rectangle 21">
            <a:extLst>
              <a:ext uri="{FF2B5EF4-FFF2-40B4-BE49-F238E27FC236}">
                <a16:creationId xmlns:a16="http://schemas.microsoft.com/office/drawing/2014/main" id="{20CD77F1-AB85-795B-6915-8C4DCCFDB230}"/>
              </a:ext>
            </a:extLst>
          </p:cNvPr>
          <p:cNvSpPr/>
          <p:nvPr/>
        </p:nvSpPr>
        <p:spPr>
          <a:xfrm>
            <a:off x="1113282" y="4494108"/>
            <a:ext cx="2359626" cy="1575496"/>
          </a:xfrm>
          <a:prstGeom prst="rect">
            <a:avLst/>
          </a:prstGeom>
        </p:spPr>
        <p:txBody>
          <a:bodyPr wrap="square">
            <a:spAutoFit/>
          </a:bodyPr>
          <a:lstStyle/>
          <a:p>
            <a:pPr marL="0" marR="0" lvl="0" indent="0" algn="l" defTabSz="914400" rtl="0" eaLnBrk="1" fontAlgn="base" latinLnBrk="0" hangingPunct="1">
              <a:lnSpc>
                <a:spcPct val="110000"/>
              </a:lnSpc>
              <a:spcBef>
                <a:spcPts val="0"/>
              </a:spcBef>
              <a:spcAft>
                <a:spcPts val="600"/>
              </a:spcAft>
              <a:buClrTx/>
              <a:buSzTx/>
              <a:buFontTx/>
              <a:buNone/>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Пациенту с ХКС на комбинированной антигипертензивной терапии рекомендована фиксированная комбинация (одна таблетка)</a:t>
            </a:r>
          </a:p>
          <a:p>
            <a:pPr marL="0" marR="0" lvl="0" indent="0" algn="l" defTabSz="914400" rtl="0" eaLnBrk="1" fontAlgn="base" latinLnBrk="0" hangingPunct="1">
              <a:lnSpc>
                <a:spcPct val="110000"/>
              </a:lnSpc>
              <a:spcBef>
                <a:spcPts val="0"/>
              </a:spcBef>
              <a:spcAft>
                <a:spcPts val="600"/>
              </a:spcAft>
              <a:buClrTx/>
              <a:buSzTx/>
              <a:buFontTx/>
              <a:buNone/>
              <a:tabLst/>
              <a:defRPr/>
            </a:pP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Класс</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I</a:t>
            </a: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Уровень</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B</a:t>
            </a:r>
            <a:endPar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3" name="Rectangle 22">
            <a:extLst>
              <a:ext uri="{FF2B5EF4-FFF2-40B4-BE49-F238E27FC236}">
                <a16:creationId xmlns:a16="http://schemas.microsoft.com/office/drawing/2014/main" id="{D73EEBC3-5E32-A713-054D-1B8CC9AC1003}"/>
              </a:ext>
            </a:extLst>
          </p:cNvPr>
          <p:cNvSpPr/>
          <p:nvPr/>
        </p:nvSpPr>
        <p:spPr>
          <a:xfrm>
            <a:off x="2256139" y="2243323"/>
            <a:ext cx="2664605" cy="1575496"/>
          </a:xfrm>
          <a:prstGeom prst="rect">
            <a:avLst/>
          </a:prstGeom>
        </p:spPr>
        <p:txBody>
          <a:bodyPr wrap="square">
            <a:spAutoFit/>
          </a:bodyPr>
          <a:lstStyle/>
          <a:p>
            <a:pPr marL="0" marR="0" lvl="0" indent="0" algn="l" defTabSz="914400" rtl="0" eaLnBrk="1" fontAlgn="base" latinLnBrk="0" hangingPunct="1">
              <a:lnSpc>
                <a:spcPct val="11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Комбинация β-блокатора с </a:t>
            </a:r>
            <a:r>
              <a:rPr kumimoji="0" lang="ru-RU" sz="1200" b="0" i="0" u="none" strike="noStrike" kern="120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дигидропиридиновым</a:t>
            </a: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блокатором кальциевых каналов подходит большинству пациентов с ХКС </a:t>
            </a:r>
          </a:p>
          <a:p>
            <a:pPr marL="0" marR="0" lvl="0" indent="0" algn="l" defTabSz="914400" rtl="0" eaLnBrk="1" fontAlgn="base" latinLnBrk="0" hangingPunct="1">
              <a:lnSpc>
                <a:spcPct val="110000"/>
              </a:lnSpc>
              <a:spcBef>
                <a:spcPts val="0"/>
              </a:spcBef>
              <a:spcAft>
                <a:spcPts val="600"/>
              </a:spcAft>
              <a:buClrTx/>
              <a:buSzTx/>
              <a:buFontTx/>
              <a:buNone/>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для облегчения симптомов стенокардии</a:t>
            </a:r>
          </a:p>
          <a:p>
            <a:pPr marL="0" marR="0" lvl="0" indent="0" algn="l" defTabSz="914400" rtl="0" eaLnBrk="1" fontAlgn="base" latinLnBrk="0" hangingPunct="1">
              <a:lnSpc>
                <a:spcPct val="110000"/>
              </a:lnSpc>
              <a:spcBef>
                <a:spcPts val="0"/>
              </a:spcBef>
              <a:spcAft>
                <a:spcPts val="600"/>
              </a:spcAft>
              <a:buClrTx/>
              <a:buSzTx/>
              <a:buFontTx/>
              <a:buNone/>
              <a:tabLst/>
              <a:defRPr/>
            </a:pP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Класс</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IIa, </a:t>
            </a: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Уровень</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B</a:t>
            </a:r>
          </a:p>
        </p:txBody>
      </p:sp>
      <p:sp>
        <p:nvSpPr>
          <p:cNvPr id="24" name="Rectangle 23">
            <a:extLst>
              <a:ext uri="{FF2B5EF4-FFF2-40B4-BE49-F238E27FC236}">
                <a16:creationId xmlns:a16="http://schemas.microsoft.com/office/drawing/2014/main" id="{CE598758-E816-C070-F1E4-D1C9F2D01B16}"/>
              </a:ext>
            </a:extLst>
          </p:cNvPr>
          <p:cNvSpPr/>
          <p:nvPr/>
        </p:nvSpPr>
        <p:spPr>
          <a:xfrm>
            <a:off x="8002135" y="4510621"/>
            <a:ext cx="2743200" cy="1169231"/>
          </a:xfrm>
          <a:prstGeom prst="rect">
            <a:avLst/>
          </a:prstGeom>
        </p:spPr>
        <p:txBody>
          <a:bodyPr wrap="square">
            <a:spAutoFit/>
          </a:bodyPr>
          <a:lstStyle/>
          <a:p>
            <a:pPr marL="0" marR="0" lvl="0" indent="0" algn="r" defTabSz="914400" rtl="0" eaLnBrk="1" fontAlgn="base" latinLnBrk="0" hangingPunct="1">
              <a:lnSpc>
                <a:spcPct val="110000"/>
              </a:lnSpc>
              <a:spcBef>
                <a:spcPts val="0"/>
              </a:spcBef>
              <a:spcAft>
                <a:spcPts val="600"/>
              </a:spcAft>
              <a:buClrTx/>
              <a:buSzTx/>
              <a:buFontTx/>
              <a:buNone/>
              <a:tabLst/>
              <a:defRPr/>
            </a:pPr>
            <a:r>
              <a:rPr kumimoji="0" lang="ru-RU" sz="1200" b="1"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Упрощение режима приёма, включая фиксированные комбинации, рекомендовано для повышения приверженности</a:t>
            </a:r>
          </a:p>
          <a:p>
            <a:pPr marL="0" marR="0" lvl="0" indent="0" algn="r" defTabSz="914400" rtl="0" eaLnBrk="1" fontAlgn="base" latinLnBrk="0" hangingPunct="1">
              <a:lnSpc>
                <a:spcPct val="110000"/>
              </a:lnSpc>
              <a:spcBef>
                <a:spcPts val="0"/>
              </a:spcBef>
              <a:spcAft>
                <a:spcPts val="600"/>
              </a:spcAft>
              <a:buClrTx/>
              <a:buSzTx/>
              <a:buFontTx/>
              <a:buNone/>
              <a:tabLst/>
              <a:defRPr/>
            </a:pP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Класс</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I, </a:t>
            </a:r>
            <a:r>
              <a:rPr kumimoji="0" lang="ru-RU"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Уровень</a:t>
            </a:r>
            <a:r>
              <a:rPr kumimoji="0" lang="en-US" sz="1100" b="0" i="1"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B.</a:t>
            </a:r>
          </a:p>
        </p:txBody>
      </p:sp>
      <p:sp>
        <p:nvSpPr>
          <p:cNvPr id="25" name="Rectangle 24">
            <a:extLst>
              <a:ext uri="{FF2B5EF4-FFF2-40B4-BE49-F238E27FC236}">
                <a16:creationId xmlns:a16="http://schemas.microsoft.com/office/drawing/2014/main" id="{15BB5BCD-9324-EE8B-82AF-33B46D9D3549}"/>
              </a:ext>
            </a:extLst>
          </p:cNvPr>
          <p:cNvSpPr/>
          <p:nvPr/>
        </p:nvSpPr>
        <p:spPr>
          <a:xfrm>
            <a:off x="6578168" y="4820287"/>
            <a:ext cx="1462067"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Для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приверженности</a:t>
            </a:r>
            <a:endParaRPr kumimoji="0" lang="en-US" sz="1200" b="1" i="0" u="none" strike="noStrike" kern="1200" cap="none" spc="0" normalizeH="0" baseline="0" noProof="0" dirty="0">
              <a:ln>
                <a:noFill/>
              </a:ln>
              <a:solidFill>
                <a:srgbClr val="00A3E0"/>
              </a:solidFill>
              <a:effectLst/>
              <a:uLnTx/>
              <a:uFillTx/>
              <a:latin typeface="Arial" panose="020B0604020202020204"/>
              <a:ea typeface="+mn-ea"/>
              <a:cs typeface="+mn-cs"/>
            </a:endParaRPr>
          </a:p>
        </p:txBody>
      </p:sp>
      <p:sp>
        <p:nvSpPr>
          <p:cNvPr id="26" name="Rectangle 25">
            <a:extLst>
              <a:ext uri="{FF2B5EF4-FFF2-40B4-BE49-F238E27FC236}">
                <a16:creationId xmlns:a16="http://schemas.microsoft.com/office/drawing/2014/main" id="{D025FC7A-5F06-B2BF-CCD9-C98FA4AB79BB}"/>
              </a:ext>
            </a:extLst>
          </p:cNvPr>
          <p:cNvSpPr/>
          <p:nvPr/>
        </p:nvSpPr>
        <p:spPr>
          <a:xfrm>
            <a:off x="3669216" y="4698764"/>
            <a:ext cx="1582139"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43B02A"/>
                </a:solidFill>
                <a:effectLst/>
                <a:uLnTx/>
                <a:uFillTx/>
                <a:latin typeface="Arial" panose="020B0604020202020204" pitchFamily="34" charset="0"/>
                <a:ea typeface="+mn-ea"/>
                <a:cs typeface="Arial" panose="020B0604020202020204" pitchFamily="34" charset="0"/>
              </a:rPr>
              <a:t>При комбинированной терапии АГ и ИБС</a:t>
            </a:r>
            <a:endParaRPr kumimoji="0" lang="en-US" sz="1200" b="1" i="0" u="none" strike="noStrike" kern="1200" cap="none" spc="0" normalizeH="0" baseline="0" noProof="0" dirty="0">
              <a:ln>
                <a:noFill/>
              </a:ln>
              <a:solidFill>
                <a:srgbClr val="43B02A"/>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27FD36EA-827F-BE61-3649-3E9C6D79F5FC}"/>
              </a:ext>
            </a:extLst>
          </p:cNvPr>
          <p:cNvSpPr txBox="1"/>
          <p:nvPr/>
        </p:nvSpPr>
        <p:spPr>
          <a:xfrm>
            <a:off x="426720" y="6369466"/>
            <a:ext cx="1121820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Calibri" panose="020F0502020204030204"/>
                <a:ea typeface="+mn-ea"/>
                <a:cs typeface="+mn-cs"/>
              </a:rPr>
              <a:t>1</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McEvoy JW et al. 2024 ESC Guidelines for the management of elevated blood pressure and hypertension.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Heart J 2024;45:3912–4018</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Calibri" panose="020F0502020204030204"/>
                <a:ea typeface="+mn-ea"/>
                <a:cs typeface="+mn-cs"/>
              </a:rPr>
              <a:t>2</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Vrints</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C et al. 2024 ESC Guidelines for the management of chronic coronary syndromes.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Heart J 2024;45:3415–3537</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EDC0DC4-5BBD-D0EF-0411-C35499B531DA}"/>
              </a:ext>
            </a:extLst>
          </p:cNvPr>
          <p:cNvSpPr txBox="1"/>
          <p:nvPr/>
        </p:nvSpPr>
        <p:spPr>
          <a:xfrm>
            <a:off x="9424114" y="6318371"/>
            <a:ext cx="2220812"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*БКК – блокаторы кальциевых каналов</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60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7BB26A8E-3001-44D0-B6F3-0BCF6341DE5D}"/>
              </a:ext>
            </a:extLst>
          </p:cNvPr>
          <p:cNvSpPr txBox="1">
            <a:spLocks/>
          </p:cNvSpPr>
          <p:nvPr/>
        </p:nvSpPr>
        <p:spPr>
          <a:xfrm>
            <a:off x="1616916" y="390541"/>
            <a:ext cx="9021337" cy="5441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2800" b="1"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3" name="TextBox 2"/>
          <p:cNvSpPr txBox="1"/>
          <p:nvPr/>
        </p:nvSpPr>
        <p:spPr>
          <a:xfrm>
            <a:off x="846177" y="1450581"/>
            <a:ext cx="7024193" cy="1525444"/>
          </a:xfrm>
          <a:prstGeom prst="rect">
            <a:avLst/>
          </a:prstGeom>
          <a:noFill/>
        </p:spPr>
        <p:txBody>
          <a:bodyPr wrap="square" rtlCol="0">
            <a:norm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Высокоселективные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l-GR"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адреноблокаторы</a:t>
            </a:r>
            <a:r>
              <a:rPr kumimoji="0" lang="en-US"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в большей степени действуют на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-рецепторы сердца и в меньшей степени оказывают влияние на β</a:t>
            </a:r>
            <a:r>
              <a:rPr kumimoji="0" lang="ru-RU" sz="1800" b="1" i="0" u="none" strike="noStrike" kern="1200" cap="none" spc="0" normalizeH="0" baseline="-25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2</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-рецепторы других органов и систем</a:t>
            </a:r>
            <a:r>
              <a:rPr kumimoji="0" lang="ru-RU" sz="1800" b="0" i="0" u="none" strike="noStrike" kern="1200" cap="none" spc="0" normalizeH="0" baseline="30000" noProof="0" dirty="0">
                <a:ln>
                  <a:noFill/>
                </a:ln>
                <a:solidFill>
                  <a:srgbClr val="498187"/>
                </a:solidFill>
                <a:effectLst/>
                <a:uLnTx/>
                <a:uFillTx/>
                <a:latin typeface="Verdana" panose="020B0604030504040204" pitchFamily="34" charset="0"/>
                <a:ea typeface="Verdana" panose="020B0604030504040204" pitchFamily="34" charset="0"/>
                <a:cs typeface="Calibri" panose="020F0502020204030204" pitchFamily="34" charset="0"/>
              </a:rPr>
              <a:t>2</a:t>
            </a:r>
            <a:endParaRPr kumimoji="0" lang="ru-RU" sz="1800" b="0"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endParaRPr>
          </a:p>
        </p:txBody>
      </p:sp>
      <p:sp>
        <p:nvSpPr>
          <p:cNvPr id="8" name="Номер слайда 7">
            <a:extLst>
              <a:ext uri="{FF2B5EF4-FFF2-40B4-BE49-F238E27FC236}">
                <a16:creationId xmlns:a16="http://schemas.microsoft.com/office/drawing/2014/main" id="{32812C9F-3AAB-13FB-6F3B-8494669AE7C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 name="Группа 1">
            <a:extLst>
              <a:ext uri="{FF2B5EF4-FFF2-40B4-BE49-F238E27FC236}">
                <a16:creationId xmlns:a16="http://schemas.microsoft.com/office/drawing/2014/main" id="{C76CDDE8-3DEE-2984-E5C2-9C314F528183}"/>
              </a:ext>
            </a:extLst>
          </p:cNvPr>
          <p:cNvGrpSpPr/>
          <p:nvPr/>
        </p:nvGrpSpPr>
        <p:grpSpPr>
          <a:xfrm>
            <a:off x="924971" y="1859211"/>
            <a:ext cx="10962229" cy="4272154"/>
            <a:chOff x="924971" y="1859211"/>
            <a:chExt cx="10962229" cy="4272154"/>
          </a:xfrm>
        </p:grpSpPr>
        <p:sp>
          <p:nvSpPr>
            <p:cNvPr id="17" name="TextBox 16">
              <a:extLst>
                <a:ext uri="{FF2B5EF4-FFF2-40B4-BE49-F238E27FC236}">
                  <a16:creationId xmlns:a16="http://schemas.microsoft.com/office/drawing/2014/main" id="{AC35A958-55F3-2A42-A1B2-D51DB80D5FDC}"/>
                </a:ext>
              </a:extLst>
            </p:cNvPr>
            <p:cNvSpPr txBox="1"/>
            <p:nvPr/>
          </p:nvSpPr>
          <p:spPr>
            <a:xfrm>
              <a:off x="1334288" y="3434702"/>
              <a:ext cx="5232016" cy="2149670"/>
            </a:xfrm>
            <a:prstGeom prst="rect">
              <a:avLst/>
            </a:prstGeom>
            <a:noFill/>
          </p:spPr>
          <p:txBody>
            <a:bodyPr wrap="square" rtlCol="0">
              <a:norm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Высокоселективные </a:t>
              </a:r>
              <a:br>
                <a:rPr kumimoji="0" lang="en-US"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β</a:t>
              </a:r>
              <a:r>
                <a:rPr kumimoji="0" lang="ru-RU" sz="1800" b="0" i="0" u="none" strike="noStrike" kern="1200" cap="none" spc="0" normalizeH="0" baseline="-25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l-GR"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адреноблокаторы</a:t>
              </a:r>
              <a:r>
                <a:rPr kumimoji="0" lang="ru-RU" sz="1800" b="0" i="0" u="none" strike="noStrike" kern="1200" cap="none" spc="0" normalizeH="0" baseline="30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ru-RU" sz="1600" b="0" i="0" u="none" strike="noStrike" kern="1200" cap="none" spc="0" normalizeH="0" baseline="30000" noProof="0" dirty="0">
                <a:ln>
                  <a:noFill/>
                </a:ln>
                <a:solidFill>
                  <a:srgbClr val="EC736A"/>
                </a:solidFill>
                <a:effectLst/>
                <a:uLnTx/>
                <a:uFillTx/>
                <a:latin typeface="Verdana" panose="020B0604030504040204" pitchFamily="34" charset="0"/>
                <a:ea typeface="Verdana" panose="020B0604030504040204" pitchFamily="34" charset="0"/>
                <a:cs typeface="Calibri" panose="020F0502020204030204" pitchFamily="34" charset="0"/>
              </a:endParaRPr>
            </a:p>
            <a:p>
              <a:pPr marL="179388" marR="0" lvl="0" indent="-179388" algn="l" defTabSz="914400" rtl="0" eaLnBrk="1" fontAlgn="auto" latinLnBrk="0" hangingPunct="1">
                <a:lnSpc>
                  <a:spcPct val="100000"/>
                </a:lnSpc>
                <a:spcBef>
                  <a:spcPts val="600"/>
                </a:spcBef>
                <a:spcAft>
                  <a:spcPts val="0"/>
                </a:spcAft>
                <a:buClrTx/>
                <a:buSzPct val="107000"/>
                <a:buFont typeface="Arial" panose="020B0604020202020204" pitchFamily="34" charset="0"/>
                <a:buChar char="•"/>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Могут применяться у больных с обструктивными заболеваниями легких</a:t>
              </a:r>
            </a:p>
            <a:p>
              <a:pPr marL="179388" marR="0" lvl="0" indent="-179388" algn="l" defTabSz="914400" rtl="0" eaLnBrk="1" fontAlgn="auto" latinLnBrk="0" hangingPunct="1">
                <a:lnSpc>
                  <a:spcPct val="100000"/>
                </a:lnSpc>
                <a:spcBef>
                  <a:spcPts val="600"/>
                </a:spcBef>
                <a:spcAft>
                  <a:spcPts val="0"/>
                </a:spcAft>
                <a:buClrTx/>
                <a:buSzPct val="107000"/>
                <a:buFont typeface="Arial" panose="020B0604020202020204" pitchFamily="34" charset="0"/>
                <a:buChar char="•"/>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Оказывают минимальное действие в отношении липидного и углеводного обмена</a:t>
              </a:r>
              <a:endPar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 name="Прямоугольник 5">
              <a:extLst>
                <a:ext uri="{FF2B5EF4-FFF2-40B4-BE49-F238E27FC236}">
                  <a16:creationId xmlns:a16="http://schemas.microsoft.com/office/drawing/2014/main" id="{3CAB4A3F-04C1-AB16-17B8-CC04FE88BED4}"/>
                </a:ext>
              </a:extLst>
            </p:cNvPr>
            <p:cNvSpPr/>
            <p:nvPr/>
          </p:nvSpPr>
          <p:spPr>
            <a:xfrm>
              <a:off x="924971" y="3145758"/>
              <a:ext cx="8039100" cy="2592215"/>
            </a:xfrm>
            <a:prstGeom prst="rect">
              <a:avLst/>
            </a:prstGeom>
            <a:noFill/>
            <a:ln w="9525">
              <a:solidFill>
                <a:srgbClr val="EC736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pic>
          <p:nvPicPr>
            <p:cNvPr id="18" name="Рисунок 17">
              <a:extLst>
                <a:ext uri="{FF2B5EF4-FFF2-40B4-BE49-F238E27FC236}">
                  <a16:creationId xmlns:a16="http://schemas.microsoft.com/office/drawing/2014/main" id="{9C981479-E8F3-2BC4-6E29-3D7F8F27765C}"/>
                </a:ext>
              </a:extLst>
            </p:cNvPr>
            <p:cNvPicPr>
              <a:picLocks noChangeAspect="1"/>
            </p:cNvPicPr>
            <p:nvPr/>
          </p:nvPicPr>
          <p:blipFill rotWithShape="1">
            <a:blip r:embed="rId3">
              <a:extLst>
                <a:ext uri="{28A0092B-C50C-407E-A947-70E740481C1C}">
                  <a14:useLocalDpi xmlns:a14="http://schemas.microsoft.com/office/drawing/2010/main" val="0"/>
                </a:ext>
              </a:extLst>
            </a:blip>
            <a:srcRect l="1947" r="31436"/>
            <a:stretch/>
          </p:blipFill>
          <p:spPr>
            <a:xfrm>
              <a:off x="7156861" y="1859211"/>
              <a:ext cx="4730339" cy="3997742"/>
            </a:xfrm>
            <a:custGeom>
              <a:avLst/>
              <a:gdLst>
                <a:gd name="connsiteX0" fmla="*/ 2143489 w 4878339"/>
                <a:gd name="connsiteY0" fmla="*/ 1024 h 4122821"/>
                <a:gd name="connsiteX1" fmla="*/ 2931832 w 4878339"/>
                <a:gd name="connsiteY1" fmla="*/ 56143 h 4122821"/>
                <a:gd name="connsiteX2" fmla="*/ 4874379 w 4878339"/>
                <a:gd name="connsiteY2" fmla="*/ 1619561 h 4122821"/>
                <a:gd name="connsiteX3" fmla="*/ 3249161 w 4878339"/>
                <a:gd name="connsiteY3" fmla="*/ 3784742 h 4122821"/>
                <a:gd name="connsiteX4" fmla="*/ 230187 w 4878339"/>
                <a:gd name="connsiteY4" fmla="*/ 3164039 h 4122821"/>
                <a:gd name="connsiteX5" fmla="*/ 2143489 w 4878339"/>
                <a:gd name="connsiteY5" fmla="*/ 1024 h 412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8339" h="4122821">
                  <a:moveTo>
                    <a:pt x="2143489" y="1024"/>
                  </a:moveTo>
                  <a:cubicBezTo>
                    <a:pt x="2381857" y="-4562"/>
                    <a:pt x="2644020" y="12568"/>
                    <a:pt x="2931832" y="56143"/>
                  </a:cubicBezTo>
                  <a:cubicBezTo>
                    <a:pt x="4557051" y="302385"/>
                    <a:pt x="4844515" y="1180986"/>
                    <a:pt x="4874379" y="1619561"/>
                  </a:cubicBezTo>
                  <a:cubicBezTo>
                    <a:pt x="4904247" y="2058135"/>
                    <a:pt x="4802203" y="3064958"/>
                    <a:pt x="3249161" y="3784742"/>
                  </a:cubicBezTo>
                  <a:cubicBezTo>
                    <a:pt x="1696119" y="4504527"/>
                    <a:pt x="638358" y="3969788"/>
                    <a:pt x="230187" y="3164039"/>
                  </a:cubicBezTo>
                  <a:cubicBezTo>
                    <a:pt x="-241217" y="2231796"/>
                    <a:pt x="-160723" y="55028"/>
                    <a:pt x="2143489" y="1024"/>
                  </a:cubicBezTo>
                  <a:close/>
                </a:path>
              </a:pathLst>
            </a:custGeom>
          </p:spPr>
        </p:pic>
        <p:pic>
          <p:nvPicPr>
            <p:cNvPr id="25" name="Рисунок 24" descr="Изображение выглядит как природа, росинка&#10;&#10;Автоматически созданное описание">
              <a:extLst>
                <a:ext uri="{FF2B5EF4-FFF2-40B4-BE49-F238E27FC236}">
                  <a16:creationId xmlns:a16="http://schemas.microsoft.com/office/drawing/2014/main" id="{0D0B258F-91CF-1D6A-8689-6C09F54CBE2C}"/>
                </a:ext>
              </a:extLst>
            </p:cNvPr>
            <p:cNvPicPr>
              <a:picLocks noChangeAspect="1"/>
            </p:cNvPicPr>
            <p:nvPr/>
          </p:nvPicPr>
          <p:blipFill rotWithShape="1">
            <a:blip r:embed="rId4">
              <a:extLst>
                <a:ext uri="{28A0092B-C50C-407E-A947-70E740481C1C}">
                  <a14:useLocalDpi xmlns:a14="http://schemas.microsoft.com/office/drawing/2010/main" val="0"/>
                </a:ext>
              </a:extLst>
            </a:blip>
            <a:srcRect l="9692" t="11501" r="29650" b="20148"/>
            <a:stretch/>
          </p:blipFill>
          <p:spPr>
            <a:xfrm>
              <a:off x="7090707" y="4501243"/>
              <a:ext cx="1928847" cy="1630122"/>
            </a:xfrm>
            <a:custGeom>
              <a:avLst/>
              <a:gdLst>
                <a:gd name="connsiteX0" fmla="*/ 1279697 w 2282681"/>
                <a:gd name="connsiteY0" fmla="*/ 479 h 1929157"/>
                <a:gd name="connsiteX1" fmla="*/ 2174972 w 2282681"/>
                <a:gd name="connsiteY1" fmla="*/ 1480523 h 1929157"/>
                <a:gd name="connsiteX2" fmla="*/ 762329 w 2282681"/>
                <a:gd name="connsiteY2" fmla="*/ 1770963 h 1929157"/>
                <a:gd name="connsiteX3" fmla="*/ 1854 w 2282681"/>
                <a:gd name="connsiteY3" fmla="*/ 757828 h 1929157"/>
                <a:gd name="connsiteX4" fmla="*/ 910814 w 2282681"/>
                <a:gd name="connsiteY4" fmla="*/ 26271 h 1929157"/>
                <a:gd name="connsiteX5" fmla="*/ 1279697 w 2282681"/>
                <a:gd name="connsiteY5" fmla="*/ 479 h 1929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681" h="1929157">
                  <a:moveTo>
                    <a:pt x="1279697" y="479"/>
                  </a:moveTo>
                  <a:cubicBezTo>
                    <a:pt x="2357887" y="25749"/>
                    <a:pt x="2395552" y="1044306"/>
                    <a:pt x="2174972" y="1480523"/>
                  </a:cubicBezTo>
                  <a:cubicBezTo>
                    <a:pt x="1983979" y="1857550"/>
                    <a:pt x="1489031" y="2107765"/>
                    <a:pt x="762329" y="1770963"/>
                  </a:cubicBezTo>
                  <a:cubicBezTo>
                    <a:pt x="35627" y="1434161"/>
                    <a:pt x="-12121" y="963046"/>
                    <a:pt x="1854" y="757828"/>
                  </a:cubicBezTo>
                  <a:cubicBezTo>
                    <a:pt x="15828" y="552609"/>
                    <a:pt x="150338" y="141492"/>
                    <a:pt x="910814" y="26271"/>
                  </a:cubicBezTo>
                  <a:cubicBezTo>
                    <a:pt x="1045488" y="5880"/>
                    <a:pt x="1168159" y="-2135"/>
                    <a:pt x="1279697" y="479"/>
                  </a:cubicBezTo>
                  <a:close/>
                </a:path>
              </a:pathLst>
            </a:custGeom>
            <a:ln w="76200">
              <a:solidFill>
                <a:schemeClr val="bg1"/>
              </a:solidFill>
            </a:ln>
          </p:spPr>
        </p:pic>
      </p:grpSp>
      <p:sp>
        <p:nvSpPr>
          <p:cNvPr id="10" name="Объект 6">
            <a:extLst>
              <a:ext uri="{FF2B5EF4-FFF2-40B4-BE49-F238E27FC236}">
                <a16:creationId xmlns:a16="http://schemas.microsoft.com/office/drawing/2014/main" id="{C397DB56-B9FD-39A8-5421-9C123E748C67}"/>
              </a:ext>
            </a:extLst>
          </p:cNvPr>
          <p:cNvSpPr>
            <a:spLocks noGrp="1"/>
          </p:cNvSpPr>
          <p:nvPr>
            <p:ph idx="4294967295"/>
          </p:nvPr>
        </p:nvSpPr>
        <p:spPr>
          <a:xfrm>
            <a:off x="924971" y="6326413"/>
            <a:ext cx="9694043"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Жернакова</a:t>
            </a:r>
            <a:r>
              <a:rPr lang="ru-RU" sz="800" dirty="0">
                <a:solidFill>
                  <a:srgbClr val="323F48"/>
                </a:solidFill>
                <a:latin typeface="Calibri" panose="020F0502020204030204" pitchFamily="34" charset="0"/>
                <a:cs typeface="Calibri" panose="020F0502020204030204" pitchFamily="34" charset="0"/>
              </a:rPr>
              <a:t> Ю.В., Чазова И.Е. Роль β-адреноблокаторов в лечении артериальной гипертонии: что мы знаем сегодня // Системные гипертензии. – 2015. – №1. – С. 10-18. </a:t>
            </a:r>
            <a:r>
              <a:rPr lang="ru-RU" sz="800" b="1" dirty="0">
                <a:solidFill>
                  <a:srgbClr val="323F48"/>
                </a:solidFill>
                <a:latin typeface="Calibri" panose="020F0502020204030204" pitchFamily="34" charset="0"/>
                <a:cs typeface="Calibri" panose="020F0502020204030204" pitchFamily="34" charset="0"/>
              </a:rPr>
              <a:t>2. </a:t>
            </a:r>
            <a:r>
              <a:rPr lang="ru-RU" sz="800" dirty="0">
                <a:solidFill>
                  <a:srgbClr val="323F48"/>
                </a:solidFill>
                <a:latin typeface="Calibri" panose="020F0502020204030204" pitchFamily="34" charset="0"/>
                <a:cs typeface="Calibri" panose="020F0502020204030204" pitchFamily="34" charset="0"/>
              </a:rPr>
              <a:t>Карпов Ю.А., Шубина А.Т. Роль β-адреноблокаторов в снижении симпатического тонуса у больных артериальной гипертонией // Атмосфера. Новости кардиологии. – 2018. – №3. – С. 3-9..</a:t>
            </a:r>
          </a:p>
        </p:txBody>
      </p:sp>
      <p:sp>
        <p:nvSpPr>
          <p:cNvPr id="14" name="Заголовок 3">
            <a:extLst>
              <a:ext uri="{FF2B5EF4-FFF2-40B4-BE49-F238E27FC236}">
                <a16:creationId xmlns:a16="http://schemas.microsoft.com/office/drawing/2014/main" id="{23E95E00-CA5A-EB27-3421-0F3E3C85AC3C}"/>
              </a:ext>
            </a:extLst>
          </p:cNvPr>
          <p:cNvSpPr txBox="1">
            <a:spLocks/>
          </p:cNvSpPr>
          <p:nvPr/>
        </p:nvSpPr>
        <p:spPr>
          <a:xfrm>
            <a:off x="895943" y="497766"/>
            <a:ext cx="9285829" cy="78308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Селективные </a:t>
            </a:r>
            <a:r>
              <a:rPr kumimoji="0" lang="el-GR"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β-</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адреноблокаторы имеют благоприятный профиль безопасности</a:t>
            </a:r>
          </a:p>
        </p:txBody>
      </p:sp>
    </p:spTree>
    <p:extLst>
      <p:ext uri="{BB962C8B-B14F-4D97-AF65-F5344CB8AC3E}">
        <p14:creationId xmlns:p14="http://schemas.microsoft.com/office/powerpoint/2010/main" val="397597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9570CBF-185C-B3DB-B734-19AED4472D4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TextBox 3">
            <a:extLst>
              <a:ext uri="{FF2B5EF4-FFF2-40B4-BE49-F238E27FC236}">
                <a16:creationId xmlns:a16="http://schemas.microsoft.com/office/drawing/2014/main" id="{B4AEE673-FDB9-6BAB-5D29-CB757B5A3019}"/>
              </a:ext>
            </a:extLst>
          </p:cNvPr>
          <p:cNvSpPr txBox="1"/>
          <p:nvPr/>
        </p:nvSpPr>
        <p:spPr>
          <a:xfrm rot="16200000">
            <a:off x="-935824" y="3576793"/>
            <a:ext cx="390361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a:ea typeface="+mn-ea"/>
                <a:cs typeface="+mn-cs"/>
              </a:rPr>
              <a:t>Отношение селективности </a:t>
            </a:r>
            <a:r>
              <a:rPr kumimoji="0" lang="en-US" sz="1200" b="1" i="0" u="none" strike="noStrike" kern="1200" cap="none" spc="0" normalizeH="0" baseline="0" noProof="0" dirty="0">
                <a:ln>
                  <a:noFill/>
                </a:ln>
                <a:solidFill>
                  <a:srgbClr val="265374"/>
                </a:solidFill>
                <a:effectLst/>
                <a:uLnTx/>
                <a:uFillTx/>
                <a:latin typeface="Symbol" panose="05050102010706020507" pitchFamily="18" charset="2"/>
                <a:ea typeface="+mn-ea"/>
                <a:cs typeface="+mn-cs"/>
              </a:rPr>
              <a:t>b</a:t>
            </a:r>
            <a:r>
              <a:rPr kumimoji="0" lang="en-US" sz="1200" b="1" i="0" u="none" strike="noStrike" kern="1200" cap="none" spc="0" normalizeH="0" baseline="-25000" noProof="0" dirty="0">
                <a:ln>
                  <a:noFill/>
                </a:ln>
                <a:solidFill>
                  <a:srgbClr val="265374"/>
                </a:solidFill>
                <a:effectLst/>
                <a:uLnTx/>
                <a:uFillTx/>
                <a:latin typeface="Verdana"/>
                <a:ea typeface="+mn-ea"/>
                <a:cs typeface="+mn-cs"/>
              </a:rPr>
              <a:t>2 </a:t>
            </a:r>
            <a:r>
              <a:rPr kumimoji="0" lang="en-US" sz="1200" b="1" i="0" u="none" strike="noStrike" kern="1200" cap="none" spc="0" normalizeH="0" baseline="0" noProof="0" dirty="0">
                <a:ln>
                  <a:noFill/>
                </a:ln>
                <a:solidFill>
                  <a:srgbClr val="265374"/>
                </a:solidFill>
                <a:effectLst/>
                <a:uLnTx/>
                <a:uFillTx/>
                <a:latin typeface="Verdana"/>
                <a:ea typeface="+mn-ea"/>
                <a:cs typeface="+mn-cs"/>
              </a:rPr>
              <a:t>/ </a:t>
            </a:r>
            <a:r>
              <a:rPr kumimoji="0" lang="en-US" sz="1200" b="1" i="0" u="none" strike="noStrike" kern="1200" cap="none" spc="0" normalizeH="0" baseline="0" noProof="0" dirty="0">
                <a:ln>
                  <a:noFill/>
                </a:ln>
                <a:solidFill>
                  <a:srgbClr val="265374"/>
                </a:solidFill>
                <a:effectLst/>
                <a:uLnTx/>
                <a:uFillTx/>
                <a:latin typeface="Symbol" panose="05050102010706020507" pitchFamily="18" charset="2"/>
                <a:ea typeface="+mn-ea"/>
                <a:cs typeface="+mn-cs"/>
              </a:rPr>
              <a:t>b</a:t>
            </a:r>
            <a:r>
              <a:rPr kumimoji="0" lang="en-US" sz="1200" b="1" i="0" u="none" strike="noStrike" kern="1200" cap="none" spc="0" normalizeH="0" baseline="-25000" noProof="0" dirty="0">
                <a:ln>
                  <a:noFill/>
                </a:ln>
                <a:solidFill>
                  <a:srgbClr val="265374"/>
                </a:solidFill>
                <a:effectLst/>
                <a:uLnTx/>
                <a:uFillTx/>
                <a:latin typeface="Verdana"/>
                <a:ea typeface="+mn-ea"/>
                <a:cs typeface="+mn-cs"/>
              </a:rPr>
              <a:t>1</a:t>
            </a:r>
            <a:endParaRPr kumimoji="0" lang="ru-RU" sz="1200" b="1" i="0" u="none" strike="noStrike" kern="1200" cap="none" spc="0" normalizeH="0" baseline="-25000" noProof="0" dirty="0">
              <a:ln>
                <a:noFill/>
              </a:ln>
              <a:solidFill>
                <a:srgbClr val="265374"/>
              </a:solidFill>
              <a:effectLst/>
              <a:uLnTx/>
              <a:uFillTx/>
              <a:latin typeface="Verdana"/>
              <a:ea typeface="+mn-ea"/>
              <a:cs typeface="+mn-cs"/>
            </a:endParaRPr>
          </a:p>
        </p:txBody>
      </p:sp>
      <p:graphicFrame>
        <p:nvGraphicFramePr>
          <p:cNvPr id="8" name="Объект 6">
            <a:extLst>
              <a:ext uri="{FF2B5EF4-FFF2-40B4-BE49-F238E27FC236}">
                <a16:creationId xmlns:a16="http://schemas.microsoft.com/office/drawing/2014/main" id="{A2A7000D-0475-1344-2520-F638BEE482BA}"/>
              </a:ext>
            </a:extLst>
          </p:cNvPr>
          <p:cNvGraphicFramePr>
            <a:graphicFrameLocks/>
          </p:cNvGraphicFramePr>
          <p:nvPr/>
        </p:nvGraphicFramePr>
        <p:xfrm>
          <a:off x="1383998" y="1763484"/>
          <a:ext cx="9833731" cy="4105673"/>
        </p:xfrm>
        <a:graphic>
          <a:graphicData uri="http://schemas.openxmlformats.org/drawingml/2006/chart">
            <c:chart xmlns:c="http://schemas.openxmlformats.org/drawingml/2006/chart" xmlns:r="http://schemas.openxmlformats.org/officeDocument/2006/relationships" r:id="rId4"/>
          </a:graphicData>
        </a:graphic>
      </p:graphicFrame>
      <p:sp>
        <p:nvSpPr>
          <p:cNvPr id="13" name="Объект 2">
            <a:extLst>
              <a:ext uri="{FF2B5EF4-FFF2-40B4-BE49-F238E27FC236}">
                <a16:creationId xmlns:a16="http://schemas.microsoft.com/office/drawing/2014/main" id="{8A252A43-2CB5-0ED6-ED58-15B4BEED1436}"/>
              </a:ext>
            </a:extLst>
          </p:cNvPr>
          <p:cNvSpPr>
            <a:spLocks noGrp="1"/>
          </p:cNvSpPr>
          <p:nvPr>
            <p:ph idx="4294967295"/>
          </p:nvPr>
        </p:nvSpPr>
        <p:spPr>
          <a:xfrm>
            <a:off x="924971" y="6131365"/>
            <a:ext cx="9694043" cy="457738"/>
          </a:xfrm>
        </p:spPr>
        <p:txBody>
          <a:bodyPr>
            <a:noAutofit/>
          </a:bodyPr>
          <a:lstStyle/>
          <a:p>
            <a:pPr marL="0" indent="0">
              <a:lnSpc>
                <a:spcPct val="120000"/>
              </a:lnSpc>
              <a:spcBef>
                <a:spcPts val="300"/>
              </a:spcBef>
              <a:buNone/>
            </a:pPr>
            <a:r>
              <a:rPr lang="ru-RU" altLang="en-US" sz="800" noProof="0" dirty="0">
                <a:solidFill>
                  <a:srgbClr val="323F48"/>
                </a:solidFill>
                <a:latin typeface="Calibri" panose="020F0502020204030204" pitchFamily="34" charset="0"/>
                <a:cs typeface="Calibri" panose="020F0502020204030204" pitchFamily="34" charset="0"/>
              </a:rPr>
              <a:t>График адаптирован из ссылки </a:t>
            </a:r>
            <a:r>
              <a:rPr lang="ru-RU" altLang="en-US" sz="800" b="1" noProof="0" dirty="0">
                <a:solidFill>
                  <a:srgbClr val="323F48"/>
                </a:solidFill>
                <a:latin typeface="Calibri" panose="020F0502020204030204" pitchFamily="34" charset="0"/>
                <a:cs typeface="Calibri" panose="020F0502020204030204" pitchFamily="34" charset="0"/>
              </a:rPr>
              <a:t>2</a:t>
            </a:r>
            <a:endParaRPr lang="de-DE" altLang="en-US" sz="800" b="1" noProof="0" dirty="0">
              <a:solidFill>
                <a:srgbClr val="323F48"/>
              </a:solidFill>
              <a:latin typeface="Calibri" panose="020F0502020204030204" pitchFamily="34" charset="0"/>
              <a:cs typeface="Calibri" panose="020F0502020204030204" pitchFamily="34" charset="0"/>
            </a:endParaRPr>
          </a:p>
          <a:p>
            <a:pPr marL="0" indent="0">
              <a:lnSpc>
                <a:spcPct val="12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Smith C, </a:t>
            </a:r>
            <a:r>
              <a:rPr lang="en-US" sz="800" dirty="0" err="1">
                <a:solidFill>
                  <a:srgbClr val="323F48"/>
                </a:solidFill>
                <a:latin typeface="Calibri" panose="020F0502020204030204" pitchFamily="34" charset="0"/>
                <a:cs typeface="Calibri" panose="020F0502020204030204" pitchFamily="34" charset="0"/>
              </a:rPr>
              <a:t>Teitler</a:t>
            </a:r>
            <a:r>
              <a:rPr lang="en-US" sz="800" dirty="0">
                <a:solidFill>
                  <a:srgbClr val="323F48"/>
                </a:solidFill>
                <a:latin typeface="Calibri" panose="020F0502020204030204" pitchFamily="34" charset="0"/>
                <a:cs typeface="Calibri" panose="020F0502020204030204" pitchFamily="34" charset="0"/>
              </a:rPr>
              <a:t> M. Beta-blocker selectivity at cloned human beta1- and beta2-adrenergic receptors. Cardiovasc Drugs </a:t>
            </a:r>
            <a:r>
              <a:rPr lang="en-US" sz="800" dirty="0" err="1">
                <a:solidFill>
                  <a:srgbClr val="323F48"/>
                </a:solidFill>
                <a:latin typeface="Calibri" panose="020F0502020204030204" pitchFamily="34" charset="0"/>
                <a:cs typeface="Calibri" panose="020F0502020204030204" pitchFamily="34" charset="0"/>
              </a:rPr>
              <a:t>Ther</a:t>
            </a:r>
            <a:r>
              <a:rPr lang="en-US" sz="800" dirty="0">
                <a:solidFill>
                  <a:srgbClr val="323F48"/>
                </a:solidFill>
                <a:latin typeface="Calibri" panose="020F0502020204030204" pitchFamily="34" charset="0"/>
                <a:cs typeface="Calibri" panose="020F0502020204030204" pitchFamily="34" charset="0"/>
              </a:rPr>
              <a:t>. 1999;13:123–6.</a:t>
            </a:r>
          </a:p>
          <a:p>
            <a:pPr marL="0" indent="0">
              <a:lnSpc>
                <a:spcPct val="120000"/>
              </a:lnSpc>
              <a:spcBef>
                <a:spcPts val="300"/>
              </a:spcBef>
              <a:buNone/>
            </a:pPr>
            <a:r>
              <a:rPr lang="en-US" sz="800" b="1" dirty="0">
                <a:solidFill>
                  <a:srgbClr val="323F48"/>
                </a:solidFill>
                <a:latin typeface="Calibri" panose="020F0502020204030204" pitchFamily="34" charset="0"/>
                <a:cs typeface="Calibri" panose="020F0502020204030204" pitchFamily="34" charset="0"/>
              </a:rPr>
              <a:t>2. </a:t>
            </a:r>
            <a:r>
              <a:rPr lang="en-US" sz="800" dirty="0">
                <a:solidFill>
                  <a:srgbClr val="323F48"/>
                </a:solidFill>
                <a:latin typeface="Calibri" panose="020F0502020204030204" pitchFamily="34" charset="0"/>
                <a:cs typeface="Calibri" panose="020F0502020204030204" pitchFamily="34" charset="0"/>
              </a:rPr>
              <a:t>Cruickshank JM. Essential Hypertension. Shelton, CT: People's Medical Publishing House-USA;2013, Fig. 8-28.</a:t>
            </a:r>
          </a:p>
        </p:txBody>
      </p:sp>
      <p:sp>
        <p:nvSpPr>
          <p:cNvPr id="17" name="TextBox 16">
            <a:extLst>
              <a:ext uri="{FF2B5EF4-FFF2-40B4-BE49-F238E27FC236}">
                <a16:creationId xmlns:a16="http://schemas.microsoft.com/office/drawing/2014/main" id="{72708816-E565-10FD-FFCD-F4F0555DB2BE}"/>
              </a:ext>
            </a:extLst>
          </p:cNvPr>
          <p:cNvSpPr txBox="1"/>
          <p:nvPr/>
        </p:nvSpPr>
        <p:spPr>
          <a:xfrm>
            <a:off x="4998079" y="1020339"/>
            <a:ext cx="6381751" cy="1076513"/>
          </a:xfrm>
          <a:prstGeom prst="rect">
            <a:avLst/>
          </a:prstGeom>
          <a:solidFill>
            <a:schemeClr val="bg1"/>
          </a:solid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более высокой аффинностью </a:t>
            </a:r>
            <a:b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отношении </a:t>
            </a:r>
            <a:r>
              <a:rPr kumimoji="0" lang="el-GR"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en-US" sz="2000" b="1" i="0" u="none" strike="noStrike" kern="1200" cap="none" spc="0" normalizeH="0" baseline="-25000" noProof="0" dirty="0">
                <a:ln>
                  <a:noFill/>
                </a:ln>
                <a:solidFill>
                  <a:srgbClr val="265374"/>
                </a:solidFill>
                <a:effectLst/>
                <a:uLnTx/>
                <a:uFillTx/>
                <a:latin typeface="Verdana" panose="020B0604030504040204" pitchFamily="34" charset="0"/>
                <a:ea typeface="Verdana" panose="020B0604030504040204" pitchFamily="34" charset="0"/>
                <a:cs typeface="+mn-cs"/>
              </a:rPr>
              <a:t>1</a:t>
            </a:r>
            <a:r>
              <a:rPr kumimoji="0" lang="en-US"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рецептора </a:t>
            </a:r>
            <a:b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по сравнению с </a:t>
            </a:r>
            <a:r>
              <a:rPr kumimoji="0" lang="el-GR"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β</a:t>
            </a:r>
            <a:r>
              <a:rPr kumimoji="0" lang="ru-RU" sz="2000" b="1" i="0" u="none" strike="noStrike" kern="1200" cap="none" spc="0" normalizeH="0" baseline="-25000" noProof="0" dirty="0">
                <a:ln>
                  <a:noFill/>
                </a:ln>
                <a:solidFill>
                  <a:srgbClr val="265374"/>
                </a:solidFill>
                <a:effectLst/>
                <a:uLnTx/>
                <a:uFillTx/>
                <a:latin typeface="Verdana" panose="020B0604030504040204" pitchFamily="34" charset="0"/>
                <a:ea typeface="Verdana" panose="020B0604030504040204" pitchFamily="34" charset="0"/>
                <a:cs typeface="+mn-cs"/>
              </a:rPr>
              <a:t>2</a:t>
            </a:r>
            <a:r>
              <a:rPr kumimoji="0" lang="en-US"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рецептором</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n-cs"/>
              </a:rPr>
              <a:t>1</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p>
        </p:txBody>
      </p:sp>
      <p:sp>
        <p:nvSpPr>
          <p:cNvPr id="18" name="Заголовок 6">
            <a:extLst>
              <a:ext uri="{FF2B5EF4-FFF2-40B4-BE49-F238E27FC236}">
                <a16:creationId xmlns:a16="http://schemas.microsoft.com/office/drawing/2014/main" id="{CE0B37D9-E904-D8D1-0944-2894B39A475A}"/>
              </a:ext>
            </a:extLst>
          </p:cNvPr>
          <p:cNvSpPr txBox="1">
            <a:spLocks/>
          </p:cNvSpPr>
          <p:nvPr/>
        </p:nvSpPr>
        <p:spPr>
          <a:xfrm>
            <a:off x="924971" y="268897"/>
            <a:ext cx="9225958" cy="1363691"/>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Бисопролол</a:t>
            </a: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обладает в </a:t>
            </a:r>
            <a:r>
              <a:rPr kumimoji="0" lang="ru-RU" sz="5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19,6</a:t>
            </a:r>
            <a:r>
              <a:rPr kumimoji="0" lang="ru-RU" sz="2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j-cs"/>
              </a:rPr>
              <a:t> раз</a:t>
            </a:r>
          </a:p>
        </p:txBody>
      </p:sp>
    </p:spTree>
    <p:custDataLst>
      <p:tags r:id="rId1"/>
    </p:custDataLst>
    <p:extLst>
      <p:ext uri="{BB962C8B-B14F-4D97-AF65-F5344CB8AC3E}">
        <p14:creationId xmlns:p14="http://schemas.microsoft.com/office/powerpoint/2010/main" val="15616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14">
            <a:extLst>
              <a:ext uri="{FF2B5EF4-FFF2-40B4-BE49-F238E27FC236}">
                <a16:creationId xmlns:a16="http://schemas.microsoft.com/office/drawing/2014/main" id="{9D1519BC-04F5-5C3A-29F8-1A9D29473831}"/>
              </a:ext>
            </a:extLst>
          </p:cNvPr>
          <p:cNvSpPr txBox="1"/>
          <p:nvPr/>
        </p:nvSpPr>
        <p:spPr>
          <a:xfrm>
            <a:off x="818998" y="6423702"/>
            <a:ext cx="6082114" cy="21544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a:ln>
                  <a:noFill/>
                </a:ln>
                <a:solidFill>
                  <a:srgbClr val="265374"/>
                </a:solidFill>
                <a:effectLst/>
                <a:uLnTx/>
                <a:uFillTx/>
                <a:latin typeface="Calibri" panose="020F0502020204030204"/>
                <a:ea typeface="+mn-ea"/>
                <a:cs typeface="+mn-cs"/>
              </a:rPr>
              <a:t>1. </a:t>
            </a:r>
            <a:r>
              <a:rPr kumimoji="0" lang="en-US" sz="800" b="0" i="0" u="none" strike="noStrike" kern="1200" cap="none" spc="0" normalizeH="0" baseline="0" noProof="0">
                <a:ln>
                  <a:noFill/>
                </a:ln>
                <a:solidFill>
                  <a:srgbClr val="265374"/>
                </a:solidFill>
                <a:effectLst/>
                <a:uLnTx/>
                <a:uFillTx/>
                <a:latin typeface="Calibri" panose="020F0502020204030204"/>
                <a:ea typeface="+mn-ea"/>
                <a:cs typeface="+mn-cs"/>
              </a:rPr>
              <a:t>Brunton </a:t>
            </a:r>
            <a:r>
              <a:rPr kumimoji="0" lang="en-US" sz="800" b="0" i="0" u="none" strike="noStrike" kern="1200" cap="none" spc="0" normalizeH="0" baseline="0" noProof="0" dirty="0">
                <a:ln>
                  <a:noFill/>
                </a:ln>
                <a:solidFill>
                  <a:srgbClr val="265374"/>
                </a:solidFill>
                <a:effectLst/>
                <a:uLnTx/>
                <a:uFillTx/>
                <a:latin typeface="Calibri" panose="020F0502020204030204"/>
                <a:ea typeface="+mn-ea"/>
                <a:cs typeface="+mn-cs"/>
              </a:rPr>
              <a:t>LL, Lazo JS, Parker KL, eds. Goodman &amp; Gilman's The Pharmacological Basis of Therapeutics. 11th ed. New York: McGraw-Hill; 2006.</a:t>
            </a:r>
            <a:endParaRPr kumimoji="0" lang="nl-NL" sz="800" b="0" i="0" u="none" strike="noStrike" kern="1200" cap="none" spc="0" normalizeH="0" baseline="0" noProof="0" dirty="0">
              <a:ln>
                <a:noFill/>
              </a:ln>
              <a:solidFill>
                <a:srgbClr val="265374"/>
              </a:solidFill>
              <a:effectLst/>
              <a:uLnTx/>
              <a:uFillTx/>
              <a:latin typeface="Calibri" panose="020F0502020204030204"/>
              <a:ea typeface="+mn-ea"/>
              <a:cs typeface="+mn-cs"/>
            </a:endParaRPr>
          </a:p>
        </p:txBody>
      </p:sp>
      <p:graphicFrame>
        <p:nvGraphicFramePr>
          <p:cNvPr id="3" name="Таблица 3">
            <a:extLst>
              <a:ext uri="{FF2B5EF4-FFF2-40B4-BE49-F238E27FC236}">
                <a16:creationId xmlns:a16="http://schemas.microsoft.com/office/drawing/2014/main" id="{36E7FF49-6318-BC8D-4B81-D3A58AE8057E}"/>
              </a:ext>
            </a:extLst>
          </p:cNvPr>
          <p:cNvGraphicFramePr>
            <a:graphicFrameLocks noGrp="1"/>
          </p:cNvGraphicFramePr>
          <p:nvPr>
            <p:ph idx="4294967295"/>
          </p:nvPr>
        </p:nvGraphicFramePr>
        <p:xfrm>
          <a:off x="924971" y="1440232"/>
          <a:ext cx="10643142" cy="4075708"/>
        </p:xfrm>
        <a:graphic>
          <a:graphicData uri="http://schemas.openxmlformats.org/drawingml/2006/table">
            <a:tbl>
              <a:tblPr firstRow="1" bandRow="1">
                <a:tableStyleId>{00A15C55-8517-42AA-B614-E9B94910E393}</a:tableStyleId>
              </a:tblPr>
              <a:tblGrid>
                <a:gridCol w="3370336">
                  <a:extLst>
                    <a:ext uri="{9D8B030D-6E8A-4147-A177-3AD203B41FA5}">
                      <a16:colId xmlns:a16="http://schemas.microsoft.com/office/drawing/2014/main" val="2244928359"/>
                    </a:ext>
                  </a:extLst>
                </a:gridCol>
                <a:gridCol w="1679317">
                  <a:extLst>
                    <a:ext uri="{9D8B030D-6E8A-4147-A177-3AD203B41FA5}">
                      <a16:colId xmlns:a16="http://schemas.microsoft.com/office/drawing/2014/main" val="2283107691"/>
                    </a:ext>
                  </a:extLst>
                </a:gridCol>
                <a:gridCol w="1336233">
                  <a:extLst>
                    <a:ext uri="{9D8B030D-6E8A-4147-A177-3AD203B41FA5}">
                      <a16:colId xmlns:a16="http://schemas.microsoft.com/office/drawing/2014/main" val="965785258"/>
                    </a:ext>
                  </a:extLst>
                </a:gridCol>
                <a:gridCol w="2128628">
                  <a:extLst>
                    <a:ext uri="{9D8B030D-6E8A-4147-A177-3AD203B41FA5}">
                      <a16:colId xmlns:a16="http://schemas.microsoft.com/office/drawing/2014/main" val="518235773"/>
                    </a:ext>
                  </a:extLst>
                </a:gridCol>
                <a:gridCol w="2128628">
                  <a:extLst>
                    <a:ext uri="{9D8B030D-6E8A-4147-A177-3AD203B41FA5}">
                      <a16:colId xmlns:a16="http://schemas.microsoft.com/office/drawing/2014/main" val="939160510"/>
                    </a:ext>
                  </a:extLst>
                </a:gridCol>
              </a:tblGrid>
              <a:tr h="582244">
                <a:tc>
                  <a:txBody>
                    <a:bodyPr/>
                    <a:lstStyle/>
                    <a:p>
                      <a:r>
                        <a:rPr lang="el-GR" sz="1400" b="1" dirty="0">
                          <a:solidFill>
                            <a:schemeClr val="bg1"/>
                          </a:solidFill>
                          <a:latin typeface="Verdana" panose="020B0604030504040204" pitchFamily="34" charset="0"/>
                          <a:ea typeface="Verdana" panose="020B0604030504040204" pitchFamily="34" charset="0"/>
                        </a:rPr>
                        <a:t>β</a:t>
                      </a:r>
                      <a:r>
                        <a:rPr lang="el-GR" sz="1400" b="1" baseline="-25000" dirty="0">
                          <a:solidFill>
                            <a:schemeClr val="bg1"/>
                          </a:solidFill>
                          <a:latin typeface="Verdana" panose="020B0604030504040204" pitchFamily="34" charset="0"/>
                          <a:ea typeface="Verdana" panose="020B0604030504040204" pitchFamily="34" charset="0"/>
                        </a:rPr>
                        <a:t>1</a:t>
                      </a:r>
                      <a:r>
                        <a:rPr lang="el-GR"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селективность</a:t>
                      </a:r>
                      <a:endParaRPr lang="ru-RU" sz="1400" dirty="0">
                        <a:solidFill>
                          <a:schemeClr val="bg1"/>
                        </a:solidFill>
                        <a:latin typeface="Verdana" panose="020B0604030504040204" pitchFamily="34" charset="0"/>
                        <a:ea typeface="Verdana" panose="020B0604030504040204" pitchFamily="34" charset="0"/>
                      </a:endParaRPr>
                    </a:p>
                  </a:txBody>
                  <a:tcPr marL="288000" anchor="ctr">
                    <a:solidFill>
                      <a:srgbClr val="398ACB"/>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rPr>
                        <a:t>(%)</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en-US"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часы</a:t>
                      </a:r>
                      <a:r>
                        <a:rPr lang="en-US" sz="1400" b="1" dirty="0">
                          <a:solidFill>
                            <a:schemeClr val="bg1"/>
                          </a:solidFill>
                          <a:latin typeface="Verdana" panose="020B0604030504040204" pitchFamily="34" charset="0"/>
                          <a:ea typeface="Verdana" panose="020B0604030504040204" pitchFamily="34" charset="0"/>
                        </a:rPr>
                        <a:t>)</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ru-RU" sz="1400" b="1" dirty="0">
                          <a:solidFill>
                            <a:schemeClr val="bg1"/>
                          </a:solidFill>
                          <a:latin typeface="Verdana" panose="020B0604030504040204" pitchFamily="34" charset="0"/>
                          <a:ea typeface="Verdana" panose="020B0604030504040204" pitchFamily="34" charset="0"/>
                        </a:rPr>
                        <a:t>выведение</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tc>
                  <a:txBody>
                    <a:bodyPr/>
                    <a:lstStyle/>
                    <a:p>
                      <a:pPr algn="ctr"/>
                      <a:r>
                        <a:rPr lang="ru-RU" sz="1400" b="1" dirty="0">
                          <a:solidFill>
                            <a:schemeClr val="bg1"/>
                          </a:solidFill>
                          <a:latin typeface="Verdana" panose="020B0604030504040204" pitchFamily="34" charset="0"/>
                          <a:ea typeface="Verdana" panose="020B0604030504040204" pitchFamily="34" charset="0"/>
                        </a:rPr>
                        <a:t>липиды</a:t>
                      </a:r>
                      <a:r>
                        <a:rPr lang="en-US" sz="1400" b="1" dirty="0">
                          <a:solidFill>
                            <a:schemeClr val="bg1"/>
                          </a:solidFill>
                          <a:latin typeface="Verdana" panose="020B0604030504040204" pitchFamily="34" charset="0"/>
                          <a:ea typeface="Verdana" panose="020B0604030504040204" pitchFamily="34" charset="0"/>
                        </a:rPr>
                        <a:t>/</a:t>
                      </a:r>
                      <a:r>
                        <a:rPr lang="ru-RU" sz="1400" b="1" dirty="0">
                          <a:solidFill>
                            <a:schemeClr val="bg1"/>
                          </a:solidFill>
                          <a:latin typeface="Verdana" panose="020B0604030504040204" pitchFamily="34" charset="0"/>
                          <a:ea typeface="Verdana" panose="020B0604030504040204" pitchFamily="34" charset="0"/>
                        </a:rPr>
                        <a:t>глюкоза</a:t>
                      </a:r>
                      <a:endParaRPr lang="ru-RU" sz="1400" dirty="0">
                        <a:solidFill>
                          <a:schemeClr val="bg1"/>
                        </a:solidFill>
                        <a:latin typeface="Verdana" panose="020B0604030504040204" pitchFamily="34" charset="0"/>
                        <a:ea typeface="Verdana" panose="020B0604030504040204" pitchFamily="34" charset="0"/>
                      </a:endParaRPr>
                    </a:p>
                  </a:txBody>
                  <a:tcPr marL="72000" anchor="ctr">
                    <a:solidFill>
                      <a:srgbClr val="398ACB"/>
                    </a:solidFill>
                  </a:tcPr>
                </a:tc>
                <a:extLst>
                  <a:ext uri="{0D108BD9-81ED-4DB2-BD59-A6C34878D82A}">
                    <a16:rowId xmlns:a16="http://schemas.microsoft.com/office/drawing/2014/main" val="244570226"/>
                  </a:ext>
                </a:extLst>
              </a:tr>
              <a:tr h="582244">
                <a:tc>
                  <a:txBody>
                    <a:bodyPr/>
                    <a:lstStyle/>
                    <a:p>
                      <a:pPr>
                        <a:lnSpc>
                          <a:spcPct val="107000"/>
                        </a:lnSpc>
                        <a:spcAft>
                          <a:spcPts val="800"/>
                        </a:spcAft>
                      </a:pPr>
                      <a:r>
                        <a:rPr lang="ru-RU" sz="1600" b="1" dirty="0" err="1">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Бисопролол</a:t>
                      </a: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 +</a:t>
                      </a:r>
                    </a:p>
                  </a:txBody>
                  <a:tcPr marL="288000" marR="68580" marT="0" marB="0" anchor="ctr">
                    <a:solidFill>
                      <a:srgbClr val="BFE8EE"/>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90</a:t>
                      </a:r>
                    </a:p>
                  </a:txBody>
                  <a:tcPr marL="7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11</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17</a:t>
                      </a:r>
                    </a:p>
                  </a:txBody>
                  <a:tcPr marL="324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почки/печень </a:t>
                      </a:r>
                    </a:p>
                  </a:txBody>
                  <a:tcPr marL="25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нет</a:t>
                      </a:r>
                    </a:p>
                  </a:txBody>
                  <a:tcPr marL="792000" marR="68580" marT="0" marB="0" anchor="ctr">
                    <a:solidFill>
                      <a:srgbClr val="BFE8EE"/>
                    </a:solidFill>
                  </a:tcPr>
                </a:tc>
                <a:extLst>
                  <a:ext uri="{0D108BD9-81ED-4DB2-BD59-A6C34878D82A}">
                    <a16:rowId xmlns:a16="http://schemas.microsoft.com/office/drawing/2014/main" val="24915643"/>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Карведилол    +</a:t>
                      </a:r>
                    </a:p>
                  </a:txBody>
                  <a:tcPr marL="288000" marR="68580" marT="0" marB="0" anchor="ctr">
                    <a:solidFill>
                      <a:srgbClr val="E8F3F7"/>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60</a:t>
                      </a:r>
                    </a:p>
                  </a:txBody>
                  <a:tcPr marL="7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7</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10</a:t>
                      </a: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p>
                  </a:txBody>
                  <a:tcPr marL="792000" marR="68580" marT="0" marB="0" anchor="ctr">
                    <a:solidFill>
                      <a:srgbClr val="E8F3F7"/>
                    </a:solidFill>
                  </a:tcPr>
                </a:tc>
                <a:extLst>
                  <a:ext uri="{0D108BD9-81ED-4DB2-BD59-A6C34878D82A}">
                    <a16:rowId xmlns:a16="http://schemas.microsoft.com/office/drawing/2014/main" val="3437291664"/>
                  </a:ext>
                </a:extLst>
              </a:tr>
              <a:tr h="582244">
                <a:tc>
                  <a:txBody>
                    <a:bodyPr/>
                    <a:lstStyle/>
                    <a:p>
                      <a:pPr>
                        <a:lnSpc>
                          <a:spcPct val="107000"/>
                        </a:lnSpc>
                        <a:spcAft>
                          <a:spcPts val="800"/>
                        </a:spcAft>
                      </a:pPr>
                      <a:r>
                        <a:rPr lang="ru-RU" sz="1600" b="1" dirty="0" err="1">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Небиволол</a:t>
                      </a: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 +</a:t>
                      </a:r>
                    </a:p>
                  </a:txBody>
                  <a:tcPr marL="288000" marR="68580" marT="0" marB="0" anchor="ctr">
                    <a:solidFill>
                      <a:srgbClr val="BFE8EE"/>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90</a:t>
                      </a:r>
                    </a:p>
                  </a:txBody>
                  <a:tcPr marL="7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10</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20</a:t>
                      </a:r>
                    </a:p>
                  </a:txBody>
                  <a:tcPr marL="324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почки/печень </a:t>
                      </a:r>
                    </a:p>
                  </a:txBody>
                  <a:tcPr marL="252000" marR="68580" marT="0" marB="0" anchor="ctr">
                    <a:solidFill>
                      <a:srgbClr val="BFE8EE"/>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нет </a:t>
                      </a:r>
                    </a:p>
                  </a:txBody>
                  <a:tcPr marL="792000" marR="68580" marT="0" marB="0" anchor="ctr">
                    <a:solidFill>
                      <a:srgbClr val="BFE8EE"/>
                    </a:solidFill>
                  </a:tcPr>
                </a:tc>
                <a:extLst>
                  <a:ext uri="{0D108BD9-81ED-4DB2-BD59-A6C34878D82A}">
                    <a16:rowId xmlns:a16="http://schemas.microsoft.com/office/drawing/2014/main" val="1829288747"/>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Метопролол   + + +</a:t>
                      </a:r>
                    </a:p>
                  </a:txBody>
                  <a:tcPr marL="288000" marR="68580" marT="0" marB="0" anchor="ctr">
                    <a:solidFill>
                      <a:srgbClr val="E8F3F7"/>
                    </a:solidFill>
                  </a:tcPr>
                </a:tc>
                <a:tc>
                  <a:txBody>
                    <a:bodyPr/>
                    <a:lstStyle/>
                    <a:p>
                      <a:pPr algn="ctr">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50</a:t>
                      </a:r>
                    </a:p>
                  </a:txBody>
                  <a:tcPr marL="7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3</a:t>
                      </a: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6</a:t>
                      </a: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p>
                  </a:txBody>
                  <a:tcPr marL="792000" marR="68580" marT="0" marB="0" anchor="ctr">
                    <a:solidFill>
                      <a:srgbClr val="E8F3F7"/>
                    </a:solidFill>
                  </a:tcPr>
                </a:tc>
                <a:extLst>
                  <a:ext uri="{0D108BD9-81ED-4DB2-BD59-A6C34878D82A}">
                    <a16:rowId xmlns:a16="http://schemas.microsoft.com/office/drawing/2014/main" val="1792228499"/>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Атенолол</a:t>
                      </a:r>
                      <a:r>
                        <a:rPr lang="en-US"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a:t>
                      </a:r>
                      <a:endPar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288000" marR="68580" marT="0" marB="0" anchor="ctr">
                    <a:solidFill>
                      <a:srgbClr val="BFE8EE"/>
                    </a:solidFill>
                  </a:tcPr>
                </a:tc>
                <a:tc>
                  <a:txBody>
                    <a:bodyPr/>
                    <a:lstStyle/>
                    <a:p>
                      <a:pPr algn="ctr">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40</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5–7</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324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a:t>
                      </a: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почки </a:t>
                      </a:r>
                    </a:p>
                  </a:txBody>
                  <a:tcPr marL="252000" marR="68580" marT="0" marB="0" anchor="ctr">
                    <a:solidFill>
                      <a:srgbClr val="BFE8EE"/>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92000" marR="68580" marT="0" marB="0" anchor="ctr">
                    <a:solidFill>
                      <a:srgbClr val="BFE8EE"/>
                    </a:solidFill>
                  </a:tcPr>
                </a:tc>
                <a:extLst>
                  <a:ext uri="{0D108BD9-81ED-4DB2-BD59-A6C34878D82A}">
                    <a16:rowId xmlns:a16="http://schemas.microsoft.com/office/drawing/2014/main" val="159373703"/>
                  </a:ext>
                </a:extLst>
              </a:tr>
              <a:tr h="582244">
                <a:tc>
                  <a:txBody>
                    <a:bodyPr/>
                    <a:lstStyle/>
                    <a:p>
                      <a:pPr>
                        <a:lnSpc>
                          <a:spcPct val="107000"/>
                        </a:lnSpc>
                        <a:spcAft>
                          <a:spcPts val="800"/>
                        </a:spcAft>
                      </a:pPr>
                      <a:r>
                        <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Пропранолол</a:t>
                      </a:r>
                      <a:r>
                        <a:rPr lang="en-US"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a:t>
                      </a:r>
                      <a:endParaRPr lang="ru-RU" sz="16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288000" marR="68580" marT="0" marB="0" anchor="ctr">
                    <a:solidFill>
                      <a:srgbClr val="E8F3F7"/>
                    </a:solidFill>
                  </a:tcPr>
                </a:tc>
                <a:tc>
                  <a:txBody>
                    <a:bodyPr/>
                    <a:lstStyle/>
                    <a:p>
                      <a:pPr algn="ctr">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30</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2000" marR="68580" marT="0" marB="0" anchor="ctr">
                    <a:solidFill>
                      <a:srgbClr val="E8F3F7"/>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4–6</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324000" marR="68580" marT="0" marB="0" anchor="ctr">
                    <a:solidFill>
                      <a:srgbClr val="E8F3F7"/>
                    </a:solidFill>
                  </a:tcPr>
                </a:tc>
                <a:tc>
                  <a:txBody>
                    <a:bodyPr/>
                    <a:lstStyle/>
                    <a:p>
                      <a:pPr algn="l">
                        <a:lnSpc>
                          <a:spcPct val="107000"/>
                        </a:lnSpc>
                        <a:spcAft>
                          <a:spcPts val="800"/>
                        </a:spcAft>
                      </a:pPr>
                      <a:r>
                        <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печень </a:t>
                      </a:r>
                    </a:p>
                  </a:txBody>
                  <a:tcPr marL="252000" marR="68580" marT="0" marB="0" anchor="ctr">
                    <a:solidFill>
                      <a:srgbClr val="E8F3F7"/>
                    </a:solidFill>
                  </a:tcPr>
                </a:tc>
                <a:tc>
                  <a:txBody>
                    <a:bodyPr/>
                    <a:lstStyle/>
                    <a:p>
                      <a:pPr algn="l">
                        <a:lnSpc>
                          <a:spcPct val="107000"/>
                        </a:lnSpc>
                        <a:spcAft>
                          <a:spcPts val="800"/>
                        </a:spcAft>
                      </a:pPr>
                      <a:r>
                        <a:rPr lang="en-US"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rPr>
                        <a:t>+ + + +</a:t>
                      </a:r>
                      <a:endParaRPr lang="ru-RU" sz="160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792000" marR="68580" marT="0" marB="0" anchor="ctr">
                    <a:solidFill>
                      <a:srgbClr val="E8F3F7"/>
                    </a:solidFill>
                  </a:tcPr>
                </a:tc>
                <a:extLst>
                  <a:ext uri="{0D108BD9-81ED-4DB2-BD59-A6C34878D82A}">
                    <a16:rowId xmlns:a16="http://schemas.microsoft.com/office/drawing/2014/main" val="1578958187"/>
                  </a:ext>
                </a:extLst>
              </a:tr>
            </a:tbl>
          </a:graphicData>
        </a:graphic>
      </p:graphicFrame>
      <p:sp>
        <p:nvSpPr>
          <p:cNvPr id="11" name="Номер слайда 10">
            <a:extLst>
              <a:ext uri="{FF2B5EF4-FFF2-40B4-BE49-F238E27FC236}">
                <a16:creationId xmlns:a16="http://schemas.microsoft.com/office/drawing/2014/main" id="{749729FB-7083-EF24-BE34-CA26CD02DB4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Rectangle: Rounded Corners 6">
            <a:extLst>
              <a:ext uri="{FF2B5EF4-FFF2-40B4-BE49-F238E27FC236}">
                <a16:creationId xmlns:a16="http://schemas.microsoft.com/office/drawing/2014/main" id="{E0964B73-00F6-71F7-B9E6-D3361305A9C3}"/>
              </a:ext>
            </a:extLst>
          </p:cNvPr>
          <p:cNvSpPr/>
          <p:nvPr/>
        </p:nvSpPr>
        <p:spPr>
          <a:xfrm>
            <a:off x="723900" y="2016213"/>
            <a:ext cx="10989129" cy="595691"/>
          </a:xfrm>
          <a:prstGeom prst="roundRect">
            <a:avLst>
              <a:gd name="adj" fmla="val 11180"/>
            </a:avLst>
          </a:prstGeom>
          <a:solidFill>
            <a:schemeClr val="bg2">
              <a:alpha val="21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9" name="Заголовок 4">
            <a:extLst>
              <a:ext uri="{FF2B5EF4-FFF2-40B4-BE49-F238E27FC236}">
                <a16:creationId xmlns:a16="http://schemas.microsoft.com/office/drawing/2014/main" id="{C2882A81-F00C-5019-0D84-7FEE749D7E0C}"/>
              </a:ext>
            </a:extLst>
          </p:cNvPr>
          <p:cNvSpPr txBox="1">
            <a:spLocks/>
          </p:cNvSpPr>
          <p:nvPr/>
        </p:nvSpPr>
        <p:spPr>
          <a:xfrm>
            <a:off x="895943" y="543832"/>
            <a:ext cx="8126500" cy="783083"/>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Наиболее часто используемые бета-блокаторы</a:t>
            </a:r>
            <a:r>
              <a:rPr kumimoji="0" lang="ru-RU" sz="2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spTree>
    <p:extLst>
      <p:ext uri="{BB962C8B-B14F-4D97-AF65-F5344CB8AC3E}">
        <p14:creationId xmlns:p14="http://schemas.microsoft.com/office/powerpoint/2010/main" val="354483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Рисунок 47">
            <a:extLst>
              <a:ext uri="{FF2B5EF4-FFF2-40B4-BE49-F238E27FC236}">
                <a16:creationId xmlns:a16="http://schemas.microsoft.com/office/drawing/2014/main" id="{1967D8D3-BE62-CA1B-B190-EF45B9C7E1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55" r="29903" b="5518"/>
          <a:stretch/>
        </p:blipFill>
        <p:spPr bwMode="auto">
          <a:xfrm>
            <a:off x="8488821" y="1381854"/>
            <a:ext cx="3458284" cy="2922691"/>
          </a:xfrm>
          <a:custGeom>
            <a:avLst/>
            <a:gdLst>
              <a:gd name="connsiteX0" fmla="*/ 1279697 w 2282681"/>
              <a:gd name="connsiteY0" fmla="*/ 479 h 1929157"/>
              <a:gd name="connsiteX1" fmla="*/ 2174972 w 2282681"/>
              <a:gd name="connsiteY1" fmla="*/ 1480523 h 1929157"/>
              <a:gd name="connsiteX2" fmla="*/ 762329 w 2282681"/>
              <a:gd name="connsiteY2" fmla="*/ 1770963 h 1929157"/>
              <a:gd name="connsiteX3" fmla="*/ 1854 w 2282681"/>
              <a:gd name="connsiteY3" fmla="*/ 757828 h 1929157"/>
              <a:gd name="connsiteX4" fmla="*/ 910814 w 2282681"/>
              <a:gd name="connsiteY4" fmla="*/ 26271 h 1929157"/>
              <a:gd name="connsiteX5" fmla="*/ 1279697 w 2282681"/>
              <a:gd name="connsiteY5" fmla="*/ 479 h 1929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2681" h="1929157">
                <a:moveTo>
                  <a:pt x="1279697" y="479"/>
                </a:moveTo>
                <a:cubicBezTo>
                  <a:pt x="2357887" y="25749"/>
                  <a:pt x="2395552" y="1044306"/>
                  <a:pt x="2174972" y="1480523"/>
                </a:cubicBezTo>
                <a:cubicBezTo>
                  <a:pt x="1983979" y="1857550"/>
                  <a:pt x="1489031" y="2107765"/>
                  <a:pt x="762329" y="1770963"/>
                </a:cubicBezTo>
                <a:cubicBezTo>
                  <a:pt x="35627" y="1434161"/>
                  <a:pt x="-12121" y="963046"/>
                  <a:pt x="1854" y="757828"/>
                </a:cubicBezTo>
                <a:cubicBezTo>
                  <a:pt x="15828" y="552609"/>
                  <a:pt x="150338" y="141492"/>
                  <a:pt x="910814" y="26271"/>
                </a:cubicBezTo>
                <a:cubicBezTo>
                  <a:pt x="1045488" y="5880"/>
                  <a:pt x="1168159" y="-2135"/>
                  <a:pt x="1279697" y="479"/>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8060" y="1393977"/>
            <a:ext cx="92802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rPr>
              <a:t>Преимущества </a:t>
            </a:r>
            <a:r>
              <a:rPr kumimoji="0" lang="ru-RU" sz="1800" b="1" i="0" u="none" strike="noStrike" kern="1200" cap="none" spc="0" normalizeH="0" baseline="0" noProof="0" dirty="0" err="1">
                <a:ln>
                  <a:noFill/>
                </a:ln>
                <a:solidFill>
                  <a:srgbClr val="498187"/>
                </a:solidFill>
                <a:effectLst/>
                <a:uLnTx/>
                <a:uFillTx/>
                <a:latin typeface="Verdana" panose="020B0604030504040204" pitchFamily="34" charset="0"/>
                <a:ea typeface="Verdana" panose="020B0604030504040204" pitchFamily="34" charset="0"/>
                <a:cs typeface="+mn-cs"/>
              </a:rPr>
              <a:t>амфофильных</a:t>
            </a:r>
            <a:r>
              <a:rPr kumimoji="0" lang="ru-RU" sz="1800" b="1" i="0" u="none" strike="noStrike" kern="1200" cap="none" spc="0" normalizeH="0" baseline="0" noProof="0" dirty="0">
                <a:ln>
                  <a:noFill/>
                </a:ln>
                <a:solidFill>
                  <a:srgbClr val="498187"/>
                </a:solidFill>
                <a:effectLst/>
                <a:uLnTx/>
                <a:uFillTx/>
                <a:latin typeface="Verdana" panose="020B0604030504040204" pitchFamily="34" charset="0"/>
                <a:ea typeface="Verdana" panose="020B0604030504040204" pitchFamily="34" charset="0"/>
                <a:cs typeface="+mn-cs"/>
              </a:rPr>
              <a:t> β-блокаторов</a:t>
            </a:r>
            <a:r>
              <a:rPr kumimoji="0" lang="ru-RU" sz="1800" b="0" i="0" u="none" strike="noStrike" kern="1200" cap="none" spc="0" normalizeH="0" baseline="30000" noProof="0" dirty="0">
                <a:ln>
                  <a:noFill/>
                </a:ln>
                <a:solidFill>
                  <a:srgbClr val="498187"/>
                </a:solidFill>
                <a:effectLst/>
                <a:uLnTx/>
                <a:uFillTx/>
                <a:latin typeface="Verdana" panose="020B0604030504040204" pitchFamily="34" charset="0"/>
                <a:ea typeface="Verdana" panose="020B0604030504040204" pitchFamily="34" charset="0"/>
                <a:cs typeface="+mn-cs"/>
              </a:rPr>
              <a:t>1</a:t>
            </a:r>
          </a:p>
        </p:txBody>
      </p:sp>
      <p:sp>
        <p:nvSpPr>
          <p:cNvPr id="50" name="Скругленный прямоугольник 49"/>
          <p:cNvSpPr/>
          <p:nvPr/>
        </p:nvSpPr>
        <p:spPr>
          <a:xfrm>
            <a:off x="3263393"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Хорошо всасывается в желудочно-кишечном тракте, обладает высокой биодоступностью</a:t>
            </a:r>
          </a:p>
        </p:txBody>
      </p:sp>
      <p:sp>
        <p:nvSpPr>
          <p:cNvPr id="51" name="Скругленный прямоугольник 50"/>
          <p:cNvSpPr/>
          <p:nvPr/>
        </p:nvSpPr>
        <p:spPr>
          <a:xfrm>
            <a:off x="619897"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Незначительно проникает через гемато-</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энцефалический</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барьер</a:t>
            </a:r>
          </a:p>
        </p:txBody>
      </p:sp>
      <p:sp>
        <p:nvSpPr>
          <p:cNvPr id="53" name="Скругленный прямоугольник 52"/>
          <p:cNvSpPr/>
          <p:nvPr/>
        </p:nvSpPr>
        <p:spPr>
          <a:xfrm>
            <a:off x="5906889" y="4170692"/>
            <a:ext cx="2521523" cy="1426199"/>
          </a:xfrm>
          <a:prstGeom prst="roundRect">
            <a:avLst/>
          </a:prstGeom>
          <a:no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Имеет два равноценных пути элиминации</a:t>
            </a:r>
          </a:p>
        </p:txBody>
      </p:sp>
      <p:sp>
        <p:nvSpPr>
          <p:cNvPr id="60" name="Скругленный прямоугольник 59"/>
          <p:cNvSpPr/>
          <p:nvPr/>
        </p:nvSpPr>
        <p:spPr>
          <a:xfrm>
            <a:off x="623888" y="3031850"/>
            <a:ext cx="7804523" cy="521293"/>
          </a:xfrm>
          <a:prstGeom prst="roundRect">
            <a:avLst>
              <a:gd name="adj" fmla="val 47990"/>
            </a:avLst>
          </a:prstGeom>
          <a:solidFill>
            <a:srgbClr val="C1D82E"/>
          </a:soli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5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Амфофильный</a:t>
            </a:r>
            <a:r>
              <a:rPr kumimoji="0" lang="ru-RU" sz="15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β-блокатор, т.к. растворяется и в жирах, и в воде</a:t>
            </a:r>
          </a:p>
        </p:txBody>
      </p:sp>
      <p:sp>
        <p:nvSpPr>
          <p:cNvPr id="61" name="Скругленный прямоугольник 60"/>
          <p:cNvSpPr/>
          <p:nvPr/>
        </p:nvSpPr>
        <p:spPr>
          <a:xfrm>
            <a:off x="9167217" y="4411314"/>
            <a:ext cx="2521523" cy="368995"/>
          </a:xfrm>
          <a:prstGeom prst="roundRect">
            <a:avLst/>
          </a:prstGeom>
          <a:solidFill>
            <a:schemeClr val="bg1"/>
          </a:solid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Печеночный метаболизм</a:t>
            </a:r>
          </a:p>
        </p:txBody>
      </p:sp>
      <p:sp>
        <p:nvSpPr>
          <p:cNvPr id="70" name="Скругленный прямоугольник 69"/>
          <p:cNvSpPr/>
          <p:nvPr/>
        </p:nvSpPr>
        <p:spPr>
          <a:xfrm>
            <a:off x="9167217" y="4966632"/>
            <a:ext cx="2521523" cy="368995"/>
          </a:xfrm>
          <a:prstGeom prst="roundRect">
            <a:avLst/>
          </a:prstGeom>
          <a:solidFill>
            <a:schemeClr val="bg1"/>
          </a:solidFill>
          <a:ln w="19050">
            <a:solidFill>
              <a:srgbClr val="73C8B3"/>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Почечная экскреция</a:t>
            </a:r>
          </a:p>
        </p:txBody>
      </p:sp>
      <p:sp>
        <p:nvSpPr>
          <p:cNvPr id="9" name="Номер слайда 8">
            <a:extLst>
              <a:ext uri="{FF2B5EF4-FFF2-40B4-BE49-F238E27FC236}">
                <a16:creationId xmlns:a16="http://schemas.microsoft.com/office/drawing/2014/main" id="{3E87E16E-4B4C-2A3B-9D6A-7199B756905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8" name="Полилиния: фигура 17">
            <a:extLst>
              <a:ext uri="{FF2B5EF4-FFF2-40B4-BE49-F238E27FC236}">
                <a16:creationId xmlns:a16="http://schemas.microsoft.com/office/drawing/2014/main" id="{DD60C720-B96B-6838-B639-8460DC6E8487}"/>
              </a:ext>
            </a:extLst>
          </p:cNvPr>
          <p:cNvSpPr/>
          <p:nvPr/>
        </p:nvSpPr>
        <p:spPr>
          <a:xfrm rot="10800000">
            <a:off x="17020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9" name="Полилиния: фигура 18">
            <a:extLst>
              <a:ext uri="{FF2B5EF4-FFF2-40B4-BE49-F238E27FC236}">
                <a16:creationId xmlns:a16="http://schemas.microsoft.com/office/drawing/2014/main" id="{B0783D26-6C6E-6A69-FBEC-28453B6E30B2}"/>
              </a:ext>
            </a:extLst>
          </p:cNvPr>
          <p:cNvSpPr/>
          <p:nvPr/>
        </p:nvSpPr>
        <p:spPr>
          <a:xfrm rot="10800000">
            <a:off x="42928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Полилиния: фигура 19">
            <a:extLst>
              <a:ext uri="{FF2B5EF4-FFF2-40B4-BE49-F238E27FC236}">
                <a16:creationId xmlns:a16="http://schemas.microsoft.com/office/drawing/2014/main" id="{0A2A0A2E-DE41-72B2-7AD3-7DA4089DBB7A}"/>
              </a:ext>
            </a:extLst>
          </p:cNvPr>
          <p:cNvSpPr/>
          <p:nvPr/>
        </p:nvSpPr>
        <p:spPr>
          <a:xfrm rot="10800000">
            <a:off x="6959810" y="3717224"/>
            <a:ext cx="516045" cy="281633"/>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solidFill>
            <a:srgbClr val="73C8B3"/>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22" name="Группа 21">
            <a:extLst>
              <a:ext uri="{FF2B5EF4-FFF2-40B4-BE49-F238E27FC236}">
                <a16:creationId xmlns:a16="http://schemas.microsoft.com/office/drawing/2014/main" id="{EE379234-0EB1-71B2-FF8D-F273F4864B1D}"/>
              </a:ext>
            </a:extLst>
          </p:cNvPr>
          <p:cNvGrpSpPr/>
          <p:nvPr/>
        </p:nvGrpSpPr>
        <p:grpSpPr>
          <a:xfrm>
            <a:off x="8664198" y="5019987"/>
            <a:ext cx="307265" cy="294738"/>
            <a:chOff x="8509936" y="4992091"/>
            <a:chExt cx="384680" cy="368997"/>
          </a:xfrm>
          <a:solidFill>
            <a:srgbClr val="C1D82E"/>
          </a:solidFill>
        </p:grpSpPr>
        <p:sp>
          <p:nvSpPr>
            <p:cNvPr id="17" name="Полилиния: фигура 16">
              <a:extLst>
                <a:ext uri="{FF2B5EF4-FFF2-40B4-BE49-F238E27FC236}">
                  <a16:creationId xmlns:a16="http://schemas.microsoft.com/office/drawing/2014/main" id="{74F536B1-2CB2-4853-8D79-26D89136725F}"/>
                </a:ext>
              </a:extLst>
            </p:cNvPr>
            <p:cNvSpPr/>
            <p:nvPr/>
          </p:nvSpPr>
          <p:spPr>
            <a:xfrm rot="5400000">
              <a:off x="8609427"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1" name="Полилиния: фигура 20">
              <a:extLst>
                <a:ext uri="{FF2B5EF4-FFF2-40B4-BE49-F238E27FC236}">
                  <a16:creationId xmlns:a16="http://schemas.microsoft.com/office/drawing/2014/main" id="{94F909B9-F839-57CE-BF1F-EF84EA7D3B38}"/>
                </a:ext>
              </a:extLst>
            </p:cNvPr>
            <p:cNvSpPr/>
            <p:nvPr/>
          </p:nvSpPr>
          <p:spPr>
            <a:xfrm rot="5400000">
              <a:off x="8426128"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5" name="Группа 24">
            <a:extLst>
              <a:ext uri="{FF2B5EF4-FFF2-40B4-BE49-F238E27FC236}">
                <a16:creationId xmlns:a16="http://schemas.microsoft.com/office/drawing/2014/main" id="{FA41F54E-072D-8BF1-BB14-93100776EF15}"/>
              </a:ext>
            </a:extLst>
          </p:cNvPr>
          <p:cNvGrpSpPr/>
          <p:nvPr/>
        </p:nvGrpSpPr>
        <p:grpSpPr>
          <a:xfrm>
            <a:off x="8664198" y="4485567"/>
            <a:ext cx="307265" cy="294738"/>
            <a:chOff x="8509936" y="4992091"/>
            <a:chExt cx="384680" cy="368997"/>
          </a:xfrm>
          <a:solidFill>
            <a:srgbClr val="C1D82E"/>
          </a:solidFill>
        </p:grpSpPr>
        <p:sp>
          <p:nvSpPr>
            <p:cNvPr id="26" name="Полилиния: фигура 25">
              <a:extLst>
                <a:ext uri="{FF2B5EF4-FFF2-40B4-BE49-F238E27FC236}">
                  <a16:creationId xmlns:a16="http://schemas.microsoft.com/office/drawing/2014/main" id="{D4D1D0D0-75D7-40FE-E4EF-856CF911A297}"/>
                </a:ext>
              </a:extLst>
            </p:cNvPr>
            <p:cNvSpPr/>
            <p:nvPr/>
          </p:nvSpPr>
          <p:spPr>
            <a:xfrm rot="5400000">
              <a:off x="8609427"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Полилиния: фигура 26">
              <a:extLst>
                <a:ext uri="{FF2B5EF4-FFF2-40B4-BE49-F238E27FC236}">
                  <a16:creationId xmlns:a16="http://schemas.microsoft.com/office/drawing/2014/main" id="{21090EC4-1822-1D10-3FF8-6DE97792F395}"/>
                </a:ext>
              </a:extLst>
            </p:cNvPr>
            <p:cNvSpPr/>
            <p:nvPr/>
          </p:nvSpPr>
          <p:spPr>
            <a:xfrm rot="5400000">
              <a:off x="8426128" y="5075899"/>
              <a:ext cx="368997" cy="201381"/>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pFill/>
            <a:ln w="9525"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7" name="Группа 36">
            <a:extLst>
              <a:ext uri="{FF2B5EF4-FFF2-40B4-BE49-F238E27FC236}">
                <a16:creationId xmlns:a16="http://schemas.microsoft.com/office/drawing/2014/main" id="{BBC2410A-A485-38A1-D66D-E9770DC0C30E}"/>
              </a:ext>
            </a:extLst>
          </p:cNvPr>
          <p:cNvGrpSpPr/>
          <p:nvPr/>
        </p:nvGrpSpPr>
        <p:grpSpPr>
          <a:xfrm>
            <a:off x="2542025" y="2030546"/>
            <a:ext cx="4017614" cy="812653"/>
            <a:chOff x="2303128" y="1855270"/>
            <a:chExt cx="4466151" cy="903380"/>
          </a:xfrm>
        </p:grpSpPr>
        <p:sp>
          <p:nvSpPr>
            <p:cNvPr id="29" name="Полилиния: фигура 28">
              <a:extLst>
                <a:ext uri="{FF2B5EF4-FFF2-40B4-BE49-F238E27FC236}">
                  <a16:creationId xmlns:a16="http://schemas.microsoft.com/office/drawing/2014/main" id="{0304A065-B3BD-FF8A-F69E-4F81B670CE35}"/>
                </a:ext>
              </a:extLst>
            </p:cNvPr>
            <p:cNvSpPr/>
            <p:nvPr/>
          </p:nvSpPr>
          <p:spPr>
            <a:xfrm rot="10800000">
              <a:off x="4229042" y="2545067"/>
              <a:ext cx="667910" cy="213583"/>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solidFill>
              <a:srgbClr val="398AC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2" name="Полилиния: фигура 31">
              <a:extLst>
                <a:ext uri="{FF2B5EF4-FFF2-40B4-BE49-F238E27FC236}">
                  <a16:creationId xmlns:a16="http://schemas.microsoft.com/office/drawing/2014/main" id="{E2A6E503-1F8C-45B5-961C-BD57263CFF4B}"/>
                </a:ext>
              </a:extLst>
            </p:cNvPr>
            <p:cNvSpPr/>
            <p:nvPr/>
          </p:nvSpPr>
          <p:spPr>
            <a:xfrm flipV="1">
              <a:off x="2318333" y="1855270"/>
              <a:ext cx="4261155" cy="724111"/>
            </a:xfrm>
            <a:custGeom>
              <a:avLst/>
              <a:gdLst>
                <a:gd name="connsiteX0" fmla="*/ 53999 w 7152559"/>
                <a:gd name="connsiteY0" fmla="*/ 1553968 h 1553968"/>
                <a:gd name="connsiteX1" fmla="*/ 926533 w 7152559"/>
                <a:gd name="connsiteY1" fmla="*/ 1553968 h 1553968"/>
                <a:gd name="connsiteX2" fmla="*/ 2081790 w 7152559"/>
                <a:gd name="connsiteY2" fmla="*/ 1553968 h 1553968"/>
                <a:gd name="connsiteX3" fmla="*/ 2329178 w 7152559"/>
                <a:gd name="connsiteY3" fmla="*/ 1553968 h 1553968"/>
                <a:gd name="connsiteX4" fmla="*/ 2926799 w 7152559"/>
                <a:gd name="connsiteY4" fmla="*/ 1553968 h 1553968"/>
                <a:gd name="connsiteX5" fmla="*/ 3484435 w 7152559"/>
                <a:gd name="connsiteY5" fmla="*/ 1553968 h 1553968"/>
                <a:gd name="connsiteX6" fmla="*/ 3799334 w 7152559"/>
                <a:gd name="connsiteY6" fmla="*/ 1553968 h 1553968"/>
                <a:gd name="connsiteX7" fmla="*/ 4356970 w 7152559"/>
                <a:gd name="connsiteY7" fmla="*/ 1553968 h 1553968"/>
                <a:gd name="connsiteX8" fmla="*/ 4912652 w 7152559"/>
                <a:gd name="connsiteY8" fmla="*/ 1553968 h 1553968"/>
                <a:gd name="connsiteX9" fmla="*/ 4954590 w 7152559"/>
                <a:gd name="connsiteY9" fmla="*/ 1553968 h 1553968"/>
                <a:gd name="connsiteX10" fmla="*/ 6067909 w 7152559"/>
                <a:gd name="connsiteY10" fmla="*/ 1553968 h 1553968"/>
                <a:gd name="connsiteX11" fmla="*/ 6940444 w 7152559"/>
                <a:gd name="connsiteY11" fmla="*/ 1553968 h 1553968"/>
                <a:gd name="connsiteX12" fmla="*/ 7015181 w 7152559"/>
                <a:gd name="connsiteY12" fmla="*/ 1456231 h 1553968"/>
                <a:gd name="connsiteX13" fmla="*/ 7151620 w 7152559"/>
                <a:gd name="connsiteY13" fmla="*/ 97737 h 1553968"/>
                <a:gd name="connsiteX14" fmla="*/ 7098560 w 7152559"/>
                <a:gd name="connsiteY14" fmla="*/ 0 h 1553968"/>
                <a:gd name="connsiteX15" fmla="*/ 6226026 w 7152559"/>
                <a:gd name="connsiteY15" fmla="*/ 0 h 1553968"/>
                <a:gd name="connsiteX16" fmla="*/ 5070769 w 7152559"/>
                <a:gd name="connsiteY16" fmla="*/ 0 h 1553968"/>
                <a:gd name="connsiteX17" fmla="*/ 4823381 w 7152559"/>
                <a:gd name="connsiteY17" fmla="*/ 0 h 1553968"/>
                <a:gd name="connsiteX18" fmla="*/ 4225761 w 7152559"/>
                <a:gd name="connsiteY18" fmla="*/ 0 h 1553968"/>
                <a:gd name="connsiteX19" fmla="*/ 3668125 w 7152559"/>
                <a:gd name="connsiteY19" fmla="*/ 0 h 1553968"/>
                <a:gd name="connsiteX20" fmla="*/ 3353226 w 7152559"/>
                <a:gd name="connsiteY20" fmla="*/ 0 h 1553968"/>
                <a:gd name="connsiteX21" fmla="*/ 2795589 w 7152559"/>
                <a:gd name="connsiteY21" fmla="*/ 0 h 1553968"/>
                <a:gd name="connsiteX22" fmla="*/ 2239907 w 7152559"/>
                <a:gd name="connsiteY22" fmla="*/ 0 h 1553968"/>
                <a:gd name="connsiteX23" fmla="*/ 2197969 w 7152559"/>
                <a:gd name="connsiteY23" fmla="*/ 0 h 1553968"/>
                <a:gd name="connsiteX24" fmla="*/ 1084651 w 7152559"/>
                <a:gd name="connsiteY24" fmla="*/ 0 h 1553968"/>
                <a:gd name="connsiteX25" fmla="*/ 212115 w 7152559"/>
                <a:gd name="connsiteY25" fmla="*/ 0 h 1553968"/>
                <a:gd name="connsiteX26" fmla="*/ 137378 w 7152559"/>
                <a:gd name="connsiteY26" fmla="*/ 97737 h 1553968"/>
                <a:gd name="connsiteX27" fmla="*/ 939 w 7152559"/>
                <a:gd name="connsiteY27" fmla="*/ 1456231 h 1553968"/>
                <a:gd name="connsiteX28" fmla="*/ 53999 w 7152559"/>
                <a:gd name="connsiteY28" fmla="*/ 1553968 h 155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152559" h="1553968">
                  <a:moveTo>
                    <a:pt x="53999" y="1553968"/>
                  </a:moveTo>
                  <a:lnTo>
                    <a:pt x="926533" y="1553968"/>
                  </a:lnTo>
                  <a:lnTo>
                    <a:pt x="2081790" y="1553968"/>
                  </a:lnTo>
                  <a:lnTo>
                    <a:pt x="2329178" y="1553968"/>
                  </a:lnTo>
                  <a:lnTo>
                    <a:pt x="2926799" y="1553968"/>
                  </a:lnTo>
                  <a:lnTo>
                    <a:pt x="3484435" y="1553968"/>
                  </a:lnTo>
                  <a:lnTo>
                    <a:pt x="3799334" y="1553968"/>
                  </a:lnTo>
                  <a:lnTo>
                    <a:pt x="4356970" y="1553968"/>
                  </a:lnTo>
                  <a:lnTo>
                    <a:pt x="4912652" y="1553968"/>
                  </a:lnTo>
                  <a:lnTo>
                    <a:pt x="4954590" y="1553968"/>
                  </a:lnTo>
                  <a:lnTo>
                    <a:pt x="6067909" y="1553968"/>
                  </a:lnTo>
                  <a:lnTo>
                    <a:pt x="6940444" y="1553968"/>
                  </a:lnTo>
                  <a:cubicBezTo>
                    <a:pt x="6975614" y="1553968"/>
                    <a:pt x="7009269" y="1510007"/>
                    <a:pt x="7015181" y="1456231"/>
                  </a:cubicBezTo>
                  <a:lnTo>
                    <a:pt x="7151620" y="97737"/>
                  </a:lnTo>
                  <a:cubicBezTo>
                    <a:pt x="7157684" y="44224"/>
                    <a:pt x="7133732" y="0"/>
                    <a:pt x="7098560" y="0"/>
                  </a:cubicBezTo>
                  <a:lnTo>
                    <a:pt x="6226026" y="0"/>
                  </a:lnTo>
                  <a:lnTo>
                    <a:pt x="5070769" y="0"/>
                  </a:lnTo>
                  <a:lnTo>
                    <a:pt x="4823381" y="0"/>
                  </a:lnTo>
                  <a:lnTo>
                    <a:pt x="4225761" y="0"/>
                  </a:lnTo>
                  <a:lnTo>
                    <a:pt x="3668125" y="0"/>
                  </a:lnTo>
                  <a:lnTo>
                    <a:pt x="3353226" y="0"/>
                  </a:lnTo>
                  <a:lnTo>
                    <a:pt x="2795589" y="0"/>
                  </a:lnTo>
                  <a:lnTo>
                    <a:pt x="2239907" y="0"/>
                  </a:lnTo>
                  <a:lnTo>
                    <a:pt x="2197969" y="0"/>
                  </a:lnTo>
                  <a:lnTo>
                    <a:pt x="1084651" y="0"/>
                  </a:lnTo>
                  <a:lnTo>
                    <a:pt x="212115" y="0"/>
                  </a:lnTo>
                  <a:cubicBezTo>
                    <a:pt x="176945" y="0"/>
                    <a:pt x="143290" y="43961"/>
                    <a:pt x="137378" y="97737"/>
                  </a:cubicBezTo>
                  <a:lnTo>
                    <a:pt x="939" y="1456231"/>
                  </a:lnTo>
                  <a:cubicBezTo>
                    <a:pt x="-5125" y="1509744"/>
                    <a:pt x="18827" y="1553968"/>
                    <a:pt x="53999" y="1553968"/>
                  </a:cubicBezTo>
                  <a:close/>
                </a:path>
              </a:pathLst>
            </a:custGeom>
            <a:solidFill>
              <a:srgbClr val="398ACB"/>
            </a:solidFill>
            <a:ln w="13331"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B4CC26"/>
                </a:solidFill>
                <a:effectLst/>
                <a:uLnTx/>
                <a:uFillTx/>
                <a:latin typeface="Verdana" panose="020B0604030504040204" pitchFamily="34" charset="0"/>
                <a:ea typeface="Verdana" panose="020B0604030504040204" pitchFamily="34" charset="0"/>
                <a:cs typeface="+mn-cs"/>
              </a:endParaRPr>
            </a:p>
          </p:txBody>
        </p:sp>
        <p:sp>
          <p:nvSpPr>
            <p:cNvPr id="34" name="TextBox 33">
              <a:extLst>
                <a:ext uri="{FF2B5EF4-FFF2-40B4-BE49-F238E27FC236}">
                  <a16:creationId xmlns:a16="http://schemas.microsoft.com/office/drawing/2014/main" id="{9B759882-1FE1-AA5E-69ED-C7107B5CEA94}"/>
                </a:ext>
              </a:extLst>
            </p:cNvPr>
            <p:cNvSpPr txBox="1"/>
            <p:nvPr/>
          </p:nvSpPr>
          <p:spPr>
            <a:xfrm>
              <a:off x="2303128" y="1943632"/>
              <a:ext cx="4466151" cy="5132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Бисопролол</a:t>
              </a:r>
              <a:r>
                <a:rPr kumimoji="0" lang="ru-RU" sz="24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a:t>
              </a:r>
            </a:p>
          </p:txBody>
        </p:sp>
      </p:grpSp>
      <p:sp>
        <p:nvSpPr>
          <p:cNvPr id="5" name="Объект 7">
            <a:extLst>
              <a:ext uri="{FF2B5EF4-FFF2-40B4-BE49-F238E27FC236}">
                <a16:creationId xmlns:a16="http://schemas.microsoft.com/office/drawing/2014/main" id="{D3010122-9B92-A7EA-AE2A-F4B68D953611}"/>
              </a:ext>
            </a:extLst>
          </p:cNvPr>
          <p:cNvSpPr>
            <a:spLocks noGrp="1"/>
          </p:cNvSpPr>
          <p:nvPr>
            <p:ph idx="4294967295"/>
          </p:nvPr>
        </p:nvSpPr>
        <p:spPr>
          <a:xfrm>
            <a:off x="924972" y="6332269"/>
            <a:ext cx="7119572"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a:solidFill>
                  <a:srgbClr val="323F48"/>
                </a:solidFill>
                <a:latin typeface="Calibri" panose="020F0502020204030204" pitchFamily="34" charset="0"/>
                <a:cs typeface="Calibri" panose="020F0502020204030204" pitchFamily="34" charset="0"/>
              </a:rPr>
              <a:t>Розин А.Н., Розина Н.А. Клиническая эффективность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его фиксированной комбинации с </a:t>
            </a:r>
            <a:r>
              <a:rPr lang="ru-RU" sz="800" dirty="0" err="1">
                <a:solidFill>
                  <a:srgbClr val="323F48"/>
                </a:solidFill>
                <a:latin typeface="Calibri" panose="020F0502020204030204" pitchFamily="34" charset="0"/>
                <a:cs typeface="Calibri" panose="020F0502020204030204" pitchFamily="34" charset="0"/>
              </a:rPr>
              <a:t>амлодипином</a:t>
            </a:r>
            <a:r>
              <a:rPr lang="ru-RU" sz="800" dirty="0">
                <a:solidFill>
                  <a:srgbClr val="323F48"/>
                </a:solidFill>
                <a:latin typeface="Calibri" panose="020F0502020204030204" pitchFamily="34" charset="0"/>
                <a:cs typeface="Calibri" panose="020F0502020204030204" pitchFamily="34" charset="0"/>
              </a:rPr>
              <a:t> // РМЖ. – 2015. – №5. – С. 294-297.; </a:t>
            </a:r>
            <a:r>
              <a:rPr lang="ru-RU" sz="800" dirty="0" err="1">
                <a:solidFill>
                  <a:srgbClr val="323F48"/>
                </a:solidFill>
                <a:latin typeface="Calibri" panose="020F0502020204030204" pitchFamily="34" charset="0"/>
                <a:cs typeface="Calibri" panose="020F0502020204030204" pitchFamily="34" charset="0"/>
              </a:rPr>
              <a:t>Амфофильный</a:t>
            </a:r>
            <a:r>
              <a:rPr lang="ru-RU" sz="800" dirty="0">
                <a:solidFill>
                  <a:srgbClr val="323F48"/>
                </a:solidFill>
                <a:latin typeface="Calibri" panose="020F0502020204030204" pitchFamily="34" charset="0"/>
                <a:cs typeface="Calibri" panose="020F0502020204030204" pitchFamily="34" charset="0"/>
              </a:rPr>
              <a:t>-обладает растворимостью как в жирах, так и в воде</a:t>
            </a:r>
          </a:p>
        </p:txBody>
      </p:sp>
      <p:sp>
        <p:nvSpPr>
          <p:cNvPr id="12" name="Заголовок 1">
            <a:extLst>
              <a:ext uri="{FF2B5EF4-FFF2-40B4-BE49-F238E27FC236}">
                <a16:creationId xmlns:a16="http://schemas.microsoft.com/office/drawing/2014/main" id="{D5885315-CCE0-F429-BBEF-41753113C8C3}"/>
              </a:ext>
            </a:extLst>
          </p:cNvPr>
          <p:cNvSpPr txBox="1">
            <a:spLocks/>
          </p:cNvSpPr>
          <p:nvPr/>
        </p:nvSpPr>
        <p:spPr>
          <a:xfrm>
            <a:off x="911225"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Бисопролол</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обладает всеми преимуществами </a:t>
            </a:r>
            <a:b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амфофильных</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r>
              <a:rPr kumimoji="0" lang="el-GR"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β-</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блокаторов</a:t>
            </a:r>
          </a:p>
        </p:txBody>
      </p:sp>
    </p:spTree>
    <p:extLst>
      <p:ext uri="{BB962C8B-B14F-4D97-AF65-F5344CB8AC3E}">
        <p14:creationId xmlns:p14="http://schemas.microsoft.com/office/powerpoint/2010/main" val="356763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extBox 23"/>
          <p:cNvSpPr txBox="1"/>
          <p:nvPr/>
        </p:nvSpPr>
        <p:spPr>
          <a:xfrm>
            <a:off x="821103" y="6177063"/>
            <a:ext cx="9354029" cy="467963"/>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Розин А.Н., Розина Н.А. Клиническая эффективность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бисопролола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и его фиксированной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комбинациис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амлодипином</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РМЖ. – 2015. – №5. – С. 294-297.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2.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Скибицкий</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В.В.,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Фендрикова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А.В.,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Скибицкий</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А.В., Сиротенко Д.В. Эффективность фиксированной комбинации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бисопролола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амлодипина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у пациентов с артериальной гипертонией, ишемической болезнью сердца и метаболическим синдромом. Системные гипертензии. 2015; 1: 26–31.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3.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Инструкция по медицинскому применению лекарственного препарата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Конкор</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АМ - ЛП-№(012650)-(РГ-</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p>
        </p:txBody>
      </p:sp>
      <p:sp>
        <p:nvSpPr>
          <p:cNvPr id="10" name="Номер слайда 9">
            <a:extLst>
              <a:ext uri="{FF2B5EF4-FFF2-40B4-BE49-F238E27FC236}">
                <a16:creationId xmlns:a16="http://schemas.microsoft.com/office/drawing/2014/main" id="{257143A1-9201-CA80-262D-681A8D12EBA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1" name="Группа 20">
            <a:extLst>
              <a:ext uri="{FF2B5EF4-FFF2-40B4-BE49-F238E27FC236}">
                <a16:creationId xmlns:a16="http://schemas.microsoft.com/office/drawing/2014/main" id="{73DE0CCF-2F0C-AA51-9A05-7F752213F49D}"/>
              </a:ext>
            </a:extLst>
          </p:cNvPr>
          <p:cNvGrpSpPr/>
          <p:nvPr/>
        </p:nvGrpSpPr>
        <p:grpSpPr>
          <a:xfrm>
            <a:off x="895943" y="1357296"/>
            <a:ext cx="10821023" cy="2980662"/>
            <a:chOff x="895943" y="1357295"/>
            <a:chExt cx="10821023" cy="3119189"/>
          </a:xfrm>
        </p:grpSpPr>
        <p:sp>
          <p:nvSpPr>
            <p:cNvPr id="7" name="Скругленный прямоугольник 6"/>
            <p:cNvSpPr/>
            <p:nvPr/>
          </p:nvSpPr>
          <p:spPr>
            <a:xfrm>
              <a:off x="2079857" y="1357295"/>
              <a:ext cx="8051332" cy="521293"/>
            </a:xfrm>
            <a:prstGeom prst="roundRect">
              <a:avLst>
                <a:gd name="adj" fmla="val 50000"/>
              </a:avLst>
            </a:prstGeom>
            <a:gradFill>
              <a:gsLst>
                <a:gs pos="100000">
                  <a:srgbClr val="C1D82E"/>
                </a:gs>
                <a:gs pos="52000">
                  <a:srgbClr val="398ACB"/>
                </a:gs>
              </a:gsLst>
              <a:lin ang="1800000" scaled="0"/>
            </a:gra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Антиишемическое действие селективных </a:t>
              </a:r>
              <a:r>
                <a:rPr kumimoji="0" lang="el-GR"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β-</a:t>
              </a:r>
              <a:r>
                <a:rPr kumimoji="0" lang="ru-RU"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блокаторов</a:t>
              </a:r>
              <a:r>
                <a:rPr kumimoji="0" lang="ru-RU" sz="18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a:t>
              </a:r>
            </a:p>
          </p:txBody>
        </p:sp>
        <p:grpSp>
          <p:nvGrpSpPr>
            <p:cNvPr id="20" name="Группа 19">
              <a:extLst>
                <a:ext uri="{FF2B5EF4-FFF2-40B4-BE49-F238E27FC236}">
                  <a16:creationId xmlns:a16="http://schemas.microsoft.com/office/drawing/2014/main" id="{C2EBB2A2-8E73-683E-E326-BEF6C1AF816D}"/>
                </a:ext>
              </a:extLst>
            </p:cNvPr>
            <p:cNvGrpSpPr/>
            <p:nvPr/>
          </p:nvGrpSpPr>
          <p:grpSpPr>
            <a:xfrm>
              <a:off x="895943" y="1965190"/>
              <a:ext cx="10821023" cy="2511294"/>
              <a:chOff x="895943" y="1965190"/>
              <a:chExt cx="10821023" cy="2511294"/>
            </a:xfrm>
          </p:grpSpPr>
          <p:sp>
            <p:nvSpPr>
              <p:cNvPr id="4" name="Полилиния: фигура 3">
                <a:extLst>
                  <a:ext uri="{FF2B5EF4-FFF2-40B4-BE49-F238E27FC236}">
                    <a16:creationId xmlns:a16="http://schemas.microsoft.com/office/drawing/2014/main" id="{5DFE1D91-E89F-60EE-DFE3-A7E499A942BB}"/>
                  </a:ext>
                </a:extLst>
              </p:cNvPr>
              <p:cNvSpPr/>
              <p:nvPr/>
            </p:nvSpPr>
            <p:spPr>
              <a:xfrm rot="10800000">
                <a:off x="3152869" y="1965190"/>
                <a:ext cx="577688" cy="315275"/>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adFill>
                <a:gsLst>
                  <a:gs pos="15000">
                    <a:srgbClr val="398ACB"/>
                  </a:gs>
                  <a:gs pos="83000">
                    <a:srgbClr val="28BECD"/>
                  </a:gs>
                </a:gsLs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 name="Полилиния: фигура 10">
                <a:extLst>
                  <a:ext uri="{FF2B5EF4-FFF2-40B4-BE49-F238E27FC236}">
                    <a16:creationId xmlns:a16="http://schemas.microsoft.com/office/drawing/2014/main" id="{B61BA584-65D1-86BB-BA5B-E1C518CE7259}"/>
                  </a:ext>
                </a:extLst>
              </p:cNvPr>
              <p:cNvSpPr/>
              <p:nvPr/>
            </p:nvSpPr>
            <p:spPr>
              <a:xfrm rot="10800000" flipH="1" flipV="1">
                <a:off x="895943" y="2476587"/>
                <a:ext cx="5013610"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артериального давления</a:t>
                </a:r>
              </a:p>
            </p:txBody>
          </p:sp>
          <p:sp>
            <p:nvSpPr>
              <p:cNvPr id="12" name="Полилиния: фигура 11">
                <a:extLst>
                  <a:ext uri="{FF2B5EF4-FFF2-40B4-BE49-F238E27FC236}">
                    <a16:creationId xmlns:a16="http://schemas.microsoft.com/office/drawing/2014/main" id="{01DBD841-2A18-1C3B-AF75-54E8B46186BB}"/>
                  </a:ext>
                </a:extLst>
              </p:cNvPr>
              <p:cNvSpPr/>
              <p:nvPr/>
            </p:nvSpPr>
            <p:spPr>
              <a:xfrm rot="10800000" flipH="1" flipV="1">
                <a:off x="6337570" y="2476587"/>
                <a:ext cx="5379396"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частоты сердечных сокращений (ЧСС)</a:t>
                </a:r>
              </a:p>
            </p:txBody>
          </p:sp>
          <p:sp>
            <p:nvSpPr>
              <p:cNvPr id="13" name="Полилиния: фигура 12">
                <a:extLst>
                  <a:ext uri="{FF2B5EF4-FFF2-40B4-BE49-F238E27FC236}">
                    <a16:creationId xmlns:a16="http://schemas.microsoft.com/office/drawing/2014/main" id="{ADA346EA-188E-23C9-5A37-520D407BE1C5}"/>
                  </a:ext>
                </a:extLst>
              </p:cNvPr>
              <p:cNvSpPr/>
              <p:nvPr/>
            </p:nvSpPr>
            <p:spPr>
              <a:xfrm rot="10800000">
                <a:off x="8738424" y="1965190"/>
                <a:ext cx="577688" cy="315275"/>
              </a:xfrm>
              <a:custGeom>
                <a:avLst/>
                <a:gdLst>
                  <a:gd name="connsiteX0" fmla="*/ 459233 w 490717"/>
                  <a:gd name="connsiteY0" fmla="*/ 267810 h 267810"/>
                  <a:gd name="connsiteX1" fmla="*/ 400399 w 490717"/>
                  <a:gd name="connsiteY1" fmla="*/ 267810 h 267810"/>
                  <a:gd name="connsiteX2" fmla="*/ 282815 w 490717"/>
                  <a:gd name="connsiteY2" fmla="*/ 141798 h 267810"/>
                  <a:gd name="connsiteX3" fmla="*/ 274506 w 490717"/>
                  <a:gd name="connsiteY3" fmla="*/ 134262 h 267810"/>
                  <a:gd name="connsiteX4" fmla="*/ 207903 w 490717"/>
                  <a:gd name="connsiteY4" fmla="*/ 141798 h 267810"/>
                  <a:gd name="connsiteX5" fmla="*/ 90320 w 490717"/>
                  <a:gd name="connsiteY5" fmla="*/ 267810 h 267810"/>
                  <a:gd name="connsiteX6" fmla="*/ 31485 w 490717"/>
                  <a:gd name="connsiteY6" fmla="*/ 267810 h 267810"/>
                  <a:gd name="connsiteX7" fmla="*/ 10989 w 490717"/>
                  <a:gd name="connsiteY7" fmla="*/ 227641 h 267810"/>
                  <a:gd name="connsiteX8" fmla="*/ 207903 w 490717"/>
                  <a:gd name="connsiteY8" fmla="*/ 16612 h 267810"/>
                  <a:gd name="connsiteX9" fmla="*/ 274506 w 490717"/>
                  <a:gd name="connsiteY9" fmla="*/ 9076 h 267810"/>
                  <a:gd name="connsiteX10" fmla="*/ 282815 w 490717"/>
                  <a:gd name="connsiteY10" fmla="*/ 16612 h 267810"/>
                  <a:gd name="connsiteX11" fmla="*/ 479730 w 490717"/>
                  <a:gd name="connsiteY11" fmla="*/ 227641 h 267810"/>
                  <a:gd name="connsiteX12" fmla="*/ 459233 w 490717"/>
                  <a:gd name="connsiteY12" fmla="*/ 267810 h 26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717" h="267810">
                    <a:moveTo>
                      <a:pt x="459233" y="267810"/>
                    </a:moveTo>
                    <a:lnTo>
                      <a:pt x="400399" y="267810"/>
                    </a:lnTo>
                    <a:lnTo>
                      <a:pt x="282815" y="141798"/>
                    </a:lnTo>
                    <a:cubicBezTo>
                      <a:pt x="280399" y="138983"/>
                      <a:pt x="277604" y="136452"/>
                      <a:pt x="274506" y="134262"/>
                    </a:cubicBezTo>
                    <a:cubicBezTo>
                      <a:pt x="253814" y="119662"/>
                      <a:pt x="223997" y="123036"/>
                      <a:pt x="207903" y="141798"/>
                    </a:cubicBezTo>
                    <a:lnTo>
                      <a:pt x="90320" y="267810"/>
                    </a:lnTo>
                    <a:lnTo>
                      <a:pt x="31485" y="267810"/>
                    </a:lnTo>
                    <a:cubicBezTo>
                      <a:pt x="-359" y="267810"/>
                      <a:pt x="-9631" y="249773"/>
                      <a:pt x="10989" y="227641"/>
                    </a:cubicBezTo>
                    <a:lnTo>
                      <a:pt x="207903" y="16612"/>
                    </a:lnTo>
                    <a:cubicBezTo>
                      <a:pt x="223997" y="-2151"/>
                      <a:pt x="253814" y="-5524"/>
                      <a:pt x="274506" y="9076"/>
                    </a:cubicBezTo>
                    <a:cubicBezTo>
                      <a:pt x="277604" y="11266"/>
                      <a:pt x="280399" y="13797"/>
                      <a:pt x="282815" y="16612"/>
                    </a:cubicBezTo>
                    <a:lnTo>
                      <a:pt x="479730" y="227641"/>
                    </a:lnTo>
                    <a:cubicBezTo>
                      <a:pt x="500348" y="249773"/>
                      <a:pt x="491076" y="267810"/>
                      <a:pt x="459233" y="267810"/>
                    </a:cubicBezTo>
                    <a:close/>
                  </a:path>
                </a:pathLst>
              </a:custGeom>
              <a:gradFill>
                <a:gsLst>
                  <a:gs pos="15000">
                    <a:srgbClr val="398ACB"/>
                  </a:gs>
                  <a:gs pos="83000">
                    <a:srgbClr val="C1D82E"/>
                  </a:gs>
                </a:gsLst>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4" name="Полилиния: фигура 13">
                <a:extLst>
                  <a:ext uri="{FF2B5EF4-FFF2-40B4-BE49-F238E27FC236}">
                    <a16:creationId xmlns:a16="http://schemas.microsoft.com/office/drawing/2014/main" id="{54BA9C2E-2FAE-8D6B-4E2D-F72CE1859203}"/>
                  </a:ext>
                </a:extLst>
              </p:cNvPr>
              <p:cNvSpPr/>
              <p:nvPr/>
            </p:nvSpPr>
            <p:spPr>
              <a:xfrm rot="10800000" flipH="1" flipV="1">
                <a:off x="895943" y="3138068"/>
                <a:ext cx="5013610" cy="694628"/>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a:t>
                </a:r>
                <a:r>
                  <a:rPr kumimoji="0" lang="ru-RU" sz="1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постнагрузки</a:t>
                </a: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незначительное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сократимости миокарда</a:t>
                </a:r>
              </a:p>
            </p:txBody>
          </p:sp>
          <p:sp>
            <p:nvSpPr>
              <p:cNvPr id="15" name="Полилиния: фигура 14">
                <a:extLst>
                  <a:ext uri="{FF2B5EF4-FFF2-40B4-BE49-F238E27FC236}">
                    <a16:creationId xmlns:a16="http://schemas.microsoft.com/office/drawing/2014/main" id="{B97BC979-A53D-A6C4-4BE0-59C06BB1D95A}"/>
                  </a:ext>
                </a:extLst>
              </p:cNvPr>
              <p:cNvSpPr/>
              <p:nvPr/>
            </p:nvSpPr>
            <p:spPr>
              <a:xfrm rot="10800000" flipH="1" flipV="1">
                <a:off x="6337570" y="3138068"/>
                <a:ext cx="5379396" cy="694628"/>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Удлинение диастолы</a:t>
                </a:r>
              </a:p>
            </p:txBody>
          </p:sp>
          <p:sp>
            <p:nvSpPr>
              <p:cNvPr id="17" name="Полилиния: фигура 16">
                <a:extLst>
                  <a:ext uri="{FF2B5EF4-FFF2-40B4-BE49-F238E27FC236}">
                    <a16:creationId xmlns:a16="http://schemas.microsoft.com/office/drawing/2014/main" id="{FF278A7D-C21D-3808-E682-1857013D0312}"/>
                  </a:ext>
                </a:extLst>
              </p:cNvPr>
              <p:cNvSpPr/>
              <p:nvPr/>
            </p:nvSpPr>
            <p:spPr>
              <a:xfrm rot="10800000" flipH="1" flipV="1">
                <a:off x="895943" y="3955191"/>
                <a:ext cx="5013610"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потребления миокардом кислорода</a:t>
                </a:r>
              </a:p>
            </p:txBody>
          </p:sp>
          <p:sp>
            <p:nvSpPr>
              <p:cNvPr id="18" name="Полилиния: фигура 17">
                <a:extLst>
                  <a:ext uri="{FF2B5EF4-FFF2-40B4-BE49-F238E27FC236}">
                    <a16:creationId xmlns:a16="http://schemas.microsoft.com/office/drawing/2014/main" id="{050D9F14-E39E-B71E-DD98-D87408F20076}"/>
                  </a:ext>
                </a:extLst>
              </p:cNvPr>
              <p:cNvSpPr/>
              <p:nvPr/>
            </p:nvSpPr>
            <p:spPr>
              <a:xfrm rot="10800000" flipH="1" flipV="1">
                <a:off x="6337570" y="3955191"/>
                <a:ext cx="5379396" cy="521293"/>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Улучшение перфузии миокарда</a:t>
                </a:r>
              </a:p>
            </p:txBody>
          </p:sp>
        </p:grpSp>
      </p:grpSp>
      <p:grpSp>
        <p:nvGrpSpPr>
          <p:cNvPr id="37" name="Группа 36">
            <a:extLst>
              <a:ext uri="{FF2B5EF4-FFF2-40B4-BE49-F238E27FC236}">
                <a16:creationId xmlns:a16="http://schemas.microsoft.com/office/drawing/2014/main" id="{4157DA0C-91DD-DC97-94EE-B4FE8A65AFA0}"/>
              </a:ext>
            </a:extLst>
          </p:cNvPr>
          <p:cNvGrpSpPr/>
          <p:nvPr/>
        </p:nvGrpSpPr>
        <p:grpSpPr>
          <a:xfrm>
            <a:off x="895943" y="4678163"/>
            <a:ext cx="10412461" cy="1113899"/>
            <a:chOff x="895943" y="4678163"/>
            <a:chExt cx="10412461" cy="1113899"/>
          </a:xfrm>
        </p:grpSpPr>
        <p:sp>
          <p:nvSpPr>
            <p:cNvPr id="19" name="Скругленный прямоугольник 6">
              <a:extLst>
                <a:ext uri="{FF2B5EF4-FFF2-40B4-BE49-F238E27FC236}">
                  <a16:creationId xmlns:a16="http://schemas.microsoft.com/office/drawing/2014/main" id="{1C52CB62-9132-B19F-1998-506DCE3660D9}"/>
                </a:ext>
              </a:extLst>
            </p:cNvPr>
            <p:cNvSpPr/>
            <p:nvPr/>
          </p:nvSpPr>
          <p:spPr>
            <a:xfrm>
              <a:off x="2470355" y="4678163"/>
              <a:ext cx="7307821" cy="457447"/>
            </a:xfrm>
            <a:prstGeom prst="roundRect">
              <a:avLst>
                <a:gd name="adj" fmla="val 50000"/>
              </a:avLst>
            </a:prstGeom>
            <a:gradFill>
              <a:gsLst>
                <a:gs pos="0">
                  <a:srgbClr val="C1D82E"/>
                </a:gs>
                <a:gs pos="52000">
                  <a:srgbClr val="398ACB"/>
                </a:gs>
              </a:gsLst>
              <a:lin ang="1800000" scaled="0"/>
            </a:gradFill>
            <a:ln w="12700">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Антиишемическое действие блокаторов кальциевых каналов</a:t>
              </a:r>
              <a:r>
                <a:rPr kumimoji="0" lang="ru-RU" sz="14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mn-cs"/>
                </a:rPr>
                <a:t>1–3</a:t>
              </a:r>
            </a:p>
          </p:txBody>
        </p:sp>
        <p:sp>
          <p:nvSpPr>
            <p:cNvPr id="30" name="Полилиния: фигура 29">
              <a:extLst>
                <a:ext uri="{FF2B5EF4-FFF2-40B4-BE49-F238E27FC236}">
                  <a16:creationId xmlns:a16="http://schemas.microsoft.com/office/drawing/2014/main" id="{43FAF2AE-DDDA-39F0-F451-0029A5FA5DC3}"/>
                </a:ext>
              </a:extLst>
            </p:cNvPr>
            <p:cNvSpPr/>
            <p:nvPr/>
          </p:nvSpPr>
          <p:spPr>
            <a:xfrm rot="10800000" flipH="1" flipV="1">
              <a:off x="895943" y="5252753"/>
              <a:ext cx="5013610" cy="539309"/>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Снижение потребления миокардом кислорода</a:t>
              </a:r>
            </a:p>
          </p:txBody>
        </p:sp>
        <p:sp>
          <p:nvSpPr>
            <p:cNvPr id="34" name="Полилиния: фигура 33">
              <a:extLst>
                <a:ext uri="{FF2B5EF4-FFF2-40B4-BE49-F238E27FC236}">
                  <a16:creationId xmlns:a16="http://schemas.microsoft.com/office/drawing/2014/main" id="{613005A2-58C8-7181-8074-47CF6035D453}"/>
                </a:ext>
              </a:extLst>
            </p:cNvPr>
            <p:cNvSpPr/>
            <p:nvPr/>
          </p:nvSpPr>
          <p:spPr>
            <a:xfrm rot="10800000" flipH="1" flipV="1">
              <a:off x="6294794" y="5252753"/>
              <a:ext cx="5013610" cy="539309"/>
            </a:xfrm>
            <a:custGeom>
              <a:avLst/>
              <a:gdLst>
                <a:gd name="connsiteX0" fmla="*/ 3618641 w 5960467"/>
                <a:gd name="connsiteY0" fmla="*/ 1051743 h 1051743"/>
                <a:gd name="connsiteX1" fmla="*/ 2540621 w 5960467"/>
                <a:gd name="connsiteY1" fmla="*/ 1051743 h 1051743"/>
                <a:gd name="connsiteX2" fmla="*/ 1121514 w 5960467"/>
                <a:gd name="connsiteY2" fmla="*/ 1051743 h 1051743"/>
                <a:gd name="connsiteX3" fmla="*/ 43493 w 5960467"/>
                <a:gd name="connsiteY3" fmla="*/ 1051743 h 1051743"/>
                <a:gd name="connsiteX4" fmla="*/ 756 w 5960467"/>
                <a:gd name="connsiteY4" fmla="*/ 985575 h 1051743"/>
                <a:gd name="connsiteX5" fmla="*/ 110654 w 5960467"/>
                <a:gd name="connsiteY5" fmla="*/ 65870 h 1051743"/>
                <a:gd name="connsiteX6" fmla="*/ 170792 w 5960467"/>
                <a:gd name="connsiteY6" fmla="*/ 1 h 1051743"/>
                <a:gd name="connsiteX7" fmla="*/ 496679 w 5960467"/>
                <a:gd name="connsiteY7" fmla="*/ 1 h 1051743"/>
                <a:gd name="connsiteX8" fmla="*/ 496681 w 5960467"/>
                <a:gd name="connsiteY8" fmla="*/ 0 h 1051743"/>
                <a:gd name="connsiteX9" fmla="*/ 1485582 w 5960467"/>
                <a:gd name="connsiteY9" fmla="*/ 0 h 1051743"/>
                <a:gd name="connsiteX10" fmla="*/ 1574701 w 5960467"/>
                <a:gd name="connsiteY10" fmla="*/ 0 h 1051743"/>
                <a:gd name="connsiteX11" fmla="*/ 2341826 w 5960467"/>
                <a:gd name="connsiteY11" fmla="*/ 0 h 1051743"/>
                <a:gd name="connsiteX12" fmla="*/ 2563602 w 5960467"/>
                <a:gd name="connsiteY12" fmla="*/ 0 h 1051743"/>
                <a:gd name="connsiteX13" fmla="*/ 2993807 w 5960467"/>
                <a:gd name="connsiteY13" fmla="*/ 0 h 1051743"/>
                <a:gd name="connsiteX14" fmla="*/ 3419846 w 5960467"/>
                <a:gd name="connsiteY14" fmla="*/ 0 h 1051743"/>
                <a:gd name="connsiteX15" fmla="*/ 3982708 w 5960467"/>
                <a:gd name="connsiteY15" fmla="*/ 0 h 1051743"/>
                <a:gd name="connsiteX16" fmla="*/ 4071827 w 5960467"/>
                <a:gd name="connsiteY16" fmla="*/ 0 h 1051743"/>
                <a:gd name="connsiteX17" fmla="*/ 4838953 w 5960467"/>
                <a:gd name="connsiteY17" fmla="*/ 0 h 1051743"/>
                <a:gd name="connsiteX18" fmla="*/ 5060728 w 5960467"/>
                <a:gd name="connsiteY18" fmla="*/ 0 h 1051743"/>
                <a:gd name="connsiteX19" fmla="*/ 5916973 w 5960467"/>
                <a:gd name="connsiteY19" fmla="*/ 0 h 1051743"/>
                <a:gd name="connsiteX20" fmla="*/ 5959711 w 5960467"/>
                <a:gd name="connsiteY20" fmla="*/ 66169 h 1051743"/>
                <a:gd name="connsiteX21" fmla="*/ 5849812 w 5960467"/>
                <a:gd name="connsiteY21" fmla="*/ 985873 h 1051743"/>
                <a:gd name="connsiteX22" fmla="*/ 5789674 w 5960467"/>
                <a:gd name="connsiteY22" fmla="*/ 1051742 h 1051743"/>
                <a:gd name="connsiteX23" fmla="*/ 4933429 w 5960467"/>
                <a:gd name="connsiteY23" fmla="*/ 1051742 h 1051743"/>
                <a:gd name="connsiteX24" fmla="*/ 4711654 w 5960467"/>
                <a:gd name="connsiteY24" fmla="*/ 1051742 h 1051743"/>
                <a:gd name="connsiteX25" fmla="*/ 3944528 w 5960467"/>
                <a:gd name="connsiteY25" fmla="*/ 1051742 h 1051743"/>
                <a:gd name="connsiteX26" fmla="*/ 3855409 w 5960467"/>
                <a:gd name="connsiteY26" fmla="*/ 1051742 h 1051743"/>
                <a:gd name="connsiteX27" fmla="*/ 3618642 w 5960467"/>
                <a:gd name="connsiteY27" fmla="*/ 1051742 h 105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60467" h="1051743">
                  <a:moveTo>
                    <a:pt x="3618641" y="1051743"/>
                  </a:moveTo>
                  <a:lnTo>
                    <a:pt x="2540621" y="1051743"/>
                  </a:lnTo>
                  <a:lnTo>
                    <a:pt x="1121514" y="1051743"/>
                  </a:lnTo>
                  <a:lnTo>
                    <a:pt x="43493" y="1051743"/>
                  </a:lnTo>
                  <a:cubicBezTo>
                    <a:pt x="15164" y="1051743"/>
                    <a:pt x="-4129" y="1021803"/>
                    <a:pt x="756" y="985575"/>
                  </a:cubicBezTo>
                  <a:lnTo>
                    <a:pt x="110654" y="65870"/>
                  </a:lnTo>
                  <a:cubicBezTo>
                    <a:pt x="115355" y="29462"/>
                    <a:pt x="142463" y="1"/>
                    <a:pt x="170792" y="1"/>
                  </a:cubicBezTo>
                  <a:lnTo>
                    <a:pt x="496679" y="1"/>
                  </a:lnTo>
                  <a:lnTo>
                    <a:pt x="496681" y="0"/>
                  </a:lnTo>
                  <a:lnTo>
                    <a:pt x="1485582" y="0"/>
                  </a:lnTo>
                  <a:lnTo>
                    <a:pt x="1574701" y="0"/>
                  </a:lnTo>
                  <a:lnTo>
                    <a:pt x="2341826" y="0"/>
                  </a:lnTo>
                  <a:lnTo>
                    <a:pt x="2563602" y="0"/>
                  </a:lnTo>
                  <a:lnTo>
                    <a:pt x="2993807" y="0"/>
                  </a:lnTo>
                  <a:lnTo>
                    <a:pt x="3419846" y="0"/>
                  </a:lnTo>
                  <a:lnTo>
                    <a:pt x="3982708" y="0"/>
                  </a:lnTo>
                  <a:lnTo>
                    <a:pt x="4071827" y="0"/>
                  </a:lnTo>
                  <a:lnTo>
                    <a:pt x="4838953" y="0"/>
                  </a:lnTo>
                  <a:lnTo>
                    <a:pt x="5060728" y="0"/>
                  </a:lnTo>
                  <a:lnTo>
                    <a:pt x="5916973" y="0"/>
                  </a:lnTo>
                  <a:cubicBezTo>
                    <a:pt x="5945302" y="0"/>
                    <a:pt x="5964595" y="29941"/>
                    <a:pt x="5959711" y="66169"/>
                  </a:cubicBezTo>
                  <a:lnTo>
                    <a:pt x="5849812" y="985873"/>
                  </a:lnTo>
                  <a:cubicBezTo>
                    <a:pt x="5845112" y="1022281"/>
                    <a:pt x="5818003" y="1051742"/>
                    <a:pt x="5789674" y="1051742"/>
                  </a:cubicBezTo>
                  <a:lnTo>
                    <a:pt x="4933429" y="1051742"/>
                  </a:lnTo>
                  <a:lnTo>
                    <a:pt x="4711654" y="1051742"/>
                  </a:lnTo>
                  <a:lnTo>
                    <a:pt x="3944528" y="1051742"/>
                  </a:lnTo>
                  <a:lnTo>
                    <a:pt x="3855409" y="1051742"/>
                  </a:lnTo>
                  <a:lnTo>
                    <a:pt x="3618642" y="1051742"/>
                  </a:lnTo>
                  <a:close/>
                </a:path>
              </a:pathLst>
            </a:custGeom>
            <a:noFill/>
            <a:ln w="13331" cap="flat">
              <a:solidFill>
                <a:srgbClr val="398ACB"/>
              </a:solid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Расширение крупных коронарных артерий</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и артериол</a:t>
              </a:r>
            </a:p>
          </p:txBody>
        </p:sp>
      </p:grpSp>
      <p:sp>
        <p:nvSpPr>
          <p:cNvPr id="2" name="Заголовок 1">
            <a:extLst>
              <a:ext uri="{FF2B5EF4-FFF2-40B4-BE49-F238E27FC236}">
                <a16:creationId xmlns:a16="http://schemas.microsoft.com/office/drawing/2014/main" id="{D691F081-A6A5-3B39-F51C-EFE4E11F6846}"/>
              </a:ext>
            </a:extLst>
          </p:cNvPr>
          <p:cNvSpPr txBox="1">
            <a:spLocks/>
          </p:cNvSpPr>
          <p:nvPr/>
        </p:nvSpPr>
        <p:spPr>
          <a:xfrm>
            <a:off x="895942"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Синергизм антиангинального действия </a:t>
            </a: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бисопролола</a:t>
            </a:r>
            <a:b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и амлодипина</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r>
              <a:rPr kumimoji="0" lang="en-US"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3</a:t>
            </a:r>
          </a:p>
        </p:txBody>
      </p:sp>
    </p:spTree>
    <p:extLst>
      <p:ext uri="{BB962C8B-B14F-4D97-AF65-F5344CB8AC3E}">
        <p14:creationId xmlns:p14="http://schemas.microsoft.com/office/powerpoint/2010/main" val="429428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C74D7-9715-51AF-B408-417CBC753732}"/>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1BAEC544-BBBF-8191-0FC6-DB4522C97F33}"/>
              </a:ext>
            </a:extLst>
          </p:cNvPr>
          <p:cNvSpPr>
            <a:spLocks noGrp="1"/>
          </p:cNvSpPr>
          <p:nvPr>
            <p:ph type="title"/>
          </p:nvPr>
        </p:nvSpPr>
        <p:spPr bwMode="gray">
          <a:xfrm>
            <a:off x="5765800" y="2240992"/>
            <a:ext cx="5943600" cy="2232000"/>
          </a:xfrm>
        </p:spPr>
        <p:txBody>
          <a:bodyPr/>
          <a:lstStyle/>
          <a:p>
            <a:r>
              <a:rPr lang="ru-RU" sz="4000" b="1" dirty="0">
                <a:latin typeface="Arial (Headings)"/>
              </a:rPr>
              <a:t>Оптимальная Медикаментозная Терапия</a:t>
            </a:r>
            <a:endParaRPr lang="en-US" sz="4000" b="1" dirty="0">
              <a:latin typeface="Arial (Headings)"/>
            </a:endParaRPr>
          </a:p>
        </p:txBody>
      </p:sp>
    </p:spTree>
    <p:custDataLst>
      <p:tags r:id="rId1"/>
    </p:custDataLst>
    <p:extLst>
      <p:ext uri="{BB962C8B-B14F-4D97-AF65-F5344CB8AC3E}">
        <p14:creationId xmlns:p14="http://schemas.microsoft.com/office/powerpoint/2010/main" val="132629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AC733-7D00-F18D-205D-7A0B5DC28E74}"/>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Что такое современная «Оптимальная Медикаментозная Терапия</a:t>
            </a:r>
            <a:r>
              <a:rPr kumimoji="0" lang="ru-RU" sz="2800" b="1" i="0" u="none" strike="noStrike" kern="1200" cap="none" spc="0" normalizeH="0" baseline="30000" noProof="0" dirty="0">
                <a:ln>
                  <a:noFill/>
                </a:ln>
                <a:solidFill>
                  <a:srgbClr val="2B3A42"/>
                </a:solidFill>
                <a:effectLst/>
                <a:uLnTx/>
                <a:uFillTx/>
                <a:latin typeface="Arial" panose="020B0604020202020204"/>
                <a:ea typeface="+mj-ea"/>
                <a:cs typeface="+mj-cs"/>
              </a:rPr>
              <a:t>1,2</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pSp>
        <p:nvGrpSpPr>
          <p:cNvPr id="3" name="Group 2">
            <a:extLst>
              <a:ext uri="{FF2B5EF4-FFF2-40B4-BE49-F238E27FC236}">
                <a16:creationId xmlns:a16="http://schemas.microsoft.com/office/drawing/2014/main" id="{5313DEE6-CCFE-1428-D54C-C4012D9B796D}"/>
              </a:ext>
            </a:extLst>
          </p:cNvPr>
          <p:cNvGrpSpPr/>
          <p:nvPr/>
        </p:nvGrpSpPr>
        <p:grpSpPr>
          <a:xfrm flipV="1">
            <a:off x="378664" y="1120356"/>
            <a:ext cx="5222036" cy="1285816"/>
            <a:chOff x="378664" y="1716000"/>
            <a:chExt cx="4354668" cy="1072245"/>
          </a:xfrm>
        </p:grpSpPr>
        <p:sp>
          <p:nvSpPr>
            <p:cNvPr id="4" name="Arc 3">
              <a:extLst>
                <a:ext uri="{FF2B5EF4-FFF2-40B4-BE49-F238E27FC236}">
                  <a16:creationId xmlns:a16="http://schemas.microsoft.com/office/drawing/2014/main" id="{83220EEA-2BBE-4136-1106-CCBBF1BD02A3}"/>
                </a:ext>
              </a:extLst>
            </p:cNvPr>
            <p:cNvSpPr/>
            <p:nvPr/>
          </p:nvSpPr>
          <p:spPr>
            <a:xfrm flipH="1">
              <a:off x="378664" y="1716000"/>
              <a:ext cx="1070167" cy="1072245"/>
            </a:xfrm>
            <a:prstGeom prst="arc">
              <a:avLst>
                <a:gd name="adj1" fmla="val 16200000"/>
                <a:gd name="adj2" fmla="val 5498192"/>
              </a:avLst>
            </a:prstGeom>
            <a:noFill/>
            <a:ln w="28575"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F737B2C0-8A75-62E0-DCDE-B5F788232017}"/>
                </a:ext>
              </a:extLst>
            </p:cNvPr>
            <p:cNvCxnSpPr>
              <a:cxnSpLocks/>
            </p:cNvCxnSpPr>
            <p:nvPr/>
          </p:nvCxnSpPr>
          <p:spPr>
            <a:xfrm flipV="1">
              <a:off x="913986" y="2788245"/>
              <a:ext cx="3819346" cy="0"/>
            </a:xfrm>
            <a:prstGeom prst="line">
              <a:avLst/>
            </a:prstGeom>
            <a:noFill/>
            <a:ln w="28575" cap="rnd" cmpd="sng" algn="ctr">
              <a:solidFill>
                <a:srgbClr val="00A3E0"/>
              </a:solidFill>
              <a:prstDash val="solid"/>
              <a:round/>
            </a:ln>
            <a:effectLst/>
          </p:spPr>
        </p:cxnSp>
      </p:grpSp>
      <p:pic>
        <p:nvPicPr>
          <p:cNvPr id="6" name="Graphic 5">
            <a:extLst>
              <a:ext uri="{FF2B5EF4-FFF2-40B4-BE49-F238E27FC236}">
                <a16:creationId xmlns:a16="http://schemas.microsoft.com/office/drawing/2014/main" id="{5D85A60D-A157-5FFB-176D-596216F8CA4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3047" y="1472078"/>
            <a:ext cx="502920" cy="502920"/>
          </a:xfrm>
          <a:prstGeom prst="rect">
            <a:avLst/>
          </a:prstGeom>
        </p:spPr>
      </p:pic>
      <p:grpSp>
        <p:nvGrpSpPr>
          <p:cNvPr id="7" name="Group 6">
            <a:extLst>
              <a:ext uri="{FF2B5EF4-FFF2-40B4-BE49-F238E27FC236}">
                <a16:creationId xmlns:a16="http://schemas.microsoft.com/office/drawing/2014/main" id="{AA7F4081-EED3-BDB7-3739-27E814D26E79}"/>
              </a:ext>
            </a:extLst>
          </p:cNvPr>
          <p:cNvGrpSpPr/>
          <p:nvPr/>
        </p:nvGrpSpPr>
        <p:grpSpPr>
          <a:xfrm flipH="1" flipV="1">
            <a:off x="6501218" y="1120356"/>
            <a:ext cx="5222036" cy="1285816"/>
            <a:chOff x="378664" y="1716000"/>
            <a:chExt cx="4354668" cy="1072245"/>
          </a:xfrm>
        </p:grpSpPr>
        <p:sp>
          <p:nvSpPr>
            <p:cNvPr id="8" name="Arc 7">
              <a:extLst>
                <a:ext uri="{FF2B5EF4-FFF2-40B4-BE49-F238E27FC236}">
                  <a16:creationId xmlns:a16="http://schemas.microsoft.com/office/drawing/2014/main" id="{FE418AA6-970A-732E-486D-8A55BD3ACF40}"/>
                </a:ext>
              </a:extLst>
            </p:cNvPr>
            <p:cNvSpPr/>
            <p:nvPr/>
          </p:nvSpPr>
          <p:spPr>
            <a:xfrm flipH="1">
              <a:off x="378664" y="1716000"/>
              <a:ext cx="1070167" cy="1072245"/>
            </a:xfrm>
            <a:prstGeom prst="arc">
              <a:avLst>
                <a:gd name="adj1" fmla="val 16200000"/>
                <a:gd name="adj2" fmla="val 5498192"/>
              </a:avLst>
            </a:prstGeom>
            <a:noFill/>
            <a:ln w="28575"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9" name="Straight Connector 8">
              <a:extLst>
                <a:ext uri="{FF2B5EF4-FFF2-40B4-BE49-F238E27FC236}">
                  <a16:creationId xmlns:a16="http://schemas.microsoft.com/office/drawing/2014/main" id="{C91C56EB-9971-C2AB-284E-3F5F2A81D2F2}"/>
                </a:ext>
              </a:extLst>
            </p:cNvPr>
            <p:cNvCxnSpPr>
              <a:cxnSpLocks/>
            </p:cNvCxnSpPr>
            <p:nvPr/>
          </p:nvCxnSpPr>
          <p:spPr>
            <a:xfrm flipV="1">
              <a:off x="913986" y="2788245"/>
              <a:ext cx="3819346" cy="0"/>
            </a:xfrm>
            <a:prstGeom prst="line">
              <a:avLst/>
            </a:prstGeom>
            <a:noFill/>
            <a:ln w="28575" cap="rnd" cmpd="sng" algn="ctr">
              <a:solidFill>
                <a:srgbClr val="005587"/>
              </a:solidFill>
              <a:prstDash val="solid"/>
              <a:round/>
            </a:ln>
            <a:effectLst/>
          </p:spPr>
        </p:cxnSp>
      </p:grpSp>
      <p:pic>
        <p:nvPicPr>
          <p:cNvPr id="10" name="Graphic 9">
            <a:extLst>
              <a:ext uri="{FF2B5EF4-FFF2-40B4-BE49-F238E27FC236}">
                <a16:creationId xmlns:a16="http://schemas.microsoft.com/office/drawing/2014/main" id="{299B10F3-0B79-E5FD-E8DB-BD23494A1D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2050" y="1472078"/>
            <a:ext cx="502920" cy="502920"/>
          </a:xfrm>
          <a:prstGeom prst="rect">
            <a:avLst/>
          </a:prstGeom>
        </p:spPr>
      </p:pic>
      <p:sp>
        <p:nvSpPr>
          <p:cNvPr id="11" name="Rounded Rectangle 69">
            <a:extLst>
              <a:ext uri="{FF2B5EF4-FFF2-40B4-BE49-F238E27FC236}">
                <a16:creationId xmlns:a16="http://schemas.microsoft.com/office/drawing/2014/main" id="{992FBFC0-7570-1D0A-6022-4E8FE3C41145}"/>
              </a:ext>
            </a:extLst>
          </p:cNvPr>
          <p:cNvSpPr>
            <a:spLocks/>
          </p:cNvSpPr>
          <p:nvPr/>
        </p:nvSpPr>
        <p:spPr>
          <a:xfrm>
            <a:off x="1267552" y="1257922"/>
            <a:ext cx="4266916" cy="1260387"/>
          </a:xfrm>
          <a:prstGeom prst="rect">
            <a:avLst/>
          </a:prstGeom>
          <a:noFill/>
          <a:ln w="12700" cap="flat" cmpd="sng" algn="ctr">
            <a:noFill/>
            <a:prstDash val="solid"/>
            <a:miter lim="800000"/>
          </a:ln>
          <a:effectLst/>
        </p:spPr>
        <p:txBody>
          <a:bodyPr rtlCol="0" anchor="t" anchorCtr="0"/>
          <a:lstStyle/>
          <a:p>
            <a:pPr marL="0" marR="0" lvl="0" indent="0" algn="ctr" defTabSz="914400" rtl="0" eaLnBrk="1" fontAlgn="base" latinLnBrk="0" hangingPunct="1">
              <a:lnSpc>
                <a:spcPct val="100000"/>
              </a:lnSpc>
              <a:spcBef>
                <a:spcPts val="0"/>
              </a:spcBef>
              <a:spcAft>
                <a:spcPts val="600"/>
              </a:spcAft>
              <a:buClrTx/>
              <a:buSzTx/>
              <a:buFontTx/>
              <a:buNone/>
              <a:tabLst/>
              <a:defRPr/>
            </a:pPr>
            <a:r>
              <a:rPr kumimoji="0" lang="ru-RU" sz="20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Прогностический фундамент -  профилактика ССО</a:t>
            </a:r>
          </a:p>
          <a:p>
            <a:pPr marL="0" marR="0" lvl="0" indent="0" algn="ctr" defTabSz="914400" rtl="0" eaLnBrk="1" fontAlgn="base" latinLnBrk="0" hangingPunct="1">
              <a:lnSpc>
                <a:spcPct val="100000"/>
              </a:lnSpc>
              <a:spcBef>
                <a:spcPts val="0"/>
              </a:spcBef>
              <a:spcAft>
                <a:spcPts val="600"/>
              </a:spcAft>
              <a:buClrTx/>
              <a:buSzTx/>
              <a:buFontTx/>
              <a:buNone/>
              <a:tabLst/>
              <a:defRPr/>
            </a:pPr>
            <a:endParaRPr kumimoji="0" lang="ru-RU" sz="20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Антитромботическая терапия</a:t>
            </a: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Гиполипидемическая терапия – цель ЛПНП &lt;1,4 ммоль/л</a:t>
            </a: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ИАПФ - особенно показано при наличии АГ, ХСН при ФВ ЛЖ ≤40%, хронических заболеваний почек с начальной и умеренной азотемией. </a:t>
            </a: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При непереносимости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иАПФ</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антагонисты рецепторов к ангиотензину II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сартаны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a:t>
            </a: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2" name="Rounded Rectangle 69">
            <a:extLst>
              <a:ext uri="{FF2B5EF4-FFF2-40B4-BE49-F238E27FC236}">
                <a16:creationId xmlns:a16="http://schemas.microsoft.com/office/drawing/2014/main" id="{2E7F3555-A7C4-730E-3463-4FB442CBBDAF}"/>
              </a:ext>
            </a:extLst>
          </p:cNvPr>
          <p:cNvSpPr>
            <a:spLocks/>
          </p:cNvSpPr>
          <p:nvPr/>
        </p:nvSpPr>
        <p:spPr>
          <a:xfrm>
            <a:off x="6136588" y="1257922"/>
            <a:ext cx="4704685" cy="1260387"/>
          </a:xfrm>
          <a:prstGeom prst="rect">
            <a:avLst/>
          </a:prstGeom>
          <a:noFill/>
          <a:ln w="12700" cap="flat" cmpd="sng" algn="ctr">
            <a:noFill/>
            <a:prstDash val="solid"/>
            <a:miter lim="800000"/>
          </a:ln>
          <a:effectLst/>
        </p:spPr>
        <p:txBody>
          <a:bodyPr rtlCol="0" anchor="t" anchorCtr="0"/>
          <a:lstStyle/>
          <a:p>
            <a:pPr marL="0" marR="0" lvl="0" indent="0" algn="ctr" defTabSz="914400" rtl="0" eaLnBrk="1" fontAlgn="base" latinLnBrk="0" hangingPunct="1">
              <a:lnSpc>
                <a:spcPct val="100000"/>
              </a:lnSpc>
              <a:spcBef>
                <a:spcPts val="0"/>
              </a:spcBef>
              <a:spcAft>
                <a:spcPts val="600"/>
              </a:spcAft>
              <a:buClrTx/>
              <a:buSzTx/>
              <a:buFontTx/>
              <a:buNone/>
              <a:tabLst/>
              <a:defRPr/>
            </a:pPr>
            <a:r>
              <a:rPr kumimoji="0" lang="ru-RU" sz="20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Антиишемическая терапия - устранение симптомов заболевания</a:t>
            </a:r>
            <a:endParaRPr kumimoji="0" lang="en-US"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1" fontAlgn="base"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Назначается с учетом коморбидностей, должен быть соотнесён с ЧСС, АД и функцией ЛЖ</a:t>
            </a:r>
          </a:p>
          <a:p>
            <a:pPr marL="285750" marR="0" lvl="0" indent="-285750" algn="l" defTabSz="914400" rtl="0" eaLnBrk="1" fontAlgn="base"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рекомендуется снижать АД до целевых значений, ЧСС до значений 55-60 уд./мин</a:t>
            </a: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400050" marR="0" lvl="0" indent="-400050" algn="l" defTabSz="914400" rtl="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Бета-адреноблокаторы</a:t>
            </a:r>
          </a:p>
          <a:p>
            <a:pPr marL="400050" marR="0" lvl="0" indent="-400050" algn="l" defTabSz="914400" rtl="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Недигидропиридиновые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блокаторы кальциевых каналов (БКК)</a:t>
            </a:r>
          </a:p>
          <a:p>
            <a:pPr marL="400050" marR="0" lvl="0" indent="-400050" algn="l" defTabSz="914400" rtl="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Дигидропиридиновые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БКК</a:t>
            </a:r>
          </a:p>
          <a:p>
            <a:pPr marL="400050" marR="0" lvl="0" indent="-400050" algn="l" defTabSz="914400" rtl="0" eaLnBrk="1" fontAlgn="base" latinLnBrk="0" hangingPunct="1">
              <a:lnSpc>
                <a:spcPct val="100000"/>
              </a:lnSpc>
              <a:spcBef>
                <a:spcPts val="0"/>
              </a:spcBef>
              <a:spcAft>
                <a:spcPts val="600"/>
              </a:spcAft>
              <a:buClrTx/>
              <a:buSzTx/>
              <a:buFont typeface="+mj-lt"/>
              <a:buAutoNum type="romanUcPeriod"/>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Вторая линия: нитраты длительного действия,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ранолазин</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никорандил</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триметазидин,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ивабрадин</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cxnSp>
        <p:nvCxnSpPr>
          <p:cNvPr id="13" name="Straight Connector 12">
            <a:extLst>
              <a:ext uri="{FF2B5EF4-FFF2-40B4-BE49-F238E27FC236}">
                <a16:creationId xmlns:a16="http://schemas.microsoft.com/office/drawing/2014/main" id="{275D1C66-6F34-4AAB-FACA-67C2254D3ABF}"/>
              </a:ext>
            </a:extLst>
          </p:cNvPr>
          <p:cNvCxnSpPr>
            <a:cxnSpLocks/>
          </p:cNvCxnSpPr>
          <p:nvPr/>
        </p:nvCxnSpPr>
        <p:spPr>
          <a:xfrm>
            <a:off x="6050959" y="1698267"/>
            <a:ext cx="0" cy="4602521"/>
          </a:xfrm>
          <a:prstGeom prst="line">
            <a:avLst/>
          </a:prstGeom>
          <a:noFill/>
          <a:ln w="19050" cap="rnd" cmpd="sng" algn="ctr">
            <a:solidFill>
              <a:srgbClr val="FFFFFF">
                <a:lumMod val="75000"/>
              </a:srgbClr>
            </a:solidFill>
            <a:prstDash val="solid"/>
            <a:round/>
          </a:ln>
          <a:effectLst/>
        </p:spPr>
      </p:cxnSp>
      <p:sp>
        <p:nvSpPr>
          <p:cNvPr id="14" name="Rectangle: Rounded Corners 13">
            <a:extLst>
              <a:ext uri="{FF2B5EF4-FFF2-40B4-BE49-F238E27FC236}">
                <a16:creationId xmlns:a16="http://schemas.microsoft.com/office/drawing/2014/main" id="{DC402F05-F72D-9EDC-9972-FA8AC93D6046}"/>
              </a:ext>
            </a:extLst>
          </p:cNvPr>
          <p:cNvSpPr/>
          <p:nvPr/>
        </p:nvSpPr>
        <p:spPr>
          <a:xfrm>
            <a:off x="384694" y="5625548"/>
            <a:ext cx="11711228" cy="937984"/>
          </a:xfrm>
          <a:prstGeom prst="roundRect">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C668589A-90F3-A102-5311-358B0DBAF844}"/>
              </a:ext>
            </a:extLst>
          </p:cNvPr>
          <p:cNvSpPr/>
          <p:nvPr/>
        </p:nvSpPr>
        <p:spPr>
          <a:xfrm>
            <a:off x="755373" y="5385922"/>
            <a:ext cx="11121888" cy="947448"/>
          </a:xfrm>
          <a:prstGeom prst="roundRect">
            <a:avLst>
              <a:gd name="adj" fmla="val 26677"/>
            </a:avLst>
          </a:prstGeom>
          <a:solidFill>
            <a:srgbClr val="F9C2B1"/>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0000"/>
                </a:solidFill>
                <a:effectLst/>
                <a:uLnTx/>
                <a:uFillTx/>
                <a:latin typeface="Arial" panose="020B0604020202020204"/>
                <a:ea typeface="+mn-ea"/>
                <a:cs typeface="+mn-cs"/>
              </a:rPr>
              <a:t>Клиническая реальность: </a:t>
            </a:r>
            <a:r>
              <a:rPr kumimoji="0" lang="en-US" sz="1600" b="1" i="0" u="none" strike="noStrike" kern="0" cap="none" spc="0" normalizeH="0" baseline="0" noProof="0" dirty="0">
                <a:ln>
                  <a:noFill/>
                </a:ln>
                <a:solidFill>
                  <a:srgbClr val="2B3A42"/>
                </a:solidFill>
                <a:effectLst/>
                <a:uLnTx/>
                <a:uFillTx/>
                <a:latin typeface="Arial" panose="020B0604020202020204"/>
                <a:ea typeface="+mn-ea"/>
                <a:cs typeface="+mn-cs"/>
              </a:rPr>
              <a:t>Post-hoc </a:t>
            </a:r>
            <a:r>
              <a:rPr kumimoji="0" lang="ru-RU" sz="1600" b="1" i="0" u="none" strike="noStrike" kern="0" cap="none" spc="0" normalizeH="0" baseline="0" noProof="0" dirty="0">
                <a:ln>
                  <a:noFill/>
                </a:ln>
                <a:solidFill>
                  <a:srgbClr val="2B3A42"/>
                </a:solidFill>
                <a:effectLst/>
                <a:uLnTx/>
                <a:uFillTx/>
                <a:latin typeface="Arial" panose="020B0604020202020204"/>
                <a:ea typeface="+mn-ea"/>
                <a:cs typeface="+mn-cs"/>
              </a:rPr>
              <a:t>анализ </a:t>
            </a:r>
            <a:r>
              <a:rPr kumimoji="0" lang="en-US" sz="1600" b="1" i="0" u="none" strike="noStrike" kern="0" cap="none" spc="0" normalizeH="0" baseline="0" noProof="0" dirty="0">
                <a:ln>
                  <a:noFill/>
                </a:ln>
                <a:solidFill>
                  <a:srgbClr val="2B3A42"/>
                </a:solidFill>
                <a:effectLst/>
                <a:uLnTx/>
                <a:uFillTx/>
                <a:latin typeface="Arial" panose="020B0604020202020204"/>
                <a:ea typeface="+mn-ea"/>
                <a:cs typeface="+mn-cs"/>
              </a:rPr>
              <a:t>ISCHEMIA</a:t>
            </a:r>
            <a:r>
              <a:rPr kumimoji="0" lang="ru-RU" sz="1600" b="1" i="0" u="none" strike="noStrike" kern="0" cap="none" spc="0" normalizeH="0" baseline="30000" noProof="0" dirty="0">
                <a:ln>
                  <a:noFill/>
                </a:ln>
                <a:solidFill>
                  <a:srgbClr val="2B3A42"/>
                </a:solidFill>
                <a:effectLst/>
                <a:uLnTx/>
                <a:uFillTx/>
                <a:latin typeface="Arial" panose="020B0604020202020204"/>
                <a:ea typeface="+mn-ea"/>
                <a:cs typeface="+mn-cs"/>
              </a:rPr>
              <a:t>3</a:t>
            </a:r>
            <a:r>
              <a:rPr kumimoji="0" lang="en-US" sz="1600" b="1" i="0" u="none" strike="noStrike" kern="0" cap="none" spc="0" normalizeH="0" baseline="0" noProof="0" dirty="0">
                <a:ln>
                  <a:noFill/>
                </a:ln>
                <a:solidFill>
                  <a:srgbClr val="2B3A42"/>
                </a:solidFill>
                <a:effectLst/>
                <a:uLnTx/>
                <a:uFillTx/>
                <a:latin typeface="Arial" panose="020B0604020202020204"/>
                <a:ea typeface="+mn-ea"/>
                <a:cs typeface="+mn-cs"/>
              </a:rPr>
              <a:t> (JACC 2025) – </a:t>
            </a:r>
            <a:r>
              <a:rPr kumimoji="0" lang="ru-RU" sz="1600" b="1" i="0" u="none" strike="noStrike" kern="0" cap="none" spc="0" normalizeH="0" baseline="0" noProof="0" dirty="0">
                <a:ln>
                  <a:noFill/>
                </a:ln>
                <a:solidFill>
                  <a:srgbClr val="2B3A42"/>
                </a:solidFill>
                <a:effectLst/>
                <a:uLnTx/>
                <a:uFillTx/>
                <a:latin typeface="Arial" panose="020B0604020202020204"/>
                <a:ea typeface="+mn-ea"/>
                <a:cs typeface="+mn-cs"/>
              </a:rPr>
              <a:t>на старте исследования все цели ОМТ одновременно достигали лишь 12% пациентов». Систематическая недооценка ОМТ в реальной практике создает ложную потребность в ранней </a:t>
            </a:r>
            <a:r>
              <a:rPr kumimoji="0" lang="ru-RU" sz="1600" b="1" i="0" u="none" strike="noStrike" kern="0" cap="none" spc="0" normalizeH="0" baseline="0" noProof="0" dirty="0" err="1">
                <a:ln>
                  <a:noFill/>
                </a:ln>
                <a:solidFill>
                  <a:srgbClr val="2B3A42"/>
                </a:solidFill>
                <a:effectLst/>
                <a:uLnTx/>
                <a:uFillTx/>
                <a:latin typeface="Arial" panose="020B0604020202020204"/>
                <a:ea typeface="+mn-ea"/>
                <a:cs typeface="+mn-cs"/>
              </a:rPr>
              <a:t>реваскуляризации</a:t>
            </a:r>
            <a:endParaRPr kumimoji="0" lang="ru-RU" sz="1600" b="1"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2B0AAAD8-7370-69A7-40CD-97333862AB46}"/>
              </a:ext>
            </a:extLst>
          </p:cNvPr>
          <p:cNvSpPr txBox="1"/>
          <p:nvPr/>
        </p:nvSpPr>
        <p:spPr>
          <a:xfrm>
            <a:off x="308944" y="6376576"/>
            <a:ext cx="1165528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Vrints</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 et al. 2024 ESC Guidelines for the management of chronic coronary syndromes.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Heart J. 2024 Aug 30: ehae177.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10.1093/</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eurheartj</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/ehae177. PMID: 39210710</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Барбараш О. Л., и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соавт</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Стабильная ишемическая болезнь сердца.</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Клинические рекомендации 2024. Российский кардиологический журнал.</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2024;29(9):6110.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10.15829/1560-4071-2024-6110. EDN HHJJUT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Calibri" panose="020F0502020204030204"/>
                <a:ea typeface="+mn-ea"/>
                <a:cs typeface="+mn-cs"/>
              </a:rPr>
              <a:t>3</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Maron DJ, Newman JD,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Anthopolos</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R et al. Guideline-Directed Medical Therapy and Outcomes in the ISCHEMIA Trial. JACC 2025;85(12):1317–1331. DOI: 10.1016/j.jacc.2025.01.028</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6335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7A36-A382-E7D2-3EC2-1FC4EA82E2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F31FDE-AB8D-5E25-9F9A-BC607A61204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4" name="Rectangle: Rounded Corners 3">
            <a:extLst>
              <a:ext uri="{FF2B5EF4-FFF2-40B4-BE49-F238E27FC236}">
                <a16:creationId xmlns:a16="http://schemas.microsoft.com/office/drawing/2014/main" id="{43CF6377-FC4F-E208-55BE-F54ABDF15520}"/>
              </a:ext>
            </a:extLst>
          </p:cNvPr>
          <p:cNvSpPr>
            <a:spLocks/>
          </p:cNvSpPr>
          <p:nvPr/>
        </p:nvSpPr>
        <p:spPr>
          <a:xfrm>
            <a:off x="1800539" y="1266848"/>
            <a:ext cx="3672470" cy="1226660"/>
          </a:xfrm>
          <a:prstGeom prst="roundRect">
            <a:avLst>
              <a:gd name="adj" fmla="val 50000"/>
            </a:avLst>
          </a:prstGeom>
          <a:solidFill>
            <a:srgbClr val="FFFFFF"/>
          </a:solidFill>
          <a:ln w="76200" cap="flat" cmpd="sng" algn="ctr">
            <a:solidFill>
              <a:srgbClr val="00A3E0"/>
            </a:solidFill>
            <a:prstDash val="solid"/>
            <a:miter lim="800000"/>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ru-RU" sz="2000" b="1" i="0" u="none" strike="noStrike" kern="0" cap="none" spc="0" normalizeH="0" baseline="0" noProof="0" dirty="0">
                <a:ln>
                  <a:noFill/>
                </a:ln>
                <a:solidFill>
                  <a:srgbClr val="00A3E0"/>
                </a:solidFill>
                <a:effectLst/>
                <a:uLnTx/>
                <a:uFillTx/>
                <a:latin typeface="Arial" panose="020B0604020202020204"/>
                <a:ea typeface="+mn-ea"/>
                <a:cs typeface="+mn-cs"/>
              </a:rPr>
              <a:t>Стенокардия </a:t>
            </a:r>
          </a:p>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n-US" sz="2000" b="1" i="0" u="none" strike="noStrike" kern="0" cap="none" spc="0" normalizeH="0" baseline="0" noProof="0" dirty="0">
                <a:ln>
                  <a:noFill/>
                </a:ln>
                <a:solidFill>
                  <a:srgbClr val="00A3E0"/>
                </a:solidFill>
                <a:effectLst/>
                <a:uLnTx/>
                <a:uFillTx/>
                <a:latin typeface="Arial" panose="020B0604020202020204"/>
                <a:ea typeface="+mn-ea"/>
                <a:cs typeface="+mn-cs"/>
              </a:rPr>
              <a:t>I-II </a:t>
            </a:r>
            <a:r>
              <a:rPr kumimoji="0" lang="ru-RU" sz="2000" b="1" i="0" u="none" strike="noStrike" kern="0" cap="none" spc="0" normalizeH="0" baseline="0" noProof="0" dirty="0">
                <a:ln>
                  <a:noFill/>
                </a:ln>
                <a:solidFill>
                  <a:srgbClr val="00A3E0"/>
                </a:solidFill>
                <a:effectLst/>
                <a:uLnTx/>
                <a:uFillTx/>
                <a:latin typeface="Arial" panose="020B0604020202020204"/>
                <a:ea typeface="+mn-ea"/>
                <a:cs typeface="+mn-cs"/>
              </a:rPr>
              <a:t>ФК класса</a:t>
            </a:r>
            <a:endParaRPr kumimoji="0" lang="en-US" sz="2000" b="1" i="0" u="none" strike="noStrike" kern="0" cap="none" spc="0" normalizeH="0" baseline="0" noProof="0" dirty="0">
              <a:ln>
                <a:noFill/>
              </a:ln>
              <a:solidFill>
                <a:srgbClr val="00A3E0"/>
              </a:solidFill>
              <a:effectLst/>
              <a:uLnTx/>
              <a:uFillTx/>
              <a:latin typeface="Arial" panose="020B0604020202020204"/>
              <a:ea typeface="+mn-ea"/>
              <a:cs typeface="+mn-cs"/>
            </a:endParaRPr>
          </a:p>
        </p:txBody>
      </p:sp>
      <p:sp>
        <p:nvSpPr>
          <p:cNvPr id="5" name="Rectangle: Rounded Corners 4">
            <a:extLst>
              <a:ext uri="{FF2B5EF4-FFF2-40B4-BE49-F238E27FC236}">
                <a16:creationId xmlns:a16="http://schemas.microsoft.com/office/drawing/2014/main" id="{47E133F5-AEC3-D32C-6AF1-3FB08F873B7D}"/>
              </a:ext>
            </a:extLst>
          </p:cNvPr>
          <p:cNvSpPr/>
          <p:nvPr/>
        </p:nvSpPr>
        <p:spPr>
          <a:xfrm>
            <a:off x="6506830" y="1266848"/>
            <a:ext cx="3672470" cy="1226660"/>
          </a:xfrm>
          <a:prstGeom prst="roundRect">
            <a:avLst>
              <a:gd name="adj" fmla="val 50000"/>
            </a:avLst>
          </a:prstGeom>
          <a:solidFill>
            <a:srgbClr val="FFFFFF"/>
          </a:solidFill>
          <a:ln w="76200" cap="flat" cmpd="sng" algn="ctr">
            <a:solidFill>
              <a:srgbClr val="005587"/>
            </a:solidFill>
            <a:prstDash val="solid"/>
            <a:miter lim="800000"/>
          </a:ln>
          <a:effectLst/>
        </p:spPr>
        <p:txBody>
          <a:bodyPr lIns="91440" tIns="45720" rIns="91440" bIns="45720" rtlCol="0" anchor="ctr" anchorCtr="0">
            <a:no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Стенокардия </a:t>
            </a:r>
          </a:p>
          <a:p>
            <a:pPr marL="268288" marR="0" lvl="0" indent="0" algn="ctr" defTabSz="914400" rtl="0" eaLnBrk="1" fontAlgn="auto" latinLnBrk="0" hangingPunct="1">
              <a:lnSpc>
                <a:spcPct val="100000"/>
              </a:lnSpc>
              <a:spcBef>
                <a:spcPts val="300"/>
              </a:spcBef>
              <a:spcAft>
                <a:spcPts val="0"/>
              </a:spcAft>
              <a:buClrTx/>
              <a:buSzTx/>
              <a:buFontTx/>
              <a:buNone/>
              <a:tabLst/>
              <a:defRPr/>
            </a:pPr>
            <a:r>
              <a:rPr kumimoji="0" lang="en-US" sz="2000" b="1" i="0" u="none" strike="noStrike" kern="0" cap="none" spc="0" normalizeH="0" baseline="0" noProof="0" dirty="0">
                <a:ln>
                  <a:noFill/>
                </a:ln>
                <a:solidFill>
                  <a:srgbClr val="005587"/>
                </a:solidFill>
                <a:effectLst/>
                <a:uLnTx/>
                <a:uFillTx/>
                <a:latin typeface="Arial" panose="020B0604020202020204"/>
                <a:ea typeface="+mn-ea"/>
                <a:cs typeface="+mn-cs"/>
              </a:rPr>
              <a:t>III</a:t>
            </a: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a:t>
            </a:r>
            <a:r>
              <a:rPr kumimoji="0" lang="en-US" sz="2000" b="1" i="0" u="none" strike="noStrike" kern="0" cap="none" spc="0" normalizeH="0" baseline="0" noProof="0" dirty="0">
                <a:ln>
                  <a:noFill/>
                </a:ln>
                <a:solidFill>
                  <a:srgbClr val="005587"/>
                </a:solidFill>
                <a:effectLst/>
                <a:uLnTx/>
                <a:uFillTx/>
                <a:latin typeface="Arial" panose="020B0604020202020204"/>
                <a:ea typeface="+mn-ea"/>
                <a:cs typeface="+mn-cs"/>
              </a:rPr>
              <a:t>IV </a:t>
            </a:r>
            <a:r>
              <a:rPr kumimoji="0" lang="ru-RU" sz="2000" b="1" i="0" u="none" strike="noStrike" kern="0" cap="none" spc="0" normalizeH="0" baseline="0" noProof="0" dirty="0">
                <a:ln>
                  <a:noFill/>
                </a:ln>
                <a:solidFill>
                  <a:srgbClr val="005587"/>
                </a:solidFill>
                <a:effectLst/>
                <a:uLnTx/>
                <a:uFillTx/>
                <a:latin typeface="Arial" panose="020B0604020202020204"/>
                <a:ea typeface="+mn-ea"/>
                <a:cs typeface="+mn-cs"/>
              </a:rPr>
              <a:t>ФК класса</a:t>
            </a:r>
          </a:p>
        </p:txBody>
      </p:sp>
      <p:sp>
        <p:nvSpPr>
          <p:cNvPr id="6" name="Oval 5">
            <a:extLst>
              <a:ext uri="{FF2B5EF4-FFF2-40B4-BE49-F238E27FC236}">
                <a16:creationId xmlns:a16="http://schemas.microsoft.com/office/drawing/2014/main" id="{7308D3CA-5B4B-0BFF-F0F2-EE137F55C001}"/>
              </a:ext>
            </a:extLst>
          </p:cNvPr>
          <p:cNvSpPr/>
          <p:nvPr/>
        </p:nvSpPr>
        <p:spPr>
          <a:xfrm>
            <a:off x="2086123" y="1540607"/>
            <a:ext cx="679142" cy="679142"/>
          </a:xfrm>
          <a:prstGeom prst="ellipse">
            <a:avLst/>
          </a:prstGeom>
          <a:solidFill>
            <a:srgbClr val="00A3E0"/>
          </a:solidFill>
          <a:ln w="12700" cap="flat" cmpd="sng" algn="ctr">
            <a:noFill/>
            <a:prstDash val="solid"/>
            <a:miter lim="800000"/>
          </a:ln>
          <a:effectLst/>
        </p:spPr>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rial" panose="020B0604020202020204"/>
                <a:ea typeface="+mn-ea"/>
                <a:cs typeface="+mn-cs"/>
              </a:rPr>
              <a:t>1</a:t>
            </a:r>
          </a:p>
        </p:txBody>
      </p:sp>
      <p:sp>
        <p:nvSpPr>
          <p:cNvPr id="7" name="Oval 6">
            <a:extLst>
              <a:ext uri="{FF2B5EF4-FFF2-40B4-BE49-F238E27FC236}">
                <a16:creationId xmlns:a16="http://schemas.microsoft.com/office/drawing/2014/main" id="{BAF67C24-F020-A9F8-235C-D795E6F9C4EF}"/>
              </a:ext>
            </a:extLst>
          </p:cNvPr>
          <p:cNvSpPr/>
          <p:nvPr/>
        </p:nvSpPr>
        <p:spPr>
          <a:xfrm>
            <a:off x="6792414" y="1540607"/>
            <a:ext cx="679142" cy="679142"/>
          </a:xfrm>
          <a:prstGeom prst="ellipse">
            <a:avLst/>
          </a:prstGeom>
          <a:solidFill>
            <a:srgbClr val="005587"/>
          </a:solidFill>
          <a:ln w="12700" cap="flat" cmpd="sng" algn="ctr">
            <a:noFill/>
            <a:prstDash val="solid"/>
            <a:miter lim="800000"/>
          </a:ln>
          <a:effectLst/>
        </p:spPr>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rial" panose="020B0604020202020204"/>
                <a:ea typeface="+mn-ea"/>
                <a:cs typeface="+mn-cs"/>
              </a:rPr>
              <a:t>2</a:t>
            </a:r>
          </a:p>
        </p:txBody>
      </p:sp>
      <p:sp>
        <p:nvSpPr>
          <p:cNvPr id="8" name="TextBox 7">
            <a:extLst>
              <a:ext uri="{FF2B5EF4-FFF2-40B4-BE49-F238E27FC236}">
                <a16:creationId xmlns:a16="http://schemas.microsoft.com/office/drawing/2014/main" id="{E9EBEE1C-3A4A-8952-10F9-E8C166D9F7B9}"/>
              </a:ext>
            </a:extLst>
          </p:cNvPr>
          <p:cNvSpPr txBox="1">
            <a:spLocks/>
          </p:cNvSpPr>
          <p:nvPr/>
        </p:nvSpPr>
        <p:spPr>
          <a:xfrm>
            <a:off x="1689652" y="2661042"/>
            <a:ext cx="3995519" cy="3009177"/>
          </a:xfrm>
          <a:prstGeom prst="rect">
            <a:avLst/>
          </a:prstGeom>
          <a:ln>
            <a:noFill/>
          </a:ln>
        </p:spPr>
        <p:txBody>
          <a:bodyPr vert="horz" wrap="square" lIns="91440" tIns="45720" rIns="91440" bIns="45720" numCol="1" rtlCol="0" anchor="t" anchorCtr="0" compatLnSpc="1">
            <a:prstTxWarp prst="textNoShape">
              <a:avLst/>
            </a:prstTxWarp>
            <a:noAutofit/>
          </a:bodyPr>
          <a:lstStyle/>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При стабильной стенокардии I-II ФК и ЧСС &gt;60 уд./мин рекомендуется назначить в качестве препарата 1‑й линии БАБ или</a:t>
            </a:r>
            <a:r>
              <a:rPr kumimoji="0" lang="en-US" sz="1600" b="0"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ru-RU" sz="1600" b="0" i="0" u="none" strike="noStrike" kern="1200" cap="none" spc="0" normalizeH="0" baseline="0" noProof="0" dirty="0" err="1">
                <a:ln>
                  <a:noFill/>
                </a:ln>
                <a:solidFill>
                  <a:srgbClr val="2B3A42"/>
                </a:solidFill>
                <a:effectLst/>
                <a:uLnTx/>
                <a:uFillTx/>
                <a:latin typeface="Arial" panose="020B0604020202020204"/>
                <a:ea typeface="+mn-ea"/>
                <a:cs typeface="+mn-cs"/>
              </a:rPr>
              <a:t>недигидропиридиновые</a:t>
            </a: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 блокаторы "медленных" кальциевых каналов (ДГП-БКК): верапамил** или дилтиазем) </a:t>
            </a:r>
            <a:r>
              <a:rPr kumimoji="0" lang="ru-RU" sz="1600" b="1" i="0" u="none" strike="noStrike" kern="1200" cap="none" spc="0" normalizeH="0" baseline="0" noProof="0" dirty="0">
                <a:ln>
                  <a:noFill/>
                </a:ln>
                <a:solidFill>
                  <a:srgbClr val="FF0000"/>
                </a:solidFill>
                <a:effectLst/>
                <a:uLnTx/>
                <a:uFillTx/>
                <a:latin typeface="Arial" panose="020B0604020202020204"/>
                <a:ea typeface="+mn-ea"/>
                <a:cs typeface="+mn-cs"/>
              </a:rPr>
              <a:t>для снижения ЧСС до значений 55-60 уд./мин</a:t>
            </a:r>
          </a:p>
          <a:p>
            <a:pPr marL="179388" marR="0" lvl="0" indent="0" algn="l" defTabSz="914400" rtl="0" eaLnBrk="1" fontAlgn="auto" latinLnBrk="0" hangingPunct="1">
              <a:lnSpc>
                <a:spcPct val="100000"/>
              </a:lnSpc>
              <a:spcBef>
                <a:spcPts val="1200"/>
              </a:spcBef>
              <a:spcAft>
                <a:spcPts val="0"/>
              </a:spcAft>
              <a:buClrTx/>
              <a:buSzTx/>
              <a:buFontTx/>
              <a:buNone/>
              <a:tabLst/>
              <a:defRPr/>
            </a:pPr>
            <a:r>
              <a:rPr kumimoji="0" lang="ru-RU" sz="1600" b="0" i="1" u="none" strike="noStrike" kern="1200" cap="none" spc="0" normalizeH="0" baseline="0" noProof="0" dirty="0">
                <a:ln>
                  <a:noFill/>
                </a:ln>
                <a:solidFill>
                  <a:srgbClr val="2B3A42"/>
                </a:solidFill>
                <a:effectLst/>
                <a:uLnTx/>
                <a:uFillTx/>
                <a:latin typeface="Arial" panose="020B0604020202020204"/>
                <a:ea typeface="+mn-ea"/>
                <a:cs typeface="+mn-cs"/>
              </a:rPr>
              <a:t>EOK I A (УУР А, УДД 5)</a:t>
            </a:r>
          </a:p>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kumimoji="0" lang="da-DK" sz="16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5FF81A08-7A1B-B86E-265E-E66403406521}"/>
              </a:ext>
            </a:extLst>
          </p:cNvPr>
          <p:cNvSpPr txBox="1">
            <a:spLocks/>
          </p:cNvSpPr>
          <p:nvPr/>
        </p:nvSpPr>
        <p:spPr>
          <a:xfrm>
            <a:off x="6506830" y="2661043"/>
            <a:ext cx="3672470" cy="1901234"/>
          </a:xfrm>
          <a:prstGeom prst="rect">
            <a:avLst/>
          </a:prstGeom>
          <a:ln>
            <a:noFill/>
          </a:ln>
        </p:spPr>
        <p:txBody>
          <a:bodyPr vert="horz" wrap="square" lIns="91440" tIns="45720" rIns="91440" bIns="45720" numCol="1" rtlCol="0" anchor="t" anchorCtr="0" compatLnSpc="1">
            <a:prstTxWarp prst="textNoShape">
              <a:avLst/>
            </a:prstTxWarp>
            <a:noAutofit/>
          </a:bodyPr>
          <a:lstStyle/>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ru-RU" sz="1600" b="0" i="0" u="none" strike="noStrike" kern="1200" cap="none" spc="0" normalizeH="0" baseline="0" noProof="0" dirty="0">
                <a:ln>
                  <a:noFill/>
                </a:ln>
                <a:solidFill>
                  <a:srgbClr val="2B3A42"/>
                </a:solidFill>
                <a:effectLst/>
                <a:uLnTx/>
                <a:uFillTx/>
                <a:latin typeface="Arial" panose="020B0604020202020204"/>
                <a:ea typeface="+mn-ea"/>
                <a:cs typeface="+mn-cs"/>
              </a:rPr>
              <a:t>При стабильной стенокардии III-IV ФК при отсутствии противопоказаний рекомендуется сразу назначить комбинацию БАБ с ДГП-БКК для достижения ФК I</a:t>
            </a:r>
          </a:p>
          <a:p>
            <a:pPr marL="179388" marR="0" lvl="0" indent="0" algn="l" defTabSz="914400" rtl="0" eaLnBrk="1" fontAlgn="auto" latinLnBrk="0" hangingPunct="1">
              <a:lnSpc>
                <a:spcPct val="100000"/>
              </a:lnSpc>
              <a:spcBef>
                <a:spcPts val="1200"/>
              </a:spcBef>
              <a:spcAft>
                <a:spcPts val="0"/>
              </a:spcAft>
              <a:buClrTx/>
              <a:buSzTx/>
              <a:buFontTx/>
              <a:buNone/>
              <a:tabLst/>
              <a:defRPr/>
            </a:pPr>
            <a:r>
              <a:rPr kumimoji="0" lang="nn-NO" sz="1600" b="0" i="1" u="none" strike="noStrike" kern="1200" cap="none" spc="0" normalizeH="0" baseline="0" noProof="0" dirty="0">
                <a:ln>
                  <a:noFill/>
                </a:ln>
                <a:solidFill>
                  <a:srgbClr val="2B3A42"/>
                </a:solidFill>
                <a:effectLst/>
                <a:uLnTx/>
                <a:uFillTx/>
                <a:latin typeface="Arial" panose="020B0604020202020204"/>
                <a:ea typeface="+mn-ea"/>
                <a:cs typeface="+mn-cs"/>
              </a:rPr>
              <a:t>EOK I C (УУР C, УДД 5)</a:t>
            </a:r>
            <a:endParaRPr kumimoji="0" lang="ru-RU" sz="1600" b="0" i="1" u="none" strike="noStrike" kern="1200" cap="none" spc="0" normalizeH="0" baseline="0" noProof="0" dirty="0">
              <a:ln>
                <a:noFill/>
              </a:ln>
              <a:solidFill>
                <a:srgbClr val="2B3A42"/>
              </a:solidFill>
              <a:effectLst/>
              <a:uLnTx/>
              <a:uFillTx/>
              <a:latin typeface="Arial" panose="020B0604020202020204"/>
              <a:ea typeface="+mn-ea"/>
              <a:cs typeface="+mn-cs"/>
            </a:endParaRPr>
          </a:p>
          <a:p>
            <a:pPr marL="182880" marR="0" lvl="0" indent="-18288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kumimoji="0" lang="da-DK" sz="16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10" name="Заголовок 7">
            <a:extLst>
              <a:ext uri="{FF2B5EF4-FFF2-40B4-BE49-F238E27FC236}">
                <a16:creationId xmlns:a16="http://schemas.microsoft.com/office/drawing/2014/main" id="{71F8D72C-A608-754D-E005-3D1AD11256A7}"/>
              </a:ext>
            </a:extLst>
          </p:cNvPr>
          <p:cNvSpPr txBox="1">
            <a:spLocks/>
          </p:cNvSpPr>
          <p:nvPr/>
        </p:nvSpPr>
        <p:spPr>
          <a:xfrm>
            <a:off x="911225" y="497766"/>
            <a:ext cx="101609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Клинические рекомендации МЗ РФ 2024</a:t>
            </a:r>
            <a:r>
              <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 Лечение, направленное на устранение симптомов заболевания</a:t>
            </a:r>
          </a:p>
        </p:txBody>
      </p:sp>
      <p:sp>
        <p:nvSpPr>
          <p:cNvPr id="11" name="Объект 8">
            <a:extLst>
              <a:ext uri="{FF2B5EF4-FFF2-40B4-BE49-F238E27FC236}">
                <a16:creationId xmlns:a16="http://schemas.microsoft.com/office/drawing/2014/main" id="{2DEDA00C-D391-7032-9242-E88D639B1F51}"/>
              </a:ext>
            </a:extLst>
          </p:cNvPr>
          <p:cNvSpPr txBox="1">
            <a:spLocks/>
          </p:cNvSpPr>
          <p:nvPr/>
        </p:nvSpPr>
        <p:spPr>
          <a:xfrm>
            <a:off x="492072" y="6395126"/>
            <a:ext cx="9441291" cy="365125"/>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200"/>
              </a:spcBef>
              <a:spcAft>
                <a:spcPts val="0"/>
              </a:spcAft>
              <a:buClrTx/>
              <a:buSzTx/>
              <a:buFontTx/>
              <a:buAutoNum type="arabicPeriod"/>
              <a:tabLst/>
              <a:defRPr/>
            </a:pP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Барбараш</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О. Л., 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соавт</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Стабильная ишемическая болезнь сердца. Клинические рекомендации 2024. Российский кардиологический журнал. 2024;29(9):6110.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doi</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10.15829/1560-4071-2024-6110. EDN HHJJUT</a:t>
            </a:r>
          </a:p>
          <a:p>
            <a:pPr marL="228600" indent="-228600">
              <a:spcBef>
                <a:spcPts val="200"/>
              </a:spcBef>
              <a:buFontTx/>
              <a:buAutoNum type="arabicPeriod"/>
              <a:defRPr/>
            </a:pPr>
            <a:r>
              <a:rPr lang="ru-RU" baseline="30000" dirty="0">
                <a:solidFill>
                  <a:prstClr val="black"/>
                </a:solidFill>
                <a:latin typeface="Calibri" panose="020F0502020204030204"/>
              </a:rPr>
              <a:t>3</a:t>
            </a:r>
            <a:r>
              <a:rPr lang="en-US" dirty="0">
                <a:solidFill>
                  <a:prstClr val="black"/>
                </a:solidFill>
                <a:latin typeface="Calibri" panose="020F0502020204030204"/>
              </a:rPr>
              <a:t>Maron DJ, Newman JD, </a:t>
            </a:r>
            <a:r>
              <a:rPr lang="en-US" dirty="0" err="1">
                <a:solidFill>
                  <a:prstClr val="black"/>
                </a:solidFill>
                <a:latin typeface="Calibri" panose="020F0502020204030204"/>
              </a:rPr>
              <a:t>Anthopolos</a:t>
            </a:r>
            <a:r>
              <a:rPr lang="en-US" dirty="0">
                <a:solidFill>
                  <a:prstClr val="black"/>
                </a:solidFill>
                <a:latin typeface="Calibri" panose="020F0502020204030204"/>
              </a:rPr>
              <a:t> R et al. Guideline-Directed Medical Therapy and Outcomes in the ISCHEMIA Trial. JACC 2025;85(12):1317–1331. DOI: 10.1016/j.jacc.2025.01.028</a:t>
            </a:r>
            <a:endParaRPr lang="ru-RU" dirty="0">
              <a:solidFill>
                <a:prstClr val="black"/>
              </a:solidFill>
              <a:latin typeface="Calibri" panose="020F0502020204030204"/>
            </a:endParaRPr>
          </a:p>
        </p:txBody>
      </p:sp>
      <p:sp>
        <p:nvSpPr>
          <p:cNvPr id="3" name="Rectangle: Rounded Corners 2">
            <a:extLst>
              <a:ext uri="{FF2B5EF4-FFF2-40B4-BE49-F238E27FC236}">
                <a16:creationId xmlns:a16="http://schemas.microsoft.com/office/drawing/2014/main" id="{7AE4A9C1-5211-D3A6-292F-54F476707854}"/>
              </a:ext>
            </a:extLst>
          </p:cNvPr>
          <p:cNvSpPr/>
          <p:nvPr/>
        </p:nvSpPr>
        <p:spPr>
          <a:xfrm>
            <a:off x="765205" y="5365030"/>
            <a:ext cx="11121888" cy="947448"/>
          </a:xfrm>
          <a:prstGeom prst="roundRect">
            <a:avLst>
              <a:gd name="adj" fmla="val 26677"/>
            </a:avLst>
          </a:prstGeom>
          <a:solidFill>
            <a:srgbClr val="F9C2B1"/>
          </a:solidFill>
          <a:ln w="12700" cap="flat" cmpd="sng" algn="ctr">
            <a:noFill/>
            <a:prstDash val="solid"/>
            <a:miter lim="800000"/>
          </a:ln>
          <a:effectLst/>
        </p:spPr>
        <p:txBody>
          <a:bodyPr rtlCol="0" anchor="t" anchorCtr="0"/>
          <a:lstStyle/>
          <a:p>
            <a:pPr>
              <a:defRPr/>
            </a:pPr>
            <a:r>
              <a:rPr lang="ru-RU" sz="1600" b="1" kern="0" dirty="0">
                <a:solidFill>
                  <a:srgbClr val="FF0000"/>
                </a:solidFill>
                <a:latin typeface="Arial" panose="020B0604020202020204"/>
              </a:rPr>
              <a:t>Клиническая реальность: </a:t>
            </a:r>
            <a:r>
              <a:rPr lang="en-US" sz="1600" b="1" kern="0" dirty="0">
                <a:solidFill>
                  <a:srgbClr val="2B3A42"/>
                </a:solidFill>
                <a:latin typeface="Arial" panose="020B0604020202020204"/>
              </a:rPr>
              <a:t>Post-hoc </a:t>
            </a:r>
            <a:r>
              <a:rPr lang="ru-RU" sz="1600" b="1" kern="0" dirty="0">
                <a:solidFill>
                  <a:srgbClr val="2B3A42"/>
                </a:solidFill>
                <a:latin typeface="Arial" panose="020B0604020202020204"/>
              </a:rPr>
              <a:t>анализ </a:t>
            </a:r>
            <a:r>
              <a:rPr lang="en-US" sz="1600" b="1" kern="0" dirty="0">
                <a:solidFill>
                  <a:srgbClr val="2B3A42"/>
                </a:solidFill>
                <a:latin typeface="Arial" panose="020B0604020202020204"/>
              </a:rPr>
              <a:t>ISCHEMIA</a:t>
            </a:r>
            <a:r>
              <a:rPr lang="ru-RU" sz="1600" b="1" kern="0" baseline="30000" dirty="0">
                <a:solidFill>
                  <a:srgbClr val="2B3A42"/>
                </a:solidFill>
                <a:latin typeface="Arial" panose="020B0604020202020204"/>
              </a:rPr>
              <a:t>2</a:t>
            </a:r>
            <a:r>
              <a:rPr lang="en-US" sz="1600" b="1" kern="0" dirty="0">
                <a:solidFill>
                  <a:srgbClr val="2B3A42"/>
                </a:solidFill>
                <a:latin typeface="Arial" panose="020B0604020202020204"/>
              </a:rPr>
              <a:t> (JACC 2025) – </a:t>
            </a:r>
            <a:r>
              <a:rPr lang="ru-RU" sz="1600" b="1" kern="0" dirty="0">
                <a:solidFill>
                  <a:srgbClr val="2B3A42"/>
                </a:solidFill>
                <a:latin typeface="Arial" panose="020B0604020202020204"/>
              </a:rPr>
              <a:t>на старте исследования все цели ОМТ одновременно достигали лишь 12% пациентов». Систематическая недооценка ОМТ в реальной практике создает ложную потребность в ранней </a:t>
            </a:r>
            <a:r>
              <a:rPr lang="ru-RU" sz="1600" b="1" kern="0" dirty="0" err="1">
                <a:solidFill>
                  <a:srgbClr val="2B3A42"/>
                </a:solidFill>
                <a:latin typeface="Arial" panose="020B0604020202020204"/>
              </a:rPr>
              <a:t>реваскуляризации</a:t>
            </a:r>
            <a:endParaRPr lang="ru-RU" sz="1600" b="1" kern="0" dirty="0">
              <a:solidFill>
                <a:srgbClr val="2B3A42"/>
              </a:solidFill>
              <a:latin typeface="Arial" panose="020B0604020202020204"/>
            </a:endParaRPr>
          </a:p>
        </p:txBody>
      </p:sp>
      <p:sp>
        <p:nvSpPr>
          <p:cNvPr id="12" name="Arrow: Down 11">
            <a:extLst>
              <a:ext uri="{FF2B5EF4-FFF2-40B4-BE49-F238E27FC236}">
                <a16:creationId xmlns:a16="http://schemas.microsoft.com/office/drawing/2014/main" id="{9336C934-02F7-6860-2657-6F24E9991133}"/>
              </a:ext>
            </a:extLst>
          </p:cNvPr>
          <p:cNvSpPr/>
          <p:nvPr/>
        </p:nvSpPr>
        <p:spPr>
          <a:xfrm>
            <a:off x="4843029" y="4722014"/>
            <a:ext cx="444577" cy="600664"/>
          </a:xfrm>
          <a:prstGeom prst="downArrow">
            <a:avLst/>
          </a:prstGeom>
          <a:solidFill>
            <a:srgbClr val="FF00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Arrow: Down 12">
            <a:extLst>
              <a:ext uri="{FF2B5EF4-FFF2-40B4-BE49-F238E27FC236}">
                <a16:creationId xmlns:a16="http://schemas.microsoft.com/office/drawing/2014/main" id="{EBC4EB52-C90C-6CEC-514D-630BB3AE04ED}"/>
              </a:ext>
            </a:extLst>
          </p:cNvPr>
          <p:cNvSpPr/>
          <p:nvPr/>
        </p:nvSpPr>
        <p:spPr>
          <a:xfrm>
            <a:off x="8218694" y="4421682"/>
            <a:ext cx="444577" cy="898466"/>
          </a:xfrm>
          <a:prstGeom prst="downArrow">
            <a:avLst/>
          </a:prstGeom>
          <a:solidFill>
            <a:srgbClr val="FF00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92917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feld 110"/>
          <p:cNvSpPr txBox="1"/>
          <p:nvPr>
            <p:custDataLst>
              <p:tags r:id="rId2"/>
            </p:custDataLst>
          </p:nvPr>
        </p:nvSpPr>
        <p:spPr>
          <a:xfrm flipH="1">
            <a:off x="924969" y="5809811"/>
            <a:ext cx="11071087" cy="184666"/>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a:ea typeface="+mn-ea"/>
                <a:cs typeface="Arial" charset="0"/>
              </a:rPr>
              <a:t>3320 пациентов, получавших бета-адреноблокаторы; подобранная по степени риска когорта: n=839 в каждой группе</a:t>
            </a:r>
            <a:r>
              <a:rPr kumimoji="0" lang="ru-RU" sz="1200" b="0" i="0" u="none" strike="noStrike" kern="1200" cap="none" spc="0" normalizeH="0" baseline="30000" noProof="0" dirty="0">
                <a:ln>
                  <a:noFill/>
                </a:ln>
                <a:solidFill>
                  <a:srgbClr val="265374"/>
                </a:solidFill>
                <a:effectLst/>
                <a:uLnTx/>
                <a:uFillTx/>
                <a:latin typeface="Verdana"/>
                <a:ea typeface="+mn-ea"/>
                <a:cs typeface="Arial" charset="0"/>
              </a:rPr>
              <a:t>1</a:t>
            </a:r>
            <a:r>
              <a:rPr kumimoji="0" lang="ru-RU" sz="1200" b="0" i="0" u="none" strike="noStrike" kern="1200" cap="none" spc="0" normalizeH="0" baseline="0" noProof="0" dirty="0">
                <a:ln>
                  <a:noFill/>
                </a:ln>
                <a:solidFill>
                  <a:srgbClr val="265374"/>
                </a:solidFill>
                <a:effectLst/>
                <a:uLnTx/>
                <a:uFillTx/>
                <a:latin typeface="Verdana"/>
                <a:ea typeface="+mn-ea"/>
                <a:cs typeface="Arial" charset="0"/>
              </a:rPr>
              <a:t> </a:t>
            </a:r>
            <a:endParaRPr kumimoji="0" lang="en-US" sz="1200" b="0" i="0" u="none" strike="noStrike" kern="1200" cap="none" spc="0" normalizeH="0" baseline="0" noProof="0" dirty="0">
              <a:ln>
                <a:noFill/>
              </a:ln>
              <a:solidFill>
                <a:srgbClr val="265374"/>
              </a:solidFill>
              <a:effectLst/>
              <a:uLnTx/>
              <a:uFillTx/>
              <a:latin typeface="Verdana"/>
              <a:ea typeface="+mn-ea"/>
              <a:cs typeface="Arial" charset="0"/>
            </a:endParaRPr>
          </a:p>
        </p:txBody>
      </p:sp>
      <p:sp>
        <p:nvSpPr>
          <p:cNvPr id="285" name="Freeform 77"/>
          <p:cNvSpPr>
            <a:spLocks noChangeAspect="1"/>
          </p:cNvSpPr>
          <p:nvPr>
            <p:custDataLst>
              <p:tags r:id="rId3"/>
            </p:custDataLst>
          </p:nvPr>
        </p:nvSpPr>
        <p:spPr bwMode="auto">
          <a:xfrm>
            <a:off x="9211296" y="2538132"/>
            <a:ext cx="2639571" cy="1347480"/>
          </a:xfrm>
          <a:custGeom>
            <a:avLst/>
            <a:gdLst>
              <a:gd name="T0" fmla="*/ 608 w 616"/>
              <a:gd name="T1" fmla="*/ 279 h 641"/>
              <a:gd name="T2" fmla="*/ 546 w 616"/>
              <a:gd name="T3" fmla="*/ 525 h 641"/>
              <a:gd name="T4" fmla="*/ 497 w 616"/>
              <a:gd name="T5" fmla="*/ 568 h 641"/>
              <a:gd name="T6" fmla="*/ 42 w 616"/>
              <a:gd name="T7" fmla="*/ 638 h 641"/>
              <a:gd name="T8" fmla="*/ 1 w 616"/>
              <a:gd name="T9" fmla="*/ 607 h 641"/>
              <a:gd name="T10" fmla="*/ 24 w 616"/>
              <a:gd name="T11" fmla="*/ 86 h 641"/>
              <a:gd name="T12" fmla="*/ 68 w 616"/>
              <a:gd name="T13" fmla="*/ 43 h 641"/>
              <a:gd name="T14" fmla="*/ 322 w 616"/>
              <a:gd name="T15" fmla="*/ 4 h 641"/>
              <a:gd name="T16" fmla="*/ 390 w 616"/>
              <a:gd name="T17" fmla="*/ 25 h 641"/>
              <a:gd name="T18" fmla="*/ 608 w 616"/>
              <a:gd name="T19" fmla="*/ 279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6" h="641">
                <a:moveTo>
                  <a:pt x="608" y="279"/>
                </a:moveTo>
                <a:cubicBezTo>
                  <a:pt x="616" y="334"/>
                  <a:pt x="546" y="525"/>
                  <a:pt x="546" y="525"/>
                </a:cubicBezTo>
                <a:cubicBezTo>
                  <a:pt x="542" y="545"/>
                  <a:pt x="520" y="564"/>
                  <a:pt x="497" y="568"/>
                </a:cubicBezTo>
                <a:cubicBezTo>
                  <a:pt x="42" y="638"/>
                  <a:pt x="42" y="638"/>
                  <a:pt x="42" y="638"/>
                </a:cubicBezTo>
                <a:cubicBezTo>
                  <a:pt x="18" y="641"/>
                  <a:pt x="0" y="628"/>
                  <a:pt x="1" y="607"/>
                </a:cubicBezTo>
                <a:cubicBezTo>
                  <a:pt x="24" y="86"/>
                  <a:pt x="24" y="86"/>
                  <a:pt x="24" y="86"/>
                </a:cubicBezTo>
                <a:cubicBezTo>
                  <a:pt x="25" y="65"/>
                  <a:pt x="44" y="46"/>
                  <a:pt x="68" y="43"/>
                </a:cubicBezTo>
                <a:cubicBezTo>
                  <a:pt x="322" y="4"/>
                  <a:pt x="322" y="4"/>
                  <a:pt x="322" y="4"/>
                </a:cubicBezTo>
                <a:cubicBezTo>
                  <a:pt x="345" y="0"/>
                  <a:pt x="376" y="9"/>
                  <a:pt x="390" y="25"/>
                </a:cubicBezTo>
                <a:cubicBezTo>
                  <a:pt x="390" y="25"/>
                  <a:pt x="600" y="230"/>
                  <a:pt x="608" y="279"/>
                </a:cubicBezTo>
                <a:close/>
              </a:path>
            </a:pathLst>
          </a:custGeom>
          <a:solidFill>
            <a:srgbClr val="FF0000"/>
          </a:solidFill>
          <a:ln>
            <a:noFill/>
          </a:ln>
        </p:spPr>
        <p:txBody>
          <a:bodyPr vert="horz" wrap="square" lIns="108000" tIns="45720" rIns="360000" bIns="7200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Снижение </a:t>
            </a:r>
            <a:b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на 57%</a:t>
            </a:r>
            <a:br>
              <a:rPr kumimoji="0" lang="de-DE"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риска смерти </a:t>
            </a:r>
            <a:br>
              <a:rPr kumimoji="0" lang="en-US"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ru-RU"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от ССЗ</a:t>
            </a:r>
            <a:r>
              <a:rPr kumimoji="0" lang="ru-RU" sz="1600" b="0" i="0"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en-US" sz="1600" b="0" i="0" u="none" strike="noStrike" kern="1200" cap="none" spc="0" normalizeH="0" baseline="30000" noProof="0" dirty="0">
              <a:ln>
                <a:noFill/>
              </a:ln>
              <a:solidFill>
                <a:srgbClr val="FFFFFF"/>
              </a:solidFill>
              <a:effectLst/>
              <a:uLnTx/>
              <a:uFillTx/>
              <a:latin typeface="Verdana"/>
              <a:ea typeface="+mn-ea"/>
              <a:cs typeface="Arial" panose="020B0604020202020204" pitchFamily="34" charset="0"/>
            </a:endParaRPr>
          </a:p>
        </p:txBody>
      </p:sp>
      <p:sp>
        <p:nvSpPr>
          <p:cNvPr id="4" name="Номер слайда 3">
            <a:extLst>
              <a:ext uri="{FF2B5EF4-FFF2-40B4-BE49-F238E27FC236}">
                <a16:creationId xmlns:a16="http://schemas.microsoft.com/office/drawing/2014/main" id="{9738E55D-8FD7-9BC5-6685-BBC0A1FEA7A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9" name="Группа 8">
            <a:extLst>
              <a:ext uri="{FF2B5EF4-FFF2-40B4-BE49-F238E27FC236}">
                <a16:creationId xmlns:a16="http://schemas.microsoft.com/office/drawing/2014/main" id="{45D0972C-6CB9-D41D-E906-6E9E2A2CF81A}"/>
              </a:ext>
            </a:extLst>
          </p:cNvPr>
          <p:cNvGrpSpPr/>
          <p:nvPr/>
        </p:nvGrpSpPr>
        <p:grpSpPr>
          <a:xfrm>
            <a:off x="1196920" y="2110699"/>
            <a:ext cx="10260294" cy="3778813"/>
            <a:chOff x="1409192" y="2113344"/>
            <a:chExt cx="10260294" cy="3909280"/>
          </a:xfrm>
        </p:grpSpPr>
        <p:grpSp>
          <p:nvGrpSpPr>
            <p:cNvPr id="21" name="Gruppieren 20"/>
            <p:cNvGrpSpPr/>
            <p:nvPr>
              <p:custDataLst>
                <p:tags r:id="rId6"/>
              </p:custDataLst>
            </p:nvPr>
          </p:nvGrpSpPr>
          <p:grpSpPr>
            <a:xfrm>
              <a:off x="1409192" y="2113344"/>
              <a:ext cx="8256824" cy="3909280"/>
              <a:chOff x="2188405" y="1745912"/>
              <a:chExt cx="6429607" cy="4978064"/>
            </a:xfrm>
          </p:grpSpPr>
          <p:grpSp>
            <p:nvGrpSpPr>
              <p:cNvPr id="252" name="Gruppieren 251"/>
              <p:cNvGrpSpPr/>
              <p:nvPr/>
            </p:nvGrpSpPr>
            <p:grpSpPr>
              <a:xfrm>
                <a:off x="2188405" y="1772816"/>
                <a:ext cx="6429607" cy="4951160"/>
                <a:chOff x="4562" y="841457"/>
                <a:chExt cx="6617300" cy="5176512"/>
              </a:xfrm>
            </p:grpSpPr>
            <p:grpSp>
              <p:nvGrpSpPr>
                <p:cNvPr id="253" name="Gruppieren 252"/>
                <p:cNvGrpSpPr/>
                <p:nvPr>
                  <p:custDataLst>
                    <p:tags r:id="rId15"/>
                  </p:custDataLst>
                </p:nvPr>
              </p:nvGrpSpPr>
              <p:grpSpPr>
                <a:xfrm>
                  <a:off x="4562" y="841457"/>
                  <a:ext cx="6617300" cy="5176512"/>
                  <a:chOff x="1697637" y="997721"/>
                  <a:chExt cx="5771633" cy="4637363"/>
                </a:xfrm>
              </p:grpSpPr>
              <p:sp>
                <p:nvSpPr>
                  <p:cNvPr id="256" name="Line 16"/>
                  <p:cNvSpPr>
                    <a:spLocks noChangeShapeType="1"/>
                  </p:cNvSpPr>
                  <p:nvPr>
                    <p:custDataLst>
                      <p:tags r:id="rId18"/>
                    </p:custDataLst>
                  </p:nvPr>
                </p:nvSpPr>
                <p:spPr bwMode="auto">
                  <a:xfrm flipH="1" flipV="1">
                    <a:off x="2247899" y="4945141"/>
                    <a:ext cx="5197839"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7" name="Line 49"/>
                  <p:cNvSpPr>
                    <a:spLocks noChangeShapeType="1"/>
                  </p:cNvSpPr>
                  <p:nvPr>
                    <p:custDataLst>
                      <p:tags r:id="rId19"/>
                    </p:custDataLst>
                  </p:nvPr>
                </p:nvSpPr>
                <p:spPr bwMode="auto">
                  <a:xfrm>
                    <a:off x="3600571"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8" name="Line 50"/>
                  <p:cNvSpPr>
                    <a:spLocks noChangeShapeType="1"/>
                  </p:cNvSpPr>
                  <p:nvPr>
                    <p:custDataLst>
                      <p:tags r:id="rId20"/>
                    </p:custDataLst>
                  </p:nvPr>
                </p:nvSpPr>
                <p:spPr bwMode="auto">
                  <a:xfrm>
                    <a:off x="4847628"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9" name="Line 51"/>
                  <p:cNvSpPr>
                    <a:spLocks noChangeShapeType="1"/>
                  </p:cNvSpPr>
                  <p:nvPr>
                    <p:custDataLst>
                      <p:tags r:id="rId21"/>
                    </p:custDataLst>
                  </p:nvPr>
                </p:nvSpPr>
                <p:spPr bwMode="auto">
                  <a:xfrm>
                    <a:off x="6103920"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60" name="Line 52"/>
                  <p:cNvSpPr>
                    <a:spLocks noChangeShapeType="1"/>
                  </p:cNvSpPr>
                  <p:nvPr>
                    <p:custDataLst>
                      <p:tags r:id="rId22"/>
                    </p:custDataLst>
                  </p:nvPr>
                </p:nvSpPr>
                <p:spPr bwMode="auto">
                  <a:xfrm>
                    <a:off x="7353470" y="4943575"/>
                    <a:ext cx="0" cy="10080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62" name="Textfeld 261"/>
                  <p:cNvSpPr txBox="1"/>
                  <p:nvPr>
                    <p:custDataLst>
                      <p:tags r:id="rId23"/>
                    </p:custDataLst>
                  </p:nvPr>
                </p:nvSpPr>
                <p:spPr bwMode="gray">
                  <a:xfrm>
                    <a:off x="2052133" y="3787264"/>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1</a:t>
                    </a:r>
                  </a:p>
                </p:txBody>
              </p:sp>
              <p:sp>
                <p:nvSpPr>
                  <p:cNvPr id="263" name="Textfeld 262"/>
                  <p:cNvSpPr txBox="1"/>
                  <p:nvPr>
                    <p:custDataLst>
                      <p:tags r:id="rId24"/>
                    </p:custDataLst>
                  </p:nvPr>
                </p:nvSpPr>
                <p:spPr bwMode="gray">
                  <a:xfrm>
                    <a:off x="2052135" y="4721862"/>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0</a:t>
                    </a:r>
                  </a:p>
                </p:txBody>
              </p:sp>
              <p:sp>
                <p:nvSpPr>
                  <p:cNvPr id="264" name="Textfeld 263"/>
                  <p:cNvSpPr txBox="1"/>
                  <p:nvPr>
                    <p:custDataLst>
                      <p:tags r:id="rId25"/>
                    </p:custDataLst>
                  </p:nvPr>
                </p:nvSpPr>
                <p:spPr bwMode="gray">
                  <a:xfrm>
                    <a:off x="2052133" y="2843783"/>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2</a:t>
                    </a:r>
                  </a:p>
                </p:txBody>
              </p:sp>
              <p:sp>
                <p:nvSpPr>
                  <p:cNvPr id="265" name="Textfeld 264"/>
                  <p:cNvSpPr txBox="1"/>
                  <p:nvPr>
                    <p:custDataLst>
                      <p:tags r:id="rId26"/>
                    </p:custDataLst>
                  </p:nvPr>
                </p:nvSpPr>
                <p:spPr bwMode="gray">
                  <a:xfrm>
                    <a:off x="2046976" y="1909379"/>
                    <a:ext cx="62750" cy="2088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3</a:t>
                    </a:r>
                  </a:p>
                </p:txBody>
              </p:sp>
              <p:sp>
                <p:nvSpPr>
                  <p:cNvPr id="266" name="Textfeld 265"/>
                  <p:cNvSpPr txBox="1"/>
                  <p:nvPr>
                    <p:custDataLst>
                      <p:tags r:id="rId27"/>
                    </p:custDataLst>
                  </p:nvPr>
                </p:nvSpPr>
                <p:spPr bwMode="gray">
                  <a:xfrm rot="16200000">
                    <a:off x="-73659" y="3009078"/>
                    <a:ext cx="3757732" cy="215140"/>
                  </a:xfrm>
                  <a:prstGeom prst="rect">
                    <a:avLst/>
                  </a:prstGeom>
                  <a:noFill/>
                  <a:ln/>
                </p:spPr>
                <p:txBody>
                  <a:bodyPr wrap="squar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Кумулятивная частота смерти </a:t>
                    </a:r>
                    <a:b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br>
                    <a:r>
                      <a:rPr kumimoji="0" lang="ru-RU"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от сердечно-сосудистых причин (%)</a:t>
                    </a:r>
                    <a:endParaRPr kumimoji="0" lang="de-DE" sz="10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7" name="Textfeld 266"/>
                  <p:cNvSpPr txBox="1"/>
                  <p:nvPr>
                    <p:custDataLst>
                      <p:tags r:id="rId28"/>
                    </p:custDataLst>
                  </p:nvPr>
                </p:nvSpPr>
                <p:spPr bwMode="gray">
                  <a:xfrm>
                    <a:off x="4350183" y="5369254"/>
                    <a:ext cx="45" cy="265830"/>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endParaRPr kumimoji="0" lang="de-DE" sz="14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8" name="Textfeld 267"/>
                  <p:cNvSpPr txBox="1"/>
                  <p:nvPr>
                    <p:custDataLst>
                      <p:tags r:id="rId29"/>
                    </p:custDataLst>
                  </p:nvPr>
                </p:nvSpPr>
                <p:spPr bwMode="gray">
                  <a:xfrm>
                    <a:off x="3496321" y="5036961"/>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200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69" name="Textfeld 268"/>
                  <p:cNvSpPr txBox="1"/>
                  <p:nvPr>
                    <p:custDataLst>
                      <p:tags r:id="rId30"/>
                    </p:custDataLst>
                  </p:nvPr>
                </p:nvSpPr>
                <p:spPr bwMode="gray">
                  <a:xfrm>
                    <a:off x="4741914" y="5036180"/>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400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sp>
                <p:nvSpPr>
                  <p:cNvPr id="270" name="Textfeld 269"/>
                  <p:cNvSpPr txBox="1"/>
                  <p:nvPr>
                    <p:custDataLst>
                      <p:tags r:id="rId31"/>
                    </p:custDataLst>
                  </p:nvPr>
                </p:nvSpPr>
                <p:spPr bwMode="gray">
                  <a:xfrm>
                    <a:off x="5998428" y="5039158"/>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600</a:t>
                    </a:r>
                  </a:p>
                </p:txBody>
              </p:sp>
              <p:sp>
                <p:nvSpPr>
                  <p:cNvPr id="271" name="Textfeld 270"/>
                  <p:cNvSpPr txBox="1"/>
                  <p:nvPr>
                    <p:custDataLst>
                      <p:tags r:id="rId32"/>
                    </p:custDataLst>
                  </p:nvPr>
                </p:nvSpPr>
                <p:spPr bwMode="gray">
                  <a:xfrm>
                    <a:off x="7240683" y="5038309"/>
                    <a:ext cx="228587" cy="227854"/>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a:ea typeface="Verdana" panose="020B0604030504040204" pitchFamily="34" charset="0"/>
                        <a:cs typeface="Verdana" panose="020B0604030504040204" pitchFamily="34" charset="0"/>
                      </a:rPr>
                      <a:t>800</a:t>
                    </a:r>
                  </a:p>
                </p:txBody>
              </p:sp>
              <p:sp>
                <p:nvSpPr>
                  <p:cNvPr id="273" name="Line 16"/>
                  <p:cNvSpPr>
                    <a:spLocks noChangeShapeType="1"/>
                  </p:cNvSpPr>
                  <p:nvPr>
                    <p:custDataLst>
                      <p:tags r:id="rId33"/>
                    </p:custDataLst>
                  </p:nvPr>
                </p:nvSpPr>
                <p:spPr bwMode="auto">
                  <a:xfrm>
                    <a:off x="2247900" y="997721"/>
                    <a:ext cx="0" cy="394585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74" name="Line 49"/>
                  <p:cNvSpPr>
                    <a:spLocks noChangeShapeType="1"/>
                  </p:cNvSpPr>
                  <p:nvPr>
                    <p:custDataLst>
                      <p:tags r:id="rId34"/>
                    </p:custDataLst>
                  </p:nvPr>
                </p:nvSpPr>
                <p:spPr bwMode="auto">
                  <a:xfrm>
                    <a:off x="2139298" y="483141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5" name="Line 49"/>
                  <p:cNvSpPr>
                    <a:spLocks noChangeShapeType="1"/>
                  </p:cNvSpPr>
                  <p:nvPr>
                    <p:custDataLst>
                      <p:tags r:id="rId35"/>
                    </p:custDataLst>
                  </p:nvPr>
                </p:nvSpPr>
                <p:spPr bwMode="auto">
                  <a:xfrm>
                    <a:off x="2139298" y="3897406"/>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6" name="Line 49"/>
                  <p:cNvSpPr>
                    <a:spLocks noChangeShapeType="1"/>
                  </p:cNvSpPr>
                  <p:nvPr>
                    <p:custDataLst>
                      <p:tags r:id="rId36"/>
                    </p:custDataLst>
                  </p:nvPr>
                </p:nvSpPr>
                <p:spPr bwMode="auto">
                  <a:xfrm>
                    <a:off x="2139298" y="295130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77" name="Line 49"/>
                  <p:cNvSpPr>
                    <a:spLocks noChangeShapeType="1"/>
                  </p:cNvSpPr>
                  <p:nvPr>
                    <p:custDataLst>
                      <p:tags r:id="rId37"/>
                    </p:custDataLst>
                  </p:nvPr>
                </p:nvSpPr>
                <p:spPr bwMode="auto">
                  <a:xfrm>
                    <a:off x="2139298" y="2019236"/>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grpSp>
            <p:sp>
              <p:nvSpPr>
                <p:cNvPr id="254" name="Line 49"/>
                <p:cNvSpPr>
                  <a:spLocks noChangeShapeType="1"/>
                </p:cNvSpPr>
                <p:nvPr>
                  <p:custDataLst>
                    <p:tags r:id="rId16"/>
                  </p:custDataLst>
                </p:nvPr>
              </p:nvSpPr>
              <p:spPr bwMode="auto">
                <a:xfrm>
                  <a:off x="753679" y="5246064"/>
                  <a:ext cx="0" cy="112519"/>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55" name="Textfeld 254"/>
                <p:cNvSpPr txBox="1"/>
                <p:nvPr>
                  <p:custDataLst>
                    <p:tags r:id="rId17"/>
                  </p:custDataLst>
                </p:nvPr>
              </p:nvSpPr>
              <p:spPr bwMode="gray">
                <a:xfrm>
                  <a:off x="701434" y="5350438"/>
                  <a:ext cx="87360" cy="254344"/>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grpSp>
          <p:sp>
            <p:nvSpPr>
              <p:cNvPr id="278" name="Textfeld 277"/>
              <p:cNvSpPr txBox="1"/>
              <p:nvPr>
                <p:custDataLst>
                  <p:tags r:id="rId13"/>
                </p:custDataLst>
              </p:nvPr>
            </p:nvSpPr>
            <p:spPr bwMode="gray">
              <a:xfrm>
                <a:off x="2576571" y="1745912"/>
                <a:ext cx="69903" cy="222999"/>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4</a:t>
                </a:r>
              </a:p>
            </p:txBody>
          </p:sp>
          <p:sp>
            <p:nvSpPr>
              <p:cNvPr id="279" name="Line 49"/>
              <p:cNvSpPr>
                <a:spLocks noChangeShapeType="1"/>
              </p:cNvSpPr>
              <p:nvPr>
                <p:custDataLst>
                  <p:tags r:id="rId14"/>
                </p:custDataLst>
              </p:nvPr>
            </p:nvSpPr>
            <p:spPr bwMode="auto">
              <a:xfrm>
                <a:off x="2679416" y="1863202"/>
                <a:ext cx="123528"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grpSp>
        <p:grpSp>
          <p:nvGrpSpPr>
            <p:cNvPr id="8" name="Группа 7">
              <a:extLst>
                <a:ext uri="{FF2B5EF4-FFF2-40B4-BE49-F238E27FC236}">
                  <a16:creationId xmlns:a16="http://schemas.microsoft.com/office/drawing/2014/main" id="{C44291E7-4A0D-9BCE-5034-98FC820D66BF}"/>
                </a:ext>
              </a:extLst>
            </p:cNvPr>
            <p:cNvGrpSpPr/>
            <p:nvPr/>
          </p:nvGrpSpPr>
          <p:grpSpPr>
            <a:xfrm>
              <a:off x="2361398" y="2193722"/>
              <a:ext cx="9308088" cy="3526415"/>
              <a:chOff x="2361398" y="2193722"/>
              <a:chExt cx="9308088" cy="3526415"/>
            </a:xfrm>
          </p:grpSpPr>
          <p:sp>
            <p:nvSpPr>
              <p:cNvPr id="17" name="Freihandform 16"/>
              <p:cNvSpPr/>
              <p:nvPr>
                <p:custDataLst>
                  <p:tags r:id="rId7"/>
                </p:custDataLst>
              </p:nvPr>
            </p:nvSpPr>
            <p:spPr bwMode="gray">
              <a:xfrm>
                <a:off x="2737472" y="4119824"/>
                <a:ext cx="6747223" cy="1227986"/>
              </a:xfrm>
              <a:custGeom>
                <a:avLst/>
                <a:gdLst>
                  <a:gd name="connsiteX0" fmla="*/ 0 w 5254077"/>
                  <a:gd name="connsiteY0" fmla="*/ 1563714 h 1563714"/>
                  <a:gd name="connsiteX1" fmla="*/ 59570 w 5254077"/>
                  <a:gd name="connsiteY1" fmla="*/ 1563714 h 1563714"/>
                  <a:gd name="connsiteX2" fmla="*/ 59570 w 5254077"/>
                  <a:gd name="connsiteY2" fmla="*/ 1447552 h 1563714"/>
                  <a:gd name="connsiteX3" fmla="*/ 86376 w 5254077"/>
                  <a:gd name="connsiteY3" fmla="*/ 1447552 h 1563714"/>
                  <a:gd name="connsiteX4" fmla="*/ 86376 w 5254077"/>
                  <a:gd name="connsiteY4" fmla="*/ 1316498 h 1563714"/>
                  <a:gd name="connsiteX5" fmla="*/ 833980 w 5254077"/>
                  <a:gd name="connsiteY5" fmla="*/ 1316498 h 1563714"/>
                  <a:gd name="connsiteX6" fmla="*/ 833980 w 5254077"/>
                  <a:gd name="connsiteY6" fmla="*/ 1197358 h 1563714"/>
                  <a:gd name="connsiteX7" fmla="*/ 1027583 w 5254077"/>
                  <a:gd name="connsiteY7" fmla="*/ 1197358 h 1563714"/>
                  <a:gd name="connsiteX8" fmla="*/ 1027583 w 5254077"/>
                  <a:gd name="connsiteY8" fmla="*/ 1081196 h 1563714"/>
                  <a:gd name="connsiteX9" fmla="*/ 1382025 w 5254077"/>
                  <a:gd name="connsiteY9" fmla="*/ 1081196 h 1563714"/>
                  <a:gd name="connsiteX10" fmla="*/ 1382025 w 5254077"/>
                  <a:gd name="connsiteY10" fmla="*/ 953121 h 1563714"/>
                  <a:gd name="connsiteX11" fmla="*/ 1799015 w 5254077"/>
                  <a:gd name="connsiteY11" fmla="*/ 953121 h 1563714"/>
                  <a:gd name="connsiteX12" fmla="*/ 1799015 w 5254077"/>
                  <a:gd name="connsiteY12" fmla="*/ 828024 h 1563714"/>
                  <a:gd name="connsiteX13" fmla="*/ 2189198 w 5254077"/>
                  <a:gd name="connsiteY13" fmla="*/ 828024 h 1563714"/>
                  <a:gd name="connsiteX14" fmla="*/ 2189198 w 5254077"/>
                  <a:gd name="connsiteY14" fmla="*/ 699948 h 1563714"/>
                  <a:gd name="connsiteX15" fmla="*/ 2695544 w 5254077"/>
                  <a:gd name="connsiteY15" fmla="*/ 699948 h 1563714"/>
                  <a:gd name="connsiteX16" fmla="*/ 2695544 w 5254077"/>
                  <a:gd name="connsiteY16" fmla="*/ 580808 h 1563714"/>
                  <a:gd name="connsiteX17" fmla="*/ 3410384 w 5254077"/>
                  <a:gd name="connsiteY17" fmla="*/ 580808 h 1563714"/>
                  <a:gd name="connsiteX18" fmla="*/ 3410384 w 5254077"/>
                  <a:gd name="connsiteY18" fmla="*/ 437840 h 1563714"/>
                  <a:gd name="connsiteX19" fmla="*/ 3675471 w 5254077"/>
                  <a:gd name="connsiteY19" fmla="*/ 437840 h 1563714"/>
                  <a:gd name="connsiteX20" fmla="*/ 3675471 w 5254077"/>
                  <a:gd name="connsiteY20" fmla="*/ 166796 h 1563714"/>
                  <a:gd name="connsiteX21" fmla="*/ 4166924 w 5254077"/>
                  <a:gd name="connsiteY21" fmla="*/ 166796 h 1563714"/>
                  <a:gd name="connsiteX22" fmla="*/ 4166924 w 5254077"/>
                  <a:gd name="connsiteY22" fmla="*/ 0 h 1563714"/>
                  <a:gd name="connsiteX23" fmla="*/ 5254077 w 5254077"/>
                  <a:gd name="connsiteY23" fmla="*/ 0 h 1563714"/>
                  <a:gd name="connsiteX24" fmla="*/ 5254077 w 5254077"/>
                  <a:gd name="connsiteY24" fmla="*/ 0 h 156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54077" h="1563714">
                    <a:moveTo>
                      <a:pt x="0" y="1563714"/>
                    </a:moveTo>
                    <a:lnTo>
                      <a:pt x="59570" y="1563714"/>
                    </a:lnTo>
                    <a:lnTo>
                      <a:pt x="59570" y="1447552"/>
                    </a:lnTo>
                    <a:lnTo>
                      <a:pt x="86376" y="1447552"/>
                    </a:lnTo>
                    <a:lnTo>
                      <a:pt x="86376" y="1316498"/>
                    </a:lnTo>
                    <a:lnTo>
                      <a:pt x="833980" y="1316498"/>
                    </a:lnTo>
                    <a:lnTo>
                      <a:pt x="833980" y="1197358"/>
                    </a:lnTo>
                    <a:lnTo>
                      <a:pt x="1027583" y="1197358"/>
                    </a:lnTo>
                    <a:lnTo>
                      <a:pt x="1027583" y="1081196"/>
                    </a:lnTo>
                    <a:lnTo>
                      <a:pt x="1382025" y="1081196"/>
                    </a:lnTo>
                    <a:lnTo>
                      <a:pt x="1382025" y="953121"/>
                    </a:lnTo>
                    <a:lnTo>
                      <a:pt x="1799015" y="953121"/>
                    </a:lnTo>
                    <a:lnTo>
                      <a:pt x="1799015" y="828024"/>
                    </a:lnTo>
                    <a:lnTo>
                      <a:pt x="2189198" y="828024"/>
                    </a:lnTo>
                    <a:lnTo>
                      <a:pt x="2189198" y="699948"/>
                    </a:lnTo>
                    <a:lnTo>
                      <a:pt x="2695544" y="699948"/>
                    </a:lnTo>
                    <a:lnTo>
                      <a:pt x="2695544" y="580808"/>
                    </a:lnTo>
                    <a:lnTo>
                      <a:pt x="3410384" y="580808"/>
                    </a:lnTo>
                    <a:lnTo>
                      <a:pt x="3410384" y="437840"/>
                    </a:lnTo>
                    <a:lnTo>
                      <a:pt x="3675471" y="437840"/>
                    </a:lnTo>
                    <a:lnTo>
                      <a:pt x="3675471" y="166796"/>
                    </a:lnTo>
                    <a:lnTo>
                      <a:pt x="4166924" y="166796"/>
                    </a:lnTo>
                    <a:lnTo>
                      <a:pt x="4166924" y="0"/>
                    </a:lnTo>
                    <a:lnTo>
                      <a:pt x="5254077" y="0"/>
                    </a:lnTo>
                    <a:lnTo>
                      <a:pt x="5254077" y="0"/>
                    </a:lnTo>
                  </a:path>
                </a:pathLst>
              </a:custGeom>
              <a:ln w="31750">
                <a:solidFill>
                  <a:srgbClr val="E61E50"/>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16" name="Freihandform 15"/>
              <p:cNvSpPr/>
              <p:nvPr>
                <p:custDataLst>
                  <p:tags r:id="rId8"/>
                </p:custDataLst>
              </p:nvPr>
            </p:nvSpPr>
            <p:spPr bwMode="gray">
              <a:xfrm>
                <a:off x="2745121" y="4119824"/>
                <a:ext cx="6747223" cy="1227986"/>
              </a:xfrm>
              <a:custGeom>
                <a:avLst/>
                <a:gdLst>
                  <a:gd name="connsiteX0" fmla="*/ 0 w 5254077"/>
                  <a:gd name="connsiteY0" fmla="*/ 1563714 h 1563714"/>
                  <a:gd name="connsiteX1" fmla="*/ 53613 w 5254077"/>
                  <a:gd name="connsiteY1" fmla="*/ 1563714 h 1563714"/>
                  <a:gd name="connsiteX2" fmla="*/ 53613 w 5254077"/>
                  <a:gd name="connsiteY2" fmla="*/ 1450531 h 1563714"/>
                  <a:gd name="connsiteX3" fmla="*/ 71484 w 5254077"/>
                  <a:gd name="connsiteY3" fmla="*/ 1450531 h 1563714"/>
                  <a:gd name="connsiteX4" fmla="*/ 71484 w 5254077"/>
                  <a:gd name="connsiteY4" fmla="*/ 1322455 h 1563714"/>
                  <a:gd name="connsiteX5" fmla="*/ 828023 w 5254077"/>
                  <a:gd name="connsiteY5" fmla="*/ 1322455 h 1563714"/>
                  <a:gd name="connsiteX6" fmla="*/ 828023 w 5254077"/>
                  <a:gd name="connsiteY6" fmla="*/ 1197358 h 1563714"/>
                  <a:gd name="connsiteX7" fmla="*/ 1015669 w 5254077"/>
                  <a:gd name="connsiteY7" fmla="*/ 1197358 h 1563714"/>
                  <a:gd name="connsiteX8" fmla="*/ 1015669 w 5254077"/>
                  <a:gd name="connsiteY8" fmla="*/ 1081196 h 1563714"/>
                  <a:gd name="connsiteX9" fmla="*/ 1373089 w 5254077"/>
                  <a:gd name="connsiteY9" fmla="*/ 1081196 h 1563714"/>
                  <a:gd name="connsiteX10" fmla="*/ 1373089 w 5254077"/>
                  <a:gd name="connsiteY10" fmla="*/ 950142 h 1563714"/>
                  <a:gd name="connsiteX11" fmla="*/ 1787101 w 5254077"/>
                  <a:gd name="connsiteY11" fmla="*/ 950142 h 1563714"/>
                  <a:gd name="connsiteX12" fmla="*/ 1787101 w 5254077"/>
                  <a:gd name="connsiteY12" fmla="*/ 825045 h 1563714"/>
                  <a:gd name="connsiteX13" fmla="*/ 2183241 w 5254077"/>
                  <a:gd name="connsiteY13" fmla="*/ 825045 h 1563714"/>
                  <a:gd name="connsiteX14" fmla="*/ 2183241 w 5254077"/>
                  <a:gd name="connsiteY14" fmla="*/ 699948 h 1563714"/>
                  <a:gd name="connsiteX15" fmla="*/ 2689587 w 5254077"/>
                  <a:gd name="connsiteY15" fmla="*/ 699948 h 1563714"/>
                  <a:gd name="connsiteX16" fmla="*/ 2689587 w 5254077"/>
                  <a:gd name="connsiteY16" fmla="*/ 586765 h 1563714"/>
                  <a:gd name="connsiteX17" fmla="*/ 3395492 w 5254077"/>
                  <a:gd name="connsiteY17" fmla="*/ 586765 h 1563714"/>
                  <a:gd name="connsiteX18" fmla="*/ 3395492 w 5254077"/>
                  <a:gd name="connsiteY18" fmla="*/ 443797 h 1563714"/>
                  <a:gd name="connsiteX19" fmla="*/ 3666535 w 5254077"/>
                  <a:gd name="connsiteY19" fmla="*/ 443797 h 1563714"/>
                  <a:gd name="connsiteX20" fmla="*/ 3666535 w 5254077"/>
                  <a:gd name="connsiteY20" fmla="*/ 166796 h 1563714"/>
                  <a:gd name="connsiteX21" fmla="*/ 4155010 w 5254077"/>
                  <a:gd name="connsiteY21" fmla="*/ 166796 h 1563714"/>
                  <a:gd name="connsiteX22" fmla="*/ 4155010 w 5254077"/>
                  <a:gd name="connsiteY22" fmla="*/ 0 h 1563714"/>
                  <a:gd name="connsiteX23" fmla="*/ 5254077 w 5254077"/>
                  <a:gd name="connsiteY23" fmla="*/ 0 h 156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54077" h="1563714">
                    <a:moveTo>
                      <a:pt x="0" y="1563714"/>
                    </a:moveTo>
                    <a:lnTo>
                      <a:pt x="53613" y="1563714"/>
                    </a:lnTo>
                    <a:lnTo>
                      <a:pt x="53613" y="1450531"/>
                    </a:lnTo>
                    <a:lnTo>
                      <a:pt x="71484" y="1450531"/>
                    </a:lnTo>
                    <a:lnTo>
                      <a:pt x="71484" y="1322455"/>
                    </a:lnTo>
                    <a:lnTo>
                      <a:pt x="828023" y="1322455"/>
                    </a:lnTo>
                    <a:lnTo>
                      <a:pt x="828023" y="1197358"/>
                    </a:lnTo>
                    <a:lnTo>
                      <a:pt x="1015669" y="1197358"/>
                    </a:lnTo>
                    <a:lnTo>
                      <a:pt x="1015669" y="1081196"/>
                    </a:lnTo>
                    <a:lnTo>
                      <a:pt x="1373089" y="1081196"/>
                    </a:lnTo>
                    <a:lnTo>
                      <a:pt x="1373089" y="950142"/>
                    </a:lnTo>
                    <a:lnTo>
                      <a:pt x="1787101" y="950142"/>
                    </a:lnTo>
                    <a:lnTo>
                      <a:pt x="1787101" y="825045"/>
                    </a:lnTo>
                    <a:lnTo>
                      <a:pt x="2183241" y="825045"/>
                    </a:lnTo>
                    <a:lnTo>
                      <a:pt x="2183241" y="699948"/>
                    </a:lnTo>
                    <a:lnTo>
                      <a:pt x="2689587" y="699948"/>
                    </a:lnTo>
                    <a:lnTo>
                      <a:pt x="2689587" y="586765"/>
                    </a:lnTo>
                    <a:lnTo>
                      <a:pt x="3395492" y="586765"/>
                    </a:lnTo>
                    <a:lnTo>
                      <a:pt x="3395492" y="443797"/>
                    </a:lnTo>
                    <a:lnTo>
                      <a:pt x="3666535" y="443797"/>
                    </a:lnTo>
                    <a:lnTo>
                      <a:pt x="3666535" y="166796"/>
                    </a:lnTo>
                    <a:lnTo>
                      <a:pt x="4155010" y="166796"/>
                    </a:lnTo>
                    <a:lnTo>
                      <a:pt x="4155010" y="0"/>
                    </a:lnTo>
                    <a:lnTo>
                      <a:pt x="5254077" y="0"/>
                    </a:lnTo>
                  </a:path>
                </a:pathLst>
              </a:custGeom>
              <a:no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19" name="Freihandform 18"/>
              <p:cNvSpPr/>
              <p:nvPr>
                <p:custDataLst>
                  <p:tags r:id="rId9"/>
                </p:custDataLst>
              </p:nvPr>
            </p:nvSpPr>
            <p:spPr bwMode="gray">
              <a:xfrm>
                <a:off x="2361398" y="2334020"/>
                <a:ext cx="7143425" cy="2920190"/>
              </a:xfrm>
              <a:custGeom>
                <a:avLst/>
                <a:gdLst>
                  <a:gd name="connsiteX0" fmla="*/ 0 w 5562600"/>
                  <a:gd name="connsiteY0" fmla="*/ 3718560 h 3718560"/>
                  <a:gd name="connsiteX1" fmla="*/ 175260 w 5562600"/>
                  <a:gd name="connsiteY1" fmla="*/ 3718560 h 3718560"/>
                  <a:gd name="connsiteX2" fmla="*/ 175260 w 5562600"/>
                  <a:gd name="connsiteY2" fmla="*/ 3600450 h 3718560"/>
                  <a:gd name="connsiteX3" fmla="*/ 339090 w 5562600"/>
                  <a:gd name="connsiteY3" fmla="*/ 3600450 h 3718560"/>
                  <a:gd name="connsiteX4" fmla="*/ 339090 w 5562600"/>
                  <a:gd name="connsiteY4" fmla="*/ 3478530 h 3718560"/>
                  <a:gd name="connsiteX5" fmla="*/ 377190 w 5562600"/>
                  <a:gd name="connsiteY5" fmla="*/ 3478530 h 3718560"/>
                  <a:gd name="connsiteX6" fmla="*/ 377190 w 5562600"/>
                  <a:gd name="connsiteY6" fmla="*/ 3348990 h 3718560"/>
                  <a:gd name="connsiteX7" fmla="*/ 598170 w 5562600"/>
                  <a:gd name="connsiteY7" fmla="*/ 3348990 h 3718560"/>
                  <a:gd name="connsiteX8" fmla="*/ 598170 w 5562600"/>
                  <a:gd name="connsiteY8" fmla="*/ 3234690 h 3718560"/>
                  <a:gd name="connsiteX9" fmla="*/ 777240 w 5562600"/>
                  <a:gd name="connsiteY9" fmla="*/ 3234690 h 3718560"/>
                  <a:gd name="connsiteX10" fmla="*/ 777240 w 5562600"/>
                  <a:gd name="connsiteY10" fmla="*/ 3108960 h 3718560"/>
                  <a:gd name="connsiteX11" fmla="*/ 803910 w 5562600"/>
                  <a:gd name="connsiteY11" fmla="*/ 3108960 h 3718560"/>
                  <a:gd name="connsiteX12" fmla="*/ 803910 w 5562600"/>
                  <a:gd name="connsiteY12" fmla="*/ 2990850 h 3718560"/>
                  <a:gd name="connsiteX13" fmla="*/ 933450 w 5562600"/>
                  <a:gd name="connsiteY13" fmla="*/ 2990850 h 3718560"/>
                  <a:gd name="connsiteX14" fmla="*/ 933450 w 5562600"/>
                  <a:gd name="connsiteY14" fmla="*/ 2868930 h 3718560"/>
                  <a:gd name="connsiteX15" fmla="*/ 1104900 w 5562600"/>
                  <a:gd name="connsiteY15" fmla="*/ 2868930 h 3718560"/>
                  <a:gd name="connsiteX16" fmla="*/ 1104900 w 5562600"/>
                  <a:gd name="connsiteY16" fmla="*/ 2750820 h 3718560"/>
                  <a:gd name="connsiteX17" fmla="*/ 1619250 w 5562600"/>
                  <a:gd name="connsiteY17" fmla="*/ 2750820 h 3718560"/>
                  <a:gd name="connsiteX18" fmla="*/ 1619250 w 5562600"/>
                  <a:gd name="connsiteY18" fmla="*/ 2621280 h 3718560"/>
                  <a:gd name="connsiteX19" fmla="*/ 1630680 w 5562600"/>
                  <a:gd name="connsiteY19" fmla="*/ 2621280 h 3718560"/>
                  <a:gd name="connsiteX20" fmla="*/ 1630680 w 5562600"/>
                  <a:gd name="connsiteY20" fmla="*/ 2510790 h 3718560"/>
                  <a:gd name="connsiteX21" fmla="*/ 1630680 w 5562600"/>
                  <a:gd name="connsiteY21" fmla="*/ 2510790 h 3718560"/>
                  <a:gd name="connsiteX22" fmla="*/ 1630680 w 5562600"/>
                  <a:gd name="connsiteY22" fmla="*/ 2381250 h 3718560"/>
                  <a:gd name="connsiteX23" fmla="*/ 1680210 w 5562600"/>
                  <a:gd name="connsiteY23" fmla="*/ 2381250 h 3718560"/>
                  <a:gd name="connsiteX24" fmla="*/ 1680210 w 5562600"/>
                  <a:gd name="connsiteY24" fmla="*/ 2263140 h 3718560"/>
                  <a:gd name="connsiteX25" fmla="*/ 1939290 w 5562600"/>
                  <a:gd name="connsiteY25" fmla="*/ 2263140 h 3718560"/>
                  <a:gd name="connsiteX26" fmla="*/ 1939290 w 5562600"/>
                  <a:gd name="connsiteY26" fmla="*/ 2137410 h 3718560"/>
                  <a:gd name="connsiteX27" fmla="*/ 2377440 w 5562600"/>
                  <a:gd name="connsiteY27" fmla="*/ 2137410 h 3718560"/>
                  <a:gd name="connsiteX28" fmla="*/ 2377440 w 5562600"/>
                  <a:gd name="connsiteY28" fmla="*/ 2019300 h 3718560"/>
                  <a:gd name="connsiteX29" fmla="*/ 2423160 w 5562600"/>
                  <a:gd name="connsiteY29" fmla="*/ 2019300 h 3718560"/>
                  <a:gd name="connsiteX30" fmla="*/ 2423160 w 5562600"/>
                  <a:gd name="connsiteY30" fmla="*/ 1889760 h 3718560"/>
                  <a:gd name="connsiteX31" fmla="*/ 2800350 w 5562600"/>
                  <a:gd name="connsiteY31" fmla="*/ 1889760 h 3718560"/>
                  <a:gd name="connsiteX32" fmla="*/ 2800350 w 5562600"/>
                  <a:gd name="connsiteY32" fmla="*/ 1775460 h 3718560"/>
                  <a:gd name="connsiteX33" fmla="*/ 2880360 w 5562600"/>
                  <a:gd name="connsiteY33" fmla="*/ 1775460 h 3718560"/>
                  <a:gd name="connsiteX34" fmla="*/ 2880360 w 5562600"/>
                  <a:gd name="connsiteY34" fmla="*/ 1642110 h 3718560"/>
                  <a:gd name="connsiteX35" fmla="*/ 3044190 w 5562600"/>
                  <a:gd name="connsiteY35" fmla="*/ 1642110 h 3718560"/>
                  <a:gd name="connsiteX36" fmla="*/ 3044190 w 5562600"/>
                  <a:gd name="connsiteY36" fmla="*/ 1512570 h 3718560"/>
                  <a:gd name="connsiteX37" fmla="*/ 3383280 w 5562600"/>
                  <a:gd name="connsiteY37" fmla="*/ 1512570 h 3718560"/>
                  <a:gd name="connsiteX38" fmla="*/ 3383280 w 5562600"/>
                  <a:gd name="connsiteY38" fmla="*/ 1394460 h 3718560"/>
                  <a:gd name="connsiteX39" fmla="*/ 3665220 w 5562600"/>
                  <a:gd name="connsiteY39" fmla="*/ 1394460 h 3718560"/>
                  <a:gd name="connsiteX40" fmla="*/ 3665220 w 5562600"/>
                  <a:gd name="connsiteY40" fmla="*/ 1268730 h 3718560"/>
                  <a:gd name="connsiteX41" fmla="*/ 3710940 w 5562600"/>
                  <a:gd name="connsiteY41" fmla="*/ 1268730 h 3718560"/>
                  <a:gd name="connsiteX42" fmla="*/ 3710940 w 5562600"/>
                  <a:gd name="connsiteY42" fmla="*/ 1139190 h 3718560"/>
                  <a:gd name="connsiteX43" fmla="*/ 3912870 w 5562600"/>
                  <a:gd name="connsiteY43" fmla="*/ 1139190 h 3718560"/>
                  <a:gd name="connsiteX44" fmla="*/ 3912870 w 5562600"/>
                  <a:gd name="connsiteY44" fmla="*/ 998220 h 3718560"/>
                  <a:gd name="connsiteX45" fmla="*/ 4000500 w 5562600"/>
                  <a:gd name="connsiteY45" fmla="*/ 998220 h 3718560"/>
                  <a:gd name="connsiteX46" fmla="*/ 4000500 w 5562600"/>
                  <a:gd name="connsiteY46" fmla="*/ 853440 h 3718560"/>
                  <a:gd name="connsiteX47" fmla="*/ 4366260 w 5562600"/>
                  <a:gd name="connsiteY47" fmla="*/ 853440 h 3718560"/>
                  <a:gd name="connsiteX48" fmla="*/ 4366260 w 5562600"/>
                  <a:gd name="connsiteY48" fmla="*/ 681990 h 3718560"/>
                  <a:gd name="connsiteX49" fmla="*/ 4568190 w 5562600"/>
                  <a:gd name="connsiteY49" fmla="*/ 681990 h 3718560"/>
                  <a:gd name="connsiteX50" fmla="*/ 4568190 w 5562600"/>
                  <a:gd name="connsiteY50" fmla="*/ 518160 h 3718560"/>
                  <a:gd name="connsiteX51" fmla="*/ 4728210 w 5562600"/>
                  <a:gd name="connsiteY51" fmla="*/ 518160 h 3718560"/>
                  <a:gd name="connsiteX52" fmla="*/ 4728210 w 5562600"/>
                  <a:gd name="connsiteY52" fmla="*/ 327660 h 3718560"/>
                  <a:gd name="connsiteX53" fmla="*/ 5410200 w 5562600"/>
                  <a:gd name="connsiteY53" fmla="*/ 327660 h 3718560"/>
                  <a:gd name="connsiteX54" fmla="*/ 5410200 w 5562600"/>
                  <a:gd name="connsiteY54" fmla="*/ 0 h 3718560"/>
                  <a:gd name="connsiteX55" fmla="*/ 5562600 w 5562600"/>
                  <a:gd name="connsiteY55" fmla="*/ 0 h 371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562600" h="3718560">
                    <a:moveTo>
                      <a:pt x="0" y="3718560"/>
                    </a:moveTo>
                    <a:lnTo>
                      <a:pt x="175260" y="3718560"/>
                    </a:lnTo>
                    <a:lnTo>
                      <a:pt x="175260" y="3600450"/>
                    </a:lnTo>
                    <a:lnTo>
                      <a:pt x="339090" y="3600450"/>
                    </a:lnTo>
                    <a:lnTo>
                      <a:pt x="339090" y="3478530"/>
                    </a:lnTo>
                    <a:lnTo>
                      <a:pt x="377190" y="3478530"/>
                    </a:lnTo>
                    <a:lnTo>
                      <a:pt x="377190" y="3348990"/>
                    </a:lnTo>
                    <a:lnTo>
                      <a:pt x="598170" y="3348990"/>
                    </a:lnTo>
                    <a:lnTo>
                      <a:pt x="598170" y="3234690"/>
                    </a:lnTo>
                    <a:lnTo>
                      <a:pt x="777240" y="3234690"/>
                    </a:lnTo>
                    <a:lnTo>
                      <a:pt x="777240" y="3108960"/>
                    </a:lnTo>
                    <a:lnTo>
                      <a:pt x="803910" y="3108960"/>
                    </a:lnTo>
                    <a:lnTo>
                      <a:pt x="803910" y="2990850"/>
                    </a:lnTo>
                    <a:lnTo>
                      <a:pt x="933450" y="2990850"/>
                    </a:lnTo>
                    <a:lnTo>
                      <a:pt x="933450" y="2868930"/>
                    </a:lnTo>
                    <a:lnTo>
                      <a:pt x="1104900" y="2868930"/>
                    </a:lnTo>
                    <a:lnTo>
                      <a:pt x="1104900" y="2750820"/>
                    </a:lnTo>
                    <a:lnTo>
                      <a:pt x="1619250" y="2750820"/>
                    </a:lnTo>
                    <a:lnTo>
                      <a:pt x="1619250" y="2621280"/>
                    </a:lnTo>
                    <a:lnTo>
                      <a:pt x="1630680" y="2621280"/>
                    </a:lnTo>
                    <a:lnTo>
                      <a:pt x="1630680" y="2510790"/>
                    </a:lnTo>
                    <a:lnTo>
                      <a:pt x="1630680" y="2510790"/>
                    </a:lnTo>
                    <a:lnTo>
                      <a:pt x="1630680" y="2381250"/>
                    </a:lnTo>
                    <a:lnTo>
                      <a:pt x="1680210" y="2381250"/>
                    </a:lnTo>
                    <a:lnTo>
                      <a:pt x="1680210" y="2263140"/>
                    </a:lnTo>
                    <a:lnTo>
                      <a:pt x="1939290" y="2263140"/>
                    </a:lnTo>
                    <a:lnTo>
                      <a:pt x="1939290" y="2137410"/>
                    </a:lnTo>
                    <a:lnTo>
                      <a:pt x="2377440" y="2137410"/>
                    </a:lnTo>
                    <a:lnTo>
                      <a:pt x="2377440" y="2019300"/>
                    </a:lnTo>
                    <a:lnTo>
                      <a:pt x="2423160" y="2019300"/>
                    </a:lnTo>
                    <a:lnTo>
                      <a:pt x="2423160" y="1889760"/>
                    </a:lnTo>
                    <a:lnTo>
                      <a:pt x="2800350" y="1889760"/>
                    </a:lnTo>
                    <a:lnTo>
                      <a:pt x="2800350" y="1775460"/>
                    </a:lnTo>
                    <a:lnTo>
                      <a:pt x="2880360" y="1775460"/>
                    </a:lnTo>
                    <a:lnTo>
                      <a:pt x="2880360" y="1642110"/>
                    </a:lnTo>
                    <a:lnTo>
                      <a:pt x="3044190" y="1642110"/>
                    </a:lnTo>
                    <a:lnTo>
                      <a:pt x="3044190" y="1512570"/>
                    </a:lnTo>
                    <a:lnTo>
                      <a:pt x="3383280" y="1512570"/>
                    </a:lnTo>
                    <a:lnTo>
                      <a:pt x="3383280" y="1394460"/>
                    </a:lnTo>
                    <a:lnTo>
                      <a:pt x="3665220" y="1394460"/>
                    </a:lnTo>
                    <a:lnTo>
                      <a:pt x="3665220" y="1268730"/>
                    </a:lnTo>
                    <a:lnTo>
                      <a:pt x="3710940" y="1268730"/>
                    </a:lnTo>
                    <a:lnTo>
                      <a:pt x="3710940" y="1139190"/>
                    </a:lnTo>
                    <a:lnTo>
                      <a:pt x="3912870" y="1139190"/>
                    </a:lnTo>
                    <a:lnTo>
                      <a:pt x="3912870" y="998220"/>
                    </a:lnTo>
                    <a:lnTo>
                      <a:pt x="4000500" y="998220"/>
                    </a:lnTo>
                    <a:lnTo>
                      <a:pt x="4000500" y="853440"/>
                    </a:lnTo>
                    <a:lnTo>
                      <a:pt x="4366260" y="853440"/>
                    </a:lnTo>
                    <a:lnTo>
                      <a:pt x="4366260" y="681990"/>
                    </a:lnTo>
                    <a:lnTo>
                      <a:pt x="4568190" y="681990"/>
                    </a:lnTo>
                    <a:lnTo>
                      <a:pt x="4568190" y="518160"/>
                    </a:lnTo>
                    <a:lnTo>
                      <a:pt x="4728210" y="518160"/>
                    </a:lnTo>
                    <a:lnTo>
                      <a:pt x="4728210" y="327660"/>
                    </a:lnTo>
                    <a:lnTo>
                      <a:pt x="5410200" y="327660"/>
                    </a:lnTo>
                    <a:lnTo>
                      <a:pt x="5410200" y="0"/>
                    </a:lnTo>
                    <a:lnTo>
                      <a:pt x="5562600" y="0"/>
                    </a:lnTo>
                  </a:path>
                </a:pathLst>
              </a:custGeom>
              <a:ln w="31750">
                <a:solidFill>
                  <a:srgbClr val="A5CD50"/>
                </a:solidFill>
              </a:ln>
            </p:spPr>
            <p:style>
              <a:lnRef idx="1">
                <a:schemeClr val="accent5"/>
              </a:lnRef>
              <a:fillRef idx="0">
                <a:schemeClr val="accent5"/>
              </a:fillRef>
              <a:effectRef idx="0">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a:ea typeface="+mn-ea"/>
                  <a:cs typeface="+mn-cs"/>
                </a:endParaRPr>
              </a:p>
            </p:txBody>
          </p:sp>
          <p:sp>
            <p:nvSpPr>
              <p:cNvPr id="281" name="Textfeld 217"/>
              <p:cNvSpPr txBox="1"/>
              <p:nvPr>
                <p:custDataLst>
                  <p:tags r:id="rId10"/>
                </p:custDataLst>
              </p:nvPr>
            </p:nvSpPr>
            <p:spPr bwMode="gray">
              <a:xfrm>
                <a:off x="2443407" y="2422787"/>
                <a:ext cx="2147557" cy="675792"/>
              </a:xfrm>
              <a:prstGeom prst="rect">
                <a:avLst/>
              </a:prstGeom>
              <a:solidFill>
                <a:schemeClr val="bg1"/>
              </a:solidFill>
            </p:spPr>
            <p:txBody>
              <a:bodyPr wrap="non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ОШ=0,43 [0,22-0,82]</a:t>
                </a:r>
              </a:p>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4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P</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=0,011	</a:t>
                </a:r>
                <a:endParaRPr kumimoji="0" lang="de-DE"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82" name="Textfeld 217"/>
              <p:cNvSpPr txBox="1"/>
              <p:nvPr>
                <p:custDataLst>
                  <p:tags r:id="rId11"/>
                </p:custDataLst>
              </p:nvPr>
            </p:nvSpPr>
            <p:spPr bwMode="gray">
              <a:xfrm>
                <a:off x="6345476" y="2193722"/>
                <a:ext cx="3502611" cy="405149"/>
              </a:xfrm>
              <a:prstGeom prst="rect">
                <a:avLst/>
              </a:prstGeom>
              <a:noFill/>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Без β-</a:t>
                </a:r>
                <a:r>
                  <a:rPr kumimoji="0" lang="ru-RU" sz="16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адреноблокатора</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de-DE"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83" name="Textfeld 217"/>
              <p:cNvSpPr txBox="1"/>
              <p:nvPr>
                <p:custDataLst>
                  <p:tags r:id="rId12"/>
                </p:custDataLst>
              </p:nvPr>
            </p:nvSpPr>
            <p:spPr bwMode="gray">
              <a:xfrm>
                <a:off x="7697611" y="4310850"/>
                <a:ext cx="2921403" cy="405149"/>
              </a:xfrm>
              <a:prstGeom prst="rect">
                <a:avLst/>
              </a:prstGeom>
              <a:noFill/>
            </p:spPr>
            <p:txBody>
              <a:bodyPr wrap="square" lIns="72000" tIns="72000" rIns="72000" bIns="72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268288" rtl="0" eaLnBrk="1" fontAlgn="auto" latinLnBrk="0" hangingPunct="1">
                  <a:lnSpc>
                    <a:spcPct val="100000"/>
                  </a:lnSpc>
                  <a:spcBef>
                    <a:spcPts val="300"/>
                  </a:spcBef>
                  <a:spcAft>
                    <a:spcPts val="300"/>
                  </a:spcAft>
                  <a:buClr>
                    <a:srgbClr val="503291"/>
                  </a:buClr>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β-адреноблокатор	</a:t>
                </a:r>
                <a:endParaRPr kumimoji="0" lang="de-DE"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id="{33A481EC-EA61-64B5-22F3-C6B1B367C300}"/>
                  </a:ext>
                </a:extLst>
              </p:cNvPr>
              <p:cNvSpPr txBox="1"/>
              <p:nvPr/>
            </p:nvSpPr>
            <p:spPr>
              <a:xfrm>
                <a:off x="9848087" y="5274373"/>
                <a:ext cx="1821399" cy="445764"/>
              </a:xfrm>
              <a:prstGeom prst="rect">
                <a:avLst/>
              </a:prstGeom>
              <a:noFill/>
            </p:spPr>
            <p:txBody>
              <a:bodyPr wrap="square">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rPr>
                  <a:t>Последующее наблюдение (дни)</a:t>
                </a:r>
                <a:endParaRPr kumimoji="0" lang="de-DE" sz="1100" b="0" i="0" u="none" strike="noStrike" kern="1200" cap="none" spc="0" normalizeH="0" baseline="0" noProof="0" dirty="0">
                  <a:ln>
                    <a:noFill/>
                  </a:ln>
                  <a:solidFill>
                    <a:srgbClr val="265374"/>
                  </a:solidFill>
                  <a:effectLst/>
                  <a:uLnTx/>
                  <a:uFillTx/>
                  <a:latin typeface="Verdana"/>
                  <a:ea typeface="Verdana" panose="020B0604030504040204" pitchFamily="34" charset="0"/>
                  <a:cs typeface="Verdana" panose="020B0604030504040204" pitchFamily="34" charset="0"/>
                </a:endParaRPr>
              </a:p>
            </p:txBody>
          </p:sp>
        </p:grpSp>
      </p:grpSp>
      <p:sp>
        <p:nvSpPr>
          <p:cNvPr id="2" name="Rectangle 115">
            <a:extLst>
              <a:ext uri="{FF2B5EF4-FFF2-40B4-BE49-F238E27FC236}">
                <a16:creationId xmlns:a16="http://schemas.microsoft.com/office/drawing/2014/main" id="{5ADE7186-8B55-0B2A-9A96-BA6F9DCCCD05}"/>
              </a:ext>
            </a:extLst>
          </p:cNvPr>
          <p:cNvSpPr>
            <a:spLocks noChangeArrowheads="1"/>
          </p:cNvSpPr>
          <p:nvPr>
            <p:custDataLst>
              <p:tags r:id="rId4"/>
            </p:custDataLst>
          </p:nvPr>
        </p:nvSpPr>
        <p:spPr bwMode="auto">
          <a:xfrm>
            <a:off x="924970" y="1286561"/>
            <a:ext cx="10042913" cy="688971"/>
          </a:xfrm>
          <a:prstGeom prst="rect">
            <a:avLst/>
          </a:prstGeom>
          <a:noFill/>
          <a:ln w="9525">
            <a:noFill/>
            <a:miter lim="800000"/>
            <a:headEnd/>
            <a:tailEnd/>
          </a:ln>
          <a:effectLst/>
        </p:spPr>
        <p:txBody>
          <a:bodyPr wrap="square" lIns="0" tIns="0" rIns="0" bIns="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Исследование </a:t>
            </a:r>
            <a:r>
              <a:rPr kumimoji="0" lang="ru-RU" sz="1400" b="1" i="0" u="none" strike="noStrike" kern="1200" cap="none" spc="0" normalizeH="0" baseline="0" noProof="0" dirty="0">
                <a:ln>
                  <a:noFill/>
                </a:ln>
                <a:solidFill>
                  <a:srgbClr val="398ACB"/>
                </a:solidFill>
                <a:effectLst/>
                <a:uLnTx/>
                <a:uFillTx/>
                <a:latin typeface="Verdana"/>
                <a:ea typeface="+mn-ea"/>
                <a:cs typeface="Arial" charset="0"/>
              </a:rPr>
              <a:t>CORONOR. </a:t>
            </a:r>
            <a:r>
              <a:rPr kumimoji="0" lang="ru-RU" sz="1400" b="0" i="0" u="none" strike="noStrike" kern="1200" cap="none" spc="0" normalizeH="0" baseline="0" noProof="0" dirty="0" err="1">
                <a:ln>
                  <a:noFill/>
                </a:ln>
                <a:solidFill>
                  <a:srgbClr val="398ACB"/>
                </a:solidFill>
                <a:effectLst/>
                <a:uLnTx/>
                <a:uFillTx/>
                <a:latin typeface="Verdana"/>
                <a:ea typeface="+mn-ea"/>
                <a:cs typeface="Arial" charset="0"/>
              </a:rPr>
              <a:t>Проспективное</a:t>
            </a: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 многоцентровое исследование 4149 последовательно набранных амбулаторных больных со стабильной ИБС (предшествующий ИМ или </a:t>
            </a:r>
            <a:r>
              <a:rPr kumimoji="0" lang="ru-RU" sz="1400" b="0" i="0" u="none" strike="noStrike" kern="1200" cap="none" spc="0" normalizeH="0" baseline="0" noProof="0" dirty="0" err="1">
                <a:ln>
                  <a:noFill/>
                </a:ln>
                <a:solidFill>
                  <a:srgbClr val="398ACB"/>
                </a:solidFill>
                <a:effectLst/>
                <a:uLnTx/>
                <a:uFillTx/>
                <a:latin typeface="Verdana"/>
                <a:ea typeface="+mn-ea"/>
                <a:cs typeface="Arial" charset="0"/>
              </a:rPr>
              <a:t>реваскуляризация</a:t>
            </a:r>
            <a:r>
              <a:rPr kumimoji="0" lang="ru-RU" sz="1400" b="0" i="0" u="none" strike="noStrike" kern="1200" cap="none" spc="0" normalizeH="0" baseline="0" noProof="0" dirty="0">
                <a:ln>
                  <a:noFill/>
                </a:ln>
                <a:solidFill>
                  <a:srgbClr val="398ACB"/>
                </a:solidFill>
                <a:effectLst/>
                <a:uLnTx/>
                <a:uFillTx/>
                <a:latin typeface="Verdana"/>
                <a:ea typeface="+mn-ea"/>
                <a:cs typeface="Arial" charset="0"/>
              </a:rPr>
              <a:t> более 1 года назад и/или обструкция ≥50% по крайней мере одной коронарной артерии)</a:t>
            </a:r>
            <a:r>
              <a:rPr kumimoji="0" lang="ru-RU" sz="1400" b="0" i="0" u="none" strike="noStrike" kern="1200" cap="none" spc="0" normalizeH="0" baseline="30000" noProof="0" dirty="0">
                <a:ln>
                  <a:noFill/>
                </a:ln>
                <a:solidFill>
                  <a:srgbClr val="398ACB"/>
                </a:solidFill>
                <a:effectLst/>
                <a:uLnTx/>
                <a:uFillTx/>
                <a:latin typeface="Verdana"/>
                <a:ea typeface="+mn-ea"/>
                <a:cs typeface="Arial" charset="0"/>
              </a:rPr>
              <a:t>1</a:t>
            </a:r>
            <a:endParaRPr kumimoji="0" lang="en-US" sz="1400" b="0" i="0" u="none" strike="noStrike" kern="1200" cap="none" spc="0" normalizeH="0" baseline="30000" noProof="0" dirty="0">
              <a:ln>
                <a:noFill/>
              </a:ln>
              <a:solidFill>
                <a:srgbClr val="398ACB"/>
              </a:solidFill>
              <a:effectLst/>
              <a:uLnTx/>
              <a:uFillTx/>
              <a:latin typeface="Verdana"/>
              <a:ea typeface="+mn-ea"/>
              <a:cs typeface="Arial" charset="0"/>
            </a:endParaRPr>
          </a:p>
        </p:txBody>
      </p:sp>
      <p:sp>
        <p:nvSpPr>
          <p:cNvPr id="3" name="Объект 2">
            <a:extLst>
              <a:ext uri="{FF2B5EF4-FFF2-40B4-BE49-F238E27FC236}">
                <a16:creationId xmlns:a16="http://schemas.microsoft.com/office/drawing/2014/main" id="{74F12BE0-B714-96CC-61CD-985FE3E05820}"/>
              </a:ext>
            </a:extLst>
          </p:cNvPr>
          <p:cNvSpPr txBox="1">
            <a:spLocks/>
          </p:cNvSpPr>
          <p:nvPr/>
        </p:nvSpPr>
        <p:spPr>
          <a:xfrm>
            <a:off x="924971" y="6112772"/>
            <a:ext cx="9694043" cy="45773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ИБС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ишемическая болезнь сердца,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ССЗ</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сердечно-сосудистые заболевания</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График адаптирован из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a:t>
            </a:r>
            <a:endParaRPr kumimoji="0" lang="de-DE"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Bauters</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C,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Lemesle</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G, </a:t>
            </a:r>
            <a:r>
              <a:rPr kumimoji="0" lang="en-US" sz="800" b="0" i="0" u="none" strike="noStrike" kern="1200" cap="none" spc="0" normalizeH="0" baseline="0" noProof="0" dirty="0" err="1">
                <a:ln>
                  <a:noFill/>
                </a:ln>
                <a:solidFill>
                  <a:srgbClr val="323F48"/>
                </a:solidFill>
                <a:effectLst/>
                <a:uLnTx/>
                <a:uFillTx/>
                <a:latin typeface="Calibri" panose="020F0502020204030204" pitchFamily="34" charset="0"/>
                <a:ea typeface="+mn-ea"/>
                <a:cs typeface="Calibri" panose="020F0502020204030204" pitchFamily="34" charset="0"/>
              </a:rPr>
              <a:t>Meurice</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T et al. Prognostic impact of β-blocker use in patients with stable coronary artery disease. Heart. 2014;100:1757-61.</a:t>
            </a:r>
          </a:p>
        </p:txBody>
      </p:sp>
      <p:sp>
        <p:nvSpPr>
          <p:cNvPr id="12" name="Titel 17">
            <a:extLst>
              <a:ext uri="{FF2B5EF4-FFF2-40B4-BE49-F238E27FC236}">
                <a16:creationId xmlns:a16="http://schemas.microsoft.com/office/drawing/2014/main" id="{2D5DB94A-0FC6-CA07-6074-B021C79C9BDB}"/>
              </a:ext>
            </a:extLst>
          </p:cNvPr>
          <p:cNvSpPr txBox="1">
            <a:spLocks/>
          </p:cNvSpPr>
          <p:nvPr>
            <p:custDataLst>
              <p:tags r:id="rId5"/>
            </p:custDataLst>
          </p:nvPr>
        </p:nvSpPr>
        <p:spPr bwMode="gray">
          <a:xfrm>
            <a:off x="895943" y="497766"/>
            <a:ext cx="9895429" cy="783083"/>
          </a:xfrm>
          <a:prstGeom prst="rect">
            <a:avLst/>
          </a:prstGeom>
          <a:noFill/>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Бета-адреноблокаторы снижают риск сердечно-сосудистой смерти у пациентов со стабильной ИБС на 57%</a:t>
            </a:r>
            <a:r>
              <a:rPr kumimoji="0" lang="ru-RU"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endParaRPr kumimoji="0" lang="de-DE" sz="16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ustDataLst>
      <p:tags r:id="rId1"/>
    </p:custDataLst>
    <p:extLst>
      <p:ext uri="{BB962C8B-B14F-4D97-AF65-F5344CB8AC3E}">
        <p14:creationId xmlns:p14="http://schemas.microsoft.com/office/powerpoint/2010/main" val="275441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0E7E4DB8-9587-B56B-8AFF-4BED15D9128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27" name="Rectangle 115"/>
          <p:cNvSpPr>
            <a:spLocks noChangeArrowheads="1"/>
          </p:cNvSpPr>
          <p:nvPr>
            <p:custDataLst>
              <p:tags r:id="rId2"/>
            </p:custDataLst>
          </p:nvPr>
        </p:nvSpPr>
        <p:spPr bwMode="auto">
          <a:xfrm>
            <a:off x="838555" y="1236269"/>
            <a:ext cx="11032691" cy="952762"/>
          </a:xfrm>
          <a:prstGeom prst="rect">
            <a:avLst/>
          </a:prstGeom>
          <a:noFill/>
          <a:ln w="9525">
            <a:noFill/>
            <a:miter lim="800000"/>
            <a:headEnd/>
            <a:tailEnd/>
          </a:ln>
          <a:effectLst/>
        </p:spPr>
        <p:txBody>
          <a:bodyPr wrap="square" lIns="92075" tIns="46038" rIns="92075" bIns="46038"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Исследование общей ишемической нагрузки при терапии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бисопрололом</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br>
              <a:rPr kumimoji="0" lang="ru-RU" sz="1300" b="1" i="0" u="none" strike="noStrike" kern="1200" cap="none" spc="-20" normalizeH="0" baseline="0" noProof="0" dirty="0">
                <a:ln>
                  <a:noFill/>
                </a:ln>
                <a:solidFill>
                  <a:srgbClr val="398ACB"/>
                </a:solidFill>
                <a:effectLst/>
                <a:uLnTx/>
                <a:uFillTx/>
                <a:latin typeface="Verdana"/>
                <a:ea typeface="+mn-ea"/>
                <a:cs typeface="Arial" charset="0"/>
              </a:rPr>
            </a:b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(Total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Ischemic</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Burden</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a:t>
            </a:r>
            <a:r>
              <a:rPr kumimoji="0" lang="ru-RU" sz="1300" b="1" i="0" u="none" strike="noStrike" kern="1200" cap="none" spc="-20" normalizeH="0" baseline="0" noProof="0" dirty="0" err="1">
                <a:ln>
                  <a:noFill/>
                </a:ln>
                <a:solidFill>
                  <a:srgbClr val="398ACB"/>
                </a:solidFill>
                <a:effectLst/>
                <a:uLnTx/>
                <a:uFillTx/>
                <a:latin typeface="Verdana"/>
                <a:ea typeface="+mn-ea"/>
                <a:cs typeface="Arial" charset="0"/>
              </a:rPr>
              <a:t>Bisoprolol</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 Study, TIBBS </a:t>
            </a:r>
            <a:r>
              <a:rPr kumimoji="0" lang="en-US" sz="1300" b="1" i="0" u="none" strike="noStrike" kern="1200" cap="none" spc="-20" normalizeH="0" baseline="0" noProof="0" dirty="0">
                <a:ln>
                  <a:noFill/>
                </a:ln>
                <a:solidFill>
                  <a:srgbClr val="398ACB"/>
                </a:solidFill>
                <a:effectLst/>
                <a:uLnTx/>
                <a:uFillTx/>
                <a:latin typeface="Verdana"/>
                <a:ea typeface="+mn-ea"/>
                <a:cs typeface="Arial" charset="0"/>
              </a:rPr>
              <a:t>Follow-Up</a:t>
            </a:r>
            <a:r>
              <a:rPr kumimoji="0" lang="ru-RU" sz="1300" b="1" i="0" u="none" strike="noStrike" kern="1200" cap="none" spc="-20" normalizeH="0" baseline="0" noProof="0" dirty="0">
                <a:ln>
                  <a:noFill/>
                </a:ln>
                <a:solidFill>
                  <a:srgbClr val="398ACB"/>
                </a:solidFill>
                <a:effectLst/>
                <a:uLnTx/>
                <a:uFillTx/>
                <a:latin typeface="Verdana"/>
                <a:ea typeface="+mn-ea"/>
                <a:cs typeface="Arial" charset="0"/>
              </a:rPr>
              <a:t>)</a:t>
            </a:r>
            <a:r>
              <a:rPr kumimoji="0" lang="ru-RU" sz="1300" b="0" i="0" u="none" strike="noStrike" kern="1200" cap="none" spc="0" normalizeH="0" baseline="30000" noProof="0" dirty="0">
                <a:ln>
                  <a:noFill/>
                </a:ln>
                <a:solidFill>
                  <a:srgbClr val="398ACB"/>
                </a:solidFill>
                <a:effectLst/>
                <a:uLnTx/>
                <a:uFillTx/>
                <a:latin typeface="Verdana"/>
                <a:ea typeface="+mn-ea"/>
                <a:cs typeface="Arial" charset="0"/>
              </a:rPr>
              <a:t>2</a:t>
            </a:r>
            <a:br>
              <a:rPr kumimoji="0" lang="en-US" sz="1300" b="0" i="0" u="none" strike="noStrike" kern="1200" cap="none" spc="0" normalizeH="0" baseline="0" noProof="0" dirty="0">
                <a:ln>
                  <a:noFill/>
                </a:ln>
                <a:solidFill>
                  <a:srgbClr val="398ACB"/>
                </a:solidFill>
                <a:effectLst/>
                <a:uLnTx/>
                <a:uFillTx/>
                <a:latin typeface="Verdana"/>
                <a:ea typeface="+mn-ea"/>
                <a:cs typeface="Arial" charset="0"/>
              </a:rPr>
            </a:br>
            <a:r>
              <a:rPr kumimoji="0" lang="ru-RU" sz="1300" b="0" i="0" u="none" strike="noStrike" kern="1200" cap="none" spc="0" normalizeH="0" baseline="0" noProof="0" dirty="0">
                <a:ln>
                  <a:noFill/>
                </a:ln>
                <a:solidFill>
                  <a:srgbClr val="398ACB"/>
                </a:solidFill>
                <a:effectLst/>
                <a:uLnTx/>
                <a:uFillTx/>
                <a:latin typeface="Verdana"/>
                <a:ea typeface="+mn-ea"/>
                <a:cs typeface="+mn-cs"/>
              </a:rPr>
              <a:t>Длительное последующее наблюдение 317 пациентов со стабильной стенокардией, рандомизированных по группам, </a:t>
            </a:r>
            <a:br>
              <a:rPr kumimoji="0" lang="ru-RU" sz="1300" b="0" i="0" u="none" strike="noStrike" kern="1200" cap="none" spc="0" normalizeH="0" baseline="0" noProof="0" dirty="0">
                <a:ln>
                  <a:noFill/>
                </a:ln>
                <a:solidFill>
                  <a:srgbClr val="398ACB"/>
                </a:solidFill>
                <a:effectLst/>
                <a:uLnTx/>
                <a:uFillTx/>
                <a:latin typeface="Verdana"/>
                <a:ea typeface="+mn-ea"/>
                <a:cs typeface="+mn-cs"/>
              </a:rPr>
            </a:br>
            <a:r>
              <a:rPr kumimoji="0" lang="ru-RU" sz="1300" b="0" i="0" u="none" strike="noStrike" kern="1200" cap="none" spc="0" normalizeH="0" baseline="0" noProof="0" dirty="0">
                <a:ln>
                  <a:noFill/>
                </a:ln>
                <a:solidFill>
                  <a:srgbClr val="398ACB"/>
                </a:solidFill>
                <a:effectLst/>
                <a:uLnTx/>
                <a:uFillTx/>
                <a:latin typeface="Verdana"/>
                <a:ea typeface="+mn-ea"/>
                <a:cs typeface="+mn-cs"/>
              </a:rPr>
              <a:t>получавших в рамках двойного слепого исследования </a:t>
            </a:r>
            <a:r>
              <a:rPr kumimoji="0" lang="ru-RU" sz="1300" b="0" i="0" u="none" strike="noStrike" kern="1200" cap="none" spc="0" normalizeH="0" baseline="0" noProof="0" dirty="0" err="1">
                <a:ln>
                  <a:noFill/>
                </a:ln>
                <a:solidFill>
                  <a:srgbClr val="398ACB"/>
                </a:solidFill>
                <a:effectLst/>
                <a:uLnTx/>
                <a:uFillTx/>
                <a:latin typeface="Verdana"/>
                <a:ea typeface="+mn-ea"/>
                <a:cs typeface="+mn-cs"/>
              </a:rPr>
              <a:t>бисопролол</a:t>
            </a:r>
            <a:r>
              <a:rPr kumimoji="0" lang="ru-RU" sz="1300" b="0" i="0" u="none" strike="noStrike" kern="1200" cap="none" spc="0" normalizeH="0" baseline="0" noProof="0" dirty="0">
                <a:ln>
                  <a:noFill/>
                </a:ln>
                <a:solidFill>
                  <a:srgbClr val="398ACB"/>
                </a:solidFill>
                <a:effectLst/>
                <a:uLnTx/>
                <a:uFillTx/>
                <a:latin typeface="Verdana"/>
                <a:ea typeface="+mn-ea"/>
                <a:cs typeface="+mn-cs"/>
              </a:rPr>
              <a:t> либо </a:t>
            </a:r>
            <a:r>
              <a:rPr kumimoji="0" lang="ru-RU" sz="1300" b="0" i="0" u="none" strike="noStrike" kern="1200" cap="none" spc="0" normalizeH="0" baseline="0" noProof="0" dirty="0" err="1">
                <a:ln>
                  <a:noFill/>
                </a:ln>
                <a:solidFill>
                  <a:srgbClr val="398ACB"/>
                </a:solidFill>
                <a:effectLst/>
                <a:uLnTx/>
                <a:uFillTx/>
                <a:latin typeface="Verdana"/>
                <a:ea typeface="+mn-ea"/>
                <a:cs typeface="+mn-cs"/>
              </a:rPr>
              <a:t>нифедипин</a:t>
            </a:r>
            <a:r>
              <a:rPr kumimoji="0" lang="ru-RU" sz="1300" b="0" i="0" u="none" strike="noStrike" kern="1200" cap="none" spc="0" normalizeH="0" baseline="0" noProof="0" dirty="0">
                <a:ln>
                  <a:noFill/>
                </a:ln>
                <a:solidFill>
                  <a:srgbClr val="398ACB"/>
                </a:solidFill>
                <a:effectLst/>
                <a:uLnTx/>
                <a:uFillTx/>
                <a:latin typeface="Verdana"/>
                <a:ea typeface="+mn-ea"/>
                <a:cs typeface="+mn-cs"/>
              </a:rPr>
              <a:t> в течение 8 недель</a:t>
            </a:r>
            <a:r>
              <a:rPr kumimoji="0" lang="ru-RU" sz="1300" b="0" i="0" u="none" strike="noStrike" kern="1200" cap="none" spc="0" normalizeH="0" baseline="30000" noProof="0" dirty="0">
                <a:ln>
                  <a:noFill/>
                </a:ln>
                <a:solidFill>
                  <a:srgbClr val="398ACB"/>
                </a:solidFill>
                <a:effectLst/>
                <a:uLnTx/>
                <a:uFillTx/>
                <a:latin typeface="Verdana"/>
                <a:ea typeface="+mn-ea"/>
                <a:cs typeface="+mn-cs"/>
              </a:rPr>
              <a:t>†2</a:t>
            </a:r>
            <a:endParaRPr kumimoji="0" lang="en-US" sz="1300" b="0" i="0" u="none" strike="noStrike" kern="1200" cap="none" spc="0" normalizeH="0" baseline="30000" noProof="0" dirty="0">
              <a:ln>
                <a:noFill/>
              </a:ln>
              <a:solidFill>
                <a:srgbClr val="398ACB"/>
              </a:solidFill>
              <a:effectLst/>
              <a:uLnTx/>
              <a:uFillTx/>
              <a:latin typeface="Verdana"/>
              <a:ea typeface="+mn-ea"/>
              <a:cs typeface="Arial" charset="0"/>
            </a:endParaRPr>
          </a:p>
        </p:txBody>
      </p:sp>
      <p:sp>
        <p:nvSpPr>
          <p:cNvPr id="13" name="Freihandform 12"/>
          <p:cNvSpPr/>
          <p:nvPr>
            <p:custDataLst>
              <p:tags r:id="rId3"/>
            </p:custDataLst>
          </p:nvPr>
        </p:nvSpPr>
        <p:spPr bwMode="gray">
          <a:xfrm>
            <a:off x="3223464" y="5459266"/>
            <a:ext cx="2083855" cy="409717"/>
          </a:xfrm>
          <a:custGeom>
            <a:avLst/>
            <a:gdLst>
              <a:gd name="connsiteX0" fmla="*/ 0 w 2083855"/>
              <a:gd name="connsiteY0" fmla="*/ 409717 h 409717"/>
              <a:gd name="connsiteX1" fmla="*/ 59693 w 2083855"/>
              <a:gd name="connsiteY1" fmla="*/ 409717 h 409717"/>
              <a:gd name="connsiteX2" fmla="*/ 59693 w 2083855"/>
              <a:gd name="connsiteY2" fmla="*/ 293043 h 409717"/>
              <a:gd name="connsiteX3" fmla="*/ 59693 w 2083855"/>
              <a:gd name="connsiteY3" fmla="*/ 293043 h 409717"/>
              <a:gd name="connsiteX4" fmla="*/ 754312 w 2083855"/>
              <a:gd name="connsiteY4" fmla="*/ 293043 h 409717"/>
              <a:gd name="connsiteX5" fmla="*/ 1267135 w 2083855"/>
              <a:gd name="connsiteY5" fmla="*/ 293043 h 409717"/>
              <a:gd name="connsiteX6" fmla="*/ 1267135 w 2083855"/>
              <a:gd name="connsiteY6" fmla="*/ 143808 h 409717"/>
              <a:gd name="connsiteX7" fmla="*/ 1462497 w 2083855"/>
              <a:gd name="connsiteY7" fmla="*/ 143808 h 409717"/>
              <a:gd name="connsiteX8" fmla="*/ 1462497 w 2083855"/>
              <a:gd name="connsiteY8" fmla="*/ 5427 h 409717"/>
              <a:gd name="connsiteX9" fmla="*/ 2083855 w 2083855"/>
              <a:gd name="connsiteY9" fmla="*/ 0 h 40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83855" h="409717">
                <a:moveTo>
                  <a:pt x="0" y="409717"/>
                </a:moveTo>
                <a:lnTo>
                  <a:pt x="59693" y="409717"/>
                </a:lnTo>
                <a:lnTo>
                  <a:pt x="59693" y="293043"/>
                </a:lnTo>
                <a:lnTo>
                  <a:pt x="59693" y="293043"/>
                </a:lnTo>
                <a:lnTo>
                  <a:pt x="754312" y="293043"/>
                </a:lnTo>
                <a:lnTo>
                  <a:pt x="1267135" y="293043"/>
                </a:lnTo>
                <a:lnTo>
                  <a:pt x="1267135" y="143808"/>
                </a:lnTo>
                <a:lnTo>
                  <a:pt x="1462497" y="143808"/>
                </a:lnTo>
                <a:lnTo>
                  <a:pt x="1462497" y="5427"/>
                </a:lnTo>
                <a:lnTo>
                  <a:pt x="2083855" y="0"/>
                </a:lnTo>
              </a:path>
            </a:pathLst>
          </a:custGeom>
          <a:no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a:ea typeface="+mn-ea"/>
              <a:cs typeface="+mn-cs"/>
            </a:endParaRPr>
          </a:p>
        </p:txBody>
      </p:sp>
      <p:sp>
        <p:nvSpPr>
          <p:cNvPr id="2" name="Textfeld 1"/>
          <p:cNvSpPr txBox="1"/>
          <p:nvPr>
            <p:custDataLst>
              <p:tags r:id="rId4"/>
            </p:custDataLst>
          </p:nvPr>
        </p:nvSpPr>
        <p:spPr bwMode="gray">
          <a:xfrm>
            <a:off x="924971" y="5710152"/>
            <a:ext cx="1077717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03291"/>
              </a:buClr>
              <a:buSzTx/>
              <a:buFontTx/>
              <a:buNone/>
              <a:tabLst/>
              <a:defRPr/>
            </a:pPr>
            <a:r>
              <a:rPr kumimoji="0" lang="ru-RU" sz="1200" b="0" i="0" u="none" strike="noStrike" kern="1200" cap="none" spc="0" normalizeH="0" baseline="30000" noProof="0" dirty="0">
                <a:ln>
                  <a:noFill/>
                </a:ln>
                <a:solidFill>
                  <a:srgbClr val="265374"/>
                </a:solidFill>
                <a:effectLst/>
                <a:uLnTx/>
                <a:uFillTx/>
                <a:latin typeface="Verdana"/>
                <a:ea typeface="+mn-ea"/>
                <a:cs typeface="+mn-cs"/>
              </a:rPr>
              <a:t>†</a:t>
            </a:r>
            <a:r>
              <a:rPr kumimoji="0" lang="ru-RU" sz="1200" b="0" i="0" u="none" strike="noStrike" kern="1200" cap="none" spc="0" normalizeH="0" baseline="0" noProof="0" dirty="0">
                <a:ln>
                  <a:noFill/>
                </a:ln>
                <a:solidFill>
                  <a:srgbClr val="265374"/>
                </a:solidFill>
                <a:effectLst/>
                <a:uLnTx/>
                <a:uFillTx/>
                <a:latin typeface="Verdana"/>
                <a:ea typeface="+mn-ea"/>
                <a:cs typeface="+mn-cs"/>
              </a:rPr>
              <a:t>По окончании 8 недель двойного слепого приема препаратов лечение пациентов продолжали на усмотрение их лечащих врачей</a:t>
            </a:r>
            <a:r>
              <a:rPr kumimoji="0" lang="ru-RU" sz="1200" b="0" i="0" u="none" strike="noStrike" kern="1200" cap="none" spc="0" normalizeH="0" baseline="30000" noProof="0" dirty="0">
                <a:ln>
                  <a:noFill/>
                </a:ln>
                <a:solidFill>
                  <a:srgbClr val="265374"/>
                </a:solidFill>
                <a:effectLst/>
                <a:uLnTx/>
                <a:uFillTx/>
                <a:latin typeface="Verdana"/>
                <a:ea typeface="+mn-ea"/>
                <a:cs typeface="+mn-cs"/>
              </a:rPr>
              <a:t>2</a:t>
            </a:r>
          </a:p>
        </p:txBody>
      </p:sp>
      <p:grpSp>
        <p:nvGrpSpPr>
          <p:cNvPr id="22" name="Группа 21">
            <a:extLst>
              <a:ext uri="{FF2B5EF4-FFF2-40B4-BE49-F238E27FC236}">
                <a16:creationId xmlns:a16="http://schemas.microsoft.com/office/drawing/2014/main" id="{21E6DF7B-302E-1811-7E15-EF38D3F97928}"/>
              </a:ext>
            </a:extLst>
          </p:cNvPr>
          <p:cNvGrpSpPr/>
          <p:nvPr/>
        </p:nvGrpSpPr>
        <p:grpSpPr>
          <a:xfrm>
            <a:off x="885616" y="2189031"/>
            <a:ext cx="10357707" cy="3429471"/>
            <a:chOff x="885616" y="2139621"/>
            <a:chExt cx="10357707" cy="3479008"/>
          </a:xfrm>
        </p:grpSpPr>
        <p:sp>
          <p:nvSpPr>
            <p:cNvPr id="225" name="Freeform 22"/>
            <p:cNvSpPr>
              <a:spLocks/>
            </p:cNvSpPr>
            <p:nvPr>
              <p:custDataLst>
                <p:tags r:id="rId6"/>
              </p:custDataLst>
            </p:nvPr>
          </p:nvSpPr>
          <p:spPr bwMode="auto">
            <a:xfrm>
              <a:off x="2062128" y="2317927"/>
              <a:ext cx="7248945" cy="1730099"/>
            </a:xfrm>
            <a:custGeom>
              <a:avLst/>
              <a:gdLst>
                <a:gd name="T0" fmla="*/ 396 w 5541"/>
                <a:gd name="T1" fmla="*/ 77 h 1261"/>
                <a:gd name="T2" fmla="*/ 229 w 5541"/>
                <a:gd name="T3" fmla="*/ 30 h 1261"/>
                <a:gd name="T4" fmla="*/ 285 w 5541"/>
                <a:gd name="T5" fmla="*/ 12 h 1261"/>
                <a:gd name="T6" fmla="*/ 440 w 5541"/>
                <a:gd name="T7" fmla="*/ 51 h 1261"/>
                <a:gd name="T8" fmla="*/ 489 w 5541"/>
                <a:gd name="T9" fmla="*/ 81 h 1261"/>
                <a:gd name="T10" fmla="*/ 979 w 5541"/>
                <a:gd name="T11" fmla="*/ 107 h 1261"/>
                <a:gd name="T12" fmla="*/ 1053 w 5541"/>
                <a:gd name="T13" fmla="*/ 141 h 1261"/>
                <a:gd name="T14" fmla="*/ 1376 w 5541"/>
                <a:gd name="T15" fmla="*/ 184 h 1261"/>
                <a:gd name="T16" fmla="*/ 1512 w 5541"/>
                <a:gd name="T17" fmla="*/ 213 h 1261"/>
                <a:gd name="T18" fmla="*/ 1617 w 5541"/>
                <a:gd name="T19" fmla="*/ 243 h 1261"/>
                <a:gd name="T20" fmla="*/ 1717 w 5541"/>
                <a:gd name="T21" fmla="*/ 286 h 1261"/>
                <a:gd name="T22" fmla="*/ 1903 w 5541"/>
                <a:gd name="T23" fmla="*/ 372 h 1261"/>
                <a:gd name="T24" fmla="*/ 1989 w 5541"/>
                <a:gd name="T25" fmla="*/ 406 h 1261"/>
                <a:gd name="T26" fmla="*/ 2070 w 5541"/>
                <a:gd name="T27" fmla="*/ 436 h 1261"/>
                <a:gd name="T28" fmla="*/ 2237 w 5541"/>
                <a:gd name="T29" fmla="*/ 466 h 1261"/>
                <a:gd name="T30" fmla="*/ 2305 w 5541"/>
                <a:gd name="T31" fmla="*/ 496 h 1261"/>
                <a:gd name="T32" fmla="*/ 2789 w 5541"/>
                <a:gd name="T33" fmla="*/ 564 h 1261"/>
                <a:gd name="T34" fmla="*/ 2863 w 5541"/>
                <a:gd name="T35" fmla="*/ 594 h 1261"/>
                <a:gd name="T36" fmla="*/ 3012 w 5541"/>
                <a:gd name="T37" fmla="*/ 632 h 1261"/>
                <a:gd name="T38" fmla="*/ 3068 w 5541"/>
                <a:gd name="T39" fmla="*/ 714 h 1261"/>
                <a:gd name="T40" fmla="*/ 3142 w 5541"/>
                <a:gd name="T41" fmla="*/ 752 h 1261"/>
                <a:gd name="T42" fmla="*/ 3372 w 5541"/>
                <a:gd name="T43" fmla="*/ 782 h 1261"/>
                <a:gd name="T44" fmla="*/ 3471 w 5541"/>
                <a:gd name="T45" fmla="*/ 872 h 1261"/>
                <a:gd name="T46" fmla="*/ 3582 w 5541"/>
                <a:gd name="T47" fmla="*/ 915 h 1261"/>
                <a:gd name="T48" fmla="*/ 3948 w 5541"/>
                <a:gd name="T49" fmla="*/ 945 h 1261"/>
                <a:gd name="T50" fmla="*/ 4060 w 5541"/>
                <a:gd name="T51" fmla="*/ 987 h 1261"/>
                <a:gd name="T52" fmla="*/ 4196 w 5541"/>
                <a:gd name="T53" fmla="*/ 1000 h 1261"/>
                <a:gd name="T54" fmla="*/ 4816 w 5541"/>
                <a:gd name="T55" fmla="*/ 1056 h 1261"/>
                <a:gd name="T56" fmla="*/ 4977 w 5541"/>
                <a:gd name="T57" fmla="*/ 1120 h 1261"/>
                <a:gd name="T58" fmla="*/ 5250 w 5541"/>
                <a:gd name="T59" fmla="*/ 1154 h 1261"/>
                <a:gd name="T60" fmla="*/ 5293 w 5541"/>
                <a:gd name="T61" fmla="*/ 1205 h 1261"/>
                <a:gd name="T62" fmla="*/ 5529 w 5541"/>
                <a:gd name="T63" fmla="*/ 1231 h 1261"/>
                <a:gd name="T64" fmla="*/ 5318 w 5541"/>
                <a:gd name="T65" fmla="*/ 1235 h 1261"/>
                <a:gd name="T66" fmla="*/ 5213 w 5541"/>
                <a:gd name="T67" fmla="*/ 1210 h 1261"/>
                <a:gd name="T68" fmla="*/ 5033 w 5541"/>
                <a:gd name="T69" fmla="*/ 1171 h 1261"/>
                <a:gd name="T70" fmla="*/ 4921 w 5541"/>
                <a:gd name="T71" fmla="*/ 1107 h 1261"/>
                <a:gd name="T72" fmla="*/ 4766 w 5541"/>
                <a:gd name="T73" fmla="*/ 1073 h 1261"/>
                <a:gd name="T74" fmla="*/ 4134 w 5541"/>
                <a:gd name="T75" fmla="*/ 1030 h 1261"/>
                <a:gd name="T76" fmla="*/ 3991 w 5541"/>
                <a:gd name="T77" fmla="*/ 992 h 1261"/>
                <a:gd name="T78" fmla="*/ 3719 w 5541"/>
                <a:gd name="T79" fmla="*/ 962 h 1261"/>
                <a:gd name="T80" fmla="*/ 3514 w 5541"/>
                <a:gd name="T81" fmla="*/ 910 h 1261"/>
                <a:gd name="T82" fmla="*/ 3359 w 5541"/>
                <a:gd name="T83" fmla="*/ 885 h 1261"/>
                <a:gd name="T84" fmla="*/ 3235 w 5541"/>
                <a:gd name="T85" fmla="*/ 795 h 1261"/>
                <a:gd name="T86" fmla="*/ 3049 w 5541"/>
                <a:gd name="T87" fmla="*/ 756 h 1261"/>
                <a:gd name="T88" fmla="*/ 3012 w 5541"/>
                <a:gd name="T89" fmla="*/ 692 h 1261"/>
                <a:gd name="T90" fmla="*/ 2956 w 5541"/>
                <a:gd name="T91" fmla="*/ 645 h 1261"/>
                <a:gd name="T92" fmla="*/ 2783 w 5541"/>
                <a:gd name="T93" fmla="*/ 620 h 1261"/>
                <a:gd name="T94" fmla="*/ 2721 w 5541"/>
                <a:gd name="T95" fmla="*/ 573 h 1261"/>
                <a:gd name="T96" fmla="*/ 2237 w 5541"/>
                <a:gd name="T97" fmla="*/ 517 h 1261"/>
                <a:gd name="T98" fmla="*/ 2175 w 5541"/>
                <a:gd name="T99" fmla="*/ 483 h 1261"/>
                <a:gd name="T100" fmla="*/ 2008 w 5541"/>
                <a:gd name="T101" fmla="*/ 444 h 1261"/>
                <a:gd name="T102" fmla="*/ 1884 w 5541"/>
                <a:gd name="T103" fmla="*/ 414 h 1261"/>
                <a:gd name="T104" fmla="*/ 1692 w 5541"/>
                <a:gd name="T105" fmla="*/ 376 h 1261"/>
                <a:gd name="T106" fmla="*/ 1593 w 5541"/>
                <a:gd name="T107" fmla="*/ 290 h 1261"/>
                <a:gd name="T108" fmla="*/ 1487 w 5541"/>
                <a:gd name="T109" fmla="*/ 248 h 1261"/>
                <a:gd name="T110" fmla="*/ 1345 w 5541"/>
                <a:gd name="T111" fmla="*/ 213 h 1261"/>
                <a:gd name="T112" fmla="*/ 1022 w 5541"/>
                <a:gd name="T113" fmla="*/ 192 h 1261"/>
                <a:gd name="T114" fmla="*/ 936 w 5541"/>
                <a:gd name="T115" fmla="*/ 154 h 1261"/>
                <a:gd name="T116" fmla="*/ 477 w 5541"/>
                <a:gd name="T117" fmla="*/ 115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541" h="1261">
                  <a:moveTo>
                    <a:pt x="446" y="107"/>
                  </a:moveTo>
                  <a:lnTo>
                    <a:pt x="446" y="107"/>
                  </a:lnTo>
                  <a:lnTo>
                    <a:pt x="446" y="102"/>
                  </a:lnTo>
                  <a:lnTo>
                    <a:pt x="440" y="102"/>
                  </a:lnTo>
                  <a:lnTo>
                    <a:pt x="440" y="102"/>
                  </a:lnTo>
                  <a:lnTo>
                    <a:pt x="433" y="94"/>
                  </a:lnTo>
                  <a:lnTo>
                    <a:pt x="427" y="89"/>
                  </a:lnTo>
                  <a:lnTo>
                    <a:pt x="427" y="89"/>
                  </a:lnTo>
                  <a:lnTo>
                    <a:pt x="421" y="85"/>
                  </a:lnTo>
                  <a:lnTo>
                    <a:pt x="415" y="85"/>
                  </a:lnTo>
                  <a:lnTo>
                    <a:pt x="415" y="85"/>
                  </a:lnTo>
                  <a:lnTo>
                    <a:pt x="402" y="85"/>
                  </a:lnTo>
                  <a:lnTo>
                    <a:pt x="396" y="81"/>
                  </a:lnTo>
                  <a:lnTo>
                    <a:pt x="396" y="77"/>
                  </a:lnTo>
                  <a:lnTo>
                    <a:pt x="396" y="77"/>
                  </a:lnTo>
                  <a:lnTo>
                    <a:pt x="396" y="72"/>
                  </a:lnTo>
                  <a:lnTo>
                    <a:pt x="390" y="68"/>
                  </a:lnTo>
                  <a:lnTo>
                    <a:pt x="378" y="68"/>
                  </a:lnTo>
                  <a:lnTo>
                    <a:pt x="378" y="68"/>
                  </a:lnTo>
                  <a:lnTo>
                    <a:pt x="254" y="68"/>
                  </a:lnTo>
                  <a:lnTo>
                    <a:pt x="254" y="68"/>
                  </a:lnTo>
                  <a:lnTo>
                    <a:pt x="241" y="68"/>
                  </a:lnTo>
                  <a:lnTo>
                    <a:pt x="241" y="60"/>
                  </a:lnTo>
                  <a:lnTo>
                    <a:pt x="241" y="60"/>
                  </a:lnTo>
                  <a:lnTo>
                    <a:pt x="241" y="38"/>
                  </a:lnTo>
                  <a:lnTo>
                    <a:pt x="241" y="38"/>
                  </a:lnTo>
                  <a:lnTo>
                    <a:pt x="241" y="30"/>
                  </a:lnTo>
                  <a:lnTo>
                    <a:pt x="229" y="30"/>
                  </a:lnTo>
                  <a:lnTo>
                    <a:pt x="229" y="30"/>
                  </a:lnTo>
                  <a:lnTo>
                    <a:pt x="0" y="30"/>
                  </a:lnTo>
                  <a:lnTo>
                    <a:pt x="0" y="30"/>
                  </a:lnTo>
                  <a:lnTo>
                    <a:pt x="0" y="17"/>
                  </a:lnTo>
                  <a:lnTo>
                    <a:pt x="0" y="17"/>
                  </a:lnTo>
                  <a:lnTo>
                    <a:pt x="0" y="0"/>
                  </a:lnTo>
                  <a:lnTo>
                    <a:pt x="0" y="0"/>
                  </a:lnTo>
                  <a:lnTo>
                    <a:pt x="266" y="0"/>
                  </a:lnTo>
                  <a:lnTo>
                    <a:pt x="266" y="0"/>
                  </a:lnTo>
                  <a:lnTo>
                    <a:pt x="279" y="0"/>
                  </a:lnTo>
                  <a:lnTo>
                    <a:pt x="285" y="12"/>
                  </a:lnTo>
                  <a:lnTo>
                    <a:pt x="285" y="12"/>
                  </a:lnTo>
                  <a:lnTo>
                    <a:pt x="285" y="12"/>
                  </a:lnTo>
                  <a:lnTo>
                    <a:pt x="285" y="12"/>
                  </a:lnTo>
                  <a:lnTo>
                    <a:pt x="285" y="30"/>
                  </a:lnTo>
                  <a:lnTo>
                    <a:pt x="285" y="34"/>
                  </a:lnTo>
                  <a:lnTo>
                    <a:pt x="285" y="42"/>
                  </a:lnTo>
                  <a:lnTo>
                    <a:pt x="285" y="42"/>
                  </a:lnTo>
                  <a:lnTo>
                    <a:pt x="297" y="42"/>
                  </a:lnTo>
                  <a:lnTo>
                    <a:pt x="303" y="42"/>
                  </a:lnTo>
                  <a:lnTo>
                    <a:pt x="328" y="42"/>
                  </a:lnTo>
                  <a:lnTo>
                    <a:pt x="328" y="42"/>
                  </a:lnTo>
                  <a:lnTo>
                    <a:pt x="421" y="42"/>
                  </a:lnTo>
                  <a:lnTo>
                    <a:pt x="421" y="42"/>
                  </a:lnTo>
                  <a:lnTo>
                    <a:pt x="433" y="42"/>
                  </a:lnTo>
                  <a:lnTo>
                    <a:pt x="440" y="47"/>
                  </a:lnTo>
                  <a:lnTo>
                    <a:pt x="440" y="51"/>
                  </a:lnTo>
                  <a:lnTo>
                    <a:pt x="440" y="51"/>
                  </a:lnTo>
                  <a:lnTo>
                    <a:pt x="440" y="55"/>
                  </a:lnTo>
                  <a:lnTo>
                    <a:pt x="440" y="55"/>
                  </a:lnTo>
                  <a:lnTo>
                    <a:pt x="452" y="55"/>
                  </a:lnTo>
                  <a:lnTo>
                    <a:pt x="452" y="55"/>
                  </a:lnTo>
                  <a:lnTo>
                    <a:pt x="464" y="60"/>
                  </a:lnTo>
                  <a:lnTo>
                    <a:pt x="471" y="60"/>
                  </a:lnTo>
                  <a:lnTo>
                    <a:pt x="471" y="68"/>
                  </a:lnTo>
                  <a:lnTo>
                    <a:pt x="471" y="68"/>
                  </a:lnTo>
                  <a:lnTo>
                    <a:pt x="471" y="72"/>
                  </a:lnTo>
                  <a:lnTo>
                    <a:pt x="477" y="72"/>
                  </a:lnTo>
                  <a:lnTo>
                    <a:pt x="477" y="72"/>
                  </a:lnTo>
                  <a:lnTo>
                    <a:pt x="483" y="72"/>
                  </a:lnTo>
                  <a:lnTo>
                    <a:pt x="489" y="81"/>
                  </a:lnTo>
                  <a:lnTo>
                    <a:pt x="489" y="81"/>
                  </a:lnTo>
                  <a:lnTo>
                    <a:pt x="495" y="81"/>
                  </a:lnTo>
                  <a:lnTo>
                    <a:pt x="508" y="81"/>
                  </a:lnTo>
                  <a:lnTo>
                    <a:pt x="508" y="81"/>
                  </a:lnTo>
                  <a:lnTo>
                    <a:pt x="514" y="81"/>
                  </a:lnTo>
                  <a:lnTo>
                    <a:pt x="514" y="85"/>
                  </a:lnTo>
                  <a:lnTo>
                    <a:pt x="514" y="85"/>
                  </a:lnTo>
                  <a:lnTo>
                    <a:pt x="520" y="94"/>
                  </a:lnTo>
                  <a:lnTo>
                    <a:pt x="533" y="94"/>
                  </a:lnTo>
                  <a:lnTo>
                    <a:pt x="533" y="94"/>
                  </a:lnTo>
                  <a:lnTo>
                    <a:pt x="948" y="94"/>
                  </a:lnTo>
                  <a:lnTo>
                    <a:pt x="948" y="94"/>
                  </a:lnTo>
                  <a:lnTo>
                    <a:pt x="967" y="98"/>
                  </a:lnTo>
                  <a:lnTo>
                    <a:pt x="973" y="102"/>
                  </a:lnTo>
                  <a:lnTo>
                    <a:pt x="979" y="107"/>
                  </a:lnTo>
                  <a:lnTo>
                    <a:pt x="979" y="107"/>
                  </a:lnTo>
                  <a:lnTo>
                    <a:pt x="979" y="119"/>
                  </a:lnTo>
                  <a:lnTo>
                    <a:pt x="979" y="119"/>
                  </a:lnTo>
                  <a:lnTo>
                    <a:pt x="979" y="128"/>
                  </a:lnTo>
                  <a:lnTo>
                    <a:pt x="985" y="128"/>
                  </a:lnTo>
                  <a:lnTo>
                    <a:pt x="985" y="128"/>
                  </a:lnTo>
                  <a:lnTo>
                    <a:pt x="991" y="128"/>
                  </a:lnTo>
                  <a:lnTo>
                    <a:pt x="991" y="132"/>
                  </a:lnTo>
                  <a:lnTo>
                    <a:pt x="991" y="132"/>
                  </a:lnTo>
                  <a:lnTo>
                    <a:pt x="998" y="141"/>
                  </a:lnTo>
                  <a:lnTo>
                    <a:pt x="1004" y="141"/>
                  </a:lnTo>
                  <a:lnTo>
                    <a:pt x="1004" y="141"/>
                  </a:lnTo>
                  <a:lnTo>
                    <a:pt x="1053" y="141"/>
                  </a:lnTo>
                  <a:lnTo>
                    <a:pt x="1053" y="141"/>
                  </a:lnTo>
                  <a:lnTo>
                    <a:pt x="1066" y="145"/>
                  </a:lnTo>
                  <a:lnTo>
                    <a:pt x="1066" y="154"/>
                  </a:lnTo>
                  <a:lnTo>
                    <a:pt x="1066" y="154"/>
                  </a:lnTo>
                  <a:lnTo>
                    <a:pt x="1066" y="162"/>
                  </a:lnTo>
                  <a:lnTo>
                    <a:pt x="1072" y="171"/>
                  </a:lnTo>
                  <a:lnTo>
                    <a:pt x="1078" y="171"/>
                  </a:lnTo>
                  <a:lnTo>
                    <a:pt x="1091" y="171"/>
                  </a:lnTo>
                  <a:lnTo>
                    <a:pt x="1091" y="171"/>
                  </a:lnTo>
                  <a:lnTo>
                    <a:pt x="1357" y="171"/>
                  </a:lnTo>
                  <a:lnTo>
                    <a:pt x="1357" y="171"/>
                  </a:lnTo>
                  <a:lnTo>
                    <a:pt x="1369" y="175"/>
                  </a:lnTo>
                  <a:lnTo>
                    <a:pt x="1369" y="175"/>
                  </a:lnTo>
                  <a:lnTo>
                    <a:pt x="1376" y="184"/>
                  </a:lnTo>
                  <a:lnTo>
                    <a:pt x="1376" y="184"/>
                  </a:lnTo>
                  <a:lnTo>
                    <a:pt x="1376" y="184"/>
                  </a:lnTo>
                  <a:lnTo>
                    <a:pt x="1382" y="188"/>
                  </a:lnTo>
                  <a:lnTo>
                    <a:pt x="1382" y="188"/>
                  </a:lnTo>
                  <a:lnTo>
                    <a:pt x="1388" y="188"/>
                  </a:lnTo>
                  <a:lnTo>
                    <a:pt x="1388" y="196"/>
                  </a:lnTo>
                  <a:lnTo>
                    <a:pt x="1388" y="196"/>
                  </a:lnTo>
                  <a:lnTo>
                    <a:pt x="1394" y="201"/>
                  </a:lnTo>
                  <a:lnTo>
                    <a:pt x="1400" y="201"/>
                  </a:lnTo>
                  <a:lnTo>
                    <a:pt x="1400" y="201"/>
                  </a:lnTo>
                  <a:lnTo>
                    <a:pt x="1493" y="201"/>
                  </a:lnTo>
                  <a:lnTo>
                    <a:pt x="1493" y="201"/>
                  </a:lnTo>
                  <a:lnTo>
                    <a:pt x="1506" y="205"/>
                  </a:lnTo>
                  <a:lnTo>
                    <a:pt x="1512" y="209"/>
                  </a:lnTo>
                  <a:lnTo>
                    <a:pt x="1512" y="213"/>
                  </a:lnTo>
                  <a:lnTo>
                    <a:pt x="1512" y="213"/>
                  </a:lnTo>
                  <a:lnTo>
                    <a:pt x="1512" y="218"/>
                  </a:lnTo>
                  <a:lnTo>
                    <a:pt x="1518" y="222"/>
                  </a:lnTo>
                  <a:lnTo>
                    <a:pt x="1518" y="222"/>
                  </a:lnTo>
                  <a:lnTo>
                    <a:pt x="1524" y="222"/>
                  </a:lnTo>
                  <a:lnTo>
                    <a:pt x="1524" y="222"/>
                  </a:lnTo>
                  <a:lnTo>
                    <a:pt x="1531" y="226"/>
                  </a:lnTo>
                  <a:lnTo>
                    <a:pt x="1537" y="231"/>
                  </a:lnTo>
                  <a:lnTo>
                    <a:pt x="1549" y="239"/>
                  </a:lnTo>
                  <a:lnTo>
                    <a:pt x="1549" y="239"/>
                  </a:lnTo>
                  <a:lnTo>
                    <a:pt x="1555" y="243"/>
                  </a:lnTo>
                  <a:lnTo>
                    <a:pt x="1562" y="243"/>
                  </a:lnTo>
                  <a:lnTo>
                    <a:pt x="1562" y="243"/>
                  </a:lnTo>
                  <a:lnTo>
                    <a:pt x="1617" y="243"/>
                  </a:lnTo>
                  <a:lnTo>
                    <a:pt x="1617" y="243"/>
                  </a:lnTo>
                  <a:lnTo>
                    <a:pt x="1630" y="248"/>
                  </a:lnTo>
                  <a:lnTo>
                    <a:pt x="1630" y="256"/>
                  </a:lnTo>
                  <a:lnTo>
                    <a:pt x="1630" y="256"/>
                  </a:lnTo>
                  <a:lnTo>
                    <a:pt x="1630" y="265"/>
                  </a:lnTo>
                  <a:lnTo>
                    <a:pt x="1636" y="273"/>
                  </a:lnTo>
                  <a:lnTo>
                    <a:pt x="1642" y="273"/>
                  </a:lnTo>
                  <a:lnTo>
                    <a:pt x="1661" y="273"/>
                  </a:lnTo>
                  <a:lnTo>
                    <a:pt x="1661" y="273"/>
                  </a:lnTo>
                  <a:lnTo>
                    <a:pt x="1698" y="273"/>
                  </a:lnTo>
                  <a:lnTo>
                    <a:pt x="1698" y="273"/>
                  </a:lnTo>
                  <a:lnTo>
                    <a:pt x="1710" y="273"/>
                  </a:lnTo>
                  <a:lnTo>
                    <a:pt x="1717" y="278"/>
                  </a:lnTo>
                  <a:lnTo>
                    <a:pt x="1717" y="286"/>
                  </a:lnTo>
                  <a:lnTo>
                    <a:pt x="1717" y="286"/>
                  </a:lnTo>
                  <a:lnTo>
                    <a:pt x="1717" y="342"/>
                  </a:lnTo>
                  <a:lnTo>
                    <a:pt x="1717" y="342"/>
                  </a:lnTo>
                  <a:lnTo>
                    <a:pt x="1723" y="346"/>
                  </a:lnTo>
                  <a:lnTo>
                    <a:pt x="1729" y="350"/>
                  </a:lnTo>
                  <a:lnTo>
                    <a:pt x="1729" y="350"/>
                  </a:lnTo>
                  <a:lnTo>
                    <a:pt x="1872" y="346"/>
                  </a:lnTo>
                  <a:lnTo>
                    <a:pt x="1872" y="346"/>
                  </a:lnTo>
                  <a:lnTo>
                    <a:pt x="1890" y="350"/>
                  </a:lnTo>
                  <a:lnTo>
                    <a:pt x="1890" y="355"/>
                  </a:lnTo>
                  <a:lnTo>
                    <a:pt x="1890" y="363"/>
                  </a:lnTo>
                  <a:lnTo>
                    <a:pt x="1890" y="363"/>
                  </a:lnTo>
                  <a:lnTo>
                    <a:pt x="1890" y="367"/>
                  </a:lnTo>
                  <a:lnTo>
                    <a:pt x="1903" y="372"/>
                  </a:lnTo>
                  <a:lnTo>
                    <a:pt x="1903" y="372"/>
                  </a:lnTo>
                  <a:lnTo>
                    <a:pt x="1909" y="372"/>
                  </a:lnTo>
                  <a:lnTo>
                    <a:pt x="1909" y="376"/>
                  </a:lnTo>
                  <a:lnTo>
                    <a:pt x="1909" y="376"/>
                  </a:lnTo>
                  <a:lnTo>
                    <a:pt x="1915" y="384"/>
                  </a:lnTo>
                  <a:lnTo>
                    <a:pt x="1927" y="384"/>
                  </a:lnTo>
                  <a:lnTo>
                    <a:pt x="1927" y="384"/>
                  </a:lnTo>
                  <a:lnTo>
                    <a:pt x="1971" y="384"/>
                  </a:lnTo>
                  <a:lnTo>
                    <a:pt x="1971" y="384"/>
                  </a:lnTo>
                  <a:lnTo>
                    <a:pt x="1983" y="384"/>
                  </a:lnTo>
                  <a:lnTo>
                    <a:pt x="1983" y="393"/>
                  </a:lnTo>
                  <a:lnTo>
                    <a:pt x="1983" y="393"/>
                  </a:lnTo>
                  <a:lnTo>
                    <a:pt x="1983" y="402"/>
                  </a:lnTo>
                  <a:lnTo>
                    <a:pt x="1989" y="406"/>
                  </a:lnTo>
                  <a:lnTo>
                    <a:pt x="1995" y="406"/>
                  </a:lnTo>
                  <a:lnTo>
                    <a:pt x="1995" y="406"/>
                  </a:lnTo>
                  <a:lnTo>
                    <a:pt x="1995" y="406"/>
                  </a:lnTo>
                  <a:lnTo>
                    <a:pt x="1995" y="406"/>
                  </a:lnTo>
                  <a:lnTo>
                    <a:pt x="2002" y="414"/>
                  </a:lnTo>
                  <a:lnTo>
                    <a:pt x="2008" y="419"/>
                  </a:lnTo>
                  <a:lnTo>
                    <a:pt x="2026" y="419"/>
                  </a:lnTo>
                  <a:lnTo>
                    <a:pt x="2026" y="419"/>
                  </a:lnTo>
                  <a:lnTo>
                    <a:pt x="2051" y="419"/>
                  </a:lnTo>
                  <a:lnTo>
                    <a:pt x="2051" y="419"/>
                  </a:lnTo>
                  <a:lnTo>
                    <a:pt x="2064" y="419"/>
                  </a:lnTo>
                  <a:lnTo>
                    <a:pt x="2070" y="427"/>
                  </a:lnTo>
                  <a:lnTo>
                    <a:pt x="2070" y="427"/>
                  </a:lnTo>
                  <a:lnTo>
                    <a:pt x="2070" y="436"/>
                  </a:lnTo>
                  <a:lnTo>
                    <a:pt x="2070" y="436"/>
                  </a:lnTo>
                  <a:lnTo>
                    <a:pt x="2070" y="444"/>
                  </a:lnTo>
                  <a:lnTo>
                    <a:pt x="2082" y="444"/>
                  </a:lnTo>
                  <a:lnTo>
                    <a:pt x="2082" y="444"/>
                  </a:lnTo>
                  <a:lnTo>
                    <a:pt x="2200" y="444"/>
                  </a:lnTo>
                  <a:lnTo>
                    <a:pt x="2200" y="444"/>
                  </a:lnTo>
                  <a:lnTo>
                    <a:pt x="2212" y="444"/>
                  </a:lnTo>
                  <a:lnTo>
                    <a:pt x="2219" y="449"/>
                  </a:lnTo>
                  <a:lnTo>
                    <a:pt x="2219" y="457"/>
                  </a:lnTo>
                  <a:lnTo>
                    <a:pt x="2219" y="457"/>
                  </a:lnTo>
                  <a:lnTo>
                    <a:pt x="2219" y="461"/>
                  </a:lnTo>
                  <a:lnTo>
                    <a:pt x="2225" y="461"/>
                  </a:lnTo>
                  <a:lnTo>
                    <a:pt x="2225" y="461"/>
                  </a:lnTo>
                  <a:lnTo>
                    <a:pt x="2237" y="466"/>
                  </a:lnTo>
                  <a:lnTo>
                    <a:pt x="2243" y="474"/>
                  </a:lnTo>
                  <a:lnTo>
                    <a:pt x="2243" y="474"/>
                  </a:lnTo>
                  <a:lnTo>
                    <a:pt x="2243" y="479"/>
                  </a:lnTo>
                  <a:lnTo>
                    <a:pt x="2256" y="483"/>
                  </a:lnTo>
                  <a:lnTo>
                    <a:pt x="2256" y="483"/>
                  </a:lnTo>
                  <a:lnTo>
                    <a:pt x="2268" y="483"/>
                  </a:lnTo>
                  <a:lnTo>
                    <a:pt x="2274" y="487"/>
                  </a:lnTo>
                  <a:lnTo>
                    <a:pt x="2274" y="491"/>
                  </a:lnTo>
                  <a:lnTo>
                    <a:pt x="2274" y="491"/>
                  </a:lnTo>
                  <a:lnTo>
                    <a:pt x="2274" y="496"/>
                  </a:lnTo>
                  <a:lnTo>
                    <a:pt x="2281" y="496"/>
                  </a:lnTo>
                  <a:lnTo>
                    <a:pt x="2281" y="496"/>
                  </a:lnTo>
                  <a:lnTo>
                    <a:pt x="2305" y="496"/>
                  </a:lnTo>
                  <a:lnTo>
                    <a:pt x="2305" y="496"/>
                  </a:lnTo>
                  <a:lnTo>
                    <a:pt x="2739" y="496"/>
                  </a:lnTo>
                  <a:lnTo>
                    <a:pt x="2739" y="496"/>
                  </a:lnTo>
                  <a:lnTo>
                    <a:pt x="2758" y="500"/>
                  </a:lnTo>
                  <a:lnTo>
                    <a:pt x="2758" y="508"/>
                  </a:lnTo>
                  <a:lnTo>
                    <a:pt x="2758" y="508"/>
                  </a:lnTo>
                  <a:lnTo>
                    <a:pt x="2758" y="538"/>
                  </a:lnTo>
                  <a:lnTo>
                    <a:pt x="2758" y="538"/>
                  </a:lnTo>
                  <a:lnTo>
                    <a:pt x="2764" y="543"/>
                  </a:lnTo>
                  <a:lnTo>
                    <a:pt x="2770" y="547"/>
                  </a:lnTo>
                  <a:lnTo>
                    <a:pt x="2770" y="547"/>
                  </a:lnTo>
                  <a:lnTo>
                    <a:pt x="2783" y="547"/>
                  </a:lnTo>
                  <a:lnTo>
                    <a:pt x="2789" y="555"/>
                  </a:lnTo>
                  <a:lnTo>
                    <a:pt x="2789" y="555"/>
                  </a:lnTo>
                  <a:lnTo>
                    <a:pt x="2789" y="564"/>
                  </a:lnTo>
                  <a:lnTo>
                    <a:pt x="2801" y="564"/>
                  </a:lnTo>
                  <a:lnTo>
                    <a:pt x="2801" y="564"/>
                  </a:lnTo>
                  <a:lnTo>
                    <a:pt x="2808" y="568"/>
                  </a:lnTo>
                  <a:lnTo>
                    <a:pt x="2808" y="568"/>
                  </a:lnTo>
                  <a:lnTo>
                    <a:pt x="2808" y="577"/>
                  </a:lnTo>
                  <a:lnTo>
                    <a:pt x="2808" y="577"/>
                  </a:lnTo>
                  <a:lnTo>
                    <a:pt x="2814" y="590"/>
                  </a:lnTo>
                  <a:lnTo>
                    <a:pt x="2820" y="590"/>
                  </a:lnTo>
                  <a:lnTo>
                    <a:pt x="2826" y="590"/>
                  </a:lnTo>
                  <a:lnTo>
                    <a:pt x="2826" y="590"/>
                  </a:lnTo>
                  <a:lnTo>
                    <a:pt x="2838" y="590"/>
                  </a:lnTo>
                  <a:lnTo>
                    <a:pt x="2838" y="590"/>
                  </a:lnTo>
                  <a:lnTo>
                    <a:pt x="2857" y="590"/>
                  </a:lnTo>
                  <a:lnTo>
                    <a:pt x="2863" y="594"/>
                  </a:lnTo>
                  <a:lnTo>
                    <a:pt x="2869" y="598"/>
                  </a:lnTo>
                  <a:lnTo>
                    <a:pt x="2869" y="611"/>
                  </a:lnTo>
                  <a:lnTo>
                    <a:pt x="2869" y="611"/>
                  </a:lnTo>
                  <a:lnTo>
                    <a:pt x="2876" y="615"/>
                  </a:lnTo>
                  <a:lnTo>
                    <a:pt x="2882" y="615"/>
                  </a:lnTo>
                  <a:lnTo>
                    <a:pt x="2882" y="615"/>
                  </a:lnTo>
                  <a:lnTo>
                    <a:pt x="2987" y="615"/>
                  </a:lnTo>
                  <a:lnTo>
                    <a:pt x="2987" y="615"/>
                  </a:lnTo>
                  <a:lnTo>
                    <a:pt x="3000" y="620"/>
                  </a:lnTo>
                  <a:lnTo>
                    <a:pt x="3000" y="628"/>
                  </a:lnTo>
                  <a:lnTo>
                    <a:pt x="3000" y="628"/>
                  </a:lnTo>
                  <a:lnTo>
                    <a:pt x="3000" y="632"/>
                  </a:lnTo>
                  <a:lnTo>
                    <a:pt x="3012" y="632"/>
                  </a:lnTo>
                  <a:lnTo>
                    <a:pt x="3012" y="632"/>
                  </a:lnTo>
                  <a:lnTo>
                    <a:pt x="3031" y="637"/>
                  </a:lnTo>
                  <a:lnTo>
                    <a:pt x="3031" y="650"/>
                  </a:lnTo>
                  <a:lnTo>
                    <a:pt x="3031" y="650"/>
                  </a:lnTo>
                  <a:lnTo>
                    <a:pt x="3031" y="658"/>
                  </a:lnTo>
                  <a:lnTo>
                    <a:pt x="3037" y="658"/>
                  </a:lnTo>
                  <a:lnTo>
                    <a:pt x="3049" y="658"/>
                  </a:lnTo>
                  <a:lnTo>
                    <a:pt x="3049" y="658"/>
                  </a:lnTo>
                  <a:lnTo>
                    <a:pt x="3055" y="662"/>
                  </a:lnTo>
                  <a:lnTo>
                    <a:pt x="3055" y="667"/>
                  </a:lnTo>
                  <a:lnTo>
                    <a:pt x="3055" y="667"/>
                  </a:lnTo>
                  <a:lnTo>
                    <a:pt x="3055" y="705"/>
                  </a:lnTo>
                  <a:lnTo>
                    <a:pt x="3055" y="705"/>
                  </a:lnTo>
                  <a:lnTo>
                    <a:pt x="3062" y="714"/>
                  </a:lnTo>
                  <a:lnTo>
                    <a:pt x="3068" y="714"/>
                  </a:lnTo>
                  <a:lnTo>
                    <a:pt x="3068" y="714"/>
                  </a:lnTo>
                  <a:lnTo>
                    <a:pt x="3074" y="714"/>
                  </a:lnTo>
                  <a:lnTo>
                    <a:pt x="3074" y="714"/>
                  </a:lnTo>
                  <a:lnTo>
                    <a:pt x="3093" y="714"/>
                  </a:lnTo>
                  <a:lnTo>
                    <a:pt x="3093" y="727"/>
                  </a:lnTo>
                  <a:lnTo>
                    <a:pt x="3093" y="727"/>
                  </a:lnTo>
                  <a:lnTo>
                    <a:pt x="3099" y="735"/>
                  </a:lnTo>
                  <a:lnTo>
                    <a:pt x="3111" y="735"/>
                  </a:lnTo>
                  <a:lnTo>
                    <a:pt x="3111" y="735"/>
                  </a:lnTo>
                  <a:lnTo>
                    <a:pt x="3117" y="735"/>
                  </a:lnTo>
                  <a:lnTo>
                    <a:pt x="3117" y="735"/>
                  </a:lnTo>
                  <a:lnTo>
                    <a:pt x="3136" y="739"/>
                  </a:lnTo>
                  <a:lnTo>
                    <a:pt x="3142" y="744"/>
                  </a:lnTo>
                  <a:lnTo>
                    <a:pt x="3142" y="752"/>
                  </a:lnTo>
                  <a:lnTo>
                    <a:pt x="3142" y="752"/>
                  </a:lnTo>
                  <a:lnTo>
                    <a:pt x="3142" y="761"/>
                  </a:lnTo>
                  <a:lnTo>
                    <a:pt x="3161" y="761"/>
                  </a:lnTo>
                  <a:lnTo>
                    <a:pt x="3161" y="761"/>
                  </a:lnTo>
                  <a:lnTo>
                    <a:pt x="3260" y="761"/>
                  </a:lnTo>
                  <a:lnTo>
                    <a:pt x="3260" y="761"/>
                  </a:lnTo>
                  <a:lnTo>
                    <a:pt x="3272" y="765"/>
                  </a:lnTo>
                  <a:lnTo>
                    <a:pt x="3279" y="774"/>
                  </a:lnTo>
                  <a:lnTo>
                    <a:pt x="3279" y="774"/>
                  </a:lnTo>
                  <a:lnTo>
                    <a:pt x="3279" y="782"/>
                  </a:lnTo>
                  <a:lnTo>
                    <a:pt x="3291" y="782"/>
                  </a:lnTo>
                  <a:lnTo>
                    <a:pt x="3291" y="782"/>
                  </a:lnTo>
                  <a:lnTo>
                    <a:pt x="3372" y="782"/>
                  </a:lnTo>
                  <a:lnTo>
                    <a:pt x="3372" y="782"/>
                  </a:lnTo>
                  <a:lnTo>
                    <a:pt x="3384" y="786"/>
                  </a:lnTo>
                  <a:lnTo>
                    <a:pt x="3390" y="795"/>
                  </a:lnTo>
                  <a:lnTo>
                    <a:pt x="3390" y="795"/>
                  </a:lnTo>
                  <a:lnTo>
                    <a:pt x="3390" y="851"/>
                  </a:lnTo>
                  <a:lnTo>
                    <a:pt x="3390" y="851"/>
                  </a:lnTo>
                  <a:lnTo>
                    <a:pt x="3390" y="855"/>
                  </a:lnTo>
                  <a:lnTo>
                    <a:pt x="3403" y="859"/>
                  </a:lnTo>
                  <a:lnTo>
                    <a:pt x="3403" y="859"/>
                  </a:lnTo>
                  <a:lnTo>
                    <a:pt x="3458" y="855"/>
                  </a:lnTo>
                  <a:lnTo>
                    <a:pt x="3458" y="855"/>
                  </a:lnTo>
                  <a:lnTo>
                    <a:pt x="3471" y="859"/>
                  </a:lnTo>
                  <a:lnTo>
                    <a:pt x="3471" y="863"/>
                  </a:lnTo>
                  <a:lnTo>
                    <a:pt x="3471" y="863"/>
                  </a:lnTo>
                  <a:lnTo>
                    <a:pt x="3471" y="872"/>
                  </a:lnTo>
                  <a:lnTo>
                    <a:pt x="3477" y="876"/>
                  </a:lnTo>
                  <a:lnTo>
                    <a:pt x="3489" y="876"/>
                  </a:lnTo>
                  <a:lnTo>
                    <a:pt x="3489" y="876"/>
                  </a:lnTo>
                  <a:lnTo>
                    <a:pt x="3551" y="876"/>
                  </a:lnTo>
                  <a:lnTo>
                    <a:pt x="3551" y="876"/>
                  </a:lnTo>
                  <a:lnTo>
                    <a:pt x="3564" y="880"/>
                  </a:lnTo>
                  <a:lnTo>
                    <a:pt x="3564" y="889"/>
                  </a:lnTo>
                  <a:lnTo>
                    <a:pt x="3564" y="889"/>
                  </a:lnTo>
                  <a:lnTo>
                    <a:pt x="3564" y="902"/>
                  </a:lnTo>
                  <a:lnTo>
                    <a:pt x="3564" y="906"/>
                  </a:lnTo>
                  <a:lnTo>
                    <a:pt x="3570" y="910"/>
                  </a:lnTo>
                  <a:lnTo>
                    <a:pt x="3570" y="910"/>
                  </a:lnTo>
                  <a:lnTo>
                    <a:pt x="3576" y="915"/>
                  </a:lnTo>
                  <a:lnTo>
                    <a:pt x="3582" y="915"/>
                  </a:lnTo>
                  <a:lnTo>
                    <a:pt x="3601" y="910"/>
                  </a:lnTo>
                  <a:lnTo>
                    <a:pt x="3601" y="910"/>
                  </a:lnTo>
                  <a:lnTo>
                    <a:pt x="3737" y="910"/>
                  </a:lnTo>
                  <a:lnTo>
                    <a:pt x="3737" y="910"/>
                  </a:lnTo>
                  <a:lnTo>
                    <a:pt x="3756" y="915"/>
                  </a:lnTo>
                  <a:lnTo>
                    <a:pt x="3756" y="927"/>
                  </a:lnTo>
                  <a:lnTo>
                    <a:pt x="3756" y="927"/>
                  </a:lnTo>
                  <a:lnTo>
                    <a:pt x="3756" y="932"/>
                  </a:lnTo>
                  <a:lnTo>
                    <a:pt x="3768" y="936"/>
                  </a:lnTo>
                  <a:lnTo>
                    <a:pt x="3768" y="936"/>
                  </a:lnTo>
                  <a:lnTo>
                    <a:pt x="3929" y="936"/>
                  </a:lnTo>
                  <a:lnTo>
                    <a:pt x="3929" y="936"/>
                  </a:lnTo>
                  <a:lnTo>
                    <a:pt x="3948" y="936"/>
                  </a:lnTo>
                  <a:lnTo>
                    <a:pt x="3948" y="945"/>
                  </a:lnTo>
                  <a:lnTo>
                    <a:pt x="3948" y="945"/>
                  </a:lnTo>
                  <a:lnTo>
                    <a:pt x="3948" y="953"/>
                  </a:lnTo>
                  <a:lnTo>
                    <a:pt x="3948" y="953"/>
                  </a:lnTo>
                  <a:lnTo>
                    <a:pt x="3948" y="957"/>
                  </a:lnTo>
                  <a:lnTo>
                    <a:pt x="3960" y="962"/>
                  </a:lnTo>
                  <a:lnTo>
                    <a:pt x="3960" y="962"/>
                  </a:lnTo>
                  <a:lnTo>
                    <a:pt x="4035" y="957"/>
                  </a:lnTo>
                  <a:lnTo>
                    <a:pt x="4035" y="957"/>
                  </a:lnTo>
                  <a:lnTo>
                    <a:pt x="4047" y="962"/>
                  </a:lnTo>
                  <a:lnTo>
                    <a:pt x="4047" y="970"/>
                  </a:lnTo>
                  <a:lnTo>
                    <a:pt x="4047" y="970"/>
                  </a:lnTo>
                  <a:lnTo>
                    <a:pt x="4047" y="979"/>
                  </a:lnTo>
                  <a:lnTo>
                    <a:pt x="4053" y="983"/>
                  </a:lnTo>
                  <a:lnTo>
                    <a:pt x="4060" y="987"/>
                  </a:lnTo>
                  <a:lnTo>
                    <a:pt x="4072" y="987"/>
                  </a:lnTo>
                  <a:lnTo>
                    <a:pt x="4072" y="987"/>
                  </a:lnTo>
                  <a:lnTo>
                    <a:pt x="4140" y="987"/>
                  </a:lnTo>
                  <a:lnTo>
                    <a:pt x="4140" y="987"/>
                  </a:lnTo>
                  <a:lnTo>
                    <a:pt x="4146" y="987"/>
                  </a:lnTo>
                  <a:lnTo>
                    <a:pt x="4153" y="992"/>
                  </a:lnTo>
                  <a:lnTo>
                    <a:pt x="4153" y="992"/>
                  </a:lnTo>
                  <a:lnTo>
                    <a:pt x="4153" y="996"/>
                  </a:lnTo>
                  <a:lnTo>
                    <a:pt x="4159" y="1000"/>
                  </a:lnTo>
                  <a:lnTo>
                    <a:pt x="4159" y="1000"/>
                  </a:lnTo>
                  <a:lnTo>
                    <a:pt x="4165" y="1000"/>
                  </a:lnTo>
                  <a:lnTo>
                    <a:pt x="4165" y="1000"/>
                  </a:lnTo>
                  <a:lnTo>
                    <a:pt x="4190" y="1000"/>
                  </a:lnTo>
                  <a:lnTo>
                    <a:pt x="4196" y="1000"/>
                  </a:lnTo>
                  <a:lnTo>
                    <a:pt x="4202" y="1009"/>
                  </a:lnTo>
                  <a:lnTo>
                    <a:pt x="4202" y="1022"/>
                  </a:lnTo>
                  <a:lnTo>
                    <a:pt x="4202" y="1022"/>
                  </a:lnTo>
                  <a:lnTo>
                    <a:pt x="4202" y="1030"/>
                  </a:lnTo>
                  <a:lnTo>
                    <a:pt x="4208" y="1030"/>
                  </a:lnTo>
                  <a:lnTo>
                    <a:pt x="4221" y="1030"/>
                  </a:lnTo>
                  <a:lnTo>
                    <a:pt x="4221" y="1030"/>
                  </a:lnTo>
                  <a:lnTo>
                    <a:pt x="4785" y="1030"/>
                  </a:lnTo>
                  <a:lnTo>
                    <a:pt x="4785" y="1030"/>
                  </a:lnTo>
                  <a:lnTo>
                    <a:pt x="4803" y="1034"/>
                  </a:lnTo>
                  <a:lnTo>
                    <a:pt x="4803" y="1047"/>
                  </a:lnTo>
                  <a:lnTo>
                    <a:pt x="4803" y="1047"/>
                  </a:lnTo>
                  <a:lnTo>
                    <a:pt x="4810" y="1056"/>
                  </a:lnTo>
                  <a:lnTo>
                    <a:pt x="4816" y="1056"/>
                  </a:lnTo>
                  <a:lnTo>
                    <a:pt x="4816" y="1056"/>
                  </a:lnTo>
                  <a:lnTo>
                    <a:pt x="4828" y="1060"/>
                  </a:lnTo>
                  <a:lnTo>
                    <a:pt x="4828" y="1064"/>
                  </a:lnTo>
                  <a:lnTo>
                    <a:pt x="4828" y="1064"/>
                  </a:lnTo>
                  <a:lnTo>
                    <a:pt x="4834" y="1077"/>
                  </a:lnTo>
                  <a:lnTo>
                    <a:pt x="4847" y="1077"/>
                  </a:lnTo>
                  <a:lnTo>
                    <a:pt x="4847" y="1077"/>
                  </a:lnTo>
                  <a:lnTo>
                    <a:pt x="4958" y="1077"/>
                  </a:lnTo>
                  <a:lnTo>
                    <a:pt x="4958" y="1077"/>
                  </a:lnTo>
                  <a:lnTo>
                    <a:pt x="4971" y="1077"/>
                  </a:lnTo>
                  <a:lnTo>
                    <a:pt x="4977" y="1086"/>
                  </a:lnTo>
                  <a:lnTo>
                    <a:pt x="4977" y="1086"/>
                  </a:lnTo>
                  <a:lnTo>
                    <a:pt x="4977" y="1120"/>
                  </a:lnTo>
                  <a:lnTo>
                    <a:pt x="4977" y="1120"/>
                  </a:lnTo>
                  <a:lnTo>
                    <a:pt x="4977" y="1128"/>
                  </a:lnTo>
                  <a:lnTo>
                    <a:pt x="4989" y="1128"/>
                  </a:lnTo>
                  <a:lnTo>
                    <a:pt x="4989" y="1128"/>
                  </a:lnTo>
                  <a:lnTo>
                    <a:pt x="5058" y="1128"/>
                  </a:lnTo>
                  <a:lnTo>
                    <a:pt x="5058" y="1128"/>
                  </a:lnTo>
                  <a:lnTo>
                    <a:pt x="5076" y="1133"/>
                  </a:lnTo>
                  <a:lnTo>
                    <a:pt x="5076" y="1141"/>
                  </a:lnTo>
                  <a:lnTo>
                    <a:pt x="5076" y="1141"/>
                  </a:lnTo>
                  <a:lnTo>
                    <a:pt x="5082" y="1150"/>
                  </a:lnTo>
                  <a:lnTo>
                    <a:pt x="5095" y="1154"/>
                  </a:lnTo>
                  <a:lnTo>
                    <a:pt x="5095" y="1154"/>
                  </a:lnTo>
                  <a:lnTo>
                    <a:pt x="5237" y="1154"/>
                  </a:lnTo>
                  <a:lnTo>
                    <a:pt x="5237" y="1154"/>
                  </a:lnTo>
                  <a:lnTo>
                    <a:pt x="5250" y="1154"/>
                  </a:lnTo>
                  <a:lnTo>
                    <a:pt x="5256" y="1163"/>
                  </a:lnTo>
                  <a:lnTo>
                    <a:pt x="5256" y="1163"/>
                  </a:lnTo>
                  <a:lnTo>
                    <a:pt x="5250" y="1171"/>
                  </a:lnTo>
                  <a:lnTo>
                    <a:pt x="5250" y="1171"/>
                  </a:lnTo>
                  <a:lnTo>
                    <a:pt x="5256" y="1184"/>
                  </a:lnTo>
                  <a:lnTo>
                    <a:pt x="5262" y="1184"/>
                  </a:lnTo>
                  <a:lnTo>
                    <a:pt x="5274" y="1184"/>
                  </a:lnTo>
                  <a:lnTo>
                    <a:pt x="5274" y="1184"/>
                  </a:lnTo>
                  <a:lnTo>
                    <a:pt x="5281" y="1184"/>
                  </a:lnTo>
                  <a:lnTo>
                    <a:pt x="5281" y="1188"/>
                  </a:lnTo>
                  <a:lnTo>
                    <a:pt x="5281" y="1197"/>
                  </a:lnTo>
                  <a:lnTo>
                    <a:pt x="5281" y="1197"/>
                  </a:lnTo>
                  <a:lnTo>
                    <a:pt x="5287" y="1201"/>
                  </a:lnTo>
                  <a:lnTo>
                    <a:pt x="5293" y="1205"/>
                  </a:lnTo>
                  <a:lnTo>
                    <a:pt x="5293" y="1205"/>
                  </a:lnTo>
                  <a:lnTo>
                    <a:pt x="5349" y="1205"/>
                  </a:lnTo>
                  <a:lnTo>
                    <a:pt x="5349" y="1205"/>
                  </a:lnTo>
                  <a:lnTo>
                    <a:pt x="5355" y="1205"/>
                  </a:lnTo>
                  <a:lnTo>
                    <a:pt x="5361" y="1214"/>
                  </a:lnTo>
                  <a:lnTo>
                    <a:pt x="5361" y="1214"/>
                  </a:lnTo>
                  <a:lnTo>
                    <a:pt x="5361" y="1223"/>
                  </a:lnTo>
                  <a:lnTo>
                    <a:pt x="5361" y="1227"/>
                  </a:lnTo>
                  <a:lnTo>
                    <a:pt x="5374" y="1231"/>
                  </a:lnTo>
                  <a:lnTo>
                    <a:pt x="5386" y="1231"/>
                  </a:lnTo>
                  <a:lnTo>
                    <a:pt x="5386" y="1231"/>
                  </a:lnTo>
                  <a:lnTo>
                    <a:pt x="5522" y="1231"/>
                  </a:lnTo>
                  <a:lnTo>
                    <a:pt x="5522" y="1231"/>
                  </a:lnTo>
                  <a:lnTo>
                    <a:pt x="5529" y="1231"/>
                  </a:lnTo>
                  <a:lnTo>
                    <a:pt x="5535" y="1231"/>
                  </a:lnTo>
                  <a:lnTo>
                    <a:pt x="5541" y="1248"/>
                  </a:lnTo>
                  <a:lnTo>
                    <a:pt x="5541" y="1248"/>
                  </a:lnTo>
                  <a:lnTo>
                    <a:pt x="5535" y="1257"/>
                  </a:lnTo>
                  <a:lnTo>
                    <a:pt x="5522" y="1261"/>
                  </a:lnTo>
                  <a:lnTo>
                    <a:pt x="5522" y="1261"/>
                  </a:lnTo>
                  <a:lnTo>
                    <a:pt x="5336" y="1261"/>
                  </a:lnTo>
                  <a:lnTo>
                    <a:pt x="5336" y="1261"/>
                  </a:lnTo>
                  <a:lnTo>
                    <a:pt x="5324" y="1261"/>
                  </a:lnTo>
                  <a:lnTo>
                    <a:pt x="5318" y="1252"/>
                  </a:lnTo>
                  <a:lnTo>
                    <a:pt x="5318" y="1252"/>
                  </a:lnTo>
                  <a:lnTo>
                    <a:pt x="5324" y="1244"/>
                  </a:lnTo>
                  <a:lnTo>
                    <a:pt x="5324" y="1244"/>
                  </a:lnTo>
                  <a:lnTo>
                    <a:pt x="5318" y="1235"/>
                  </a:lnTo>
                  <a:lnTo>
                    <a:pt x="5312" y="1235"/>
                  </a:lnTo>
                  <a:lnTo>
                    <a:pt x="5312" y="1235"/>
                  </a:lnTo>
                  <a:lnTo>
                    <a:pt x="5250" y="1235"/>
                  </a:lnTo>
                  <a:lnTo>
                    <a:pt x="5250" y="1235"/>
                  </a:lnTo>
                  <a:lnTo>
                    <a:pt x="5237" y="1231"/>
                  </a:lnTo>
                  <a:lnTo>
                    <a:pt x="5237" y="1227"/>
                  </a:lnTo>
                  <a:lnTo>
                    <a:pt x="5237" y="1227"/>
                  </a:lnTo>
                  <a:lnTo>
                    <a:pt x="5237" y="1214"/>
                  </a:lnTo>
                  <a:lnTo>
                    <a:pt x="5231" y="1214"/>
                  </a:lnTo>
                  <a:lnTo>
                    <a:pt x="5219" y="1214"/>
                  </a:lnTo>
                  <a:lnTo>
                    <a:pt x="5219" y="1214"/>
                  </a:lnTo>
                  <a:lnTo>
                    <a:pt x="5213" y="1210"/>
                  </a:lnTo>
                  <a:lnTo>
                    <a:pt x="5213" y="1210"/>
                  </a:lnTo>
                  <a:lnTo>
                    <a:pt x="5213" y="1210"/>
                  </a:lnTo>
                  <a:lnTo>
                    <a:pt x="5213" y="1205"/>
                  </a:lnTo>
                  <a:lnTo>
                    <a:pt x="5213" y="1205"/>
                  </a:lnTo>
                  <a:lnTo>
                    <a:pt x="5213" y="1193"/>
                  </a:lnTo>
                  <a:lnTo>
                    <a:pt x="5213" y="1188"/>
                  </a:lnTo>
                  <a:lnTo>
                    <a:pt x="5213" y="1184"/>
                  </a:lnTo>
                  <a:lnTo>
                    <a:pt x="5213" y="1184"/>
                  </a:lnTo>
                  <a:lnTo>
                    <a:pt x="5194" y="1180"/>
                  </a:lnTo>
                  <a:lnTo>
                    <a:pt x="5182" y="1180"/>
                  </a:lnTo>
                  <a:lnTo>
                    <a:pt x="5182" y="1180"/>
                  </a:lnTo>
                  <a:lnTo>
                    <a:pt x="5051" y="1180"/>
                  </a:lnTo>
                  <a:lnTo>
                    <a:pt x="5051" y="1180"/>
                  </a:lnTo>
                  <a:lnTo>
                    <a:pt x="5033" y="1180"/>
                  </a:lnTo>
                  <a:lnTo>
                    <a:pt x="5033" y="1175"/>
                  </a:lnTo>
                  <a:lnTo>
                    <a:pt x="5033" y="1171"/>
                  </a:lnTo>
                  <a:lnTo>
                    <a:pt x="5033" y="1171"/>
                  </a:lnTo>
                  <a:lnTo>
                    <a:pt x="5033" y="1163"/>
                  </a:lnTo>
                  <a:lnTo>
                    <a:pt x="5033" y="1158"/>
                  </a:lnTo>
                  <a:lnTo>
                    <a:pt x="5014" y="1158"/>
                  </a:lnTo>
                  <a:lnTo>
                    <a:pt x="5014" y="1158"/>
                  </a:lnTo>
                  <a:lnTo>
                    <a:pt x="4946" y="1158"/>
                  </a:lnTo>
                  <a:lnTo>
                    <a:pt x="4946" y="1158"/>
                  </a:lnTo>
                  <a:lnTo>
                    <a:pt x="4940" y="1158"/>
                  </a:lnTo>
                  <a:lnTo>
                    <a:pt x="4934" y="1150"/>
                  </a:lnTo>
                  <a:lnTo>
                    <a:pt x="4934" y="1150"/>
                  </a:lnTo>
                  <a:lnTo>
                    <a:pt x="4934" y="1116"/>
                  </a:lnTo>
                  <a:lnTo>
                    <a:pt x="4934" y="1116"/>
                  </a:lnTo>
                  <a:lnTo>
                    <a:pt x="4934" y="1107"/>
                  </a:lnTo>
                  <a:lnTo>
                    <a:pt x="4921" y="1107"/>
                  </a:lnTo>
                  <a:lnTo>
                    <a:pt x="4921" y="1107"/>
                  </a:lnTo>
                  <a:lnTo>
                    <a:pt x="4803" y="1107"/>
                  </a:lnTo>
                  <a:lnTo>
                    <a:pt x="4803" y="1107"/>
                  </a:lnTo>
                  <a:lnTo>
                    <a:pt x="4791" y="1103"/>
                  </a:lnTo>
                  <a:lnTo>
                    <a:pt x="4791" y="1099"/>
                  </a:lnTo>
                  <a:lnTo>
                    <a:pt x="4791" y="1094"/>
                  </a:lnTo>
                  <a:lnTo>
                    <a:pt x="4791" y="1094"/>
                  </a:lnTo>
                  <a:lnTo>
                    <a:pt x="4785" y="1090"/>
                  </a:lnTo>
                  <a:lnTo>
                    <a:pt x="4779" y="1086"/>
                  </a:lnTo>
                  <a:lnTo>
                    <a:pt x="4779" y="1086"/>
                  </a:lnTo>
                  <a:lnTo>
                    <a:pt x="4772" y="1086"/>
                  </a:lnTo>
                  <a:lnTo>
                    <a:pt x="4766" y="1081"/>
                  </a:lnTo>
                  <a:lnTo>
                    <a:pt x="4766" y="1073"/>
                  </a:lnTo>
                  <a:lnTo>
                    <a:pt x="4766" y="1073"/>
                  </a:lnTo>
                  <a:lnTo>
                    <a:pt x="4766" y="1069"/>
                  </a:lnTo>
                  <a:lnTo>
                    <a:pt x="4766" y="1064"/>
                  </a:lnTo>
                  <a:lnTo>
                    <a:pt x="4748" y="1060"/>
                  </a:lnTo>
                  <a:lnTo>
                    <a:pt x="4748" y="1060"/>
                  </a:lnTo>
                  <a:lnTo>
                    <a:pt x="4184" y="1064"/>
                  </a:lnTo>
                  <a:lnTo>
                    <a:pt x="4184" y="1064"/>
                  </a:lnTo>
                  <a:lnTo>
                    <a:pt x="4165" y="1060"/>
                  </a:lnTo>
                  <a:lnTo>
                    <a:pt x="4159" y="1047"/>
                  </a:lnTo>
                  <a:lnTo>
                    <a:pt x="4159" y="1047"/>
                  </a:lnTo>
                  <a:lnTo>
                    <a:pt x="4159" y="1039"/>
                  </a:lnTo>
                  <a:lnTo>
                    <a:pt x="4159" y="1030"/>
                  </a:lnTo>
                  <a:lnTo>
                    <a:pt x="4146" y="1030"/>
                  </a:lnTo>
                  <a:lnTo>
                    <a:pt x="4134" y="1030"/>
                  </a:lnTo>
                  <a:lnTo>
                    <a:pt x="4134" y="1030"/>
                  </a:lnTo>
                  <a:lnTo>
                    <a:pt x="4115" y="1030"/>
                  </a:lnTo>
                  <a:lnTo>
                    <a:pt x="4115" y="1026"/>
                  </a:lnTo>
                  <a:lnTo>
                    <a:pt x="4115" y="1017"/>
                  </a:lnTo>
                  <a:lnTo>
                    <a:pt x="4115" y="1017"/>
                  </a:lnTo>
                  <a:lnTo>
                    <a:pt x="4109" y="1017"/>
                  </a:lnTo>
                  <a:lnTo>
                    <a:pt x="4103" y="1017"/>
                  </a:lnTo>
                  <a:lnTo>
                    <a:pt x="4103" y="1017"/>
                  </a:lnTo>
                  <a:lnTo>
                    <a:pt x="4022" y="1017"/>
                  </a:lnTo>
                  <a:lnTo>
                    <a:pt x="4022" y="1017"/>
                  </a:lnTo>
                  <a:lnTo>
                    <a:pt x="4010" y="1013"/>
                  </a:lnTo>
                  <a:lnTo>
                    <a:pt x="4010" y="1004"/>
                  </a:lnTo>
                  <a:lnTo>
                    <a:pt x="4010" y="1004"/>
                  </a:lnTo>
                  <a:lnTo>
                    <a:pt x="4004" y="992"/>
                  </a:lnTo>
                  <a:lnTo>
                    <a:pt x="3991" y="992"/>
                  </a:lnTo>
                  <a:lnTo>
                    <a:pt x="3991" y="992"/>
                  </a:lnTo>
                  <a:lnTo>
                    <a:pt x="3917" y="992"/>
                  </a:lnTo>
                  <a:lnTo>
                    <a:pt x="3917" y="992"/>
                  </a:lnTo>
                  <a:lnTo>
                    <a:pt x="3911" y="987"/>
                  </a:lnTo>
                  <a:lnTo>
                    <a:pt x="3905" y="983"/>
                  </a:lnTo>
                  <a:lnTo>
                    <a:pt x="3905" y="983"/>
                  </a:lnTo>
                  <a:lnTo>
                    <a:pt x="3905" y="970"/>
                  </a:lnTo>
                  <a:lnTo>
                    <a:pt x="3905" y="966"/>
                  </a:lnTo>
                  <a:lnTo>
                    <a:pt x="3892" y="966"/>
                  </a:lnTo>
                  <a:lnTo>
                    <a:pt x="3880" y="962"/>
                  </a:lnTo>
                  <a:lnTo>
                    <a:pt x="3880" y="962"/>
                  </a:lnTo>
                  <a:lnTo>
                    <a:pt x="3731" y="966"/>
                  </a:lnTo>
                  <a:lnTo>
                    <a:pt x="3731" y="966"/>
                  </a:lnTo>
                  <a:lnTo>
                    <a:pt x="3719" y="962"/>
                  </a:lnTo>
                  <a:lnTo>
                    <a:pt x="3712" y="957"/>
                  </a:lnTo>
                  <a:lnTo>
                    <a:pt x="3712" y="953"/>
                  </a:lnTo>
                  <a:lnTo>
                    <a:pt x="3712" y="953"/>
                  </a:lnTo>
                  <a:lnTo>
                    <a:pt x="3712" y="945"/>
                  </a:lnTo>
                  <a:lnTo>
                    <a:pt x="3700" y="940"/>
                  </a:lnTo>
                  <a:lnTo>
                    <a:pt x="3700" y="940"/>
                  </a:lnTo>
                  <a:lnTo>
                    <a:pt x="3545" y="940"/>
                  </a:lnTo>
                  <a:lnTo>
                    <a:pt x="3545" y="940"/>
                  </a:lnTo>
                  <a:lnTo>
                    <a:pt x="3527" y="940"/>
                  </a:lnTo>
                  <a:lnTo>
                    <a:pt x="3527" y="927"/>
                  </a:lnTo>
                  <a:lnTo>
                    <a:pt x="3527" y="927"/>
                  </a:lnTo>
                  <a:lnTo>
                    <a:pt x="3527" y="915"/>
                  </a:lnTo>
                  <a:lnTo>
                    <a:pt x="3520" y="910"/>
                  </a:lnTo>
                  <a:lnTo>
                    <a:pt x="3514" y="910"/>
                  </a:lnTo>
                  <a:lnTo>
                    <a:pt x="3496" y="910"/>
                  </a:lnTo>
                  <a:lnTo>
                    <a:pt x="3496" y="910"/>
                  </a:lnTo>
                  <a:lnTo>
                    <a:pt x="3452" y="910"/>
                  </a:lnTo>
                  <a:lnTo>
                    <a:pt x="3452" y="910"/>
                  </a:lnTo>
                  <a:lnTo>
                    <a:pt x="3440" y="906"/>
                  </a:lnTo>
                  <a:lnTo>
                    <a:pt x="3434" y="902"/>
                  </a:lnTo>
                  <a:lnTo>
                    <a:pt x="3434" y="898"/>
                  </a:lnTo>
                  <a:lnTo>
                    <a:pt x="3434" y="898"/>
                  </a:lnTo>
                  <a:lnTo>
                    <a:pt x="3434" y="889"/>
                  </a:lnTo>
                  <a:lnTo>
                    <a:pt x="3434" y="885"/>
                  </a:lnTo>
                  <a:lnTo>
                    <a:pt x="3415" y="885"/>
                  </a:lnTo>
                  <a:lnTo>
                    <a:pt x="3415" y="885"/>
                  </a:lnTo>
                  <a:lnTo>
                    <a:pt x="3359" y="885"/>
                  </a:lnTo>
                  <a:lnTo>
                    <a:pt x="3359" y="885"/>
                  </a:lnTo>
                  <a:lnTo>
                    <a:pt x="3347" y="880"/>
                  </a:lnTo>
                  <a:lnTo>
                    <a:pt x="3347" y="876"/>
                  </a:lnTo>
                  <a:lnTo>
                    <a:pt x="3347" y="876"/>
                  </a:lnTo>
                  <a:lnTo>
                    <a:pt x="3347" y="821"/>
                  </a:lnTo>
                  <a:lnTo>
                    <a:pt x="3347" y="821"/>
                  </a:lnTo>
                  <a:lnTo>
                    <a:pt x="3341" y="812"/>
                  </a:lnTo>
                  <a:lnTo>
                    <a:pt x="3334" y="812"/>
                  </a:lnTo>
                  <a:lnTo>
                    <a:pt x="3334" y="812"/>
                  </a:lnTo>
                  <a:lnTo>
                    <a:pt x="3248" y="812"/>
                  </a:lnTo>
                  <a:lnTo>
                    <a:pt x="3248" y="812"/>
                  </a:lnTo>
                  <a:lnTo>
                    <a:pt x="3235" y="812"/>
                  </a:lnTo>
                  <a:lnTo>
                    <a:pt x="3235" y="803"/>
                  </a:lnTo>
                  <a:lnTo>
                    <a:pt x="3235" y="803"/>
                  </a:lnTo>
                  <a:lnTo>
                    <a:pt x="3235" y="795"/>
                  </a:lnTo>
                  <a:lnTo>
                    <a:pt x="3223" y="795"/>
                  </a:lnTo>
                  <a:lnTo>
                    <a:pt x="3223" y="795"/>
                  </a:lnTo>
                  <a:lnTo>
                    <a:pt x="3117" y="795"/>
                  </a:lnTo>
                  <a:lnTo>
                    <a:pt x="3117" y="795"/>
                  </a:lnTo>
                  <a:lnTo>
                    <a:pt x="3099" y="791"/>
                  </a:lnTo>
                  <a:lnTo>
                    <a:pt x="3099" y="782"/>
                  </a:lnTo>
                  <a:lnTo>
                    <a:pt x="3099" y="782"/>
                  </a:lnTo>
                  <a:lnTo>
                    <a:pt x="3099" y="769"/>
                  </a:lnTo>
                  <a:lnTo>
                    <a:pt x="3080" y="765"/>
                  </a:lnTo>
                  <a:lnTo>
                    <a:pt x="3080" y="765"/>
                  </a:lnTo>
                  <a:lnTo>
                    <a:pt x="3068" y="765"/>
                  </a:lnTo>
                  <a:lnTo>
                    <a:pt x="3068" y="765"/>
                  </a:lnTo>
                  <a:lnTo>
                    <a:pt x="3055" y="765"/>
                  </a:lnTo>
                  <a:lnTo>
                    <a:pt x="3049" y="756"/>
                  </a:lnTo>
                  <a:lnTo>
                    <a:pt x="3049" y="756"/>
                  </a:lnTo>
                  <a:lnTo>
                    <a:pt x="3049" y="748"/>
                  </a:lnTo>
                  <a:lnTo>
                    <a:pt x="3049" y="748"/>
                  </a:lnTo>
                  <a:lnTo>
                    <a:pt x="3049" y="744"/>
                  </a:lnTo>
                  <a:lnTo>
                    <a:pt x="3043" y="744"/>
                  </a:lnTo>
                  <a:lnTo>
                    <a:pt x="3043" y="744"/>
                  </a:lnTo>
                  <a:lnTo>
                    <a:pt x="3024" y="744"/>
                  </a:lnTo>
                  <a:lnTo>
                    <a:pt x="3018" y="739"/>
                  </a:lnTo>
                  <a:lnTo>
                    <a:pt x="3012" y="735"/>
                  </a:lnTo>
                  <a:lnTo>
                    <a:pt x="3012" y="722"/>
                  </a:lnTo>
                  <a:lnTo>
                    <a:pt x="3012" y="722"/>
                  </a:lnTo>
                  <a:lnTo>
                    <a:pt x="3012" y="697"/>
                  </a:lnTo>
                  <a:lnTo>
                    <a:pt x="3012" y="697"/>
                  </a:lnTo>
                  <a:lnTo>
                    <a:pt x="3012" y="692"/>
                  </a:lnTo>
                  <a:lnTo>
                    <a:pt x="3006" y="688"/>
                  </a:lnTo>
                  <a:lnTo>
                    <a:pt x="3006" y="688"/>
                  </a:lnTo>
                  <a:lnTo>
                    <a:pt x="2993" y="688"/>
                  </a:lnTo>
                  <a:lnTo>
                    <a:pt x="2987" y="688"/>
                  </a:lnTo>
                  <a:lnTo>
                    <a:pt x="2987" y="675"/>
                  </a:lnTo>
                  <a:lnTo>
                    <a:pt x="2987" y="675"/>
                  </a:lnTo>
                  <a:lnTo>
                    <a:pt x="2987" y="667"/>
                  </a:lnTo>
                  <a:lnTo>
                    <a:pt x="2981" y="662"/>
                  </a:lnTo>
                  <a:lnTo>
                    <a:pt x="2969" y="662"/>
                  </a:lnTo>
                  <a:lnTo>
                    <a:pt x="2969" y="662"/>
                  </a:lnTo>
                  <a:lnTo>
                    <a:pt x="2962" y="662"/>
                  </a:lnTo>
                  <a:lnTo>
                    <a:pt x="2956" y="654"/>
                  </a:lnTo>
                  <a:lnTo>
                    <a:pt x="2956" y="654"/>
                  </a:lnTo>
                  <a:lnTo>
                    <a:pt x="2956" y="645"/>
                  </a:lnTo>
                  <a:lnTo>
                    <a:pt x="2944" y="645"/>
                  </a:lnTo>
                  <a:lnTo>
                    <a:pt x="2944" y="645"/>
                  </a:lnTo>
                  <a:lnTo>
                    <a:pt x="2845" y="645"/>
                  </a:lnTo>
                  <a:lnTo>
                    <a:pt x="2845" y="645"/>
                  </a:lnTo>
                  <a:lnTo>
                    <a:pt x="2832" y="645"/>
                  </a:lnTo>
                  <a:lnTo>
                    <a:pt x="2832" y="637"/>
                  </a:lnTo>
                  <a:lnTo>
                    <a:pt x="2832" y="637"/>
                  </a:lnTo>
                  <a:lnTo>
                    <a:pt x="2832" y="628"/>
                  </a:lnTo>
                  <a:lnTo>
                    <a:pt x="2826" y="624"/>
                  </a:lnTo>
                  <a:lnTo>
                    <a:pt x="2808" y="620"/>
                  </a:lnTo>
                  <a:lnTo>
                    <a:pt x="2808" y="620"/>
                  </a:lnTo>
                  <a:lnTo>
                    <a:pt x="2801" y="620"/>
                  </a:lnTo>
                  <a:lnTo>
                    <a:pt x="2801" y="620"/>
                  </a:lnTo>
                  <a:lnTo>
                    <a:pt x="2783" y="620"/>
                  </a:lnTo>
                  <a:lnTo>
                    <a:pt x="2777" y="620"/>
                  </a:lnTo>
                  <a:lnTo>
                    <a:pt x="2770" y="611"/>
                  </a:lnTo>
                  <a:lnTo>
                    <a:pt x="2770" y="603"/>
                  </a:lnTo>
                  <a:lnTo>
                    <a:pt x="2770" y="603"/>
                  </a:lnTo>
                  <a:lnTo>
                    <a:pt x="2770" y="594"/>
                  </a:lnTo>
                  <a:lnTo>
                    <a:pt x="2758" y="594"/>
                  </a:lnTo>
                  <a:lnTo>
                    <a:pt x="2758" y="594"/>
                  </a:lnTo>
                  <a:lnTo>
                    <a:pt x="2746" y="594"/>
                  </a:lnTo>
                  <a:lnTo>
                    <a:pt x="2746" y="581"/>
                  </a:lnTo>
                  <a:lnTo>
                    <a:pt x="2746" y="581"/>
                  </a:lnTo>
                  <a:lnTo>
                    <a:pt x="2739" y="577"/>
                  </a:lnTo>
                  <a:lnTo>
                    <a:pt x="2733" y="573"/>
                  </a:lnTo>
                  <a:lnTo>
                    <a:pt x="2733" y="573"/>
                  </a:lnTo>
                  <a:lnTo>
                    <a:pt x="2721" y="573"/>
                  </a:lnTo>
                  <a:lnTo>
                    <a:pt x="2715" y="564"/>
                  </a:lnTo>
                  <a:lnTo>
                    <a:pt x="2715" y="564"/>
                  </a:lnTo>
                  <a:lnTo>
                    <a:pt x="2715" y="534"/>
                  </a:lnTo>
                  <a:lnTo>
                    <a:pt x="2715" y="534"/>
                  </a:lnTo>
                  <a:lnTo>
                    <a:pt x="2715" y="530"/>
                  </a:lnTo>
                  <a:lnTo>
                    <a:pt x="2702" y="526"/>
                  </a:lnTo>
                  <a:lnTo>
                    <a:pt x="2702" y="526"/>
                  </a:lnTo>
                  <a:lnTo>
                    <a:pt x="2491" y="526"/>
                  </a:lnTo>
                  <a:lnTo>
                    <a:pt x="2491" y="526"/>
                  </a:lnTo>
                  <a:lnTo>
                    <a:pt x="2256" y="526"/>
                  </a:lnTo>
                  <a:lnTo>
                    <a:pt x="2256" y="526"/>
                  </a:lnTo>
                  <a:lnTo>
                    <a:pt x="2237" y="526"/>
                  </a:lnTo>
                  <a:lnTo>
                    <a:pt x="2237" y="521"/>
                  </a:lnTo>
                  <a:lnTo>
                    <a:pt x="2237" y="517"/>
                  </a:lnTo>
                  <a:lnTo>
                    <a:pt x="2237" y="517"/>
                  </a:lnTo>
                  <a:lnTo>
                    <a:pt x="2237" y="513"/>
                  </a:lnTo>
                  <a:lnTo>
                    <a:pt x="2231" y="508"/>
                  </a:lnTo>
                  <a:lnTo>
                    <a:pt x="2225" y="508"/>
                  </a:lnTo>
                  <a:lnTo>
                    <a:pt x="2225" y="508"/>
                  </a:lnTo>
                  <a:lnTo>
                    <a:pt x="2206" y="508"/>
                  </a:lnTo>
                  <a:lnTo>
                    <a:pt x="2200" y="504"/>
                  </a:lnTo>
                  <a:lnTo>
                    <a:pt x="2200" y="496"/>
                  </a:lnTo>
                  <a:lnTo>
                    <a:pt x="2200" y="496"/>
                  </a:lnTo>
                  <a:lnTo>
                    <a:pt x="2194" y="491"/>
                  </a:lnTo>
                  <a:lnTo>
                    <a:pt x="2188" y="491"/>
                  </a:lnTo>
                  <a:lnTo>
                    <a:pt x="2188" y="491"/>
                  </a:lnTo>
                  <a:lnTo>
                    <a:pt x="2175" y="491"/>
                  </a:lnTo>
                  <a:lnTo>
                    <a:pt x="2175" y="483"/>
                  </a:lnTo>
                  <a:lnTo>
                    <a:pt x="2175" y="483"/>
                  </a:lnTo>
                  <a:lnTo>
                    <a:pt x="2175" y="474"/>
                  </a:lnTo>
                  <a:lnTo>
                    <a:pt x="2163" y="470"/>
                  </a:lnTo>
                  <a:lnTo>
                    <a:pt x="2163" y="470"/>
                  </a:lnTo>
                  <a:lnTo>
                    <a:pt x="2045" y="470"/>
                  </a:lnTo>
                  <a:lnTo>
                    <a:pt x="2045" y="470"/>
                  </a:lnTo>
                  <a:lnTo>
                    <a:pt x="2033" y="470"/>
                  </a:lnTo>
                  <a:lnTo>
                    <a:pt x="2026" y="466"/>
                  </a:lnTo>
                  <a:lnTo>
                    <a:pt x="2026" y="457"/>
                  </a:lnTo>
                  <a:lnTo>
                    <a:pt x="2026" y="457"/>
                  </a:lnTo>
                  <a:lnTo>
                    <a:pt x="2026" y="453"/>
                  </a:lnTo>
                  <a:lnTo>
                    <a:pt x="2026" y="449"/>
                  </a:lnTo>
                  <a:lnTo>
                    <a:pt x="2008" y="444"/>
                  </a:lnTo>
                  <a:lnTo>
                    <a:pt x="2008" y="444"/>
                  </a:lnTo>
                  <a:lnTo>
                    <a:pt x="1971" y="449"/>
                  </a:lnTo>
                  <a:lnTo>
                    <a:pt x="1971" y="449"/>
                  </a:lnTo>
                  <a:lnTo>
                    <a:pt x="1965" y="444"/>
                  </a:lnTo>
                  <a:lnTo>
                    <a:pt x="1965" y="444"/>
                  </a:lnTo>
                  <a:lnTo>
                    <a:pt x="1958" y="440"/>
                  </a:lnTo>
                  <a:lnTo>
                    <a:pt x="1952" y="432"/>
                  </a:lnTo>
                  <a:lnTo>
                    <a:pt x="1946" y="427"/>
                  </a:lnTo>
                  <a:lnTo>
                    <a:pt x="1940" y="419"/>
                  </a:lnTo>
                  <a:lnTo>
                    <a:pt x="1940" y="419"/>
                  </a:lnTo>
                  <a:lnTo>
                    <a:pt x="1940" y="414"/>
                  </a:lnTo>
                  <a:lnTo>
                    <a:pt x="1927" y="414"/>
                  </a:lnTo>
                  <a:lnTo>
                    <a:pt x="1927" y="414"/>
                  </a:lnTo>
                  <a:lnTo>
                    <a:pt x="1884" y="414"/>
                  </a:lnTo>
                  <a:lnTo>
                    <a:pt x="1884" y="414"/>
                  </a:lnTo>
                  <a:lnTo>
                    <a:pt x="1872" y="414"/>
                  </a:lnTo>
                  <a:lnTo>
                    <a:pt x="1872" y="406"/>
                  </a:lnTo>
                  <a:lnTo>
                    <a:pt x="1872" y="406"/>
                  </a:lnTo>
                  <a:lnTo>
                    <a:pt x="1872" y="397"/>
                  </a:lnTo>
                  <a:lnTo>
                    <a:pt x="1859" y="397"/>
                  </a:lnTo>
                  <a:lnTo>
                    <a:pt x="1859" y="397"/>
                  </a:lnTo>
                  <a:lnTo>
                    <a:pt x="1853" y="397"/>
                  </a:lnTo>
                  <a:lnTo>
                    <a:pt x="1853" y="393"/>
                  </a:lnTo>
                  <a:lnTo>
                    <a:pt x="1847" y="389"/>
                  </a:lnTo>
                  <a:lnTo>
                    <a:pt x="1847" y="389"/>
                  </a:lnTo>
                  <a:lnTo>
                    <a:pt x="1847" y="380"/>
                  </a:lnTo>
                  <a:lnTo>
                    <a:pt x="1834" y="376"/>
                  </a:lnTo>
                  <a:lnTo>
                    <a:pt x="1834" y="376"/>
                  </a:lnTo>
                  <a:lnTo>
                    <a:pt x="1692" y="376"/>
                  </a:lnTo>
                  <a:lnTo>
                    <a:pt x="1692" y="376"/>
                  </a:lnTo>
                  <a:lnTo>
                    <a:pt x="1679" y="376"/>
                  </a:lnTo>
                  <a:lnTo>
                    <a:pt x="1673" y="367"/>
                  </a:lnTo>
                  <a:lnTo>
                    <a:pt x="1673" y="367"/>
                  </a:lnTo>
                  <a:lnTo>
                    <a:pt x="1679" y="312"/>
                  </a:lnTo>
                  <a:lnTo>
                    <a:pt x="1679" y="312"/>
                  </a:lnTo>
                  <a:lnTo>
                    <a:pt x="1673" y="303"/>
                  </a:lnTo>
                  <a:lnTo>
                    <a:pt x="1667" y="303"/>
                  </a:lnTo>
                  <a:lnTo>
                    <a:pt x="1667" y="303"/>
                  </a:lnTo>
                  <a:lnTo>
                    <a:pt x="1611" y="303"/>
                  </a:lnTo>
                  <a:lnTo>
                    <a:pt x="1611" y="303"/>
                  </a:lnTo>
                  <a:lnTo>
                    <a:pt x="1593" y="299"/>
                  </a:lnTo>
                  <a:lnTo>
                    <a:pt x="1593" y="290"/>
                  </a:lnTo>
                  <a:lnTo>
                    <a:pt x="1593" y="290"/>
                  </a:lnTo>
                  <a:lnTo>
                    <a:pt x="1586" y="282"/>
                  </a:lnTo>
                  <a:lnTo>
                    <a:pt x="1586" y="278"/>
                  </a:lnTo>
                  <a:lnTo>
                    <a:pt x="1580" y="273"/>
                  </a:lnTo>
                  <a:lnTo>
                    <a:pt x="1568" y="273"/>
                  </a:lnTo>
                  <a:lnTo>
                    <a:pt x="1568" y="273"/>
                  </a:lnTo>
                  <a:lnTo>
                    <a:pt x="1531" y="273"/>
                  </a:lnTo>
                  <a:lnTo>
                    <a:pt x="1531" y="273"/>
                  </a:lnTo>
                  <a:lnTo>
                    <a:pt x="1518" y="273"/>
                  </a:lnTo>
                  <a:lnTo>
                    <a:pt x="1512" y="269"/>
                  </a:lnTo>
                  <a:lnTo>
                    <a:pt x="1512" y="269"/>
                  </a:lnTo>
                  <a:lnTo>
                    <a:pt x="1493" y="260"/>
                  </a:lnTo>
                  <a:lnTo>
                    <a:pt x="1487" y="256"/>
                  </a:lnTo>
                  <a:lnTo>
                    <a:pt x="1487" y="248"/>
                  </a:lnTo>
                  <a:lnTo>
                    <a:pt x="1487" y="248"/>
                  </a:lnTo>
                  <a:lnTo>
                    <a:pt x="1475" y="248"/>
                  </a:lnTo>
                  <a:lnTo>
                    <a:pt x="1469" y="248"/>
                  </a:lnTo>
                  <a:lnTo>
                    <a:pt x="1469" y="235"/>
                  </a:lnTo>
                  <a:lnTo>
                    <a:pt x="1469" y="235"/>
                  </a:lnTo>
                  <a:lnTo>
                    <a:pt x="1469" y="231"/>
                  </a:lnTo>
                  <a:lnTo>
                    <a:pt x="1462" y="231"/>
                  </a:lnTo>
                  <a:lnTo>
                    <a:pt x="1456" y="231"/>
                  </a:lnTo>
                  <a:lnTo>
                    <a:pt x="1456" y="231"/>
                  </a:lnTo>
                  <a:lnTo>
                    <a:pt x="1363" y="231"/>
                  </a:lnTo>
                  <a:lnTo>
                    <a:pt x="1363" y="231"/>
                  </a:lnTo>
                  <a:lnTo>
                    <a:pt x="1351" y="231"/>
                  </a:lnTo>
                  <a:lnTo>
                    <a:pt x="1351" y="222"/>
                  </a:lnTo>
                  <a:lnTo>
                    <a:pt x="1351" y="222"/>
                  </a:lnTo>
                  <a:lnTo>
                    <a:pt x="1345" y="213"/>
                  </a:lnTo>
                  <a:lnTo>
                    <a:pt x="1338" y="213"/>
                  </a:lnTo>
                  <a:lnTo>
                    <a:pt x="1338" y="213"/>
                  </a:lnTo>
                  <a:lnTo>
                    <a:pt x="1332" y="209"/>
                  </a:lnTo>
                  <a:lnTo>
                    <a:pt x="1326" y="209"/>
                  </a:lnTo>
                  <a:lnTo>
                    <a:pt x="1326" y="209"/>
                  </a:lnTo>
                  <a:lnTo>
                    <a:pt x="1326" y="205"/>
                  </a:lnTo>
                  <a:lnTo>
                    <a:pt x="1326" y="201"/>
                  </a:lnTo>
                  <a:lnTo>
                    <a:pt x="1314" y="201"/>
                  </a:lnTo>
                  <a:lnTo>
                    <a:pt x="1314" y="201"/>
                  </a:lnTo>
                  <a:lnTo>
                    <a:pt x="1047" y="201"/>
                  </a:lnTo>
                  <a:lnTo>
                    <a:pt x="1047" y="201"/>
                  </a:lnTo>
                  <a:lnTo>
                    <a:pt x="1035" y="201"/>
                  </a:lnTo>
                  <a:lnTo>
                    <a:pt x="1029" y="196"/>
                  </a:lnTo>
                  <a:lnTo>
                    <a:pt x="1022" y="192"/>
                  </a:lnTo>
                  <a:lnTo>
                    <a:pt x="1022" y="184"/>
                  </a:lnTo>
                  <a:lnTo>
                    <a:pt x="1022" y="184"/>
                  </a:lnTo>
                  <a:lnTo>
                    <a:pt x="1022" y="175"/>
                  </a:lnTo>
                  <a:lnTo>
                    <a:pt x="1004" y="171"/>
                  </a:lnTo>
                  <a:lnTo>
                    <a:pt x="1004" y="171"/>
                  </a:lnTo>
                  <a:lnTo>
                    <a:pt x="960" y="171"/>
                  </a:lnTo>
                  <a:lnTo>
                    <a:pt x="960" y="171"/>
                  </a:lnTo>
                  <a:lnTo>
                    <a:pt x="948" y="171"/>
                  </a:lnTo>
                  <a:lnTo>
                    <a:pt x="948" y="162"/>
                  </a:lnTo>
                  <a:lnTo>
                    <a:pt x="948" y="162"/>
                  </a:lnTo>
                  <a:lnTo>
                    <a:pt x="948" y="158"/>
                  </a:lnTo>
                  <a:lnTo>
                    <a:pt x="942" y="158"/>
                  </a:lnTo>
                  <a:lnTo>
                    <a:pt x="942" y="158"/>
                  </a:lnTo>
                  <a:lnTo>
                    <a:pt x="936" y="154"/>
                  </a:lnTo>
                  <a:lnTo>
                    <a:pt x="929" y="149"/>
                  </a:lnTo>
                  <a:lnTo>
                    <a:pt x="929" y="149"/>
                  </a:lnTo>
                  <a:lnTo>
                    <a:pt x="929" y="149"/>
                  </a:lnTo>
                  <a:lnTo>
                    <a:pt x="929" y="149"/>
                  </a:lnTo>
                  <a:lnTo>
                    <a:pt x="929" y="132"/>
                  </a:lnTo>
                  <a:lnTo>
                    <a:pt x="929" y="128"/>
                  </a:lnTo>
                  <a:lnTo>
                    <a:pt x="917" y="124"/>
                  </a:lnTo>
                  <a:lnTo>
                    <a:pt x="898" y="124"/>
                  </a:lnTo>
                  <a:lnTo>
                    <a:pt x="898" y="124"/>
                  </a:lnTo>
                  <a:lnTo>
                    <a:pt x="495" y="124"/>
                  </a:lnTo>
                  <a:lnTo>
                    <a:pt x="495" y="124"/>
                  </a:lnTo>
                  <a:lnTo>
                    <a:pt x="477" y="124"/>
                  </a:lnTo>
                  <a:lnTo>
                    <a:pt x="477" y="119"/>
                  </a:lnTo>
                  <a:lnTo>
                    <a:pt x="477" y="115"/>
                  </a:lnTo>
                  <a:lnTo>
                    <a:pt x="477" y="115"/>
                  </a:lnTo>
                  <a:lnTo>
                    <a:pt x="471" y="111"/>
                  </a:lnTo>
                  <a:lnTo>
                    <a:pt x="464" y="111"/>
                  </a:lnTo>
                  <a:lnTo>
                    <a:pt x="464" y="111"/>
                  </a:lnTo>
                  <a:lnTo>
                    <a:pt x="452" y="111"/>
                  </a:lnTo>
                  <a:lnTo>
                    <a:pt x="446" y="107"/>
                  </a:lnTo>
                  <a:lnTo>
                    <a:pt x="446" y="107"/>
                  </a:lnTo>
                  <a:close/>
                </a:path>
              </a:pathLst>
            </a:custGeom>
            <a:solidFill>
              <a:srgbClr val="149B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26" name="Freeform 23"/>
            <p:cNvSpPr>
              <a:spLocks noEditPoints="1"/>
            </p:cNvSpPr>
            <p:nvPr>
              <p:custDataLst>
                <p:tags r:id="rId7"/>
              </p:custDataLst>
            </p:nvPr>
          </p:nvSpPr>
          <p:spPr bwMode="auto">
            <a:xfrm>
              <a:off x="2062128" y="2341252"/>
              <a:ext cx="7248945" cy="1085257"/>
            </a:xfrm>
            <a:custGeom>
              <a:avLst/>
              <a:gdLst>
                <a:gd name="T0" fmla="*/ 241 w 5541"/>
                <a:gd name="T1" fmla="*/ 21 h 791"/>
                <a:gd name="T2" fmla="*/ 396 w 5541"/>
                <a:gd name="T3" fmla="*/ 55 h 791"/>
                <a:gd name="T4" fmla="*/ 427 w 5541"/>
                <a:gd name="T5" fmla="*/ 72 h 791"/>
                <a:gd name="T6" fmla="*/ 353 w 5541"/>
                <a:gd name="T7" fmla="*/ 90 h 791"/>
                <a:gd name="T8" fmla="*/ 310 w 5541"/>
                <a:gd name="T9" fmla="*/ 55 h 791"/>
                <a:gd name="T10" fmla="*/ 161 w 5541"/>
                <a:gd name="T11" fmla="*/ 17 h 791"/>
                <a:gd name="T12" fmla="*/ 1060 w 5541"/>
                <a:gd name="T13" fmla="*/ 98 h 791"/>
                <a:gd name="T14" fmla="*/ 1115 w 5541"/>
                <a:gd name="T15" fmla="*/ 132 h 791"/>
                <a:gd name="T16" fmla="*/ 1469 w 5541"/>
                <a:gd name="T17" fmla="*/ 141 h 791"/>
                <a:gd name="T18" fmla="*/ 1748 w 5541"/>
                <a:gd name="T19" fmla="*/ 171 h 791"/>
                <a:gd name="T20" fmla="*/ 1772 w 5541"/>
                <a:gd name="T21" fmla="*/ 205 h 791"/>
                <a:gd name="T22" fmla="*/ 1822 w 5541"/>
                <a:gd name="T23" fmla="*/ 235 h 791"/>
                <a:gd name="T24" fmla="*/ 1915 w 5541"/>
                <a:gd name="T25" fmla="*/ 282 h 791"/>
                <a:gd name="T26" fmla="*/ 1965 w 5541"/>
                <a:gd name="T27" fmla="*/ 312 h 791"/>
                <a:gd name="T28" fmla="*/ 2082 w 5541"/>
                <a:gd name="T29" fmla="*/ 338 h 791"/>
                <a:gd name="T30" fmla="*/ 2219 w 5541"/>
                <a:gd name="T31" fmla="*/ 359 h 791"/>
                <a:gd name="T32" fmla="*/ 2243 w 5541"/>
                <a:gd name="T33" fmla="*/ 389 h 791"/>
                <a:gd name="T34" fmla="*/ 2696 w 5541"/>
                <a:gd name="T35" fmla="*/ 427 h 791"/>
                <a:gd name="T36" fmla="*/ 2919 w 5541"/>
                <a:gd name="T37" fmla="*/ 449 h 791"/>
                <a:gd name="T38" fmla="*/ 3018 w 5541"/>
                <a:gd name="T39" fmla="*/ 474 h 791"/>
                <a:gd name="T40" fmla="*/ 3148 w 5541"/>
                <a:gd name="T41" fmla="*/ 534 h 791"/>
                <a:gd name="T42" fmla="*/ 3248 w 5541"/>
                <a:gd name="T43" fmla="*/ 556 h 791"/>
                <a:gd name="T44" fmla="*/ 3564 w 5541"/>
                <a:gd name="T45" fmla="*/ 568 h 791"/>
                <a:gd name="T46" fmla="*/ 3836 w 5541"/>
                <a:gd name="T47" fmla="*/ 611 h 791"/>
                <a:gd name="T48" fmla="*/ 3917 w 5541"/>
                <a:gd name="T49" fmla="*/ 633 h 791"/>
                <a:gd name="T50" fmla="*/ 4208 w 5541"/>
                <a:gd name="T51" fmla="*/ 662 h 791"/>
                <a:gd name="T52" fmla="*/ 4562 w 5541"/>
                <a:gd name="T53" fmla="*/ 710 h 791"/>
                <a:gd name="T54" fmla="*/ 4946 w 5541"/>
                <a:gd name="T55" fmla="*/ 735 h 791"/>
                <a:gd name="T56" fmla="*/ 5367 w 5541"/>
                <a:gd name="T57" fmla="*/ 757 h 791"/>
                <a:gd name="T58" fmla="*/ 5510 w 5541"/>
                <a:gd name="T59" fmla="*/ 791 h 791"/>
                <a:gd name="T60" fmla="*/ 5448 w 5541"/>
                <a:gd name="T61" fmla="*/ 757 h 791"/>
                <a:gd name="T62" fmla="*/ 5405 w 5541"/>
                <a:gd name="T63" fmla="*/ 731 h 791"/>
                <a:gd name="T64" fmla="*/ 4983 w 5541"/>
                <a:gd name="T65" fmla="*/ 705 h 791"/>
                <a:gd name="T66" fmla="*/ 4419 w 5541"/>
                <a:gd name="T67" fmla="*/ 684 h 791"/>
                <a:gd name="T68" fmla="*/ 4270 w 5541"/>
                <a:gd name="T69" fmla="*/ 637 h 791"/>
                <a:gd name="T70" fmla="*/ 3960 w 5541"/>
                <a:gd name="T71" fmla="*/ 628 h 791"/>
                <a:gd name="T72" fmla="*/ 3880 w 5541"/>
                <a:gd name="T73" fmla="*/ 603 h 791"/>
                <a:gd name="T74" fmla="*/ 3607 w 5541"/>
                <a:gd name="T75" fmla="*/ 581 h 791"/>
                <a:gd name="T76" fmla="*/ 3316 w 5541"/>
                <a:gd name="T77" fmla="*/ 534 h 791"/>
                <a:gd name="T78" fmla="*/ 3192 w 5541"/>
                <a:gd name="T79" fmla="*/ 504 h 791"/>
                <a:gd name="T80" fmla="*/ 3167 w 5541"/>
                <a:gd name="T81" fmla="*/ 449 h 791"/>
                <a:gd name="T82" fmla="*/ 3031 w 5541"/>
                <a:gd name="T83" fmla="*/ 423 h 791"/>
                <a:gd name="T84" fmla="*/ 2938 w 5541"/>
                <a:gd name="T85" fmla="*/ 397 h 791"/>
                <a:gd name="T86" fmla="*/ 2733 w 5541"/>
                <a:gd name="T87" fmla="*/ 385 h 791"/>
                <a:gd name="T88" fmla="*/ 2281 w 5541"/>
                <a:gd name="T89" fmla="*/ 350 h 791"/>
                <a:gd name="T90" fmla="*/ 2256 w 5541"/>
                <a:gd name="T91" fmla="*/ 325 h 791"/>
                <a:gd name="T92" fmla="*/ 2126 w 5541"/>
                <a:gd name="T93" fmla="*/ 303 h 791"/>
                <a:gd name="T94" fmla="*/ 2008 w 5541"/>
                <a:gd name="T95" fmla="*/ 278 h 791"/>
                <a:gd name="T96" fmla="*/ 1958 w 5541"/>
                <a:gd name="T97" fmla="*/ 261 h 791"/>
                <a:gd name="T98" fmla="*/ 1865 w 5541"/>
                <a:gd name="T99" fmla="*/ 214 h 791"/>
                <a:gd name="T100" fmla="*/ 1828 w 5541"/>
                <a:gd name="T101" fmla="*/ 188 h 791"/>
                <a:gd name="T102" fmla="*/ 1791 w 5541"/>
                <a:gd name="T103" fmla="*/ 158 h 791"/>
                <a:gd name="T104" fmla="*/ 1512 w 5541"/>
                <a:gd name="T105" fmla="*/ 141 h 791"/>
                <a:gd name="T106" fmla="*/ 1171 w 5541"/>
                <a:gd name="T107" fmla="*/ 111 h 791"/>
                <a:gd name="T108" fmla="*/ 1109 w 5541"/>
                <a:gd name="T109" fmla="*/ 81 h 791"/>
                <a:gd name="T110" fmla="*/ 489 w 5541"/>
                <a:gd name="T111" fmla="*/ 64 h 791"/>
                <a:gd name="T112" fmla="*/ 533 w 5541"/>
                <a:gd name="T113" fmla="*/ 77 h 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541" h="791">
                  <a:moveTo>
                    <a:pt x="0" y="0"/>
                  </a:moveTo>
                  <a:lnTo>
                    <a:pt x="0" y="0"/>
                  </a:lnTo>
                  <a:lnTo>
                    <a:pt x="0" y="13"/>
                  </a:lnTo>
                  <a:lnTo>
                    <a:pt x="0" y="13"/>
                  </a:lnTo>
                  <a:lnTo>
                    <a:pt x="229" y="13"/>
                  </a:lnTo>
                  <a:lnTo>
                    <a:pt x="229" y="13"/>
                  </a:lnTo>
                  <a:lnTo>
                    <a:pt x="241" y="13"/>
                  </a:lnTo>
                  <a:lnTo>
                    <a:pt x="241" y="21"/>
                  </a:lnTo>
                  <a:lnTo>
                    <a:pt x="241" y="21"/>
                  </a:lnTo>
                  <a:lnTo>
                    <a:pt x="241" y="43"/>
                  </a:lnTo>
                  <a:lnTo>
                    <a:pt x="241" y="43"/>
                  </a:lnTo>
                  <a:lnTo>
                    <a:pt x="241" y="51"/>
                  </a:lnTo>
                  <a:lnTo>
                    <a:pt x="254" y="51"/>
                  </a:lnTo>
                  <a:lnTo>
                    <a:pt x="254" y="51"/>
                  </a:lnTo>
                  <a:lnTo>
                    <a:pt x="378" y="51"/>
                  </a:lnTo>
                  <a:lnTo>
                    <a:pt x="378" y="51"/>
                  </a:lnTo>
                  <a:lnTo>
                    <a:pt x="390" y="51"/>
                  </a:lnTo>
                  <a:lnTo>
                    <a:pt x="396" y="55"/>
                  </a:lnTo>
                  <a:lnTo>
                    <a:pt x="396" y="60"/>
                  </a:lnTo>
                  <a:lnTo>
                    <a:pt x="396" y="60"/>
                  </a:lnTo>
                  <a:lnTo>
                    <a:pt x="396" y="64"/>
                  </a:lnTo>
                  <a:lnTo>
                    <a:pt x="402" y="68"/>
                  </a:lnTo>
                  <a:lnTo>
                    <a:pt x="415" y="68"/>
                  </a:lnTo>
                  <a:lnTo>
                    <a:pt x="415" y="68"/>
                  </a:lnTo>
                  <a:lnTo>
                    <a:pt x="421" y="68"/>
                  </a:lnTo>
                  <a:lnTo>
                    <a:pt x="427" y="72"/>
                  </a:lnTo>
                  <a:lnTo>
                    <a:pt x="427" y="72"/>
                  </a:lnTo>
                  <a:lnTo>
                    <a:pt x="433" y="77"/>
                  </a:lnTo>
                  <a:lnTo>
                    <a:pt x="440" y="85"/>
                  </a:lnTo>
                  <a:lnTo>
                    <a:pt x="440" y="85"/>
                  </a:lnTo>
                  <a:lnTo>
                    <a:pt x="446" y="85"/>
                  </a:lnTo>
                  <a:lnTo>
                    <a:pt x="446" y="90"/>
                  </a:lnTo>
                  <a:lnTo>
                    <a:pt x="446" y="90"/>
                  </a:lnTo>
                  <a:lnTo>
                    <a:pt x="365" y="90"/>
                  </a:lnTo>
                  <a:lnTo>
                    <a:pt x="365" y="90"/>
                  </a:lnTo>
                  <a:lnTo>
                    <a:pt x="353" y="90"/>
                  </a:lnTo>
                  <a:lnTo>
                    <a:pt x="353" y="81"/>
                  </a:lnTo>
                  <a:lnTo>
                    <a:pt x="353" y="81"/>
                  </a:lnTo>
                  <a:lnTo>
                    <a:pt x="353" y="68"/>
                  </a:lnTo>
                  <a:lnTo>
                    <a:pt x="353" y="60"/>
                  </a:lnTo>
                  <a:lnTo>
                    <a:pt x="347" y="55"/>
                  </a:lnTo>
                  <a:lnTo>
                    <a:pt x="347" y="55"/>
                  </a:lnTo>
                  <a:lnTo>
                    <a:pt x="334" y="51"/>
                  </a:lnTo>
                  <a:lnTo>
                    <a:pt x="310" y="55"/>
                  </a:lnTo>
                  <a:lnTo>
                    <a:pt x="310" y="55"/>
                  </a:lnTo>
                  <a:lnTo>
                    <a:pt x="217" y="55"/>
                  </a:lnTo>
                  <a:lnTo>
                    <a:pt x="217" y="55"/>
                  </a:lnTo>
                  <a:lnTo>
                    <a:pt x="204" y="51"/>
                  </a:lnTo>
                  <a:lnTo>
                    <a:pt x="204" y="43"/>
                  </a:lnTo>
                  <a:lnTo>
                    <a:pt x="204" y="43"/>
                  </a:lnTo>
                  <a:lnTo>
                    <a:pt x="204" y="17"/>
                  </a:lnTo>
                  <a:lnTo>
                    <a:pt x="204" y="17"/>
                  </a:lnTo>
                  <a:lnTo>
                    <a:pt x="161" y="17"/>
                  </a:lnTo>
                  <a:lnTo>
                    <a:pt x="161" y="17"/>
                  </a:lnTo>
                  <a:lnTo>
                    <a:pt x="0" y="17"/>
                  </a:lnTo>
                  <a:lnTo>
                    <a:pt x="0" y="17"/>
                  </a:lnTo>
                  <a:lnTo>
                    <a:pt x="0" y="25"/>
                  </a:lnTo>
                  <a:lnTo>
                    <a:pt x="0" y="0"/>
                  </a:lnTo>
                  <a:close/>
                  <a:moveTo>
                    <a:pt x="1053" y="90"/>
                  </a:moveTo>
                  <a:lnTo>
                    <a:pt x="1053" y="90"/>
                  </a:lnTo>
                  <a:lnTo>
                    <a:pt x="1060" y="94"/>
                  </a:lnTo>
                  <a:lnTo>
                    <a:pt x="1060" y="98"/>
                  </a:lnTo>
                  <a:lnTo>
                    <a:pt x="1060" y="98"/>
                  </a:lnTo>
                  <a:lnTo>
                    <a:pt x="1066" y="111"/>
                  </a:lnTo>
                  <a:lnTo>
                    <a:pt x="1084" y="111"/>
                  </a:lnTo>
                  <a:lnTo>
                    <a:pt x="1084" y="111"/>
                  </a:lnTo>
                  <a:lnTo>
                    <a:pt x="1097" y="111"/>
                  </a:lnTo>
                  <a:lnTo>
                    <a:pt x="1097" y="111"/>
                  </a:lnTo>
                  <a:lnTo>
                    <a:pt x="1109" y="115"/>
                  </a:lnTo>
                  <a:lnTo>
                    <a:pt x="1115" y="124"/>
                  </a:lnTo>
                  <a:lnTo>
                    <a:pt x="1115" y="124"/>
                  </a:lnTo>
                  <a:lnTo>
                    <a:pt x="1115" y="132"/>
                  </a:lnTo>
                  <a:lnTo>
                    <a:pt x="1115" y="137"/>
                  </a:lnTo>
                  <a:lnTo>
                    <a:pt x="1134" y="137"/>
                  </a:lnTo>
                  <a:lnTo>
                    <a:pt x="1134" y="137"/>
                  </a:lnTo>
                  <a:lnTo>
                    <a:pt x="1431" y="137"/>
                  </a:lnTo>
                  <a:lnTo>
                    <a:pt x="1431" y="137"/>
                  </a:lnTo>
                  <a:lnTo>
                    <a:pt x="1450" y="137"/>
                  </a:lnTo>
                  <a:lnTo>
                    <a:pt x="1462" y="137"/>
                  </a:lnTo>
                  <a:lnTo>
                    <a:pt x="1462" y="137"/>
                  </a:lnTo>
                  <a:lnTo>
                    <a:pt x="1469" y="141"/>
                  </a:lnTo>
                  <a:lnTo>
                    <a:pt x="1469" y="145"/>
                  </a:lnTo>
                  <a:lnTo>
                    <a:pt x="1462" y="158"/>
                  </a:lnTo>
                  <a:lnTo>
                    <a:pt x="1462" y="158"/>
                  </a:lnTo>
                  <a:lnTo>
                    <a:pt x="1469" y="167"/>
                  </a:lnTo>
                  <a:lnTo>
                    <a:pt x="1481" y="171"/>
                  </a:lnTo>
                  <a:lnTo>
                    <a:pt x="1481" y="171"/>
                  </a:lnTo>
                  <a:lnTo>
                    <a:pt x="1735" y="171"/>
                  </a:lnTo>
                  <a:lnTo>
                    <a:pt x="1735" y="171"/>
                  </a:lnTo>
                  <a:lnTo>
                    <a:pt x="1748" y="171"/>
                  </a:lnTo>
                  <a:lnTo>
                    <a:pt x="1754" y="179"/>
                  </a:lnTo>
                  <a:lnTo>
                    <a:pt x="1754" y="179"/>
                  </a:lnTo>
                  <a:lnTo>
                    <a:pt x="1754" y="184"/>
                  </a:lnTo>
                  <a:lnTo>
                    <a:pt x="1766" y="188"/>
                  </a:lnTo>
                  <a:lnTo>
                    <a:pt x="1766" y="188"/>
                  </a:lnTo>
                  <a:lnTo>
                    <a:pt x="1772" y="188"/>
                  </a:lnTo>
                  <a:lnTo>
                    <a:pt x="1772" y="196"/>
                  </a:lnTo>
                  <a:lnTo>
                    <a:pt x="1772" y="196"/>
                  </a:lnTo>
                  <a:lnTo>
                    <a:pt x="1772" y="205"/>
                  </a:lnTo>
                  <a:lnTo>
                    <a:pt x="1772" y="205"/>
                  </a:lnTo>
                  <a:lnTo>
                    <a:pt x="1779" y="214"/>
                  </a:lnTo>
                  <a:lnTo>
                    <a:pt x="1791" y="218"/>
                  </a:lnTo>
                  <a:lnTo>
                    <a:pt x="1791" y="218"/>
                  </a:lnTo>
                  <a:lnTo>
                    <a:pt x="1810" y="218"/>
                  </a:lnTo>
                  <a:lnTo>
                    <a:pt x="1816" y="218"/>
                  </a:lnTo>
                  <a:lnTo>
                    <a:pt x="1816" y="226"/>
                  </a:lnTo>
                  <a:lnTo>
                    <a:pt x="1822" y="235"/>
                  </a:lnTo>
                  <a:lnTo>
                    <a:pt x="1822" y="235"/>
                  </a:lnTo>
                  <a:lnTo>
                    <a:pt x="1822" y="243"/>
                  </a:lnTo>
                  <a:lnTo>
                    <a:pt x="1834" y="248"/>
                  </a:lnTo>
                  <a:lnTo>
                    <a:pt x="1834" y="248"/>
                  </a:lnTo>
                  <a:lnTo>
                    <a:pt x="1909" y="248"/>
                  </a:lnTo>
                  <a:lnTo>
                    <a:pt x="1909" y="248"/>
                  </a:lnTo>
                  <a:lnTo>
                    <a:pt x="1915" y="248"/>
                  </a:lnTo>
                  <a:lnTo>
                    <a:pt x="1915" y="256"/>
                  </a:lnTo>
                  <a:lnTo>
                    <a:pt x="1915" y="256"/>
                  </a:lnTo>
                  <a:lnTo>
                    <a:pt x="1915" y="282"/>
                  </a:lnTo>
                  <a:lnTo>
                    <a:pt x="1915" y="282"/>
                  </a:lnTo>
                  <a:lnTo>
                    <a:pt x="1921" y="295"/>
                  </a:lnTo>
                  <a:lnTo>
                    <a:pt x="1940" y="295"/>
                  </a:lnTo>
                  <a:lnTo>
                    <a:pt x="1940" y="295"/>
                  </a:lnTo>
                  <a:lnTo>
                    <a:pt x="1952" y="295"/>
                  </a:lnTo>
                  <a:lnTo>
                    <a:pt x="1965" y="299"/>
                  </a:lnTo>
                  <a:lnTo>
                    <a:pt x="1965" y="303"/>
                  </a:lnTo>
                  <a:lnTo>
                    <a:pt x="1965" y="312"/>
                  </a:lnTo>
                  <a:lnTo>
                    <a:pt x="1965" y="312"/>
                  </a:lnTo>
                  <a:lnTo>
                    <a:pt x="1965" y="320"/>
                  </a:lnTo>
                  <a:lnTo>
                    <a:pt x="1977" y="325"/>
                  </a:lnTo>
                  <a:lnTo>
                    <a:pt x="1977" y="325"/>
                  </a:lnTo>
                  <a:lnTo>
                    <a:pt x="2057" y="325"/>
                  </a:lnTo>
                  <a:lnTo>
                    <a:pt x="2057" y="325"/>
                  </a:lnTo>
                  <a:lnTo>
                    <a:pt x="2070" y="325"/>
                  </a:lnTo>
                  <a:lnTo>
                    <a:pt x="2076" y="325"/>
                  </a:lnTo>
                  <a:lnTo>
                    <a:pt x="2082" y="329"/>
                  </a:lnTo>
                  <a:lnTo>
                    <a:pt x="2082" y="338"/>
                  </a:lnTo>
                  <a:lnTo>
                    <a:pt x="2082" y="338"/>
                  </a:lnTo>
                  <a:lnTo>
                    <a:pt x="2082" y="350"/>
                  </a:lnTo>
                  <a:lnTo>
                    <a:pt x="2101" y="350"/>
                  </a:lnTo>
                  <a:lnTo>
                    <a:pt x="2101" y="350"/>
                  </a:lnTo>
                  <a:lnTo>
                    <a:pt x="2188" y="350"/>
                  </a:lnTo>
                  <a:lnTo>
                    <a:pt x="2188" y="350"/>
                  </a:lnTo>
                  <a:lnTo>
                    <a:pt x="2206" y="350"/>
                  </a:lnTo>
                  <a:lnTo>
                    <a:pt x="2212" y="355"/>
                  </a:lnTo>
                  <a:lnTo>
                    <a:pt x="2219" y="359"/>
                  </a:lnTo>
                  <a:lnTo>
                    <a:pt x="2219" y="372"/>
                  </a:lnTo>
                  <a:lnTo>
                    <a:pt x="2219" y="372"/>
                  </a:lnTo>
                  <a:lnTo>
                    <a:pt x="2219" y="376"/>
                  </a:lnTo>
                  <a:lnTo>
                    <a:pt x="2225" y="376"/>
                  </a:lnTo>
                  <a:lnTo>
                    <a:pt x="2225" y="376"/>
                  </a:lnTo>
                  <a:lnTo>
                    <a:pt x="2237" y="376"/>
                  </a:lnTo>
                  <a:lnTo>
                    <a:pt x="2237" y="380"/>
                  </a:lnTo>
                  <a:lnTo>
                    <a:pt x="2243" y="389"/>
                  </a:lnTo>
                  <a:lnTo>
                    <a:pt x="2243" y="389"/>
                  </a:lnTo>
                  <a:lnTo>
                    <a:pt x="2243" y="397"/>
                  </a:lnTo>
                  <a:lnTo>
                    <a:pt x="2256" y="402"/>
                  </a:lnTo>
                  <a:lnTo>
                    <a:pt x="2256" y="402"/>
                  </a:lnTo>
                  <a:lnTo>
                    <a:pt x="2677" y="402"/>
                  </a:lnTo>
                  <a:lnTo>
                    <a:pt x="2677" y="402"/>
                  </a:lnTo>
                  <a:lnTo>
                    <a:pt x="2690" y="402"/>
                  </a:lnTo>
                  <a:lnTo>
                    <a:pt x="2696" y="415"/>
                  </a:lnTo>
                  <a:lnTo>
                    <a:pt x="2696" y="415"/>
                  </a:lnTo>
                  <a:lnTo>
                    <a:pt x="2696" y="427"/>
                  </a:lnTo>
                  <a:lnTo>
                    <a:pt x="2715" y="427"/>
                  </a:lnTo>
                  <a:lnTo>
                    <a:pt x="2715" y="427"/>
                  </a:lnTo>
                  <a:lnTo>
                    <a:pt x="2888" y="427"/>
                  </a:lnTo>
                  <a:lnTo>
                    <a:pt x="2888" y="427"/>
                  </a:lnTo>
                  <a:lnTo>
                    <a:pt x="2900" y="432"/>
                  </a:lnTo>
                  <a:lnTo>
                    <a:pt x="2907" y="440"/>
                  </a:lnTo>
                  <a:lnTo>
                    <a:pt x="2907" y="440"/>
                  </a:lnTo>
                  <a:lnTo>
                    <a:pt x="2907" y="449"/>
                  </a:lnTo>
                  <a:lnTo>
                    <a:pt x="2919" y="449"/>
                  </a:lnTo>
                  <a:lnTo>
                    <a:pt x="2919" y="449"/>
                  </a:lnTo>
                  <a:lnTo>
                    <a:pt x="2981" y="449"/>
                  </a:lnTo>
                  <a:lnTo>
                    <a:pt x="2981" y="449"/>
                  </a:lnTo>
                  <a:lnTo>
                    <a:pt x="3000" y="453"/>
                  </a:lnTo>
                  <a:lnTo>
                    <a:pt x="3006" y="466"/>
                  </a:lnTo>
                  <a:lnTo>
                    <a:pt x="3006" y="466"/>
                  </a:lnTo>
                  <a:lnTo>
                    <a:pt x="3006" y="474"/>
                  </a:lnTo>
                  <a:lnTo>
                    <a:pt x="3018" y="474"/>
                  </a:lnTo>
                  <a:lnTo>
                    <a:pt x="3018" y="474"/>
                  </a:lnTo>
                  <a:lnTo>
                    <a:pt x="3124" y="474"/>
                  </a:lnTo>
                  <a:lnTo>
                    <a:pt x="3124" y="474"/>
                  </a:lnTo>
                  <a:lnTo>
                    <a:pt x="3130" y="474"/>
                  </a:lnTo>
                  <a:lnTo>
                    <a:pt x="3136" y="483"/>
                  </a:lnTo>
                  <a:lnTo>
                    <a:pt x="3136" y="483"/>
                  </a:lnTo>
                  <a:lnTo>
                    <a:pt x="3136" y="521"/>
                  </a:lnTo>
                  <a:lnTo>
                    <a:pt x="3136" y="521"/>
                  </a:lnTo>
                  <a:lnTo>
                    <a:pt x="3136" y="530"/>
                  </a:lnTo>
                  <a:lnTo>
                    <a:pt x="3148" y="534"/>
                  </a:lnTo>
                  <a:lnTo>
                    <a:pt x="3148" y="534"/>
                  </a:lnTo>
                  <a:lnTo>
                    <a:pt x="3229" y="530"/>
                  </a:lnTo>
                  <a:lnTo>
                    <a:pt x="3229" y="530"/>
                  </a:lnTo>
                  <a:lnTo>
                    <a:pt x="3248" y="534"/>
                  </a:lnTo>
                  <a:lnTo>
                    <a:pt x="3248" y="543"/>
                  </a:lnTo>
                  <a:lnTo>
                    <a:pt x="3248" y="543"/>
                  </a:lnTo>
                  <a:lnTo>
                    <a:pt x="3248" y="547"/>
                  </a:lnTo>
                  <a:lnTo>
                    <a:pt x="3248" y="547"/>
                  </a:lnTo>
                  <a:lnTo>
                    <a:pt x="3248" y="556"/>
                  </a:lnTo>
                  <a:lnTo>
                    <a:pt x="3248" y="560"/>
                  </a:lnTo>
                  <a:lnTo>
                    <a:pt x="3266" y="560"/>
                  </a:lnTo>
                  <a:lnTo>
                    <a:pt x="3266" y="560"/>
                  </a:lnTo>
                  <a:lnTo>
                    <a:pt x="3378" y="560"/>
                  </a:lnTo>
                  <a:lnTo>
                    <a:pt x="3378" y="560"/>
                  </a:lnTo>
                  <a:lnTo>
                    <a:pt x="3551" y="560"/>
                  </a:lnTo>
                  <a:lnTo>
                    <a:pt x="3551" y="560"/>
                  </a:lnTo>
                  <a:lnTo>
                    <a:pt x="3564" y="564"/>
                  </a:lnTo>
                  <a:lnTo>
                    <a:pt x="3564" y="568"/>
                  </a:lnTo>
                  <a:lnTo>
                    <a:pt x="3564" y="568"/>
                  </a:lnTo>
                  <a:lnTo>
                    <a:pt x="3564" y="598"/>
                  </a:lnTo>
                  <a:lnTo>
                    <a:pt x="3564" y="598"/>
                  </a:lnTo>
                  <a:lnTo>
                    <a:pt x="3564" y="607"/>
                  </a:lnTo>
                  <a:lnTo>
                    <a:pt x="3576" y="611"/>
                  </a:lnTo>
                  <a:lnTo>
                    <a:pt x="3576" y="611"/>
                  </a:lnTo>
                  <a:lnTo>
                    <a:pt x="3818" y="611"/>
                  </a:lnTo>
                  <a:lnTo>
                    <a:pt x="3818" y="611"/>
                  </a:lnTo>
                  <a:lnTo>
                    <a:pt x="3836" y="611"/>
                  </a:lnTo>
                  <a:lnTo>
                    <a:pt x="3836" y="615"/>
                  </a:lnTo>
                  <a:lnTo>
                    <a:pt x="3836" y="620"/>
                  </a:lnTo>
                  <a:lnTo>
                    <a:pt x="3836" y="620"/>
                  </a:lnTo>
                  <a:lnTo>
                    <a:pt x="3836" y="633"/>
                  </a:lnTo>
                  <a:lnTo>
                    <a:pt x="3855" y="633"/>
                  </a:lnTo>
                  <a:lnTo>
                    <a:pt x="3855" y="633"/>
                  </a:lnTo>
                  <a:lnTo>
                    <a:pt x="3911" y="633"/>
                  </a:lnTo>
                  <a:lnTo>
                    <a:pt x="3911" y="633"/>
                  </a:lnTo>
                  <a:lnTo>
                    <a:pt x="3917" y="633"/>
                  </a:lnTo>
                  <a:lnTo>
                    <a:pt x="3917" y="641"/>
                  </a:lnTo>
                  <a:lnTo>
                    <a:pt x="3917" y="641"/>
                  </a:lnTo>
                  <a:lnTo>
                    <a:pt x="3923" y="654"/>
                  </a:lnTo>
                  <a:lnTo>
                    <a:pt x="3923" y="662"/>
                  </a:lnTo>
                  <a:lnTo>
                    <a:pt x="3936" y="662"/>
                  </a:lnTo>
                  <a:lnTo>
                    <a:pt x="3954" y="662"/>
                  </a:lnTo>
                  <a:lnTo>
                    <a:pt x="3954" y="662"/>
                  </a:lnTo>
                  <a:lnTo>
                    <a:pt x="4208" y="662"/>
                  </a:lnTo>
                  <a:lnTo>
                    <a:pt x="4208" y="662"/>
                  </a:lnTo>
                  <a:lnTo>
                    <a:pt x="4227" y="667"/>
                  </a:lnTo>
                  <a:lnTo>
                    <a:pt x="4227" y="675"/>
                  </a:lnTo>
                  <a:lnTo>
                    <a:pt x="4227" y="675"/>
                  </a:lnTo>
                  <a:lnTo>
                    <a:pt x="4227" y="697"/>
                  </a:lnTo>
                  <a:lnTo>
                    <a:pt x="4227" y="697"/>
                  </a:lnTo>
                  <a:lnTo>
                    <a:pt x="4227" y="705"/>
                  </a:lnTo>
                  <a:lnTo>
                    <a:pt x="4239" y="710"/>
                  </a:lnTo>
                  <a:lnTo>
                    <a:pt x="4239" y="710"/>
                  </a:lnTo>
                  <a:lnTo>
                    <a:pt x="4562" y="710"/>
                  </a:lnTo>
                  <a:lnTo>
                    <a:pt x="4562" y="710"/>
                  </a:lnTo>
                  <a:lnTo>
                    <a:pt x="4580" y="710"/>
                  </a:lnTo>
                  <a:lnTo>
                    <a:pt x="4580" y="722"/>
                  </a:lnTo>
                  <a:lnTo>
                    <a:pt x="4580" y="722"/>
                  </a:lnTo>
                  <a:lnTo>
                    <a:pt x="4586" y="731"/>
                  </a:lnTo>
                  <a:lnTo>
                    <a:pt x="4599" y="735"/>
                  </a:lnTo>
                  <a:lnTo>
                    <a:pt x="4599" y="735"/>
                  </a:lnTo>
                  <a:lnTo>
                    <a:pt x="4946" y="735"/>
                  </a:lnTo>
                  <a:lnTo>
                    <a:pt x="4946" y="735"/>
                  </a:lnTo>
                  <a:lnTo>
                    <a:pt x="4958" y="735"/>
                  </a:lnTo>
                  <a:lnTo>
                    <a:pt x="4958" y="744"/>
                  </a:lnTo>
                  <a:lnTo>
                    <a:pt x="4958" y="744"/>
                  </a:lnTo>
                  <a:lnTo>
                    <a:pt x="4965" y="757"/>
                  </a:lnTo>
                  <a:lnTo>
                    <a:pt x="4983" y="757"/>
                  </a:lnTo>
                  <a:lnTo>
                    <a:pt x="4983" y="757"/>
                  </a:lnTo>
                  <a:lnTo>
                    <a:pt x="5349" y="757"/>
                  </a:lnTo>
                  <a:lnTo>
                    <a:pt x="5349" y="757"/>
                  </a:lnTo>
                  <a:lnTo>
                    <a:pt x="5367" y="757"/>
                  </a:lnTo>
                  <a:lnTo>
                    <a:pt x="5374" y="761"/>
                  </a:lnTo>
                  <a:lnTo>
                    <a:pt x="5380" y="769"/>
                  </a:lnTo>
                  <a:lnTo>
                    <a:pt x="5380" y="778"/>
                  </a:lnTo>
                  <a:lnTo>
                    <a:pt x="5380" y="778"/>
                  </a:lnTo>
                  <a:lnTo>
                    <a:pt x="5380" y="786"/>
                  </a:lnTo>
                  <a:lnTo>
                    <a:pt x="5392" y="791"/>
                  </a:lnTo>
                  <a:lnTo>
                    <a:pt x="5392" y="791"/>
                  </a:lnTo>
                  <a:lnTo>
                    <a:pt x="5510" y="791"/>
                  </a:lnTo>
                  <a:lnTo>
                    <a:pt x="5510" y="791"/>
                  </a:lnTo>
                  <a:lnTo>
                    <a:pt x="5529" y="791"/>
                  </a:lnTo>
                  <a:lnTo>
                    <a:pt x="5541" y="786"/>
                  </a:lnTo>
                  <a:lnTo>
                    <a:pt x="5541" y="782"/>
                  </a:lnTo>
                  <a:lnTo>
                    <a:pt x="5541" y="765"/>
                  </a:lnTo>
                  <a:lnTo>
                    <a:pt x="5541" y="765"/>
                  </a:lnTo>
                  <a:lnTo>
                    <a:pt x="5541" y="761"/>
                  </a:lnTo>
                  <a:lnTo>
                    <a:pt x="5529" y="757"/>
                  </a:lnTo>
                  <a:lnTo>
                    <a:pt x="5529" y="757"/>
                  </a:lnTo>
                  <a:lnTo>
                    <a:pt x="5448" y="757"/>
                  </a:lnTo>
                  <a:lnTo>
                    <a:pt x="5448" y="757"/>
                  </a:lnTo>
                  <a:lnTo>
                    <a:pt x="5429" y="757"/>
                  </a:lnTo>
                  <a:lnTo>
                    <a:pt x="5423" y="757"/>
                  </a:lnTo>
                  <a:lnTo>
                    <a:pt x="5417" y="748"/>
                  </a:lnTo>
                  <a:lnTo>
                    <a:pt x="5417" y="739"/>
                  </a:lnTo>
                  <a:lnTo>
                    <a:pt x="5417" y="739"/>
                  </a:lnTo>
                  <a:lnTo>
                    <a:pt x="5417" y="731"/>
                  </a:lnTo>
                  <a:lnTo>
                    <a:pt x="5405" y="731"/>
                  </a:lnTo>
                  <a:lnTo>
                    <a:pt x="5405" y="731"/>
                  </a:lnTo>
                  <a:lnTo>
                    <a:pt x="5014" y="731"/>
                  </a:lnTo>
                  <a:lnTo>
                    <a:pt x="5014" y="731"/>
                  </a:lnTo>
                  <a:lnTo>
                    <a:pt x="5002" y="727"/>
                  </a:lnTo>
                  <a:lnTo>
                    <a:pt x="5002" y="718"/>
                  </a:lnTo>
                  <a:lnTo>
                    <a:pt x="5002" y="718"/>
                  </a:lnTo>
                  <a:lnTo>
                    <a:pt x="5002" y="714"/>
                  </a:lnTo>
                  <a:lnTo>
                    <a:pt x="5002" y="710"/>
                  </a:lnTo>
                  <a:lnTo>
                    <a:pt x="4983" y="705"/>
                  </a:lnTo>
                  <a:lnTo>
                    <a:pt x="4983" y="705"/>
                  </a:lnTo>
                  <a:lnTo>
                    <a:pt x="4642" y="705"/>
                  </a:lnTo>
                  <a:lnTo>
                    <a:pt x="4642" y="705"/>
                  </a:lnTo>
                  <a:lnTo>
                    <a:pt x="4630" y="705"/>
                  </a:lnTo>
                  <a:lnTo>
                    <a:pt x="4624" y="692"/>
                  </a:lnTo>
                  <a:lnTo>
                    <a:pt x="4624" y="692"/>
                  </a:lnTo>
                  <a:lnTo>
                    <a:pt x="4624" y="684"/>
                  </a:lnTo>
                  <a:lnTo>
                    <a:pt x="4605" y="684"/>
                  </a:lnTo>
                  <a:lnTo>
                    <a:pt x="4605" y="684"/>
                  </a:lnTo>
                  <a:lnTo>
                    <a:pt x="4419" y="684"/>
                  </a:lnTo>
                  <a:lnTo>
                    <a:pt x="4419" y="684"/>
                  </a:lnTo>
                  <a:lnTo>
                    <a:pt x="4283" y="684"/>
                  </a:lnTo>
                  <a:lnTo>
                    <a:pt x="4283" y="684"/>
                  </a:lnTo>
                  <a:lnTo>
                    <a:pt x="4270" y="680"/>
                  </a:lnTo>
                  <a:lnTo>
                    <a:pt x="4270" y="675"/>
                  </a:lnTo>
                  <a:lnTo>
                    <a:pt x="4270" y="675"/>
                  </a:lnTo>
                  <a:lnTo>
                    <a:pt x="4270" y="645"/>
                  </a:lnTo>
                  <a:lnTo>
                    <a:pt x="4270" y="645"/>
                  </a:lnTo>
                  <a:lnTo>
                    <a:pt x="4270" y="637"/>
                  </a:lnTo>
                  <a:lnTo>
                    <a:pt x="4252" y="633"/>
                  </a:lnTo>
                  <a:lnTo>
                    <a:pt x="4252" y="633"/>
                  </a:lnTo>
                  <a:lnTo>
                    <a:pt x="4041" y="633"/>
                  </a:lnTo>
                  <a:lnTo>
                    <a:pt x="4041" y="633"/>
                  </a:lnTo>
                  <a:lnTo>
                    <a:pt x="3973" y="633"/>
                  </a:lnTo>
                  <a:lnTo>
                    <a:pt x="3973" y="633"/>
                  </a:lnTo>
                  <a:lnTo>
                    <a:pt x="3967" y="633"/>
                  </a:lnTo>
                  <a:lnTo>
                    <a:pt x="3960" y="628"/>
                  </a:lnTo>
                  <a:lnTo>
                    <a:pt x="3960" y="628"/>
                  </a:lnTo>
                  <a:lnTo>
                    <a:pt x="3960" y="620"/>
                  </a:lnTo>
                  <a:lnTo>
                    <a:pt x="3960" y="615"/>
                  </a:lnTo>
                  <a:lnTo>
                    <a:pt x="3960" y="615"/>
                  </a:lnTo>
                  <a:lnTo>
                    <a:pt x="3960" y="607"/>
                  </a:lnTo>
                  <a:lnTo>
                    <a:pt x="3948" y="607"/>
                  </a:lnTo>
                  <a:lnTo>
                    <a:pt x="3948" y="607"/>
                  </a:lnTo>
                  <a:lnTo>
                    <a:pt x="3892" y="607"/>
                  </a:lnTo>
                  <a:lnTo>
                    <a:pt x="3892" y="607"/>
                  </a:lnTo>
                  <a:lnTo>
                    <a:pt x="3880" y="603"/>
                  </a:lnTo>
                  <a:lnTo>
                    <a:pt x="3880" y="598"/>
                  </a:lnTo>
                  <a:lnTo>
                    <a:pt x="3880" y="598"/>
                  </a:lnTo>
                  <a:lnTo>
                    <a:pt x="3880" y="590"/>
                  </a:lnTo>
                  <a:lnTo>
                    <a:pt x="3874" y="586"/>
                  </a:lnTo>
                  <a:lnTo>
                    <a:pt x="3855" y="581"/>
                  </a:lnTo>
                  <a:lnTo>
                    <a:pt x="3855" y="581"/>
                  </a:lnTo>
                  <a:lnTo>
                    <a:pt x="3620" y="581"/>
                  </a:lnTo>
                  <a:lnTo>
                    <a:pt x="3620" y="581"/>
                  </a:lnTo>
                  <a:lnTo>
                    <a:pt x="3607" y="581"/>
                  </a:lnTo>
                  <a:lnTo>
                    <a:pt x="3607" y="573"/>
                  </a:lnTo>
                  <a:lnTo>
                    <a:pt x="3607" y="573"/>
                  </a:lnTo>
                  <a:lnTo>
                    <a:pt x="3607" y="543"/>
                  </a:lnTo>
                  <a:lnTo>
                    <a:pt x="3607" y="543"/>
                  </a:lnTo>
                  <a:lnTo>
                    <a:pt x="3601" y="534"/>
                  </a:lnTo>
                  <a:lnTo>
                    <a:pt x="3589" y="530"/>
                  </a:lnTo>
                  <a:lnTo>
                    <a:pt x="3589" y="530"/>
                  </a:lnTo>
                  <a:lnTo>
                    <a:pt x="3316" y="534"/>
                  </a:lnTo>
                  <a:lnTo>
                    <a:pt x="3316" y="534"/>
                  </a:lnTo>
                  <a:lnTo>
                    <a:pt x="3303" y="530"/>
                  </a:lnTo>
                  <a:lnTo>
                    <a:pt x="3291" y="530"/>
                  </a:lnTo>
                  <a:lnTo>
                    <a:pt x="3291" y="526"/>
                  </a:lnTo>
                  <a:lnTo>
                    <a:pt x="3291" y="513"/>
                  </a:lnTo>
                  <a:lnTo>
                    <a:pt x="3291" y="513"/>
                  </a:lnTo>
                  <a:lnTo>
                    <a:pt x="3285" y="504"/>
                  </a:lnTo>
                  <a:lnTo>
                    <a:pt x="3272" y="504"/>
                  </a:lnTo>
                  <a:lnTo>
                    <a:pt x="3272" y="504"/>
                  </a:lnTo>
                  <a:lnTo>
                    <a:pt x="3192" y="504"/>
                  </a:lnTo>
                  <a:lnTo>
                    <a:pt x="3192" y="504"/>
                  </a:lnTo>
                  <a:lnTo>
                    <a:pt x="3173" y="500"/>
                  </a:lnTo>
                  <a:lnTo>
                    <a:pt x="3173" y="496"/>
                  </a:lnTo>
                  <a:lnTo>
                    <a:pt x="3173" y="491"/>
                  </a:lnTo>
                  <a:lnTo>
                    <a:pt x="3173" y="491"/>
                  </a:lnTo>
                  <a:lnTo>
                    <a:pt x="3173" y="457"/>
                  </a:lnTo>
                  <a:lnTo>
                    <a:pt x="3173" y="457"/>
                  </a:lnTo>
                  <a:lnTo>
                    <a:pt x="3173" y="453"/>
                  </a:lnTo>
                  <a:lnTo>
                    <a:pt x="3167" y="449"/>
                  </a:lnTo>
                  <a:lnTo>
                    <a:pt x="3155" y="444"/>
                  </a:lnTo>
                  <a:lnTo>
                    <a:pt x="3155" y="444"/>
                  </a:lnTo>
                  <a:lnTo>
                    <a:pt x="3062" y="444"/>
                  </a:lnTo>
                  <a:lnTo>
                    <a:pt x="3062" y="444"/>
                  </a:lnTo>
                  <a:lnTo>
                    <a:pt x="3049" y="444"/>
                  </a:lnTo>
                  <a:lnTo>
                    <a:pt x="3043" y="436"/>
                  </a:lnTo>
                  <a:lnTo>
                    <a:pt x="3043" y="436"/>
                  </a:lnTo>
                  <a:lnTo>
                    <a:pt x="3043" y="423"/>
                  </a:lnTo>
                  <a:lnTo>
                    <a:pt x="3031" y="423"/>
                  </a:lnTo>
                  <a:lnTo>
                    <a:pt x="3031" y="423"/>
                  </a:lnTo>
                  <a:lnTo>
                    <a:pt x="2956" y="423"/>
                  </a:lnTo>
                  <a:lnTo>
                    <a:pt x="2956" y="423"/>
                  </a:lnTo>
                  <a:lnTo>
                    <a:pt x="2950" y="423"/>
                  </a:lnTo>
                  <a:lnTo>
                    <a:pt x="2944" y="415"/>
                  </a:lnTo>
                  <a:lnTo>
                    <a:pt x="2944" y="415"/>
                  </a:lnTo>
                  <a:lnTo>
                    <a:pt x="2944" y="406"/>
                  </a:lnTo>
                  <a:lnTo>
                    <a:pt x="2944" y="402"/>
                  </a:lnTo>
                  <a:lnTo>
                    <a:pt x="2938" y="397"/>
                  </a:lnTo>
                  <a:lnTo>
                    <a:pt x="2925" y="397"/>
                  </a:lnTo>
                  <a:lnTo>
                    <a:pt x="2925" y="397"/>
                  </a:lnTo>
                  <a:lnTo>
                    <a:pt x="2746" y="397"/>
                  </a:lnTo>
                  <a:lnTo>
                    <a:pt x="2746" y="397"/>
                  </a:lnTo>
                  <a:lnTo>
                    <a:pt x="2733" y="397"/>
                  </a:lnTo>
                  <a:lnTo>
                    <a:pt x="2733" y="389"/>
                  </a:lnTo>
                  <a:lnTo>
                    <a:pt x="2733" y="389"/>
                  </a:lnTo>
                  <a:lnTo>
                    <a:pt x="2733" y="385"/>
                  </a:lnTo>
                  <a:lnTo>
                    <a:pt x="2733" y="385"/>
                  </a:lnTo>
                  <a:lnTo>
                    <a:pt x="2733" y="376"/>
                  </a:lnTo>
                  <a:lnTo>
                    <a:pt x="2715" y="372"/>
                  </a:lnTo>
                  <a:lnTo>
                    <a:pt x="2715" y="372"/>
                  </a:lnTo>
                  <a:lnTo>
                    <a:pt x="2299" y="372"/>
                  </a:lnTo>
                  <a:lnTo>
                    <a:pt x="2299" y="372"/>
                  </a:lnTo>
                  <a:lnTo>
                    <a:pt x="2287" y="372"/>
                  </a:lnTo>
                  <a:lnTo>
                    <a:pt x="2281" y="359"/>
                  </a:lnTo>
                  <a:lnTo>
                    <a:pt x="2281" y="359"/>
                  </a:lnTo>
                  <a:lnTo>
                    <a:pt x="2281" y="350"/>
                  </a:lnTo>
                  <a:lnTo>
                    <a:pt x="2274" y="350"/>
                  </a:lnTo>
                  <a:lnTo>
                    <a:pt x="2268" y="350"/>
                  </a:lnTo>
                  <a:lnTo>
                    <a:pt x="2268" y="350"/>
                  </a:lnTo>
                  <a:lnTo>
                    <a:pt x="2262" y="350"/>
                  </a:lnTo>
                  <a:lnTo>
                    <a:pt x="2262" y="342"/>
                  </a:lnTo>
                  <a:lnTo>
                    <a:pt x="2262" y="342"/>
                  </a:lnTo>
                  <a:lnTo>
                    <a:pt x="2262" y="333"/>
                  </a:lnTo>
                  <a:lnTo>
                    <a:pt x="2262" y="333"/>
                  </a:lnTo>
                  <a:lnTo>
                    <a:pt x="2256" y="325"/>
                  </a:lnTo>
                  <a:lnTo>
                    <a:pt x="2243" y="325"/>
                  </a:lnTo>
                  <a:lnTo>
                    <a:pt x="2243" y="325"/>
                  </a:lnTo>
                  <a:lnTo>
                    <a:pt x="2150" y="325"/>
                  </a:lnTo>
                  <a:lnTo>
                    <a:pt x="2150" y="325"/>
                  </a:lnTo>
                  <a:lnTo>
                    <a:pt x="2132" y="320"/>
                  </a:lnTo>
                  <a:lnTo>
                    <a:pt x="2126" y="320"/>
                  </a:lnTo>
                  <a:lnTo>
                    <a:pt x="2126" y="316"/>
                  </a:lnTo>
                  <a:lnTo>
                    <a:pt x="2126" y="303"/>
                  </a:lnTo>
                  <a:lnTo>
                    <a:pt x="2126" y="303"/>
                  </a:lnTo>
                  <a:lnTo>
                    <a:pt x="2119" y="295"/>
                  </a:lnTo>
                  <a:lnTo>
                    <a:pt x="2107" y="295"/>
                  </a:lnTo>
                  <a:lnTo>
                    <a:pt x="2107" y="295"/>
                  </a:lnTo>
                  <a:lnTo>
                    <a:pt x="2014" y="295"/>
                  </a:lnTo>
                  <a:lnTo>
                    <a:pt x="2014" y="295"/>
                  </a:lnTo>
                  <a:lnTo>
                    <a:pt x="2008" y="295"/>
                  </a:lnTo>
                  <a:lnTo>
                    <a:pt x="2002" y="291"/>
                  </a:lnTo>
                  <a:lnTo>
                    <a:pt x="2002" y="291"/>
                  </a:lnTo>
                  <a:lnTo>
                    <a:pt x="2008" y="278"/>
                  </a:lnTo>
                  <a:lnTo>
                    <a:pt x="2002" y="269"/>
                  </a:lnTo>
                  <a:lnTo>
                    <a:pt x="2002" y="269"/>
                  </a:lnTo>
                  <a:lnTo>
                    <a:pt x="1989" y="265"/>
                  </a:lnTo>
                  <a:lnTo>
                    <a:pt x="1971" y="269"/>
                  </a:lnTo>
                  <a:lnTo>
                    <a:pt x="1971" y="269"/>
                  </a:lnTo>
                  <a:lnTo>
                    <a:pt x="1971" y="269"/>
                  </a:lnTo>
                  <a:lnTo>
                    <a:pt x="1971" y="269"/>
                  </a:lnTo>
                  <a:lnTo>
                    <a:pt x="1958" y="265"/>
                  </a:lnTo>
                  <a:lnTo>
                    <a:pt x="1958" y="261"/>
                  </a:lnTo>
                  <a:lnTo>
                    <a:pt x="1958" y="261"/>
                  </a:lnTo>
                  <a:lnTo>
                    <a:pt x="1958" y="226"/>
                  </a:lnTo>
                  <a:lnTo>
                    <a:pt x="1958" y="226"/>
                  </a:lnTo>
                  <a:lnTo>
                    <a:pt x="1958" y="218"/>
                  </a:lnTo>
                  <a:lnTo>
                    <a:pt x="1940" y="218"/>
                  </a:lnTo>
                  <a:lnTo>
                    <a:pt x="1940" y="218"/>
                  </a:lnTo>
                  <a:lnTo>
                    <a:pt x="1872" y="218"/>
                  </a:lnTo>
                  <a:lnTo>
                    <a:pt x="1872" y="218"/>
                  </a:lnTo>
                  <a:lnTo>
                    <a:pt x="1865" y="214"/>
                  </a:lnTo>
                  <a:lnTo>
                    <a:pt x="1859" y="209"/>
                  </a:lnTo>
                  <a:lnTo>
                    <a:pt x="1859" y="209"/>
                  </a:lnTo>
                  <a:lnTo>
                    <a:pt x="1859" y="196"/>
                  </a:lnTo>
                  <a:lnTo>
                    <a:pt x="1859" y="188"/>
                  </a:lnTo>
                  <a:lnTo>
                    <a:pt x="1847" y="188"/>
                  </a:lnTo>
                  <a:lnTo>
                    <a:pt x="1828" y="188"/>
                  </a:lnTo>
                  <a:lnTo>
                    <a:pt x="1828" y="188"/>
                  </a:lnTo>
                  <a:lnTo>
                    <a:pt x="1828" y="188"/>
                  </a:lnTo>
                  <a:lnTo>
                    <a:pt x="1828" y="188"/>
                  </a:lnTo>
                  <a:lnTo>
                    <a:pt x="1816" y="188"/>
                  </a:lnTo>
                  <a:lnTo>
                    <a:pt x="1816" y="179"/>
                  </a:lnTo>
                  <a:lnTo>
                    <a:pt x="1816" y="179"/>
                  </a:lnTo>
                  <a:lnTo>
                    <a:pt x="1816" y="171"/>
                  </a:lnTo>
                  <a:lnTo>
                    <a:pt x="1816" y="171"/>
                  </a:lnTo>
                  <a:lnTo>
                    <a:pt x="1816" y="162"/>
                  </a:lnTo>
                  <a:lnTo>
                    <a:pt x="1797" y="158"/>
                  </a:lnTo>
                  <a:lnTo>
                    <a:pt x="1797" y="158"/>
                  </a:lnTo>
                  <a:lnTo>
                    <a:pt x="1791" y="158"/>
                  </a:lnTo>
                  <a:lnTo>
                    <a:pt x="1791" y="154"/>
                  </a:lnTo>
                  <a:lnTo>
                    <a:pt x="1791" y="154"/>
                  </a:lnTo>
                  <a:lnTo>
                    <a:pt x="1785" y="145"/>
                  </a:lnTo>
                  <a:lnTo>
                    <a:pt x="1772" y="141"/>
                  </a:lnTo>
                  <a:lnTo>
                    <a:pt x="1772" y="141"/>
                  </a:lnTo>
                  <a:lnTo>
                    <a:pt x="1537" y="141"/>
                  </a:lnTo>
                  <a:lnTo>
                    <a:pt x="1537" y="141"/>
                  </a:lnTo>
                  <a:lnTo>
                    <a:pt x="1524" y="141"/>
                  </a:lnTo>
                  <a:lnTo>
                    <a:pt x="1512" y="141"/>
                  </a:lnTo>
                  <a:lnTo>
                    <a:pt x="1512" y="132"/>
                  </a:lnTo>
                  <a:lnTo>
                    <a:pt x="1512" y="124"/>
                  </a:lnTo>
                  <a:lnTo>
                    <a:pt x="1512" y="124"/>
                  </a:lnTo>
                  <a:lnTo>
                    <a:pt x="1506" y="111"/>
                  </a:lnTo>
                  <a:lnTo>
                    <a:pt x="1493" y="111"/>
                  </a:lnTo>
                  <a:lnTo>
                    <a:pt x="1493" y="111"/>
                  </a:lnTo>
                  <a:lnTo>
                    <a:pt x="1183" y="111"/>
                  </a:lnTo>
                  <a:lnTo>
                    <a:pt x="1183" y="111"/>
                  </a:lnTo>
                  <a:lnTo>
                    <a:pt x="1171" y="111"/>
                  </a:lnTo>
                  <a:lnTo>
                    <a:pt x="1165" y="107"/>
                  </a:lnTo>
                  <a:lnTo>
                    <a:pt x="1159" y="102"/>
                  </a:lnTo>
                  <a:lnTo>
                    <a:pt x="1159" y="94"/>
                  </a:lnTo>
                  <a:lnTo>
                    <a:pt x="1159" y="94"/>
                  </a:lnTo>
                  <a:lnTo>
                    <a:pt x="1153" y="85"/>
                  </a:lnTo>
                  <a:lnTo>
                    <a:pt x="1146" y="81"/>
                  </a:lnTo>
                  <a:lnTo>
                    <a:pt x="1146" y="81"/>
                  </a:lnTo>
                  <a:lnTo>
                    <a:pt x="1109" y="81"/>
                  </a:lnTo>
                  <a:lnTo>
                    <a:pt x="1109" y="81"/>
                  </a:lnTo>
                  <a:lnTo>
                    <a:pt x="1103" y="81"/>
                  </a:lnTo>
                  <a:lnTo>
                    <a:pt x="1103" y="77"/>
                  </a:lnTo>
                  <a:lnTo>
                    <a:pt x="1103" y="77"/>
                  </a:lnTo>
                  <a:lnTo>
                    <a:pt x="1103" y="68"/>
                  </a:lnTo>
                  <a:lnTo>
                    <a:pt x="1097" y="64"/>
                  </a:lnTo>
                  <a:lnTo>
                    <a:pt x="1084" y="64"/>
                  </a:lnTo>
                  <a:lnTo>
                    <a:pt x="1084" y="64"/>
                  </a:lnTo>
                  <a:lnTo>
                    <a:pt x="489" y="64"/>
                  </a:lnTo>
                  <a:lnTo>
                    <a:pt x="489" y="64"/>
                  </a:lnTo>
                  <a:lnTo>
                    <a:pt x="495" y="64"/>
                  </a:lnTo>
                  <a:lnTo>
                    <a:pt x="508" y="64"/>
                  </a:lnTo>
                  <a:lnTo>
                    <a:pt x="508" y="64"/>
                  </a:lnTo>
                  <a:lnTo>
                    <a:pt x="514" y="64"/>
                  </a:lnTo>
                  <a:lnTo>
                    <a:pt x="514" y="68"/>
                  </a:lnTo>
                  <a:lnTo>
                    <a:pt x="514" y="68"/>
                  </a:lnTo>
                  <a:lnTo>
                    <a:pt x="520" y="77"/>
                  </a:lnTo>
                  <a:lnTo>
                    <a:pt x="533" y="77"/>
                  </a:lnTo>
                  <a:lnTo>
                    <a:pt x="533" y="77"/>
                  </a:lnTo>
                  <a:lnTo>
                    <a:pt x="948" y="77"/>
                  </a:lnTo>
                  <a:lnTo>
                    <a:pt x="948" y="77"/>
                  </a:lnTo>
                  <a:lnTo>
                    <a:pt x="967" y="81"/>
                  </a:lnTo>
                  <a:lnTo>
                    <a:pt x="973" y="85"/>
                  </a:lnTo>
                  <a:lnTo>
                    <a:pt x="979" y="90"/>
                  </a:lnTo>
                  <a:lnTo>
                    <a:pt x="979" y="90"/>
                  </a:lnTo>
                  <a:lnTo>
                    <a:pt x="1053" y="90"/>
                  </a:lnTo>
                  <a:lnTo>
                    <a:pt x="1053" y="90"/>
                  </a:lnTo>
                  <a:close/>
                </a:path>
              </a:pathLst>
            </a:custGeom>
            <a:solidFill>
              <a:srgbClr val="E61E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5" name="Text Box 553"/>
            <p:cNvSpPr txBox="1">
              <a:spLocks noChangeArrowheads="1"/>
            </p:cNvSpPr>
            <p:nvPr>
              <p:custDataLst>
                <p:tags r:id="rId8"/>
              </p:custDataLst>
            </p:nvPr>
          </p:nvSpPr>
          <p:spPr bwMode="auto">
            <a:xfrm>
              <a:off x="5260225" y="2523533"/>
              <a:ext cx="2265364"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Бисопролол</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(n=154)</a:t>
              </a:r>
            </a:p>
          </p:txBody>
        </p:sp>
        <p:sp>
          <p:nvSpPr>
            <p:cNvPr id="116" name="Text Box 553"/>
            <p:cNvSpPr txBox="1">
              <a:spLocks noChangeArrowheads="1"/>
            </p:cNvSpPr>
            <p:nvPr>
              <p:custDataLst>
                <p:tags r:id="rId9"/>
              </p:custDataLst>
            </p:nvPr>
          </p:nvSpPr>
          <p:spPr bwMode="auto">
            <a:xfrm>
              <a:off x="3087306" y="3618409"/>
              <a:ext cx="3740126"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Нифедипин</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замедл</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высв</a:t>
              </a: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(n=163)</a:t>
              </a:r>
            </a:p>
          </p:txBody>
        </p:sp>
        <p:sp>
          <p:nvSpPr>
            <p:cNvPr id="121" name="Text Box 553"/>
            <p:cNvSpPr txBox="1">
              <a:spLocks noChangeArrowheads="1"/>
            </p:cNvSpPr>
            <p:nvPr>
              <p:custDataLst>
                <p:tags r:id="rId10"/>
              </p:custDataLst>
            </p:nvPr>
          </p:nvSpPr>
          <p:spPr bwMode="auto">
            <a:xfrm>
              <a:off x="6610668" y="4892642"/>
              <a:ext cx="3409908" cy="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Логранговый</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критерий p=0,0197*</a:t>
              </a:r>
            </a:p>
          </p:txBody>
        </p:sp>
        <p:grpSp>
          <p:nvGrpSpPr>
            <p:cNvPr id="4" name="Gruppieren 3"/>
            <p:cNvGrpSpPr/>
            <p:nvPr>
              <p:custDataLst>
                <p:tags r:id="rId11"/>
              </p:custDataLst>
            </p:nvPr>
          </p:nvGrpSpPr>
          <p:grpSpPr>
            <a:xfrm>
              <a:off x="885616" y="2139621"/>
              <a:ext cx="8714776" cy="3479008"/>
              <a:chOff x="780829" y="1494724"/>
              <a:chExt cx="9017344" cy="3599791"/>
            </a:xfrm>
          </p:grpSpPr>
          <p:grpSp>
            <p:nvGrpSpPr>
              <p:cNvPr id="228" name="Gruppieren 227"/>
              <p:cNvGrpSpPr/>
              <p:nvPr/>
            </p:nvGrpSpPr>
            <p:grpSpPr>
              <a:xfrm>
                <a:off x="780829" y="1494724"/>
                <a:ext cx="9017344" cy="3599791"/>
                <a:chOff x="-46529" y="1449451"/>
                <a:chExt cx="10575071" cy="4025440"/>
              </a:xfrm>
            </p:grpSpPr>
            <p:grpSp>
              <p:nvGrpSpPr>
                <p:cNvPr id="68" name="Gruppieren 67"/>
                <p:cNvGrpSpPr/>
                <p:nvPr/>
              </p:nvGrpSpPr>
              <p:grpSpPr>
                <a:xfrm>
                  <a:off x="-46529" y="1449451"/>
                  <a:ext cx="10575071" cy="4025440"/>
                  <a:chOff x="51215" y="1536319"/>
                  <a:chExt cx="9676112" cy="4833506"/>
                </a:xfrm>
              </p:grpSpPr>
              <p:grpSp>
                <p:nvGrpSpPr>
                  <p:cNvPr id="69" name="Gruppieren 68"/>
                  <p:cNvGrpSpPr/>
                  <p:nvPr/>
                </p:nvGrpSpPr>
                <p:grpSpPr>
                  <a:xfrm>
                    <a:off x="51215" y="1536319"/>
                    <a:ext cx="9494565" cy="4833506"/>
                    <a:chOff x="1897395" y="1687773"/>
                    <a:chExt cx="6614745" cy="4865029"/>
                  </a:xfrm>
                </p:grpSpPr>
                <p:grpSp>
                  <p:nvGrpSpPr>
                    <p:cNvPr id="92" name="Gruppieren 91"/>
                    <p:cNvGrpSpPr/>
                    <p:nvPr/>
                  </p:nvGrpSpPr>
                  <p:grpSpPr>
                    <a:xfrm>
                      <a:off x="1897395" y="1687773"/>
                      <a:ext cx="6614745" cy="4865029"/>
                      <a:chOff x="-294941" y="752543"/>
                      <a:chExt cx="6807841" cy="5086460"/>
                    </a:xfrm>
                  </p:grpSpPr>
                  <p:grpSp>
                    <p:nvGrpSpPr>
                      <p:cNvPr id="95" name="Gruppieren 94"/>
                      <p:cNvGrpSpPr/>
                      <p:nvPr>
                        <p:custDataLst>
                          <p:tags r:id="rId41"/>
                        </p:custDataLst>
                      </p:nvPr>
                    </p:nvGrpSpPr>
                    <p:grpSpPr>
                      <a:xfrm>
                        <a:off x="-294941" y="752543"/>
                        <a:ext cx="6807841" cy="5086460"/>
                        <a:chOff x="1436413" y="918069"/>
                        <a:chExt cx="5937822" cy="4556692"/>
                      </a:xfrm>
                    </p:grpSpPr>
                    <p:sp>
                      <p:nvSpPr>
                        <p:cNvPr id="98" name="Line 16"/>
                        <p:cNvSpPr>
                          <a:spLocks noChangeShapeType="1"/>
                        </p:cNvSpPr>
                        <p:nvPr>
                          <p:custDataLst>
                            <p:tags r:id="rId44"/>
                          </p:custDataLst>
                        </p:nvPr>
                      </p:nvSpPr>
                      <p:spPr bwMode="auto">
                        <a:xfrm flipH="1" flipV="1">
                          <a:off x="2246436" y="4945141"/>
                          <a:ext cx="5127799"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9" name="Textfeld 98"/>
                        <p:cNvSpPr txBox="1"/>
                        <p:nvPr>
                          <p:custDataLst>
                            <p:tags r:id="rId45"/>
                          </p:custDataLst>
                        </p:nvPr>
                      </p:nvSpPr>
                      <p:spPr bwMode="gray">
                        <a:xfrm>
                          <a:off x="1925676" y="4551030"/>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0,5</a:t>
                          </a:r>
                        </a:p>
                      </p:txBody>
                    </p:sp>
                    <p:sp>
                      <p:nvSpPr>
                        <p:cNvPr id="101" name="Textfeld 100"/>
                        <p:cNvSpPr txBox="1"/>
                        <p:nvPr>
                          <p:custDataLst>
                            <p:tags r:id="rId46"/>
                          </p:custDataLst>
                        </p:nvPr>
                      </p:nvSpPr>
                      <p:spPr bwMode="gray">
                        <a:xfrm>
                          <a:off x="1925673" y="3155951"/>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0,7</a:t>
                          </a:r>
                        </a:p>
                      </p:txBody>
                    </p:sp>
                    <p:sp>
                      <p:nvSpPr>
                        <p:cNvPr id="102" name="Textfeld 101"/>
                        <p:cNvSpPr txBox="1"/>
                        <p:nvPr>
                          <p:custDataLst>
                            <p:tags r:id="rId47"/>
                          </p:custDataLst>
                        </p:nvPr>
                      </p:nvSpPr>
                      <p:spPr bwMode="gray">
                        <a:xfrm>
                          <a:off x="1920517" y="2466595"/>
                          <a:ext cx="174756" cy="245363"/>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0,8</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3" name="Textfeld 102"/>
                        <p:cNvSpPr txBox="1"/>
                        <p:nvPr>
                          <p:custDataLst>
                            <p:tags r:id="rId48"/>
                          </p:custDataLst>
                        </p:nvPr>
                      </p:nvSpPr>
                      <p:spPr bwMode="gray">
                        <a:xfrm rot="16200000">
                          <a:off x="-587756" y="2942238"/>
                          <a:ext cx="4475765" cy="427427"/>
                        </a:xfrm>
                        <a:prstGeom prst="rect">
                          <a:avLst/>
                        </a:prstGeom>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03291"/>
                            </a:buClr>
                            <a:buSzTx/>
                            <a:buFontTx/>
                            <a:buNone/>
                            <a:tabLst/>
                            <a:defRPr/>
                          </a:pPr>
                          <a:r>
                            <a:rPr kumimoji="0" lang="ru-RU" sz="10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Бессобытийная</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выживаемость </a:t>
                          </a:r>
                          <a:b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b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(смерть, ИМ, госпитализация по поводу нестабильной стенокардии, </a:t>
                          </a:r>
                          <a:r>
                            <a:rPr kumimoji="0" lang="ru-RU" sz="10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реваскуляризация</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коронарных артерий)</a:t>
                          </a:r>
                        </a:p>
                      </p:txBody>
                    </p:sp>
                    <p:sp>
                      <p:nvSpPr>
                        <p:cNvPr id="104" name="Textfeld 103"/>
                        <p:cNvSpPr txBox="1"/>
                        <p:nvPr>
                          <p:custDataLst>
                            <p:tags r:id="rId49"/>
                          </p:custDataLst>
                        </p:nvPr>
                      </p:nvSpPr>
                      <p:spPr bwMode="gray">
                        <a:xfrm>
                          <a:off x="4922428" y="5229398"/>
                          <a:ext cx="202583" cy="245363"/>
                        </a:xfrm>
                        <a:prstGeom prst="rect">
                          <a:avLst/>
                        </a:prstGeom>
                        <a:noFill/>
                        <a:ln/>
                      </p:spPr>
                      <p:txBody>
                        <a:bodyPr wrap="non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дни</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5" name="Line 16"/>
                        <p:cNvSpPr>
                          <a:spLocks noChangeShapeType="1"/>
                        </p:cNvSpPr>
                        <p:nvPr>
                          <p:custDataLst>
                            <p:tags r:id="rId50"/>
                          </p:custDataLst>
                        </p:nvPr>
                      </p:nvSpPr>
                      <p:spPr bwMode="auto">
                        <a:xfrm>
                          <a:off x="2246436" y="1138470"/>
                          <a:ext cx="0" cy="380406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6" name="Line 49"/>
                        <p:cNvSpPr>
                          <a:spLocks noChangeShapeType="1"/>
                        </p:cNvSpPr>
                        <p:nvPr>
                          <p:custDataLst>
                            <p:tags r:id="rId51"/>
                          </p:custDataLst>
                        </p:nvPr>
                      </p:nvSpPr>
                      <p:spPr bwMode="auto">
                        <a:xfrm>
                          <a:off x="2139298" y="4654883"/>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7" name="Line 49"/>
                        <p:cNvSpPr>
                          <a:spLocks noChangeShapeType="1"/>
                        </p:cNvSpPr>
                        <p:nvPr>
                          <p:custDataLst>
                            <p:tags r:id="rId52"/>
                          </p:custDataLst>
                        </p:nvPr>
                      </p:nvSpPr>
                      <p:spPr bwMode="auto">
                        <a:xfrm>
                          <a:off x="2139298" y="3262745"/>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08" name="Line 49"/>
                        <p:cNvSpPr>
                          <a:spLocks noChangeShapeType="1"/>
                        </p:cNvSpPr>
                        <p:nvPr>
                          <p:custDataLst>
                            <p:tags r:id="rId53"/>
                          </p:custDataLst>
                        </p:nvPr>
                      </p:nvSpPr>
                      <p:spPr bwMode="auto">
                        <a:xfrm>
                          <a:off x="2139298" y="2571234"/>
                          <a:ext cx="110887"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96" name="Line 49"/>
                      <p:cNvSpPr>
                        <a:spLocks noChangeShapeType="1"/>
                      </p:cNvSpPr>
                      <p:nvPr>
                        <p:custDataLst>
                          <p:tags r:id="rId42"/>
                        </p:custDataLst>
                      </p:nvPr>
                    </p:nvSpPr>
                    <p:spPr bwMode="auto">
                      <a:xfrm>
                        <a:off x="634061" y="5246065"/>
                        <a:ext cx="0" cy="112519"/>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7" name="Textfeld 96"/>
                      <p:cNvSpPr txBox="1"/>
                      <p:nvPr>
                        <p:custDataLst>
                          <p:tags r:id="rId43"/>
                        </p:custDataLst>
                      </p:nvPr>
                    </p:nvSpPr>
                    <p:spPr bwMode="gray">
                      <a:xfrm>
                        <a:off x="589561" y="5350438"/>
                        <a:ext cx="86781" cy="273890"/>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93" name="Textfeld 92"/>
                    <p:cNvSpPr txBox="1"/>
                    <p:nvPr>
                      <p:custDataLst>
                        <p:tags r:id="rId39"/>
                      </p:custDataLst>
                    </p:nvPr>
                  </p:nvSpPr>
                  <p:spPr bwMode="gray">
                    <a:xfrm>
                      <a:off x="2435694" y="1827383"/>
                      <a:ext cx="194678" cy="261966"/>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p>
                  </p:txBody>
                </p:sp>
                <p:sp>
                  <p:nvSpPr>
                    <p:cNvPr id="94" name="Line 49"/>
                    <p:cNvSpPr>
                      <a:spLocks noChangeShapeType="1"/>
                    </p:cNvSpPr>
                    <p:nvPr>
                      <p:custDataLst>
                        <p:tags r:id="rId40"/>
                      </p:custDataLst>
                    </p:nvPr>
                  </p:nvSpPr>
                  <p:spPr bwMode="auto">
                    <a:xfrm>
                      <a:off x="2679416" y="1923090"/>
                      <a:ext cx="123528"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70" name="Line 49"/>
                  <p:cNvSpPr>
                    <a:spLocks noChangeShapeType="1"/>
                  </p:cNvSpPr>
                  <p:nvPr>
                    <p:custDataLst>
                      <p:tags r:id="rId23"/>
                    </p:custDataLst>
                  </p:nvPr>
                </p:nvSpPr>
                <p:spPr bwMode="auto">
                  <a:xfrm>
                    <a:off x="2257034"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1" name="Textfeld 70"/>
                  <p:cNvSpPr txBox="1"/>
                  <p:nvPr>
                    <p:custDataLst>
                      <p:tags r:id="rId24"/>
                    </p:custDataLst>
                  </p:nvPr>
                </p:nvSpPr>
                <p:spPr bwMode="gray">
                  <a:xfrm>
                    <a:off x="2134466" y="5904446"/>
                    <a:ext cx="242057"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4" name="Line 49"/>
                  <p:cNvSpPr>
                    <a:spLocks noChangeShapeType="1"/>
                  </p:cNvSpPr>
                  <p:nvPr>
                    <p:custDataLst>
                      <p:tags r:id="rId25"/>
                    </p:custDataLst>
                  </p:nvPr>
                </p:nvSpPr>
                <p:spPr bwMode="auto">
                  <a:xfrm>
                    <a:off x="3305323"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5" name="Textfeld 74"/>
                  <p:cNvSpPr txBox="1"/>
                  <p:nvPr>
                    <p:custDataLst>
                      <p:tags r:id="rId26"/>
                    </p:custDataLst>
                  </p:nvPr>
                </p:nvSpPr>
                <p:spPr bwMode="gray">
                  <a:xfrm>
                    <a:off x="3122237"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6" name="Line 49"/>
                  <p:cNvSpPr>
                    <a:spLocks noChangeShapeType="1"/>
                  </p:cNvSpPr>
                  <p:nvPr>
                    <p:custDataLst>
                      <p:tags r:id="rId27"/>
                    </p:custDataLst>
                  </p:nvPr>
                </p:nvSpPr>
                <p:spPr bwMode="auto">
                  <a:xfrm>
                    <a:off x="4328553" y="5805264"/>
                    <a:ext cx="0" cy="106923"/>
                  </a:xfrm>
                  <a:prstGeom prst="line">
                    <a:avLst/>
                  </a:prstGeom>
                  <a:noFill/>
                  <a:ln w="12700">
                    <a:solidFill>
                      <a:srgbClr val="50329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7" name="Textfeld 76"/>
                  <p:cNvSpPr txBox="1"/>
                  <p:nvPr>
                    <p:custDataLst>
                      <p:tags r:id="rId28"/>
                    </p:custDataLst>
                  </p:nvPr>
                </p:nvSpPr>
                <p:spPr bwMode="gray">
                  <a:xfrm>
                    <a:off x="4145466"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8" name="Line 49"/>
                  <p:cNvSpPr>
                    <a:spLocks noChangeShapeType="1"/>
                  </p:cNvSpPr>
                  <p:nvPr>
                    <p:custDataLst>
                      <p:tags r:id="rId29"/>
                    </p:custDataLst>
                  </p:nvPr>
                </p:nvSpPr>
                <p:spPr bwMode="auto">
                  <a:xfrm>
                    <a:off x="5359173"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9" name="Textfeld 78"/>
                  <p:cNvSpPr txBox="1"/>
                  <p:nvPr>
                    <p:custDataLst>
                      <p:tags r:id="rId30"/>
                    </p:custDataLst>
                  </p:nvPr>
                </p:nvSpPr>
                <p:spPr bwMode="gray">
                  <a:xfrm>
                    <a:off x="5176084"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0" name="Line 49"/>
                  <p:cNvSpPr>
                    <a:spLocks noChangeShapeType="1"/>
                  </p:cNvSpPr>
                  <p:nvPr>
                    <p:custDataLst>
                      <p:tags r:id="rId31"/>
                    </p:custDataLst>
                  </p:nvPr>
                </p:nvSpPr>
                <p:spPr bwMode="auto">
                  <a:xfrm>
                    <a:off x="6401265" y="5809446"/>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1" name="Textfeld 80"/>
                  <p:cNvSpPr txBox="1"/>
                  <p:nvPr>
                    <p:custDataLst>
                      <p:tags r:id="rId32"/>
                    </p:custDataLst>
                  </p:nvPr>
                </p:nvSpPr>
                <p:spPr bwMode="gray">
                  <a:xfrm>
                    <a:off x="6218175" y="5908630"/>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4" name="Line 49"/>
                  <p:cNvSpPr>
                    <a:spLocks noChangeShapeType="1"/>
                  </p:cNvSpPr>
                  <p:nvPr>
                    <p:custDataLst>
                      <p:tags r:id="rId33"/>
                    </p:custDataLst>
                  </p:nvPr>
                </p:nvSpPr>
                <p:spPr bwMode="auto">
                  <a:xfrm>
                    <a:off x="7446022"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5" name="Textfeld 84"/>
                  <p:cNvSpPr txBox="1"/>
                  <p:nvPr>
                    <p:custDataLst>
                      <p:tags r:id="rId34"/>
                    </p:custDataLst>
                  </p:nvPr>
                </p:nvSpPr>
                <p:spPr bwMode="gray">
                  <a:xfrm>
                    <a:off x="7262935"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8" name="Line 49"/>
                  <p:cNvSpPr>
                    <a:spLocks noChangeShapeType="1"/>
                  </p:cNvSpPr>
                  <p:nvPr>
                    <p:custDataLst>
                      <p:tags r:id="rId35"/>
                    </p:custDataLst>
                  </p:nvPr>
                </p:nvSpPr>
                <p:spPr bwMode="auto">
                  <a:xfrm>
                    <a:off x="8476642" y="5805264"/>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9" name="Textfeld 88"/>
                  <p:cNvSpPr txBox="1"/>
                  <p:nvPr>
                    <p:custDataLst>
                      <p:tags r:id="rId36"/>
                    </p:custDataLst>
                  </p:nvPr>
                </p:nvSpPr>
                <p:spPr bwMode="gray">
                  <a:xfrm>
                    <a:off x="8293554" y="5904446"/>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350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0" name="Line 49"/>
                  <p:cNvSpPr>
                    <a:spLocks noChangeShapeType="1"/>
                  </p:cNvSpPr>
                  <p:nvPr>
                    <p:custDataLst>
                      <p:tags r:id="rId37"/>
                    </p:custDataLst>
                  </p:nvPr>
                </p:nvSpPr>
                <p:spPr bwMode="auto">
                  <a:xfrm>
                    <a:off x="9547331" y="5809448"/>
                    <a:ext cx="0" cy="106923"/>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91" name="Textfeld 90"/>
                  <p:cNvSpPr txBox="1"/>
                  <p:nvPr>
                    <p:custDataLst>
                      <p:tags r:id="rId38"/>
                    </p:custDataLst>
                  </p:nvPr>
                </p:nvSpPr>
                <p:spPr bwMode="gray">
                  <a:xfrm>
                    <a:off x="9364241" y="5908630"/>
                    <a:ext cx="363086" cy="260269"/>
                  </a:xfrm>
                  <a:prstGeom prst="rect">
                    <a:avLst/>
                  </a:prstGeom>
                  <a:noFill/>
                  <a:ln/>
                </p:spPr>
                <p:txBody>
                  <a:bodyPr wrap="none" lIns="0" tIns="0" rIns="0" bIns="0" rtlCol="0">
                    <a:spAutoFit/>
                  </a:body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400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109" name="Textfeld 108"/>
                <p:cNvSpPr txBox="1"/>
                <p:nvPr>
                  <p:custDataLst>
                    <p:tags r:id="rId19"/>
                  </p:custDataLst>
                </p:nvPr>
              </p:nvSpPr>
              <p:spPr bwMode="gray">
                <a:xfrm>
                  <a:off x="806749" y="4036543"/>
                  <a:ext cx="305395" cy="216757"/>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0,6</a:t>
                  </a:r>
                </a:p>
              </p:txBody>
            </p:sp>
            <p:sp>
              <p:nvSpPr>
                <p:cNvPr id="110" name="Line 49"/>
                <p:cNvSpPr>
                  <a:spLocks noChangeShapeType="1"/>
                </p:cNvSpPr>
                <p:nvPr>
                  <p:custDataLst>
                    <p:tags r:id="rId20"/>
                  </p:custDataLst>
                </p:nvPr>
              </p:nvSpPr>
              <p:spPr bwMode="auto">
                <a:xfrm>
                  <a:off x="1180069" y="4130885"/>
                  <a:ext cx="193781"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2" name="Textfeld 111"/>
                <p:cNvSpPr txBox="1"/>
                <p:nvPr>
                  <p:custDataLst>
                    <p:tags r:id="rId21"/>
                  </p:custDataLst>
                </p:nvPr>
              </p:nvSpPr>
              <p:spPr bwMode="gray">
                <a:xfrm>
                  <a:off x="798574" y="2202288"/>
                  <a:ext cx="305395" cy="216757"/>
                </a:xfrm>
                <a:prstGeom prst="rect">
                  <a:avLst/>
                </a:prstGeom>
                <a:noFill/>
                <a:ln/>
              </p:spPr>
              <p:txBody>
                <a:bodyPr wrap="non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0,9</a:t>
                  </a:r>
                  <a:endParaRPr kumimoji="0" lang="de-DE"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3" name="Line 49"/>
                <p:cNvSpPr>
                  <a:spLocks noChangeShapeType="1"/>
                </p:cNvSpPr>
                <p:nvPr>
                  <p:custDataLst>
                    <p:tags r:id="rId22"/>
                  </p:custDataLst>
                </p:nvPr>
              </p:nvSpPr>
              <p:spPr bwMode="auto">
                <a:xfrm>
                  <a:off x="1180904" y="2294728"/>
                  <a:ext cx="193781"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31" name="Gruppieren 230"/>
              <p:cNvGrpSpPr/>
              <p:nvPr/>
            </p:nvGrpSpPr>
            <p:grpSpPr>
              <a:xfrm>
                <a:off x="1874906" y="4497895"/>
                <a:ext cx="219050" cy="129379"/>
                <a:chOff x="1766445" y="5458191"/>
                <a:chExt cx="219050" cy="129379"/>
              </a:xfrm>
            </p:grpSpPr>
            <p:sp>
              <p:nvSpPr>
                <p:cNvPr id="230" name="Rechteck 229"/>
                <p:cNvSpPr/>
                <p:nvPr>
                  <p:custDataLst>
                    <p:tags r:id="rId16"/>
                  </p:custDataLst>
                </p:nvPr>
              </p:nvSpPr>
              <p:spPr bwMode="gray">
                <a:xfrm>
                  <a:off x="1766445" y="5487052"/>
                  <a:ext cx="219050" cy="73820"/>
                </a:xfrm>
                <a:prstGeom prst="rect">
                  <a:avLst/>
                </a:prstGeom>
                <a:solidFill>
                  <a:schemeClr val="bg1"/>
                </a:solidFill>
                <a:ln w="9525" cap="flat" cmpd="sng" algn="ctr">
                  <a:noFill/>
                  <a:prstDash val="solid"/>
                </a:ln>
                <a:effectLst/>
              </p:spPr>
              <p:txBody>
                <a:bodyPr rtlCol="0" anchor="ctr" anchorCtr="0"/>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Arial" panose="020B0604020202020204" pitchFamily="34" charset="0"/>
                    <a:buNone/>
                    <a:tabLst/>
                    <a:defRPr/>
                  </a:pPr>
                  <a:endParaRPr kumimoji="0" lang="de-DE" sz="1600" b="0" i="0" u="none" strike="noStrike" kern="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2" name="Freeform 43"/>
                <p:cNvSpPr>
                  <a:spLocks/>
                </p:cNvSpPr>
                <p:nvPr>
                  <p:custDataLst>
                    <p:tags r:id="rId17"/>
                  </p:custDataLst>
                </p:nvPr>
              </p:nvSpPr>
              <p:spPr bwMode="auto">
                <a:xfrm>
                  <a:off x="1812458" y="5458191"/>
                  <a:ext cx="122238" cy="55562"/>
                </a:xfrm>
                <a:custGeom>
                  <a:avLst/>
                  <a:gdLst>
                    <a:gd name="T0" fmla="*/ 2147483647 w 86"/>
                    <a:gd name="T1" fmla="*/ 0 h 43"/>
                    <a:gd name="T2" fmla="*/ 0 w 86"/>
                    <a:gd name="T3" fmla="*/ 2147483647 h 43"/>
                    <a:gd name="T4" fmla="*/ 0 w 86"/>
                    <a:gd name="T5" fmla="*/ 2147483647 h 43"/>
                    <a:gd name="T6" fmla="*/ 2147483647 w 86"/>
                    <a:gd name="T7" fmla="*/ 2147483647 h 43"/>
                    <a:gd name="T8" fmla="*/ 2147483647 w 86"/>
                    <a:gd name="T9" fmla="*/ 0 h 43"/>
                    <a:gd name="T10" fmla="*/ 0 60000 65536"/>
                    <a:gd name="T11" fmla="*/ 0 60000 65536"/>
                    <a:gd name="T12" fmla="*/ 0 60000 65536"/>
                    <a:gd name="T13" fmla="*/ 0 60000 65536"/>
                    <a:gd name="T14" fmla="*/ 0 60000 65536"/>
                    <a:gd name="T15" fmla="*/ 0 w 86"/>
                    <a:gd name="T16" fmla="*/ 0 h 43"/>
                    <a:gd name="T17" fmla="*/ 86 w 86"/>
                    <a:gd name="T18" fmla="*/ 43 h 43"/>
                  </a:gdLst>
                  <a:ahLst/>
                  <a:cxnLst>
                    <a:cxn ang="T10">
                      <a:pos x="T0" y="T1"/>
                    </a:cxn>
                    <a:cxn ang="T11">
                      <a:pos x="T2" y="T3"/>
                    </a:cxn>
                    <a:cxn ang="T12">
                      <a:pos x="T4" y="T5"/>
                    </a:cxn>
                    <a:cxn ang="T13">
                      <a:pos x="T6" y="T7"/>
                    </a:cxn>
                    <a:cxn ang="T14">
                      <a:pos x="T8" y="T9"/>
                    </a:cxn>
                  </a:cxnLst>
                  <a:rect l="T15" t="T16" r="T17" b="T18"/>
                  <a:pathLst>
                    <a:path w="86" h="43">
                      <a:moveTo>
                        <a:pt x="86" y="0"/>
                      </a:moveTo>
                      <a:lnTo>
                        <a:pt x="0" y="39"/>
                      </a:lnTo>
                      <a:lnTo>
                        <a:pt x="0" y="43"/>
                      </a:lnTo>
                      <a:lnTo>
                        <a:pt x="86" y="4"/>
                      </a:lnTo>
                      <a:lnTo>
                        <a:pt x="86" y="0"/>
                      </a:lnTo>
                      <a:close/>
                    </a:path>
                  </a:pathLst>
                </a:custGeom>
                <a:solidFill>
                  <a:srgbClr val="503291"/>
                </a:solidFill>
                <a:ln w="9525">
                  <a:solidFill>
                    <a:schemeClr val="bg1">
                      <a:lumMod val="75000"/>
                    </a:schemeClr>
                  </a:solidFill>
                  <a:round/>
                  <a:headEnd/>
                  <a:tailEnd/>
                </a:ln>
                <a:effectLst/>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23" name="Freeform 44"/>
                <p:cNvSpPr>
                  <a:spLocks/>
                </p:cNvSpPr>
                <p:nvPr>
                  <p:custDataLst>
                    <p:tags r:id="rId18"/>
                  </p:custDataLst>
                </p:nvPr>
              </p:nvSpPr>
              <p:spPr bwMode="auto">
                <a:xfrm>
                  <a:off x="1826747" y="5530420"/>
                  <a:ext cx="122237" cy="57150"/>
                </a:xfrm>
                <a:custGeom>
                  <a:avLst/>
                  <a:gdLst>
                    <a:gd name="T0" fmla="*/ 2147483647 w 86"/>
                    <a:gd name="T1" fmla="*/ 0 h 43"/>
                    <a:gd name="T2" fmla="*/ 0 w 86"/>
                    <a:gd name="T3" fmla="*/ 2147483647 h 43"/>
                    <a:gd name="T4" fmla="*/ 0 w 86"/>
                    <a:gd name="T5" fmla="*/ 2147483647 h 43"/>
                    <a:gd name="T6" fmla="*/ 2147483647 w 86"/>
                    <a:gd name="T7" fmla="*/ 2147483647 h 43"/>
                    <a:gd name="T8" fmla="*/ 2147483647 w 86"/>
                    <a:gd name="T9" fmla="*/ 0 h 43"/>
                    <a:gd name="T10" fmla="*/ 0 60000 65536"/>
                    <a:gd name="T11" fmla="*/ 0 60000 65536"/>
                    <a:gd name="T12" fmla="*/ 0 60000 65536"/>
                    <a:gd name="T13" fmla="*/ 0 60000 65536"/>
                    <a:gd name="T14" fmla="*/ 0 60000 65536"/>
                    <a:gd name="T15" fmla="*/ 0 w 86"/>
                    <a:gd name="T16" fmla="*/ 0 h 43"/>
                    <a:gd name="T17" fmla="*/ 86 w 86"/>
                    <a:gd name="T18" fmla="*/ 43 h 43"/>
                  </a:gdLst>
                  <a:ahLst/>
                  <a:cxnLst>
                    <a:cxn ang="T10">
                      <a:pos x="T0" y="T1"/>
                    </a:cxn>
                    <a:cxn ang="T11">
                      <a:pos x="T2" y="T3"/>
                    </a:cxn>
                    <a:cxn ang="T12">
                      <a:pos x="T4" y="T5"/>
                    </a:cxn>
                    <a:cxn ang="T13">
                      <a:pos x="T6" y="T7"/>
                    </a:cxn>
                    <a:cxn ang="T14">
                      <a:pos x="T8" y="T9"/>
                    </a:cxn>
                  </a:cxnLst>
                  <a:rect l="T15" t="T16" r="T17" b="T18"/>
                  <a:pathLst>
                    <a:path w="86" h="43">
                      <a:moveTo>
                        <a:pt x="86" y="0"/>
                      </a:moveTo>
                      <a:lnTo>
                        <a:pt x="0" y="38"/>
                      </a:lnTo>
                      <a:lnTo>
                        <a:pt x="0" y="43"/>
                      </a:lnTo>
                      <a:lnTo>
                        <a:pt x="86" y="4"/>
                      </a:lnTo>
                      <a:lnTo>
                        <a:pt x="86" y="0"/>
                      </a:lnTo>
                      <a:close/>
                    </a:path>
                  </a:pathLst>
                </a:custGeom>
                <a:solidFill>
                  <a:srgbClr val="503291"/>
                </a:solidFill>
                <a:ln w="9525">
                  <a:solidFill>
                    <a:schemeClr val="bg1">
                      <a:lumMod val="75000"/>
                    </a:schemeClr>
                  </a:solidFill>
                  <a:round/>
                  <a:headEnd/>
                  <a:tailEnd/>
                </a:ln>
                <a:effectLst/>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nvGrpSpPr>
            <p:cNvPr id="21" name="Группа 20">
              <a:extLst>
                <a:ext uri="{FF2B5EF4-FFF2-40B4-BE49-F238E27FC236}">
                  <a16:creationId xmlns:a16="http://schemas.microsoft.com/office/drawing/2014/main" id="{ED573FC7-BAAC-82FA-5EAD-1240002DA358}"/>
                </a:ext>
              </a:extLst>
            </p:cNvPr>
            <p:cNvGrpSpPr/>
            <p:nvPr/>
          </p:nvGrpSpPr>
          <p:grpSpPr>
            <a:xfrm>
              <a:off x="9436882" y="2506059"/>
              <a:ext cx="1806441" cy="2343795"/>
              <a:chOff x="9436882" y="2506059"/>
              <a:chExt cx="1806441" cy="2343795"/>
            </a:xfrm>
          </p:grpSpPr>
          <p:sp>
            <p:nvSpPr>
              <p:cNvPr id="120" name="Inhaltsplatzhalter 4"/>
              <p:cNvSpPr txBox="1">
                <a:spLocks/>
              </p:cNvSpPr>
              <p:nvPr>
                <p:custDataLst>
                  <p:tags r:id="rId12"/>
                </p:custDataLst>
              </p:nvPr>
            </p:nvSpPr>
            <p:spPr>
              <a:xfrm>
                <a:off x="9697781" y="2506059"/>
                <a:ext cx="1545542" cy="2343795"/>
              </a:xfrm>
              <a:prstGeom prst="roundRect">
                <a:avLst>
                  <a:gd name="adj" fmla="val 7149"/>
                </a:avLst>
              </a:prstGeom>
              <a:noFill/>
              <a:ln w="19050">
                <a:solidFill>
                  <a:schemeClr val="accent1">
                    <a:lumMod val="40000"/>
                    <a:lumOff val="60000"/>
                  </a:schemeClr>
                </a:solidFill>
              </a:ln>
            </p:spPr>
            <p:txBody>
              <a:bodyPr lIns="90000" rIns="360000" rtlCol="0" anchor="b"/>
              <a:lstStyle>
                <a:lvl1pPr marL="0" indent="0" algn="l" defTabSz="914400" rtl="0" eaLnBrk="1" latinLnBrk="0" hangingPunct="1">
                  <a:spcBef>
                    <a:spcPts val="600"/>
                  </a:spcBef>
                  <a:spcAft>
                    <a:spcPts val="300"/>
                  </a:spcAft>
                  <a:buClr>
                    <a:srgbClr val="52328F"/>
                  </a:buClr>
                  <a:buFont typeface="Wingdings" panose="05000000000000000000" pitchFamily="2" charset="2"/>
                  <a:buNone/>
                  <a:defRPr sz="1400" b="0" kern="1200">
                    <a:solidFill>
                      <a:schemeClr val="tx1"/>
                    </a:solidFill>
                    <a:latin typeface="+mn-lt"/>
                    <a:ea typeface="+mn-ea"/>
                    <a:cs typeface="+mn-cs"/>
                  </a:defRPr>
                </a:lvl1pPr>
                <a:lvl2pPr marL="180000" indent="-180000" algn="l" defTabSz="914400" rtl="0" eaLnBrk="1" latinLnBrk="0" hangingPunct="1">
                  <a:spcBef>
                    <a:spcPts val="300"/>
                  </a:spcBef>
                  <a:spcAft>
                    <a:spcPts val="300"/>
                  </a:spcAft>
                  <a:buClr>
                    <a:srgbClr val="52328F"/>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spcBef>
                    <a:spcPts val="300"/>
                  </a:spcBef>
                  <a:spcAft>
                    <a:spcPts val="300"/>
                  </a:spcAft>
                  <a:buClr>
                    <a:srgbClr val="52328F"/>
                  </a:buClr>
                  <a:buSzPct val="100000"/>
                  <a:buFont typeface="Symbol" panose="05050102010706020507" pitchFamily="18" charset="2"/>
                  <a:buChar char="-"/>
                  <a:defRPr lang="en-US" sz="1400" kern="1200" baseline="0" dirty="0" smtClean="0">
                    <a:solidFill>
                      <a:schemeClr val="tx1"/>
                    </a:solidFill>
                    <a:latin typeface="+mn-lt"/>
                    <a:ea typeface="+mn-ea"/>
                    <a:cs typeface="+mn-cs"/>
                  </a:defRPr>
                </a:lvl3pPr>
                <a:lvl4pPr marL="54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lang="en-US" sz="1400" kern="1200" baseline="0" dirty="0" smtClean="0">
                    <a:solidFill>
                      <a:schemeClr val="tx1"/>
                    </a:solidFill>
                    <a:latin typeface="+mn-lt"/>
                    <a:ea typeface="+mn-ea"/>
                    <a:cs typeface="+mn-cs"/>
                  </a:defRPr>
                </a:lvl4pPr>
                <a:lvl5pPr marL="72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5pPr>
                <a:lvl6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6pPr>
                <a:lvl7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7pPr>
                <a:lvl8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8pPr>
                <a:lvl9pPr marL="900000" indent="-180000" algn="l" defTabSz="914400" rtl="0" eaLnBrk="1" latinLnBrk="0" hangingPunct="1">
                  <a:spcBef>
                    <a:spcPts val="300"/>
                  </a:spcBef>
                  <a:spcAft>
                    <a:spcPts val="300"/>
                  </a:spcAft>
                  <a:buClr>
                    <a:srgbClr val="28BECD"/>
                  </a:buClr>
                  <a:buSzPct val="100000"/>
                  <a:buFont typeface="Symbol" panose="05050102010706020507" pitchFamily="18" charset="2"/>
                  <a:buChar char="-"/>
                  <a:defRPr sz="14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
                    <a:srgbClr val="52328F"/>
                  </a:buClr>
                  <a:buSzTx/>
                  <a:buFont typeface="Wingdings" panose="05000000000000000000" pitchFamily="2" charset="2"/>
                  <a:buNone/>
                  <a:tabLst/>
                  <a:defRPr/>
                </a:pPr>
                <a:endParaRPr kumimoji="0" lang="en-US"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charset="0"/>
                </a:endParaRPr>
              </a:p>
            </p:txBody>
          </p:sp>
          <p:sp>
            <p:nvSpPr>
              <p:cNvPr id="119" name="Text Box 553"/>
              <p:cNvSpPr txBox="1">
                <a:spLocks noChangeArrowheads="1"/>
              </p:cNvSpPr>
              <p:nvPr>
                <p:custDataLst>
                  <p:tags r:id="rId13"/>
                </p:custDataLst>
              </p:nvPr>
            </p:nvSpPr>
            <p:spPr bwMode="auto">
              <a:xfrm>
                <a:off x="9848055" y="2610215"/>
                <a:ext cx="1362874" cy="543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Частота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событий</a:t>
                </a:r>
                <a:r>
                  <a:rPr kumimoji="0" lang="ru-RU" sz="16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*2</a:t>
                </a:r>
              </a:p>
            </p:txBody>
          </p:sp>
          <p:sp>
            <p:nvSpPr>
              <p:cNvPr id="63" name="Text Box 553"/>
              <p:cNvSpPr txBox="1">
                <a:spLocks noChangeArrowheads="1"/>
              </p:cNvSpPr>
              <p:nvPr>
                <p:custDataLst>
                  <p:tags r:id="rId14"/>
                </p:custDataLst>
              </p:nvPr>
            </p:nvSpPr>
            <p:spPr bwMode="auto">
              <a:xfrm>
                <a:off x="9935090" y="3225985"/>
                <a:ext cx="1030731" cy="37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22,1</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a:t>
                </a:r>
              </a:p>
            </p:txBody>
          </p:sp>
          <p:sp>
            <p:nvSpPr>
              <p:cNvPr id="64" name="Text Box 553"/>
              <p:cNvSpPr txBox="1">
                <a:spLocks noChangeArrowheads="1"/>
              </p:cNvSpPr>
              <p:nvPr>
                <p:custDataLst>
                  <p:tags r:id="rId15"/>
                </p:custDataLst>
              </p:nvPr>
            </p:nvSpPr>
            <p:spPr bwMode="auto">
              <a:xfrm>
                <a:off x="9935091" y="3841909"/>
                <a:ext cx="1093248" cy="374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rtlCol="0">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3000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33,1</a:t>
                </a:r>
                <a:r>
                  <a:rPr kumimoji="0" lang="ru-RU" sz="16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id="{97E1EABD-6D2E-817E-3579-6C6435290630}"/>
                  </a:ext>
                </a:extLst>
              </p:cNvPr>
              <p:cNvSpPr txBox="1"/>
              <p:nvPr/>
            </p:nvSpPr>
            <p:spPr>
              <a:xfrm>
                <a:off x="10249827" y="4584380"/>
                <a:ext cx="961102" cy="248216"/>
              </a:xfrm>
              <a:prstGeom prst="rect">
                <a:avLst/>
              </a:prstGeom>
              <a:noFill/>
            </p:spPr>
            <p:txBody>
              <a:bodyPr wrap="square">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*p=0,03</a:t>
                </a:r>
              </a:p>
            </p:txBody>
          </p:sp>
          <p:grpSp>
            <p:nvGrpSpPr>
              <p:cNvPr id="16" name="Группа 15">
                <a:extLst>
                  <a:ext uri="{FF2B5EF4-FFF2-40B4-BE49-F238E27FC236}">
                    <a16:creationId xmlns:a16="http://schemas.microsoft.com/office/drawing/2014/main" id="{9EE196CA-E894-3D36-43CD-ED7582CA1396}"/>
                  </a:ext>
                </a:extLst>
              </p:cNvPr>
              <p:cNvGrpSpPr/>
              <p:nvPr/>
            </p:nvGrpSpPr>
            <p:grpSpPr>
              <a:xfrm>
                <a:off x="9436882" y="3862628"/>
                <a:ext cx="411171" cy="327894"/>
                <a:chOff x="9277016" y="5042024"/>
                <a:chExt cx="549437" cy="399626"/>
              </a:xfrm>
              <a:solidFill>
                <a:srgbClr val="149B5F"/>
              </a:solidFill>
            </p:grpSpPr>
            <p:sp>
              <p:nvSpPr>
                <p:cNvPr id="14" name="Полилиния: фигура 13">
                  <a:extLst>
                    <a:ext uri="{FF2B5EF4-FFF2-40B4-BE49-F238E27FC236}">
                      <a16:creationId xmlns:a16="http://schemas.microsoft.com/office/drawing/2014/main" id="{999747E3-AB08-75B3-FAFF-7DF1D8F18E54}"/>
                    </a:ext>
                  </a:extLst>
                </p:cNvPr>
                <p:cNvSpPr/>
                <p:nvPr/>
              </p:nvSpPr>
              <p:spPr>
                <a:xfrm rot="16200000">
                  <a:off x="9189491" y="5129549"/>
                  <a:ext cx="399626" cy="224575"/>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5" name="Прямоугольник: скругленные углы 14">
                  <a:extLst>
                    <a:ext uri="{FF2B5EF4-FFF2-40B4-BE49-F238E27FC236}">
                      <a16:creationId xmlns:a16="http://schemas.microsoft.com/office/drawing/2014/main" id="{9634222B-F539-AAE9-0A34-C59277379EBD}"/>
                    </a:ext>
                  </a:extLst>
                </p:cNvPr>
                <p:cNvSpPr/>
                <p:nvPr/>
              </p:nvSpPr>
              <p:spPr>
                <a:xfrm>
                  <a:off x="9430882" y="5136610"/>
                  <a:ext cx="395571" cy="227104"/>
                </a:xfrm>
                <a:prstGeom prst="round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7" name="Группа 16">
                <a:extLst>
                  <a:ext uri="{FF2B5EF4-FFF2-40B4-BE49-F238E27FC236}">
                    <a16:creationId xmlns:a16="http://schemas.microsoft.com/office/drawing/2014/main" id="{22D17281-7D4F-0964-9D36-E57C453BFC7C}"/>
                  </a:ext>
                </a:extLst>
              </p:cNvPr>
              <p:cNvGrpSpPr/>
              <p:nvPr/>
            </p:nvGrpSpPr>
            <p:grpSpPr>
              <a:xfrm>
                <a:off x="9436882" y="3242142"/>
                <a:ext cx="411171" cy="327894"/>
                <a:chOff x="9277016" y="5042024"/>
                <a:chExt cx="549437" cy="399626"/>
              </a:xfrm>
              <a:solidFill>
                <a:srgbClr val="149B5F"/>
              </a:solidFill>
            </p:grpSpPr>
            <p:sp>
              <p:nvSpPr>
                <p:cNvPr id="19" name="Полилиния: фигура 18">
                  <a:extLst>
                    <a:ext uri="{FF2B5EF4-FFF2-40B4-BE49-F238E27FC236}">
                      <a16:creationId xmlns:a16="http://schemas.microsoft.com/office/drawing/2014/main" id="{82094268-FCCD-4327-624E-385BAF6EC573}"/>
                    </a:ext>
                  </a:extLst>
                </p:cNvPr>
                <p:cNvSpPr/>
                <p:nvPr/>
              </p:nvSpPr>
              <p:spPr>
                <a:xfrm rot="16200000">
                  <a:off x="9189491" y="5129549"/>
                  <a:ext cx="399626" cy="224575"/>
                </a:xfrm>
                <a:custGeom>
                  <a:avLst/>
                  <a:gdLst>
                    <a:gd name="connsiteX0" fmla="*/ 374529 w 383107"/>
                    <a:gd name="connsiteY0" fmla="*/ 195941 h 230516"/>
                    <a:gd name="connsiteX1" fmla="*/ 358527 w 383107"/>
                    <a:gd name="connsiteY1" fmla="*/ 230516 h 230516"/>
                    <a:gd name="connsiteX2" fmla="*/ 24581 w 383107"/>
                    <a:gd name="connsiteY2" fmla="*/ 230516 h 230516"/>
                    <a:gd name="connsiteX3" fmla="*/ 8579 w 383107"/>
                    <a:gd name="connsiteY3" fmla="*/ 195941 h 230516"/>
                    <a:gd name="connsiteX4" fmla="*/ 162312 w 383107"/>
                    <a:gd name="connsiteY4" fmla="*/ 14299 h 230516"/>
                    <a:gd name="connsiteX5" fmla="*/ 214309 w 383107"/>
                    <a:gd name="connsiteY5" fmla="*/ 7812 h 230516"/>
                    <a:gd name="connsiteX6" fmla="*/ 220796 w 383107"/>
                    <a:gd name="connsiteY6" fmla="*/ 14299 h 23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107" h="230516">
                      <a:moveTo>
                        <a:pt x="374529" y="195941"/>
                      </a:moveTo>
                      <a:cubicBezTo>
                        <a:pt x="390626" y="214991"/>
                        <a:pt x="383387" y="230516"/>
                        <a:pt x="358527" y="230516"/>
                      </a:cubicBezTo>
                      <a:lnTo>
                        <a:pt x="24581" y="230516"/>
                      </a:lnTo>
                      <a:cubicBezTo>
                        <a:pt x="-280" y="230516"/>
                        <a:pt x="-7519" y="214991"/>
                        <a:pt x="8579" y="195941"/>
                      </a:cubicBezTo>
                      <a:lnTo>
                        <a:pt x="162312" y="14299"/>
                      </a:lnTo>
                      <a:cubicBezTo>
                        <a:pt x="174876" y="-1851"/>
                        <a:pt x="198155" y="-4755"/>
                        <a:pt x="214309" y="7812"/>
                      </a:cubicBezTo>
                      <a:cubicBezTo>
                        <a:pt x="216728" y="9697"/>
                        <a:pt x="218910" y="11876"/>
                        <a:pt x="220796" y="142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Прямоугольник: скругленные углы 19">
                  <a:extLst>
                    <a:ext uri="{FF2B5EF4-FFF2-40B4-BE49-F238E27FC236}">
                      <a16:creationId xmlns:a16="http://schemas.microsoft.com/office/drawing/2014/main" id="{C79C352E-0375-9005-17DC-A63C34A11E21}"/>
                    </a:ext>
                  </a:extLst>
                </p:cNvPr>
                <p:cNvSpPr/>
                <p:nvPr/>
              </p:nvSpPr>
              <p:spPr>
                <a:xfrm>
                  <a:off x="9430882" y="5136610"/>
                  <a:ext cx="395571" cy="227104"/>
                </a:xfrm>
                <a:prstGeom prst="roundRect">
                  <a:avLst/>
                </a:prstGeom>
                <a:grp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sp>
        <p:nvSpPr>
          <p:cNvPr id="6" name="Объект 8">
            <a:extLst>
              <a:ext uri="{FF2B5EF4-FFF2-40B4-BE49-F238E27FC236}">
                <a16:creationId xmlns:a16="http://schemas.microsoft.com/office/drawing/2014/main" id="{B7348613-8112-EB8B-0E1C-09BF9C9E6371}"/>
              </a:ext>
            </a:extLst>
          </p:cNvPr>
          <p:cNvSpPr>
            <a:spLocks noGrp="1"/>
          </p:cNvSpPr>
          <p:nvPr>
            <p:ph idx="4294967295"/>
          </p:nvPr>
        </p:nvSpPr>
        <p:spPr>
          <a:xfrm>
            <a:off x="924971" y="6004884"/>
            <a:ext cx="9694043" cy="759448"/>
          </a:xfrm>
        </p:spPr>
        <p:txBody>
          <a:bodyPr>
            <a:normAutofit/>
          </a:bodyPr>
          <a:lstStyle/>
          <a:p>
            <a:pPr marL="0" indent="0">
              <a:lnSpc>
                <a:spcPct val="100000"/>
              </a:lnSpc>
              <a:spcBef>
                <a:spcPts val="300"/>
              </a:spcBef>
              <a:buNone/>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График адаптирован из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1</a:t>
            </a:r>
            <a:endParaRPr lang="ru-RU"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dirty="0">
                <a:solidFill>
                  <a:srgbClr val="323F48"/>
                </a:solidFill>
                <a:latin typeface="Calibri" panose="020F0502020204030204" pitchFamily="34" charset="0"/>
                <a:cs typeface="Calibri" panose="020F0502020204030204" pitchFamily="34" charset="0"/>
              </a:rPr>
              <a:t>*непараметрический критерий, используемый для сравнения двух кривых выживаемости ..</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a:solidFill>
                  <a:srgbClr val="323F48"/>
                </a:solidFill>
                <a:latin typeface="Calibri" panose="020F0502020204030204" pitchFamily="34" charset="0"/>
                <a:cs typeface="Calibri" panose="020F0502020204030204" pitchFamily="34" charset="0"/>
              </a:rPr>
              <a:t>Cruickshank JM. The Modern Role of Beta-blockers in Cardiovascular Medicine. Shelton, CT: People's Medical Publishing House-USA;2011, Fig. 2-13. </a:t>
            </a:r>
            <a:r>
              <a:rPr lang="en-US" sz="800" b="1" dirty="0">
                <a:solidFill>
                  <a:srgbClr val="323F48"/>
                </a:solidFill>
                <a:latin typeface="Calibri" panose="020F0502020204030204" pitchFamily="34" charset="0"/>
                <a:cs typeface="Calibri" panose="020F0502020204030204" pitchFamily="34" charset="0"/>
              </a:rPr>
              <a:t>2. </a:t>
            </a:r>
            <a:r>
              <a:rPr lang="en-US" sz="800" dirty="0">
                <a:solidFill>
                  <a:srgbClr val="323F48"/>
                </a:solidFill>
                <a:latin typeface="Calibri" panose="020F0502020204030204" pitchFamily="34" charset="0"/>
                <a:cs typeface="Calibri" panose="020F0502020204030204" pitchFamily="34" charset="0"/>
              </a:rPr>
              <a:t>von Arnim T, for the TIBBS Investigators. Prognostic significance of transient ischemic episodes: response to treatment shows improved prognosis. Results of the Total Ischemic Burden Bisoprolol Study (TIBBS) Follow-Up. J Am Coll </a:t>
            </a:r>
            <a:r>
              <a:rPr lang="en-US" sz="800" dirty="0" err="1">
                <a:solidFill>
                  <a:srgbClr val="323F48"/>
                </a:solidFill>
                <a:latin typeface="Calibri" panose="020F0502020204030204" pitchFamily="34" charset="0"/>
                <a:cs typeface="Calibri" panose="020F0502020204030204" pitchFamily="34" charset="0"/>
              </a:rPr>
              <a:t>Cardiol</a:t>
            </a:r>
            <a:r>
              <a:rPr lang="en-US" sz="800" dirty="0">
                <a:solidFill>
                  <a:srgbClr val="323F48"/>
                </a:solidFill>
                <a:latin typeface="Calibri" panose="020F0502020204030204" pitchFamily="34" charset="0"/>
                <a:cs typeface="Calibri" panose="020F0502020204030204" pitchFamily="34" charset="0"/>
              </a:rPr>
              <a:t> 1996;28:20–4.</a:t>
            </a:r>
          </a:p>
        </p:txBody>
      </p:sp>
      <p:sp>
        <p:nvSpPr>
          <p:cNvPr id="23" name="Titel 17">
            <a:extLst>
              <a:ext uri="{FF2B5EF4-FFF2-40B4-BE49-F238E27FC236}">
                <a16:creationId xmlns:a16="http://schemas.microsoft.com/office/drawing/2014/main" id="{0A58C65F-09E1-01B7-0548-7D5A0312A3C4}"/>
              </a:ext>
            </a:extLst>
          </p:cNvPr>
          <p:cNvSpPr txBox="1">
            <a:spLocks/>
          </p:cNvSpPr>
          <p:nvPr>
            <p:custDataLst>
              <p:tags r:id="rId5"/>
            </p:custDataLst>
          </p:nvPr>
        </p:nvSpPr>
        <p:spPr>
          <a:xfrm>
            <a:off x="885615" y="497766"/>
            <a:ext cx="10909300" cy="783083"/>
          </a:xfrm>
          <a:prstGeom prst="rect">
            <a:avLst/>
          </a:prstGeom>
        </p:spPr>
        <p:txBody>
          <a:bodyPr vert="horz" lIns="0" tIns="0" rIns="0" bIns="0" rtlCol="0" anchor="t" anchorCtr="0">
            <a:normAutofit fontScale="97500"/>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Первоначальное лечение </a:t>
            </a:r>
            <a:r>
              <a:rPr kumimoji="0" lang="ru-RU"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бисопрололом</a:t>
            </a: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приводило к улучшению отдаленного прогноза у пациентов со стабильной стенокардией</a:t>
            </a:r>
            <a:r>
              <a:rPr kumimoji="0" lang="ru-RU"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rPr>
              <a:t>2</a:t>
            </a:r>
            <a:endParaRPr kumimoji="0" lang="en-US" sz="18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ustDataLst>
      <p:tags r:id="rId1"/>
    </p:custDataLst>
    <p:extLst>
      <p:ext uri="{BB962C8B-B14F-4D97-AF65-F5344CB8AC3E}">
        <p14:creationId xmlns:p14="http://schemas.microsoft.com/office/powerpoint/2010/main" val="2147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85855"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β-блокаторы при стабильной ИБС без СН и недавнего ИМ снижают композитный риск — за счёт снижения ИМ</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1024128"/>
            <a:ext cx="11185855"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Когортное исследование с propensity score (IPTW) · Онтарио, 2009–2019 · n=28 039 · медиана наблюдения 5,2 года</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508760"/>
            <a:ext cx="5455768" cy="713232"/>
          </a:xfrm>
          <a:prstGeom prst="rect">
            <a:avLst/>
          </a:prstGeom>
          <a:solidFill>
            <a:srgbClr val="005587"/>
          </a:solidFill>
          <a:ln/>
          <a:effectLst>
            <a:outerShdw blurRad="635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508760"/>
            <a:ext cx="4907128" cy="713232"/>
          </a:xfrm>
          <a:prstGeom prst="rect">
            <a:avLst/>
          </a:prstGeom>
          <a:noFill/>
          <a:ln/>
        </p:spPr>
        <p:txBody>
          <a:bodyPr wrap="square"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Новые пользователи β-блокаторов</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ADCFC"/>
                </a:solidFill>
                <a:effectLst/>
                <a:uLnTx/>
                <a:uFillTx/>
                <a:latin typeface="Arial" pitchFamily="34" charset="0"/>
                <a:ea typeface="Arial" pitchFamily="34" charset="-122"/>
                <a:cs typeface="Arial" pitchFamily="34" charset="-120"/>
              </a:rPr>
              <a:t>12 695 (45,3%)</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233008" y="1508760"/>
            <a:ext cx="5455768" cy="713232"/>
          </a:xfrm>
          <a:prstGeom prst="rect">
            <a:avLst/>
          </a:prstGeom>
          <a:solidFill>
            <a:srgbClr val="606B71"/>
          </a:solidFill>
          <a:ln/>
          <a:effectLst>
            <a:outerShdw blurRad="635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507328" y="1508760"/>
            <a:ext cx="4907128" cy="713232"/>
          </a:xfrm>
          <a:prstGeom prst="rect">
            <a:avLst/>
          </a:prstGeom>
          <a:noFill/>
          <a:ln/>
        </p:spPr>
        <p:txBody>
          <a:bodyPr wrap="square"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Без β-блокаторов</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8EA"/>
                </a:solidFill>
                <a:effectLst/>
                <a:uLnTx/>
                <a:uFillTx/>
                <a:latin typeface="Arial" pitchFamily="34" charset="0"/>
                <a:ea typeface="Arial" pitchFamily="34" charset="-122"/>
                <a:cs typeface="Arial" pitchFamily="34" charset="-120"/>
              </a:rPr>
              <a:t>15 344 (54,7%)</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02920" y="2478024"/>
            <a:ext cx="11185855" cy="1078992"/>
          </a:xfrm>
          <a:prstGeom prst="rect">
            <a:avLst/>
          </a:prstGeom>
          <a:solidFill>
            <a:srgbClr val="00A3E0"/>
          </a:solidFill>
          <a:ln/>
          <a:effectLst>
            <a:outerShdw blurRad="635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31520" y="2587752"/>
            <a:ext cx="10728655"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Первичная композитная точка: смерть от всех причин + госпитализация по СН + ИМ</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2898648"/>
            <a:ext cx="3576218" cy="603504"/>
          </a:xfrm>
          <a:prstGeom prst="rect">
            <a:avLst/>
          </a:prstGeom>
          <a:noFill/>
          <a:ln/>
        </p:spPr>
        <p:txBody>
          <a:bodyPr wrap="square"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ru-RU"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ОР</a:t>
            </a:r>
            <a:r>
              <a:rPr kumimoji="0" lang="en-US"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0,92</a:t>
            </a:r>
            <a:r>
              <a:rPr kumimoji="0" lang="ru-RU"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снижение на 8%</a:t>
            </a:r>
            <a:r>
              <a:rPr kumimoji="0" lang="en-US"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kumimoji="0" lang="en-US" sz="1000" b="1" i="0" u="none" strike="noStrike" kern="1200" cap="none" spc="0" normalizeH="0" baseline="0" noProof="0" dirty="0">
                <a:ln>
                  <a:noFill/>
                </a:ln>
                <a:solidFill>
                  <a:srgbClr val="EAF6FC"/>
                </a:solidFill>
                <a:effectLst/>
                <a:uLnTx/>
                <a:uFillTx/>
                <a:latin typeface="Arial" pitchFamily="34" charset="0"/>
                <a:ea typeface="Arial" pitchFamily="34" charset="-122"/>
                <a:cs typeface="Arial" pitchFamily="34" charset="-120"/>
              </a:rPr>
              <a:t>95% ДИ 0,86–0,98; p=0,006</a:t>
            </a:r>
            <a:endParaRPr kumimoji="0" lang="en-US" sz="1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307738" y="2898648"/>
            <a:ext cx="3576218" cy="603504"/>
          </a:xfrm>
          <a:prstGeom prst="rect">
            <a:avLst/>
          </a:prstGeom>
          <a:noFill/>
          <a:ln/>
        </p:spPr>
        <p:txBody>
          <a:bodyPr wrap="square"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14,3% vs 16,1%
</a:t>
            </a:r>
            <a:r>
              <a:rPr kumimoji="0" lang="en-US" sz="1000" b="0" i="0" u="none" strike="noStrike" kern="1200" cap="none" spc="0" normalizeH="0" baseline="0" noProof="0" dirty="0" err="1">
                <a:ln>
                  <a:noFill/>
                </a:ln>
                <a:solidFill>
                  <a:srgbClr val="EAF6FC"/>
                </a:solidFill>
                <a:effectLst/>
                <a:uLnTx/>
                <a:uFillTx/>
                <a:latin typeface="Arial" pitchFamily="34" charset="0"/>
                <a:ea typeface="Arial" pitchFamily="34" charset="-122"/>
                <a:cs typeface="Arial" pitchFamily="34" charset="-120"/>
              </a:rPr>
              <a:t>куму</a:t>
            </a:r>
            <a:r>
              <a:rPr kumimoji="0" lang="ru-RU" sz="1000" b="0" i="0" u="none" strike="noStrike" kern="1200" cap="none" spc="0" normalizeH="0" baseline="0" noProof="0" dirty="0" err="1">
                <a:ln>
                  <a:noFill/>
                </a:ln>
                <a:solidFill>
                  <a:srgbClr val="EAF6FC"/>
                </a:solidFill>
                <a:effectLst/>
                <a:uLnTx/>
                <a:uFillTx/>
                <a:latin typeface="Arial" pitchFamily="34" charset="0"/>
                <a:ea typeface="Arial" pitchFamily="34" charset="-122"/>
                <a:cs typeface="Arial" pitchFamily="34" charset="-120"/>
              </a:rPr>
              <a:t>лятивная</a:t>
            </a:r>
            <a:r>
              <a:rPr kumimoji="0" lang="en-US" sz="1000" b="0" i="0" u="none" strike="noStrike" kern="1200" cap="none" spc="0" normalizeH="0" baseline="0" noProof="0" dirty="0">
                <a:ln>
                  <a:noFill/>
                </a:ln>
                <a:solidFill>
                  <a:srgbClr val="EAF6FC"/>
                </a:solidFill>
                <a:effectLst/>
                <a:uLnTx/>
                <a:uFillTx/>
                <a:latin typeface="Arial" pitchFamily="34" charset="0"/>
                <a:ea typeface="Arial" pitchFamily="34" charset="-122"/>
                <a:cs typeface="Arial" pitchFamily="34" charset="-120"/>
              </a:rPr>
              <a:t> частота за 5 лет</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883957" y="2898648"/>
            <a:ext cx="3576218" cy="603504"/>
          </a:xfrm>
          <a:prstGeom prst="rect">
            <a:avLst/>
          </a:prstGeom>
          <a:noFill/>
          <a:ln/>
        </p:spPr>
        <p:txBody>
          <a:bodyPr wrap="square"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NNT₅ = 56
</a:t>
            </a:r>
            <a:r>
              <a:rPr kumimoji="0" lang="en-US" sz="1000" b="0" i="0" u="none" strike="noStrike" kern="1200" cap="none" spc="0" normalizeH="0" baseline="0" noProof="0" dirty="0">
                <a:ln>
                  <a:noFill/>
                </a:ln>
                <a:solidFill>
                  <a:srgbClr val="EAF6FC"/>
                </a:solidFill>
                <a:effectLst/>
                <a:uLnTx/>
                <a:uFillTx/>
                <a:latin typeface="Arial" pitchFamily="34" charset="0"/>
                <a:ea typeface="Arial" pitchFamily="34" charset="-122"/>
                <a:cs typeface="Arial" pitchFamily="34" charset="-120"/>
              </a:rPr>
              <a:t>АРР −1,8% (−2,8…−0,8)</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02920" y="3813048"/>
            <a:ext cx="3545738" cy="1371600"/>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3813048"/>
            <a:ext cx="82296" cy="1371600"/>
          </a:xfrm>
          <a:prstGeom prst="rect">
            <a:avLst/>
          </a:prstGeom>
          <a:solidFill>
            <a:srgbClr val="43B0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0" descr="preencoded.png"/>
          <p:cNvPicPr>
            <a:picLocks noChangeAspect="1"/>
          </p:cNvPicPr>
          <p:nvPr/>
        </p:nvPicPr>
        <p:blipFill>
          <a:blip r:embed="rId3"/>
          <a:stretch>
            <a:fillRect/>
          </a:stretch>
        </p:blipFill>
        <p:spPr>
          <a:xfrm>
            <a:off x="704088" y="3995928"/>
            <a:ext cx="292608" cy="292608"/>
          </a:xfrm>
          <a:prstGeom prst="rect">
            <a:avLst/>
          </a:prstGeom>
        </p:spPr>
      </p:pic>
      <p:sp>
        <p:nvSpPr>
          <p:cNvPr id="16" name="Text 13"/>
          <p:cNvSpPr/>
          <p:nvPr/>
        </p:nvSpPr>
        <p:spPr>
          <a:xfrm>
            <a:off x="1069848" y="3977640"/>
            <a:ext cx="285993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Снижение ИМ</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704088" y="4379976"/>
            <a:ext cx="317997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27123"/>
                </a:solidFill>
                <a:effectLst/>
                <a:uLnTx/>
                <a:uFillTx/>
                <a:latin typeface="Arial" pitchFamily="34" charset="0"/>
                <a:ea typeface="Arial" pitchFamily="34" charset="-122"/>
                <a:cs typeface="Arial" pitchFamily="34" charset="-120"/>
              </a:rPr>
              <a:t>ОР*</a:t>
            </a:r>
            <a:r>
              <a:rPr kumimoji="0" lang="en-US" sz="1600" b="1" i="0" u="none" strike="noStrike" kern="1200" cap="none" spc="0" normalizeH="0" baseline="0" noProof="0" dirty="0">
                <a:ln>
                  <a:noFill/>
                </a:ln>
                <a:solidFill>
                  <a:srgbClr val="027123"/>
                </a:solidFill>
                <a:effectLst/>
                <a:uLnTx/>
                <a:uFillTx/>
                <a:latin typeface="Arial" pitchFamily="34" charset="0"/>
                <a:ea typeface="Arial" pitchFamily="34" charset="-122"/>
                <a:cs typeface="Arial" pitchFamily="34" charset="-120"/>
              </a:rPr>
              <a:t> 0,87  </a:t>
            </a:r>
            <a:r>
              <a:rPr kumimoji="0" lang="en-US" sz="10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(3,4% vs 4,0% · −13% </a:t>
            </a:r>
            <a:r>
              <a:rPr kumimoji="0" lang="en-US" sz="1050" b="0" i="1" u="none" strike="noStrike" kern="1200" cap="none" spc="0" normalizeH="0" baseline="0" noProof="0" dirty="0" err="1">
                <a:ln>
                  <a:noFill/>
                </a:ln>
                <a:solidFill>
                  <a:srgbClr val="606B71"/>
                </a:solidFill>
                <a:effectLst/>
                <a:uLnTx/>
                <a:uFillTx/>
                <a:latin typeface="Arial" pitchFamily="34" charset="0"/>
                <a:ea typeface="Arial" pitchFamily="34" charset="-122"/>
                <a:cs typeface="Arial" pitchFamily="34" charset="-120"/>
              </a:rPr>
              <a:t>отн</a:t>
            </a:r>
            <a:r>
              <a:rPr kumimoji="0" lang="en-US" sz="10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704088" y="4745736"/>
            <a:ext cx="317997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95% ДИ 0,77–0,99; p=0,031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4322978" y="3813048"/>
            <a:ext cx="3545738" cy="1371600"/>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4322978" y="3813048"/>
            <a:ext cx="82296" cy="1371600"/>
          </a:xfrm>
          <a:prstGeom prst="rect">
            <a:avLst/>
          </a:prstGeom>
          <a:solidFill>
            <a:srgbClr val="606B7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1" descr="preencoded.png"/>
          <p:cNvPicPr>
            <a:picLocks noChangeAspect="1"/>
          </p:cNvPicPr>
          <p:nvPr/>
        </p:nvPicPr>
        <p:blipFill>
          <a:blip r:embed="rId4"/>
          <a:stretch>
            <a:fillRect/>
          </a:stretch>
        </p:blipFill>
        <p:spPr>
          <a:xfrm>
            <a:off x="4524146" y="3995928"/>
            <a:ext cx="292608" cy="292608"/>
          </a:xfrm>
          <a:prstGeom prst="rect">
            <a:avLst/>
          </a:prstGeom>
        </p:spPr>
      </p:pic>
      <p:sp>
        <p:nvSpPr>
          <p:cNvPr id="22" name="Text 18"/>
          <p:cNvSpPr/>
          <p:nvPr/>
        </p:nvSpPr>
        <p:spPr>
          <a:xfrm>
            <a:off x="4889906" y="3977640"/>
            <a:ext cx="285993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Общая смертность</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4524146" y="4379976"/>
            <a:ext cx="317997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ОР</a:t>
            </a:r>
            <a:r>
              <a:rPr kumimoji="0" lang="en-US" sz="1600" b="1"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 0,95  </a:t>
            </a:r>
            <a:r>
              <a:rPr kumimoji="0" lang="en-US" sz="10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(различий нет)</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4524146" y="4745736"/>
            <a:ext cx="317997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95% ДИ 0,88–1,02</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1"/>
          <p:cNvSpPr/>
          <p:nvPr/>
        </p:nvSpPr>
        <p:spPr>
          <a:xfrm>
            <a:off x="8143037" y="3813048"/>
            <a:ext cx="3545738" cy="1371600"/>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2"/>
          <p:cNvSpPr/>
          <p:nvPr/>
        </p:nvSpPr>
        <p:spPr>
          <a:xfrm>
            <a:off x="8143037" y="3813048"/>
            <a:ext cx="82296" cy="1371600"/>
          </a:xfrm>
          <a:prstGeom prst="rect">
            <a:avLst/>
          </a:prstGeom>
          <a:solidFill>
            <a:srgbClr val="606B7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2" descr="preencoded.png"/>
          <p:cNvPicPr>
            <a:picLocks noChangeAspect="1"/>
          </p:cNvPicPr>
          <p:nvPr/>
        </p:nvPicPr>
        <p:blipFill>
          <a:blip r:embed="rId4"/>
          <a:stretch>
            <a:fillRect/>
          </a:stretch>
        </p:blipFill>
        <p:spPr>
          <a:xfrm>
            <a:off x="8344205" y="3995928"/>
            <a:ext cx="292608" cy="292608"/>
          </a:xfrm>
          <a:prstGeom prst="rect">
            <a:avLst/>
          </a:prstGeom>
        </p:spPr>
      </p:pic>
      <p:sp>
        <p:nvSpPr>
          <p:cNvPr id="28" name="Text 23"/>
          <p:cNvSpPr/>
          <p:nvPr/>
        </p:nvSpPr>
        <p:spPr>
          <a:xfrm>
            <a:off x="8709965" y="3977640"/>
            <a:ext cx="285993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Госпитализация по СН</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4"/>
          <p:cNvSpPr/>
          <p:nvPr/>
        </p:nvSpPr>
        <p:spPr>
          <a:xfrm>
            <a:off x="8344205" y="4379976"/>
            <a:ext cx="317997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ОР*</a:t>
            </a:r>
            <a:r>
              <a:rPr kumimoji="0" lang="en-US" sz="1600" b="1"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 0,93  </a:t>
            </a:r>
            <a:r>
              <a:rPr kumimoji="0" lang="en-US" sz="10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(различий нет)</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5"/>
          <p:cNvSpPr/>
          <p:nvPr/>
        </p:nvSpPr>
        <p:spPr>
          <a:xfrm>
            <a:off x="8344205" y="4745736"/>
            <a:ext cx="3179978"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95% ДИ 0,82–1,06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6"/>
          <p:cNvSpPr/>
          <p:nvPr/>
        </p:nvSpPr>
        <p:spPr>
          <a:xfrm>
            <a:off x="502920" y="5385816"/>
            <a:ext cx="11185855" cy="566928"/>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7"/>
          <p:cNvSpPr/>
          <p:nvPr/>
        </p:nvSpPr>
        <p:spPr>
          <a:xfrm>
            <a:off x="731520" y="5385816"/>
            <a:ext cx="10728655"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Эффект консистентен по подгруппам:  </a:t>
            </a:r>
            <a:r>
              <a:rPr kumimoji="0" lang="en-US" sz="1400" b="0" i="0" u="none" strike="noStrike" kern="1200" cap="none" spc="0" normalizeH="0" baseline="0" noProof="0" dirty="0">
                <a:ln>
                  <a:noFill/>
                </a:ln>
                <a:solidFill>
                  <a:srgbClr val="CADCFC"/>
                </a:solidFill>
                <a:effectLst/>
                <a:uLnTx/>
                <a:uFillTx/>
                <a:latin typeface="Arial" pitchFamily="34" charset="0"/>
                <a:ea typeface="Arial" pitchFamily="34" charset="-122"/>
                <a:cs typeface="Arial" pitchFamily="34" charset="-120"/>
              </a:rPr>
              <a:t>пол · возраст · СД · АГ · статус реваскуляризации · диапазон ФВ ЛЖ · паттерны ишемии миокарда · коронарная анатомия</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8"/>
          <p:cNvSpPr/>
          <p:nvPr/>
        </p:nvSpPr>
        <p:spPr>
          <a:xfrm>
            <a:off x="502920" y="6473952"/>
            <a:ext cx="11185855"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Godoy LC, Farkouh ME, Austin PC, et al. J Am Coll Cardiol. 2023;81(24):2299-2311. doi:10.1016/j.jacc.2023.04.021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493F9373-72D0-AEE9-46D8-67A4302811C8}"/>
              </a:ext>
            </a:extLst>
          </p:cNvPr>
          <p:cNvSpPr txBox="1"/>
          <p:nvPr/>
        </p:nvSpPr>
        <p:spPr>
          <a:xfrm>
            <a:off x="410216" y="6165242"/>
            <a:ext cx="6097112"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ОР* - отношение рисков, специфическое для причины отношение рисков</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85855"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Бисопролол и амлодипин обеспечивают комплементарную защиту сосудистой стенки на молекулярном уровне</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987552"/>
            <a:ext cx="11185855"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Два компонента Конкор® АМ — два независимых механизма защиты сосуда в дополнение к контролю АД</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481328"/>
            <a:ext cx="5181448" cy="841248"/>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704088" y="1682496"/>
            <a:ext cx="438912" cy="438912"/>
          </a:xfrm>
          <a:prstGeom prst="rect">
            <a:avLst/>
          </a:prstGeom>
        </p:spPr>
      </p:pic>
      <p:sp>
        <p:nvSpPr>
          <p:cNvPr id="6" name="Text 3"/>
          <p:cNvSpPr/>
          <p:nvPr/>
        </p:nvSpPr>
        <p:spPr>
          <a:xfrm>
            <a:off x="1280160" y="1481328"/>
            <a:ext cx="4404208"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β-БЛОКАТОРЫ
</a:t>
            </a:r>
            <a:r>
              <a:rPr kumimoji="0" lang="en-US" sz="1300" b="1" i="1" u="none" strike="noStrike" kern="1200" cap="none" spc="0" normalizeH="0" baseline="0" noProof="0" dirty="0">
                <a:ln>
                  <a:noFill/>
                </a:ln>
                <a:solidFill>
                  <a:srgbClr val="CADCFC"/>
                </a:solidFill>
                <a:effectLst/>
                <a:uLnTx/>
                <a:uFillTx/>
                <a:latin typeface="Arial" pitchFamily="34" charset="0"/>
                <a:ea typeface="Arial" pitchFamily="34" charset="-122"/>
                <a:cs typeface="Arial" pitchFamily="34" charset="-120"/>
              </a:rPr>
              <a:t>Снижение симпатической активации и влияние на эндотелий</a:t>
            </a:r>
            <a:endParaRPr kumimoji="0" lang="en-US" sz="13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502920" y="2322576"/>
            <a:ext cx="5181448" cy="3230324"/>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758952" y="2523744"/>
            <a:ext cx="4669384" cy="201168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Снижают симпатическую (катехоламиновую) нагрузку на стенку сосуда</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Уменьшают проникновение ЛПНП внутрь сосудистой стенки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Сосудистый эффект не объясняется только урежением ЧСС — указывает на дополнительное прямое действие на стенку сосуда</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58952" y="4315968"/>
            <a:ext cx="4669384" cy="0"/>
          </a:xfrm>
          <a:prstGeom prst="line">
            <a:avLst/>
          </a:prstGeom>
          <a:noFill/>
          <a:ln w="12700">
            <a:solidFill>
              <a:srgbClr val="D5D8D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758952" y="4425696"/>
            <a:ext cx="4669384"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Клинически:  </a:t>
            </a:r>
            <a:r>
              <a:rPr kumimoji="0" lang="en-US" sz="1300" b="1" i="0" u="none" strike="noStrike" kern="1200" cap="none" spc="0" normalizeH="0" baseline="0" noProof="0" dirty="0">
                <a:ln>
                  <a:noFill/>
                </a:ln>
                <a:solidFill>
                  <a:srgbClr val="027123"/>
                </a:solidFill>
                <a:effectLst/>
                <a:uLnTx/>
                <a:uFillTx/>
                <a:latin typeface="Arial" pitchFamily="34" charset="0"/>
                <a:ea typeface="Arial" pitchFamily="34" charset="-122"/>
                <a:cs typeface="Arial" pitchFamily="34" charset="-120"/>
              </a:rPr>
              <a:t>−13% риск ИМ </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a:t>
            </a:r>
            <a:r>
              <a:rPr kumimoji="0" lang="ru-RU" sz="1300" b="1" i="0" u="none" strike="noStrike" kern="1200" cap="none" spc="0" normalizeH="0" baseline="0" noProof="0" dirty="0">
                <a:ln>
                  <a:noFill/>
                </a:ln>
                <a:solidFill>
                  <a:srgbClr val="027123"/>
                </a:solidFill>
                <a:effectLst/>
                <a:uLnTx/>
                <a:uFillTx/>
                <a:latin typeface="Arial" pitchFamily="34" charset="0"/>
                <a:ea typeface="Arial" pitchFamily="34" charset="-122"/>
                <a:cs typeface="Arial" pitchFamily="34" charset="-120"/>
              </a:rPr>
              <a:t>ОР*</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0,87; 95% ДИ 0,77–0,99) — n=28 039, современная популяция </a:t>
            </a:r>
            <a:r>
              <a:rPr kumimoji="0" lang="en-US" sz="1300" b="0" i="0" u="none" strike="noStrike" kern="1200" cap="none" spc="0" normalizeH="0" baseline="0" noProof="0" dirty="0" err="1">
                <a:ln>
                  <a:noFill/>
                </a:ln>
                <a:solidFill>
                  <a:srgbClr val="2B3A42"/>
                </a:solidFill>
                <a:effectLst/>
                <a:uLnTx/>
                <a:uFillTx/>
                <a:latin typeface="Arial" pitchFamily="34" charset="0"/>
                <a:ea typeface="Arial" pitchFamily="34" charset="-122"/>
                <a:cs typeface="Arial" pitchFamily="34" charset="-120"/>
              </a:rPr>
              <a:t>стабильной</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ИБС</a:t>
            </a:r>
            <a:r>
              <a:rPr kumimoji="0" lang="ru-RU" sz="1300" b="0" i="0" u="none" strike="noStrike" kern="1200" cap="none" spc="0" normalizeH="0" baseline="30000" noProof="0" dirty="0">
                <a:ln>
                  <a:noFill/>
                </a:ln>
                <a:solidFill>
                  <a:srgbClr val="2B3A42"/>
                </a:solidFill>
                <a:effectLst/>
                <a:uLnTx/>
                <a:uFillTx/>
                <a:latin typeface="Arial" pitchFamily="34" charset="0"/>
                <a:ea typeface="Arial" pitchFamily="34" charset="-122"/>
                <a:cs typeface="Arial" pitchFamily="34" charset="-120"/>
              </a:rPr>
              <a:t>1</a:t>
            </a:r>
            <a:endParaRPr kumimoji="0" lang="en-US" sz="13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758952" y="4992624"/>
            <a:ext cx="466938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ВСУЗИ</a:t>
            </a: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ru-RU"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регресс </a:t>
            </a:r>
            <a:r>
              <a:rPr kumimoji="0" lang="en-US" sz="1300" b="0" i="0" u="none" strike="noStrike" kern="1200" cap="none" spc="0" normalizeH="0" baseline="0" noProof="0" dirty="0" err="1">
                <a:ln>
                  <a:noFill/>
                </a:ln>
                <a:solidFill>
                  <a:srgbClr val="2B3A42"/>
                </a:solidFill>
                <a:effectLst/>
                <a:uLnTx/>
                <a:uFillTx/>
                <a:latin typeface="Arial" pitchFamily="34" charset="0"/>
                <a:ea typeface="Arial" pitchFamily="34" charset="-122"/>
                <a:cs typeface="Arial" pitchFamily="34" charset="-120"/>
              </a:rPr>
              <a:t>объёма</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атеромы (TAV), </a:t>
            </a:r>
            <a:r>
              <a:rPr kumimoji="0" lang="ru-RU"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−2,4 мм³/год</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(p=0,03) vs </a:t>
            </a:r>
            <a:r>
              <a:rPr kumimoji="0" lang="ru-RU"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−0,4 мм³/год (без β-блокаторов</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a:t>
            </a:r>
            <a:r>
              <a:rPr kumimoji="0" lang="en-US" sz="1300" b="0" i="0" u="none" strike="noStrike" kern="1200" cap="none" spc="0" normalizeH="0" baseline="30000" noProof="0" dirty="0">
                <a:ln>
                  <a:noFill/>
                </a:ln>
                <a:solidFill>
                  <a:srgbClr val="2B3A42"/>
                </a:solidFill>
                <a:effectLst/>
                <a:uLnTx/>
                <a:uFillTx/>
                <a:latin typeface="Arial" pitchFamily="34" charset="0"/>
                <a:ea typeface="Arial" pitchFamily="34" charset="-122"/>
                <a:cs typeface="Arial" pitchFamily="34" charset="-120"/>
              </a:rPr>
              <a:t> 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507328" y="1481328"/>
            <a:ext cx="5181448" cy="841248"/>
          </a:xfrm>
          <a:prstGeom prst="rect">
            <a:avLst/>
          </a:prstGeom>
          <a:solidFill>
            <a:srgbClr val="43B0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preencoded.png"/>
          <p:cNvPicPr>
            <a:picLocks noChangeAspect="1"/>
          </p:cNvPicPr>
          <p:nvPr/>
        </p:nvPicPr>
        <p:blipFill>
          <a:blip r:embed="rId4"/>
          <a:stretch>
            <a:fillRect/>
          </a:stretch>
        </p:blipFill>
        <p:spPr>
          <a:xfrm>
            <a:off x="6708496" y="1682496"/>
            <a:ext cx="438912" cy="438912"/>
          </a:xfrm>
          <a:prstGeom prst="rect">
            <a:avLst/>
          </a:prstGeom>
        </p:spPr>
      </p:pic>
      <p:sp>
        <p:nvSpPr>
          <p:cNvPr id="16" name="Text 12"/>
          <p:cNvSpPr/>
          <p:nvPr/>
        </p:nvSpPr>
        <p:spPr>
          <a:xfrm>
            <a:off x="7284568" y="1481328"/>
            <a:ext cx="4267048"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АМЛОДИПИН
</a:t>
            </a:r>
            <a:r>
              <a:rPr kumimoji="0" lang="en-US" sz="1300" b="1" i="1" u="none" strike="noStrike" kern="1200" cap="none" spc="0" normalizeH="0" baseline="0" noProof="0" dirty="0">
                <a:ln>
                  <a:noFill/>
                </a:ln>
                <a:solidFill>
                  <a:srgbClr val="E4F3DF"/>
                </a:solidFill>
                <a:effectLst/>
                <a:uLnTx/>
                <a:uFillTx/>
                <a:latin typeface="Arial" pitchFamily="34" charset="0"/>
                <a:ea typeface="Arial" pitchFamily="34" charset="-122"/>
                <a:cs typeface="Arial" pitchFamily="34" charset="-120"/>
              </a:rPr>
              <a:t>Антиоксидантное действие и стабилизация бляшки</a:t>
            </a:r>
            <a:endParaRPr kumimoji="0" lang="en-US" sz="13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6507328" y="2322576"/>
            <a:ext cx="5181448" cy="3230324"/>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A1DF1C42-EBCB-924F-F0F6-B340251AF8BC}"/>
              </a:ext>
            </a:extLst>
          </p:cNvPr>
          <p:cNvSpPr/>
          <p:nvPr/>
        </p:nvSpPr>
        <p:spPr>
          <a:xfrm>
            <a:off x="5243252" y="3345454"/>
            <a:ext cx="1659778" cy="822960"/>
          </a:xfrm>
          <a:prstGeom prst="roundRect">
            <a:avLst/>
          </a:prstGeom>
          <a:solidFill>
            <a:srgbClr val="00A3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 14"/>
          <p:cNvSpPr/>
          <p:nvPr/>
        </p:nvSpPr>
        <p:spPr>
          <a:xfrm>
            <a:off x="6763360" y="2523744"/>
            <a:ext cx="4669384" cy="201168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Антиоксидантное действие — снижает окислительный стресс в сосудистой стенке (сохранение СОД, ↓ перекисного окисления липидов)</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Подавляет молекулы адгезии (ICAM-1, VCAM-1) и NADPH-оксидазу</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Тормозит разрастание гладкомышечных клеток — работает на стабильность бляшки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6763360" y="4315968"/>
            <a:ext cx="4669384" cy="0"/>
          </a:xfrm>
          <a:prstGeom prst="line">
            <a:avLst/>
          </a:prstGeom>
          <a:noFill/>
          <a:ln w="12700">
            <a:solidFill>
              <a:srgbClr val="D5D8D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6"/>
          <p:cNvSpPr/>
          <p:nvPr/>
        </p:nvSpPr>
        <p:spPr>
          <a:xfrm>
            <a:off x="6763360" y="4425696"/>
            <a:ext cx="4669384"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Клинически:  </a:t>
            </a:r>
            <a:r>
              <a:rPr kumimoji="0" lang="en-US" sz="1300" b="1" i="0" u="none" strike="noStrike" kern="1200" cap="none" spc="0" normalizeH="0" baseline="0" noProof="0" dirty="0">
                <a:ln>
                  <a:noFill/>
                </a:ln>
                <a:solidFill>
                  <a:srgbClr val="027123"/>
                </a:solidFill>
                <a:effectLst/>
                <a:uLnTx/>
                <a:uFillTx/>
                <a:latin typeface="Arial" pitchFamily="34" charset="0"/>
                <a:ea typeface="Arial" pitchFamily="34" charset="-122"/>
                <a:cs typeface="Arial" pitchFamily="34" charset="-120"/>
              </a:rPr>
              <a:t>−31% сердечно-сосудистых событий </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(HR 0,69; p=0,003) — n=1991</a:t>
            </a:r>
            <a:r>
              <a:rPr kumimoji="0" lang="ru-RU"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⟨CAMELOT⟩</a:t>
            </a:r>
            <a:r>
              <a:rPr kumimoji="0" lang="en-US" sz="1300" b="0" i="0" u="none" strike="noStrike" kern="1200" cap="none" spc="0" normalizeH="0" baseline="30000" noProof="0" dirty="0">
                <a:ln>
                  <a:noFill/>
                </a:ln>
                <a:solidFill>
                  <a:srgbClr val="2B3A42"/>
                </a:solidFill>
                <a:effectLst/>
                <a:uLnTx/>
                <a:uFillTx/>
                <a:latin typeface="Arial" pitchFamily="34" charset="0"/>
                <a:ea typeface="Arial" pitchFamily="34" charset="-122"/>
                <a:cs typeface="Arial" pitchFamily="34" charset="-120"/>
              </a:rPr>
              <a:t>3</a:t>
            </a:r>
            <a:r>
              <a:rPr kumimoji="0" lang="ru-RU" sz="1300" b="0" i="0" u="none" strike="noStrike" kern="1200" cap="none" spc="0" normalizeH="0" baseline="30000" noProof="0" dirty="0">
                <a:ln>
                  <a:noFill/>
                </a:ln>
                <a:solidFill>
                  <a:srgbClr val="2B3A42"/>
                </a:solidFill>
                <a:effectLst/>
                <a:uLnTx/>
                <a:uFillTx/>
                <a:latin typeface="Arial" pitchFamily="34" charset="0"/>
                <a:ea typeface="Arial" pitchFamily="34" charset="-122"/>
                <a:cs typeface="Arial" pitchFamily="34" charset="-120"/>
              </a:rPr>
              <a:t> - </a:t>
            </a:r>
            <a:endParaRPr kumimoji="0" lang="en-US" sz="13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6763360" y="4992624"/>
            <a:ext cx="466938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ВСУЗИ</a:t>
            </a: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отсутствие </a:t>
            </a:r>
            <a:r>
              <a:rPr kumimoji="0" lang="en-US" sz="1300" b="0" i="0" u="none" strike="noStrike" kern="1200" cap="none" spc="0" normalizeH="0" baseline="0" noProof="0" dirty="0" err="1">
                <a:ln>
                  <a:noFill/>
                </a:ln>
                <a:solidFill>
                  <a:srgbClr val="2B3A42"/>
                </a:solidFill>
                <a:effectLst/>
                <a:uLnTx/>
                <a:uFillTx/>
                <a:latin typeface="Arial" pitchFamily="34" charset="0"/>
                <a:ea typeface="Arial" pitchFamily="34" charset="-122"/>
                <a:cs typeface="Arial" pitchFamily="34" charset="-120"/>
              </a:rPr>
              <a:t>прогрессирования</a:t>
            </a:r>
            <a:r>
              <a:rPr kumimoji="0" lang="en-US"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2B3A42"/>
                </a:solidFill>
                <a:effectLst/>
                <a:uLnTx/>
                <a:uFillTx/>
                <a:latin typeface="Arial" pitchFamily="34" charset="0"/>
                <a:ea typeface="Arial" pitchFamily="34" charset="-122"/>
                <a:cs typeface="Arial" pitchFamily="34" charset="-120"/>
              </a:rPr>
              <a:t>атеромы</a:t>
            </a:r>
            <a:r>
              <a:rPr kumimoji="0" lang="ru-RU" sz="1300" b="0" i="0" u="none" strike="noStrike" kern="1200" cap="none" spc="0" normalizeH="0" baseline="0" noProof="0" dirty="0">
                <a:ln>
                  <a:noFill/>
                </a:ln>
                <a:solidFill>
                  <a:srgbClr val="2B3A42"/>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rPr>
              <a:t>⟨NORMALISE⟩</a:t>
            </a:r>
            <a:r>
              <a:rPr kumimoji="0" lang="en-US" sz="1300" b="0" i="0" u="none" strike="noStrike" kern="1200" cap="none" spc="0" normalizeH="0" baseline="30000" noProof="0" dirty="0">
                <a:ln>
                  <a:noFill/>
                </a:ln>
                <a:solidFill>
                  <a:srgbClr val="2B3A42"/>
                </a:solidFill>
                <a:effectLst/>
                <a:uLnTx/>
                <a:uFillTx/>
                <a:latin typeface="Arial" pitchFamily="34" charset="0"/>
                <a:ea typeface="Arial" pitchFamily="34" charset="-122"/>
                <a:cs typeface="Arial" pitchFamily="34" charset="-120"/>
              </a:rPr>
              <a:t>4</a:t>
            </a:r>
            <a:endParaRPr kumimoji="0" lang="en-US" sz="13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6" name="Text 21"/>
          <p:cNvSpPr/>
          <p:nvPr/>
        </p:nvSpPr>
        <p:spPr>
          <a:xfrm>
            <a:off x="5446624" y="3363329"/>
            <a:ext cx="1298448" cy="4572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Разные</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мишени</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Shape 22"/>
          <p:cNvSpPr/>
          <p:nvPr/>
        </p:nvSpPr>
        <p:spPr>
          <a:xfrm>
            <a:off x="502920" y="5752406"/>
            <a:ext cx="11185855" cy="457200"/>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3"/>
          <p:cNvSpPr/>
          <p:nvPr/>
        </p:nvSpPr>
        <p:spPr>
          <a:xfrm>
            <a:off x="731520" y="5752406"/>
            <a:ext cx="10728655" cy="457200"/>
          </a:xfrm>
          <a:prstGeom prst="rect">
            <a:avLst/>
          </a:prstGeom>
          <a:solidFill>
            <a:srgbClr val="00A3E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Пути не пересекаются: каждый компонент закрывает свою зону атерогенеза. Вместе они охватывают больше звеньев процесса, чем каждый по отдельности — в дополнение к снижению АД.</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4"/>
          <p:cNvSpPr/>
          <p:nvPr/>
        </p:nvSpPr>
        <p:spPr>
          <a:xfrm>
            <a:off x="502920" y="6270289"/>
            <a:ext cx="3038302" cy="138823"/>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7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ВСУЗИ</a:t>
            </a:r>
            <a:r>
              <a:rPr kumimoji="0" lang="en-US" sz="7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 — </a:t>
            </a:r>
            <a:r>
              <a:rPr kumimoji="0" lang="ru-RU" sz="750" b="0" i="1" u="none" strike="noStrike" kern="1200" cap="none" spc="0" normalizeH="0" baseline="0" noProof="0" dirty="0">
                <a:ln>
                  <a:noFill/>
                </a:ln>
                <a:solidFill>
                  <a:srgbClr val="606B71"/>
                </a:solidFill>
                <a:effectLst/>
                <a:uLnTx/>
                <a:uFillTx/>
                <a:latin typeface="Arial" pitchFamily="34" charset="0"/>
                <a:ea typeface="Arial" pitchFamily="34" charset="-122"/>
                <a:cs typeface="Arial" pitchFamily="34" charset="-120"/>
              </a:rPr>
              <a:t>внутрисосудистый ультразвук</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5E798106-1D17-6275-0589-77FE8A849024}"/>
              </a:ext>
            </a:extLst>
          </p:cNvPr>
          <p:cNvSpPr/>
          <p:nvPr/>
        </p:nvSpPr>
        <p:spPr>
          <a:xfrm>
            <a:off x="93441" y="6502214"/>
            <a:ext cx="11920573"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1.</a:t>
            </a:r>
            <a:r>
              <a:rPr kumimoji="0" lang="ru-RU"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Godoy LC, et al. J Am Coll Cardiol. 2023;81(24):2299-2311. doi:10.1016/j.jacc.2023.04.021.</a:t>
            </a:r>
            <a:r>
              <a:rPr kumimoji="0" lang="ru-RU"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1"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2. </a:t>
            </a:r>
            <a:r>
              <a:rPr kumimoji="0" lang="en-US" sz="800" b="0" i="1"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Sipahi</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I, et al. Beta-blockers and progression of coronary atherosclerosis: pooled analysis of 4 intravascular ultrasonography trials. Ann Intern Med. 2007;147(1):10-18. doi:10.7326/0003-4819-147-1-200707030-00003. </a:t>
            </a:r>
            <a:r>
              <a:rPr kumimoji="0" lang="en-US" sz="800" b="1"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3</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Nissen SE, et al. Effect of antihypertensive agents on cardiovascular events in patients with coronary disease and normal blood pressure: the CAMELOT study. JAMA. 2004;292(18):2217-2225. doi:10.1001/jama.292.18.2217 </a:t>
            </a:r>
            <a:r>
              <a:rPr kumimoji="0" lang="en-US" sz="800" b="1"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4.</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Brener SJ, et al. Antihypertensive therapy and regression of coronary artery disease: insights from CAMELOT and NORMALISE. Am Heart J. 2006;152(6):1059-1063. doi:10.1016/j.ahj.2006.07.022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Rectangle: Rounded Corners 30">
            <a:extLst>
              <a:ext uri="{FF2B5EF4-FFF2-40B4-BE49-F238E27FC236}">
                <a16:creationId xmlns:a16="http://schemas.microsoft.com/office/drawing/2014/main" id="{89B9C0B0-6029-314D-C0C2-5EC8A0699898}"/>
              </a:ext>
            </a:extLst>
          </p:cNvPr>
          <p:cNvSpPr/>
          <p:nvPr/>
        </p:nvSpPr>
        <p:spPr>
          <a:xfrm>
            <a:off x="5220393" y="3363329"/>
            <a:ext cx="45719" cy="457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604820C2-4654-01D7-02C1-C6DB5C8E1DC6}"/>
              </a:ext>
            </a:extLst>
          </p:cNvPr>
          <p:cNvSpPr txBox="1"/>
          <p:nvPr/>
        </p:nvSpPr>
        <p:spPr>
          <a:xfrm>
            <a:off x="704088" y="5376672"/>
            <a:ext cx="4338014"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ОР* - отношение рисков, специфическое для причины отношение рисков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CF04-E6C8-19F7-B80E-9C5EB0BEE86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E220D5F-811E-0F4F-94EB-67851BBDB1F7}"/>
              </a:ext>
            </a:extLst>
          </p:cNvPr>
          <p:cNvSpPr>
            <a:spLocks noGrp="1"/>
          </p:cNvSpPr>
          <p:nvPr>
            <p:ph type="title"/>
          </p:nvPr>
        </p:nvSpPr>
        <p:spPr bwMode="gray">
          <a:xfrm>
            <a:off x="5765800" y="2240992"/>
            <a:ext cx="5943600" cy="2232000"/>
          </a:xfrm>
        </p:spPr>
        <p:txBody>
          <a:bodyPr/>
          <a:lstStyle/>
          <a:p>
            <a:r>
              <a:rPr lang="ru-RU" sz="4000" b="1" dirty="0">
                <a:latin typeface="Arial (Headings)"/>
              </a:rPr>
              <a:t>Оптимальная медикаментозная терапия в эпоху </a:t>
            </a:r>
            <a:r>
              <a:rPr lang="ru-RU" sz="4000" b="1" dirty="0" err="1">
                <a:latin typeface="Arial (Headings)"/>
              </a:rPr>
              <a:t>реваскуляризации</a:t>
            </a:r>
            <a:endParaRPr lang="en-US" sz="4000" b="1" dirty="0">
              <a:latin typeface="Arial (Headings)"/>
            </a:endParaRPr>
          </a:p>
        </p:txBody>
      </p:sp>
    </p:spTree>
    <p:custDataLst>
      <p:tags r:id="rId1"/>
    </p:custDataLst>
    <p:extLst>
      <p:ext uri="{BB962C8B-B14F-4D97-AF65-F5344CB8AC3E}">
        <p14:creationId xmlns:p14="http://schemas.microsoft.com/office/powerpoint/2010/main" val="110597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35">
            <a:extLst>
              <a:ext uri="{FF2B5EF4-FFF2-40B4-BE49-F238E27FC236}">
                <a16:creationId xmlns:a16="http://schemas.microsoft.com/office/drawing/2014/main" id="{5808AB60-AD9D-A2EF-06B4-7E38172D86CA}"/>
              </a:ext>
            </a:extLst>
          </p:cNvPr>
          <p:cNvSpPr/>
          <p:nvPr/>
        </p:nvSpPr>
        <p:spPr>
          <a:xfrm>
            <a:off x="5397500" y="4160350"/>
            <a:ext cx="6325754" cy="2109787"/>
          </a:xfrm>
          <a:prstGeom prst="roundRect">
            <a:avLst>
              <a:gd name="adj" fmla="val 4327"/>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7" name="Freeform 35">
            <a:extLst>
              <a:ext uri="{FF2B5EF4-FFF2-40B4-BE49-F238E27FC236}">
                <a16:creationId xmlns:a16="http://schemas.microsoft.com/office/drawing/2014/main" id="{1D2FA21C-44F8-A586-1998-805046F97505}"/>
              </a:ext>
            </a:extLst>
          </p:cNvPr>
          <p:cNvSpPr/>
          <p:nvPr/>
        </p:nvSpPr>
        <p:spPr>
          <a:xfrm>
            <a:off x="5397500" y="1706563"/>
            <a:ext cx="6325754" cy="2109787"/>
          </a:xfrm>
          <a:prstGeom prst="roundRect">
            <a:avLst>
              <a:gd name="adj" fmla="val 4327"/>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 name="Title 6">
            <a:extLst>
              <a:ext uri="{FF2B5EF4-FFF2-40B4-BE49-F238E27FC236}">
                <a16:creationId xmlns:a16="http://schemas.microsoft.com/office/drawing/2014/main" id="{2CB7AEEB-61C0-D104-66B0-CF6B0301CB90}"/>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ISCHEMIA (2020): инвазивная стратегия не превосходит ОМТ при стабильной ИБС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9" name="Rectangle 28">
            <a:extLst>
              <a:ext uri="{FF2B5EF4-FFF2-40B4-BE49-F238E27FC236}">
                <a16:creationId xmlns:a16="http://schemas.microsoft.com/office/drawing/2014/main" id="{095D7EA0-006A-424D-3CE1-A4F99567D1ED}"/>
              </a:ext>
            </a:extLst>
          </p:cNvPr>
          <p:cNvSpPr/>
          <p:nvPr/>
        </p:nvSpPr>
        <p:spPr>
          <a:xfrm>
            <a:off x="381000" y="2777067"/>
            <a:ext cx="4953000" cy="2421466"/>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 name="Rectangle: Rounded Corners 29">
            <a:extLst>
              <a:ext uri="{FF2B5EF4-FFF2-40B4-BE49-F238E27FC236}">
                <a16:creationId xmlns:a16="http://schemas.microsoft.com/office/drawing/2014/main" id="{CFA3E71F-D2AB-F486-E977-8C8B16510E8F}"/>
              </a:ext>
            </a:extLst>
          </p:cNvPr>
          <p:cNvSpPr/>
          <p:nvPr/>
        </p:nvSpPr>
        <p:spPr>
          <a:xfrm flipH="1">
            <a:off x="297768" y="1811604"/>
            <a:ext cx="3737292" cy="2141562"/>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43B02A"/>
                </a:solidFill>
                <a:effectLst/>
                <a:uLnTx/>
                <a:uFillTx/>
                <a:latin typeface="Arial" panose="020B0604020202020204"/>
                <a:ea typeface="+mn-ea"/>
                <a:cs typeface="+mn-cs"/>
              </a:rPr>
              <a:t>ДИЗАЙН</a:t>
            </a:r>
            <a:endParaRPr kumimoji="0" lang="en-US" sz="1600" b="1" i="0" u="none" strike="noStrike" kern="0" cap="none" spc="0" normalizeH="0" baseline="0" noProof="0" dirty="0">
              <a:ln>
                <a:noFill/>
              </a:ln>
              <a:solidFill>
                <a:srgbClr val="43B02A"/>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5179 пациентов со стабильной ИБС и умеренной/тяжёлой ишемией на стресс-тесте. </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Рандомизированное, открытое исследование с заслеплённой оценкой конечных точек. 320 центров, 37 стран.</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Медиана наблюдения 3.2 года.</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1" name="Rectangle: Rounded Corners 30">
            <a:extLst>
              <a:ext uri="{FF2B5EF4-FFF2-40B4-BE49-F238E27FC236}">
                <a16:creationId xmlns:a16="http://schemas.microsoft.com/office/drawing/2014/main" id="{DFFC6F3F-5794-0C23-B822-D2C7F3852FEC}"/>
              </a:ext>
            </a:extLst>
          </p:cNvPr>
          <p:cNvSpPr/>
          <p:nvPr/>
        </p:nvSpPr>
        <p:spPr>
          <a:xfrm flipH="1">
            <a:off x="7407882" y="4854362"/>
            <a:ext cx="4315372" cy="1080233"/>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a:ea typeface="+mn-ea"/>
                <a:cs typeface="+mn-cs"/>
              </a:rPr>
              <a:t>ГЛАВНАЯ НАХОДКА</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Тяжесть ишемии на стресс-тесте не предсказывала пользу от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реваскуляризации</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в отношении смерти и ИМ. </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Прогноз определялся тяжестью анатомического поражения коронарных артерий, а не степенью ишемии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2" name="Text 12">
            <a:extLst>
              <a:ext uri="{FF2B5EF4-FFF2-40B4-BE49-F238E27FC236}">
                <a16:creationId xmlns:a16="http://schemas.microsoft.com/office/drawing/2014/main" id="{A482B9AA-0EA7-EF8D-8098-9104020C823D}"/>
              </a:ext>
            </a:extLst>
          </p:cNvPr>
          <p:cNvSpPr/>
          <p:nvPr/>
        </p:nvSpPr>
        <p:spPr>
          <a:xfrm>
            <a:off x="7503518" y="1811604"/>
            <a:ext cx="4227468" cy="11001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rPr>
              <a:t>ПЕРВИЧНАЯ КОНЕЧНАЯ ТОЧКА</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СС-смерть + ИМ + госпитализация по НС/СН + реанимация</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13,3% </a:t>
            </a:r>
            <a:r>
              <a:rPr kumimoji="0" lang="ru-RU"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(инвазивная) </a:t>
            </a:r>
            <a:r>
              <a:rPr kumimoji="0" lang="en-US"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vs 15,5% (</a:t>
            </a:r>
            <a:r>
              <a:rPr kumimoji="0" lang="ru-RU" sz="1400" b="0" i="0" u="none" strike="noStrike" kern="1200" cap="none" spc="0" normalizeH="0" baseline="0" noProof="0" dirty="0">
                <a:ln>
                  <a:noFill/>
                </a:ln>
                <a:solidFill>
                  <a:srgbClr val="2B3A42"/>
                </a:solidFill>
                <a:effectLst/>
                <a:uLnTx/>
                <a:uFillTx/>
                <a:latin typeface="Arial" panose="020B0604020202020204"/>
                <a:ea typeface="Arial" pitchFamily="34" charset="-122"/>
                <a:cs typeface="Arial" pitchFamily="34" charset="-120"/>
              </a:rPr>
              <a:t>консервативная)</a:t>
            </a:r>
            <a:endPar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3" name="Rectangle: Rounded Corners 32">
            <a:extLst>
              <a:ext uri="{FF2B5EF4-FFF2-40B4-BE49-F238E27FC236}">
                <a16:creationId xmlns:a16="http://schemas.microsoft.com/office/drawing/2014/main" id="{464494BD-9113-3AE8-A401-8D5CA34FF623}"/>
              </a:ext>
            </a:extLst>
          </p:cNvPr>
          <p:cNvSpPr/>
          <p:nvPr/>
        </p:nvSpPr>
        <p:spPr>
          <a:xfrm flipH="1">
            <a:off x="338919" y="4061621"/>
            <a:ext cx="3737292" cy="2141562"/>
          </a:xfrm>
          <a:prstGeom prst="roundRect">
            <a:avLst>
              <a:gd name="adj" fmla="val 0"/>
            </a:avLst>
          </a:prstGeom>
          <a:noFill/>
          <a:ln w="19050" cap="rnd" cmpd="sng" algn="ctr">
            <a:noFill/>
            <a:prstDash val="solid"/>
            <a:round/>
          </a:ln>
          <a:effectLst/>
        </p:spPr>
        <p:txBody>
          <a:bodyPr wrap="square" lIns="91440" rIns="91440" bIns="45720" rtlCol="0" anchor="t" anchorCtr="0">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43B02A"/>
                </a:solidFill>
                <a:effectLst/>
                <a:uLnTx/>
                <a:uFillTx/>
                <a:latin typeface="Arial" panose="020B0604020202020204"/>
                <a:ea typeface="+mn-ea"/>
                <a:cs typeface="+mn-cs"/>
              </a:rPr>
              <a:t>СРАВНЕНИЕ</a:t>
            </a:r>
            <a:endParaRPr kumimoji="0" lang="en-US" sz="1600" b="1" i="0" u="none" strike="noStrike" kern="0" cap="none" spc="0" normalizeH="0" baseline="0" noProof="0" dirty="0">
              <a:ln>
                <a:noFill/>
              </a:ln>
              <a:solidFill>
                <a:srgbClr val="43B02A"/>
              </a:solidFill>
              <a:effectLst/>
              <a:uLnTx/>
              <a:uFillTx/>
              <a:latin typeface="Arial" panose="020B0604020202020204"/>
              <a:ea typeface="+mn-ea"/>
              <a:cs typeface="+mn-cs"/>
            </a:endParaRPr>
          </a:p>
          <a:p>
            <a:pPr marL="182880" marR="0" lvl="0" indent="-18288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Инвазивная стратегия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ОМТ + плановая ангиография с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реваскуляризацией</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(ЧКВ/АКШ)</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Консервативная стратегия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ОМТ; ангиография и </a:t>
            </a:r>
            <a:r>
              <a:rPr kumimoji="0" lang="ru-RU" sz="1400" b="0" i="0" u="none" strike="noStrike" kern="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реваскуляризация</a:t>
            </a:r>
            <a:r>
              <a:rPr kumimoji="0" lang="ru-RU"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rPr>
              <a:t> — только при неэффективности медикаментозной терапии.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4" name="Text 11">
            <a:extLst>
              <a:ext uri="{FF2B5EF4-FFF2-40B4-BE49-F238E27FC236}">
                <a16:creationId xmlns:a16="http://schemas.microsoft.com/office/drawing/2014/main" id="{6BC12B09-F256-45F5-48BA-B9FE5E1A7985}"/>
              </a:ext>
            </a:extLst>
          </p:cNvPr>
          <p:cNvSpPr/>
          <p:nvPr/>
        </p:nvSpPr>
        <p:spPr>
          <a:xfrm>
            <a:off x="4159443" y="3246120"/>
            <a:ext cx="3572851"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4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ОР</a:t>
            </a:r>
            <a:r>
              <a:rPr kumimoji="0" lang="en-US" sz="54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 0.93</a:t>
            </a:r>
            <a:endParaRPr kumimoji="0" lang="en-US" sz="54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EC85D37A-C273-4FF9-930B-6578E277BE2B}"/>
              </a:ext>
            </a:extLst>
          </p:cNvPr>
          <p:cNvSpPr txBox="1"/>
          <p:nvPr/>
        </p:nvSpPr>
        <p:spPr>
          <a:xfrm>
            <a:off x="4035060" y="4150690"/>
            <a:ext cx="346845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srgbClr val="2B3A42"/>
                </a:solidFill>
                <a:effectLst/>
                <a:uLnTx/>
                <a:uFillTx/>
                <a:latin typeface="Arial" panose="020B0604020202020204"/>
                <a:ea typeface="+mn-ea"/>
                <a:cs typeface="+mn-cs"/>
              </a:rPr>
              <a:t>95% </a:t>
            </a:r>
            <a:r>
              <a:rPr kumimoji="0" lang="ru-RU" sz="1800" b="0" i="0" u="none" strike="noStrike" kern="1200" cap="none" spc="0" normalizeH="0" baseline="0" noProof="0" dirty="0">
                <a:ln>
                  <a:noFill/>
                </a:ln>
                <a:solidFill>
                  <a:srgbClr val="2B3A42"/>
                </a:solidFill>
                <a:effectLst/>
                <a:uLnTx/>
                <a:uFillTx/>
                <a:latin typeface="Arial" panose="020B0604020202020204"/>
                <a:ea typeface="+mn-ea"/>
                <a:cs typeface="+mn-cs"/>
              </a:rPr>
              <a:t>ДИ</a:t>
            </a:r>
            <a:r>
              <a:rPr kumimoji="0" lang="it-IT" sz="1800" b="0" i="0" u="none" strike="noStrike" kern="1200" cap="none" spc="0" normalizeH="0" baseline="0" noProof="0" dirty="0">
                <a:ln>
                  <a:noFill/>
                </a:ln>
                <a:solidFill>
                  <a:srgbClr val="2B3A42"/>
                </a:solidFill>
                <a:effectLst/>
                <a:uLnTx/>
                <a:uFillTx/>
                <a:latin typeface="Arial" panose="020B0604020202020204"/>
                <a:ea typeface="+mn-ea"/>
                <a:cs typeface="+mn-cs"/>
              </a:rPr>
              <a:t> 0.80–1.08 • </a:t>
            </a:r>
            <a:r>
              <a:rPr kumimoji="0" lang="it-IT" sz="1800" b="1" i="0" u="none" strike="noStrike" kern="1200" cap="none" spc="0" normalizeH="0" baseline="0" noProof="0" dirty="0">
                <a:ln>
                  <a:noFill/>
                </a:ln>
                <a:solidFill>
                  <a:srgbClr val="FF0000"/>
                </a:solidFill>
                <a:effectLst/>
                <a:uLnTx/>
                <a:uFillTx/>
                <a:latin typeface="Arial" panose="020B0604020202020204"/>
                <a:ea typeface="+mn-ea"/>
                <a:cs typeface="+mn-cs"/>
              </a:rPr>
              <a:t>p = 0.34</a:t>
            </a:r>
          </a:p>
        </p:txBody>
      </p:sp>
      <p:sp>
        <p:nvSpPr>
          <p:cNvPr id="37" name="TextBox 36">
            <a:extLst>
              <a:ext uri="{FF2B5EF4-FFF2-40B4-BE49-F238E27FC236}">
                <a16:creationId xmlns:a16="http://schemas.microsoft.com/office/drawing/2014/main" id="{0488B0D3-1A3C-7634-E525-13BD924CB5DB}"/>
              </a:ext>
            </a:extLst>
          </p:cNvPr>
          <p:cNvSpPr txBox="1"/>
          <p:nvPr/>
        </p:nvSpPr>
        <p:spPr>
          <a:xfrm>
            <a:off x="7407882" y="3112702"/>
            <a:ext cx="4680040"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rPr>
              <a:t>ДИНАМИКА</a:t>
            </a:r>
            <a:endParaRPr kumimoji="0" lang="en-US" sz="1600" b="1" i="0" u="none" strike="noStrike" kern="1200" cap="none" spc="0" normalizeH="0" baseline="0" noProof="0" dirty="0">
              <a:ln>
                <a:noFill/>
              </a:ln>
              <a:solidFill>
                <a:srgbClr val="00A3E0">
                  <a:lumMod val="50000"/>
                </a:srgbClr>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в первые 6 мес. инвазивная стратегия хуже (избыток </a:t>
            </a:r>
            <a:r>
              <a:rPr kumimoji="0" lang="ru-RU" sz="1400" b="0" i="0" u="none" strike="noStrike" kern="1200" cap="none" spc="0" normalizeH="0" baseline="0" noProof="0" dirty="0" err="1">
                <a:ln>
                  <a:noFill/>
                </a:ln>
                <a:solidFill>
                  <a:srgbClr val="2B3A42"/>
                </a:solidFill>
                <a:effectLst/>
                <a:uLnTx/>
                <a:uFillTx/>
                <a:latin typeface="Arial" panose="020B0604020202020204"/>
                <a:ea typeface="+mn-ea"/>
                <a:cs typeface="Arial" panose="020B0604020202020204" pitchFamily="34" charset="0"/>
              </a:rPr>
              <a:t>перипроцедурных</a:t>
            </a: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 ИМ, +1.9%). </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Около 2 лет кривые пересекаются.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rPr>
              <a:t>К 5 годам инвазивная стратегия количественно лучше, но недостоверно</a:t>
            </a:r>
            <a:endParaRPr kumimoji="0" lang="en-US" sz="1400" b="0" i="0" u="none" strike="noStrike" kern="1200" cap="none" spc="0" normalizeH="0" baseline="0" noProof="0" dirty="0">
              <a:ln>
                <a:noFill/>
              </a:ln>
              <a:solidFill>
                <a:srgbClr val="2B3A42"/>
              </a:solidFill>
              <a:effectLst/>
              <a:uLnTx/>
              <a:uFillTx/>
              <a:latin typeface="Arial" panose="020B0604020202020204"/>
              <a:ea typeface="+mn-ea"/>
              <a:cs typeface="Arial" panose="020B0604020202020204" pitchFamily="34" charset="0"/>
            </a:endParaRPr>
          </a:p>
        </p:txBody>
      </p:sp>
      <p:sp>
        <p:nvSpPr>
          <p:cNvPr id="3" name="TextBox 2">
            <a:extLst>
              <a:ext uri="{FF2B5EF4-FFF2-40B4-BE49-F238E27FC236}">
                <a16:creationId xmlns:a16="http://schemas.microsoft.com/office/drawing/2014/main" id="{44B22A54-AE47-0996-8B9F-3D693E12F9AD}"/>
              </a:ext>
            </a:extLst>
          </p:cNvPr>
          <p:cNvSpPr txBox="1"/>
          <p:nvPr/>
        </p:nvSpPr>
        <p:spPr>
          <a:xfrm>
            <a:off x="381000" y="6547183"/>
            <a:ext cx="7023188"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prstClr val="black"/>
                </a:solidFill>
                <a:effectLst/>
                <a:uLnTx/>
                <a:uFillTx/>
                <a:latin typeface="Calibri" panose="020F0502020204030204"/>
                <a:ea typeface="+mn-ea"/>
                <a:cs typeface="+mn-cs"/>
              </a:rPr>
              <a:t>D.J. Maron</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et al. Initial Invasive or Conservative Strategy for Stable Coronary Disease. </a:t>
            </a:r>
            <a:r>
              <a:rPr kumimoji="0" lang="pt-BR" sz="800" b="0" i="0" u="none" strike="noStrike" kern="1200" cap="none" spc="0" normalizeH="0" baseline="0" noProof="0" dirty="0">
                <a:ln>
                  <a:noFill/>
                </a:ln>
                <a:solidFill>
                  <a:prstClr val="black"/>
                </a:solidFill>
                <a:effectLst/>
                <a:uLnTx/>
                <a:uFillTx/>
                <a:latin typeface="Calibri" panose="020F0502020204030204"/>
                <a:ea typeface="+mn-ea"/>
                <a:cs typeface="+mn-cs"/>
              </a:rPr>
              <a:t>N Engl J Med 2020;382:1395-407.</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pt-BR" sz="800" b="0" i="0" u="none" strike="noStrike" kern="1200" cap="none" spc="0" normalizeH="0" baseline="0" noProof="0" dirty="0">
                <a:ln>
                  <a:noFill/>
                </a:ln>
                <a:solidFill>
                  <a:prstClr val="black"/>
                </a:solidFill>
                <a:effectLst/>
                <a:uLnTx/>
                <a:uFillTx/>
                <a:latin typeface="Calibri" panose="020F0502020204030204"/>
                <a:ea typeface="+mn-ea"/>
                <a:cs typeface="+mn-cs"/>
              </a:rPr>
              <a:t>DOI: 10.1056/NEJMoa1915922</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270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548640" y="1828800"/>
            <a:ext cx="11064240" cy="0"/>
          </a:xfrm>
          <a:prstGeom prst="line">
            <a:avLst/>
          </a:prstGeom>
          <a:noFill/>
          <a:ln w="9525">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48640"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3108960"/>
            <a:ext cx="3611880" cy="73152"/>
          </a:xfrm>
          <a:prstGeom prst="rect">
            <a:avLst/>
          </a:prstGeom>
          <a:solidFill>
            <a:srgbClr val="6B72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6B7280"/>
                </a:solidFill>
                <a:effectLst/>
                <a:uLnTx/>
                <a:uFillTx/>
                <a:latin typeface="Arial" pitchFamily="34" charset="0"/>
                <a:ea typeface="Arial" pitchFamily="34" charset="-122"/>
                <a:cs typeface="Arial" pitchFamily="34" charset="-120"/>
              </a:rPr>
              <a:t>ОБЩАЯ 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77240"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1A1A1A"/>
                </a:solidFill>
                <a:effectLst/>
                <a:uLnTx/>
                <a:uFillTx/>
                <a:latin typeface="Georgia" pitchFamily="34" charset="0"/>
                <a:ea typeface="Georgia" pitchFamily="34" charset="-122"/>
                <a:cs typeface="Georgia" pitchFamily="34" charset="-120"/>
              </a:rPr>
              <a:t> 1.00</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95% CI 0.85–1.18</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13" name="Text 11"/>
          <p:cNvSpPr/>
          <p:nvPr/>
        </p:nvSpPr>
        <p:spPr>
          <a:xfrm>
            <a:off x="777240"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p = 0.741</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14" name="Text 12"/>
          <p:cNvSpPr/>
          <p:nvPr/>
        </p:nvSpPr>
        <p:spPr>
          <a:xfrm>
            <a:off x="777240"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12.7% vs 13.4%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279392"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279392" y="3108960"/>
            <a:ext cx="3611880" cy="73152"/>
          </a:xfrm>
          <a:prstGeom prst="rect">
            <a:avLst/>
          </a:prstGeom>
          <a:solidFill>
            <a:srgbClr val="0478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07992"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047857"/>
                </a:solidFill>
                <a:effectLst/>
                <a:uLnTx/>
                <a:uFillTx/>
                <a:latin typeface="Arial" pitchFamily="34" charset="0"/>
                <a:ea typeface="Arial" pitchFamily="34" charset="-122"/>
                <a:cs typeface="Arial" pitchFamily="34" charset="-120"/>
              </a:rPr>
              <a:t>СС-СМЕРТНОСТЬ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507992"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047857"/>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047857"/>
                </a:solidFill>
                <a:effectLst/>
                <a:uLnTx/>
                <a:uFillTx/>
                <a:latin typeface="Georgia" pitchFamily="34" charset="0"/>
                <a:ea typeface="Georgia" pitchFamily="34" charset="-122"/>
                <a:cs typeface="Georgia" pitchFamily="34" charset="-120"/>
              </a:rPr>
              <a:t> 0.78</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507992"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95% CI 0.63–0.96</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20" name="Text 18"/>
          <p:cNvSpPr/>
          <p:nvPr/>
        </p:nvSpPr>
        <p:spPr>
          <a:xfrm>
            <a:off x="4507992"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p = 0.008</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21" name="Text 19"/>
          <p:cNvSpPr/>
          <p:nvPr/>
        </p:nvSpPr>
        <p:spPr>
          <a:xfrm>
            <a:off x="4507992"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6.4% vs 8.6% — снижение в пользу INV</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8010144" y="3108960"/>
            <a:ext cx="3611880" cy="2194560"/>
          </a:xfrm>
          <a:prstGeom prst="rect">
            <a:avLst/>
          </a:prstGeom>
          <a:solidFill>
            <a:srgbClr val="F8F9FA"/>
          </a:solidFill>
          <a:ln w="6350">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8010144" y="3108960"/>
            <a:ext cx="3611880" cy="73152"/>
          </a:xfrm>
          <a:prstGeom prst="rect">
            <a:avLst/>
          </a:prstGeom>
          <a:solidFill>
            <a:srgbClr val="B91C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238744" y="3337560"/>
            <a:ext cx="31546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B91C1C"/>
                </a:solidFill>
                <a:effectLst/>
                <a:uLnTx/>
                <a:uFillTx/>
                <a:latin typeface="Arial" pitchFamily="34" charset="0"/>
                <a:ea typeface="Arial" pitchFamily="34" charset="-122"/>
                <a:cs typeface="Arial" pitchFamily="34" charset="-120"/>
              </a:rPr>
              <a:t>НЕ-СС СМЕРТНОСТЬ</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238744" y="3657600"/>
            <a:ext cx="31546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5200" b="1" i="0" u="none" strike="noStrike" kern="1200" cap="none" spc="0" normalizeH="0" baseline="0" noProof="0" dirty="0">
                <a:ln>
                  <a:noFill/>
                </a:ln>
                <a:solidFill>
                  <a:srgbClr val="B91C1C"/>
                </a:solidFill>
                <a:effectLst/>
                <a:uLnTx/>
                <a:uFillTx/>
                <a:latin typeface="Georgia" pitchFamily="34" charset="0"/>
                <a:ea typeface="Georgia" pitchFamily="34" charset="-122"/>
                <a:cs typeface="Georgia" pitchFamily="34" charset="-120"/>
              </a:rPr>
              <a:t>ОР</a:t>
            </a:r>
            <a:r>
              <a:rPr kumimoji="0" lang="en-US" sz="5200" b="1" i="0" u="none" strike="noStrike" kern="1200" cap="none" spc="0" normalizeH="0" baseline="0" noProof="0" dirty="0">
                <a:ln>
                  <a:noFill/>
                </a:ln>
                <a:solidFill>
                  <a:srgbClr val="B91C1C"/>
                </a:solidFill>
                <a:effectLst/>
                <a:uLnTx/>
                <a:uFillTx/>
                <a:latin typeface="Georgia" pitchFamily="34" charset="0"/>
                <a:ea typeface="Georgia" pitchFamily="34" charset="-122"/>
                <a:cs typeface="Georgia" pitchFamily="34" charset="-120"/>
              </a:rPr>
              <a:t> 1.44</a:t>
            </a:r>
            <a:endParaRPr kumimoji="0" lang="en-US" sz="5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238744" y="44348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95% CI 1.08–1.91</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27" name="Text 25"/>
          <p:cNvSpPr/>
          <p:nvPr/>
        </p:nvSpPr>
        <p:spPr>
          <a:xfrm>
            <a:off x="8238744" y="466344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72C4">
                    <a:lumMod val="50000"/>
                  </a:srgbClr>
                </a:solidFill>
                <a:effectLst/>
                <a:uLnTx/>
                <a:uFillTx/>
                <a:latin typeface="Arial" pitchFamily="34" charset="0"/>
                <a:ea typeface="Arial" pitchFamily="34" charset="-122"/>
                <a:cs typeface="Arial" pitchFamily="34" charset="-120"/>
              </a:rPr>
              <a:t>p = 0.016</a:t>
            </a:r>
            <a:endParaRPr kumimoji="0" lang="en-US" sz="1200" b="0" i="0" u="none" strike="noStrike" kern="1200" cap="none" spc="0" normalizeH="0" baseline="0" noProof="0" dirty="0">
              <a:ln>
                <a:noFill/>
              </a:ln>
              <a:solidFill>
                <a:srgbClr val="4472C4">
                  <a:lumMod val="50000"/>
                </a:srgbClr>
              </a:solidFill>
              <a:effectLst/>
              <a:uLnTx/>
              <a:uFillTx/>
              <a:latin typeface="Calibri" panose="020F0502020204030204"/>
              <a:ea typeface="+mn-ea"/>
              <a:cs typeface="+mn-cs"/>
            </a:endParaRPr>
          </a:p>
        </p:txBody>
      </p:sp>
      <p:sp>
        <p:nvSpPr>
          <p:cNvPr id="28" name="Text 26"/>
          <p:cNvSpPr/>
          <p:nvPr/>
        </p:nvSpPr>
        <p:spPr>
          <a:xfrm>
            <a:off x="8238744" y="4937760"/>
            <a:ext cx="3154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5.6% vs 4.4% — рост в группе INV</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548640" y="5623560"/>
            <a:ext cx="11064240" cy="640080"/>
          </a:xfrm>
          <a:prstGeom prst="rect">
            <a:avLst/>
          </a:prstGeom>
          <a:solidFill>
            <a:srgbClr val="1A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777240" y="5623560"/>
            <a:ext cx="106070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Выигрыш по СС-смертности полностью нейтрализуется ростом не-СС-смертности. </a:t>
            </a:r>
            <a:r>
              <a:rPr kumimoji="0" lang="en-US" sz="1400" b="0" i="0" u="none" strike="noStrike" kern="1200" cap="none" spc="0" normalizeH="0" baseline="0" noProof="0" dirty="0">
                <a:ln>
                  <a:noFill/>
                </a:ln>
                <a:solidFill>
                  <a:srgbClr val="D1D5DB"/>
                </a:solidFill>
                <a:effectLst/>
                <a:uLnTx/>
                <a:uFillTx/>
                <a:latin typeface="Arial" pitchFamily="34" charset="0"/>
                <a:ea typeface="Arial" pitchFamily="34" charset="-122"/>
                <a:cs typeface="Arial" pitchFamily="34" charset="-120"/>
              </a:rPr>
              <a:t>Общая выживаемость одинакова на 5.7 года.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48640" y="6446520"/>
            <a:ext cx="11064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Judith S. Hochman</a:t>
            </a:r>
            <a:r>
              <a:rPr kumimoji="0" lang="ru-RU"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et al. Survival After Invasive or Conservative Management of Stable Coronary Disease. </a:t>
            </a:r>
            <a:r>
              <a:rPr kumimoji="0" lang="en-US" sz="800" b="0" i="1"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CirculationVolume</a:t>
            </a: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147, Issue 1, 3 January 2023; Pages 8-19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https://doi.org/10.1161/CIRCULATIONAHA.122.062714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itle 6">
            <a:extLst>
              <a:ext uri="{FF2B5EF4-FFF2-40B4-BE49-F238E27FC236}">
                <a16:creationId xmlns:a16="http://schemas.microsoft.com/office/drawing/2014/main" id="{463DD5AF-B0D3-D831-F08F-B383298DA9A1}"/>
              </a:ext>
            </a:extLst>
          </p:cNvPr>
          <p:cNvSpPr txBox="1">
            <a:spLocks/>
          </p:cNvSpPr>
          <p:nvPr/>
        </p:nvSpPr>
        <p:spPr>
          <a:xfrm>
            <a:off x="548640" y="90051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ISCHEMIA-EXTEND</a:t>
            </a:r>
            <a:r>
              <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rPr>
              <a:t> (2023)</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за 5.7 лет наблюдения меньше СС-смертей, но больше не-СС-смертей. О</a:t>
            </a:r>
            <a:r>
              <a:rPr kumimoji="0" lang="ru-RU" sz="2000" b="1" i="0" u="none" strike="noStrike" kern="1200" cap="none" spc="0" normalizeH="0" baseline="0" noProof="0" dirty="0" err="1">
                <a:ln>
                  <a:noFill/>
                </a:ln>
                <a:solidFill>
                  <a:srgbClr val="2B3A42"/>
                </a:solidFill>
                <a:effectLst/>
                <a:uLnTx/>
                <a:uFillTx/>
                <a:latin typeface="Arial" panose="020B0604020202020204"/>
                <a:ea typeface="+mj-ea"/>
                <a:cs typeface="+mj-cs"/>
              </a:rPr>
              <a:t>бщая</a:t>
            </a: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 смертность одинакова</a:t>
            </a:r>
            <a:endParaRPr kumimoji="0" lang="en-US" sz="20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3" name="TextBox 32">
            <a:extLst>
              <a:ext uri="{FF2B5EF4-FFF2-40B4-BE49-F238E27FC236}">
                <a16:creationId xmlns:a16="http://schemas.microsoft.com/office/drawing/2014/main" id="{B7046BC2-2ECA-E4F3-D352-32A89FA83A0B}"/>
              </a:ext>
            </a:extLst>
          </p:cNvPr>
          <p:cNvSpPr txBox="1"/>
          <p:nvPr/>
        </p:nvSpPr>
        <p:spPr>
          <a:xfrm>
            <a:off x="447040" y="2272605"/>
            <a:ext cx="111658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Исследовательский вопрос: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Проявится</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ли</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поздний</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прогностический</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сигнал</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в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пользу</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инвазивной</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стратегии</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который</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мог</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быть</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скрыт</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за</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 3.2 </a:t>
            </a:r>
            <a:r>
              <a:rPr kumimoji="0" lang="en-US" sz="1800" b="0" i="1" u="none" strike="noStrike" kern="1200" cap="none" spc="0" normalizeH="0" baseline="0" noProof="0" dirty="0" err="1">
                <a:ln>
                  <a:noFill/>
                </a:ln>
                <a:solidFill>
                  <a:srgbClr val="1A1A1A"/>
                </a:solidFill>
                <a:effectLst/>
                <a:uLnTx/>
                <a:uFillTx/>
                <a:latin typeface="Arial" pitchFamily="34" charset="0"/>
                <a:ea typeface="Arial" pitchFamily="34" charset="-122"/>
                <a:cs typeface="Arial" pitchFamily="34" charset="-120"/>
              </a:rPr>
              <a:t>года</a:t>
            </a:r>
            <a:r>
              <a:rPr kumimoji="0" lang="en-US" sz="1800" b="0" i="1" u="none" strike="noStrike" kern="1200" cap="none" spc="0" normalizeH="0" baseline="0" noProof="0" dirty="0">
                <a:ln>
                  <a:noFill/>
                </a:ln>
                <a:solidFill>
                  <a:srgbClr val="1A1A1A"/>
                </a:solidFill>
                <a:effectLst/>
                <a:uLnTx/>
                <a:uFillTx/>
                <a:latin typeface="Arial" pitchFamily="34" charset="0"/>
                <a:ea typeface="Arial" pitchFamily="34" charset="-122"/>
                <a:cs typeface="Arial" pitchFamily="34" charset="-120"/>
              </a:rPr>
              <a:t>?</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C747B048-6D13-8364-03B8-567AD97BFE6E}"/>
              </a:ext>
            </a:extLst>
          </p:cNvPr>
          <p:cNvSpPr txBox="1"/>
          <p:nvPr/>
        </p:nvSpPr>
        <p:spPr>
          <a:xfrm>
            <a:off x="447040" y="1932491"/>
            <a:ext cx="110642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Наблюдательное продолжение за выжившими участниками РКИ ISCHEMIA (n = 5179)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21F107F-A68B-7150-2CFF-81529857ABC2}"/>
              </a:ext>
            </a:extLst>
          </p:cNvPr>
          <p:cNvCxnSpPr>
            <a:cxnSpLocks/>
          </p:cNvCxnSpPr>
          <p:nvPr/>
        </p:nvCxnSpPr>
        <p:spPr>
          <a:xfrm>
            <a:off x="461491" y="1589160"/>
            <a:ext cx="5147733" cy="0"/>
          </a:xfrm>
          <a:prstGeom prst="line">
            <a:avLst/>
          </a:prstGeom>
          <a:noFill/>
          <a:ln w="76200" cap="rnd" cmpd="sng" algn="ctr">
            <a:solidFill>
              <a:srgbClr val="00A3E0"/>
            </a:solidFill>
            <a:prstDash val="solid"/>
            <a:round/>
          </a:ln>
          <a:effectLst/>
        </p:spPr>
      </p:cxnSp>
      <p:cxnSp>
        <p:nvCxnSpPr>
          <p:cNvPr id="3" name="Straight Connector 2">
            <a:extLst>
              <a:ext uri="{FF2B5EF4-FFF2-40B4-BE49-F238E27FC236}">
                <a16:creationId xmlns:a16="http://schemas.microsoft.com/office/drawing/2014/main" id="{30EBA53D-7363-C4EE-8837-F1746B8CD95A}"/>
              </a:ext>
            </a:extLst>
          </p:cNvPr>
          <p:cNvCxnSpPr>
            <a:cxnSpLocks/>
          </p:cNvCxnSpPr>
          <p:nvPr/>
        </p:nvCxnSpPr>
        <p:spPr>
          <a:xfrm>
            <a:off x="6565957" y="1589160"/>
            <a:ext cx="5147733" cy="0"/>
          </a:xfrm>
          <a:prstGeom prst="line">
            <a:avLst/>
          </a:prstGeom>
          <a:noFill/>
          <a:ln w="76200" cap="rnd" cmpd="sng" algn="ctr">
            <a:solidFill>
              <a:srgbClr val="005587"/>
            </a:solidFill>
            <a:prstDash val="solid"/>
            <a:round/>
          </a:ln>
          <a:effectLst/>
        </p:spPr>
      </p:cxnSp>
      <p:sp>
        <p:nvSpPr>
          <p:cNvPr id="5" name="Rectangle: Rounded Corners 4">
            <a:extLst>
              <a:ext uri="{FF2B5EF4-FFF2-40B4-BE49-F238E27FC236}">
                <a16:creationId xmlns:a16="http://schemas.microsoft.com/office/drawing/2014/main" id="{02BD9854-3541-729F-F74B-B720259ADBC3}"/>
              </a:ext>
            </a:extLst>
          </p:cNvPr>
          <p:cNvSpPr>
            <a:spLocks/>
          </p:cNvSpPr>
          <p:nvPr/>
        </p:nvSpPr>
        <p:spPr>
          <a:xfrm>
            <a:off x="371701" y="946665"/>
            <a:ext cx="4431507"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l" defTabSz="1219170" rtl="0" eaLnBrk="1" fontAlgn="auto" latinLnBrk="0" hangingPunct="1">
              <a:lnSpc>
                <a:spcPct val="100000"/>
              </a:lnSpc>
              <a:spcBef>
                <a:spcPts val="0"/>
              </a:spcBef>
              <a:spcAft>
                <a:spcPts val="0"/>
              </a:spcAft>
              <a:buClr>
                <a:srgbClr val="544F40"/>
              </a:buClr>
              <a:buSzTx/>
              <a:buFontTx/>
              <a:buNone/>
              <a:tabLst/>
              <a:defRPr/>
            </a:pPr>
            <a:r>
              <a:rPr kumimoji="0" lang="ru-RU" sz="1800" b="1" i="0" u="none" strike="noStrike" kern="0" cap="none" spc="0" normalizeH="0" baseline="0" noProof="0" dirty="0">
                <a:ln>
                  <a:noFill/>
                </a:ln>
                <a:solidFill>
                  <a:srgbClr val="00A3E0"/>
                </a:solidFill>
                <a:effectLst/>
                <a:uLnTx/>
                <a:uFillTx/>
                <a:latin typeface="Arial"/>
                <a:ea typeface="+mn-ea"/>
                <a:cs typeface="+mn-cs"/>
              </a:rPr>
              <a:t>ORBITA</a:t>
            </a:r>
            <a:r>
              <a:rPr kumimoji="0" lang="ru-RU" sz="1800" b="1" i="0" u="none" strike="noStrike" kern="0" cap="none" spc="0" normalizeH="0" baseline="30000" noProof="0" dirty="0">
                <a:ln>
                  <a:noFill/>
                </a:ln>
                <a:solidFill>
                  <a:srgbClr val="00A3E0"/>
                </a:solidFill>
                <a:effectLst/>
                <a:uLnTx/>
                <a:uFillTx/>
                <a:latin typeface="Arial"/>
                <a:ea typeface="+mn-ea"/>
                <a:cs typeface="+mn-cs"/>
              </a:rPr>
              <a:t>1</a:t>
            </a:r>
            <a:r>
              <a:rPr kumimoji="0" lang="ru-RU" sz="1800" b="1" i="0" u="none" strike="noStrike" kern="0" cap="none" spc="0" normalizeH="0" baseline="0" noProof="0" dirty="0">
                <a:ln>
                  <a:noFill/>
                </a:ln>
                <a:solidFill>
                  <a:srgbClr val="00A3E0"/>
                </a:solidFill>
                <a:effectLst/>
                <a:uLnTx/>
                <a:uFillTx/>
                <a:latin typeface="Arial"/>
                <a:ea typeface="+mn-ea"/>
                <a:cs typeface="+mn-cs"/>
              </a:rPr>
              <a:t> (2018) — ЧКВ как дополнение к ОМТ</a:t>
            </a:r>
            <a:endParaRPr kumimoji="0" lang="en-US" sz="1800" b="0" i="0" u="none" strike="noStrike" kern="0" cap="none" spc="0" normalizeH="0" baseline="0" noProof="0" dirty="0">
              <a:ln>
                <a:noFill/>
              </a:ln>
              <a:solidFill>
                <a:srgbClr val="00A3E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96E25E4C-5832-B099-DFC9-F7ABE54C9DCC}"/>
              </a:ext>
            </a:extLst>
          </p:cNvPr>
          <p:cNvSpPr>
            <a:spLocks/>
          </p:cNvSpPr>
          <p:nvPr/>
        </p:nvSpPr>
        <p:spPr>
          <a:xfrm>
            <a:off x="7414871" y="917803"/>
            <a:ext cx="4422307"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r" defTabSz="1219170" rtl="0" eaLnBrk="1" fontAlgn="auto" latinLnBrk="0" hangingPunct="1">
              <a:lnSpc>
                <a:spcPct val="100000"/>
              </a:lnSpc>
              <a:spcBef>
                <a:spcPts val="0"/>
              </a:spcBef>
              <a:spcAft>
                <a:spcPts val="0"/>
              </a:spcAft>
              <a:buClr>
                <a:srgbClr val="544F40"/>
              </a:buClr>
              <a:buSzTx/>
              <a:buFontTx/>
              <a:buNone/>
              <a:tabLst/>
              <a:defRPr/>
            </a:pPr>
            <a:r>
              <a:rPr kumimoji="0" lang="ru-RU" sz="1800" b="1" i="0" u="none" strike="noStrike" kern="0" cap="none" spc="0" normalizeH="0" baseline="0" noProof="0" dirty="0">
                <a:ln>
                  <a:noFill/>
                </a:ln>
                <a:solidFill>
                  <a:srgbClr val="005587"/>
                </a:solidFill>
                <a:effectLst/>
                <a:uLnTx/>
                <a:uFillTx/>
                <a:latin typeface="Arial"/>
                <a:ea typeface="+mn-ea"/>
                <a:cs typeface="+mn-cs"/>
              </a:rPr>
              <a:t>ORBITA-2</a:t>
            </a:r>
            <a:r>
              <a:rPr kumimoji="0" lang="ru-RU" sz="1800" b="1" i="0" u="none" strike="noStrike" kern="0" cap="none" spc="0" normalizeH="0" baseline="30000" noProof="0" dirty="0">
                <a:ln>
                  <a:noFill/>
                </a:ln>
                <a:solidFill>
                  <a:srgbClr val="005587"/>
                </a:solidFill>
                <a:effectLst/>
                <a:uLnTx/>
                <a:uFillTx/>
                <a:latin typeface="Arial"/>
                <a:ea typeface="+mn-ea"/>
                <a:cs typeface="+mn-cs"/>
              </a:rPr>
              <a:t>2</a:t>
            </a:r>
            <a:r>
              <a:rPr kumimoji="0" lang="ru-RU" sz="1800" b="1" i="0" u="none" strike="noStrike" kern="0" cap="none" spc="0" normalizeH="0" baseline="0" noProof="0" dirty="0">
                <a:ln>
                  <a:noFill/>
                </a:ln>
                <a:solidFill>
                  <a:srgbClr val="005587"/>
                </a:solidFill>
                <a:effectLst/>
                <a:uLnTx/>
                <a:uFillTx/>
                <a:latin typeface="Arial"/>
                <a:ea typeface="+mn-ea"/>
                <a:cs typeface="+mn-cs"/>
              </a:rPr>
              <a:t> (2023) — ЧКВ как </a:t>
            </a:r>
            <a:r>
              <a:rPr kumimoji="0" lang="ru-RU" sz="1800" b="1" i="0" u="none" strike="noStrike" kern="0" cap="none" spc="0" normalizeH="0" baseline="0" noProof="0" dirty="0" err="1">
                <a:ln>
                  <a:noFill/>
                </a:ln>
                <a:solidFill>
                  <a:srgbClr val="005587"/>
                </a:solidFill>
                <a:effectLst/>
                <a:uLnTx/>
                <a:uFillTx/>
                <a:latin typeface="Arial"/>
                <a:ea typeface="+mn-ea"/>
                <a:cs typeface="+mn-cs"/>
              </a:rPr>
              <a:t>монотерапия</a:t>
            </a:r>
            <a:endParaRPr kumimoji="0" lang="en-US" sz="1800" b="0" i="0" u="none" strike="noStrike" kern="0" cap="none" spc="0" normalizeH="0" baseline="0" noProof="0" dirty="0">
              <a:ln>
                <a:noFill/>
              </a:ln>
              <a:solidFill>
                <a:srgbClr val="005587"/>
              </a:solidFill>
              <a:effectLst/>
              <a:uLnTx/>
              <a:uFillTx/>
              <a:latin typeface="Arial"/>
              <a:ea typeface="+mn-ea"/>
              <a:cs typeface="+mn-cs"/>
            </a:endParaRPr>
          </a:p>
        </p:txBody>
      </p:sp>
      <p:grpSp>
        <p:nvGrpSpPr>
          <p:cNvPr id="9" name="Group 8">
            <a:extLst>
              <a:ext uri="{FF2B5EF4-FFF2-40B4-BE49-F238E27FC236}">
                <a16:creationId xmlns:a16="http://schemas.microsoft.com/office/drawing/2014/main" id="{AF0D2E01-2A5A-1F49-DEA7-B42A7C505B62}"/>
              </a:ext>
            </a:extLst>
          </p:cNvPr>
          <p:cNvGrpSpPr/>
          <p:nvPr/>
        </p:nvGrpSpPr>
        <p:grpSpPr>
          <a:xfrm>
            <a:off x="6188994" y="1167465"/>
            <a:ext cx="576839" cy="4576834"/>
            <a:chOff x="6323253" y="1793630"/>
            <a:chExt cx="576839" cy="4576834"/>
          </a:xfrm>
        </p:grpSpPr>
        <p:cxnSp>
          <p:nvCxnSpPr>
            <p:cNvPr id="10" name="Straight Connector 9">
              <a:extLst>
                <a:ext uri="{FF2B5EF4-FFF2-40B4-BE49-F238E27FC236}">
                  <a16:creationId xmlns:a16="http://schemas.microsoft.com/office/drawing/2014/main" id="{65CDA3CA-91F1-E226-246A-357580F712AB}"/>
                </a:ext>
              </a:extLst>
            </p:cNvPr>
            <p:cNvCxnSpPr>
              <a:cxnSpLocks/>
            </p:cNvCxnSpPr>
            <p:nvPr/>
          </p:nvCxnSpPr>
          <p:spPr>
            <a:xfrm flipV="1">
              <a:off x="6323255" y="2152081"/>
              <a:ext cx="0" cy="4218383"/>
            </a:xfrm>
            <a:prstGeom prst="line">
              <a:avLst/>
            </a:prstGeom>
            <a:noFill/>
            <a:ln w="38100" cap="rnd" cmpd="sng" algn="ctr">
              <a:solidFill>
                <a:srgbClr val="CACED0"/>
              </a:solidFill>
              <a:prstDash val="solid"/>
              <a:round/>
            </a:ln>
            <a:effectLst/>
          </p:spPr>
        </p:cxnSp>
        <p:sp>
          <p:nvSpPr>
            <p:cNvPr id="11" name="Rectangle: Rounded Corners 119">
              <a:extLst>
                <a:ext uri="{FF2B5EF4-FFF2-40B4-BE49-F238E27FC236}">
                  <a16:creationId xmlns:a16="http://schemas.microsoft.com/office/drawing/2014/main" id="{658B1D80-3A7D-58AC-2F8C-47C7D15FBC81}"/>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2" name="Isosceles Triangle 7">
              <a:extLst>
                <a:ext uri="{FF2B5EF4-FFF2-40B4-BE49-F238E27FC236}">
                  <a16:creationId xmlns:a16="http://schemas.microsoft.com/office/drawing/2014/main" id="{7296E027-7790-B60F-D02B-2D0C1658631B}"/>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3" name="Straight Connector 12">
              <a:extLst>
                <a:ext uri="{FF2B5EF4-FFF2-40B4-BE49-F238E27FC236}">
                  <a16:creationId xmlns:a16="http://schemas.microsoft.com/office/drawing/2014/main" id="{5E662253-CB93-734C-1AF5-A80382039CF4}"/>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grpSp>
        <p:nvGrpSpPr>
          <p:cNvPr id="14" name="Group 13">
            <a:extLst>
              <a:ext uri="{FF2B5EF4-FFF2-40B4-BE49-F238E27FC236}">
                <a16:creationId xmlns:a16="http://schemas.microsoft.com/office/drawing/2014/main" id="{76E8B3F6-348F-BF4E-E663-F88741444835}"/>
              </a:ext>
            </a:extLst>
          </p:cNvPr>
          <p:cNvGrpSpPr/>
          <p:nvPr/>
        </p:nvGrpSpPr>
        <p:grpSpPr>
          <a:xfrm flipH="1">
            <a:off x="5409347" y="1167465"/>
            <a:ext cx="576839" cy="4576834"/>
            <a:chOff x="6323253" y="1793630"/>
            <a:chExt cx="576839" cy="4576834"/>
          </a:xfrm>
        </p:grpSpPr>
        <p:cxnSp>
          <p:nvCxnSpPr>
            <p:cNvPr id="15" name="Straight Connector 14">
              <a:extLst>
                <a:ext uri="{FF2B5EF4-FFF2-40B4-BE49-F238E27FC236}">
                  <a16:creationId xmlns:a16="http://schemas.microsoft.com/office/drawing/2014/main" id="{8F0383B3-E335-1545-9984-2BF4E13CADA2}"/>
                </a:ext>
              </a:extLst>
            </p:cNvPr>
            <p:cNvCxnSpPr>
              <a:cxnSpLocks/>
            </p:cNvCxnSpPr>
            <p:nvPr/>
          </p:nvCxnSpPr>
          <p:spPr>
            <a:xfrm flipH="1" flipV="1">
              <a:off x="6323255" y="2152081"/>
              <a:ext cx="0" cy="4218383"/>
            </a:xfrm>
            <a:prstGeom prst="line">
              <a:avLst/>
            </a:prstGeom>
            <a:noFill/>
            <a:ln w="38100" cap="rnd" cmpd="sng" algn="ctr">
              <a:solidFill>
                <a:srgbClr val="CACED0"/>
              </a:solidFill>
              <a:prstDash val="solid"/>
              <a:round/>
            </a:ln>
            <a:effectLst/>
          </p:spPr>
        </p:cxnSp>
        <p:sp>
          <p:nvSpPr>
            <p:cNvPr id="16" name="Rectangle: Rounded Corners 119">
              <a:extLst>
                <a:ext uri="{FF2B5EF4-FFF2-40B4-BE49-F238E27FC236}">
                  <a16:creationId xmlns:a16="http://schemas.microsoft.com/office/drawing/2014/main" id="{CCE7BFB7-C182-40E5-35EC-7FF253DDD690}"/>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7" name="Isosceles Triangle 7">
              <a:extLst>
                <a:ext uri="{FF2B5EF4-FFF2-40B4-BE49-F238E27FC236}">
                  <a16:creationId xmlns:a16="http://schemas.microsoft.com/office/drawing/2014/main" id="{2FBD1950-F69F-4FF1-19F7-B4712D778D6D}"/>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8" name="Straight Connector 17">
              <a:extLst>
                <a:ext uri="{FF2B5EF4-FFF2-40B4-BE49-F238E27FC236}">
                  <a16:creationId xmlns:a16="http://schemas.microsoft.com/office/drawing/2014/main" id="{51F34E12-D3C7-8FF6-F6BB-3B6EA40E6597}"/>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sp>
        <p:nvSpPr>
          <p:cNvPr id="19" name="Rounded Rectangle 69">
            <a:extLst>
              <a:ext uri="{FF2B5EF4-FFF2-40B4-BE49-F238E27FC236}">
                <a16:creationId xmlns:a16="http://schemas.microsoft.com/office/drawing/2014/main" id="{A635850B-87D7-86B6-D585-EC1D0F679102}"/>
              </a:ext>
            </a:extLst>
          </p:cNvPr>
          <p:cNvSpPr>
            <a:spLocks/>
          </p:cNvSpPr>
          <p:nvPr/>
        </p:nvSpPr>
        <p:spPr>
          <a:xfrm>
            <a:off x="461491" y="1716006"/>
            <a:ext cx="5462960"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Дизайн: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слепое, плацебо-контролируемое РКИ (ЧКВ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имитация процедуры), 5 центров</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200 больных со стабильной стенокардией и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однососудистым</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поражением ≥70%</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Особенность</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Перед рандомизацией — 6 недель оптимизации антиангинальной терапии</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Результат</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Нет значимой разницы в приросте времени нагрузки между ЧКВ и плацебо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(+16,6 сек, 95% ДИ: −8,9 до 42,0; p=0,200). Вторичные конечные точки (SAQ, CCS) также не различались</a:t>
            </a:r>
          </a:p>
        </p:txBody>
      </p:sp>
      <p:sp>
        <p:nvSpPr>
          <p:cNvPr id="23" name="Rounded Rectangle 69">
            <a:extLst>
              <a:ext uri="{FF2B5EF4-FFF2-40B4-BE49-F238E27FC236}">
                <a16:creationId xmlns:a16="http://schemas.microsoft.com/office/drawing/2014/main" id="{496FB85A-3694-A11B-5A23-5844A5C5E626}"/>
              </a:ext>
            </a:extLst>
          </p:cNvPr>
          <p:cNvSpPr>
            <a:spLocks/>
          </p:cNvSpPr>
          <p:nvPr/>
        </p:nvSpPr>
        <p:spPr>
          <a:xfrm>
            <a:off x="6468026" y="1689504"/>
            <a:ext cx="5538441"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a:ea typeface="+mn-ea"/>
                <a:cs typeface="+mn-cs"/>
              </a:rPr>
              <a:t>Дизайн</a:t>
            </a: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слепое, плацебо-контролируемое РКИ (ЧКВ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имитация процедуры), 14 центров</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a:ea typeface="+mn-ea"/>
                <a:cs typeface="+mn-cs"/>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301 больной со стабильной стенокардией и доказанной ишемией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a:ea typeface="+mn-ea"/>
                <a:cs typeface="+mn-cs"/>
              </a:rPr>
              <a:t>Особенность</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антиангинальные препараты отменяли перед рандомизацией — оценка «чистого» эффекта ЧКВ</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a:ea typeface="+mn-ea"/>
                <a:cs typeface="+mn-cs"/>
              </a:rPr>
              <a:t>Результат</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ЧКВ значимо снизило ангинозный симптоматический счет (2,9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5,6; OR 2,21; 95% ДИ: 1,41–3,47; p&lt;0,001), что соответствует </a:t>
            </a:r>
            <a:r>
              <a:rPr kumimoji="0" lang="ru-RU" sz="1400" b="1" i="0" u="sng"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эффекту ОДНОГО антиангинального препарата в полной дозе</a:t>
            </a:r>
            <a:endParaRPr kumimoji="0" lang="ru-RU" sz="1400" b="1" i="0" u="sng"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4" name="Title 2">
            <a:extLst>
              <a:ext uri="{FF2B5EF4-FFF2-40B4-BE49-F238E27FC236}">
                <a16:creationId xmlns:a16="http://schemas.microsoft.com/office/drawing/2014/main" id="{D081B0E1-8FD3-E5F2-C199-23FD6A73F861}"/>
              </a:ext>
            </a:extLst>
          </p:cNvPr>
          <p:cNvSpPr txBox="1">
            <a:spLocks/>
          </p:cNvSpPr>
          <p:nvPr/>
        </p:nvSpPr>
        <p:spPr>
          <a:xfrm>
            <a:off x="316904" y="328810"/>
            <a:ext cx="11338560" cy="514469"/>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ORBITA / ORBITA-2: ЧКВ сопоставимо с </a:t>
            </a:r>
            <a:r>
              <a:rPr kumimoji="0" lang="ru-RU" sz="2000" b="1" i="0" u="none" strike="noStrike" kern="1200" cap="none" spc="0" normalizeH="0" baseline="0" noProof="0" dirty="0" err="1">
                <a:ln>
                  <a:noFill/>
                </a:ln>
                <a:solidFill>
                  <a:srgbClr val="2B3A42"/>
                </a:solidFill>
                <a:effectLst/>
                <a:uLnTx/>
                <a:uFillTx/>
                <a:latin typeface="Arial" panose="020B0604020202020204"/>
                <a:ea typeface="+mj-ea"/>
                <a:cs typeface="+mj-cs"/>
              </a:rPr>
              <a:t>монотерапией</a:t>
            </a:r>
            <a:r>
              <a:rPr kumimoji="0" lang="ru-RU" sz="2000" b="1" i="0" u="none" strike="noStrike" kern="1200" cap="none" spc="0" normalizeH="0" baseline="0" noProof="0" dirty="0">
                <a:ln>
                  <a:noFill/>
                </a:ln>
                <a:solidFill>
                  <a:srgbClr val="2B3A42"/>
                </a:solidFill>
                <a:effectLst/>
                <a:uLnTx/>
                <a:uFillTx/>
                <a:latin typeface="Arial" panose="020B0604020202020204"/>
                <a:ea typeface="+mj-ea"/>
                <a:cs typeface="+mj-cs"/>
              </a:rPr>
              <a:t> по симптомам, но не улучшает прогноз</a:t>
            </a:r>
            <a:endParaRPr kumimoji="0" lang="en-US" sz="20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28" name="TextBox 27">
            <a:extLst>
              <a:ext uri="{FF2B5EF4-FFF2-40B4-BE49-F238E27FC236}">
                <a16:creationId xmlns:a16="http://schemas.microsoft.com/office/drawing/2014/main" id="{463180D7-2533-A068-255C-0D0D2A7D3EDD}"/>
              </a:ext>
            </a:extLst>
          </p:cNvPr>
          <p:cNvSpPr txBox="1"/>
          <p:nvPr/>
        </p:nvSpPr>
        <p:spPr>
          <a:xfrm>
            <a:off x="316904" y="6421468"/>
            <a:ext cx="1122670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30000" noProof="0" dirty="0">
                <a:ln>
                  <a:noFill/>
                </a:ln>
                <a:solidFill>
                  <a:prstClr val="black"/>
                </a:solidFill>
                <a:effectLst/>
                <a:uLnTx/>
                <a:uFillTx/>
                <a:latin typeface="Calibri" panose="020F0502020204030204"/>
                <a:ea typeface="+mn-ea"/>
                <a:cs typeface="+mn-cs"/>
              </a:rPr>
              <a:t>1</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Percutaneous Coronary Intervention in Stable Angina (ORBITA): A Double-Blind,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Randomised</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Controlled Trial. Al-Lamee R, Thompson D,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Dehbi</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HM, et al. Lancet (London, England). 2018;391(10115):31-40. doi:10.1016/S0140-6736(17)32714-9.</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Calibri" panose="020F0502020204030204"/>
                <a:ea typeface="+mn-ea"/>
                <a:cs typeface="+mn-cs"/>
              </a:rPr>
              <a:t>2</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 Placebo-Controlled Trial of Percutaneous Coronary Intervention for Stable Angina. Rajkumar CA, Foley MJ, Ahmed-Jushuf F, et al. The New England Journal of Medicine. 2023;389(25):2319-2330. doi:10.1056/NEJMoa2310610.</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E27E7490-4A0E-8FC5-5B43-57F74A6E9966}"/>
              </a:ext>
            </a:extLst>
          </p:cNvPr>
          <p:cNvSpPr/>
          <p:nvPr/>
        </p:nvSpPr>
        <p:spPr>
          <a:xfrm>
            <a:off x="1805403" y="4746324"/>
            <a:ext cx="8576022" cy="993433"/>
          </a:xfrm>
          <a:prstGeom prst="roundRect">
            <a:avLst>
              <a:gd name="adj" fmla="val 19668"/>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800" b="1" i="0" u="none" strike="noStrike" kern="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~59% пациентов в обоих исследованиях имели остаточные симптомы после ЧКВ, независимо от наличия или отсутствия антиангинальной терапии</a:t>
            </a:r>
          </a:p>
        </p:txBody>
      </p:sp>
    </p:spTree>
    <p:extLst>
      <p:ext uri="{BB962C8B-B14F-4D97-AF65-F5344CB8AC3E}">
        <p14:creationId xmlns:p14="http://schemas.microsoft.com/office/powerpoint/2010/main" val="2232965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5FEC7-D379-7FD3-4F7B-539AA94D15F6}"/>
              </a:ext>
            </a:extLst>
          </p:cNvPr>
          <p:cNvSpPr txBox="1"/>
          <p:nvPr/>
        </p:nvSpPr>
        <p:spPr>
          <a:xfrm>
            <a:off x="204737" y="1507687"/>
            <a:ext cx="4459357"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2B3A42"/>
                </a:solidFill>
                <a:effectLst/>
                <a:uLnTx/>
                <a:uFillTx/>
                <a:latin typeface="Arial" panose="020B0604020202020204"/>
                <a:ea typeface="+mn-ea"/>
                <a:cs typeface="+mn-cs"/>
              </a:rPr>
              <a:t>Большинство пациентов получали </a:t>
            </a:r>
            <a:r>
              <a:rPr kumimoji="0" lang="ru-RU" sz="1800" b="1" i="0" u="none" strike="noStrike" kern="1200" cap="none" spc="0" normalizeH="0" baseline="0" noProof="0" dirty="0" err="1">
                <a:ln>
                  <a:noFill/>
                </a:ln>
                <a:solidFill>
                  <a:srgbClr val="2B3A42"/>
                </a:solidFill>
                <a:effectLst/>
                <a:uLnTx/>
                <a:uFillTx/>
                <a:latin typeface="Arial" panose="020B0604020202020204"/>
                <a:ea typeface="+mn-ea"/>
                <a:cs typeface="+mn-cs"/>
              </a:rPr>
              <a:t>бисопролол</a:t>
            </a:r>
            <a:r>
              <a:rPr kumimoji="0" lang="ru-RU" sz="1800" b="1" i="0" u="none" strike="noStrike" kern="1200" cap="none" spc="0" normalizeH="0" baseline="0" noProof="0" dirty="0">
                <a:ln>
                  <a:noFill/>
                </a:ln>
                <a:solidFill>
                  <a:srgbClr val="2B3A42"/>
                </a:solidFill>
                <a:effectLst/>
                <a:uLnTx/>
                <a:uFillTx/>
                <a:latin typeface="Arial" panose="020B0604020202020204"/>
                <a:ea typeface="+mn-ea"/>
                <a:cs typeface="+mn-cs"/>
              </a:rPr>
              <a:t> и амлодипин</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1200"/>
              </a:spcAft>
              <a:buClrTx/>
              <a:buSzTx/>
              <a:buFont typeface="Wingdings" panose="05000000000000000000" pitchFamily="2" charset="2"/>
              <a:buChar char="q"/>
              <a:tabLst/>
              <a:defRPr/>
            </a:pP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a:t>
            </a: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 — 83,5% пациентов, 54,5% получили ≥5 мг</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Амлодипин — 87,5% пациентов, 76,5% получили ≥5 мг</a:t>
            </a:r>
          </a:p>
        </p:txBody>
      </p:sp>
      <p:sp>
        <p:nvSpPr>
          <p:cNvPr id="11" name="TextBox 10">
            <a:extLst>
              <a:ext uri="{FF2B5EF4-FFF2-40B4-BE49-F238E27FC236}">
                <a16:creationId xmlns:a16="http://schemas.microsoft.com/office/drawing/2014/main" id="{72B50B1A-0A72-57AA-044E-0B54A44C7E81}"/>
              </a:ext>
            </a:extLst>
          </p:cNvPr>
          <p:cNvSpPr txBox="1"/>
          <p:nvPr/>
        </p:nvSpPr>
        <p:spPr>
          <a:xfrm>
            <a:off x="447260" y="274949"/>
            <a:ext cx="1091260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B3A42"/>
                </a:solidFill>
                <a:effectLst/>
                <a:uLnTx/>
                <a:uFillTx/>
                <a:latin typeface="Arial" panose="020B0604020202020204"/>
                <a:ea typeface="+mn-ea"/>
                <a:cs typeface="+mn-cs"/>
              </a:rPr>
              <a:t>ORBITA</a:t>
            </a:r>
            <a:r>
              <a:rPr kumimoji="0" lang="ru-RU" sz="2000" b="1" i="0" u="none" strike="noStrike" kern="1200" cap="none" spc="0" normalizeH="0" baseline="30000" noProof="0" dirty="0">
                <a:ln>
                  <a:noFill/>
                </a:ln>
                <a:solidFill>
                  <a:srgbClr val="2B3A42"/>
                </a:solidFill>
                <a:effectLst/>
                <a:uLnTx/>
                <a:uFillTx/>
                <a:latin typeface="Arial" panose="020B0604020202020204"/>
                <a:ea typeface="+mn-ea"/>
                <a:cs typeface="+mn-cs"/>
              </a:rPr>
              <a:t>1</a:t>
            </a:r>
            <a:r>
              <a:rPr kumimoji="0" lang="en-US" sz="2000" b="1" i="0" u="none" strike="noStrike" kern="1200" cap="none" spc="0" normalizeH="0" baseline="0" noProof="0" dirty="0">
                <a:ln>
                  <a:noFill/>
                </a:ln>
                <a:solidFill>
                  <a:srgbClr val="2B3A42"/>
                </a:solidFill>
                <a:effectLst/>
                <a:uLnTx/>
                <a:uFillTx/>
                <a:latin typeface="Arial" panose="020B0604020202020204"/>
                <a:ea typeface="+mn-ea"/>
                <a:cs typeface="+mn-cs"/>
              </a:rPr>
              <a:t>: </a:t>
            </a:r>
            <a:r>
              <a:rPr kumimoji="0" lang="ru-RU" sz="2000" b="1" i="0" u="none" strike="noStrike" kern="1200" cap="none" spc="0" normalizeH="0" baseline="0" noProof="0" dirty="0" err="1">
                <a:ln>
                  <a:noFill/>
                </a:ln>
                <a:solidFill>
                  <a:srgbClr val="2B3A42"/>
                </a:solidFill>
                <a:effectLst/>
                <a:uLnTx/>
                <a:uFillTx/>
                <a:latin typeface="Arial" panose="020B0604020202020204"/>
                <a:ea typeface="+mn-ea"/>
                <a:cs typeface="+mn-cs"/>
              </a:rPr>
              <a:t>Бисопролол</a:t>
            </a:r>
            <a:r>
              <a:rPr kumimoji="0" lang="ru-RU" sz="2000" b="1" i="0" u="none" strike="noStrike" kern="1200" cap="none" spc="0" normalizeH="0" baseline="0" noProof="0" dirty="0">
                <a:ln>
                  <a:noFill/>
                </a:ln>
                <a:solidFill>
                  <a:srgbClr val="2B3A42"/>
                </a:solidFill>
                <a:effectLst/>
                <a:uLnTx/>
                <a:uFillTx/>
                <a:latin typeface="Arial" panose="020B0604020202020204"/>
                <a:ea typeface="+mn-ea"/>
                <a:cs typeface="+mn-cs"/>
              </a:rPr>
              <a:t> и амлодипин </a:t>
            </a:r>
            <a:r>
              <a:rPr kumimoji="0" lang="ru-RU"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ru-RU" sz="2000" b="1" i="0" u="none" strike="noStrike" kern="1200" cap="none" spc="0" normalizeH="0" baseline="0" noProof="0" dirty="0">
                <a:ln>
                  <a:noFill/>
                </a:ln>
                <a:solidFill>
                  <a:srgbClr val="2B3A42"/>
                </a:solidFill>
                <a:effectLst/>
                <a:uLnTx/>
                <a:uFillTx/>
                <a:latin typeface="Arial" panose="020B0604020202020204"/>
                <a:ea typeface="+mn-ea"/>
                <a:cs typeface="+mn-cs"/>
              </a:rPr>
              <a:t> основа максимальной ОМТ</a:t>
            </a:r>
          </a:p>
        </p:txBody>
      </p:sp>
      <p:grpSp>
        <p:nvGrpSpPr>
          <p:cNvPr id="14" name="Group 13">
            <a:extLst>
              <a:ext uri="{FF2B5EF4-FFF2-40B4-BE49-F238E27FC236}">
                <a16:creationId xmlns:a16="http://schemas.microsoft.com/office/drawing/2014/main" id="{92E00BED-1AC0-C7BF-1F13-B17CD86CBFC6}"/>
              </a:ext>
            </a:extLst>
          </p:cNvPr>
          <p:cNvGrpSpPr/>
          <p:nvPr/>
        </p:nvGrpSpPr>
        <p:grpSpPr>
          <a:xfrm>
            <a:off x="4708602" y="1323021"/>
            <a:ext cx="6897476" cy="4211958"/>
            <a:chOff x="4409803" y="1272209"/>
            <a:chExt cx="6897476" cy="4211958"/>
          </a:xfrm>
        </p:grpSpPr>
        <p:grpSp>
          <p:nvGrpSpPr>
            <p:cNvPr id="12" name="Group 11">
              <a:extLst>
                <a:ext uri="{FF2B5EF4-FFF2-40B4-BE49-F238E27FC236}">
                  <a16:creationId xmlns:a16="http://schemas.microsoft.com/office/drawing/2014/main" id="{E8DF1831-F1AE-08FF-C41B-D3B62D99EE26}"/>
                </a:ext>
              </a:extLst>
            </p:cNvPr>
            <p:cNvGrpSpPr/>
            <p:nvPr/>
          </p:nvGrpSpPr>
          <p:grpSpPr>
            <a:xfrm>
              <a:off x="4409803" y="1531292"/>
              <a:ext cx="6897476" cy="3952875"/>
              <a:chOff x="4822388" y="1908979"/>
              <a:chExt cx="6897476" cy="3952875"/>
            </a:xfrm>
          </p:grpSpPr>
          <p:pic>
            <p:nvPicPr>
              <p:cNvPr id="1026" name="Picture 2" descr="Figure 3">
                <a:extLst>
                  <a:ext uri="{FF2B5EF4-FFF2-40B4-BE49-F238E27FC236}">
                    <a16:creationId xmlns:a16="http://schemas.microsoft.com/office/drawing/2014/main" id="{79D60F5E-3F03-15A2-960B-A3405BD6B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388" y="1908979"/>
                <a:ext cx="6753225" cy="3952875"/>
              </a:xfrm>
              <a:prstGeom prst="rect">
                <a:avLst/>
              </a:prstGeom>
              <a:noFill/>
              <a:extLst>
                <a:ext uri="{909E8E84-426E-40DD-AFC4-6F175D3DCCD1}">
                  <a14:hiddenFill xmlns:a14="http://schemas.microsoft.com/office/drawing/2010/main">
                    <a:solidFill>
                      <a:srgbClr val="FFFFFF"/>
                    </a:solidFill>
                  </a14:hiddenFill>
                </a:ext>
              </a:extLst>
            </p:spPr>
          </p:pic>
          <p:sp>
            <p:nvSpPr>
              <p:cNvPr id="3" name="Callout: Line with Accent Bar 2">
                <a:extLst>
                  <a:ext uri="{FF2B5EF4-FFF2-40B4-BE49-F238E27FC236}">
                    <a16:creationId xmlns:a16="http://schemas.microsoft.com/office/drawing/2014/main" id="{170F8C01-51BF-4B32-904C-DFEBC6B01049}"/>
                  </a:ext>
                </a:extLst>
              </p:cNvPr>
              <p:cNvSpPr/>
              <p:nvPr/>
            </p:nvSpPr>
            <p:spPr>
              <a:xfrm>
                <a:off x="7097518" y="47776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5,4%</a:t>
                </a:r>
              </a:p>
            </p:txBody>
          </p:sp>
          <p:sp>
            <p:nvSpPr>
              <p:cNvPr id="4" name="Callout: Line with Accent Bar 3">
                <a:extLst>
                  <a:ext uri="{FF2B5EF4-FFF2-40B4-BE49-F238E27FC236}">
                    <a16:creationId xmlns:a16="http://schemas.microsoft.com/office/drawing/2014/main" id="{91F689FE-7A2A-A64E-E793-46B0A2F310CB}"/>
                  </a:ext>
                </a:extLst>
              </p:cNvPr>
              <p:cNvSpPr/>
              <p:nvPr/>
            </p:nvSpPr>
            <p:spPr>
              <a:xfrm>
                <a:off x="6022581" y="48220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2,3%</a:t>
                </a:r>
              </a:p>
            </p:txBody>
          </p:sp>
          <p:sp>
            <p:nvSpPr>
              <p:cNvPr id="5" name="Callout: Line with Accent Bar 4">
                <a:extLst>
                  <a:ext uri="{FF2B5EF4-FFF2-40B4-BE49-F238E27FC236}">
                    <a16:creationId xmlns:a16="http://schemas.microsoft.com/office/drawing/2014/main" id="{5243DE8A-834B-7BC4-532C-5C4E333AD6FA}"/>
                  </a:ext>
                </a:extLst>
              </p:cNvPr>
              <p:cNvSpPr/>
              <p:nvPr/>
            </p:nvSpPr>
            <p:spPr>
              <a:xfrm>
                <a:off x="8168400" y="4384656"/>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20,9%</a:t>
                </a:r>
              </a:p>
            </p:txBody>
          </p:sp>
          <p:sp>
            <p:nvSpPr>
              <p:cNvPr id="6" name="Callout: Line with Accent Bar 5">
                <a:extLst>
                  <a:ext uri="{FF2B5EF4-FFF2-40B4-BE49-F238E27FC236}">
                    <a16:creationId xmlns:a16="http://schemas.microsoft.com/office/drawing/2014/main" id="{5E427148-E97A-3398-EF5B-3AF881EAB3ED}"/>
                  </a:ext>
                </a:extLst>
              </p:cNvPr>
              <p:cNvSpPr/>
              <p:nvPr/>
            </p:nvSpPr>
            <p:spPr>
              <a:xfrm>
                <a:off x="9215014" y="4537056"/>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22,7%</a:t>
                </a:r>
              </a:p>
            </p:txBody>
          </p:sp>
          <p:sp>
            <p:nvSpPr>
              <p:cNvPr id="7" name="Callout: Line with Accent Bar 6">
                <a:extLst>
                  <a:ext uri="{FF2B5EF4-FFF2-40B4-BE49-F238E27FC236}">
                    <a16:creationId xmlns:a16="http://schemas.microsoft.com/office/drawing/2014/main" id="{4B85E61E-2A1D-D7ED-3BA7-1F5329376D0D}"/>
                  </a:ext>
                </a:extLst>
              </p:cNvPr>
              <p:cNvSpPr/>
              <p:nvPr/>
            </p:nvSpPr>
            <p:spPr>
              <a:xfrm>
                <a:off x="10259209" y="4885625"/>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5,6%</a:t>
                </a:r>
              </a:p>
            </p:txBody>
          </p:sp>
          <p:sp>
            <p:nvSpPr>
              <p:cNvPr id="9" name="Callout: Line with Accent Bar 8">
                <a:extLst>
                  <a:ext uri="{FF2B5EF4-FFF2-40B4-BE49-F238E27FC236}">
                    <a16:creationId xmlns:a16="http://schemas.microsoft.com/office/drawing/2014/main" id="{4AD72647-D04F-D4FA-6148-BE291A763F35}"/>
                  </a:ext>
                </a:extLst>
              </p:cNvPr>
              <p:cNvSpPr/>
              <p:nvPr/>
            </p:nvSpPr>
            <p:spPr>
              <a:xfrm>
                <a:off x="11359864" y="4891113"/>
                <a:ext cx="360000" cy="216000"/>
              </a:xfrm>
              <a:prstGeom prst="accentCallout1">
                <a:avLst/>
              </a:prstGeom>
              <a:solidFill>
                <a:srgbClr val="FF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grpSp>
        <p:sp>
          <p:nvSpPr>
            <p:cNvPr id="13" name="Rectangle 12">
              <a:extLst>
                <a:ext uri="{FF2B5EF4-FFF2-40B4-BE49-F238E27FC236}">
                  <a16:creationId xmlns:a16="http://schemas.microsoft.com/office/drawing/2014/main" id="{5E922119-33D6-5E58-7497-6DD8DBA5E93C}"/>
                </a:ext>
              </a:extLst>
            </p:cNvPr>
            <p:cNvSpPr/>
            <p:nvPr/>
          </p:nvSpPr>
          <p:spPr>
            <a:xfrm>
              <a:off x="4708602" y="1272209"/>
              <a:ext cx="2426549" cy="3952875"/>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TextBox 15">
            <a:extLst>
              <a:ext uri="{FF2B5EF4-FFF2-40B4-BE49-F238E27FC236}">
                <a16:creationId xmlns:a16="http://schemas.microsoft.com/office/drawing/2014/main" id="{EDEBDC5E-F22B-4C99-BE1E-FF17DC3DCD79}"/>
              </a:ext>
            </a:extLst>
          </p:cNvPr>
          <p:cNvSpPr txBox="1"/>
          <p:nvPr/>
        </p:nvSpPr>
        <p:spPr>
          <a:xfrm>
            <a:off x="267260" y="6367607"/>
            <a:ext cx="11158818"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Calibri" panose="020F0502020204030204"/>
                <a:ea typeface="+mn-ea"/>
                <a:cs typeface="+mn-cs"/>
              </a:rPr>
              <a:t>1</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Foley MJ, Rajkumar CA, Ahmed-Jushuf F, et al. Achieving optimal medical therapy: insights from the ORBITA trial. J Am Heart Assoc 2021;10:e017381</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88E8945C-00E3-5B20-0F81-7959B963352B}"/>
              </a:ext>
            </a:extLst>
          </p:cNvPr>
          <p:cNvGrpSpPr/>
          <p:nvPr/>
        </p:nvGrpSpPr>
        <p:grpSpPr>
          <a:xfrm>
            <a:off x="356594" y="3973975"/>
            <a:ext cx="3551602" cy="584775"/>
            <a:chOff x="416345" y="4666750"/>
            <a:chExt cx="3551602" cy="584775"/>
          </a:xfrm>
        </p:grpSpPr>
        <p:sp>
          <p:nvSpPr>
            <p:cNvPr id="19" name="TextBox 18">
              <a:extLst>
                <a:ext uri="{FF2B5EF4-FFF2-40B4-BE49-F238E27FC236}">
                  <a16:creationId xmlns:a16="http://schemas.microsoft.com/office/drawing/2014/main" id="{616ED587-1414-4914-E04C-F273D2682D7D}"/>
                </a:ext>
              </a:extLst>
            </p:cNvPr>
            <p:cNvSpPr txBox="1"/>
            <p:nvPr/>
          </p:nvSpPr>
          <p:spPr>
            <a:xfrm>
              <a:off x="424294" y="4666750"/>
              <a:ext cx="354365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rPr>
                <a:t>Нитраты отменялись в 4 раза чаще, чем </a:t>
              </a:r>
              <a:r>
                <a:rPr kumimoji="0" lang="ru-RU" sz="1600" b="0" i="1"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a:t>
              </a:r>
              <a:r>
                <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20,9% vs 5,4%</a:t>
              </a:r>
              <a:endParaRPr kumimoji="0" lang="ru-RU" sz="16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551E79DF-BBA9-DAA5-C07A-8B2221260237}"/>
                </a:ext>
              </a:extLst>
            </p:cNvPr>
            <p:cNvCxnSpPr/>
            <p:nvPr/>
          </p:nvCxnSpPr>
          <p:spPr>
            <a:xfrm>
              <a:off x="416345" y="4666750"/>
              <a:ext cx="0" cy="5847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6B306562-15CE-053A-9109-1441DB6DB631}"/>
              </a:ext>
            </a:extLst>
          </p:cNvPr>
          <p:cNvSpPr txBox="1"/>
          <p:nvPr/>
        </p:nvSpPr>
        <p:spPr>
          <a:xfrm>
            <a:off x="452493" y="598930"/>
            <a:ext cx="109126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1" u="none" strike="noStrike" kern="1200" cap="none" spc="0" normalizeH="0" baseline="0" noProof="0" dirty="0">
                <a:ln>
                  <a:noFill/>
                </a:ln>
                <a:solidFill>
                  <a:srgbClr val="0070C0"/>
                </a:solidFill>
                <a:effectLst/>
                <a:uLnTx/>
                <a:uFillTx/>
                <a:latin typeface="Arial" panose="020B0604020202020204"/>
                <a:ea typeface="+mn-ea"/>
                <a:cs typeface="+mn-cs"/>
              </a:rPr>
              <a:t>Самые часто назначаемые молекулы среди ББ и ДГП-БКК с самой низкой частотой отмен</a:t>
            </a:r>
          </a:p>
        </p:txBody>
      </p:sp>
      <p:sp>
        <p:nvSpPr>
          <p:cNvPr id="15" name="TextBox 14">
            <a:extLst>
              <a:ext uri="{FF2B5EF4-FFF2-40B4-BE49-F238E27FC236}">
                <a16:creationId xmlns:a16="http://schemas.microsoft.com/office/drawing/2014/main" id="{54E92715-06B4-AF74-28E3-24AE948BD603}"/>
              </a:ext>
            </a:extLst>
          </p:cNvPr>
          <p:cNvSpPr txBox="1"/>
          <p:nvPr/>
        </p:nvSpPr>
        <p:spPr>
          <a:xfrm>
            <a:off x="7343732" y="6282428"/>
            <a:ext cx="48041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ДГП-БКК – </a:t>
            </a:r>
            <a:r>
              <a:rPr kumimoji="0" lang="ru-RU" sz="1200" b="0" i="0" u="none" strike="noStrike" kern="1200" cap="none" spc="0" normalizeH="0" baseline="0" noProof="0" dirty="0" err="1">
                <a:ln>
                  <a:noFill/>
                </a:ln>
                <a:solidFill>
                  <a:prstClr val="black"/>
                </a:solidFill>
                <a:effectLst/>
                <a:uLnTx/>
                <a:uFillTx/>
                <a:latin typeface="Calibri" panose="020F0502020204030204"/>
                <a:ea typeface="+mn-ea"/>
                <a:cs typeface="+mn-cs"/>
              </a:rPr>
              <a:t>дигидропиридиновые</a:t>
            </a: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 блокаторы кальциевых каналов</a:t>
            </a:r>
          </a:p>
        </p:txBody>
      </p:sp>
    </p:spTree>
    <p:extLst>
      <p:ext uri="{BB962C8B-B14F-4D97-AF65-F5344CB8AC3E}">
        <p14:creationId xmlns:p14="http://schemas.microsoft.com/office/powerpoint/2010/main" val="2971376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642C23-DAA5-3649-368A-1D11013A03FE}"/>
              </a:ext>
            </a:extLst>
          </p:cNvPr>
          <p:cNvSpPr txBox="1">
            <a:spLocks/>
          </p:cNvSpPr>
          <p:nvPr/>
        </p:nvSpPr>
        <p:spPr>
          <a:xfrm>
            <a:off x="384694" y="1081826"/>
            <a:ext cx="11338560" cy="402336"/>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2000" i="1" kern="1200" baseline="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ru-RU" sz="2000" b="0" i="1" u="none" strike="noStrike" kern="1200" cap="none" spc="0" normalizeH="0" baseline="0" noProof="0" dirty="0">
                <a:ln>
                  <a:noFill/>
                </a:ln>
                <a:solidFill>
                  <a:srgbClr val="00A3E0"/>
                </a:solidFill>
                <a:effectLst/>
                <a:uLnTx/>
                <a:uFillTx/>
                <a:latin typeface="Arial" panose="020B0604020202020204"/>
                <a:ea typeface="+mn-ea"/>
                <a:cs typeface="+mn-cs"/>
              </a:rPr>
              <a:t>Решение принимается по анатомии, объёму ишемии и симптомам — не по факту наличия ИБС</a:t>
            </a:r>
            <a:endParaRPr kumimoji="0" lang="en-US" sz="2000" b="0" i="1" u="none" strike="noStrike" kern="1200" cap="none" spc="0" normalizeH="0" baseline="0" noProof="0" dirty="0">
              <a:ln>
                <a:noFill/>
              </a:ln>
              <a:solidFill>
                <a:srgbClr val="00A3E0"/>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4AF95646-429F-8354-E7F3-578614B34433}"/>
              </a:ext>
            </a:extLst>
          </p:cNvPr>
          <p:cNvSpPr txBox="1">
            <a:spLocks/>
          </p:cNvSpPr>
          <p:nvPr/>
        </p:nvSpPr>
        <p:spPr>
          <a:xfrm>
            <a:off x="384694" y="294468"/>
            <a:ext cx="11338560" cy="768263"/>
          </a:xfrm>
          <a:prstGeom prst="rect">
            <a:avLst/>
          </a:prstGeom>
        </p:spPr>
        <p:txBody>
          <a:bodyPr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Реваскуляризация</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у пациентов со стабильной</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стенокардией и безболевой ишемией миокарда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4" name="Rectangle: Rounded Corners 3">
            <a:extLst>
              <a:ext uri="{FF2B5EF4-FFF2-40B4-BE49-F238E27FC236}">
                <a16:creationId xmlns:a16="http://schemas.microsoft.com/office/drawing/2014/main" id="{5E8589F4-5DE6-3067-398E-8A38C6750F28}"/>
              </a:ext>
            </a:extLst>
          </p:cNvPr>
          <p:cNvSpPr/>
          <p:nvPr/>
        </p:nvSpPr>
        <p:spPr>
          <a:xfrm>
            <a:off x="384694" y="1869428"/>
            <a:ext cx="5486400" cy="4572000"/>
          </a:xfrm>
          <a:prstGeom prst="roundRect">
            <a:avLst>
              <a:gd name="adj" fmla="val 6757"/>
            </a:avLst>
          </a:prstGeom>
          <a:solidFill>
            <a:srgbClr val="FFFFFF"/>
          </a:solidFill>
          <a:ln w="38100" cap="flat" cmpd="sng" algn="ctr">
            <a:solidFill>
              <a:srgbClr val="00A3E0"/>
            </a:solidFill>
            <a:prstDash val="solid"/>
            <a:miter lim="800000"/>
          </a:ln>
          <a:effectLst/>
        </p:spPr>
        <p:txBody>
          <a:bodyPr lIns="182880" tIns="91440" rtlCol="0" anchor="t" anchorCtr="0"/>
          <a:lstStyle/>
          <a:p>
            <a:pPr marL="0" marR="0" lvl="1" indent="0" algn="ctr" defTabSz="914400" rtl="0" eaLnBrk="1" fontAlgn="auto" latinLnBrk="0" hangingPunct="1">
              <a:lnSpc>
                <a:spcPct val="100000"/>
              </a:lnSpc>
              <a:spcBef>
                <a:spcPts val="0"/>
              </a:spcBef>
              <a:spcAft>
                <a:spcPts val="1200"/>
              </a:spcAft>
              <a:buClrTx/>
              <a:buSzTx/>
              <a:buFontTx/>
              <a:buNone/>
              <a:tabLst/>
              <a:defRPr/>
            </a:pPr>
            <a:r>
              <a:rPr kumimoji="0" lang="ru-RU" sz="2800" b="0" i="0" u="none" strike="noStrike" kern="0" cap="none" spc="0" normalizeH="0" baseline="0" noProof="0" dirty="0">
                <a:ln>
                  <a:noFill/>
                </a:ln>
                <a:solidFill>
                  <a:srgbClr val="00A3E0"/>
                </a:solidFill>
                <a:effectLst/>
                <a:uLnTx/>
                <a:uFillTx/>
                <a:latin typeface="Arial" panose="020B0604020202020204"/>
                <a:ea typeface="Calibri" panose="020F0502020204030204" pitchFamily="34" charset="0"/>
                <a:cs typeface="Calibri" panose="020F0502020204030204" pitchFamily="34" charset="0"/>
              </a:rPr>
              <a:t>Для улучшения прогноза</a:t>
            </a:r>
            <a:r>
              <a:rPr kumimoji="0" lang="en-US" sz="2800" b="0" i="0" u="none" strike="noStrike" kern="0" cap="none" spc="0" normalizeH="0" baseline="30000" noProof="0" dirty="0">
                <a:ln>
                  <a:noFill/>
                </a:ln>
                <a:solidFill>
                  <a:srgbClr val="00A3E0"/>
                </a:solidFill>
                <a:effectLst/>
                <a:uLnTx/>
                <a:uFillTx/>
                <a:latin typeface="Arial" panose="020B0604020202020204"/>
                <a:ea typeface="Calibri" panose="020F0502020204030204" pitchFamily="34" charset="0"/>
                <a:cs typeface="Calibri" panose="020F0502020204030204" pitchFamily="34" charset="0"/>
              </a:rPr>
              <a:t>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Поражение ствола ЛКА &gt;50%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EOK I А (УУР B, УДД 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Проксимальный стеноз ПНА &gt;50% </a:t>
            </a:r>
            <a:r>
              <a:rPr kumimoji="0" lang="ru-RU" sz="1200" b="0" i="0" u="none" strike="noStrike" kern="0" cap="none" spc="-20" normalizeH="0" baseline="0" noProof="0" dirty="0">
                <a:ln>
                  <a:noFill/>
                </a:ln>
                <a:solidFill>
                  <a:srgbClr val="000000"/>
                </a:solidFill>
                <a:effectLst/>
                <a:uLnTx/>
                <a:uFillTx/>
                <a:latin typeface="Arial" panose="020B0604020202020204"/>
                <a:ea typeface="+mn-ea"/>
                <a:cs typeface="+mn-cs"/>
              </a:rPr>
              <a:t>EOK I А (УУР B, УДД 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Двух и </a:t>
            </a:r>
            <a:r>
              <a:rPr kumimoji="0" lang="ru-RU" sz="1500" b="1" i="0" u="none" strike="noStrike" kern="0" cap="none" spc="0" normalizeH="0" baseline="0" noProof="0" dirty="0" err="1">
                <a:ln>
                  <a:noFill/>
                </a:ln>
                <a:solidFill>
                  <a:srgbClr val="000000"/>
                </a:solidFill>
                <a:effectLst/>
                <a:uLnTx/>
                <a:uFillTx/>
                <a:latin typeface="Arial" panose="020B0604020202020204"/>
                <a:ea typeface="+mn-ea"/>
                <a:cs typeface="+mn-cs"/>
              </a:rPr>
              <a:t>трехсосудистом</a:t>
            </a: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 поражении со стенозами &gt;50% и сниженной ФВ ЛЖ (≤35%)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EOK I А (УУР B, УДД 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Большая площадь спровоцированной функциональными тестами преходящей ишемии миокарда (&gt;10% площади ЛЖ) или значимом ФРК/МРК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EOK I B УУР B, УДД 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1" i="0" u="none" strike="noStrike" kern="0" cap="none" spc="0" normalizeH="0" baseline="0" noProof="0" dirty="0">
                <a:ln>
                  <a:noFill/>
                </a:ln>
                <a:solidFill>
                  <a:srgbClr val="000000"/>
                </a:solidFill>
                <a:effectLst/>
                <a:uLnTx/>
                <a:uFillTx/>
                <a:latin typeface="Arial" panose="020B0604020202020204"/>
                <a:ea typeface="+mn-ea"/>
                <a:cs typeface="+mn-cs"/>
              </a:rPr>
              <a:t>Стеноз &gt;50% в единственной функционирующей КА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EOK I С (УУР B, УДД 1)</a:t>
            </a:r>
            <a:endParaRPr kumimoji="0" lang="en-US" sz="16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41C46174-2946-868E-C416-DAF4375630DB}"/>
              </a:ext>
            </a:extLst>
          </p:cNvPr>
          <p:cNvSpPr/>
          <p:nvPr/>
        </p:nvSpPr>
        <p:spPr>
          <a:xfrm>
            <a:off x="6204750" y="1869428"/>
            <a:ext cx="5486400" cy="4572000"/>
          </a:xfrm>
          <a:prstGeom prst="roundRect">
            <a:avLst>
              <a:gd name="adj" fmla="val 6757"/>
            </a:avLst>
          </a:prstGeom>
          <a:solidFill>
            <a:srgbClr val="FFFFFF"/>
          </a:solidFill>
          <a:ln w="38100" cap="flat" cmpd="sng" algn="ctr">
            <a:solidFill>
              <a:srgbClr val="00BFB3"/>
            </a:solidFill>
            <a:prstDash val="solid"/>
            <a:miter lim="800000"/>
          </a:ln>
          <a:effectLst/>
        </p:spPr>
        <p:txBody>
          <a:bodyPr lIns="182880" tIns="91440" rtlCol="0" anchor="t" anchorCtr="0"/>
          <a:lstStyle/>
          <a:p>
            <a:pPr marL="0" marR="0" lvl="1" indent="0" algn="ctr" defTabSz="914400" rtl="0" eaLnBrk="1" fontAlgn="auto" latinLnBrk="0" hangingPunct="1">
              <a:lnSpc>
                <a:spcPct val="100000"/>
              </a:lnSpc>
              <a:spcBef>
                <a:spcPts val="0"/>
              </a:spcBef>
              <a:spcAft>
                <a:spcPts val="1200"/>
              </a:spcAft>
              <a:buClrTx/>
              <a:buSzTx/>
              <a:buFontTx/>
              <a:buNone/>
              <a:tabLst/>
              <a:defRPr/>
            </a:pPr>
            <a:r>
              <a:rPr kumimoji="0" lang="ru-RU" sz="2800" b="0" i="0" u="none" strike="noStrike" kern="0" cap="none" spc="0" normalizeH="0" baseline="0" noProof="0" dirty="0">
                <a:ln>
                  <a:noFill/>
                </a:ln>
                <a:solidFill>
                  <a:srgbClr val="00BFB3"/>
                </a:solidFill>
                <a:effectLst/>
                <a:uLnTx/>
                <a:uFillTx/>
                <a:latin typeface="Arial" panose="020B0604020202020204"/>
                <a:ea typeface="Calibri" panose="020F0502020204030204" pitchFamily="34" charset="0"/>
                <a:cs typeface="Calibri" panose="020F0502020204030204" pitchFamily="34" charset="0"/>
              </a:rPr>
              <a:t>Для уменьшения симптомов</a:t>
            </a:r>
            <a:r>
              <a:rPr kumimoji="0" lang="en-US" sz="2800" b="0" i="0" u="none" strike="noStrike" kern="0" cap="none" spc="0" normalizeH="0" baseline="30000" noProof="0" dirty="0">
                <a:ln>
                  <a:noFill/>
                </a:ln>
                <a:solidFill>
                  <a:srgbClr val="00BFB3"/>
                </a:solidFill>
                <a:effectLst/>
                <a:uLnTx/>
                <a:uFillTx/>
                <a:latin typeface="Arial" panose="020B0604020202020204"/>
                <a:ea typeface="Calibri" panose="020F0502020204030204" pitchFamily="34" charset="0"/>
                <a:cs typeface="Calibri" panose="020F0502020204030204" pitchFamily="34" charset="0"/>
              </a:rPr>
              <a:t>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0" i="0" u="none" strike="noStrike" kern="0" cap="none" spc="0" normalizeH="0" baseline="0" noProof="0" dirty="0">
                <a:ln>
                  <a:noFill/>
                </a:ln>
                <a:solidFill>
                  <a:srgbClr val="000000"/>
                </a:solidFill>
                <a:effectLst/>
                <a:uLnTx/>
                <a:uFillTx/>
                <a:latin typeface="Arial" panose="020B0604020202020204"/>
                <a:ea typeface="+mn-ea"/>
                <a:cs typeface="+mn-cs"/>
              </a:rPr>
              <a:t>Г</a:t>
            </a:r>
            <a:r>
              <a:rPr kumimoji="0" lang="ru-RU" sz="1500" b="0" i="0" u="none" strike="noStrike" kern="0" cap="none" spc="0" normalizeH="0" baseline="0" noProof="0" dirty="0" err="1">
                <a:ln>
                  <a:noFill/>
                </a:ln>
                <a:solidFill>
                  <a:srgbClr val="000000"/>
                </a:solidFill>
                <a:effectLst/>
                <a:uLnTx/>
                <a:uFillTx/>
                <a:latin typeface="Arial" panose="020B0604020202020204"/>
                <a:ea typeface="+mn-ea"/>
                <a:cs typeface="+mn-cs"/>
              </a:rPr>
              <a:t>емодинамически</a:t>
            </a:r>
            <a:r>
              <a:rPr kumimoji="0" lang="ru-RU" sz="1500" b="0" i="0" u="none" strike="noStrike" kern="0" cap="none" spc="0" normalizeH="0" baseline="0" noProof="0" dirty="0">
                <a:ln>
                  <a:noFill/>
                </a:ln>
                <a:solidFill>
                  <a:srgbClr val="000000"/>
                </a:solidFill>
                <a:effectLst/>
                <a:uLnTx/>
                <a:uFillTx/>
                <a:latin typeface="Arial" panose="020B0604020202020204"/>
                <a:ea typeface="+mn-ea"/>
                <a:cs typeface="+mn-cs"/>
              </a:rPr>
              <a:t> значимый стеноз КА (по результатам нагрузочных тестов с визуализацией и/или измерения ФРК/МРК, или стеноз &gt;90%) </a:t>
            </a:r>
            <a:r>
              <a:rPr kumimoji="0" lang="en-US" sz="1200" b="0" i="0" u="none" strike="noStrike" kern="0" cap="none" spc="0" normalizeH="0" baseline="0" noProof="0" dirty="0">
                <a:ln>
                  <a:noFill/>
                </a:ln>
                <a:solidFill>
                  <a:srgbClr val="000000"/>
                </a:solidFill>
                <a:effectLst/>
                <a:uLnTx/>
                <a:uFillTx/>
                <a:latin typeface="Arial" panose="020B0604020202020204"/>
                <a:ea typeface="+mn-ea"/>
                <a:cs typeface="+mn-cs"/>
              </a:rPr>
              <a:t>EOK I B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УУР </a:t>
            </a:r>
            <a:r>
              <a:rPr kumimoji="0" lang="en-US" sz="1200" b="0" i="0" u="none" strike="noStrike" kern="0" cap="none" spc="0" normalizeH="0" baseline="0" noProof="0" dirty="0">
                <a:ln>
                  <a:noFill/>
                </a:ln>
                <a:solidFill>
                  <a:srgbClr val="000000"/>
                </a:solidFill>
                <a:effectLst/>
                <a:uLnTx/>
                <a:uFillTx/>
                <a:latin typeface="Arial" panose="020B0604020202020204"/>
                <a:ea typeface="+mn-ea"/>
                <a:cs typeface="+mn-cs"/>
              </a:rPr>
              <a:t>B,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УДД 1)</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0" i="0" u="none" strike="noStrike" kern="0" cap="none" spc="0" normalizeH="0" baseline="0" noProof="0" dirty="0">
                <a:ln>
                  <a:noFill/>
                </a:ln>
                <a:solidFill>
                  <a:srgbClr val="000000"/>
                </a:solidFill>
                <a:effectLst/>
                <a:uLnTx/>
                <a:uFillTx/>
                <a:latin typeface="Arial" panose="020B0604020202020204"/>
                <a:ea typeface="+mn-ea"/>
                <a:cs typeface="+mn-cs"/>
              </a:rPr>
              <a:t>Ограничивающая физическую активность стенокардия или ее эквиваленты, </a:t>
            </a:r>
            <a:r>
              <a:rPr kumimoji="0" lang="ru-RU" sz="1500" b="1" i="0" u="none" strike="noStrike" kern="0" cap="none" spc="0" normalizeH="0" baseline="0" noProof="0" dirty="0">
                <a:ln>
                  <a:noFill/>
                </a:ln>
                <a:solidFill>
                  <a:srgbClr val="FF0000"/>
                </a:solidFill>
                <a:effectLst/>
                <a:uLnTx/>
                <a:uFillTx/>
                <a:latin typeface="Arial" panose="020B0604020202020204"/>
                <a:ea typeface="+mn-ea"/>
                <a:cs typeface="+mn-cs"/>
              </a:rPr>
              <a:t>несмотря на </a:t>
            </a:r>
            <a:r>
              <a:rPr kumimoji="0" lang="ru-RU" sz="1500" b="1" i="0" u="sng" strike="noStrike" kern="0" cap="none" spc="0" normalizeH="0" baseline="0" noProof="0" dirty="0">
                <a:ln>
                  <a:noFill/>
                </a:ln>
                <a:solidFill>
                  <a:srgbClr val="FF0000"/>
                </a:solidFill>
                <a:effectLst/>
                <a:uLnTx/>
                <a:uFillTx/>
                <a:latin typeface="Arial" panose="020B0604020202020204"/>
                <a:ea typeface="+mn-ea"/>
                <a:cs typeface="+mn-cs"/>
              </a:rPr>
              <a:t>оптимальную медикаментозную терапию EOK</a:t>
            </a:r>
            <a:r>
              <a:rPr kumimoji="0" lang="ru-RU" sz="1200" b="0" i="0" u="none" strike="noStrike" kern="0" cap="none" spc="0" normalizeH="0" baseline="0" noProof="0" dirty="0">
                <a:ln>
                  <a:noFill/>
                </a:ln>
                <a:solidFill>
                  <a:srgbClr val="FF0000"/>
                </a:solidFill>
                <a:effectLst/>
                <a:uLnTx/>
                <a:uFillTx/>
                <a:latin typeface="Arial" panose="020B0604020202020204"/>
                <a:ea typeface="+mn-ea"/>
                <a:cs typeface="+mn-cs"/>
              </a:rPr>
              <a:t>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I B (УУР В, УДД 2)</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Промежуточные коронарные стенозы (50-90%) по данным КАГ - может быть рекомендована при наличии ассоциированной с ними ишемии миокарда по данным нагрузочных проб с визуализацией миокарда или измерения ФРК/МРК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EOK I B (УУР В, УДД 2)</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Промежуточные стенозы (50-90%), при отсутствии ишемии миокарда и/или ФРК &gt;0,80/МРК &gt;0,89 не рекомендуется рутинное выполнение </a:t>
            </a:r>
            <a:r>
              <a:rPr kumimoji="0" lang="ru-RU" sz="1500" b="0" i="0" u="none" strike="noStrike" kern="0" cap="none" spc="0" normalizeH="0" baseline="0" noProof="0" dirty="0" err="1">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реваскуляризации</a:t>
            </a:r>
            <a:r>
              <a:rPr kumimoji="0" lang="ru-RU" sz="1500" b="0" i="0" u="none" strike="noStrike" kern="0" cap="none" spc="0" normalizeH="0" baseline="0" noProof="0" dirty="0">
                <a:ln>
                  <a:noFill/>
                </a:ln>
                <a:solidFill>
                  <a:srgbClr val="000000"/>
                </a:solidFill>
                <a:effectLst/>
                <a:uLnTx/>
                <a:uFillTx/>
                <a:latin typeface="Arial" panose="020B0604020202020204"/>
                <a:ea typeface="Calibri" panose="020F0502020204030204" pitchFamily="34" charset="0"/>
                <a:cs typeface="Calibri" panose="020F0502020204030204" pitchFamily="34" charset="0"/>
              </a:rPr>
              <a:t> миокарда EOK </a:t>
            </a:r>
            <a:r>
              <a:rPr kumimoji="0" lang="ru-RU" sz="1200" b="0" i="0" u="none" strike="noStrike" kern="0" cap="none" spc="0" normalizeH="0" baseline="0" noProof="0" dirty="0">
                <a:ln>
                  <a:noFill/>
                </a:ln>
                <a:solidFill>
                  <a:srgbClr val="000000"/>
                </a:solidFill>
                <a:effectLst/>
                <a:uLnTx/>
                <a:uFillTx/>
                <a:latin typeface="Arial" panose="020B0604020202020204"/>
                <a:ea typeface="+mn-ea"/>
                <a:cs typeface="+mn-cs"/>
              </a:rPr>
              <a:t>I B (УУР В, УДД 2)</a:t>
            </a:r>
            <a:endParaRPr kumimoji="0" lang="en-US" sz="12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E1075FE8-0117-B669-6943-B6B26A7927FF}"/>
              </a:ext>
            </a:extLst>
          </p:cNvPr>
          <p:cNvSpPr txBox="1"/>
          <p:nvPr/>
        </p:nvSpPr>
        <p:spPr>
          <a:xfrm>
            <a:off x="289856" y="6470933"/>
            <a:ext cx="11338559"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Барбараш О. Л., и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соавт</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Стабильная ишемическая болезнь сердца.</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Клинические рекомендации 2024. Российский кардиологический журнал.</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2024;29(9):6110.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10.15829/1560-4071-2024-6110. EDN HHJJUT</a:t>
            </a:r>
          </a:p>
        </p:txBody>
      </p:sp>
    </p:spTree>
    <p:extLst>
      <p:ext uri="{BB962C8B-B14F-4D97-AF65-F5344CB8AC3E}">
        <p14:creationId xmlns:p14="http://schemas.microsoft.com/office/powerpoint/2010/main" val="2104709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D9544C"/>
                </a:solidFill>
                <a:effectLst/>
                <a:uLnTx/>
                <a:uFillTx/>
                <a:latin typeface="Calibri" pitchFamily="34" charset="0"/>
                <a:ea typeface="Calibri" pitchFamily="34" charset="-122"/>
                <a:cs typeface="Calibri" pitchFamily="34" charset="-120"/>
              </a:rPr>
              <a:t>ПОКАЗАНИЯ К РЕВАСКУЛЯРИЗАЦИИ ПРИ ХКС/ХИБС</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594360"/>
            <a:ext cx="111556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Реваскуляризация</a:t>
            </a:r>
            <a:r>
              <a:rPr kumimoji="0" lang="ru-RU"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 г</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де</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гайдлайны</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a:t>
            </a:r>
            <a:r>
              <a:rPr kumimoji="0" lang="en-US" sz="3000" b="1" i="0" u="none" strike="noStrike" kern="1200" cap="none" spc="0" normalizeH="0" baseline="0" noProof="0" dirty="0" err="1">
                <a:ln>
                  <a:noFill/>
                </a:ln>
                <a:solidFill>
                  <a:srgbClr val="1A2A4F"/>
                </a:solidFill>
                <a:effectLst/>
                <a:uLnTx/>
                <a:uFillTx/>
                <a:latin typeface="Calibri" pitchFamily="34" charset="0"/>
                <a:ea typeface="Calibri" pitchFamily="34" charset="-122"/>
                <a:cs typeface="Calibri" pitchFamily="34" charset="-120"/>
              </a:rPr>
              <a:t>сходятся</a:t>
            </a:r>
            <a:r>
              <a:rPr kumimoji="0" lang="en-US" sz="30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 и где расходятся</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1234440"/>
            <a:ext cx="11155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Сравнение ESC 2024 • AHA/ACC 2023 • МЗ РФ 2024 по классу рекомендации «для улучшения прогноза»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1627632"/>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94360" y="1920240"/>
            <a:ext cx="47548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200" normalizeH="0" baseline="0" noProof="0" dirty="0" err="1">
                <a:ln>
                  <a:noFill/>
                </a:ln>
                <a:solidFill>
                  <a:prstClr val="black"/>
                </a:solidFill>
                <a:effectLst/>
                <a:uLnTx/>
                <a:uFillTx/>
                <a:latin typeface="Calibri" pitchFamily="34" charset="0"/>
                <a:ea typeface="Calibri" pitchFamily="34" charset="-122"/>
                <a:cs typeface="Calibri" pitchFamily="34" charset="-120"/>
              </a:rPr>
              <a:t>Клиническая</a:t>
            </a:r>
            <a:r>
              <a:rPr kumimoji="0" lang="en-US" sz="1800" b="1" i="0" u="none" strike="noStrike" kern="0" cap="none" spc="200" normalizeH="0" baseline="0" noProof="0" dirty="0">
                <a:ln>
                  <a:noFill/>
                </a:ln>
                <a:solidFill>
                  <a:prstClr val="black"/>
                </a:solidFill>
                <a:effectLst/>
                <a:uLnTx/>
                <a:uFillTx/>
                <a:latin typeface="Calibri" pitchFamily="34" charset="0"/>
                <a:ea typeface="Calibri" pitchFamily="34" charset="-122"/>
                <a:cs typeface="Calibri" pitchFamily="34" charset="-120"/>
              </a:rPr>
              <a:t> </a:t>
            </a:r>
            <a:r>
              <a:rPr kumimoji="0" lang="en-US" sz="1800" b="1" i="0" u="none" strike="noStrike" kern="0" cap="none" spc="200" normalizeH="0" baseline="0" noProof="0" dirty="0" err="1">
                <a:ln>
                  <a:noFill/>
                </a:ln>
                <a:solidFill>
                  <a:prstClr val="black"/>
                </a:solidFill>
                <a:effectLst/>
                <a:uLnTx/>
                <a:uFillTx/>
                <a:latin typeface="Calibri" pitchFamily="34" charset="0"/>
                <a:ea typeface="Calibri" pitchFamily="34" charset="-122"/>
                <a:cs typeface="Calibri" pitchFamily="34" charset="-120"/>
              </a:rPr>
              <a:t>ситуация</a:t>
            </a:r>
            <a:r>
              <a:rPr kumimoji="0" lang="ru-RU" sz="1800" b="1" i="0" u="none" strike="noStrike" kern="0" cap="none" spc="200" normalizeH="0" baseline="0" noProof="0" dirty="0">
                <a:ln>
                  <a:noFill/>
                </a:ln>
                <a:solidFill>
                  <a:prstClr val="black"/>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0" cap="none" spc="200" normalizeH="0" baseline="0" noProof="0" dirty="0">
                <a:ln>
                  <a:noFill/>
                </a:ln>
                <a:solidFill>
                  <a:prstClr val="black"/>
                </a:solidFill>
                <a:effectLst/>
                <a:uLnTx/>
                <a:uFillTx/>
                <a:latin typeface="Calibri" pitchFamily="34" charset="0"/>
                <a:ea typeface="Calibri" pitchFamily="34" charset="-122"/>
                <a:cs typeface="Calibri" pitchFamily="34" charset="-120"/>
              </a:rPr>
              <a:t>(</a:t>
            </a:r>
            <a:r>
              <a:rPr kumimoji="0" lang="ru-RU" sz="1800" b="1" i="1" u="none" strike="noStrike" kern="0" cap="none" spc="200" normalizeH="0" baseline="0" noProof="0" dirty="0">
                <a:ln>
                  <a:noFill/>
                </a:ln>
                <a:solidFill>
                  <a:prstClr val="black"/>
                </a:solidFill>
                <a:effectLst/>
                <a:uLnTx/>
                <a:uFillTx/>
                <a:latin typeface="Calibri" pitchFamily="34" charset="0"/>
                <a:ea typeface="Calibri" pitchFamily="34" charset="-122"/>
                <a:cs typeface="Calibri" pitchFamily="34" charset="-120"/>
              </a:rPr>
              <a:t>для улучшения прогноза</a:t>
            </a:r>
            <a:r>
              <a:rPr kumimoji="0" lang="ru-RU" sz="1800" b="1" i="0" u="none" strike="noStrike" kern="0" cap="none" spc="200" normalizeH="0" baseline="0" noProof="0" dirty="0">
                <a:ln>
                  <a:noFill/>
                </a:ln>
                <a:solidFill>
                  <a:prstClr val="black"/>
                </a:solidFill>
                <a:effectLst/>
                <a:uLnTx/>
                <a:uFillTx/>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34924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ESC 2024</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1</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34924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ХКС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AHA/ACC 2023</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2</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ХИБС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281160" y="1920240"/>
            <a:ext cx="1965960" cy="201168"/>
          </a:xfrm>
          <a:prstGeom prst="rect">
            <a:avLst/>
          </a:prstGeom>
          <a:noFill/>
          <a:ln/>
        </p:spPr>
        <p:txBody>
          <a:bodyPr wrap="square"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МЗ РФ 2024</a:t>
            </a:r>
            <a:r>
              <a:rPr kumimoji="0" lang="en-US" sz="1200" b="1" i="0" u="none" strike="noStrike" kern="1200" cap="none" spc="0" normalizeH="0" baseline="30000" noProof="0" dirty="0">
                <a:ln>
                  <a:noFill/>
                </a:ln>
                <a:solidFill>
                  <a:srgbClr val="1A2A4F"/>
                </a:solidFill>
                <a:effectLst/>
                <a:uLnTx/>
                <a:uFillTx/>
                <a:latin typeface="Calibri" pitchFamily="34" charset="0"/>
                <a:ea typeface="Calibri" pitchFamily="34" charset="-122"/>
                <a:cs typeface="Calibri" pitchFamily="34" charset="-120"/>
              </a:rPr>
              <a:t>3</a:t>
            </a:r>
            <a:endParaRPr kumimoji="0" lang="en-US" sz="12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281160" y="2121408"/>
            <a:ext cx="1965960" cy="18288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Стабильная ИБС</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02920" y="2377440"/>
            <a:ext cx="11155680" cy="0"/>
          </a:xfrm>
          <a:prstGeom prst="line">
            <a:avLst/>
          </a:prstGeom>
          <a:noFill/>
          <a:ln w="9525">
            <a:solidFill>
              <a:srgbClr val="1A2A4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2459736"/>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Ствол ЛКА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2642616"/>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значимый стеноз</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08076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04672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04672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0012680" y="251002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0012680" y="251002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2852928"/>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640080" y="2935224"/>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Проксимальный стеноз ПНА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40080" y="3118104"/>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sng"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функционально значимый</a:t>
            </a:r>
            <a:endParaRPr kumimoji="0" lang="en-US" sz="10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080760" y="2985516"/>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8046720" y="2985516"/>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804672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0012680" y="2985516"/>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10012680" y="2985516"/>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502920" y="3328416"/>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502920" y="3374136"/>
            <a:ext cx="11155680" cy="429768"/>
          </a:xfrm>
          <a:prstGeom prst="rect">
            <a:avLst/>
          </a:prstGeom>
          <a:solidFill>
            <a:srgbClr val="D9544C">
              <a:alpha val="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502920" y="3374136"/>
            <a:ext cx="54864" cy="429768"/>
          </a:xfrm>
          <a:prstGeom prst="rect">
            <a:avLst/>
          </a:prstGeom>
          <a:solidFill>
            <a:srgbClr val="D9544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640080" y="3410712"/>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A4F"/>
                </a:solidFill>
                <a:effectLst/>
                <a:uLnTx/>
                <a:uFillTx/>
                <a:latin typeface="Calibri" pitchFamily="34" charset="0"/>
                <a:ea typeface="Calibri" pitchFamily="34" charset="-122"/>
                <a:cs typeface="Calibri" pitchFamily="34" charset="-120"/>
              </a:rPr>
              <a:t>Многососудистое поражение</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640080" y="3593592"/>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при сохранной ФВ &gt; 35%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6080760" y="3461004"/>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608076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8046720" y="3461004"/>
            <a:ext cx="502920" cy="256032"/>
          </a:xfrm>
          <a:prstGeom prst="rect">
            <a:avLst/>
          </a:prstGeom>
          <a:solidFill>
            <a:srgbClr val="C9963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804672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IIa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10012680" y="3461004"/>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10012680" y="3461004"/>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502920" y="3803904"/>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640080" y="3886200"/>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Многососудистое + ФВ ≤ 35%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640080" y="4069080"/>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хирургически операбельные</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608076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608076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804672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804672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10012680" y="3936492"/>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10012680" y="3936492"/>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502920" y="4279392"/>
            <a:ext cx="11155680" cy="0"/>
          </a:xfrm>
          <a:prstGeom prst="line">
            <a:avLst/>
          </a:prstGeom>
          <a:no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640080" y="4361688"/>
            <a:ext cx="46634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Большая площадь ишемии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640080" y="4544568"/>
            <a:ext cx="4663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&gt; 10% ЛЖ или значимый ФРК/МРК</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2"/>
          <p:cNvSpPr/>
          <p:nvPr/>
        </p:nvSpPr>
        <p:spPr>
          <a:xfrm>
            <a:off x="6080760" y="4411980"/>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608076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54"/>
          <p:cNvSpPr/>
          <p:nvPr/>
        </p:nvSpPr>
        <p:spPr>
          <a:xfrm>
            <a:off x="8046720" y="4411980"/>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804672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0012680" y="4411980"/>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0012680" y="4411980"/>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 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502920" y="4937760"/>
            <a:ext cx="1463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Класс рекомендации:</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2057400" y="4956048"/>
            <a:ext cx="502920" cy="256032"/>
          </a:xfrm>
          <a:prstGeom prst="rect">
            <a:avLst/>
          </a:prstGeom>
          <a:solidFill>
            <a:srgbClr val="3E8A8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60"/>
          <p:cNvSpPr/>
          <p:nvPr/>
        </p:nvSpPr>
        <p:spPr>
          <a:xfrm>
            <a:off x="205740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61"/>
          <p:cNvSpPr/>
          <p:nvPr/>
        </p:nvSpPr>
        <p:spPr>
          <a:xfrm>
            <a:off x="2606040" y="4937760"/>
            <a:ext cx="822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сильная</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Shape 62"/>
          <p:cNvSpPr/>
          <p:nvPr/>
        </p:nvSpPr>
        <p:spPr>
          <a:xfrm>
            <a:off x="3520440" y="4956048"/>
            <a:ext cx="502920" cy="256032"/>
          </a:xfrm>
          <a:prstGeom prst="rect">
            <a:avLst/>
          </a:prstGeom>
          <a:solidFill>
            <a:srgbClr val="C9963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3"/>
          <p:cNvSpPr/>
          <p:nvPr/>
        </p:nvSpPr>
        <p:spPr>
          <a:xfrm>
            <a:off x="352044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a:off x="4069080" y="493776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умеренная</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5"/>
          <p:cNvSpPr/>
          <p:nvPr/>
        </p:nvSpPr>
        <p:spPr>
          <a:xfrm>
            <a:off x="5212080" y="4956048"/>
            <a:ext cx="502920" cy="256032"/>
          </a:xfrm>
          <a:prstGeom prst="rect">
            <a:avLst/>
          </a:prstGeom>
          <a:solidFill>
            <a:srgbClr val="FFFFFF"/>
          </a:solidFill>
          <a:ln w="9525">
            <a:solidFill>
              <a:srgbClr val="D6D9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Text 66"/>
          <p:cNvSpPr/>
          <p:nvPr/>
        </p:nvSpPr>
        <p:spPr>
          <a:xfrm>
            <a:off x="5212080" y="4956048"/>
            <a:ext cx="502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A94A3"/>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Text 67"/>
          <p:cNvSpPr/>
          <p:nvPr/>
        </p:nvSpPr>
        <p:spPr>
          <a:xfrm>
            <a:off x="5760720" y="493776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показания I класса в данной формулировке нет</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Rectangle: Rounded Corners 73">
            <a:extLst>
              <a:ext uri="{FF2B5EF4-FFF2-40B4-BE49-F238E27FC236}">
                <a16:creationId xmlns:a16="http://schemas.microsoft.com/office/drawing/2014/main" id="{2A050D73-2436-319F-A6F7-BB7E71C0648C}"/>
              </a:ext>
            </a:extLst>
          </p:cNvPr>
          <p:cNvSpPr/>
          <p:nvPr/>
        </p:nvSpPr>
        <p:spPr>
          <a:xfrm>
            <a:off x="2473036" y="5268521"/>
            <a:ext cx="7539644" cy="906086"/>
          </a:xfrm>
          <a:prstGeom prst="roundRect">
            <a:avLst/>
          </a:prstGeom>
          <a:solidFill>
            <a:srgbClr val="3E8A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Прогностическая  </a:t>
            </a:r>
            <a:r>
              <a:rPr kumimoji="0" lang="ru-RU" sz="1800" b="0" i="0" u="none" strike="noStrike" kern="1200" cap="none" spc="0" normalizeH="0" baseline="0" noProof="0" dirty="0" err="1">
                <a:ln>
                  <a:noFill/>
                </a:ln>
                <a:solidFill>
                  <a:prstClr val="white"/>
                </a:solidFill>
                <a:effectLst/>
                <a:uLnTx/>
                <a:uFillTx/>
                <a:latin typeface="Calibri" panose="020F0502020204030204"/>
                <a:ea typeface="+mn-ea"/>
                <a:cs typeface="+mn-cs"/>
              </a:rPr>
              <a:t>реваскуляризация</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 всегда в дополнение к ОМТ.</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Симптоматическая </a:t>
            </a:r>
            <a:r>
              <a:rPr kumimoji="0" lang="ru-RU" sz="1800" b="0" i="0" u="none" strike="noStrike" kern="1200" cap="none" spc="0" normalizeH="0" baseline="0" noProof="0" dirty="0" err="1">
                <a:ln>
                  <a:noFill/>
                </a:ln>
                <a:solidFill>
                  <a:prstClr val="white"/>
                </a:solidFill>
                <a:effectLst/>
                <a:uLnTx/>
                <a:uFillTx/>
                <a:latin typeface="Calibri" panose="020F0502020204030204"/>
                <a:ea typeface="+mn-ea"/>
                <a:cs typeface="+mn-cs"/>
              </a:rPr>
              <a:t>реваскуляризация</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 только «несмотря на ОМТ» </a:t>
            </a:r>
          </a:p>
        </p:txBody>
      </p:sp>
      <p:sp>
        <p:nvSpPr>
          <p:cNvPr id="70" name="TextBox 69">
            <a:extLst>
              <a:ext uri="{FF2B5EF4-FFF2-40B4-BE49-F238E27FC236}">
                <a16:creationId xmlns:a16="http://schemas.microsoft.com/office/drawing/2014/main" id="{43757B5E-F4FB-BFB0-B501-BB6136307CDE}"/>
              </a:ext>
            </a:extLst>
          </p:cNvPr>
          <p:cNvSpPr txBox="1"/>
          <p:nvPr/>
        </p:nvSpPr>
        <p:spPr>
          <a:xfrm>
            <a:off x="289856" y="6245572"/>
            <a:ext cx="1133855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Vrints</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 et al. 2024 ESC Guidelines for the management of chronic coronary syndromes.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Heart J. 2024 Aug 30: ehae177.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10.1093/</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eurheartj</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/ehae177. PMID: 39210710</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Virani SS, et al. 2023 AHA/ACC/ACCP/ASPC/NLA/PCNA guideline for the management of patients with chronic coronary disease: a report of the American Heart Association/American College of Cardiology Joint Committee on Clinical Practice Guidelines. J Am Coll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Cardiol</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2023;82:833-955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3</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Барбараш О. Л., и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соавт</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Стабильная ишемическая болезнь сердца.</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Клинические рекомендации 2024. Российский кардиологический журнал.</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2024;29(9):6110. </a:t>
            </a:r>
            <a:r>
              <a:rPr kumimoji="0" lang="ru-RU"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doi</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10.15829/1560-4071-2024-6110. EDN HHJJUT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DFEAE-E698-7637-E0DB-A4EABACF131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AA0116E3-B9D7-C9FA-9A80-65837E9787DD}"/>
              </a:ext>
            </a:extLst>
          </p:cNvPr>
          <p:cNvSpPr txBox="1"/>
          <p:nvPr/>
        </p:nvSpPr>
        <p:spPr>
          <a:xfrm>
            <a:off x="1375280" y="481238"/>
            <a:ext cx="9768468" cy="181588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Реваскуляризация</a:t>
            </a:r>
            <a:r>
              <a:rPr kumimoji="0" lang="ru-RU" sz="2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показана в определённых клинических ситуациях — оптимальная медикаментозная терапия остаётся фундаментом при стабильной ИБС</a:t>
            </a:r>
          </a:p>
        </p:txBody>
      </p:sp>
      <p:sp>
        <p:nvSpPr>
          <p:cNvPr id="2" name="Rectangle: Diagonal Corners Snipped 1">
            <a:extLst>
              <a:ext uri="{FF2B5EF4-FFF2-40B4-BE49-F238E27FC236}">
                <a16:creationId xmlns:a16="http://schemas.microsoft.com/office/drawing/2014/main" id="{6E122B95-D800-7171-69CD-953D54E60D30}"/>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Главное из блока</a:t>
            </a:r>
          </a:p>
        </p:txBody>
      </p:sp>
      <p:sp>
        <p:nvSpPr>
          <p:cNvPr id="5" name="TextBox 4">
            <a:extLst>
              <a:ext uri="{FF2B5EF4-FFF2-40B4-BE49-F238E27FC236}">
                <a16:creationId xmlns:a16="http://schemas.microsoft.com/office/drawing/2014/main" id="{639B8AB8-3620-602D-44A1-89943C924328}"/>
              </a:ext>
            </a:extLst>
          </p:cNvPr>
          <p:cNvSpPr txBox="1"/>
          <p:nvPr/>
        </p:nvSpPr>
        <p:spPr>
          <a:xfrm>
            <a:off x="474996" y="2455411"/>
            <a:ext cx="5490905" cy="2834640"/>
          </a:xfrm>
          <a:prstGeom prst="rect">
            <a:avLst/>
          </a:prstGeom>
          <a:gradFill flip="none" rotWithShape="1">
            <a:gsLst>
              <a:gs pos="80000">
                <a:srgbClr val="00A3E0"/>
              </a:gs>
              <a:gs pos="20000">
                <a:srgbClr val="005587"/>
              </a:gs>
            </a:gsLst>
            <a:lin ang="2700000" scaled="1"/>
            <a:tileRect/>
          </a:gradFill>
          <a:ln>
            <a:noFill/>
          </a:ln>
        </p:spPr>
        <p:txBody>
          <a:bodyPr wrap="square" lIns="457200" tIns="731520" rIns="182880" bIns="274320" rtlCol="0">
            <a:no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ru-RU" sz="1600" b="0" i="1" u="none" strike="noStrike" kern="0" cap="none" spc="0" normalizeH="0" baseline="0" noProof="0" dirty="0">
                <a:ln>
                  <a:noFill/>
                </a:ln>
                <a:solidFill>
                  <a:srgbClr val="FFFFFF"/>
                </a:solidFill>
                <a:effectLst/>
                <a:uLnTx/>
                <a:uFillTx/>
                <a:latin typeface="Arial" panose="020B0604020202020204"/>
                <a:ea typeface="+mn-ea"/>
                <a:cs typeface="+mn-cs"/>
              </a:rPr>
              <a:t>Что беспокоит пациента при выборе лечения? Жить дольше и чувствовать себя лучше. </a:t>
            </a:r>
          </a:p>
          <a:p>
            <a:pPr marL="0" marR="0" lvl="0" indent="0" algn="l" defTabSz="914400" rtl="0" eaLnBrk="1" fontAlgn="auto" latinLnBrk="0" hangingPunct="1">
              <a:lnSpc>
                <a:spcPct val="100000"/>
              </a:lnSpc>
              <a:spcBef>
                <a:spcPts val="400"/>
              </a:spcBef>
              <a:spcAft>
                <a:spcPts val="400"/>
              </a:spcAft>
              <a:buClrTx/>
              <a:buSzTx/>
              <a:buFontTx/>
              <a:buNone/>
              <a:tabLst/>
              <a:defRPr/>
            </a:pPr>
            <a:r>
              <a:rPr kumimoji="0" lang="ru-RU" sz="1600" b="0" i="1" u="none" strike="noStrike" kern="0" cap="none" spc="0" normalizeH="0" baseline="0" noProof="0" dirty="0">
                <a:ln>
                  <a:noFill/>
                </a:ln>
                <a:solidFill>
                  <a:srgbClr val="FFFFFF"/>
                </a:solidFill>
                <a:effectLst/>
                <a:uLnTx/>
                <a:uFillTx/>
                <a:latin typeface="Arial" panose="020B0604020202020204"/>
                <a:ea typeface="+mn-ea"/>
                <a:cs typeface="+mn-cs"/>
              </a:rPr>
              <a:t>Различий в выживаемости не выявлено; при исходной стенокардии самочувствие было лучше на инвазивной стратегии.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1" u="none" strike="noStrike" kern="0" cap="none" spc="0" normalizeH="0" baseline="0" noProof="0" dirty="0">
                <a:ln>
                  <a:noFill/>
                </a:ln>
                <a:solidFill>
                  <a:srgbClr val="FFFFFF"/>
                </a:solidFill>
                <a:effectLst/>
                <a:uLnTx/>
                <a:uFillTx/>
                <a:latin typeface="Arial" panose="020B0604020202020204"/>
                <a:ea typeface="+mn-ea"/>
                <a:cs typeface="+mn-cs"/>
              </a:rPr>
              <a:t>Идеальный пример ситуации, где необходимо совместное решение пациента и врача»</a:t>
            </a:r>
            <a:r>
              <a:rPr kumimoji="0" lang="en-GB" sz="1600" b="1" i="1" u="none" strike="noStrike" kern="0" cap="none" spc="0" normalizeH="0" baseline="0" noProof="0" dirty="0">
                <a:ln>
                  <a:noFill/>
                </a:ln>
                <a:solidFill>
                  <a:srgbClr val="FFFFFF"/>
                </a:solidFill>
                <a:effectLst/>
                <a:uLnTx/>
                <a:uFillTx/>
                <a:latin typeface="Arial" panose="020B0604020202020204"/>
                <a:ea typeface="+mn-ea"/>
                <a:cs typeface="+mn-cs"/>
              </a:rPr>
              <a:t>.</a:t>
            </a:r>
          </a:p>
        </p:txBody>
      </p:sp>
      <p:sp>
        <p:nvSpPr>
          <p:cNvPr id="6" name="Isosceles Triangle 5">
            <a:extLst>
              <a:ext uri="{FF2B5EF4-FFF2-40B4-BE49-F238E27FC236}">
                <a16:creationId xmlns:a16="http://schemas.microsoft.com/office/drawing/2014/main" id="{4D169C7D-D088-5B3B-AF6E-EFCA8A25C519}"/>
              </a:ext>
            </a:extLst>
          </p:cNvPr>
          <p:cNvSpPr/>
          <p:nvPr/>
        </p:nvSpPr>
        <p:spPr>
          <a:xfrm rot="10800000">
            <a:off x="474995" y="5279587"/>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FF9F2418-A907-7FB1-B50F-E09CB3F54F91}"/>
              </a:ext>
            </a:extLst>
          </p:cNvPr>
          <p:cNvSpPr/>
          <p:nvPr/>
        </p:nvSpPr>
        <p:spPr>
          <a:xfrm>
            <a:off x="1696186" y="5589549"/>
            <a:ext cx="2246763" cy="873658"/>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B3A42"/>
                </a:solidFill>
                <a:effectLst/>
                <a:uLnTx/>
                <a:uFillTx/>
                <a:latin typeface="Arial" panose="020B0604020202020204"/>
                <a:ea typeface="+mn-ea"/>
                <a:cs typeface="+mn-cs"/>
              </a:rPr>
              <a:t>Judith Hochman </a:t>
            </a:r>
            <a:endPar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1" u="none" strike="noStrike" kern="1200" cap="none" spc="0" normalizeH="0" baseline="0" noProof="0" dirty="0">
                <a:ln>
                  <a:noFill/>
                </a:ln>
                <a:solidFill>
                  <a:srgbClr val="2B3A42"/>
                </a:solidFill>
                <a:effectLst/>
                <a:uLnTx/>
                <a:uFillTx/>
                <a:latin typeface="Arial" panose="020B0604020202020204"/>
                <a:ea typeface="+mn-ea"/>
                <a:cs typeface="+mn-cs"/>
              </a:rPr>
              <a:t>руководитель исследования ISCHEMIA · интервью TCTMD, 16 ноября 2019</a:t>
            </a:r>
            <a:endParaRPr kumimoji="0" lang="en-GB" sz="12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8B6615E7-ADA9-C146-DC38-2CD4C509E89D}"/>
              </a:ext>
            </a:extLst>
          </p:cNvPr>
          <p:cNvSpPr txBox="1"/>
          <p:nvPr/>
        </p:nvSpPr>
        <p:spPr>
          <a:xfrm>
            <a:off x="7248293" y="2455411"/>
            <a:ext cx="3895455" cy="2834640"/>
          </a:xfrm>
          <a:prstGeom prst="rect">
            <a:avLst/>
          </a:prstGeom>
          <a:gradFill flip="none" rotWithShape="1">
            <a:gsLst>
              <a:gs pos="80000">
                <a:srgbClr val="00A3E0"/>
              </a:gs>
              <a:gs pos="20000">
                <a:srgbClr val="005587"/>
              </a:gs>
            </a:gsLst>
            <a:lin ang="2700000" scaled="1"/>
            <a:tileRect/>
          </a:gradFill>
          <a:ln>
            <a:noFill/>
          </a:ln>
        </p:spPr>
        <p:txBody>
          <a:bodyPr wrap="square" lIns="457200" tIns="731520" rIns="182880" bIns="2743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0" cap="none" spc="0" normalizeH="0" baseline="0" noProof="0" dirty="0">
                <a:ln>
                  <a:noFill/>
                </a:ln>
                <a:solidFill>
                  <a:srgbClr val="FFFFFF"/>
                </a:solidFill>
                <a:effectLst/>
                <a:uLnTx/>
                <a:uFillTx/>
                <a:latin typeface="Arial" panose="020B0604020202020204"/>
                <a:ea typeface="+mn-ea"/>
                <a:cs typeface="+mn-cs"/>
              </a:rPr>
              <a:t>При наличии стенокардии «</a:t>
            </a:r>
            <a:r>
              <a:rPr kumimoji="0" lang="ru-RU" sz="1600" b="1" i="1" u="none" strike="noStrike" kern="0" cap="none" spc="0" normalizeH="0" baseline="0" noProof="0" dirty="0">
                <a:ln>
                  <a:noFill/>
                </a:ln>
                <a:solidFill>
                  <a:srgbClr val="FFFFFF"/>
                </a:solidFill>
                <a:effectLst/>
                <a:uLnTx/>
                <a:uFillTx/>
                <a:latin typeface="Arial" panose="020B0604020202020204"/>
                <a:ea typeface="+mn-ea"/>
                <a:cs typeface="+mn-cs"/>
              </a:rPr>
              <a:t>решение должно приниматься совместно, чтобы согласовать лечение с целями и предпочтениями пациента</a:t>
            </a:r>
            <a:r>
              <a:rPr kumimoji="0" lang="ru-RU" sz="1600" b="0" i="1" u="none" strike="noStrike" kern="0" cap="none" spc="0" normalizeH="0" baseline="0" noProof="0" dirty="0">
                <a:ln>
                  <a:noFill/>
                </a:ln>
                <a:solidFill>
                  <a:srgbClr val="FFFFFF"/>
                </a:solidFill>
                <a:effectLst/>
                <a:uLnTx/>
                <a:uFillTx/>
                <a:latin typeface="Arial" panose="020B0604020202020204"/>
                <a:ea typeface="+mn-ea"/>
                <a:cs typeface="+mn-cs"/>
              </a:rPr>
              <a:t>» </a:t>
            </a:r>
            <a:endParaRPr kumimoji="0" lang="en-GB" sz="1600" b="0" i="1"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 name="Isosceles Triangle 9">
            <a:extLst>
              <a:ext uri="{FF2B5EF4-FFF2-40B4-BE49-F238E27FC236}">
                <a16:creationId xmlns:a16="http://schemas.microsoft.com/office/drawing/2014/main" id="{579A46F4-2B25-343A-01A2-8A9418988DBF}"/>
              </a:ext>
            </a:extLst>
          </p:cNvPr>
          <p:cNvSpPr/>
          <p:nvPr/>
        </p:nvSpPr>
        <p:spPr>
          <a:xfrm rot="10800000">
            <a:off x="7259465" y="5279587"/>
            <a:ext cx="1247229" cy="338086"/>
          </a:xfrm>
          <a:prstGeom prst="triangle">
            <a:avLst>
              <a:gd name="adj" fmla="val 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580BD552-BB77-151E-A325-A9686EAD3791}"/>
              </a:ext>
            </a:extLst>
          </p:cNvPr>
          <p:cNvSpPr/>
          <p:nvPr/>
        </p:nvSpPr>
        <p:spPr>
          <a:xfrm>
            <a:off x="8517866" y="5562749"/>
            <a:ext cx="2246763" cy="873658"/>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B3A42"/>
                </a:solidFill>
                <a:effectLst/>
                <a:uLnTx/>
                <a:uFillTx/>
                <a:latin typeface="Arial" panose="020B0604020202020204"/>
                <a:ea typeface="+mn-ea"/>
                <a:cs typeface="+mn-cs"/>
              </a:rPr>
              <a:t>John Spertus </a:t>
            </a:r>
            <a:endParaRPr kumimoji="0" lang="ru-RU" sz="1600" b="1" i="0" u="none" strike="noStrike" kern="1200" cap="none" spc="0" normalizeH="0" baseline="0" noProof="0" dirty="0">
              <a:ln>
                <a:noFill/>
              </a:ln>
              <a:solidFill>
                <a:srgbClr val="2B3A42"/>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1" u="none" strike="noStrike" kern="1200" cap="none" spc="0" normalizeH="0" baseline="0" noProof="0" dirty="0">
                <a:ln>
                  <a:noFill/>
                </a:ln>
                <a:solidFill>
                  <a:srgbClr val="2B3A42"/>
                </a:solidFill>
                <a:effectLst/>
                <a:uLnTx/>
                <a:uFillTx/>
                <a:latin typeface="Arial" panose="020B0604020202020204"/>
                <a:ea typeface="+mn-ea"/>
                <a:cs typeface="+mn-cs"/>
              </a:rPr>
              <a:t>со-руководитель анализа качества жизни · презентация AHA 2019</a:t>
            </a:r>
            <a:endParaRPr kumimoji="0" lang="en-GB" sz="12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pic>
        <p:nvPicPr>
          <p:cNvPr id="12" name="Graphic 11">
            <a:extLst>
              <a:ext uri="{FF2B5EF4-FFF2-40B4-BE49-F238E27FC236}">
                <a16:creationId xmlns:a16="http://schemas.microsoft.com/office/drawing/2014/main" id="{586E5551-5978-3DCB-4BC3-999744AD6D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1309" y="2481871"/>
            <a:ext cx="720331" cy="720331"/>
          </a:xfrm>
          <a:prstGeom prst="rect">
            <a:avLst/>
          </a:prstGeom>
        </p:spPr>
      </p:pic>
      <p:pic>
        <p:nvPicPr>
          <p:cNvPr id="13" name="Graphic 12">
            <a:extLst>
              <a:ext uri="{FF2B5EF4-FFF2-40B4-BE49-F238E27FC236}">
                <a16:creationId xmlns:a16="http://schemas.microsoft.com/office/drawing/2014/main" id="{6E61F841-ED49-D8A5-E4A5-AA86690DE2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25181" y="2481871"/>
            <a:ext cx="720331" cy="720331"/>
          </a:xfrm>
          <a:prstGeom prst="rect">
            <a:avLst/>
          </a:prstGeom>
        </p:spPr>
      </p:pic>
      <p:sp>
        <p:nvSpPr>
          <p:cNvPr id="16" name="TextBox 15">
            <a:extLst>
              <a:ext uri="{FF2B5EF4-FFF2-40B4-BE49-F238E27FC236}">
                <a16:creationId xmlns:a16="http://schemas.microsoft.com/office/drawing/2014/main" id="{BC35F868-65F5-ED62-1DAF-A67EE76A686C}"/>
              </a:ext>
            </a:extLst>
          </p:cNvPr>
          <p:cNvSpPr txBox="1"/>
          <p:nvPr/>
        </p:nvSpPr>
        <p:spPr>
          <a:xfrm>
            <a:off x="474995" y="6573000"/>
            <a:ext cx="8862431"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3. Wood S. ISCHEMIA: invasive strategy no better than meds for CV events. TCTMD, 16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ноября</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2019. www.tctmd.com/news/ischemia-invasive-strategy-no-better-meds-cv-events</a:t>
            </a:r>
          </a:p>
        </p:txBody>
      </p:sp>
    </p:spTree>
    <p:extLst>
      <p:ext uri="{BB962C8B-B14F-4D97-AF65-F5344CB8AC3E}">
        <p14:creationId xmlns:p14="http://schemas.microsoft.com/office/powerpoint/2010/main" val="1144765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1CEE0-AB04-D953-E74E-4DD129742089}"/>
            </a:ext>
          </a:extLst>
        </p:cNvPr>
        <p:cNvGrpSpPr/>
        <p:nvPr/>
      </p:nvGrpSpPr>
      <p:grpSpPr>
        <a:xfrm>
          <a:off x="0" y="0"/>
          <a:ext cx="0" cy="0"/>
          <a:chOff x="0" y="0"/>
          <a:chExt cx="0" cy="0"/>
        </a:xfrm>
      </p:grpSpPr>
      <p:sp>
        <p:nvSpPr>
          <p:cNvPr id="4" name="Объект 4">
            <a:extLst>
              <a:ext uri="{FF2B5EF4-FFF2-40B4-BE49-F238E27FC236}">
                <a16:creationId xmlns:a16="http://schemas.microsoft.com/office/drawing/2014/main" id="{C8EF9E3B-167F-7CCB-6A23-3D7788174640}"/>
              </a:ext>
            </a:extLst>
          </p:cNvPr>
          <p:cNvSpPr txBox="1">
            <a:spLocks/>
          </p:cNvSpPr>
          <p:nvPr/>
        </p:nvSpPr>
        <p:spPr>
          <a:xfrm>
            <a:off x="489405" y="6107758"/>
            <a:ext cx="5184775" cy="457200"/>
          </a:xfrm>
          <a:prstGeom prst="rect">
            <a:avLst/>
          </a:prstGeom>
        </p:spPr>
        <p:txBody>
          <a:bodyPr vert="horz" lIns="0" tIns="0" rIns="0" bIns="0" rtlCol="0">
            <a:noAutofit/>
          </a:bodyPr>
          <a:lstStyle>
            <a:lvl1pPr marL="2286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0000"/>
              </a:lnSpc>
              <a:spcBef>
                <a:spcPts val="800"/>
              </a:spcBef>
              <a:buFont typeface="Arial" panose="020B0604020202020204" pitchFamily="34" charset="0"/>
              <a:buChar char="•"/>
              <a:defRPr sz="1600" kern="1200">
                <a:solidFill>
                  <a:srgbClr val="265374"/>
                </a:solidFill>
                <a:latin typeface="+mn-lt"/>
                <a:ea typeface="+mn-ea"/>
                <a:cs typeface="+mn-cs"/>
              </a:defRPr>
            </a:lvl2pPr>
            <a:lvl3pPr marL="1143000" indent="-228600" algn="l" defTabSz="914400" rtl="0" eaLnBrk="1" latinLnBrk="0" hangingPunct="1">
              <a:lnSpc>
                <a:spcPct val="110000"/>
              </a:lnSpc>
              <a:spcBef>
                <a:spcPts val="800"/>
              </a:spcBef>
              <a:buFont typeface="Arial" panose="020B0604020202020204" pitchFamily="34" charset="0"/>
              <a:buChar char="•"/>
              <a:defRPr sz="1400" kern="1200">
                <a:solidFill>
                  <a:srgbClr val="265374"/>
                </a:solidFill>
                <a:latin typeface="+mn-lt"/>
                <a:ea typeface="+mn-ea"/>
                <a:cs typeface="+mn-cs"/>
              </a:defRPr>
            </a:lvl3pPr>
            <a:lvl4pPr marL="16002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4pPr>
            <a:lvl5pPr marL="2057400" indent="-228600" algn="l" defTabSz="914400" rtl="0" eaLnBrk="1" latinLnBrk="0" hangingPunct="1">
              <a:lnSpc>
                <a:spcPct val="110000"/>
              </a:lnSpc>
              <a:spcBef>
                <a:spcPts val="800"/>
              </a:spcBef>
              <a:buFont typeface="Arial" panose="020B0604020202020204" pitchFamily="34" charset="0"/>
              <a:buChar char="•"/>
              <a:defRPr sz="1200" kern="1200">
                <a:solidFill>
                  <a:srgbClr val="26537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АГ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артериальная гипертензия,</a:t>
            </a:r>
            <a:r>
              <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ИБС</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 ишемическая болезнь сердца, ФК – функциональный класс</a:t>
            </a:r>
            <a:endParaRPr kumimoji="0" lang="en-US"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endParaRPr>
          </a:p>
          <a:p>
            <a:pPr marL="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1.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Чесникова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А.И.,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Сафроненко</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В.А.,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Коломацкая</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О.Е. Оценка эффективности фиксированной комбинации </a:t>
            </a:r>
            <a:r>
              <a:rPr kumimoji="0" lang="ru-RU" sz="800" b="0" i="0" u="none" strike="noStrike" kern="1200" cap="none" spc="0" normalizeH="0" baseline="0" noProof="0" dirty="0" err="1">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бисопролола</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Verdana" panose="020B0604030504040204" pitchFamily="34" charset="0"/>
                <a:cs typeface="Calibri" panose="020F0502020204030204" pitchFamily="34" charset="0"/>
              </a:rPr>
              <a:t> и амлодипина в амбулаторном лечении больных артериальной гипертензией и ишемической болезнью сердца // Кардиология. – 2014. – №9. – С. 17-23.</a:t>
            </a:r>
          </a:p>
        </p:txBody>
      </p:sp>
      <p:sp>
        <p:nvSpPr>
          <p:cNvPr id="5" name="Прямоугольник 13">
            <a:extLst>
              <a:ext uri="{FF2B5EF4-FFF2-40B4-BE49-F238E27FC236}">
                <a16:creationId xmlns:a16="http://schemas.microsoft.com/office/drawing/2014/main" id="{BA4A2977-93CD-59AF-AFAA-9FFC4351E69C}"/>
              </a:ext>
            </a:extLst>
          </p:cNvPr>
          <p:cNvSpPr/>
          <p:nvPr/>
        </p:nvSpPr>
        <p:spPr>
          <a:xfrm>
            <a:off x="643595" y="1788812"/>
            <a:ext cx="4106825" cy="40318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Число пациентов</a:t>
            </a:r>
            <a:r>
              <a:rPr kumimoji="0" lang="en-US"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n=100 (62% женщин, 38% мужчин; средний возраст составил 65,0±8,51 года)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265374"/>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Диагноз</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600" b="0" i="0" u="none" strike="noStrike" kern="1200" cap="none" spc="0" normalizeH="0" baseline="0" noProof="0" dirty="0">
                <a:ln>
                  <a:noFill/>
                </a:ln>
                <a:solidFill>
                  <a:srgbClr val="265374"/>
                </a:solidFill>
                <a:effectLst/>
                <a:uLnTx/>
                <a:uFillTx/>
                <a:latin typeface="Verdana"/>
                <a:ea typeface="+mn-ea"/>
                <a:cs typeface="+mn-cs"/>
              </a:rPr>
              <a:t>АГ 1–3 степени + ИБС, стенокардия напряжения - 100%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600" b="0" i="0" u="none" strike="noStrike" kern="1200" cap="none" spc="0" normalizeH="0" baseline="0" noProof="0" dirty="0">
                <a:ln>
                  <a:noFill/>
                </a:ln>
                <a:solidFill>
                  <a:srgbClr val="265374"/>
                </a:solidFill>
                <a:effectLst/>
                <a:uLnTx/>
                <a:uFillTx/>
                <a:latin typeface="Verdana"/>
                <a:ea typeface="+mn-ea"/>
                <a:cs typeface="+mn-cs"/>
              </a:rPr>
              <a:t>ФК II — 83%,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600" b="0" i="0" u="none" strike="noStrike" kern="1200" cap="none" spc="0" normalizeH="0" baseline="0" noProof="0" dirty="0">
                <a:ln>
                  <a:noFill/>
                </a:ln>
                <a:solidFill>
                  <a:srgbClr val="265374"/>
                </a:solidFill>
                <a:effectLst/>
                <a:uLnTx/>
                <a:uFillTx/>
                <a:latin typeface="Verdana"/>
                <a:ea typeface="+mn-ea"/>
                <a:cs typeface="+mn-cs"/>
              </a:rPr>
              <a:t>ФК III — 15%)</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600" b="0" i="0" u="none" strike="noStrike" kern="1200" cap="none" spc="0" normalizeH="0" baseline="0" noProof="0" dirty="0">
                <a:ln>
                  <a:noFill/>
                </a:ln>
                <a:solidFill>
                  <a:srgbClr val="265374"/>
                </a:solidFill>
                <a:effectLst/>
                <a:uLnTx/>
                <a:uFillTx/>
                <a:latin typeface="Verdana"/>
                <a:ea typeface="+mn-ea"/>
                <a:cs typeface="+mn-cs"/>
              </a:rPr>
              <a:t>ПИКС у 33%,</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600" b="0" i="0" u="none" strike="noStrike" kern="1200" cap="none" spc="0" normalizeH="0" baseline="0" noProof="0" dirty="0">
                <a:ln>
                  <a:noFill/>
                </a:ln>
                <a:solidFill>
                  <a:srgbClr val="265374"/>
                </a:solidFill>
                <a:effectLst/>
                <a:uLnTx/>
                <a:uFillTx/>
                <a:latin typeface="Verdana"/>
                <a:ea typeface="+mn-ea"/>
                <a:cs typeface="+mn-cs"/>
              </a:rPr>
              <a:t>АКШ у 14%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srgbClr val="265374"/>
                </a:solidFill>
                <a:effectLst/>
                <a:uLnTx/>
                <a:uFillTx/>
                <a:latin typeface="Verdana"/>
                <a:ea typeface="+mn-ea"/>
                <a:cs typeface="+mn-cs"/>
              </a:rPr>
              <a:t>Длительность ИБС в среднем 6,5 лет</a:t>
            </a:r>
            <a:endParaRPr kumimoji="0" lang="ru-RU" sz="16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Times New Roman" panose="02020603050405020304" pitchFamily="18" charset="0"/>
              </a:rPr>
              <a:t>Длительность наблюдения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US"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Times New Roman" panose="02020603050405020304" pitchFamily="18" charset="0"/>
              </a:rPr>
              <a:t>4 недели</a:t>
            </a:r>
          </a:p>
        </p:txBody>
      </p:sp>
      <p:sp>
        <p:nvSpPr>
          <p:cNvPr id="6" name="Заголовок 1">
            <a:extLst>
              <a:ext uri="{FF2B5EF4-FFF2-40B4-BE49-F238E27FC236}">
                <a16:creationId xmlns:a16="http://schemas.microsoft.com/office/drawing/2014/main" id="{FC9A13D8-EFED-04F4-D9F4-6F2A156F04A8}"/>
              </a:ext>
            </a:extLst>
          </p:cNvPr>
          <p:cNvSpPr txBox="1">
            <a:spLocks/>
          </p:cNvSpPr>
          <p:nvPr/>
        </p:nvSpPr>
        <p:spPr>
          <a:xfrm>
            <a:off x="643596" y="507522"/>
            <a:ext cx="10384832" cy="1223410"/>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3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300" b="1"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ru-RU" sz="23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АМ при АГ + ИБС: антиишемический эффект подтверждён инструментально</a:t>
            </a:r>
          </a:p>
        </p:txBody>
      </p:sp>
      <p:sp>
        <p:nvSpPr>
          <p:cNvPr id="7" name="TextBox 6">
            <a:extLst>
              <a:ext uri="{FF2B5EF4-FFF2-40B4-BE49-F238E27FC236}">
                <a16:creationId xmlns:a16="http://schemas.microsoft.com/office/drawing/2014/main" id="{25D84AE4-1E0C-6D1A-8E51-BB074C77AFC5}"/>
              </a:ext>
            </a:extLst>
          </p:cNvPr>
          <p:cNvSpPr txBox="1"/>
          <p:nvPr/>
        </p:nvSpPr>
        <p:spPr>
          <a:xfrm>
            <a:off x="643596" y="1270529"/>
            <a:ext cx="42071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265374"/>
                </a:solidFill>
                <a:effectLst/>
                <a:uLnTx/>
                <a:uFillTx/>
                <a:latin typeface="Verdana"/>
                <a:ea typeface="+mn-ea"/>
                <a:cs typeface="+mn-cs"/>
              </a:rPr>
              <a:t>Холтер-мониторинг в динамике</a:t>
            </a:r>
          </a:p>
        </p:txBody>
      </p:sp>
      <p:grpSp>
        <p:nvGrpSpPr>
          <p:cNvPr id="8" name="Group 7">
            <a:extLst>
              <a:ext uri="{FF2B5EF4-FFF2-40B4-BE49-F238E27FC236}">
                <a16:creationId xmlns:a16="http://schemas.microsoft.com/office/drawing/2014/main" id="{F2288848-29ED-6596-A25B-0FF32F2C7831}"/>
              </a:ext>
            </a:extLst>
          </p:cNvPr>
          <p:cNvGrpSpPr/>
          <p:nvPr/>
        </p:nvGrpSpPr>
        <p:grpSpPr>
          <a:xfrm rot="5400000">
            <a:off x="5839420" y="1447010"/>
            <a:ext cx="2540567" cy="2587392"/>
            <a:chOff x="1231899" y="2762981"/>
            <a:chExt cx="4125914" cy="1988733"/>
          </a:xfrm>
        </p:grpSpPr>
        <p:sp>
          <p:nvSpPr>
            <p:cNvPr id="9" name="Rectangle: Rounded Corners 8">
              <a:extLst>
                <a:ext uri="{FF2B5EF4-FFF2-40B4-BE49-F238E27FC236}">
                  <a16:creationId xmlns:a16="http://schemas.microsoft.com/office/drawing/2014/main" id="{69CC2AF2-FEF4-2CE5-5FBE-7F4BEDDCE9DF}"/>
                </a:ext>
              </a:extLst>
            </p:cNvPr>
            <p:cNvSpPr/>
            <p:nvPr/>
          </p:nvSpPr>
          <p:spPr>
            <a:xfrm>
              <a:off x="1265142" y="2762981"/>
              <a:ext cx="4092671" cy="1988733"/>
            </a:xfrm>
            <a:prstGeom prst="roundRect">
              <a:avLst>
                <a:gd name="adj" fmla="val 3975"/>
              </a:avLst>
            </a:prstGeom>
            <a:solidFill>
              <a:srgbClr val="FFFFFF"/>
            </a:solidFill>
            <a:ln w="19050" cap="flat" cmpd="sng" algn="ctr">
              <a:solidFill>
                <a:srgbClr val="FFFFFF">
                  <a:lumMod val="85000"/>
                </a:srgbClr>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839D0F6E-998F-3ED8-872D-28993823FF37}"/>
                </a:ext>
              </a:extLst>
            </p:cNvPr>
            <p:cNvSpPr/>
            <p:nvPr/>
          </p:nvSpPr>
          <p:spPr>
            <a:xfrm>
              <a:off x="1231899" y="2874626"/>
              <a:ext cx="68263" cy="1765443"/>
            </a:xfrm>
            <a:prstGeom prst="rect">
              <a:avLst/>
            </a:prstGeom>
            <a:solidFill>
              <a:srgbClr val="FFFFFF"/>
            </a:solidFill>
            <a:ln w="1905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sp>
        <p:nvSpPr>
          <p:cNvPr id="11" name="Rectangle 10">
            <a:extLst>
              <a:ext uri="{FF2B5EF4-FFF2-40B4-BE49-F238E27FC236}">
                <a16:creationId xmlns:a16="http://schemas.microsoft.com/office/drawing/2014/main" id="{4853A82F-3920-41ED-08A2-1311C8835E27}"/>
              </a:ext>
            </a:extLst>
          </p:cNvPr>
          <p:cNvSpPr/>
          <p:nvPr/>
        </p:nvSpPr>
        <p:spPr>
          <a:xfrm>
            <a:off x="6109126" y="2887971"/>
            <a:ext cx="2001156" cy="1200329"/>
          </a:xfrm>
          <a:prstGeom prst="rect">
            <a:avLst/>
          </a:prstGeom>
        </p:spPr>
        <p:txBody>
          <a:bodyPr wrap="square">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ru-RU" sz="1200" b="1" i="0" u="none" strike="noStrike" kern="1200" cap="none" spc="0" normalizeH="0" baseline="0" noProof="0" dirty="0">
                <a:ln>
                  <a:noFill/>
                </a:ln>
                <a:solidFill>
                  <a:srgbClr val="005587"/>
                </a:solidFill>
                <a:effectLst/>
                <a:uLnTx/>
                <a:uFillTx/>
                <a:latin typeface="Arial" panose="020B0604020202020204"/>
                <a:ea typeface="+mn-ea"/>
                <a:cs typeface="+mn-cs"/>
              </a:rPr>
              <a:t>число эпизодов ишемии в сутки</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ru-RU" sz="1200" b="0" i="0" u="none" strike="noStrike" kern="1200" cap="none" spc="0" normalizeH="0" baseline="0" noProof="0" dirty="0">
                <a:ln>
                  <a:noFill/>
                </a:ln>
                <a:solidFill>
                  <a:srgbClr val="2B3A42"/>
                </a:solidFill>
                <a:effectLst/>
                <a:uLnTx/>
                <a:uFillTx/>
                <a:latin typeface="Arial" panose="020B0604020202020204"/>
                <a:ea typeface="+mn-ea"/>
                <a:cs typeface="+mn-cs"/>
              </a:rPr>
              <a:t>с 3,1±0,9 до 1,4±0,3 (p=0,045)</a:t>
            </a:r>
            <a:endParaRPr kumimoji="0" lang="en-US" sz="12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0EB950B9-A741-A94F-DD61-BCE66103D510}"/>
              </a:ext>
            </a:extLst>
          </p:cNvPr>
          <p:cNvSpPr/>
          <p:nvPr/>
        </p:nvSpPr>
        <p:spPr>
          <a:xfrm>
            <a:off x="6289696" y="2167140"/>
            <a:ext cx="646331" cy="369332"/>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a:ln>
                  <a:noFill/>
                </a:ln>
                <a:solidFill>
                  <a:srgbClr val="005587"/>
                </a:solidFill>
                <a:effectLst/>
                <a:uLnTx/>
                <a:uFillTx/>
                <a:latin typeface="Arial" panose="020B0604020202020204"/>
                <a:ea typeface="+mn-ea"/>
                <a:cs typeface="+mn-cs"/>
              </a:rPr>
              <a:t>−54,8</a:t>
            </a:r>
            <a:r>
              <a:rPr kumimoji="0" lang="en-US" sz="3200" b="1" i="0" u="none" strike="noStrike" kern="1200" cap="none" spc="0" normalizeH="0" baseline="0" noProof="0" dirty="0">
                <a:ln>
                  <a:noFill/>
                </a:ln>
                <a:solidFill>
                  <a:srgbClr val="005587"/>
                </a:solidFill>
                <a:effectLst/>
                <a:uLnTx/>
                <a:uFillTx/>
                <a:latin typeface="Arial" panose="020B0604020202020204"/>
                <a:ea typeface="+mn-ea"/>
                <a:cs typeface="+mn-cs"/>
              </a:rPr>
              <a:t>%</a:t>
            </a:r>
          </a:p>
        </p:txBody>
      </p:sp>
      <p:grpSp>
        <p:nvGrpSpPr>
          <p:cNvPr id="13" name="Group 12">
            <a:extLst>
              <a:ext uri="{FF2B5EF4-FFF2-40B4-BE49-F238E27FC236}">
                <a16:creationId xmlns:a16="http://schemas.microsoft.com/office/drawing/2014/main" id="{C52EFBDA-3196-4FC6-793A-E147652B9105}"/>
              </a:ext>
            </a:extLst>
          </p:cNvPr>
          <p:cNvGrpSpPr/>
          <p:nvPr/>
        </p:nvGrpSpPr>
        <p:grpSpPr>
          <a:xfrm rot="5400000">
            <a:off x="8709404" y="1450739"/>
            <a:ext cx="2540567" cy="2579936"/>
            <a:chOff x="1231899" y="2762981"/>
            <a:chExt cx="4125914" cy="1988733"/>
          </a:xfrm>
        </p:grpSpPr>
        <p:sp>
          <p:nvSpPr>
            <p:cNvPr id="14" name="Rectangle: Rounded Corners 13">
              <a:extLst>
                <a:ext uri="{FF2B5EF4-FFF2-40B4-BE49-F238E27FC236}">
                  <a16:creationId xmlns:a16="http://schemas.microsoft.com/office/drawing/2014/main" id="{D184B621-BE88-61CE-DC3B-FFEF15550853}"/>
                </a:ext>
              </a:extLst>
            </p:cNvPr>
            <p:cNvSpPr/>
            <p:nvPr/>
          </p:nvSpPr>
          <p:spPr>
            <a:xfrm>
              <a:off x="1265142" y="2762981"/>
              <a:ext cx="4092671" cy="1988733"/>
            </a:xfrm>
            <a:prstGeom prst="roundRect">
              <a:avLst>
                <a:gd name="adj" fmla="val 3975"/>
              </a:avLst>
            </a:prstGeom>
            <a:solidFill>
              <a:srgbClr val="FFFFFF"/>
            </a:solidFill>
            <a:ln w="19050" cap="flat" cmpd="sng" algn="ctr">
              <a:solidFill>
                <a:srgbClr val="FFFFFF">
                  <a:lumMod val="85000"/>
                </a:srgbClr>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4FC6EEB2-9A4C-424B-CE85-B75CF749DDCB}"/>
                </a:ext>
              </a:extLst>
            </p:cNvPr>
            <p:cNvSpPr/>
            <p:nvPr/>
          </p:nvSpPr>
          <p:spPr>
            <a:xfrm>
              <a:off x="1231899" y="2874626"/>
              <a:ext cx="68263" cy="1765443"/>
            </a:xfrm>
            <a:prstGeom prst="rect">
              <a:avLst/>
            </a:prstGeom>
            <a:solidFill>
              <a:srgbClr val="FFFFFF"/>
            </a:solidFill>
            <a:ln w="1905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grpSp>
      <p:sp>
        <p:nvSpPr>
          <p:cNvPr id="16" name="Rectangle 15">
            <a:extLst>
              <a:ext uri="{FF2B5EF4-FFF2-40B4-BE49-F238E27FC236}">
                <a16:creationId xmlns:a16="http://schemas.microsoft.com/office/drawing/2014/main" id="{690E096C-0AD8-8D9D-DB24-5301A1B43589}"/>
              </a:ext>
            </a:extLst>
          </p:cNvPr>
          <p:cNvSpPr/>
          <p:nvPr/>
        </p:nvSpPr>
        <p:spPr>
          <a:xfrm>
            <a:off x="9229168" y="2167140"/>
            <a:ext cx="646331" cy="369332"/>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a:ln>
                  <a:noFill/>
                </a:ln>
                <a:solidFill>
                  <a:srgbClr val="005587"/>
                </a:solidFill>
                <a:effectLst/>
                <a:uLnTx/>
                <a:uFillTx/>
                <a:latin typeface="Arial" panose="020B0604020202020204"/>
                <a:ea typeface="+mn-ea"/>
                <a:cs typeface="+mn-cs"/>
              </a:rPr>
              <a:t>−</a:t>
            </a:r>
            <a:r>
              <a:rPr kumimoji="0" lang="en-US" sz="3200" b="1" i="0" u="none" strike="noStrike" kern="1200" cap="none" spc="0" normalizeH="0" baseline="0" noProof="0" dirty="0">
                <a:ln>
                  <a:noFill/>
                </a:ln>
                <a:solidFill>
                  <a:srgbClr val="005587"/>
                </a:solidFill>
                <a:effectLst/>
                <a:uLnTx/>
                <a:uFillTx/>
                <a:latin typeface="Arial" panose="020B0604020202020204"/>
                <a:ea typeface="+mn-ea"/>
                <a:cs typeface="+mn-cs"/>
              </a:rPr>
              <a:t>50</a:t>
            </a:r>
            <a:r>
              <a:rPr kumimoji="0" lang="ru-RU" sz="2000" b="1" i="0" u="none" strike="noStrike" kern="1200" cap="none" spc="0" normalizeH="0" baseline="0" noProof="0" dirty="0">
                <a:ln>
                  <a:noFill/>
                </a:ln>
                <a:solidFill>
                  <a:srgbClr val="005587"/>
                </a:solidFill>
                <a:effectLst/>
                <a:uLnTx/>
                <a:uFillTx/>
                <a:latin typeface="Arial" panose="020B0604020202020204"/>
                <a:ea typeface="+mn-ea"/>
                <a:cs typeface="+mn-cs"/>
              </a:rPr>
              <a:t>,</a:t>
            </a:r>
            <a:r>
              <a:rPr kumimoji="0" lang="ru-RU" sz="3200" b="1" i="0" u="none" strike="noStrike" kern="1200" cap="none" spc="0" normalizeH="0" baseline="0" noProof="0" dirty="0">
                <a:ln>
                  <a:noFill/>
                </a:ln>
                <a:solidFill>
                  <a:srgbClr val="005587"/>
                </a:solidFill>
                <a:effectLst/>
                <a:uLnTx/>
                <a:uFillTx/>
                <a:latin typeface="Arial" panose="020B0604020202020204"/>
                <a:ea typeface="+mn-ea"/>
                <a:cs typeface="+mn-cs"/>
              </a:rPr>
              <a:t>5%</a:t>
            </a:r>
            <a:endParaRPr kumimoji="0" lang="en-US" sz="3200" b="1" i="0" u="none" strike="noStrike" kern="1200" cap="none" spc="0" normalizeH="0" baseline="0" noProof="0" dirty="0">
              <a:ln>
                <a:noFill/>
              </a:ln>
              <a:solidFill>
                <a:srgbClr val="005587"/>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C8C4D75-5746-23A3-484A-CE761D46C2DD}"/>
              </a:ext>
            </a:extLst>
          </p:cNvPr>
          <p:cNvSpPr/>
          <p:nvPr/>
        </p:nvSpPr>
        <p:spPr>
          <a:xfrm>
            <a:off x="8979110" y="2886235"/>
            <a:ext cx="2001156" cy="1200329"/>
          </a:xfrm>
          <a:prstGeom prst="rect">
            <a:avLst/>
          </a:prstGeom>
        </p:spPr>
        <p:txBody>
          <a:bodyPr wrap="square">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ru-RU" sz="1200" b="1" i="0" u="none" strike="noStrike" kern="1200" cap="none" spc="0" normalizeH="0" baseline="0" noProof="0" dirty="0">
                <a:ln>
                  <a:noFill/>
                </a:ln>
                <a:solidFill>
                  <a:srgbClr val="005587"/>
                </a:solidFill>
                <a:effectLst/>
                <a:uLnTx/>
                <a:uFillTx/>
                <a:latin typeface="Arial" panose="020B0604020202020204"/>
                <a:ea typeface="+mn-ea"/>
                <a:cs typeface="+mn-cs"/>
              </a:rPr>
              <a:t>средняя длительность </a:t>
            </a:r>
            <a:r>
              <a:rPr kumimoji="0" lang="en-US" sz="1200" b="1" i="0" u="none" strike="noStrike" kern="1200" cap="none" spc="0" normalizeH="0" baseline="0" noProof="0" dirty="0">
                <a:ln>
                  <a:noFill/>
                </a:ln>
                <a:solidFill>
                  <a:srgbClr val="005587"/>
                </a:solidFill>
                <a:effectLst/>
                <a:uLnTx/>
                <a:uFillTx/>
                <a:latin typeface="Arial" panose="020B0604020202020204"/>
                <a:ea typeface="+mn-ea"/>
                <a:cs typeface="+mn-cs"/>
              </a:rPr>
              <a:t>ST-</a:t>
            </a:r>
            <a:r>
              <a:rPr kumimoji="0" lang="ru-RU" sz="1200" b="1" i="0" u="none" strike="noStrike" kern="1200" cap="none" spc="0" normalizeH="0" baseline="0" noProof="0" dirty="0">
                <a:ln>
                  <a:noFill/>
                </a:ln>
                <a:solidFill>
                  <a:srgbClr val="005587"/>
                </a:solidFill>
                <a:effectLst/>
                <a:uLnTx/>
                <a:uFillTx/>
                <a:latin typeface="Arial" panose="020B0604020202020204"/>
                <a:ea typeface="+mn-ea"/>
                <a:cs typeface="+mn-cs"/>
              </a:rPr>
              <a:t>депрессии</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ru-RU" sz="1200" b="0" i="0" u="none" strike="noStrike" kern="1200" cap="none" spc="0" normalizeH="0" baseline="0" noProof="0" dirty="0">
                <a:ln>
                  <a:noFill/>
                </a:ln>
                <a:solidFill>
                  <a:srgbClr val="2B3A42"/>
                </a:solidFill>
                <a:effectLst/>
                <a:uLnTx/>
                <a:uFillTx/>
                <a:latin typeface="Arial" panose="020B0604020202020204"/>
                <a:ea typeface="+mn-ea"/>
                <a:cs typeface="+mn-cs"/>
              </a:rPr>
              <a:t>с 36,9±11,5 до 12,3±6,7 мин (p=0,034)</a:t>
            </a:r>
            <a:endParaRPr kumimoji="0" lang="en-US" sz="1200" b="0" i="0" u="none" strike="noStrike" kern="1200" cap="none" spc="0" normalizeH="0" baseline="0" noProof="0" dirty="0">
              <a:ln>
                <a:noFill/>
              </a:ln>
              <a:solidFill>
                <a:srgbClr val="2B3A42"/>
              </a:solidFill>
              <a:effectLst/>
              <a:uLnTx/>
              <a:uFillTx/>
              <a:latin typeface="Arial" panose="020B060402020202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A60B7110-0523-B1EC-9EAD-E56CD72F0E8F}"/>
                  </a:ext>
                </a:extLst>
              </p14:cNvPr>
              <p14:cNvContentPartPr/>
              <p14:nvPr/>
            </p14:nvContentPartPr>
            <p14:xfrm>
              <a:off x="8134172" y="4774256"/>
              <a:ext cx="360" cy="360"/>
            </p14:xfrm>
          </p:contentPart>
        </mc:Choice>
        <mc:Fallback xmlns="">
          <p:pic>
            <p:nvPicPr>
              <p:cNvPr id="18" name="Ink 17">
                <a:extLst>
                  <a:ext uri="{FF2B5EF4-FFF2-40B4-BE49-F238E27FC236}">
                    <a16:creationId xmlns:a16="http://schemas.microsoft.com/office/drawing/2014/main" id="{A60B7110-0523-B1EC-9EAD-E56CD72F0E8F}"/>
                  </a:ext>
                </a:extLst>
              </p:cNvPr>
              <p:cNvPicPr/>
              <p:nvPr/>
            </p:nvPicPr>
            <p:blipFill>
              <a:blip r:embed="rId4"/>
              <a:stretch>
                <a:fillRect/>
              </a:stretch>
            </p:blipFill>
            <p:spPr>
              <a:xfrm>
                <a:off x="8125172" y="4765256"/>
                <a:ext cx="18000" cy="18000"/>
              </a:xfrm>
              <a:prstGeom prst="rect">
                <a:avLst/>
              </a:prstGeom>
            </p:spPr>
          </p:pic>
        </mc:Fallback>
      </mc:AlternateContent>
      <p:sp>
        <p:nvSpPr>
          <p:cNvPr id="19" name="TextBox 18">
            <a:extLst>
              <a:ext uri="{FF2B5EF4-FFF2-40B4-BE49-F238E27FC236}">
                <a16:creationId xmlns:a16="http://schemas.microsoft.com/office/drawing/2014/main" id="{FD60EF16-5F47-BDCC-BDE4-8DBC5B4EA95D}"/>
              </a:ext>
            </a:extLst>
          </p:cNvPr>
          <p:cNvSpPr txBox="1"/>
          <p:nvPr/>
        </p:nvSpPr>
        <p:spPr>
          <a:xfrm>
            <a:off x="5783974" y="4118196"/>
            <a:ext cx="153107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65374"/>
                </a:solidFill>
                <a:effectLst/>
                <a:uLnTx/>
                <a:uFillTx/>
                <a:latin typeface="Verdana"/>
                <a:ea typeface="+mn-ea"/>
                <a:cs typeface="+mn-cs"/>
              </a:rPr>
              <a:t>90%</a:t>
            </a:r>
            <a:r>
              <a:rPr kumimoji="0" lang="ru-RU" sz="1800" b="0" i="0" u="none" strike="noStrike" kern="1200" cap="none" spc="0" normalizeH="0" baseline="0" noProof="0" dirty="0">
                <a:ln>
                  <a:noFill/>
                </a:ln>
                <a:solidFill>
                  <a:srgbClr val="265374"/>
                </a:solidFill>
                <a:effectLst/>
                <a:uLnTx/>
                <a:uFillTx/>
                <a:latin typeface="Verdana"/>
                <a:ea typeface="+mn-ea"/>
                <a:cs typeface="+mn-cs"/>
              </a:rPr>
              <a:t> </a:t>
            </a: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пациентов</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достигнуто целевое САД</a:t>
            </a:r>
          </a:p>
        </p:txBody>
      </p:sp>
      <p:sp>
        <p:nvSpPr>
          <p:cNvPr id="20" name="TextBox 19">
            <a:extLst>
              <a:ext uri="{FF2B5EF4-FFF2-40B4-BE49-F238E27FC236}">
                <a16:creationId xmlns:a16="http://schemas.microsoft.com/office/drawing/2014/main" id="{99B6B41F-97A8-1A22-8E39-DA0DA1F858B4}"/>
              </a:ext>
            </a:extLst>
          </p:cNvPr>
          <p:cNvSpPr txBox="1"/>
          <p:nvPr/>
        </p:nvSpPr>
        <p:spPr>
          <a:xfrm>
            <a:off x="7698094" y="4118196"/>
            <a:ext cx="153107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65374"/>
                </a:solidFill>
                <a:effectLst/>
                <a:uLnTx/>
                <a:uFillTx/>
                <a:latin typeface="Verdana"/>
                <a:ea typeface="+mn-ea"/>
                <a:cs typeface="+mn-cs"/>
              </a:rPr>
              <a:t>97%</a:t>
            </a:r>
            <a:r>
              <a:rPr kumimoji="0" lang="ru-RU" sz="1800" b="0" i="0" u="none" strike="noStrike" kern="1200" cap="none" spc="0" normalizeH="0" baseline="0" noProof="0" dirty="0">
                <a:ln>
                  <a:noFill/>
                </a:ln>
                <a:solidFill>
                  <a:srgbClr val="265374"/>
                </a:solidFill>
                <a:effectLst/>
                <a:uLnTx/>
                <a:uFillTx/>
                <a:latin typeface="Verdana"/>
                <a:ea typeface="+mn-ea"/>
                <a:cs typeface="+mn-cs"/>
              </a:rPr>
              <a:t> </a:t>
            </a: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пациентов</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достигнуто целевое ДАД</a:t>
            </a:r>
          </a:p>
        </p:txBody>
      </p:sp>
      <p:sp>
        <p:nvSpPr>
          <p:cNvPr id="21" name="TextBox 20">
            <a:extLst>
              <a:ext uri="{FF2B5EF4-FFF2-40B4-BE49-F238E27FC236}">
                <a16:creationId xmlns:a16="http://schemas.microsoft.com/office/drawing/2014/main" id="{42B835C6-E959-FBF7-812F-1E69C5BF7B1D}"/>
              </a:ext>
            </a:extLst>
          </p:cNvPr>
          <p:cNvSpPr txBox="1"/>
          <p:nvPr/>
        </p:nvSpPr>
        <p:spPr>
          <a:xfrm>
            <a:off x="9652868" y="4118196"/>
            <a:ext cx="153107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265374"/>
                </a:solidFill>
                <a:effectLst/>
                <a:uLnTx/>
                <a:uFillTx/>
                <a:latin typeface="Verdana"/>
                <a:ea typeface="+mn-ea"/>
                <a:cs typeface="+mn-cs"/>
              </a:rPr>
              <a:t>43</a:t>
            </a:r>
            <a:r>
              <a:rPr kumimoji="0" lang="en-US" sz="1800" b="1" i="0" u="none" strike="noStrike" kern="1200" cap="none" spc="0" normalizeH="0" baseline="0" noProof="0" dirty="0">
                <a:ln>
                  <a:noFill/>
                </a:ln>
                <a:solidFill>
                  <a:srgbClr val="265374"/>
                </a:solidFill>
                <a:effectLst/>
                <a:uLnTx/>
                <a:uFillTx/>
                <a:latin typeface="Verdana"/>
                <a:ea typeface="+mn-ea"/>
                <a:cs typeface="+mn-cs"/>
              </a:rPr>
              <a:t>%</a:t>
            </a:r>
            <a:r>
              <a:rPr kumimoji="0" lang="ru-RU" sz="1800" b="0" i="0" u="none" strike="noStrike" kern="1200" cap="none" spc="0" normalizeH="0" baseline="0" noProof="0" dirty="0">
                <a:ln>
                  <a:noFill/>
                </a:ln>
                <a:solidFill>
                  <a:srgbClr val="265374"/>
                </a:solidFill>
                <a:effectLst/>
                <a:uLnTx/>
                <a:uFillTx/>
                <a:latin typeface="Verdana"/>
                <a:ea typeface="+mn-ea"/>
                <a:cs typeface="+mn-cs"/>
              </a:rPr>
              <a:t> </a:t>
            </a: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пациентов</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Arial" panose="020B0604020202020204" pitchFamily="34" charset="0"/>
                <a:ea typeface="+mn-ea"/>
                <a:cs typeface="Arial" panose="020B0604020202020204" pitchFamily="34" charset="0"/>
              </a:rPr>
              <a:t>достигнута ЧСС 55-60</a:t>
            </a:r>
          </a:p>
        </p:txBody>
      </p:sp>
      <p:sp>
        <p:nvSpPr>
          <p:cNvPr id="22" name="TextBox 21">
            <a:extLst>
              <a:ext uri="{FF2B5EF4-FFF2-40B4-BE49-F238E27FC236}">
                <a16:creationId xmlns:a16="http://schemas.microsoft.com/office/drawing/2014/main" id="{207125EE-53CE-4C5B-77C2-6BBE74E9C41C}"/>
              </a:ext>
            </a:extLst>
          </p:cNvPr>
          <p:cNvSpPr txBox="1"/>
          <p:nvPr/>
        </p:nvSpPr>
        <p:spPr>
          <a:xfrm>
            <a:off x="6018611" y="5144649"/>
            <a:ext cx="5251045" cy="6001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1" i="0" u="sng" strike="noStrike" kern="1200" cap="none" spc="0" normalizeH="0" baseline="0" noProof="0" dirty="0">
                <a:ln>
                  <a:noFill/>
                </a:ln>
                <a:solidFill>
                  <a:srgbClr val="265374"/>
                </a:solidFill>
                <a:effectLst/>
                <a:uLnTx/>
                <a:uFillTx/>
                <a:latin typeface="Verdana"/>
                <a:ea typeface="+mn-ea"/>
                <a:cs typeface="+mn-cs"/>
              </a:rPr>
              <a:t>Авторы исследования: для достижения целевой ЧСС у пациентов АГ + ИБС следует рассматривать дозу </a:t>
            </a:r>
            <a:r>
              <a:rPr kumimoji="0" lang="ru-RU" sz="1100" b="1" i="0" u="sng" strike="noStrike" kern="1200" cap="none" spc="0" normalizeH="0" baseline="0" noProof="0" dirty="0" err="1">
                <a:ln>
                  <a:noFill/>
                </a:ln>
                <a:solidFill>
                  <a:srgbClr val="265374"/>
                </a:solidFill>
                <a:effectLst/>
                <a:uLnTx/>
                <a:uFillTx/>
                <a:latin typeface="Verdana"/>
                <a:ea typeface="+mn-ea"/>
                <a:cs typeface="+mn-cs"/>
              </a:rPr>
              <a:t>бисопролола</a:t>
            </a:r>
            <a:r>
              <a:rPr kumimoji="0" lang="ru-RU" sz="1100" b="1" i="0" u="sng" strike="noStrike" kern="1200" cap="none" spc="0" normalizeH="0" baseline="0" noProof="0" dirty="0">
                <a:ln>
                  <a:noFill/>
                </a:ln>
                <a:solidFill>
                  <a:srgbClr val="265374"/>
                </a:solidFill>
                <a:effectLst/>
                <a:uLnTx/>
                <a:uFillTx/>
                <a:latin typeface="Verdana"/>
                <a:ea typeface="+mn-ea"/>
                <a:cs typeface="+mn-cs"/>
              </a:rPr>
              <a:t> 10 мг</a:t>
            </a:r>
          </a:p>
        </p:txBody>
      </p:sp>
      <p:cxnSp>
        <p:nvCxnSpPr>
          <p:cNvPr id="23" name="Straight Connector 22">
            <a:extLst>
              <a:ext uri="{FF2B5EF4-FFF2-40B4-BE49-F238E27FC236}">
                <a16:creationId xmlns:a16="http://schemas.microsoft.com/office/drawing/2014/main" id="{71F09E30-878F-770E-5A9A-F999FEB15A63}"/>
              </a:ext>
            </a:extLst>
          </p:cNvPr>
          <p:cNvCxnSpPr/>
          <p:nvPr/>
        </p:nvCxnSpPr>
        <p:spPr>
          <a:xfrm>
            <a:off x="7535374" y="4208412"/>
            <a:ext cx="0" cy="836090"/>
          </a:xfrm>
          <a:prstGeom prst="line">
            <a:avLst/>
          </a:prstGeom>
          <a:noFill/>
          <a:ln w="12700" cap="flat" cmpd="sng" algn="ctr">
            <a:solidFill>
              <a:srgbClr val="FFFFFF">
                <a:lumMod val="75000"/>
              </a:srgbClr>
            </a:solidFill>
            <a:prstDash val="solid"/>
            <a:miter lim="800000"/>
            <a:tailEnd type="none"/>
          </a:ln>
          <a:effectLst/>
        </p:spPr>
      </p:cxnSp>
      <p:cxnSp>
        <p:nvCxnSpPr>
          <p:cNvPr id="24" name="Straight Connector 23">
            <a:extLst>
              <a:ext uri="{FF2B5EF4-FFF2-40B4-BE49-F238E27FC236}">
                <a16:creationId xmlns:a16="http://schemas.microsoft.com/office/drawing/2014/main" id="{10D9AF0E-D339-7AD8-FA42-8F622A23E442}"/>
              </a:ext>
            </a:extLst>
          </p:cNvPr>
          <p:cNvCxnSpPr/>
          <p:nvPr/>
        </p:nvCxnSpPr>
        <p:spPr>
          <a:xfrm>
            <a:off x="9466697" y="4208412"/>
            <a:ext cx="0" cy="836090"/>
          </a:xfrm>
          <a:prstGeom prst="line">
            <a:avLst/>
          </a:prstGeom>
          <a:noFill/>
          <a:ln w="12700" cap="flat" cmpd="sng" algn="ctr">
            <a:solidFill>
              <a:srgbClr val="FFFFFF">
                <a:lumMod val="75000"/>
              </a:srgbClr>
            </a:solidFill>
            <a:prstDash val="solid"/>
            <a:miter lim="800000"/>
            <a:tailEnd type="none"/>
          </a:ln>
          <a:effectLst/>
        </p:spPr>
      </p:cxnSp>
      <p:sp>
        <p:nvSpPr>
          <p:cNvPr id="3" name="TextBox 2">
            <a:extLst>
              <a:ext uri="{FF2B5EF4-FFF2-40B4-BE49-F238E27FC236}">
                <a16:creationId xmlns:a16="http://schemas.microsoft.com/office/drawing/2014/main" id="{0E0D4B7B-D31C-46D5-096F-4AA2775B14EC}"/>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2797176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Прямоугольник 3"/>
          <p:cNvSpPr/>
          <p:nvPr/>
        </p:nvSpPr>
        <p:spPr>
          <a:xfrm>
            <a:off x="568325" y="1872056"/>
            <a:ext cx="11055350" cy="3485570"/>
          </a:xfrm>
          <a:prstGeom prst="rect">
            <a:avLst/>
          </a:prstGeom>
        </p:spPr>
        <p:txBody>
          <a:bodyPr wrap="square">
            <a:noAutofit/>
          </a:bodyPr>
          <a:lstStyle/>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Открытое,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проспективное</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рандомизированное. </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Пациенты с неконтролируемой </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артериальной гипертонией (</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АГ), стабильной ишемической болезнью сердца (ИБС) и метаболическим синдромом (МС) рандомизированы («конверты») в 2 группы.. </a:t>
            </a:r>
          </a:p>
          <a:p>
            <a:pPr marL="550863" marR="0" lvl="0" indent="-188913" algn="l" defTabSz="914400" rtl="0" eaLnBrk="1" fontAlgn="auto" latinLnBrk="0" hangingPunct="1">
              <a:lnSpc>
                <a:spcPct val="110000"/>
              </a:lnSpc>
              <a:spcBef>
                <a:spcPts val="1000"/>
              </a:spcBef>
              <a:spcAft>
                <a:spcPts val="0"/>
              </a:spcAft>
              <a:buClrTx/>
              <a:buSzTx/>
              <a:buFont typeface="Wingdings" panose="05000000000000000000" pitchFamily="2" charset="2"/>
              <a:buChar char="§"/>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1 (n=30):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рамиприл</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10 мг/</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сут</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 фиксированная комбинация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/амлодипин </a:t>
            </a:r>
            <a:r>
              <a:rPr kumimoji="0" lang="ru-RU" sz="15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5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Конкор</a:t>
            </a:r>
            <a:r>
              <a:rPr kumimoji="0" lang="ru-RU" sz="15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®-АМ)</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в различных дозах.</a:t>
            </a:r>
          </a:p>
          <a:p>
            <a:pPr marL="550863" marR="0" lvl="0" indent="-188913" algn="l" defTabSz="914400" rtl="0" eaLnBrk="1" fontAlgn="auto" latinLnBrk="0" hangingPunct="1">
              <a:lnSpc>
                <a:spcPct val="110000"/>
              </a:lnSpc>
              <a:spcBef>
                <a:spcPts val="1000"/>
              </a:spcBef>
              <a:spcAft>
                <a:spcPts val="0"/>
              </a:spcAft>
              <a:buClrTx/>
              <a:buSzTx/>
              <a:buFont typeface="Wingdings" panose="05000000000000000000" pitchFamily="2" charset="2"/>
              <a:buChar char="§"/>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Группа 2, контроль (n=31): терапия на усмотрение врача, обязательно включавшая свободную комбинацию ИАПФ + генерический β-АБ + ДГП-БКК.</a:t>
            </a:r>
          </a:p>
          <a:p>
            <a:pPr marL="342900" marR="0" lvl="0" indent="-342900" algn="l" defTabSz="914400" rtl="0" eaLnBrk="1" fontAlgn="auto" latinLnBrk="0" hangingPunct="1">
              <a:lnSpc>
                <a:spcPct val="110000"/>
              </a:lnSpc>
              <a:spcBef>
                <a:spcPts val="1000"/>
              </a:spcBef>
              <a:spcAft>
                <a:spcPts val="0"/>
              </a:spcAft>
              <a:buClrTx/>
              <a:buSzTx/>
              <a:buFont typeface="+mj-lt"/>
              <a:buAutoNum type="arabicPeriod" startAt="3"/>
              <a:tabLst/>
              <a:defRPr/>
            </a:pP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Оценка (исходно и через 12 </a:t>
            </a:r>
            <a:r>
              <a:rPr kumimoji="0" lang="ru-RU" sz="15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нед</a:t>
            </a:r>
            <a:r>
              <a:rPr kumimoji="0" lang="ru-RU" sz="15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СМАД с показателями суточного профиля АД, жёсткости сосудистой стенки и центрального аортального давления; число приступов стенокардии в неделю и потребность в короткодействующих нитратах</a:t>
            </a:r>
          </a:p>
        </p:txBody>
      </p:sp>
      <p:sp>
        <p:nvSpPr>
          <p:cNvPr id="10" name="Заголовок 1">
            <a:extLst>
              <a:ext uri="{FF2B5EF4-FFF2-40B4-BE49-F238E27FC236}">
                <a16:creationId xmlns:a16="http://schemas.microsoft.com/office/drawing/2014/main" id="{7BB26A8E-3001-44D0-B6F3-0BCF6341DE5D}"/>
              </a:ext>
            </a:extLst>
          </p:cNvPr>
          <p:cNvSpPr txBox="1">
            <a:spLocks/>
          </p:cNvSpPr>
          <p:nvPr/>
        </p:nvSpPr>
        <p:spPr>
          <a:xfrm>
            <a:off x="1392136" y="97970"/>
            <a:ext cx="9376892" cy="102865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2000" b="0"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9" name="Номер слайда 8">
            <a:extLst>
              <a:ext uri="{FF2B5EF4-FFF2-40B4-BE49-F238E27FC236}">
                <a16:creationId xmlns:a16="http://schemas.microsoft.com/office/drawing/2014/main" id="{1863A7E5-A65C-8405-A3BF-E122D524FE4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3" name="Объект 12">
            <a:extLst>
              <a:ext uri="{FF2B5EF4-FFF2-40B4-BE49-F238E27FC236}">
                <a16:creationId xmlns:a16="http://schemas.microsoft.com/office/drawing/2014/main" id="{EA108621-876A-DAE2-F835-E2B115734623}"/>
              </a:ext>
            </a:extLst>
          </p:cNvPr>
          <p:cNvSpPr>
            <a:spLocks noGrp="1"/>
          </p:cNvSpPr>
          <p:nvPr>
            <p:ph idx="4294967295"/>
          </p:nvPr>
        </p:nvSpPr>
        <p:spPr>
          <a:xfrm>
            <a:off x="668034" y="6339880"/>
            <a:ext cx="7151688" cy="355201"/>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8" name="Прямоугольник 7">
            <a:extLst>
              <a:ext uri="{FF2B5EF4-FFF2-40B4-BE49-F238E27FC236}">
                <a16:creationId xmlns:a16="http://schemas.microsoft.com/office/drawing/2014/main" id="{C5C3284D-3314-CE44-BCE6-94EF96397197}"/>
              </a:ext>
            </a:extLst>
          </p:cNvPr>
          <p:cNvSpPr/>
          <p:nvPr/>
        </p:nvSpPr>
        <p:spPr>
          <a:xfrm>
            <a:off x="679450" y="1379497"/>
            <a:ext cx="10888663"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p>
        </p:txBody>
      </p:sp>
      <p:sp>
        <p:nvSpPr>
          <p:cNvPr id="5" name="Заголовок 1">
            <a:extLst>
              <a:ext uri="{FF2B5EF4-FFF2-40B4-BE49-F238E27FC236}">
                <a16:creationId xmlns:a16="http://schemas.microsoft.com/office/drawing/2014/main" id="{17B61858-3C5E-3E89-716B-75FF4CB1FD39}"/>
              </a:ext>
            </a:extLst>
          </p:cNvPr>
          <p:cNvSpPr txBox="1">
            <a:spLocks/>
          </p:cNvSpPr>
          <p:nvPr/>
        </p:nvSpPr>
        <p:spPr>
          <a:xfrm>
            <a:off x="668034" y="463834"/>
            <a:ext cx="10042525" cy="78601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при АГ, ИБС и метаболическом синдроме: контроль АД и антиишемический эффект</a:t>
            </a:r>
            <a:endParaRPr kumimoji="0" lang="ru-RU" sz="20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2" name="TextBox 1">
            <a:extLst>
              <a:ext uri="{FF2B5EF4-FFF2-40B4-BE49-F238E27FC236}">
                <a16:creationId xmlns:a16="http://schemas.microsoft.com/office/drawing/2014/main" id="{5053B216-D43F-4C8A-4C27-9C4072953813}"/>
              </a:ext>
            </a:extLst>
          </p:cNvPr>
          <p:cNvSpPr txBox="1"/>
          <p:nvPr/>
        </p:nvSpPr>
        <p:spPr>
          <a:xfrm>
            <a:off x="1822287" y="166693"/>
            <a:ext cx="819358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1981909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747B2048-8F6F-D665-3BAE-FDDBE103755D}"/>
              </a:ext>
            </a:extLst>
          </p:cNvPr>
          <p:cNvSpPr>
            <a:spLocks noGrp="1"/>
          </p:cNvSpPr>
          <p:nvPr>
            <p:ph idx="4294967295"/>
          </p:nvPr>
        </p:nvSpPr>
        <p:spPr>
          <a:xfrm>
            <a:off x="924972" y="6170320"/>
            <a:ext cx="6929072"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 </a:t>
            </a:r>
            <a:r>
              <a:rPr lang="ru-RU" sz="800" dirty="0">
                <a:solidFill>
                  <a:srgbClr val="323F48"/>
                </a:solidFill>
                <a:latin typeface="Calibri" panose="020F0502020204030204" pitchFamily="34" charset="0"/>
                <a:cs typeface="Calibri" panose="020F0502020204030204" pitchFamily="34" charset="0"/>
              </a:rPr>
              <a:t>– артериальное давление,</a:t>
            </a:r>
            <a:r>
              <a:rPr lang="ru-RU" sz="800" b="1" dirty="0">
                <a:solidFill>
                  <a:srgbClr val="323F48"/>
                </a:solidFill>
                <a:latin typeface="Calibri" panose="020F0502020204030204" pitchFamily="34" charset="0"/>
                <a:cs typeface="Calibri" panose="020F0502020204030204" pitchFamily="34" charset="0"/>
              </a:rPr>
              <a:t> СПАД</a:t>
            </a:r>
            <a:r>
              <a:rPr lang="ru-RU" sz="800" dirty="0">
                <a:solidFill>
                  <a:srgbClr val="323F48"/>
                </a:solidFill>
                <a:latin typeface="Calibri" panose="020F0502020204030204" pitchFamily="34" charset="0"/>
                <a:cs typeface="Calibri" panose="020F0502020204030204" pitchFamily="34" charset="0"/>
              </a:rPr>
              <a:t> – суточный профиль АД</a:t>
            </a:r>
            <a:endParaRPr lang="ru-RU" sz="800" b="1"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8" name="Номер слайда 7">
            <a:extLst>
              <a:ext uri="{FF2B5EF4-FFF2-40B4-BE49-F238E27FC236}">
                <a16:creationId xmlns:a16="http://schemas.microsoft.com/office/drawing/2014/main" id="{EF90CACC-5C66-F654-99C4-1E87046B53D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2" name="Прямоугольник 21">
            <a:extLst>
              <a:ext uri="{FF2B5EF4-FFF2-40B4-BE49-F238E27FC236}">
                <a16:creationId xmlns:a16="http://schemas.microsoft.com/office/drawing/2014/main" id="{06307C8B-1D7A-5A4C-A3B8-97A56973D726}"/>
              </a:ext>
            </a:extLst>
          </p:cNvPr>
          <p:cNvSpPr/>
          <p:nvPr/>
        </p:nvSpPr>
        <p:spPr>
          <a:xfrm>
            <a:off x="966545" y="1728797"/>
            <a:ext cx="5129455"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Число пациентов, достигших </a:t>
            </a:r>
            <a:b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целевых значений АД </a:t>
            </a:r>
            <a:endPar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через 1, 4 и 12 недель терапии, </a:t>
            </a:r>
            <a:r>
              <a:rPr kumimoji="0" lang="ru-RU" sz="12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 %</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endParaRPr kumimoji="0" lang="ru-RU" sz="1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 name="Заголовок 1">
            <a:extLst>
              <a:ext uri="{FF2B5EF4-FFF2-40B4-BE49-F238E27FC236}">
                <a16:creationId xmlns:a16="http://schemas.microsoft.com/office/drawing/2014/main" id="{297CE8AA-7D2C-3DA1-E10D-6D92393F7F8E}"/>
              </a:ext>
            </a:extLst>
          </p:cNvPr>
          <p:cNvSpPr txBox="1">
            <a:spLocks/>
          </p:cNvSpPr>
          <p:nvPr/>
        </p:nvSpPr>
        <p:spPr>
          <a:xfrm>
            <a:off x="924971" y="475994"/>
            <a:ext cx="10643142" cy="66713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у пациентов с АГ и ИБС: 96,7% достижение целевого АД и нормализация суточного профиля</a:t>
            </a:r>
            <a:endParaRPr kumimoji="0" lang="ru-RU" sz="1800" b="0" i="0" u="none" strike="noStrike" kern="1200" cap="none" spc="0" normalizeH="0" baseline="6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grpSp>
        <p:nvGrpSpPr>
          <p:cNvPr id="12" name="Группа 11">
            <a:extLst>
              <a:ext uri="{FF2B5EF4-FFF2-40B4-BE49-F238E27FC236}">
                <a16:creationId xmlns:a16="http://schemas.microsoft.com/office/drawing/2014/main" id="{A87B3E43-9FF8-6129-C2CE-04F9E713FD1E}"/>
              </a:ext>
            </a:extLst>
          </p:cNvPr>
          <p:cNvGrpSpPr/>
          <p:nvPr/>
        </p:nvGrpSpPr>
        <p:grpSpPr>
          <a:xfrm>
            <a:off x="811056" y="2619167"/>
            <a:ext cx="5238763" cy="2966698"/>
            <a:chOff x="805877" y="4082473"/>
            <a:chExt cx="5290123" cy="2559246"/>
          </a:xfrm>
        </p:grpSpPr>
        <p:graphicFrame>
          <p:nvGraphicFramePr>
            <p:cNvPr id="10" name="Chart 5">
              <a:extLst>
                <a:ext uri="{FF2B5EF4-FFF2-40B4-BE49-F238E27FC236}">
                  <a16:creationId xmlns:a16="http://schemas.microsoft.com/office/drawing/2014/main" id="{F45FA9B5-CBB3-FDF6-3513-8DCB38E6E51B}"/>
                </a:ext>
              </a:extLst>
            </p:cNvPr>
            <p:cNvGraphicFramePr/>
            <p:nvPr/>
          </p:nvGraphicFramePr>
          <p:xfrm>
            <a:off x="1077371" y="4082473"/>
            <a:ext cx="5018629" cy="255924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C8F4C21D-D7AA-BDD6-2852-CBEDC9A58ED1}"/>
                </a:ext>
              </a:extLst>
            </p:cNvPr>
            <p:cNvSpPr txBox="1"/>
            <p:nvPr/>
          </p:nvSpPr>
          <p:spPr>
            <a:xfrm rot="16200000">
              <a:off x="28089" y="4988155"/>
              <a:ext cx="1804212" cy="2486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Число пациентов, </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a:t>
              </a:r>
              <a:endPar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 name="Группа 1">
            <a:extLst>
              <a:ext uri="{FF2B5EF4-FFF2-40B4-BE49-F238E27FC236}">
                <a16:creationId xmlns:a16="http://schemas.microsoft.com/office/drawing/2014/main" id="{D58BE54C-677C-CB10-F72A-F3B172A7746E}"/>
              </a:ext>
            </a:extLst>
          </p:cNvPr>
          <p:cNvGrpSpPr/>
          <p:nvPr/>
        </p:nvGrpSpPr>
        <p:grpSpPr>
          <a:xfrm>
            <a:off x="6329350" y="1728797"/>
            <a:ext cx="5238763" cy="4306350"/>
            <a:chOff x="6329350" y="1728797"/>
            <a:chExt cx="5238763" cy="4306350"/>
          </a:xfrm>
        </p:grpSpPr>
        <p:sp>
          <p:nvSpPr>
            <p:cNvPr id="23" name="Прямоугольник 22">
              <a:extLst>
                <a:ext uri="{FF2B5EF4-FFF2-40B4-BE49-F238E27FC236}">
                  <a16:creationId xmlns:a16="http://schemas.microsoft.com/office/drawing/2014/main" id="{6FA8981F-5BF5-9C47-8A7C-C2CCA28650FE}"/>
                </a:ext>
              </a:extLst>
            </p:cNvPr>
            <p:cNvSpPr/>
            <p:nvPr/>
          </p:nvSpPr>
          <p:spPr>
            <a:xfrm>
              <a:off x="6663242" y="1728797"/>
              <a:ext cx="4845834" cy="83099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Число пациентов (n) с различными типами суточного профиля АД исходно и через 12 недель терапии, включавшей фиксированную комбинацию</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1</a:t>
              </a:r>
              <a:endParaRPr kumimoji="0" lang="ru-RU" sz="12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3" name="Прямоугольник 12">
              <a:extLst>
                <a:ext uri="{FF2B5EF4-FFF2-40B4-BE49-F238E27FC236}">
                  <a16:creationId xmlns:a16="http://schemas.microsoft.com/office/drawing/2014/main" id="{2FFAA442-F64F-8BC7-6D26-4C4563E992FF}"/>
                </a:ext>
              </a:extLst>
            </p:cNvPr>
            <p:cNvSpPr/>
            <p:nvPr/>
          </p:nvSpPr>
          <p:spPr>
            <a:xfrm>
              <a:off x="6510842" y="5665815"/>
              <a:ext cx="484583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P</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&lt;</a:t>
              </a:r>
              <a:r>
                <a:rPr kumimoji="0" lang="ru-RU" sz="9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rPr>
                <a:t>0,05 – достоверность различий числа пациентов с разничными типами СПАД через 12 недель терапии по сравнению с исходным</a:t>
              </a:r>
              <a:endParaRPr kumimoji="0" lang="ru-RU" sz="9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nvGrpSpPr>
            <p:cNvPr id="21" name="Группа 20">
              <a:extLst>
                <a:ext uri="{FF2B5EF4-FFF2-40B4-BE49-F238E27FC236}">
                  <a16:creationId xmlns:a16="http://schemas.microsoft.com/office/drawing/2014/main" id="{43A540DC-3738-7563-25CB-589E4FCF5B5A}"/>
                </a:ext>
              </a:extLst>
            </p:cNvPr>
            <p:cNvGrpSpPr/>
            <p:nvPr/>
          </p:nvGrpSpPr>
          <p:grpSpPr>
            <a:xfrm>
              <a:off x="6329350" y="2619167"/>
              <a:ext cx="5238763" cy="2966698"/>
              <a:chOff x="6311311" y="2706255"/>
              <a:chExt cx="5238763" cy="2966698"/>
            </a:xfrm>
          </p:grpSpPr>
          <p:grpSp>
            <p:nvGrpSpPr>
              <p:cNvPr id="14" name="Группа 13">
                <a:extLst>
                  <a:ext uri="{FF2B5EF4-FFF2-40B4-BE49-F238E27FC236}">
                    <a16:creationId xmlns:a16="http://schemas.microsoft.com/office/drawing/2014/main" id="{7421DB64-B1F5-42BD-18A4-4D9BE70572DB}"/>
                  </a:ext>
                </a:extLst>
              </p:cNvPr>
              <p:cNvGrpSpPr/>
              <p:nvPr/>
            </p:nvGrpSpPr>
            <p:grpSpPr>
              <a:xfrm>
                <a:off x="6311311" y="2706255"/>
                <a:ext cx="5238763" cy="2966698"/>
                <a:chOff x="805877" y="4082473"/>
                <a:chExt cx="5290123" cy="2559246"/>
              </a:xfrm>
            </p:grpSpPr>
            <p:graphicFrame>
              <p:nvGraphicFramePr>
                <p:cNvPr id="15" name="Chart 5">
                  <a:extLst>
                    <a:ext uri="{FF2B5EF4-FFF2-40B4-BE49-F238E27FC236}">
                      <a16:creationId xmlns:a16="http://schemas.microsoft.com/office/drawing/2014/main" id="{E3841A92-78FD-ADA3-7A57-DB0D160087AA}"/>
                    </a:ext>
                  </a:extLst>
                </p:cNvPr>
                <p:cNvGraphicFramePr/>
                <p:nvPr/>
              </p:nvGraphicFramePr>
              <p:xfrm>
                <a:off x="1077371" y="4082473"/>
                <a:ext cx="5018629" cy="255924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E0C17E5E-8471-F73D-D09D-02A2B96A1A92}"/>
                    </a:ext>
                  </a:extLst>
                </p:cNvPr>
                <p:cNvSpPr txBox="1"/>
                <p:nvPr/>
              </p:nvSpPr>
              <p:spPr>
                <a:xfrm rot="16200000">
                  <a:off x="28089" y="4988155"/>
                  <a:ext cx="1804212" cy="2486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Число пациентов, </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n</a:t>
                  </a:r>
                  <a:endPar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8" name="TextBox 17">
                <a:extLst>
                  <a:ext uri="{FF2B5EF4-FFF2-40B4-BE49-F238E27FC236}">
                    <a16:creationId xmlns:a16="http://schemas.microsoft.com/office/drawing/2014/main" id="{3B9D81EB-EE23-5A94-6345-56E6CB6325FB}"/>
                  </a:ext>
                </a:extLst>
              </p:cNvPr>
              <p:cNvSpPr txBox="1"/>
              <p:nvPr/>
            </p:nvSpPr>
            <p:spPr>
              <a:xfrm>
                <a:off x="8827541" y="4595647"/>
                <a:ext cx="33201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0" name="TextBox 19">
                <a:extLst>
                  <a:ext uri="{FF2B5EF4-FFF2-40B4-BE49-F238E27FC236}">
                    <a16:creationId xmlns:a16="http://schemas.microsoft.com/office/drawing/2014/main" id="{CC9097B6-A413-8C01-4B63-1DC4D49DBEAA}"/>
                  </a:ext>
                </a:extLst>
              </p:cNvPr>
              <p:cNvSpPr txBox="1"/>
              <p:nvPr/>
            </p:nvSpPr>
            <p:spPr>
              <a:xfrm>
                <a:off x="7704464" y="3025607"/>
                <a:ext cx="33201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sp>
        <p:nvSpPr>
          <p:cNvPr id="3" name="TextBox 2">
            <a:extLst>
              <a:ext uri="{FF2B5EF4-FFF2-40B4-BE49-F238E27FC236}">
                <a16:creationId xmlns:a16="http://schemas.microsoft.com/office/drawing/2014/main" id="{D1BCA2B3-9E9A-5A92-5500-DC761B85A0B1}"/>
              </a:ext>
            </a:extLst>
          </p:cNvPr>
          <p:cNvSpPr txBox="1"/>
          <p:nvPr/>
        </p:nvSpPr>
        <p:spPr>
          <a:xfrm>
            <a:off x="1822287" y="166693"/>
            <a:ext cx="838497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156651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7BB26A8E-3001-44D0-B6F3-0BCF6341DE5D}"/>
              </a:ext>
            </a:extLst>
          </p:cNvPr>
          <p:cNvSpPr txBox="1">
            <a:spLocks/>
          </p:cNvSpPr>
          <p:nvPr/>
        </p:nvSpPr>
        <p:spPr>
          <a:xfrm>
            <a:off x="2024645" y="267959"/>
            <a:ext cx="8891127" cy="9056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Calibri" panose="020F0502020204030204" pitchFamily="34" charset="0"/>
              <a:ea typeface="+mj-ea"/>
              <a:cs typeface="Calibri" panose="020F0502020204030204" pitchFamily="34" charset="0"/>
            </a:endParaRPr>
          </a:p>
        </p:txBody>
      </p:sp>
      <p:sp>
        <p:nvSpPr>
          <p:cNvPr id="15" name="Номер слайда 14">
            <a:extLst>
              <a:ext uri="{FF2B5EF4-FFF2-40B4-BE49-F238E27FC236}">
                <a16:creationId xmlns:a16="http://schemas.microsoft.com/office/drawing/2014/main" id="{6350CC2E-1573-C848-D5E0-DE1DC284B4B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23" name="Группа 22">
            <a:extLst>
              <a:ext uri="{FF2B5EF4-FFF2-40B4-BE49-F238E27FC236}">
                <a16:creationId xmlns:a16="http://schemas.microsoft.com/office/drawing/2014/main" id="{E45C981D-303D-19E3-6529-827C2EC49A59}"/>
              </a:ext>
            </a:extLst>
          </p:cNvPr>
          <p:cNvGrpSpPr/>
          <p:nvPr/>
        </p:nvGrpSpPr>
        <p:grpSpPr>
          <a:xfrm>
            <a:off x="924970" y="2205256"/>
            <a:ext cx="6733129" cy="3347070"/>
            <a:chOff x="2786609" y="1919886"/>
            <a:chExt cx="6565285" cy="3018229"/>
          </a:xfrm>
        </p:grpSpPr>
        <p:graphicFrame>
          <p:nvGraphicFramePr>
            <p:cNvPr id="21" name="Диаграмма 20">
              <a:extLst>
                <a:ext uri="{FF2B5EF4-FFF2-40B4-BE49-F238E27FC236}">
                  <a16:creationId xmlns:a16="http://schemas.microsoft.com/office/drawing/2014/main" id="{106AB2E7-BA99-0B2F-3552-912CD0B25A95}"/>
                </a:ext>
              </a:extLst>
            </p:cNvPr>
            <p:cNvGraphicFramePr/>
            <p:nvPr/>
          </p:nvGraphicFramePr>
          <p:xfrm>
            <a:off x="3117105" y="1919886"/>
            <a:ext cx="6234789" cy="3018229"/>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5">
              <a:extLst>
                <a:ext uri="{FF2B5EF4-FFF2-40B4-BE49-F238E27FC236}">
                  <a16:creationId xmlns:a16="http://schemas.microsoft.com/office/drawing/2014/main" id="{8492EC0E-CABD-7E95-1039-2EBF813F4215}"/>
                </a:ext>
              </a:extLst>
            </p:cNvPr>
            <p:cNvSpPr txBox="1"/>
            <p:nvPr/>
          </p:nvSpPr>
          <p:spPr>
            <a:xfrm rot="16200000">
              <a:off x="1824971" y="3007933"/>
              <a:ext cx="2200275"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мм. рт. ст. и уд.</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мин.</a:t>
              </a:r>
            </a:p>
          </p:txBody>
        </p:sp>
      </p:grpSp>
      <p:sp>
        <p:nvSpPr>
          <p:cNvPr id="24" name="Прямоугольник 23">
            <a:extLst>
              <a:ext uri="{FF2B5EF4-FFF2-40B4-BE49-F238E27FC236}">
                <a16:creationId xmlns:a16="http://schemas.microsoft.com/office/drawing/2014/main" id="{2665EA69-3538-2C94-FB08-1B93CF32ABCB}"/>
              </a:ext>
            </a:extLst>
          </p:cNvPr>
          <p:cNvSpPr/>
          <p:nvPr/>
        </p:nvSpPr>
        <p:spPr>
          <a:xfrm>
            <a:off x="924971" y="1318066"/>
            <a:ext cx="6618830" cy="783083"/>
          </a:xfrm>
          <a:prstGeom prst="rect">
            <a:avLst/>
          </a:prstGeom>
          <a:solidFill>
            <a:schemeClr val="bg1"/>
          </a:solidFill>
          <a:ln>
            <a:solidFill>
              <a:srgbClr val="EC736A"/>
            </a:solidFill>
          </a:ln>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Динамика АД и ЧСС в группах наблюдения </a:t>
            </a:r>
            <a:endParaRPr kumimoji="0" lang="en-US"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в течение 12 недель АГ</a:t>
            </a:r>
          </a:p>
        </p:txBody>
      </p:sp>
      <p:grpSp>
        <p:nvGrpSpPr>
          <p:cNvPr id="2" name="Группа 1">
            <a:extLst>
              <a:ext uri="{FF2B5EF4-FFF2-40B4-BE49-F238E27FC236}">
                <a16:creationId xmlns:a16="http://schemas.microsoft.com/office/drawing/2014/main" id="{834AB0CA-4087-1535-EF12-8ECD0729971E}"/>
              </a:ext>
            </a:extLst>
          </p:cNvPr>
          <p:cNvGrpSpPr/>
          <p:nvPr/>
        </p:nvGrpSpPr>
        <p:grpSpPr>
          <a:xfrm>
            <a:off x="7929020" y="1939713"/>
            <a:ext cx="4262981" cy="4086665"/>
            <a:chOff x="7929020" y="1939713"/>
            <a:chExt cx="4262981" cy="4086665"/>
          </a:xfrm>
        </p:grpSpPr>
        <p:pic>
          <p:nvPicPr>
            <p:cNvPr id="25" name="Рисунок 24">
              <a:extLst>
                <a:ext uri="{FF2B5EF4-FFF2-40B4-BE49-F238E27FC236}">
                  <a16:creationId xmlns:a16="http://schemas.microsoft.com/office/drawing/2014/main" id="{AF9F9F90-14F1-0F0D-D9D5-83147220FA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29020" y="1939713"/>
              <a:ext cx="4262981" cy="4086665"/>
            </a:xfrm>
            <a:prstGeom prst="rect">
              <a:avLst/>
            </a:prstGeom>
          </p:spPr>
        </p:pic>
        <p:sp>
          <p:nvSpPr>
            <p:cNvPr id="26" name="TextBox 25">
              <a:extLst>
                <a:ext uri="{FF2B5EF4-FFF2-40B4-BE49-F238E27FC236}">
                  <a16:creationId xmlns:a16="http://schemas.microsoft.com/office/drawing/2014/main" id="{A375481C-7CB2-6DAE-65E8-059E40D1B1B6}"/>
                </a:ext>
              </a:extLst>
            </p:cNvPr>
            <p:cNvSpPr txBox="1"/>
            <p:nvPr/>
          </p:nvSpPr>
          <p:spPr bwMode="gray">
            <a:xfrm>
              <a:off x="8454572" y="2205256"/>
              <a:ext cx="2742028" cy="359329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30000"/>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Достоверное улучшение всех параметров СМАД</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Достоверное уменьшение числа пациентов с типом </a:t>
              </a:r>
              <a:r>
                <a:rPr kumimoji="0" 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non-dipper</a:t>
              </a: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увеличение – с физиологическим снижением АД в ночные часы </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Улучшение показателей, характеризующих жесткость сосудистой стенки и центральное аортальное давление</a:t>
              </a:r>
            </a:p>
            <a:p>
              <a:pPr marL="180975" marR="0" lvl="0" indent="-180975" algn="l" defTabSz="914400" rtl="0" eaLnBrk="1" fontAlgn="auto" latinLnBrk="0" hangingPunct="1">
                <a:lnSpc>
                  <a:spcPct val="100000"/>
                </a:lnSpc>
                <a:spcBef>
                  <a:spcPts val="500"/>
                </a:spcBef>
                <a:spcAft>
                  <a:spcPts val="0"/>
                </a:spcAft>
                <a:buClrTx/>
                <a:buSzPct val="130000"/>
                <a:buFont typeface="Arial" panose="020B0604020202020204" pitchFamily="34" charset="0"/>
                <a:buChar char="•"/>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Полное отсутствие нежелательных явлений</a:t>
              </a:r>
            </a:p>
            <a:p>
              <a:pPr marL="180975" marR="0" lvl="0" indent="-180975" algn="l" defTabSz="914400" rtl="0" eaLnBrk="1" fontAlgn="auto" latinLnBrk="0" hangingPunct="1">
                <a:lnSpc>
                  <a:spcPct val="100000"/>
                </a:lnSpc>
                <a:spcBef>
                  <a:spcPts val="0"/>
                </a:spcBef>
                <a:spcAft>
                  <a:spcPts val="0"/>
                </a:spcAft>
                <a:buClrTx/>
                <a:buSzPct val="130000"/>
                <a:buFont typeface="Arial" panose="020B0604020202020204" pitchFamily="34" charset="0"/>
                <a:buChar char="•"/>
                <a:tabLst/>
                <a:defRPr/>
              </a:pPr>
              <a:endParaRPr kumimoji="0" lang="ru-RU" sz="1100" b="0" i="1"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30" name="TextBox 29">
            <a:extLst>
              <a:ext uri="{FF2B5EF4-FFF2-40B4-BE49-F238E27FC236}">
                <a16:creationId xmlns:a16="http://schemas.microsoft.com/office/drawing/2014/main" id="{F3155717-E552-CBF0-04D0-9A8E61D79FDE}"/>
              </a:ext>
            </a:extLst>
          </p:cNvPr>
          <p:cNvSpPr txBox="1"/>
          <p:nvPr/>
        </p:nvSpPr>
        <p:spPr>
          <a:xfrm>
            <a:off x="832757" y="5552326"/>
            <a:ext cx="7096263"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a:t>
            </a:r>
            <a:r>
              <a:rPr kumimoji="0" lang="en-US"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&lt;</a:t>
            </a:r>
            <a:r>
              <a:rPr kumimoji="0" lang="ru-RU" sz="10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0,01 </a:t>
            </a:r>
            <a:r>
              <a:rPr kumimoji="0" lang="ru-RU" sz="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достоверность различий по сравнению с исходными значениями</a:t>
            </a:r>
          </a:p>
        </p:txBody>
      </p:sp>
      <p:sp>
        <p:nvSpPr>
          <p:cNvPr id="5" name="Объект 18">
            <a:extLst>
              <a:ext uri="{FF2B5EF4-FFF2-40B4-BE49-F238E27FC236}">
                <a16:creationId xmlns:a16="http://schemas.microsoft.com/office/drawing/2014/main" id="{175261E1-C353-48F7-96E0-128177BFFCAF}"/>
              </a:ext>
            </a:extLst>
          </p:cNvPr>
          <p:cNvSpPr>
            <a:spLocks noGrp="1"/>
          </p:cNvSpPr>
          <p:nvPr>
            <p:ph idx="4294967295"/>
          </p:nvPr>
        </p:nvSpPr>
        <p:spPr>
          <a:xfrm>
            <a:off x="924972" y="6068021"/>
            <a:ext cx="7146786" cy="683603"/>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АД</a:t>
            </a:r>
            <a:r>
              <a:rPr lang="ru-RU" sz="800" dirty="0">
                <a:solidFill>
                  <a:srgbClr val="323F48"/>
                </a:solidFill>
                <a:latin typeface="Calibri" panose="020F0502020204030204" pitchFamily="34" charset="0"/>
                <a:cs typeface="Calibri" panose="020F0502020204030204" pitchFamily="34" charset="0"/>
              </a:rPr>
              <a:t> – артериальное давление, </a:t>
            </a:r>
            <a:r>
              <a:rPr lang="ru-RU" sz="800" b="1" dirty="0">
                <a:solidFill>
                  <a:srgbClr val="323F48"/>
                </a:solidFill>
                <a:latin typeface="Calibri" panose="020F0502020204030204" pitchFamily="34" charset="0"/>
                <a:cs typeface="Calibri" panose="020F0502020204030204" pitchFamily="34" charset="0"/>
              </a:rPr>
              <a:t>ДАД</a:t>
            </a:r>
            <a:r>
              <a:rPr lang="ru-RU" sz="800" dirty="0">
                <a:solidFill>
                  <a:srgbClr val="323F48"/>
                </a:solidFill>
                <a:latin typeface="Calibri" panose="020F0502020204030204" pitchFamily="34" charset="0"/>
                <a:cs typeface="Calibri" panose="020F0502020204030204" pitchFamily="34" charset="0"/>
              </a:rPr>
              <a:t> – диастолическое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ИБС</a:t>
            </a:r>
            <a:r>
              <a:rPr lang="ru-RU" sz="800" dirty="0">
                <a:solidFill>
                  <a:srgbClr val="323F48"/>
                </a:solidFill>
                <a:latin typeface="Calibri" panose="020F0502020204030204" pitchFamily="34" charset="0"/>
                <a:cs typeface="Calibri" panose="020F0502020204030204" pitchFamily="34" charset="0"/>
              </a:rPr>
              <a:t> – ишемическая болезнь сердца, </a:t>
            </a:r>
            <a:br>
              <a:rPr lang="en-US" sz="800" dirty="0">
                <a:solidFill>
                  <a:srgbClr val="323F48"/>
                </a:solidFill>
                <a:latin typeface="Calibri" panose="020F0502020204030204" pitchFamily="34" charset="0"/>
                <a:cs typeface="Calibri" panose="020F0502020204030204" pitchFamily="34" charset="0"/>
              </a:rPr>
            </a:b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СМАД</a:t>
            </a:r>
            <a:r>
              <a:rPr lang="ru-RU" sz="800" dirty="0">
                <a:solidFill>
                  <a:srgbClr val="323F48"/>
                </a:solidFill>
                <a:latin typeface="Calibri" panose="020F0502020204030204" pitchFamily="34" charset="0"/>
                <a:cs typeface="Calibri" panose="020F0502020204030204" pitchFamily="34" charset="0"/>
              </a:rPr>
              <a:t> –</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суточное мониторирование артериального давления, </a:t>
            </a:r>
            <a:r>
              <a:rPr lang="ru-RU" sz="800" b="1" dirty="0">
                <a:solidFill>
                  <a:srgbClr val="323F48"/>
                </a:solidFill>
                <a:latin typeface="Calibri" panose="020F0502020204030204" pitchFamily="34" charset="0"/>
                <a:cs typeface="Calibri" panose="020F0502020204030204" pitchFamily="34" charset="0"/>
              </a:rPr>
              <a:t>ЧСС</a:t>
            </a:r>
            <a:r>
              <a:rPr lang="ru-RU" sz="800" dirty="0">
                <a:solidFill>
                  <a:srgbClr val="323F48"/>
                </a:solidFill>
                <a:latin typeface="Calibri" panose="020F0502020204030204" pitchFamily="34" charset="0"/>
                <a:cs typeface="Calibri" panose="020F0502020204030204" pitchFamily="34" charset="0"/>
              </a:rPr>
              <a:t> – частота сердечных сокращений</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a:t>
            </a:r>
            <a:r>
              <a:rPr lang="en-US" sz="800" b="1" dirty="0">
                <a:solidFill>
                  <a:srgbClr val="323F48"/>
                </a:solidFill>
                <a:latin typeface="Calibri" panose="020F0502020204030204" pitchFamily="34" charset="0"/>
                <a:cs typeface="Calibri" panose="020F0502020204030204" pitchFamily="34" charset="0"/>
              </a:rPr>
              <a:t>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9" name="Заголовок 1">
            <a:extLst>
              <a:ext uri="{FF2B5EF4-FFF2-40B4-BE49-F238E27FC236}">
                <a16:creationId xmlns:a16="http://schemas.microsoft.com/office/drawing/2014/main" id="{FF47AEE4-BE03-BC7F-0903-49F1738BF1B5}"/>
              </a:ext>
            </a:extLst>
          </p:cNvPr>
          <p:cNvSpPr txBox="1">
            <a:spLocks/>
          </p:cNvSpPr>
          <p:nvPr/>
        </p:nvSpPr>
        <p:spPr>
          <a:xfrm>
            <a:off x="895943"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у пациентов с АГ и ИБС: устойчивое снижение АД, ЧСС и улучшение параметров СМАД</a:t>
            </a:r>
            <a:endParaRPr kumimoji="0" lang="ru-RU" sz="20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3" name="TextBox 2">
            <a:extLst>
              <a:ext uri="{FF2B5EF4-FFF2-40B4-BE49-F238E27FC236}">
                <a16:creationId xmlns:a16="http://schemas.microsoft.com/office/drawing/2014/main" id="{EC653B83-8ACF-93AD-74BB-D1640375275B}"/>
              </a:ext>
            </a:extLst>
          </p:cNvPr>
          <p:cNvSpPr txBox="1"/>
          <p:nvPr/>
        </p:nvSpPr>
        <p:spPr>
          <a:xfrm>
            <a:off x="1822287" y="166693"/>
            <a:ext cx="838497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29174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C02BF009-7788-B795-443B-D0EDEEB5414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28" name="Прямоугольник 27">
            <a:extLst>
              <a:ext uri="{FF2B5EF4-FFF2-40B4-BE49-F238E27FC236}">
                <a16:creationId xmlns:a16="http://schemas.microsoft.com/office/drawing/2014/main" id="{C8F7E0E3-8338-8D40-95E7-FA65952328C8}"/>
              </a:ext>
            </a:extLst>
          </p:cNvPr>
          <p:cNvSpPr/>
          <p:nvPr/>
        </p:nvSpPr>
        <p:spPr>
          <a:xfrm>
            <a:off x="623889" y="1715781"/>
            <a:ext cx="10944224" cy="344809"/>
          </a:xfrm>
          <a:prstGeom prst="rect">
            <a:avLst/>
          </a:prstGeom>
        </p:spPr>
        <p:txBody>
          <a:bodyPr wrap="square">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065DA6"/>
              </a:solidFill>
              <a:effectLst/>
              <a:uLnTx/>
              <a:uFillTx/>
              <a:latin typeface="Verdana" panose="020B0604030504040204" pitchFamily="34" charset="0"/>
              <a:ea typeface="Verdana" panose="020B0604030504040204" pitchFamily="34" charset="0"/>
              <a:cs typeface="+mn-cs"/>
            </a:endParaRPr>
          </a:p>
        </p:txBody>
      </p:sp>
      <p:grpSp>
        <p:nvGrpSpPr>
          <p:cNvPr id="12" name="Группа 11">
            <a:extLst>
              <a:ext uri="{FF2B5EF4-FFF2-40B4-BE49-F238E27FC236}">
                <a16:creationId xmlns:a16="http://schemas.microsoft.com/office/drawing/2014/main" id="{4A5AD5AC-FDFD-0807-CB6D-BD7BE60E3B64}"/>
              </a:ext>
            </a:extLst>
          </p:cNvPr>
          <p:cNvGrpSpPr/>
          <p:nvPr/>
        </p:nvGrpSpPr>
        <p:grpSpPr>
          <a:xfrm>
            <a:off x="9097938" y="3706839"/>
            <a:ext cx="2726466" cy="1411292"/>
            <a:chOff x="8336963" y="5156574"/>
            <a:chExt cx="2726466" cy="1411292"/>
          </a:xfrm>
        </p:grpSpPr>
        <p:sp>
          <p:nvSpPr>
            <p:cNvPr id="8" name="TextBox 7">
              <a:extLst>
                <a:ext uri="{FF2B5EF4-FFF2-40B4-BE49-F238E27FC236}">
                  <a16:creationId xmlns:a16="http://schemas.microsoft.com/office/drawing/2014/main" id="{08EC3081-80EA-5AF2-85A9-65E34A48D04D}"/>
                </a:ext>
              </a:extLst>
            </p:cNvPr>
            <p:cNvSpPr txBox="1"/>
            <p:nvPr/>
          </p:nvSpPr>
          <p:spPr>
            <a:xfrm>
              <a:off x="8577262" y="5244427"/>
              <a:ext cx="2486167"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Нежелательные явления за время наблюдения </a:t>
              </a:r>
              <a:r>
                <a:rPr kumimoji="0" lang="ru-RU" sz="1600" b="1" i="0" u="sng"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зарегистрированы не были </a:t>
              </a:r>
            </a:p>
          </p:txBody>
        </p:sp>
        <p:sp>
          <p:nvSpPr>
            <p:cNvPr id="9" name="[T2O] TextBox 49">
              <a:extLst>
                <a:ext uri="{FF2B5EF4-FFF2-40B4-BE49-F238E27FC236}">
                  <a16:creationId xmlns:a16="http://schemas.microsoft.com/office/drawing/2014/main" id="{5B607ECE-AEBE-3F7D-FB55-6053F341D4C0}"/>
                </a:ext>
              </a:extLst>
            </p:cNvPr>
            <p:cNvSpPr/>
            <p:nvPr/>
          </p:nvSpPr>
          <p:spPr>
            <a:xfrm>
              <a:off x="8336963" y="5156574"/>
              <a:ext cx="270181" cy="263476"/>
            </a:xfrm>
            <a:custGeom>
              <a:avLst/>
              <a:gdLst/>
              <a:ahLst/>
              <a:cxnLst/>
              <a:rect l="l" t="t" r="r" b="b"/>
              <a:pathLst>
                <a:path w="116979" h="114076">
                  <a:moveTo>
                    <a:pt x="46323" y="0"/>
                  </a:moveTo>
                  <a:lnTo>
                    <a:pt x="69986" y="0"/>
                  </a:lnTo>
                  <a:lnTo>
                    <a:pt x="69093" y="38732"/>
                  </a:lnTo>
                  <a:lnTo>
                    <a:pt x="104477" y="15180"/>
                  </a:lnTo>
                  <a:lnTo>
                    <a:pt x="116867" y="33709"/>
                  </a:lnTo>
                  <a:lnTo>
                    <a:pt x="76907" y="56926"/>
                  </a:lnTo>
                  <a:lnTo>
                    <a:pt x="116979" y="80367"/>
                  </a:lnTo>
                  <a:lnTo>
                    <a:pt x="104589" y="98784"/>
                  </a:lnTo>
                  <a:lnTo>
                    <a:pt x="68870" y="74451"/>
                  </a:lnTo>
                  <a:lnTo>
                    <a:pt x="70098" y="114076"/>
                  </a:lnTo>
                  <a:lnTo>
                    <a:pt x="46323" y="114076"/>
                  </a:lnTo>
                  <a:lnTo>
                    <a:pt x="47216" y="75456"/>
                  </a:lnTo>
                  <a:lnTo>
                    <a:pt x="12167" y="98896"/>
                  </a:lnTo>
                  <a:lnTo>
                    <a:pt x="0" y="80367"/>
                  </a:lnTo>
                  <a:lnTo>
                    <a:pt x="39625" y="57038"/>
                  </a:lnTo>
                  <a:lnTo>
                    <a:pt x="111" y="33486"/>
                  </a:lnTo>
                  <a:lnTo>
                    <a:pt x="12167" y="14845"/>
                  </a:lnTo>
                  <a:lnTo>
                    <a:pt x="47104" y="38621"/>
                  </a:lnTo>
                  <a:close/>
                </a:path>
              </a:pathLst>
            </a:custGeom>
            <a:solidFill>
              <a:srgbClr val="398ACB"/>
            </a:soli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C1D82E"/>
                </a:solidFill>
                <a:effectLst/>
                <a:uLnTx/>
                <a:uFillTx/>
                <a:latin typeface="Verdana" panose="020B0604030504040204" pitchFamily="34" charset="0"/>
                <a:ea typeface="Verdana" panose="020B0604030504040204" pitchFamily="34" charset="0"/>
                <a:cs typeface="+mn-cs"/>
              </a:endParaRPr>
            </a:p>
          </p:txBody>
        </p:sp>
      </p:grpSp>
      <p:sp>
        <p:nvSpPr>
          <p:cNvPr id="16" name="Прямоугольник 15">
            <a:extLst>
              <a:ext uri="{FF2B5EF4-FFF2-40B4-BE49-F238E27FC236}">
                <a16:creationId xmlns:a16="http://schemas.microsoft.com/office/drawing/2014/main" id="{AF078B83-E525-C776-A1D3-F29C7775DD6E}"/>
              </a:ext>
            </a:extLst>
          </p:cNvPr>
          <p:cNvSpPr/>
          <p:nvPr/>
        </p:nvSpPr>
        <p:spPr>
          <a:xfrm>
            <a:off x="924970" y="1819637"/>
            <a:ext cx="10643141" cy="568230"/>
          </a:xfrm>
          <a:prstGeom prst="rect">
            <a:avLst/>
          </a:prstGeom>
          <a:solidFill>
            <a:schemeClr val="bg1"/>
          </a:solidFill>
          <a:ln>
            <a:solidFill>
              <a:srgbClr val="EC736A"/>
            </a:solidFill>
          </a:ln>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EC736A"/>
                </a:solidFill>
                <a:effectLst/>
                <a:uLnTx/>
                <a:uFillTx/>
                <a:latin typeface="Verdana" panose="020B0604030504040204" pitchFamily="34" charset="0"/>
                <a:ea typeface="Verdana" panose="020B0604030504040204" pitchFamily="34" charset="0"/>
                <a:cs typeface="+mn-cs"/>
              </a:rPr>
              <a:t>Динамика приступов стенокардии в группах наблюдения в течение 12 недель</a:t>
            </a:r>
          </a:p>
        </p:txBody>
      </p:sp>
      <p:grpSp>
        <p:nvGrpSpPr>
          <p:cNvPr id="49" name="Группа 48">
            <a:extLst>
              <a:ext uri="{FF2B5EF4-FFF2-40B4-BE49-F238E27FC236}">
                <a16:creationId xmlns:a16="http://schemas.microsoft.com/office/drawing/2014/main" id="{EF37A0B1-EB0C-284D-7753-4308A51FF188}"/>
              </a:ext>
            </a:extLst>
          </p:cNvPr>
          <p:cNvGrpSpPr/>
          <p:nvPr/>
        </p:nvGrpSpPr>
        <p:grpSpPr>
          <a:xfrm>
            <a:off x="-5574" y="2619466"/>
            <a:ext cx="8201995" cy="3246342"/>
            <a:chOff x="895943" y="2954825"/>
            <a:chExt cx="8113486" cy="2851614"/>
          </a:xfrm>
        </p:grpSpPr>
        <p:sp>
          <p:nvSpPr>
            <p:cNvPr id="21" name="TextBox 20">
              <a:extLst>
                <a:ext uri="{FF2B5EF4-FFF2-40B4-BE49-F238E27FC236}">
                  <a16:creationId xmlns:a16="http://schemas.microsoft.com/office/drawing/2014/main" id="{E24444B1-9FF7-7A2A-DB3C-FAD0D736549E}"/>
                </a:ext>
              </a:extLst>
            </p:cNvPr>
            <p:cNvSpPr txBox="1"/>
            <p:nvPr/>
          </p:nvSpPr>
          <p:spPr>
            <a:xfrm>
              <a:off x="1629636" y="5157590"/>
              <a:ext cx="2637564" cy="6488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Уменьшение числа приступов стенокардии в неделю </a:t>
              </a:r>
            </a:p>
          </p:txBody>
        </p:sp>
        <p:sp>
          <p:nvSpPr>
            <p:cNvPr id="17" name="Прямоугольник 16">
              <a:extLst>
                <a:ext uri="{FF2B5EF4-FFF2-40B4-BE49-F238E27FC236}">
                  <a16:creationId xmlns:a16="http://schemas.microsoft.com/office/drawing/2014/main" id="{BE3EAA77-9399-727D-8603-78ABDFD3B8E0}"/>
                </a:ext>
              </a:extLst>
            </p:cNvPr>
            <p:cNvSpPr/>
            <p:nvPr/>
          </p:nvSpPr>
          <p:spPr>
            <a:xfrm>
              <a:off x="1664645" y="2954825"/>
              <a:ext cx="1241325" cy="2107895"/>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9" name="Прямоугольник 18">
              <a:extLst>
                <a:ext uri="{FF2B5EF4-FFF2-40B4-BE49-F238E27FC236}">
                  <a16:creationId xmlns:a16="http://schemas.microsoft.com/office/drawing/2014/main" id="{161EC2B1-2589-C35D-AA20-A7231847ABA7}"/>
                </a:ext>
              </a:extLst>
            </p:cNvPr>
            <p:cNvSpPr/>
            <p:nvPr/>
          </p:nvSpPr>
          <p:spPr>
            <a:xfrm>
              <a:off x="3102470" y="4972050"/>
              <a:ext cx="1241325" cy="90669"/>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2" name="Прямоугольник 21">
              <a:extLst>
                <a:ext uri="{FF2B5EF4-FFF2-40B4-BE49-F238E27FC236}">
                  <a16:creationId xmlns:a16="http://schemas.microsoft.com/office/drawing/2014/main" id="{A1756981-D7F2-9903-BBD3-F1D28F41F5C6}"/>
                </a:ext>
              </a:extLst>
            </p:cNvPr>
            <p:cNvSpPr/>
            <p:nvPr/>
          </p:nvSpPr>
          <p:spPr>
            <a:xfrm>
              <a:off x="5850919" y="3119934"/>
              <a:ext cx="1241325" cy="1942786"/>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3" name="Прямоугольник 22">
              <a:extLst>
                <a:ext uri="{FF2B5EF4-FFF2-40B4-BE49-F238E27FC236}">
                  <a16:creationId xmlns:a16="http://schemas.microsoft.com/office/drawing/2014/main" id="{6AC555EC-DC29-095E-1341-9742A94A5398}"/>
                </a:ext>
              </a:extLst>
            </p:cNvPr>
            <p:cNvSpPr/>
            <p:nvPr/>
          </p:nvSpPr>
          <p:spPr>
            <a:xfrm>
              <a:off x="7288745" y="5007387"/>
              <a:ext cx="1241325" cy="55036"/>
            </a:xfrm>
            <a:prstGeom prst="rect">
              <a:avLst/>
            </a:prstGeom>
            <a:solidFill>
              <a:srgbClr val="398AC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cxnSp>
          <p:nvCxnSpPr>
            <p:cNvPr id="26" name="Прямая соединительная линия 25">
              <a:extLst>
                <a:ext uri="{FF2B5EF4-FFF2-40B4-BE49-F238E27FC236}">
                  <a16:creationId xmlns:a16="http://schemas.microsoft.com/office/drawing/2014/main" id="{3EA10701-4235-DF88-6F96-5EC1B666A49C}"/>
                </a:ext>
              </a:extLst>
            </p:cNvPr>
            <p:cNvCxnSpPr/>
            <p:nvPr/>
          </p:nvCxnSpPr>
          <p:spPr>
            <a:xfrm>
              <a:off x="895943" y="5062423"/>
              <a:ext cx="8113486" cy="0"/>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EE1AA70-40F9-3A94-84AF-E7619C047FAF}"/>
                </a:ext>
              </a:extLst>
            </p:cNvPr>
            <p:cNvSpPr txBox="1"/>
            <p:nvPr/>
          </p:nvSpPr>
          <p:spPr>
            <a:xfrm>
              <a:off x="1690631" y="3001284"/>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3,83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±0,47</a:t>
              </a:r>
            </a:p>
          </p:txBody>
        </p:sp>
        <p:sp>
          <p:nvSpPr>
            <p:cNvPr id="35" name="TextBox 34">
              <a:extLst>
                <a:ext uri="{FF2B5EF4-FFF2-40B4-BE49-F238E27FC236}">
                  <a16:creationId xmlns:a16="http://schemas.microsoft.com/office/drawing/2014/main" id="{35A9C54D-3611-EAB6-4F10-0F1041CBE206}"/>
                </a:ext>
              </a:extLst>
            </p:cNvPr>
            <p:cNvSpPr txBox="1"/>
            <p:nvPr/>
          </p:nvSpPr>
          <p:spPr>
            <a:xfrm>
              <a:off x="5743347" y="5157590"/>
              <a:ext cx="2637565" cy="64884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Снижение потребности в короткодействующих нитратах </a:t>
              </a:r>
            </a:p>
          </p:txBody>
        </p:sp>
        <p:sp>
          <p:nvSpPr>
            <p:cNvPr id="37" name="TextBox 36">
              <a:extLst>
                <a:ext uri="{FF2B5EF4-FFF2-40B4-BE49-F238E27FC236}">
                  <a16:creationId xmlns:a16="http://schemas.microsoft.com/office/drawing/2014/main" id="{9522A794-D9B5-8B4A-F592-700685D3FC6A}"/>
                </a:ext>
              </a:extLst>
            </p:cNvPr>
            <p:cNvSpPr txBox="1"/>
            <p:nvPr/>
          </p:nvSpPr>
          <p:spPr>
            <a:xfrm>
              <a:off x="3538597" y="3039634"/>
              <a:ext cx="850899" cy="2703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р&lt;0,01</a:t>
              </a:r>
            </a:p>
          </p:txBody>
        </p:sp>
        <p:sp>
          <p:nvSpPr>
            <p:cNvPr id="39" name="TextBox 38">
              <a:extLst>
                <a:ext uri="{FF2B5EF4-FFF2-40B4-BE49-F238E27FC236}">
                  <a16:creationId xmlns:a16="http://schemas.microsoft.com/office/drawing/2014/main" id="{B038A0B7-F5AB-B533-8E68-5FCAC77B6FE1}"/>
                </a:ext>
              </a:extLst>
            </p:cNvPr>
            <p:cNvSpPr txBox="1"/>
            <p:nvPr/>
          </p:nvSpPr>
          <p:spPr>
            <a:xfrm>
              <a:off x="3138431" y="4255282"/>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±0,09</a:t>
              </a:r>
            </a:p>
          </p:txBody>
        </p:sp>
        <p:sp>
          <p:nvSpPr>
            <p:cNvPr id="44" name="Полилиния: фигура 43">
              <a:extLst>
                <a:ext uri="{FF2B5EF4-FFF2-40B4-BE49-F238E27FC236}">
                  <a16:creationId xmlns:a16="http://schemas.microsoft.com/office/drawing/2014/main" id="{4D7E7509-340A-C0A2-64C2-2F9690172594}"/>
                </a:ext>
              </a:extLst>
            </p:cNvPr>
            <p:cNvSpPr/>
            <p:nvPr/>
          </p:nvSpPr>
          <p:spPr>
            <a:xfrm>
              <a:off x="2996730" y="3157406"/>
              <a:ext cx="705900" cy="1135477"/>
            </a:xfrm>
            <a:custGeom>
              <a:avLst/>
              <a:gdLst>
                <a:gd name="connsiteX0" fmla="*/ 0 w 672733"/>
                <a:gd name="connsiteY0" fmla="*/ 0 h 1156607"/>
                <a:gd name="connsiteX1" fmla="*/ 571500 w 672733"/>
                <a:gd name="connsiteY1" fmla="*/ 421821 h 1156607"/>
                <a:gd name="connsiteX2" fmla="*/ 669472 w 672733"/>
                <a:gd name="connsiteY2" fmla="*/ 1156607 h 1156607"/>
              </a:gdLst>
              <a:ahLst/>
              <a:cxnLst>
                <a:cxn ang="0">
                  <a:pos x="connsiteX0" y="connsiteY0"/>
                </a:cxn>
                <a:cxn ang="0">
                  <a:pos x="connsiteX1" y="connsiteY1"/>
                </a:cxn>
                <a:cxn ang="0">
                  <a:pos x="connsiteX2" y="connsiteY2"/>
                </a:cxn>
              </a:cxnLst>
              <a:rect l="l" t="t" r="r" b="b"/>
              <a:pathLst>
                <a:path w="672733" h="1156607">
                  <a:moveTo>
                    <a:pt x="0" y="0"/>
                  </a:moveTo>
                  <a:cubicBezTo>
                    <a:pt x="229960" y="114526"/>
                    <a:pt x="459921" y="229053"/>
                    <a:pt x="571500" y="421821"/>
                  </a:cubicBezTo>
                  <a:cubicBezTo>
                    <a:pt x="683079" y="614589"/>
                    <a:pt x="676275" y="885598"/>
                    <a:pt x="669472" y="1156607"/>
                  </a:cubicBezTo>
                </a:path>
              </a:pathLst>
            </a:custGeom>
            <a:noFill/>
            <a:ln w="63500" cap="rnd">
              <a:solidFill>
                <a:srgbClr val="7ADBE5"/>
              </a:solidFill>
              <a:prstDash val="solid"/>
              <a:roun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45" name="TextBox 44">
              <a:extLst>
                <a:ext uri="{FF2B5EF4-FFF2-40B4-BE49-F238E27FC236}">
                  <a16:creationId xmlns:a16="http://schemas.microsoft.com/office/drawing/2014/main" id="{B3EF428C-F036-7F60-5197-80B05FAED9B0}"/>
                </a:ext>
              </a:extLst>
            </p:cNvPr>
            <p:cNvSpPr txBox="1"/>
            <p:nvPr/>
          </p:nvSpPr>
          <p:spPr>
            <a:xfrm>
              <a:off x="7820433" y="3039634"/>
              <a:ext cx="850899" cy="2703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р&lt;0,01</a:t>
              </a:r>
            </a:p>
          </p:txBody>
        </p:sp>
        <p:sp>
          <p:nvSpPr>
            <p:cNvPr id="46" name="TextBox 45">
              <a:extLst>
                <a:ext uri="{FF2B5EF4-FFF2-40B4-BE49-F238E27FC236}">
                  <a16:creationId xmlns:a16="http://schemas.microsoft.com/office/drawing/2014/main" id="{CD2A8997-D1F5-F9A1-DDA2-1327C7E9F2FA}"/>
                </a:ext>
              </a:extLst>
            </p:cNvPr>
            <p:cNvSpPr txBox="1"/>
            <p:nvPr/>
          </p:nvSpPr>
          <p:spPr>
            <a:xfrm>
              <a:off x="5838088" y="3150984"/>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3,53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±0,48</a:t>
              </a:r>
            </a:p>
          </p:txBody>
        </p:sp>
        <p:sp>
          <p:nvSpPr>
            <p:cNvPr id="47" name="TextBox 46">
              <a:extLst>
                <a:ext uri="{FF2B5EF4-FFF2-40B4-BE49-F238E27FC236}">
                  <a16:creationId xmlns:a16="http://schemas.microsoft.com/office/drawing/2014/main" id="{D21C734A-2BDE-BDFB-9371-5F79316D3EB2}"/>
                </a:ext>
              </a:extLst>
            </p:cNvPr>
            <p:cNvSpPr txBox="1"/>
            <p:nvPr/>
          </p:nvSpPr>
          <p:spPr>
            <a:xfrm>
              <a:off x="7285888" y="4347140"/>
              <a:ext cx="1215339" cy="594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±0,06</a:t>
              </a:r>
            </a:p>
          </p:txBody>
        </p:sp>
        <p:sp>
          <p:nvSpPr>
            <p:cNvPr id="48" name="Полилиния: фигура 47">
              <a:extLst>
                <a:ext uri="{FF2B5EF4-FFF2-40B4-BE49-F238E27FC236}">
                  <a16:creationId xmlns:a16="http://schemas.microsoft.com/office/drawing/2014/main" id="{C80877A8-0082-B7AE-A53A-EAB09DBA9EB8}"/>
                </a:ext>
              </a:extLst>
            </p:cNvPr>
            <p:cNvSpPr/>
            <p:nvPr/>
          </p:nvSpPr>
          <p:spPr>
            <a:xfrm>
              <a:off x="7144187" y="3299122"/>
              <a:ext cx="705900" cy="1073777"/>
            </a:xfrm>
            <a:custGeom>
              <a:avLst/>
              <a:gdLst>
                <a:gd name="connsiteX0" fmla="*/ 0 w 672733"/>
                <a:gd name="connsiteY0" fmla="*/ 0 h 1156607"/>
                <a:gd name="connsiteX1" fmla="*/ 571500 w 672733"/>
                <a:gd name="connsiteY1" fmla="*/ 421821 h 1156607"/>
                <a:gd name="connsiteX2" fmla="*/ 669472 w 672733"/>
                <a:gd name="connsiteY2" fmla="*/ 1156607 h 1156607"/>
              </a:gdLst>
              <a:ahLst/>
              <a:cxnLst>
                <a:cxn ang="0">
                  <a:pos x="connsiteX0" y="connsiteY0"/>
                </a:cxn>
                <a:cxn ang="0">
                  <a:pos x="connsiteX1" y="connsiteY1"/>
                </a:cxn>
                <a:cxn ang="0">
                  <a:pos x="connsiteX2" y="connsiteY2"/>
                </a:cxn>
              </a:cxnLst>
              <a:rect l="l" t="t" r="r" b="b"/>
              <a:pathLst>
                <a:path w="672733" h="1156607">
                  <a:moveTo>
                    <a:pt x="0" y="0"/>
                  </a:moveTo>
                  <a:cubicBezTo>
                    <a:pt x="229960" y="114526"/>
                    <a:pt x="459921" y="229053"/>
                    <a:pt x="571500" y="421821"/>
                  </a:cubicBezTo>
                  <a:cubicBezTo>
                    <a:pt x="683079" y="614589"/>
                    <a:pt x="676275" y="885598"/>
                    <a:pt x="669472" y="1156607"/>
                  </a:cubicBezTo>
                </a:path>
              </a:pathLst>
            </a:custGeom>
            <a:noFill/>
            <a:ln w="63500" cap="rnd">
              <a:solidFill>
                <a:srgbClr val="7ADBE5"/>
              </a:solidFill>
              <a:prstDash val="solid"/>
              <a:round/>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7" name="Объект 4">
            <a:extLst>
              <a:ext uri="{FF2B5EF4-FFF2-40B4-BE49-F238E27FC236}">
                <a16:creationId xmlns:a16="http://schemas.microsoft.com/office/drawing/2014/main" id="{CE9BD6D4-7690-A4B8-BDA9-B41E534FA223}"/>
              </a:ext>
            </a:extLst>
          </p:cNvPr>
          <p:cNvSpPr>
            <a:spLocks noGrp="1"/>
          </p:cNvSpPr>
          <p:nvPr>
            <p:ph idx="4294967295"/>
          </p:nvPr>
        </p:nvSpPr>
        <p:spPr>
          <a:xfrm>
            <a:off x="924972" y="6204320"/>
            <a:ext cx="7146786" cy="45773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СМАД</a:t>
            </a:r>
            <a:r>
              <a:rPr lang="ru-RU" sz="800" dirty="0">
                <a:solidFill>
                  <a:srgbClr val="323F48"/>
                </a:solidFill>
                <a:latin typeface="Calibri" panose="020F0502020204030204" pitchFamily="34" charset="0"/>
                <a:cs typeface="Calibri" panose="020F0502020204030204" pitchFamily="34" charset="0"/>
              </a:rPr>
              <a:t> </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a:t>
            </a:r>
            <a:r>
              <a:rPr lang="en-US" sz="800" dirty="0">
                <a:solidFill>
                  <a:srgbClr val="323F48"/>
                </a:solidFill>
                <a:latin typeface="Calibri" panose="020F0502020204030204" pitchFamily="34" charset="0"/>
                <a:cs typeface="Calibri" panose="020F0502020204030204" pitchFamily="34" charset="0"/>
              </a:rPr>
              <a:t> </a:t>
            </a:r>
            <a:r>
              <a:rPr lang="ru-RU" sz="800" dirty="0">
                <a:solidFill>
                  <a:srgbClr val="323F48"/>
                </a:solidFill>
                <a:latin typeface="Calibri" panose="020F0502020204030204" pitchFamily="34" charset="0"/>
                <a:cs typeface="Calibri" panose="020F0502020204030204" pitchFamily="34" charset="0"/>
              </a:rPr>
              <a:t>суточное мониторирование артериального давления</a:t>
            </a: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Скибицкий</a:t>
            </a:r>
            <a:r>
              <a:rPr lang="ru-RU" sz="800" dirty="0">
                <a:solidFill>
                  <a:srgbClr val="323F48"/>
                </a:solidFill>
                <a:latin typeface="Calibri" panose="020F0502020204030204" pitchFamily="34" charset="0"/>
                <a:cs typeface="Calibri" panose="020F0502020204030204" pitchFamily="34" charset="0"/>
              </a:rPr>
              <a:t> В.В. и </a:t>
            </a:r>
            <a:r>
              <a:rPr lang="ru-RU" sz="800" dirty="0" err="1">
                <a:solidFill>
                  <a:srgbClr val="323F48"/>
                </a:solidFill>
                <a:latin typeface="Calibri" panose="020F0502020204030204" pitchFamily="34" charset="0"/>
                <a:cs typeface="Calibri" panose="020F0502020204030204" pitchFamily="34" charset="0"/>
              </a:rPr>
              <a:t>соавт</a:t>
            </a:r>
            <a:r>
              <a:rPr lang="ru-RU" sz="800" dirty="0">
                <a:solidFill>
                  <a:srgbClr val="323F48"/>
                </a:solidFill>
                <a:latin typeface="Calibri" panose="020F0502020204030204" pitchFamily="34" charset="0"/>
                <a:cs typeface="Calibri" panose="020F0502020204030204" pitchFamily="34" charset="0"/>
              </a:rPr>
              <a:t>. Эффективность фиксированной комбинации </a:t>
            </a:r>
            <a:r>
              <a:rPr lang="ru-RU" sz="800" dirty="0" err="1">
                <a:solidFill>
                  <a:srgbClr val="323F48"/>
                </a:solidFill>
                <a:latin typeface="Calibri" panose="020F0502020204030204" pitchFamily="34" charset="0"/>
                <a:cs typeface="Calibri" panose="020F0502020204030204" pitchFamily="34" charset="0"/>
              </a:rPr>
              <a:t>бисопролола</a:t>
            </a:r>
            <a:r>
              <a:rPr lang="ru-RU" sz="800" dirty="0">
                <a:solidFill>
                  <a:srgbClr val="323F48"/>
                </a:solidFill>
                <a:latin typeface="Calibri" panose="020F0502020204030204" pitchFamily="34" charset="0"/>
                <a:cs typeface="Calibri" panose="020F0502020204030204" pitchFamily="34" charset="0"/>
              </a:rPr>
              <a:t> и </a:t>
            </a:r>
            <a:r>
              <a:rPr lang="ru-RU" sz="800" dirty="0" err="1">
                <a:solidFill>
                  <a:srgbClr val="323F48"/>
                </a:solidFill>
                <a:latin typeface="Calibri" panose="020F0502020204030204" pitchFamily="34" charset="0"/>
                <a:cs typeface="Calibri" panose="020F0502020204030204" pitchFamily="34" charset="0"/>
              </a:rPr>
              <a:t>амлодипина</a:t>
            </a:r>
            <a:r>
              <a:rPr lang="ru-RU" sz="800" dirty="0">
                <a:solidFill>
                  <a:srgbClr val="323F48"/>
                </a:solidFill>
                <a:latin typeface="Calibri" panose="020F0502020204030204" pitchFamily="34" charset="0"/>
                <a:cs typeface="Calibri" panose="020F0502020204030204" pitchFamily="34" charset="0"/>
              </a:rPr>
              <a:t> у пациентов с артериальной гипертонией, ишемической болезнью сердца и метаболическим синдромом // Системные гипертензии. – 2015. – №1. – С. 26-31. </a:t>
            </a:r>
          </a:p>
        </p:txBody>
      </p:sp>
      <p:sp>
        <p:nvSpPr>
          <p:cNvPr id="15" name="Заголовок 1">
            <a:extLst>
              <a:ext uri="{FF2B5EF4-FFF2-40B4-BE49-F238E27FC236}">
                <a16:creationId xmlns:a16="http://schemas.microsoft.com/office/drawing/2014/main" id="{778EE23A-3733-D021-A8AB-FEDA58E8F1C8}"/>
              </a:ext>
            </a:extLst>
          </p:cNvPr>
          <p:cNvSpPr txBox="1">
            <a:spLocks/>
          </p:cNvSpPr>
          <p:nvPr/>
        </p:nvSpPr>
        <p:spPr>
          <a:xfrm>
            <a:off x="895943" y="497766"/>
            <a:ext cx="9536200" cy="1146594"/>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при АГ и ИБС: снижение числа приступов стенокардии и потребности в короткодействующих нитратах в сравнении со свободной комбинацией</a:t>
            </a:r>
            <a:r>
              <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1</a:t>
            </a:r>
          </a:p>
        </p:txBody>
      </p:sp>
      <p:sp>
        <p:nvSpPr>
          <p:cNvPr id="2" name="TextBox 1">
            <a:extLst>
              <a:ext uri="{FF2B5EF4-FFF2-40B4-BE49-F238E27FC236}">
                <a16:creationId xmlns:a16="http://schemas.microsoft.com/office/drawing/2014/main" id="{FC16BDCB-DABF-93EB-B297-39BD2BB2683A}"/>
              </a:ext>
            </a:extLst>
          </p:cNvPr>
          <p:cNvSpPr txBox="1"/>
          <p:nvPr/>
        </p:nvSpPr>
        <p:spPr>
          <a:xfrm>
            <a:off x="1822287" y="166693"/>
            <a:ext cx="838497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extLst>
      <p:ext uri="{BB962C8B-B14F-4D97-AF65-F5344CB8AC3E}">
        <p14:creationId xmlns:p14="http://schemas.microsoft.com/office/powerpoint/2010/main" val="321025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Рисунок 11">
            <a:extLst>
              <a:ext uri="{FF2B5EF4-FFF2-40B4-BE49-F238E27FC236}">
                <a16:creationId xmlns:a16="http://schemas.microsoft.com/office/drawing/2014/main" id="{34CF4C2B-7244-8FCB-8A58-61D5506DF4FE}"/>
              </a:ext>
            </a:extLst>
          </p:cNvPr>
          <p:cNvPicPr>
            <a:picLocks noChangeAspect="1"/>
          </p:cNvPicPr>
          <p:nvPr/>
        </p:nvPicPr>
        <p:blipFill rotWithShape="1">
          <a:blip r:embed="rId3">
            <a:extLst>
              <a:ext uri="{28A0092B-C50C-407E-A947-70E740481C1C}">
                <a14:useLocalDpi xmlns:a14="http://schemas.microsoft.com/office/drawing/2010/main" val="0"/>
              </a:ext>
            </a:extLst>
          </a:blip>
          <a:srcRect t="8592"/>
          <a:stretch/>
        </p:blipFill>
        <p:spPr>
          <a:xfrm>
            <a:off x="7351486" y="0"/>
            <a:ext cx="4660257" cy="5419608"/>
          </a:xfrm>
          <a:prstGeom prst="rect">
            <a:avLst/>
          </a:prstGeom>
        </p:spPr>
      </p:pic>
      <p:sp>
        <p:nvSpPr>
          <p:cNvPr id="53253" name="Text Box 6">
            <a:extLst>
              <a:ext uri="{FF2B5EF4-FFF2-40B4-BE49-F238E27FC236}">
                <a16:creationId xmlns:a16="http://schemas.microsoft.com/office/drawing/2014/main" id="{9D080B2F-EDF6-43D7-ABCF-57DACED44F58}"/>
              </a:ext>
            </a:extLst>
          </p:cNvPr>
          <p:cNvSpPr txBox="1">
            <a:spLocks noChangeArrowheads="1"/>
          </p:cNvSpPr>
          <p:nvPr/>
        </p:nvSpPr>
        <p:spPr bwMode="auto">
          <a:xfrm>
            <a:off x="783898" y="5215720"/>
            <a:ext cx="103437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Ретроспективное </a:t>
            </a:r>
            <a:r>
              <a:rPr kumimoji="0" lang="ru-RU" altLang="ru-RU" sz="14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когортное</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исследование </a:t>
            </a:r>
            <a:r>
              <a:rPr kumimoji="0" lang="fr-CH"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14</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fr-CH"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449 </a:t>
            </a: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пациентов с АГ, </a:t>
            </a:r>
            <a:br>
              <a:rPr kumimoji="0" lang="en-US"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br>
            <a:r>
              <a:rPr kumimoji="0" lang="ru-RU"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rPr>
              <a:t>получавших фиксированную комбинацию и переведенных на свободную комбинацию</a:t>
            </a:r>
            <a:endParaRPr kumimoji="0" lang="fr-FR" alt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 name="Номер слайда 3">
            <a:extLst>
              <a:ext uri="{FF2B5EF4-FFF2-40B4-BE49-F238E27FC236}">
                <a16:creationId xmlns:a16="http://schemas.microsoft.com/office/drawing/2014/main" id="{E5F4105A-8936-3ECD-4D72-49B650F3AC8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7" name="Группа 6">
            <a:extLst>
              <a:ext uri="{FF2B5EF4-FFF2-40B4-BE49-F238E27FC236}">
                <a16:creationId xmlns:a16="http://schemas.microsoft.com/office/drawing/2014/main" id="{CBEDF4FC-0874-C5FE-9290-CB9C7CBBB878}"/>
              </a:ext>
            </a:extLst>
          </p:cNvPr>
          <p:cNvGrpSpPr/>
          <p:nvPr/>
        </p:nvGrpSpPr>
        <p:grpSpPr>
          <a:xfrm>
            <a:off x="895943" y="1433532"/>
            <a:ext cx="6397486" cy="3704364"/>
            <a:chOff x="1167482" y="1508787"/>
            <a:chExt cx="8061031" cy="3599820"/>
          </a:xfrm>
        </p:grpSpPr>
        <p:sp>
          <p:nvSpPr>
            <p:cNvPr id="53255" name="TextBox 1">
              <a:extLst>
                <a:ext uri="{FF2B5EF4-FFF2-40B4-BE49-F238E27FC236}">
                  <a16:creationId xmlns:a16="http://schemas.microsoft.com/office/drawing/2014/main" id="{9C6D697D-4078-4DED-BCF6-895C8CC5DE3D}"/>
                </a:ext>
              </a:extLst>
            </p:cNvPr>
            <p:cNvSpPr txBox="1">
              <a:spLocks noChangeArrowheads="1"/>
            </p:cNvSpPr>
            <p:nvPr/>
          </p:nvSpPr>
          <p:spPr bwMode="auto">
            <a:xfrm rot="16200000">
              <a:off x="334003" y="2836730"/>
              <a:ext cx="2005512"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ru-RU"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Доля</a:t>
              </a:r>
              <a:r>
                <a:rPr kumimoji="0" lang="en-US"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 </a:t>
              </a:r>
              <a:r>
                <a:rPr kumimoji="0" lang="ru-RU" altLang="ru-RU" sz="1600" b="0" i="0" u="none" strike="noStrike" kern="1200" cap="none" spc="0" normalizeH="0" baseline="0" noProof="0" dirty="0">
                  <a:ln>
                    <a:noFill/>
                  </a:ln>
                  <a:solidFill>
                    <a:srgbClr val="213465"/>
                  </a:solidFill>
                  <a:effectLst/>
                  <a:uLnTx/>
                  <a:uFillTx/>
                  <a:latin typeface="Calibri" panose="020F0502020204030204" pitchFamily="34" charset="0"/>
                  <a:ea typeface="+mn-ea"/>
                  <a:cs typeface="Arial" panose="020B0604020202020204" pitchFamily="34" charset="0"/>
                </a:rPr>
                <a:t>пациентов</a:t>
              </a:r>
            </a:p>
          </p:txBody>
        </p:sp>
        <p:graphicFrame>
          <p:nvGraphicFramePr>
            <p:cNvPr id="6" name="Диаграмма 5">
              <a:extLst>
                <a:ext uri="{FF2B5EF4-FFF2-40B4-BE49-F238E27FC236}">
                  <a16:creationId xmlns:a16="http://schemas.microsoft.com/office/drawing/2014/main" id="{B24A49BA-3F84-F449-BF06-44D6CA4B3051}"/>
                </a:ext>
              </a:extLst>
            </p:cNvPr>
            <p:cNvGraphicFramePr/>
            <p:nvPr/>
          </p:nvGraphicFramePr>
          <p:xfrm>
            <a:off x="1672917" y="1508787"/>
            <a:ext cx="7555596" cy="3599820"/>
          </p:xfrm>
          <a:graphic>
            <a:graphicData uri="http://schemas.openxmlformats.org/drawingml/2006/chart">
              <c:chart xmlns:c="http://schemas.openxmlformats.org/drawingml/2006/chart" xmlns:r="http://schemas.openxmlformats.org/officeDocument/2006/relationships" r:id="rId4"/>
            </a:graphicData>
          </a:graphic>
        </p:graphicFrame>
      </p:grpSp>
      <p:sp>
        <p:nvSpPr>
          <p:cNvPr id="10" name="Объект 2">
            <a:extLst>
              <a:ext uri="{FF2B5EF4-FFF2-40B4-BE49-F238E27FC236}">
                <a16:creationId xmlns:a16="http://schemas.microsoft.com/office/drawing/2014/main" id="{E56FE15A-3391-FCA7-7744-EB5AE00A8C02}"/>
              </a:ext>
            </a:extLst>
          </p:cNvPr>
          <p:cNvSpPr>
            <a:spLocks noGrp="1"/>
          </p:cNvSpPr>
          <p:nvPr>
            <p:ph idx="4294967295"/>
          </p:nvPr>
        </p:nvSpPr>
        <p:spPr>
          <a:xfrm>
            <a:off x="895943" y="6312240"/>
            <a:ext cx="2766276" cy="369332"/>
          </a:xfrm>
        </p:spPr>
        <p:txBody>
          <a:bodyPr>
            <a:noAutofit/>
          </a:bodyPr>
          <a:lstStyle/>
          <a:p>
            <a:pPr marL="0" indent="0">
              <a:lnSpc>
                <a:spcPct val="100000"/>
              </a:lnSpc>
              <a:spcBef>
                <a:spcPts val="300"/>
              </a:spcBef>
              <a:buNone/>
            </a:pPr>
            <a:r>
              <a:rPr lang="ru-RU" altLang="en-US" sz="800" noProof="0" dirty="0">
                <a:solidFill>
                  <a:srgbClr val="323F48"/>
                </a:solidFill>
                <a:latin typeface="Calibri" panose="020F0502020204030204" pitchFamily="34" charset="0"/>
                <a:cs typeface="Calibri" panose="020F0502020204030204" pitchFamily="34" charset="0"/>
              </a:rPr>
              <a:t>График адаптирован из ссылки </a:t>
            </a:r>
            <a:r>
              <a:rPr lang="ru-RU" altLang="en-US" sz="800" b="1" dirty="0">
                <a:solidFill>
                  <a:srgbClr val="323F48"/>
                </a:solidFill>
                <a:latin typeface="Calibri" panose="020F0502020204030204" pitchFamily="34" charset="0"/>
                <a:cs typeface="Calibri" panose="020F0502020204030204" pitchFamily="34" charset="0"/>
              </a:rPr>
              <a:t>1</a:t>
            </a:r>
            <a:endParaRPr lang="de-DE" altLang="en-US" sz="800" b="1" noProof="0" dirty="0">
              <a:solidFill>
                <a:srgbClr val="323F48"/>
              </a:solidFill>
              <a:latin typeface="Calibri" panose="020F0502020204030204" pitchFamily="34" charset="0"/>
              <a:cs typeface="Calibri" panose="020F0502020204030204" pitchFamily="34" charset="0"/>
            </a:endParaRPr>
          </a:p>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ru-RU" sz="800" dirty="0" err="1">
                <a:solidFill>
                  <a:srgbClr val="323F48"/>
                </a:solidFill>
                <a:latin typeface="Calibri" panose="020F0502020204030204" pitchFamily="34" charset="0"/>
                <a:cs typeface="Calibri" panose="020F0502020204030204" pitchFamily="34" charset="0"/>
              </a:rPr>
              <a:t>Hess</a:t>
            </a:r>
            <a:r>
              <a:rPr lang="ru-RU" sz="800" dirty="0">
                <a:solidFill>
                  <a:srgbClr val="323F48"/>
                </a:solidFill>
                <a:latin typeface="Calibri" panose="020F0502020204030204" pitchFamily="34" charset="0"/>
                <a:cs typeface="Calibri" panose="020F0502020204030204" pitchFamily="34" charset="0"/>
              </a:rPr>
              <a:t> G. </a:t>
            </a:r>
            <a:r>
              <a:rPr lang="ru-RU" sz="800" dirty="0" err="1">
                <a:solidFill>
                  <a:srgbClr val="323F48"/>
                </a:solidFill>
                <a:latin typeface="Calibri" panose="020F0502020204030204" pitchFamily="34" charset="0"/>
                <a:cs typeface="Calibri" panose="020F0502020204030204" pitchFamily="34" charset="0"/>
              </a:rPr>
              <a:t>Pharmacy</a:t>
            </a:r>
            <a:r>
              <a:rPr lang="ru-RU" sz="800" dirty="0">
                <a:solidFill>
                  <a:srgbClr val="323F48"/>
                </a:solidFill>
                <a:latin typeface="Calibri" panose="020F0502020204030204" pitchFamily="34" charset="0"/>
                <a:cs typeface="Calibri" panose="020F0502020204030204" pitchFamily="34" charset="0"/>
              </a:rPr>
              <a:t> &amp; </a:t>
            </a:r>
            <a:r>
              <a:rPr lang="ru-RU" sz="800" dirty="0" err="1">
                <a:solidFill>
                  <a:srgbClr val="323F48"/>
                </a:solidFill>
                <a:latin typeface="Calibri" panose="020F0502020204030204" pitchFamily="34" charset="0"/>
                <a:cs typeface="Calibri" panose="020F0502020204030204" pitchFamily="34" charset="0"/>
              </a:rPr>
              <a:t>Therapeutics</a:t>
            </a:r>
            <a:r>
              <a:rPr lang="ru-RU" sz="800" dirty="0">
                <a:solidFill>
                  <a:srgbClr val="323F48"/>
                </a:solidFill>
                <a:latin typeface="Calibri" panose="020F0502020204030204" pitchFamily="34" charset="0"/>
                <a:cs typeface="Calibri" panose="020F0502020204030204" pitchFamily="34" charset="0"/>
              </a:rPr>
              <a:t> 2008;33:652-66.</a:t>
            </a:r>
          </a:p>
        </p:txBody>
      </p:sp>
      <p:sp>
        <p:nvSpPr>
          <p:cNvPr id="11" name="Rectangle 3">
            <a:extLst>
              <a:ext uri="{FF2B5EF4-FFF2-40B4-BE49-F238E27FC236}">
                <a16:creationId xmlns:a16="http://schemas.microsoft.com/office/drawing/2014/main" id="{D2EF64C5-DDBD-6AE4-4E7A-2185E4DE018A}"/>
              </a:ext>
            </a:extLst>
          </p:cNvPr>
          <p:cNvSpPr>
            <a:spLocks noChangeArrowheads="1"/>
          </p:cNvSpPr>
          <p:nvPr/>
        </p:nvSpPr>
        <p:spPr bwMode="auto">
          <a:xfrm>
            <a:off x="895942" y="5959120"/>
            <a:ext cx="8578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Пациенты ни разу не прерывали лечение в течение 1 месяца</a:t>
            </a:r>
            <a:endPar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Процент времени, в течение которого пациенты получали лечение (</a:t>
            </a: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Medication Possession Ratio</a:t>
            </a:r>
            <a:r>
              <a:rPr kumimoji="0" lang="ru-RU"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 </a:t>
            </a:r>
            <a:r>
              <a:rPr kumimoji="0" lang="en-GB" altLang="ru-RU" sz="900" b="0" i="0" u="none" strike="noStrike" kern="1200" cap="none" spc="0" normalizeH="0" baseline="0" noProof="0" dirty="0">
                <a:ln>
                  <a:noFill/>
                </a:ln>
                <a:solidFill>
                  <a:srgbClr val="323F48"/>
                </a:solidFill>
                <a:effectLst/>
                <a:uLnTx/>
                <a:uFillTx/>
                <a:latin typeface="Calibri" panose="020F0502020204030204" pitchFamily="34" charset="0"/>
                <a:ea typeface="+mn-ea"/>
                <a:cs typeface="Arial" panose="020B0604020202020204" pitchFamily="34" charset="0"/>
              </a:rPr>
              <a:t>MPR)</a:t>
            </a:r>
          </a:p>
        </p:txBody>
      </p:sp>
      <p:sp>
        <p:nvSpPr>
          <p:cNvPr id="16" name="Title 1">
            <a:extLst>
              <a:ext uri="{FF2B5EF4-FFF2-40B4-BE49-F238E27FC236}">
                <a16:creationId xmlns:a16="http://schemas.microsoft.com/office/drawing/2014/main" id="{34BEF667-BC73-E373-3CA2-1A25E7C01B57}"/>
              </a:ext>
            </a:extLst>
          </p:cNvPr>
          <p:cNvSpPr txBox="1">
            <a:spLocks/>
          </p:cNvSpPr>
          <p:nvPr/>
        </p:nvSpPr>
        <p:spPr>
          <a:xfrm>
            <a:off x="895942" y="497766"/>
            <a:ext cx="9906513" cy="935766"/>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Фиксированные комбинации </a:t>
            </a:r>
            <a:br>
              <a:rPr kumimoji="0" lang="en-US"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ru-RU" altLang="ru-RU" sz="24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улучшают приверженность пациента</a:t>
            </a:r>
            <a:r>
              <a:rPr kumimoji="0" lang="ru-RU" sz="1800" b="0" i="0" u="none" strike="noStrike" kern="1200" cap="none" spc="0" normalizeH="0" baseline="50000" noProof="0" dirty="0">
                <a:ln>
                  <a:noFill/>
                </a:ln>
                <a:solidFill>
                  <a:srgbClr val="265374"/>
                </a:solidFill>
                <a:effectLst/>
                <a:uLnTx/>
                <a:uFillTx/>
                <a:latin typeface="Calibri" panose="020F0502020204030204" pitchFamily="34" charset="0"/>
                <a:ea typeface="Verdana" panose="020B0604030504040204" pitchFamily="34" charset="0"/>
                <a:cs typeface="Calibri" panose="020F0502020204030204" pitchFamily="34" charset="0"/>
              </a:rPr>
              <a:t>1</a:t>
            </a:r>
            <a:endParaRPr kumimoji="0" lang="en-GB" altLang="ru-RU" sz="14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Объект 18">
            <a:extLst>
              <a:ext uri="{FF2B5EF4-FFF2-40B4-BE49-F238E27FC236}">
                <a16:creationId xmlns:a16="http://schemas.microsoft.com/office/drawing/2014/main" id="{6877DF96-0B5F-AFBE-D88F-97871E0C1A7A}"/>
              </a:ext>
            </a:extLst>
          </p:cNvPr>
          <p:cNvSpPr>
            <a:spLocks noGrp="1"/>
          </p:cNvSpPr>
          <p:nvPr>
            <p:ph idx="4294967295"/>
          </p:nvPr>
        </p:nvSpPr>
        <p:spPr>
          <a:xfrm>
            <a:off x="924971" y="6471175"/>
            <a:ext cx="9770737" cy="243526"/>
          </a:xfrm>
        </p:spPr>
        <p:txBody>
          <a:bodyPr>
            <a:norm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a:t>
            </a:r>
            <a:r>
              <a:rPr lang="ru-RU" sz="800" dirty="0">
                <a:solidFill>
                  <a:srgbClr val="323F48"/>
                </a:solidFill>
                <a:latin typeface="Calibri" panose="020F0502020204030204" pitchFamily="34" charset="0"/>
                <a:cs typeface="Calibri" panose="020F0502020204030204" pitchFamily="34" charset="0"/>
              </a:rPr>
              <a:t> </a:t>
            </a:r>
            <a:r>
              <a:rPr lang="en-US" sz="800" dirty="0" err="1">
                <a:solidFill>
                  <a:srgbClr val="323F48"/>
                </a:solidFill>
                <a:latin typeface="Calibri" panose="020F0502020204030204" pitchFamily="34" charset="0"/>
                <a:cs typeface="Calibri" panose="020F0502020204030204" pitchFamily="34" charset="0"/>
              </a:rPr>
              <a:t>E.Berra</a:t>
            </a:r>
            <a:r>
              <a:rPr lang="en-US" sz="800" dirty="0">
                <a:solidFill>
                  <a:srgbClr val="323F48"/>
                </a:solidFill>
                <a:latin typeface="Calibri" panose="020F0502020204030204" pitchFamily="34" charset="0"/>
                <a:cs typeface="Calibri" panose="020F0502020204030204" pitchFamily="34" charset="0"/>
              </a:rPr>
              <a:t> HYPERTENSIONAHA.116.07464 Hypertension. 2016;68:297–306. https://doi.org/10.1161/HYPERTENSIONAHA.116.07464</a:t>
            </a:r>
          </a:p>
        </p:txBody>
      </p:sp>
      <p:sp>
        <p:nvSpPr>
          <p:cNvPr id="3" name="Номер слайда 2">
            <a:extLst>
              <a:ext uri="{FF2B5EF4-FFF2-40B4-BE49-F238E27FC236}">
                <a16:creationId xmlns:a16="http://schemas.microsoft.com/office/drawing/2014/main" id="{FFC6B09B-7DCC-8F03-0833-6413251ACFB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93" name="Группа 92">
            <a:extLst>
              <a:ext uri="{FF2B5EF4-FFF2-40B4-BE49-F238E27FC236}">
                <a16:creationId xmlns:a16="http://schemas.microsoft.com/office/drawing/2014/main" id="{25D14408-BDBC-045B-7544-BC867370A690}"/>
              </a:ext>
            </a:extLst>
          </p:cNvPr>
          <p:cNvGrpSpPr/>
          <p:nvPr/>
        </p:nvGrpSpPr>
        <p:grpSpPr>
          <a:xfrm>
            <a:off x="1090386" y="1884611"/>
            <a:ext cx="9528628" cy="4173705"/>
            <a:chOff x="1090386" y="1744804"/>
            <a:chExt cx="9528628" cy="4173705"/>
          </a:xfrm>
        </p:grpSpPr>
        <p:cxnSp>
          <p:nvCxnSpPr>
            <p:cNvPr id="83" name="Прямая соединительная линия 82">
              <a:extLst>
                <a:ext uri="{FF2B5EF4-FFF2-40B4-BE49-F238E27FC236}">
                  <a16:creationId xmlns:a16="http://schemas.microsoft.com/office/drawing/2014/main" id="{FA86390A-0B2B-1ED6-23BB-3073558B7EC2}"/>
                </a:ext>
              </a:extLst>
            </p:cNvPr>
            <p:cNvCxnSpPr/>
            <p:nvPr/>
          </p:nvCxnSpPr>
          <p:spPr>
            <a:xfrm>
              <a:off x="1727200" y="2319744"/>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a:extLst>
                <a:ext uri="{FF2B5EF4-FFF2-40B4-BE49-F238E27FC236}">
                  <a16:creationId xmlns:a16="http://schemas.microsoft.com/office/drawing/2014/main" id="{9B190781-0B5E-F9F6-276E-A0F39430D2E0}"/>
                </a:ext>
              </a:extLst>
            </p:cNvPr>
            <p:cNvCxnSpPr/>
            <p:nvPr/>
          </p:nvCxnSpPr>
          <p:spPr>
            <a:xfrm>
              <a:off x="1727200" y="2859675"/>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5" name="Прямая соединительная линия 84">
              <a:extLst>
                <a:ext uri="{FF2B5EF4-FFF2-40B4-BE49-F238E27FC236}">
                  <a16:creationId xmlns:a16="http://schemas.microsoft.com/office/drawing/2014/main" id="{3EA71589-E561-775D-2262-A3F5AE3E5357}"/>
                </a:ext>
              </a:extLst>
            </p:cNvPr>
            <p:cNvCxnSpPr/>
            <p:nvPr/>
          </p:nvCxnSpPr>
          <p:spPr>
            <a:xfrm>
              <a:off x="1727200" y="3399606"/>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85">
              <a:extLst>
                <a:ext uri="{FF2B5EF4-FFF2-40B4-BE49-F238E27FC236}">
                  <a16:creationId xmlns:a16="http://schemas.microsoft.com/office/drawing/2014/main" id="{E73DAA5B-B037-1B1C-9814-060A454A0613}"/>
                </a:ext>
              </a:extLst>
            </p:cNvPr>
            <p:cNvCxnSpPr/>
            <p:nvPr/>
          </p:nvCxnSpPr>
          <p:spPr>
            <a:xfrm>
              <a:off x="1727200" y="3939538"/>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a:extLst>
                <a:ext uri="{FF2B5EF4-FFF2-40B4-BE49-F238E27FC236}">
                  <a16:creationId xmlns:a16="http://schemas.microsoft.com/office/drawing/2014/main" id="{14D25487-AAC6-ECF6-260C-043B4EA6F1B4}"/>
                </a:ext>
              </a:extLst>
            </p:cNvPr>
            <p:cNvCxnSpPr/>
            <p:nvPr/>
          </p:nvCxnSpPr>
          <p:spPr>
            <a:xfrm>
              <a:off x="1727200" y="4479469"/>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87">
              <a:extLst>
                <a:ext uri="{FF2B5EF4-FFF2-40B4-BE49-F238E27FC236}">
                  <a16:creationId xmlns:a16="http://schemas.microsoft.com/office/drawing/2014/main" id="{D4523D50-9E00-C1CC-6735-EE34D3252881}"/>
                </a:ext>
              </a:extLst>
            </p:cNvPr>
            <p:cNvCxnSpPr/>
            <p:nvPr/>
          </p:nvCxnSpPr>
          <p:spPr>
            <a:xfrm>
              <a:off x="1727200" y="5019402"/>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7C828861-EB2E-CABE-7672-D0ACEABB15A2}"/>
                </a:ext>
              </a:extLst>
            </p:cNvPr>
            <p:cNvCxnSpPr/>
            <p:nvPr/>
          </p:nvCxnSpPr>
          <p:spPr>
            <a:xfrm>
              <a:off x="1778000" y="1785257"/>
              <a:ext cx="0" cy="3831772"/>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094E51F3-A19F-8DDC-0A07-A7EA61BFABE3}"/>
                </a:ext>
              </a:extLst>
            </p:cNvPr>
            <p:cNvCxnSpPr/>
            <p:nvPr/>
          </p:nvCxnSpPr>
          <p:spPr>
            <a:xfrm>
              <a:off x="1727200" y="5562600"/>
              <a:ext cx="8891814" cy="0"/>
            </a:xfrm>
            <a:prstGeom prst="line">
              <a:avLst/>
            </a:prstGeom>
            <a:ln w="1270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92" name="Группа 91">
              <a:extLst>
                <a:ext uri="{FF2B5EF4-FFF2-40B4-BE49-F238E27FC236}">
                  <a16:creationId xmlns:a16="http://schemas.microsoft.com/office/drawing/2014/main" id="{BC9A5B35-C422-6D0E-67A8-291390E3BEAC}"/>
                </a:ext>
              </a:extLst>
            </p:cNvPr>
            <p:cNvGrpSpPr/>
            <p:nvPr/>
          </p:nvGrpSpPr>
          <p:grpSpPr>
            <a:xfrm>
              <a:off x="7873021" y="1848627"/>
              <a:ext cx="2303214" cy="461665"/>
              <a:chOff x="8118565" y="2376082"/>
              <a:chExt cx="2303214" cy="461665"/>
            </a:xfrm>
          </p:grpSpPr>
          <p:sp>
            <p:nvSpPr>
              <p:cNvPr id="15" name="TextBox 5">
                <a:extLst>
                  <a:ext uri="{FF2B5EF4-FFF2-40B4-BE49-F238E27FC236}">
                    <a16:creationId xmlns:a16="http://schemas.microsoft.com/office/drawing/2014/main" id="{B11EF3F6-966D-42C6-55F8-3E40CDF596C6}"/>
                  </a:ext>
                </a:extLst>
              </p:cNvPr>
              <p:cNvSpPr txBox="1"/>
              <p:nvPr/>
            </p:nvSpPr>
            <p:spPr>
              <a:xfrm>
                <a:off x="8206916" y="2376082"/>
                <a:ext cx="2214863" cy="461665"/>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Плохая приверженность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Неприверженность</a:t>
                </a:r>
                <a:endPar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6" name="Прямоугольник 15">
                <a:extLst>
                  <a:ext uri="{FF2B5EF4-FFF2-40B4-BE49-F238E27FC236}">
                    <a16:creationId xmlns:a16="http://schemas.microsoft.com/office/drawing/2014/main" id="{21C2CF8E-C459-7869-9E7B-0B7C552F3C27}"/>
                  </a:ext>
                </a:extLst>
              </p:cNvPr>
              <p:cNvSpPr/>
              <p:nvPr/>
            </p:nvSpPr>
            <p:spPr>
              <a:xfrm>
                <a:off x="8118565" y="2460171"/>
                <a:ext cx="108857" cy="108857"/>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7" name="Прямоугольник 16">
                <a:extLst>
                  <a:ext uri="{FF2B5EF4-FFF2-40B4-BE49-F238E27FC236}">
                    <a16:creationId xmlns:a16="http://schemas.microsoft.com/office/drawing/2014/main" id="{CAACDFD1-6D94-3431-F91A-69D8895252A9}"/>
                  </a:ext>
                </a:extLst>
              </p:cNvPr>
              <p:cNvSpPr/>
              <p:nvPr/>
            </p:nvSpPr>
            <p:spPr>
              <a:xfrm>
                <a:off x="8118565" y="2651759"/>
                <a:ext cx="108857" cy="108857"/>
              </a:xfrm>
              <a:prstGeom prst="rect">
                <a:avLst/>
              </a:prstGeom>
              <a:solidFill>
                <a:schemeClr val="accent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0" name="Группа 19">
              <a:extLst>
                <a:ext uri="{FF2B5EF4-FFF2-40B4-BE49-F238E27FC236}">
                  <a16:creationId xmlns:a16="http://schemas.microsoft.com/office/drawing/2014/main" id="{9780230A-F128-88B9-12DA-35DD7DF4980E}"/>
                </a:ext>
              </a:extLst>
            </p:cNvPr>
            <p:cNvGrpSpPr/>
            <p:nvPr/>
          </p:nvGrpSpPr>
          <p:grpSpPr>
            <a:xfrm>
              <a:off x="1931301" y="1779813"/>
              <a:ext cx="715016" cy="3779158"/>
              <a:chOff x="2379523" y="1779813"/>
              <a:chExt cx="715016" cy="3779158"/>
            </a:xfrm>
          </p:grpSpPr>
          <p:grpSp>
            <p:nvGrpSpPr>
              <p:cNvPr id="12" name="Группа 11">
                <a:extLst>
                  <a:ext uri="{FF2B5EF4-FFF2-40B4-BE49-F238E27FC236}">
                    <a16:creationId xmlns:a16="http://schemas.microsoft.com/office/drawing/2014/main" id="{BEB2FDBE-D6D9-0245-711A-6DC62F894D64}"/>
                  </a:ext>
                </a:extLst>
              </p:cNvPr>
              <p:cNvGrpSpPr/>
              <p:nvPr/>
            </p:nvGrpSpPr>
            <p:grpSpPr>
              <a:xfrm>
                <a:off x="2539274" y="2017486"/>
                <a:ext cx="395514" cy="3541485"/>
                <a:chOff x="2539274" y="2017486"/>
                <a:chExt cx="395514" cy="3541485"/>
              </a:xfrm>
            </p:grpSpPr>
            <p:sp>
              <p:nvSpPr>
                <p:cNvPr id="9" name="Прямоугольник 8">
                  <a:extLst>
                    <a:ext uri="{FF2B5EF4-FFF2-40B4-BE49-F238E27FC236}">
                      <a16:creationId xmlns:a16="http://schemas.microsoft.com/office/drawing/2014/main" id="{54E0DE38-CB6C-2557-7A7C-736A6AF04498}"/>
                    </a:ext>
                  </a:extLst>
                </p:cNvPr>
                <p:cNvSpPr/>
                <p:nvPr/>
              </p:nvSpPr>
              <p:spPr>
                <a:xfrm>
                  <a:off x="2539274" y="2017486"/>
                  <a:ext cx="395514" cy="3541485"/>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1" name="Прямоугольник 10">
                  <a:extLst>
                    <a:ext uri="{FF2B5EF4-FFF2-40B4-BE49-F238E27FC236}">
                      <a16:creationId xmlns:a16="http://schemas.microsoft.com/office/drawing/2014/main" id="{9081B194-A1D8-572B-27DE-1764B37C2800}"/>
                    </a:ext>
                  </a:extLst>
                </p:cNvPr>
                <p:cNvSpPr/>
                <p:nvPr/>
              </p:nvSpPr>
              <p:spPr>
                <a:xfrm>
                  <a:off x="2539274" y="3709851"/>
                  <a:ext cx="395514" cy="1845491"/>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18" name="TextBox 5">
                <a:extLst>
                  <a:ext uri="{FF2B5EF4-FFF2-40B4-BE49-F238E27FC236}">
                    <a16:creationId xmlns:a16="http://schemas.microsoft.com/office/drawing/2014/main" id="{F163D09E-0244-67A3-2201-FBA68B131466}"/>
                  </a:ext>
                </a:extLst>
              </p:cNvPr>
              <p:cNvSpPr txBox="1"/>
              <p:nvPr/>
            </p:nvSpPr>
            <p:spPr>
              <a:xfrm>
                <a:off x="2379523" y="1779813"/>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66</a:t>
                </a: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1" name="Группа 20">
              <a:extLst>
                <a:ext uri="{FF2B5EF4-FFF2-40B4-BE49-F238E27FC236}">
                  <a16:creationId xmlns:a16="http://schemas.microsoft.com/office/drawing/2014/main" id="{008F14F2-26EE-F832-3C03-0BCCE3B4B0F5}"/>
                </a:ext>
              </a:extLst>
            </p:cNvPr>
            <p:cNvGrpSpPr/>
            <p:nvPr/>
          </p:nvGrpSpPr>
          <p:grpSpPr>
            <a:xfrm>
              <a:off x="2909623" y="2430782"/>
              <a:ext cx="715016" cy="3128189"/>
              <a:chOff x="2379523" y="2430782"/>
              <a:chExt cx="715016" cy="3128189"/>
            </a:xfrm>
          </p:grpSpPr>
          <p:grpSp>
            <p:nvGrpSpPr>
              <p:cNvPr id="22" name="Группа 21">
                <a:extLst>
                  <a:ext uri="{FF2B5EF4-FFF2-40B4-BE49-F238E27FC236}">
                    <a16:creationId xmlns:a16="http://schemas.microsoft.com/office/drawing/2014/main" id="{BA0F9A44-B367-F2A5-F736-5327F2B36F1B}"/>
                  </a:ext>
                </a:extLst>
              </p:cNvPr>
              <p:cNvGrpSpPr/>
              <p:nvPr/>
            </p:nvGrpSpPr>
            <p:grpSpPr>
              <a:xfrm>
                <a:off x="2539274" y="2708367"/>
                <a:ext cx="395514" cy="2850604"/>
                <a:chOff x="2539274" y="2708367"/>
                <a:chExt cx="395514" cy="2850604"/>
              </a:xfrm>
            </p:grpSpPr>
            <p:sp>
              <p:nvSpPr>
                <p:cNvPr id="24" name="Прямоугольник 23">
                  <a:extLst>
                    <a:ext uri="{FF2B5EF4-FFF2-40B4-BE49-F238E27FC236}">
                      <a16:creationId xmlns:a16="http://schemas.microsoft.com/office/drawing/2014/main" id="{827A01EC-3210-1580-2347-E77175C28CE4}"/>
                    </a:ext>
                  </a:extLst>
                </p:cNvPr>
                <p:cNvSpPr/>
                <p:nvPr/>
              </p:nvSpPr>
              <p:spPr>
                <a:xfrm>
                  <a:off x="2539274" y="2708367"/>
                  <a:ext cx="395514" cy="2850604"/>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5" name="Прямоугольник 24">
                  <a:extLst>
                    <a:ext uri="{FF2B5EF4-FFF2-40B4-BE49-F238E27FC236}">
                      <a16:creationId xmlns:a16="http://schemas.microsoft.com/office/drawing/2014/main" id="{BB2D1485-19E2-847B-791D-84A916E8AC64}"/>
                    </a:ext>
                  </a:extLst>
                </p:cNvPr>
                <p:cNvSpPr/>
                <p:nvPr/>
              </p:nvSpPr>
              <p:spPr>
                <a:xfrm>
                  <a:off x="2539274" y="4713728"/>
                  <a:ext cx="395514" cy="841614"/>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3" name="TextBox 5">
                <a:extLst>
                  <a:ext uri="{FF2B5EF4-FFF2-40B4-BE49-F238E27FC236}">
                    <a16:creationId xmlns:a16="http://schemas.microsoft.com/office/drawing/2014/main" id="{3ABAECD8-7640-3087-C761-5A652CDD4168}"/>
                  </a:ext>
                </a:extLst>
              </p:cNvPr>
              <p:cNvSpPr txBox="1"/>
              <p:nvPr/>
            </p:nvSpPr>
            <p:spPr>
              <a:xfrm>
                <a:off x="2379523" y="2430782"/>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53%</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26" name="Группа 25">
              <a:extLst>
                <a:ext uri="{FF2B5EF4-FFF2-40B4-BE49-F238E27FC236}">
                  <a16:creationId xmlns:a16="http://schemas.microsoft.com/office/drawing/2014/main" id="{89337B3E-DF32-8881-5FF6-5F5F7DBD4BF8}"/>
                </a:ext>
              </a:extLst>
            </p:cNvPr>
            <p:cNvGrpSpPr/>
            <p:nvPr/>
          </p:nvGrpSpPr>
          <p:grpSpPr>
            <a:xfrm>
              <a:off x="3887945" y="2740334"/>
              <a:ext cx="715016" cy="2818637"/>
              <a:chOff x="2379523" y="2740334"/>
              <a:chExt cx="715016" cy="2818637"/>
            </a:xfrm>
          </p:grpSpPr>
          <p:grpSp>
            <p:nvGrpSpPr>
              <p:cNvPr id="27" name="Группа 26">
                <a:extLst>
                  <a:ext uri="{FF2B5EF4-FFF2-40B4-BE49-F238E27FC236}">
                    <a16:creationId xmlns:a16="http://schemas.microsoft.com/office/drawing/2014/main" id="{5D821D52-B47B-08C0-0545-46BD5378641D}"/>
                  </a:ext>
                </a:extLst>
              </p:cNvPr>
              <p:cNvGrpSpPr/>
              <p:nvPr/>
            </p:nvGrpSpPr>
            <p:grpSpPr>
              <a:xfrm>
                <a:off x="2539274" y="3030583"/>
                <a:ext cx="395514" cy="2528388"/>
                <a:chOff x="2539274" y="3030583"/>
                <a:chExt cx="395514" cy="2528388"/>
              </a:xfrm>
            </p:grpSpPr>
            <p:sp>
              <p:nvSpPr>
                <p:cNvPr id="29" name="Прямоугольник 28">
                  <a:extLst>
                    <a:ext uri="{FF2B5EF4-FFF2-40B4-BE49-F238E27FC236}">
                      <a16:creationId xmlns:a16="http://schemas.microsoft.com/office/drawing/2014/main" id="{9FB22CBD-5000-5892-4DC7-0D88FF3271A3}"/>
                    </a:ext>
                  </a:extLst>
                </p:cNvPr>
                <p:cNvSpPr/>
                <p:nvPr/>
              </p:nvSpPr>
              <p:spPr>
                <a:xfrm>
                  <a:off x="2539274" y="3030583"/>
                  <a:ext cx="395514" cy="2528388"/>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Прямоугольник 29">
                  <a:extLst>
                    <a:ext uri="{FF2B5EF4-FFF2-40B4-BE49-F238E27FC236}">
                      <a16:creationId xmlns:a16="http://schemas.microsoft.com/office/drawing/2014/main" id="{7CBD8451-75BA-FA86-30AE-36131361CAEA}"/>
                    </a:ext>
                  </a:extLst>
                </p:cNvPr>
                <p:cNvSpPr/>
                <p:nvPr/>
              </p:nvSpPr>
              <p:spPr>
                <a:xfrm>
                  <a:off x="2539274" y="4310743"/>
                  <a:ext cx="395514" cy="1244599"/>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28" name="TextBox 5">
                <a:extLst>
                  <a:ext uri="{FF2B5EF4-FFF2-40B4-BE49-F238E27FC236}">
                    <a16:creationId xmlns:a16="http://schemas.microsoft.com/office/drawing/2014/main" id="{8BC2A15A-58B9-068F-44F3-8D5C6C6CB6F4}"/>
                  </a:ext>
                </a:extLst>
              </p:cNvPr>
              <p:cNvSpPr txBox="1"/>
              <p:nvPr/>
            </p:nvSpPr>
            <p:spPr>
              <a:xfrm>
                <a:off x="2379523" y="2740334"/>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47%</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3" name="Группа 32">
              <a:extLst>
                <a:ext uri="{FF2B5EF4-FFF2-40B4-BE49-F238E27FC236}">
                  <a16:creationId xmlns:a16="http://schemas.microsoft.com/office/drawing/2014/main" id="{BEA6FBAF-A819-7218-758B-26996B842FF4}"/>
                </a:ext>
              </a:extLst>
            </p:cNvPr>
            <p:cNvGrpSpPr/>
            <p:nvPr/>
          </p:nvGrpSpPr>
          <p:grpSpPr>
            <a:xfrm>
              <a:off x="4866267" y="3390035"/>
              <a:ext cx="715016" cy="2168936"/>
              <a:chOff x="2379523" y="3390035"/>
              <a:chExt cx="715016" cy="2168936"/>
            </a:xfrm>
          </p:grpSpPr>
          <p:grpSp>
            <p:nvGrpSpPr>
              <p:cNvPr id="34" name="Группа 33">
                <a:extLst>
                  <a:ext uri="{FF2B5EF4-FFF2-40B4-BE49-F238E27FC236}">
                    <a16:creationId xmlns:a16="http://schemas.microsoft.com/office/drawing/2014/main" id="{EF02B719-57D2-909E-C4D3-E4A988C66F5C}"/>
                  </a:ext>
                </a:extLst>
              </p:cNvPr>
              <p:cNvGrpSpPr/>
              <p:nvPr/>
            </p:nvGrpSpPr>
            <p:grpSpPr>
              <a:xfrm>
                <a:off x="2539274" y="3670663"/>
                <a:ext cx="395514" cy="1888308"/>
                <a:chOff x="2539274" y="3670663"/>
                <a:chExt cx="395514" cy="1888308"/>
              </a:xfrm>
            </p:grpSpPr>
            <p:sp>
              <p:nvSpPr>
                <p:cNvPr id="36" name="Прямоугольник 35">
                  <a:extLst>
                    <a:ext uri="{FF2B5EF4-FFF2-40B4-BE49-F238E27FC236}">
                      <a16:creationId xmlns:a16="http://schemas.microsoft.com/office/drawing/2014/main" id="{102848D7-0DED-A841-95EB-3D4FBB7DF268}"/>
                    </a:ext>
                  </a:extLst>
                </p:cNvPr>
                <p:cNvSpPr/>
                <p:nvPr/>
              </p:nvSpPr>
              <p:spPr>
                <a:xfrm>
                  <a:off x="2539274" y="3670663"/>
                  <a:ext cx="395514" cy="1888308"/>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7" name="Прямоугольник 36">
                  <a:extLst>
                    <a:ext uri="{FF2B5EF4-FFF2-40B4-BE49-F238E27FC236}">
                      <a16:creationId xmlns:a16="http://schemas.microsoft.com/office/drawing/2014/main" id="{D2DA9F36-3B68-85EB-E1C7-C5479A609429}"/>
                    </a:ext>
                  </a:extLst>
                </p:cNvPr>
                <p:cNvSpPr/>
                <p:nvPr/>
              </p:nvSpPr>
              <p:spPr>
                <a:xfrm>
                  <a:off x="2539274" y="4933407"/>
                  <a:ext cx="395514" cy="621935"/>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35" name="TextBox 5">
                <a:extLst>
                  <a:ext uri="{FF2B5EF4-FFF2-40B4-BE49-F238E27FC236}">
                    <a16:creationId xmlns:a16="http://schemas.microsoft.com/office/drawing/2014/main" id="{D5359C0F-6F28-16E9-3C39-0033A9F508D7}"/>
                  </a:ext>
                </a:extLst>
              </p:cNvPr>
              <p:cNvSpPr txBox="1"/>
              <p:nvPr/>
            </p:nvSpPr>
            <p:spPr>
              <a:xfrm>
                <a:off x="2379523" y="3390035"/>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35%</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38" name="Группа 37">
              <a:extLst>
                <a:ext uri="{FF2B5EF4-FFF2-40B4-BE49-F238E27FC236}">
                  <a16:creationId xmlns:a16="http://schemas.microsoft.com/office/drawing/2014/main" id="{00508AA6-006B-3BCB-5AAC-B81BB9EE96BF}"/>
                </a:ext>
              </a:extLst>
            </p:cNvPr>
            <p:cNvGrpSpPr/>
            <p:nvPr/>
          </p:nvGrpSpPr>
          <p:grpSpPr>
            <a:xfrm>
              <a:off x="5844589" y="2418381"/>
              <a:ext cx="715016" cy="3140590"/>
              <a:chOff x="2379523" y="2418381"/>
              <a:chExt cx="715016" cy="3140590"/>
            </a:xfrm>
          </p:grpSpPr>
          <p:grpSp>
            <p:nvGrpSpPr>
              <p:cNvPr id="39" name="Группа 38">
                <a:extLst>
                  <a:ext uri="{FF2B5EF4-FFF2-40B4-BE49-F238E27FC236}">
                    <a16:creationId xmlns:a16="http://schemas.microsoft.com/office/drawing/2014/main" id="{2E0F11B2-17FC-2144-13F7-CC82948B61AE}"/>
                  </a:ext>
                </a:extLst>
              </p:cNvPr>
              <p:cNvGrpSpPr/>
              <p:nvPr/>
            </p:nvGrpSpPr>
            <p:grpSpPr>
              <a:xfrm>
                <a:off x="2539274" y="2651759"/>
                <a:ext cx="395514" cy="2907212"/>
                <a:chOff x="2539274" y="2651759"/>
                <a:chExt cx="395514" cy="2907212"/>
              </a:xfrm>
            </p:grpSpPr>
            <p:sp>
              <p:nvSpPr>
                <p:cNvPr id="41" name="Прямоугольник 40">
                  <a:extLst>
                    <a:ext uri="{FF2B5EF4-FFF2-40B4-BE49-F238E27FC236}">
                      <a16:creationId xmlns:a16="http://schemas.microsoft.com/office/drawing/2014/main" id="{DCD6A0CA-B53F-6B84-4825-19DF67B2A995}"/>
                    </a:ext>
                  </a:extLst>
                </p:cNvPr>
                <p:cNvSpPr/>
                <p:nvPr/>
              </p:nvSpPr>
              <p:spPr>
                <a:xfrm>
                  <a:off x="2539274" y="2651759"/>
                  <a:ext cx="395514" cy="2907212"/>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2" name="Прямоугольник 41">
                  <a:extLst>
                    <a:ext uri="{FF2B5EF4-FFF2-40B4-BE49-F238E27FC236}">
                      <a16:creationId xmlns:a16="http://schemas.microsoft.com/office/drawing/2014/main" id="{056D7266-9C04-0EF0-A9EB-1D2FCB17B298}"/>
                    </a:ext>
                  </a:extLst>
                </p:cNvPr>
                <p:cNvSpPr/>
                <p:nvPr/>
              </p:nvSpPr>
              <p:spPr>
                <a:xfrm>
                  <a:off x="2539274" y="3829221"/>
                  <a:ext cx="395514" cy="1726121"/>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0" name="TextBox 5">
                <a:extLst>
                  <a:ext uri="{FF2B5EF4-FFF2-40B4-BE49-F238E27FC236}">
                    <a16:creationId xmlns:a16="http://schemas.microsoft.com/office/drawing/2014/main" id="{AB8519F9-EB42-9428-D7ED-FA6B52ACF305}"/>
                  </a:ext>
                </a:extLst>
              </p:cNvPr>
              <p:cNvSpPr txBox="1"/>
              <p:nvPr/>
            </p:nvSpPr>
            <p:spPr>
              <a:xfrm>
                <a:off x="2379523" y="2418381"/>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43" name="Группа 42">
              <a:extLst>
                <a:ext uri="{FF2B5EF4-FFF2-40B4-BE49-F238E27FC236}">
                  <a16:creationId xmlns:a16="http://schemas.microsoft.com/office/drawing/2014/main" id="{55F73BC3-8DA6-7B2C-9AC2-CDC9620B939C}"/>
                </a:ext>
              </a:extLst>
            </p:cNvPr>
            <p:cNvGrpSpPr/>
            <p:nvPr/>
          </p:nvGrpSpPr>
          <p:grpSpPr>
            <a:xfrm>
              <a:off x="6822911" y="2718150"/>
              <a:ext cx="715016" cy="2840821"/>
              <a:chOff x="2379523" y="2718150"/>
              <a:chExt cx="715016" cy="2840821"/>
            </a:xfrm>
          </p:grpSpPr>
          <p:grpSp>
            <p:nvGrpSpPr>
              <p:cNvPr id="44" name="Группа 43">
                <a:extLst>
                  <a:ext uri="{FF2B5EF4-FFF2-40B4-BE49-F238E27FC236}">
                    <a16:creationId xmlns:a16="http://schemas.microsoft.com/office/drawing/2014/main" id="{4DE34A92-D704-C15F-7DAD-6824075E20F6}"/>
                  </a:ext>
                </a:extLst>
              </p:cNvPr>
              <p:cNvGrpSpPr/>
              <p:nvPr/>
            </p:nvGrpSpPr>
            <p:grpSpPr>
              <a:xfrm>
                <a:off x="2539274" y="2986559"/>
                <a:ext cx="395514" cy="2572412"/>
                <a:chOff x="2539274" y="2986559"/>
                <a:chExt cx="395514" cy="2572412"/>
              </a:xfrm>
            </p:grpSpPr>
            <p:sp>
              <p:nvSpPr>
                <p:cNvPr id="46" name="Прямоугольник 45">
                  <a:extLst>
                    <a:ext uri="{FF2B5EF4-FFF2-40B4-BE49-F238E27FC236}">
                      <a16:creationId xmlns:a16="http://schemas.microsoft.com/office/drawing/2014/main" id="{DE725C4C-7F66-8B93-05F5-957D6DD21D94}"/>
                    </a:ext>
                  </a:extLst>
                </p:cNvPr>
                <p:cNvSpPr/>
                <p:nvPr/>
              </p:nvSpPr>
              <p:spPr>
                <a:xfrm>
                  <a:off x="2539274" y="2986559"/>
                  <a:ext cx="395514" cy="2572412"/>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47" name="Прямоугольник 46">
                  <a:extLst>
                    <a:ext uri="{FF2B5EF4-FFF2-40B4-BE49-F238E27FC236}">
                      <a16:creationId xmlns:a16="http://schemas.microsoft.com/office/drawing/2014/main" id="{5B85F7C3-132D-8B5F-EC57-BA5151E5E8B6}"/>
                    </a:ext>
                  </a:extLst>
                </p:cNvPr>
                <p:cNvSpPr/>
                <p:nvPr/>
              </p:nvSpPr>
              <p:spPr>
                <a:xfrm>
                  <a:off x="2539274" y="5453744"/>
                  <a:ext cx="395514" cy="101598"/>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45" name="TextBox 5">
                <a:extLst>
                  <a:ext uri="{FF2B5EF4-FFF2-40B4-BE49-F238E27FC236}">
                    <a16:creationId xmlns:a16="http://schemas.microsoft.com/office/drawing/2014/main" id="{FBEECF5E-F8E3-B524-B1AA-0977AF7072EC}"/>
                  </a:ext>
                </a:extLst>
              </p:cNvPr>
              <p:cNvSpPr txBox="1"/>
              <p:nvPr/>
            </p:nvSpPr>
            <p:spPr>
              <a:xfrm>
                <a:off x="2379523" y="2718150"/>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48%</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48" name="Группа 47">
              <a:extLst>
                <a:ext uri="{FF2B5EF4-FFF2-40B4-BE49-F238E27FC236}">
                  <a16:creationId xmlns:a16="http://schemas.microsoft.com/office/drawing/2014/main" id="{ED2B7CEE-A1CE-64E5-C531-A70D66D73B68}"/>
                </a:ext>
              </a:extLst>
            </p:cNvPr>
            <p:cNvGrpSpPr/>
            <p:nvPr/>
          </p:nvGrpSpPr>
          <p:grpSpPr>
            <a:xfrm>
              <a:off x="7801233" y="3444855"/>
              <a:ext cx="715016" cy="2114116"/>
              <a:chOff x="2379523" y="3444855"/>
              <a:chExt cx="715016" cy="2114116"/>
            </a:xfrm>
          </p:grpSpPr>
          <p:grpSp>
            <p:nvGrpSpPr>
              <p:cNvPr id="49" name="Группа 48">
                <a:extLst>
                  <a:ext uri="{FF2B5EF4-FFF2-40B4-BE49-F238E27FC236}">
                    <a16:creationId xmlns:a16="http://schemas.microsoft.com/office/drawing/2014/main" id="{C01D0D95-D907-5A5D-510C-4ED5BE085415}"/>
                  </a:ext>
                </a:extLst>
              </p:cNvPr>
              <p:cNvGrpSpPr/>
              <p:nvPr/>
            </p:nvGrpSpPr>
            <p:grpSpPr>
              <a:xfrm>
                <a:off x="2539274" y="3740757"/>
                <a:ext cx="395514" cy="1818214"/>
                <a:chOff x="2539274" y="3740757"/>
                <a:chExt cx="395514" cy="1818214"/>
              </a:xfrm>
            </p:grpSpPr>
            <p:sp>
              <p:nvSpPr>
                <p:cNvPr id="51" name="Прямоугольник 50">
                  <a:extLst>
                    <a:ext uri="{FF2B5EF4-FFF2-40B4-BE49-F238E27FC236}">
                      <a16:creationId xmlns:a16="http://schemas.microsoft.com/office/drawing/2014/main" id="{B3E24ACA-B421-2C99-45B9-0BCDD7040931}"/>
                    </a:ext>
                  </a:extLst>
                </p:cNvPr>
                <p:cNvSpPr/>
                <p:nvPr/>
              </p:nvSpPr>
              <p:spPr>
                <a:xfrm>
                  <a:off x="2539274" y="3740757"/>
                  <a:ext cx="395514" cy="1818214"/>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2" name="Прямоугольник 51">
                  <a:extLst>
                    <a:ext uri="{FF2B5EF4-FFF2-40B4-BE49-F238E27FC236}">
                      <a16:creationId xmlns:a16="http://schemas.microsoft.com/office/drawing/2014/main" id="{2CC72FA7-7522-FE09-687B-84ADA666E737}"/>
                    </a:ext>
                  </a:extLst>
                </p:cNvPr>
                <p:cNvSpPr/>
                <p:nvPr/>
              </p:nvSpPr>
              <p:spPr>
                <a:xfrm>
                  <a:off x="2539274" y="4620985"/>
                  <a:ext cx="395514" cy="934357"/>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50" name="TextBox 5">
                <a:extLst>
                  <a:ext uri="{FF2B5EF4-FFF2-40B4-BE49-F238E27FC236}">
                    <a16:creationId xmlns:a16="http://schemas.microsoft.com/office/drawing/2014/main" id="{4EBF25F9-4BBB-CCF5-00F6-D8C8A3F2CAFC}"/>
                  </a:ext>
                </a:extLst>
              </p:cNvPr>
              <p:cNvSpPr txBox="1"/>
              <p:nvPr/>
            </p:nvSpPr>
            <p:spPr>
              <a:xfrm>
                <a:off x="2379523" y="3444855"/>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53" name="Группа 52">
              <a:extLst>
                <a:ext uri="{FF2B5EF4-FFF2-40B4-BE49-F238E27FC236}">
                  <a16:creationId xmlns:a16="http://schemas.microsoft.com/office/drawing/2014/main" id="{EE74C797-B28B-A364-B58B-7C77CB821A02}"/>
                </a:ext>
              </a:extLst>
            </p:cNvPr>
            <p:cNvGrpSpPr/>
            <p:nvPr/>
          </p:nvGrpSpPr>
          <p:grpSpPr>
            <a:xfrm>
              <a:off x="8779555" y="4069057"/>
              <a:ext cx="715016" cy="1489913"/>
              <a:chOff x="2379523" y="4069057"/>
              <a:chExt cx="715016" cy="1489913"/>
            </a:xfrm>
          </p:grpSpPr>
          <p:grpSp>
            <p:nvGrpSpPr>
              <p:cNvPr id="54" name="Группа 53">
                <a:extLst>
                  <a:ext uri="{FF2B5EF4-FFF2-40B4-BE49-F238E27FC236}">
                    <a16:creationId xmlns:a16="http://schemas.microsoft.com/office/drawing/2014/main" id="{937AE670-ACA4-60D7-DC0D-4966756132F4}"/>
                  </a:ext>
                </a:extLst>
              </p:cNvPr>
              <p:cNvGrpSpPr/>
              <p:nvPr/>
            </p:nvGrpSpPr>
            <p:grpSpPr>
              <a:xfrm>
                <a:off x="2539274" y="4328961"/>
                <a:ext cx="395514" cy="1230009"/>
                <a:chOff x="2539274" y="4328961"/>
                <a:chExt cx="395514" cy="1230009"/>
              </a:xfrm>
            </p:grpSpPr>
            <p:sp>
              <p:nvSpPr>
                <p:cNvPr id="56" name="Прямоугольник 55">
                  <a:extLst>
                    <a:ext uri="{FF2B5EF4-FFF2-40B4-BE49-F238E27FC236}">
                      <a16:creationId xmlns:a16="http://schemas.microsoft.com/office/drawing/2014/main" id="{233EF1AB-77F5-9305-A2B4-5D88F321F8EE}"/>
                    </a:ext>
                  </a:extLst>
                </p:cNvPr>
                <p:cNvSpPr/>
                <p:nvPr/>
              </p:nvSpPr>
              <p:spPr>
                <a:xfrm>
                  <a:off x="2539274" y="4328961"/>
                  <a:ext cx="395514" cy="1230009"/>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7" name="Прямоугольник 56">
                  <a:extLst>
                    <a:ext uri="{FF2B5EF4-FFF2-40B4-BE49-F238E27FC236}">
                      <a16:creationId xmlns:a16="http://schemas.microsoft.com/office/drawing/2014/main" id="{12033289-E993-9928-C2F9-802995C76604}"/>
                    </a:ext>
                  </a:extLst>
                </p:cNvPr>
                <p:cNvSpPr/>
                <p:nvPr/>
              </p:nvSpPr>
              <p:spPr>
                <a:xfrm>
                  <a:off x="2539274" y="5007429"/>
                  <a:ext cx="395514" cy="547913"/>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55" name="TextBox 5">
                <a:extLst>
                  <a:ext uri="{FF2B5EF4-FFF2-40B4-BE49-F238E27FC236}">
                    <a16:creationId xmlns:a16="http://schemas.microsoft.com/office/drawing/2014/main" id="{C529649E-3DB4-ABE2-516F-08DFA01465F4}"/>
                  </a:ext>
                </a:extLst>
              </p:cNvPr>
              <p:cNvSpPr txBox="1"/>
              <p:nvPr/>
            </p:nvSpPr>
            <p:spPr>
              <a:xfrm>
                <a:off x="2379523" y="4069057"/>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23%</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58" name="Группа 57">
              <a:extLst>
                <a:ext uri="{FF2B5EF4-FFF2-40B4-BE49-F238E27FC236}">
                  <a16:creationId xmlns:a16="http://schemas.microsoft.com/office/drawing/2014/main" id="{43408AC4-19C1-672A-5BAE-7BE0C48AC42A}"/>
                </a:ext>
              </a:extLst>
            </p:cNvPr>
            <p:cNvGrpSpPr/>
            <p:nvPr/>
          </p:nvGrpSpPr>
          <p:grpSpPr>
            <a:xfrm>
              <a:off x="9757877" y="2959468"/>
              <a:ext cx="715016" cy="2599503"/>
              <a:chOff x="2379523" y="2959468"/>
              <a:chExt cx="715016" cy="2599503"/>
            </a:xfrm>
          </p:grpSpPr>
          <p:grpSp>
            <p:nvGrpSpPr>
              <p:cNvPr id="59" name="Группа 58">
                <a:extLst>
                  <a:ext uri="{FF2B5EF4-FFF2-40B4-BE49-F238E27FC236}">
                    <a16:creationId xmlns:a16="http://schemas.microsoft.com/office/drawing/2014/main" id="{6A4C74CE-B011-76DF-7E76-EFA9B14F5D64}"/>
                  </a:ext>
                </a:extLst>
              </p:cNvPr>
              <p:cNvGrpSpPr/>
              <p:nvPr/>
            </p:nvGrpSpPr>
            <p:grpSpPr>
              <a:xfrm>
                <a:off x="2539274" y="3200405"/>
                <a:ext cx="395514" cy="2358566"/>
                <a:chOff x="2539274" y="3200405"/>
                <a:chExt cx="395514" cy="2358566"/>
              </a:xfrm>
            </p:grpSpPr>
            <p:sp>
              <p:nvSpPr>
                <p:cNvPr id="61" name="Прямоугольник 60">
                  <a:extLst>
                    <a:ext uri="{FF2B5EF4-FFF2-40B4-BE49-F238E27FC236}">
                      <a16:creationId xmlns:a16="http://schemas.microsoft.com/office/drawing/2014/main" id="{E9A3B644-7D0F-3EF7-EC3C-EA3D878041FD}"/>
                    </a:ext>
                  </a:extLst>
                </p:cNvPr>
                <p:cNvSpPr/>
                <p:nvPr/>
              </p:nvSpPr>
              <p:spPr>
                <a:xfrm>
                  <a:off x="2539274" y="3200405"/>
                  <a:ext cx="395514" cy="2358566"/>
                </a:xfrm>
                <a:prstGeom prst="rect">
                  <a:avLst/>
                </a:prstGeom>
                <a:solidFill>
                  <a:srgbClr val="C1D82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2" name="Прямоугольник 61">
                  <a:extLst>
                    <a:ext uri="{FF2B5EF4-FFF2-40B4-BE49-F238E27FC236}">
                      <a16:creationId xmlns:a16="http://schemas.microsoft.com/office/drawing/2014/main" id="{0DBD5929-8F1B-7268-9618-6507D9AD5115}"/>
                    </a:ext>
                  </a:extLst>
                </p:cNvPr>
                <p:cNvSpPr/>
                <p:nvPr/>
              </p:nvSpPr>
              <p:spPr>
                <a:xfrm>
                  <a:off x="2539274" y="5334000"/>
                  <a:ext cx="395514" cy="221342"/>
                </a:xfrm>
                <a:prstGeom prst="rect">
                  <a:avLst/>
                </a:prstGeom>
                <a:solidFill>
                  <a:srgbClr val="EC736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60" name="TextBox 5">
                <a:extLst>
                  <a:ext uri="{FF2B5EF4-FFF2-40B4-BE49-F238E27FC236}">
                    <a16:creationId xmlns:a16="http://schemas.microsoft.com/office/drawing/2014/main" id="{4607C1E9-9639-5912-5C0D-3C6282D47EA6}"/>
                  </a:ext>
                </a:extLst>
              </p:cNvPr>
              <p:cNvSpPr txBox="1"/>
              <p:nvPr/>
            </p:nvSpPr>
            <p:spPr>
              <a:xfrm>
                <a:off x="2379523" y="2959468"/>
                <a:ext cx="715016" cy="276999"/>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44%</a:t>
                </a:r>
                <a:endPar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89" name="Группа 88">
              <a:extLst>
                <a:ext uri="{FF2B5EF4-FFF2-40B4-BE49-F238E27FC236}">
                  <a16:creationId xmlns:a16="http://schemas.microsoft.com/office/drawing/2014/main" id="{C03EE438-AA86-F787-B1C1-F53E69BC9503}"/>
                </a:ext>
              </a:extLst>
            </p:cNvPr>
            <p:cNvGrpSpPr/>
            <p:nvPr/>
          </p:nvGrpSpPr>
          <p:grpSpPr>
            <a:xfrm>
              <a:off x="1778000" y="5656899"/>
              <a:ext cx="8841014" cy="261610"/>
              <a:chOff x="1778000" y="5656899"/>
              <a:chExt cx="8841014" cy="261610"/>
            </a:xfrm>
          </p:grpSpPr>
          <p:sp>
            <p:nvSpPr>
              <p:cNvPr id="64" name="TextBox 63">
                <a:extLst>
                  <a:ext uri="{FF2B5EF4-FFF2-40B4-BE49-F238E27FC236}">
                    <a16:creationId xmlns:a16="http://schemas.microsoft.com/office/drawing/2014/main" id="{36D51452-211E-5704-8A74-05611759B2CD}"/>
                  </a:ext>
                </a:extLst>
              </p:cNvPr>
              <p:cNvSpPr txBox="1"/>
              <p:nvPr/>
            </p:nvSpPr>
            <p:spPr>
              <a:xfrm>
                <a:off x="1778000"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Ceral</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(2011)</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5" name="TextBox 64">
                <a:extLst>
                  <a:ext uri="{FF2B5EF4-FFF2-40B4-BE49-F238E27FC236}">
                    <a16:creationId xmlns:a16="http://schemas.microsoft.com/office/drawing/2014/main" id="{7263877C-AE7F-910E-3506-A282A0961D07}"/>
                  </a:ext>
                </a:extLst>
              </p:cNvPr>
              <p:cNvSpPr txBox="1"/>
              <p:nvPr/>
            </p:nvSpPr>
            <p:spPr>
              <a:xfrm>
                <a:off x="277077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Jung</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(2013)</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78334D67-9946-E0B1-15C8-92BD21995F0E}"/>
                  </a:ext>
                </a:extLst>
              </p:cNvPr>
              <p:cNvSpPr txBox="1"/>
              <p:nvPr/>
            </p:nvSpPr>
            <p:spPr>
              <a:xfrm>
                <a:off x="3767909"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Strauch</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(2013)</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7" name="TextBox 66">
                <a:extLst>
                  <a:ext uri="{FF2B5EF4-FFF2-40B4-BE49-F238E27FC236}">
                    <a16:creationId xmlns:a16="http://schemas.microsoft.com/office/drawing/2014/main" id="{398D3626-2B44-7162-89B7-FEB599513725}"/>
                  </a:ext>
                </a:extLst>
              </p:cNvPr>
              <p:cNvSpPr txBox="1"/>
              <p:nvPr/>
            </p:nvSpPr>
            <p:spPr>
              <a:xfrm>
                <a:off x="475487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Tomaszewski</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8" name="TextBox 67">
                <a:extLst>
                  <a:ext uri="{FF2B5EF4-FFF2-40B4-BE49-F238E27FC236}">
                    <a16:creationId xmlns:a16="http://schemas.microsoft.com/office/drawing/2014/main" id="{E7622CB4-D1B7-2FBC-4AB7-8AB58C448258}"/>
                  </a:ext>
                </a:extLst>
              </p:cNvPr>
              <p:cNvSpPr txBox="1"/>
              <p:nvPr/>
            </p:nvSpPr>
            <p:spPr>
              <a:xfrm>
                <a:off x="5722983"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Brinker</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69" name="TextBox 68">
                <a:extLst>
                  <a:ext uri="{FF2B5EF4-FFF2-40B4-BE49-F238E27FC236}">
                    <a16:creationId xmlns:a16="http://schemas.microsoft.com/office/drawing/2014/main" id="{1AF9C044-4CA4-B5FA-7BD2-CC77200A6B75}"/>
                  </a:ext>
                </a:extLst>
              </p:cNvPr>
              <p:cNvSpPr txBox="1"/>
              <p:nvPr/>
            </p:nvSpPr>
            <p:spPr>
              <a:xfrm>
                <a:off x="6693988"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Ewen</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(2014)</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0" name="TextBox 69">
                <a:extLst>
                  <a:ext uri="{FF2B5EF4-FFF2-40B4-BE49-F238E27FC236}">
                    <a16:creationId xmlns:a16="http://schemas.microsoft.com/office/drawing/2014/main" id="{A014B7E8-CA4F-D63D-D1D7-B959DAE18567}"/>
                  </a:ext>
                </a:extLst>
              </p:cNvPr>
              <p:cNvSpPr txBox="1"/>
              <p:nvPr/>
            </p:nvSpPr>
            <p:spPr>
              <a:xfrm>
                <a:off x="7677595"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Patel</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(2015)</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1" name="TextBox 70">
                <a:extLst>
                  <a:ext uri="{FF2B5EF4-FFF2-40B4-BE49-F238E27FC236}">
                    <a16:creationId xmlns:a16="http://schemas.microsoft.com/office/drawing/2014/main" id="{4F1D006F-56EE-680C-1655-9E5036454B97}"/>
                  </a:ext>
                </a:extLst>
              </p:cNvPr>
              <p:cNvSpPr txBox="1"/>
              <p:nvPr/>
            </p:nvSpPr>
            <p:spPr>
              <a:xfrm>
                <a:off x="8618582"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Hamdidouche</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(2015)</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B80A6894-8606-2144-29C0-1DAA79BA3AAF}"/>
                  </a:ext>
                </a:extLst>
              </p:cNvPr>
              <p:cNvSpPr txBox="1"/>
              <p:nvPr/>
            </p:nvSpPr>
            <p:spPr>
              <a:xfrm>
                <a:off x="9632045" y="5656899"/>
                <a:ext cx="986969" cy="261610"/>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Schmieder</a:t>
                </a:r>
                <a:br>
                  <a:rPr kumimoji="0" lang="en-US"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en-US"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(2016)</a:t>
                </a:r>
                <a:endParaRPr kumimoji="0" lang="ru-RU" sz="8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sp>
          <p:nvSpPr>
            <p:cNvPr id="73" name="TextBox 72">
              <a:extLst>
                <a:ext uri="{FF2B5EF4-FFF2-40B4-BE49-F238E27FC236}">
                  <a16:creationId xmlns:a16="http://schemas.microsoft.com/office/drawing/2014/main" id="{BEC7D75C-7881-5E94-1448-1F94210E65E8}"/>
                </a:ext>
              </a:extLst>
            </p:cNvPr>
            <p:cNvSpPr txBox="1"/>
            <p:nvPr/>
          </p:nvSpPr>
          <p:spPr>
            <a:xfrm>
              <a:off x="1090386" y="1744804"/>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70%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4" name="TextBox 73">
              <a:extLst>
                <a:ext uri="{FF2B5EF4-FFF2-40B4-BE49-F238E27FC236}">
                  <a16:creationId xmlns:a16="http://schemas.microsoft.com/office/drawing/2014/main" id="{8F255C1A-2504-CEA0-1E7F-E342A037FC30}"/>
                </a:ext>
              </a:extLst>
            </p:cNvPr>
            <p:cNvSpPr txBox="1"/>
            <p:nvPr/>
          </p:nvSpPr>
          <p:spPr>
            <a:xfrm>
              <a:off x="1090386" y="2264597"/>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60%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5" name="TextBox 74">
              <a:extLst>
                <a:ext uri="{FF2B5EF4-FFF2-40B4-BE49-F238E27FC236}">
                  <a16:creationId xmlns:a16="http://schemas.microsoft.com/office/drawing/2014/main" id="{D6B0B593-D954-9916-8815-24C952183341}"/>
                </a:ext>
              </a:extLst>
            </p:cNvPr>
            <p:cNvSpPr txBox="1"/>
            <p:nvPr/>
          </p:nvSpPr>
          <p:spPr>
            <a:xfrm>
              <a:off x="1090386" y="2789832"/>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6" name="TextBox 75">
              <a:extLst>
                <a:ext uri="{FF2B5EF4-FFF2-40B4-BE49-F238E27FC236}">
                  <a16:creationId xmlns:a16="http://schemas.microsoft.com/office/drawing/2014/main" id="{4A099AC3-6358-824A-9C82-32343046573E}"/>
                </a:ext>
              </a:extLst>
            </p:cNvPr>
            <p:cNvSpPr txBox="1"/>
            <p:nvPr/>
          </p:nvSpPr>
          <p:spPr>
            <a:xfrm>
              <a:off x="1090386" y="3312346"/>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40%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7" name="TextBox 76">
              <a:extLst>
                <a:ext uri="{FF2B5EF4-FFF2-40B4-BE49-F238E27FC236}">
                  <a16:creationId xmlns:a16="http://schemas.microsoft.com/office/drawing/2014/main" id="{3D404D44-6D01-1B01-2298-CF3569C45283}"/>
                </a:ext>
              </a:extLst>
            </p:cNvPr>
            <p:cNvSpPr txBox="1"/>
            <p:nvPr/>
          </p:nvSpPr>
          <p:spPr>
            <a:xfrm>
              <a:off x="1090386" y="3859353"/>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30%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8" name="TextBox 77">
              <a:extLst>
                <a:ext uri="{FF2B5EF4-FFF2-40B4-BE49-F238E27FC236}">
                  <a16:creationId xmlns:a16="http://schemas.microsoft.com/office/drawing/2014/main" id="{09CD1F9C-6F34-BF73-2439-80EB5B891B0F}"/>
                </a:ext>
              </a:extLst>
            </p:cNvPr>
            <p:cNvSpPr txBox="1"/>
            <p:nvPr/>
          </p:nvSpPr>
          <p:spPr>
            <a:xfrm>
              <a:off x="1090386" y="4390031"/>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20%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79" name="TextBox 78">
              <a:extLst>
                <a:ext uri="{FF2B5EF4-FFF2-40B4-BE49-F238E27FC236}">
                  <a16:creationId xmlns:a16="http://schemas.microsoft.com/office/drawing/2014/main" id="{9F11B576-338E-A6AF-F88E-2D7ECE8C995D}"/>
                </a:ext>
              </a:extLst>
            </p:cNvPr>
            <p:cNvSpPr txBox="1"/>
            <p:nvPr/>
          </p:nvSpPr>
          <p:spPr>
            <a:xfrm>
              <a:off x="1090386" y="4923431"/>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0" name="TextBox 79">
              <a:extLst>
                <a:ext uri="{FF2B5EF4-FFF2-40B4-BE49-F238E27FC236}">
                  <a16:creationId xmlns:a16="http://schemas.microsoft.com/office/drawing/2014/main" id="{DF543FC4-ACA6-A1FA-F5FE-8C96BDE1B19C}"/>
                </a:ext>
              </a:extLst>
            </p:cNvPr>
            <p:cNvSpPr txBox="1"/>
            <p:nvPr/>
          </p:nvSpPr>
          <p:spPr>
            <a:xfrm>
              <a:off x="1090386" y="5481324"/>
              <a:ext cx="555396" cy="161583"/>
            </a:xfrm>
            <a:prstGeom prst="rect">
              <a:avLst/>
            </a:prstGeom>
            <a:noFill/>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a:t>
              </a:r>
              <a:endPar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cxnSp>
          <p:nvCxnSpPr>
            <p:cNvPr id="91" name="Прямая соединительная линия 90">
              <a:extLst>
                <a:ext uri="{FF2B5EF4-FFF2-40B4-BE49-F238E27FC236}">
                  <a16:creationId xmlns:a16="http://schemas.microsoft.com/office/drawing/2014/main" id="{03D41497-7AAB-BF22-CC91-CDF9163BD602}"/>
                </a:ext>
              </a:extLst>
            </p:cNvPr>
            <p:cNvCxnSpPr/>
            <p:nvPr/>
          </p:nvCxnSpPr>
          <p:spPr>
            <a:xfrm>
              <a:off x="1727200" y="1788521"/>
              <a:ext cx="8891814" cy="0"/>
            </a:xfrm>
            <a:prstGeom prst="line">
              <a:avLst/>
            </a:prstGeom>
            <a:ln w="952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grpSp>
      <p:cxnSp>
        <p:nvCxnSpPr>
          <p:cNvPr id="94" name="Straight Arrow Connector 10">
            <a:extLst>
              <a:ext uri="{FF2B5EF4-FFF2-40B4-BE49-F238E27FC236}">
                <a16:creationId xmlns:a16="http://schemas.microsoft.com/office/drawing/2014/main" id="{7C428102-C918-E931-B673-A42DDE007A75}"/>
              </a:ext>
            </a:extLst>
          </p:cNvPr>
          <p:cNvCxnSpPr>
            <a:cxnSpLocks/>
          </p:cNvCxnSpPr>
          <p:nvPr/>
        </p:nvCxnSpPr>
        <p:spPr>
          <a:xfrm>
            <a:off x="1778000" y="3340212"/>
            <a:ext cx="8841014" cy="0"/>
          </a:xfrm>
          <a:prstGeom prst="straightConnector1">
            <a:avLst/>
          </a:prstGeom>
          <a:ln w="412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11">
            <a:extLst>
              <a:ext uri="{FF2B5EF4-FFF2-40B4-BE49-F238E27FC236}">
                <a16:creationId xmlns:a16="http://schemas.microsoft.com/office/drawing/2014/main" id="{5E18514C-BF1C-799B-2CBB-272CE320C31D}"/>
              </a:ext>
            </a:extLst>
          </p:cNvPr>
          <p:cNvCxnSpPr>
            <a:cxnSpLocks/>
          </p:cNvCxnSpPr>
          <p:nvPr/>
        </p:nvCxnSpPr>
        <p:spPr>
          <a:xfrm>
            <a:off x="1778000" y="4619276"/>
            <a:ext cx="8879002" cy="0"/>
          </a:xfrm>
          <a:prstGeom prst="straightConnector1">
            <a:avLst/>
          </a:prstGeom>
          <a:ln w="41275">
            <a:solidFill>
              <a:srgbClr val="E61E50"/>
            </a:solidFill>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1C7C6E6-B230-8754-B0B4-310286CD385B}"/>
              </a:ext>
            </a:extLst>
          </p:cNvPr>
          <p:cNvSpPr txBox="1">
            <a:spLocks/>
          </p:cNvSpPr>
          <p:nvPr/>
        </p:nvSpPr>
        <p:spPr>
          <a:xfrm>
            <a:off x="886509" y="554865"/>
            <a:ext cx="10909300" cy="1019502"/>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Доля</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плохой</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приверженности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или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неприверженности</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b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b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по</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данным</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лекарственного</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мониторинга</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в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различных</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когортах</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пациентов</a:t>
            </a:r>
            <a:r>
              <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с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резистентной</a:t>
            </a:r>
            <a:r>
              <a:rPr kumimoji="0" lang="ru-RU"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a:t>
            </a:r>
            <a:r>
              <a:rPr kumimoji="0" lang="en-US" sz="21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гипертензией</a:t>
            </a:r>
            <a:endParaRPr kumimoji="0" lang="en-US" sz="21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57621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1000" fill="hold"/>
                                        <p:tgtEl>
                                          <p:spTgt spid="94"/>
                                        </p:tgtEl>
                                        <p:attrNameLst>
                                          <p:attrName>ppt_x</p:attrName>
                                        </p:attrNameLst>
                                      </p:cBhvr>
                                      <p:tavLst>
                                        <p:tav tm="0">
                                          <p:val>
                                            <p:strVal val="0-#ppt_w/2"/>
                                          </p:val>
                                        </p:tav>
                                        <p:tav tm="100000">
                                          <p:val>
                                            <p:strVal val="#ppt_x"/>
                                          </p:val>
                                        </p:tav>
                                      </p:tavLst>
                                    </p:anim>
                                    <p:anim calcmode="lin" valueType="num">
                                      <p:cBhvr additive="base">
                                        <p:cTn id="8" dur="10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5"/>
                                        </p:tgtEl>
                                        <p:attrNameLst>
                                          <p:attrName>style.visibility</p:attrName>
                                        </p:attrNameLst>
                                      </p:cBhvr>
                                      <p:to>
                                        <p:strVal val="visible"/>
                                      </p:to>
                                    </p:set>
                                    <p:anim calcmode="lin" valueType="num">
                                      <p:cBhvr additive="base">
                                        <p:cTn id="13" dur="1000" fill="hold"/>
                                        <p:tgtEl>
                                          <p:spTgt spid="95"/>
                                        </p:tgtEl>
                                        <p:attrNameLst>
                                          <p:attrName>ppt_x</p:attrName>
                                        </p:attrNameLst>
                                      </p:cBhvr>
                                      <p:tavLst>
                                        <p:tav tm="0">
                                          <p:val>
                                            <p:strVal val="0-#ppt_w/2"/>
                                          </p:val>
                                        </p:tav>
                                        <p:tav tm="100000">
                                          <p:val>
                                            <p:strVal val="#ppt_x"/>
                                          </p:val>
                                        </p:tav>
                                      </p:tavLst>
                                    </p:anim>
                                    <p:anim calcmode="lin" valueType="num">
                                      <p:cBhvr additive="base">
                                        <p:cTn id="14" dur="10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hteck 2">
            <a:extLst>
              <a:ext uri="{FF2B5EF4-FFF2-40B4-BE49-F238E27FC236}">
                <a16:creationId xmlns:a16="http://schemas.microsoft.com/office/drawing/2014/main" id="{256D70DB-A806-1DE0-6D1E-161C4487B009}"/>
              </a:ext>
            </a:extLst>
          </p:cNvPr>
          <p:cNvSpPr/>
          <p:nvPr/>
        </p:nvSpPr>
        <p:spPr bwMode="auto">
          <a:xfrm>
            <a:off x="1273629" y="4199892"/>
            <a:ext cx="9477937" cy="1166765"/>
          </a:xfrm>
          <a:prstGeom prst="rect">
            <a:avLst/>
          </a:prstGeom>
          <a:noFill/>
          <a:ln w="9525" cap="flat" cmpd="sng" algn="ctr">
            <a:noFill/>
            <a:prstDash val="solid"/>
            <a:round/>
            <a:headEnd type="none" w="med" len="med"/>
            <a:tailEnd type="none" w="med" len="med"/>
          </a:ln>
          <a:effectLst/>
        </p:spPr>
        <p:txBody>
          <a:bodyPr vert="horz" wrap="none" lIns="73152" tIns="73152" rIns="73152" bIns="73152" numCol="1" rtlCol="0" anchor="ctr" anchorCtr="0" compatLnSpc="1">
            <a:prstTxWarp prst="textNoShape">
              <a:avLst/>
            </a:prstTxWarp>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323F48"/>
              </a:solidFill>
              <a:effectLst/>
              <a:uLnTx/>
              <a:uFillTx/>
              <a:latin typeface="Verdana"/>
              <a:ea typeface="+mn-ea"/>
              <a:cs typeface="Calibri" panose="020F0502020204030204" pitchFamily="34" charset="0"/>
            </a:endParaRPr>
          </a:p>
        </p:txBody>
      </p:sp>
      <p:sp>
        <p:nvSpPr>
          <p:cNvPr id="10" name="Номер слайда 9">
            <a:extLst>
              <a:ext uri="{FF2B5EF4-FFF2-40B4-BE49-F238E27FC236}">
                <a16:creationId xmlns:a16="http://schemas.microsoft.com/office/drawing/2014/main" id="{569BC739-A190-316F-EE9C-FB5ED68D8E9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7" name="Объект 8">
            <a:extLst>
              <a:ext uri="{FF2B5EF4-FFF2-40B4-BE49-F238E27FC236}">
                <a16:creationId xmlns:a16="http://schemas.microsoft.com/office/drawing/2014/main" id="{1F14B9AC-4480-5F55-3E2F-33FFADE67D9E}"/>
              </a:ext>
            </a:extLst>
          </p:cNvPr>
          <p:cNvSpPr>
            <a:spLocks noGrp="1"/>
          </p:cNvSpPr>
          <p:nvPr>
            <p:ph idx="4294967295"/>
          </p:nvPr>
        </p:nvSpPr>
        <p:spPr>
          <a:xfrm>
            <a:off x="0" y="6470650"/>
            <a:ext cx="3157538" cy="458788"/>
          </a:xfrm>
        </p:spPr>
        <p:txBody>
          <a:bodyPr>
            <a:noAutofit/>
          </a:bodyPr>
          <a:lstStyle/>
          <a:p>
            <a:pPr marL="0" indent="0">
              <a:lnSpc>
                <a:spcPct val="10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Czarnecka</a:t>
            </a:r>
            <a:r>
              <a:rPr lang="en-US" sz="800" dirty="0">
                <a:solidFill>
                  <a:srgbClr val="323F48"/>
                </a:solidFill>
                <a:latin typeface="Calibri" panose="020F0502020204030204" pitchFamily="34" charset="0"/>
                <a:cs typeface="Calibri" panose="020F0502020204030204" pitchFamily="34" charset="0"/>
              </a:rPr>
              <a:t> D, et al. </a:t>
            </a:r>
            <a:r>
              <a:rPr lang="en-US" sz="800" dirty="0" err="1">
                <a:solidFill>
                  <a:srgbClr val="323F48"/>
                </a:solidFill>
                <a:latin typeface="Calibri" panose="020F0502020204030204" pitchFamily="34" charset="0"/>
                <a:cs typeface="Calibri" panose="020F0502020204030204" pitchFamily="34" charset="0"/>
              </a:rPr>
              <a:t>Curr</a:t>
            </a:r>
            <a:r>
              <a:rPr lang="en-US" sz="800" dirty="0">
                <a:solidFill>
                  <a:srgbClr val="323F48"/>
                </a:solidFill>
                <a:latin typeface="Calibri" panose="020F0502020204030204" pitchFamily="34" charset="0"/>
                <a:cs typeface="Calibri" panose="020F0502020204030204" pitchFamily="34" charset="0"/>
              </a:rPr>
              <a:t> Med Res </a:t>
            </a:r>
            <a:r>
              <a:rPr lang="en-US" sz="800" dirty="0" err="1">
                <a:solidFill>
                  <a:srgbClr val="323F48"/>
                </a:solidFill>
                <a:latin typeface="Calibri" panose="020F0502020204030204" pitchFamily="34" charset="0"/>
                <a:cs typeface="Calibri" panose="020F0502020204030204" pitchFamily="34" charset="0"/>
              </a:rPr>
              <a:t>Opin</a:t>
            </a:r>
            <a:r>
              <a:rPr lang="en-US" sz="800" dirty="0">
                <a:solidFill>
                  <a:srgbClr val="323F48"/>
                </a:solidFill>
                <a:latin typeface="Calibri" panose="020F0502020204030204" pitchFamily="34" charset="0"/>
                <a:cs typeface="Calibri" panose="020F0502020204030204" pitchFamily="34" charset="0"/>
              </a:rPr>
              <a:t>. 2015;31(5):875-81</a:t>
            </a:r>
          </a:p>
        </p:txBody>
      </p:sp>
      <p:graphicFrame>
        <p:nvGraphicFramePr>
          <p:cNvPr id="3" name="Таблица 2">
            <a:extLst>
              <a:ext uri="{FF2B5EF4-FFF2-40B4-BE49-F238E27FC236}">
                <a16:creationId xmlns:a16="http://schemas.microsoft.com/office/drawing/2014/main" id="{1287B6E5-D1E8-5CC6-019C-EC82B6663CA5}"/>
              </a:ext>
            </a:extLst>
          </p:cNvPr>
          <p:cNvGraphicFramePr>
            <a:graphicFrameLocks noGrp="1"/>
          </p:cNvGraphicFramePr>
          <p:nvPr/>
        </p:nvGraphicFramePr>
        <p:xfrm>
          <a:off x="870295" y="1473990"/>
          <a:ext cx="10559706" cy="3837792"/>
        </p:xfrm>
        <a:graphic>
          <a:graphicData uri="http://schemas.openxmlformats.org/drawingml/2006/table">
            <a:tbl>
              <a:tblPr firstRow="1" bandRow="1">
                <a:tableStyleId>{21E4AEA4-8DFA-4A89-87EB-49C32662AFE0}</a:tableStyleId>
              </a:tblPr>
              <a:tblGrid>
                <a:gridCol w="3840250">
                  <a:extLst>
                    <a:ext uri="{9D8B030D-6E8A-4147-A177-3AD203B41FA5}">
                      <a16:colId xmlns:a16="http://schemas.microsoft.com/office/drawing/2014/main" val="3205223080"/>
                    </a:ext>
                  </a:extLst>
                </a:gridCol>
                <a:gridCol w="1679864">
                  <a:extLst>
                    <a:ext uri="{9D8B030D-6E8A-4147-A177-3AD203B41FA5}">
                      <a16:colId xmlns:a16="http://schemas.microsoft.com/office/drawing/2014/main" val="1542570446"/>
                    </a:ext>
                  </a:extLst>
                </a:gridCol>
                <a:gridCol w="1679864">
                  <a:extLst>
                    <a:ext uri="{9D8B030D-6E8A-4147-A177-3AD203B41FA5}">
                      <a16:colId xmlns:a16="http://schemas.microsoft.com/office/drawing/2014/main" val="4153113788"/>
                    </a:ext>
                  </a:extLst>
                </a:gridCol>
                <a:gridCol w="1679864">
                  <a:extLst>
                    <a:ext uri="{9D8B030D-6E8A-4147-A177-3AD203B41FA5}">
                      <a16:colId xmlns:a16="http://schemas.microsoft.com/office/drawing/2014/main" val="1425884972"/>
                    </a:ext>
                  </a:extLst>
                </a:gridCol>
                <a:gridCol w="1679864">
                  <a:extLst>
                    <a:ext uri="{9D8B030D-6E8A-4147-A177-3AD203B41FA5}">
                      <a16:colId xmlns:a16="http://schemas.microsoft.com/office/drawing/2014/main" val="1245405300"/>
                    </a:ext>
                  </a:extLst>
                </a:gridCol>
              </a:tblGrid>
              <a:tr h="346537">
                <a:tc>
                  <a:txBody>
                    <a:bodyPr/>
                    <a:lstStyle/>
                    <a:p>
                      <a:pPr>
                        <a:lnSpc>
                          <a:spcPct val="107000"/>
                        </a:lnSpc>
                        <a:spcAft>
                          <a:spcPts val="300"/>
                        </a:spcAft>
                      </a:pPr>
                      <a:r>
                        <a:rPr lang="ru-RU" sz="1600" b="0" dirty="0">
                          <a:effectLst/>
                          <a:latin typeface="Verdana" panose="020B0604030504040204" pitchFamily="34" charset="0"/>
                          <a:ea typeface="Verdana" panose="020B0604030504040204" pitchFamily="34" charset="0"/>
                        </a:rPr>
                        <a:t> </a:t>
                      </a:r>
                      <a:endParaRPr lang="ru-RU" sz="1600" b="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noFill/>
                  </a:tcPr>
                </a:tc>
                <a:tc gridSpan="4">
                  <a:txBody>
                    <a:bodyPr/>
                    <a:lstStyle/>
                    <a:p>
                      <a:pPr algn="ctr">
                        <a:lnSpc>
                          <a:spcPct val="107000"/>
                        </a:lnSpc>
                        <a:spcAft>
                          <a:spcPts val="300"/>
                        </a:spcAft>
                      </a:pPr>
                      <a:r>
                        <a:rPr lang="ru-RU" sz="1600" b="0" dirty="0">
                          <a:effectLst/>
                          <a:latin typeface="Verdana" panose="020B0604030504040204" pitchFamily="34" charset="0"/>
                          <a:ea typeface="Verdana" panose="020B0604030504040204" pitchFamily="34" charset="0"/>
                        </a:rPr>
                        <a:t>Переход на фиксированную комбинацию</a:t>
                      </a:r>
                      <a:endParaRPr lang="ru-RU" sz="1600" b="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solidFill>
                      <a:srgbClr val="398ACB"/>
                    </a:solidFill>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507312641"/>
                  </a:ext>
                </a:extLst>
              </a:tr>
              <a:tr h="747192">
                <a:tc>
                  <a:txBody>
                    <a:bodyPr/>
                    <a:lstStyle/>
                    <a:p>
                      <a:pPr algn="l">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Свободная комбинация</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144000" marR="68580" marT="0" marB="0" anchor="ctr">
                    <a:solidFill>
                      <a:srgbClr val="96E2EA"/>
                    </a:solidFill>
                  </a:tcPr>
                </a:tc>
                <a:tc>
                  <a:txBody>
                    <a:bodyPr/>
                    <a:lstStyle/>
                    <a:p>
                      <a:pPr algn="ctr">
                        <a:lnSpc>
                          <a:spcPct val="107000"/>
                        </a:lnSpc>
                        <a:spcAft>
                          <a:spcPts val="300"/>
                        </a:spcAft>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5/5</a:t>
                      </a:r>
                    </a:p>
                    <a:p>
                      <a:pPr algn="ctr">
                        <a:lnSpc>
                          <a:spcPct val="107000"/>
                        </a:lnSpc>
                        <a:spcAft>
                          <a:spcPts val="300"/>
                        </a:spcAft>
                      </a:pPr>
                      <a:r>
                        <a:rPr lang="en-US" sz="12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2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24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algn="ctr">
                        <a:lnSpc>
                          <a:spcPct val="107000"/>
                        </a:lnSpc>
                        <a:spcAft>
                          <a:spcPts val="300"/>
                        </a:spcAft>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10/5</a:t>
                      </a: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marL="0" marR="0" lvl="0" indent="0" algn="ctr" defTabSz="914400" rtl="0" eaLnBrk="1" fontAlgn="auto" latinLnBrk="0" hangingPunct="1">
                        <a:lnSpc>
                          <a:spcPct val="107000"/>
                        </a:lnSpc>
                        <a:spcBef>
                          <a:spcPts val="0"/>
                        </a:spcBef>
                        <a:spcAft>
                          <a:spcPts val="300"/>
                        </a:spcAft>
                        <a:buClrTx/>
                        <a:buSzTx/>
                        <a:buFontTx/>
                        <a:buNone/>
                        <a:tabLst/>
                        <a:defRPr/>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5/10</a:t>
                      </a:r>
                      <a:endParaRPr lang="ru-RU" sz="1800" b="1" dirty="0">
                        <a:solidFill>
                          <a:srgbClr val="265374"/>
                        </a:solidFill>
                        <a:effectLst/>
                        <a:latin typeface="Verdana" panose="020B0604030504040204" pitchFamily="34" charset="0"/>
                        <a:ea typeface="Verdana" panose="020B0604030504040204" pitchFamily="34" charset="0"/>
                      </a:endParaRP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tc>
                  <a:txBody>
                    <a:bodyPr/>
                    <a:lstStyle/>
                    <a:p>
                      <a:pPr marL="0" marR="0" lvl="0" indent="0" algn="ctr" defTabSz="914400" rtl="0" eaLnBrk="1" fontAlgn="auto" latinLnBrk="0" hangingPunct="1">
                        <a:lnSpc>
                          <a:spcPct val="107000"/>
                        </a:lnSpc>
                        <a:spcBef>
                          <a:spcPts val="0"/>
                        </a:spcBef>
                        <a:spcAft>
                          <a:spcPts val="300"/>
                        </a:spcAft>
                        <a:buClrTx/>
                        <a:buSzTx/>
                        <a:buFontTx/>
                        <a:buNone/>
                        <a:tabLst/>
                        <a:defRPr/>
                      </a:pPr>
                      <a:r>
                        <a:rPr lang="ru-RU" sz="1050" b="1" dirty="0" err="1">
                          <a:solidFill>
                            <a:srgbClr val="265374"/>
                          </a:solidFill>
                          <a:effectLst/>
                          <a:latin typeface="Verdana" panose="020B0604030504040204" pitchFamily="34" charset="0"/>
                          <a:ea typeface="Verdana" panose="020B0604030504040204" pitchFamily="34" charset="0"/>
                        </a:rPr>
                        <a:t>Конкор</a:t>
                      </a:r>
                      <a:r>
                        <a:rPr lang="ru-RU" sz="1050" b="1" dirty="0">
                          <a:solidFill>
                            <a:srgbClr val="265374"/>
                          </a:solidFill>
                          <a:effectLst/>
                          <a:latin typeface="Verdana" panose="020B0604030504040204" pitchFamily="34" charset="0"/>
                          <a:ea typeface="Verdana" panose="020B0604030504040204" pitchFamily="34" charset="0"/>
                        </a:rPr>
                        <a:t>® АМ 10/10</a:t>
                      </a:r>
                      <a:endParaRPr lang="ru-RU" sz="1800" b="1" dirty="0">
                        <a:solidFill>
                          <a:srgbClr val="265374"/>
                        </a:solidFill>
                        <a:effectLst/>
                        <a:latin typeface="Verdana" panose="020B0604030504040204" pitchFamily="34" charset="0"/>
                        <a:ea typeface="Verdana" panose="020B0604030504040204" pitchFamily="34" charset="0"/>
                      </a:endParaRPr>
                    </a:p>
                    <a:p>
                      <a:pPr algn="ctr">
                        <a:lnSpc>
                          <a:spcPct val="107000"/>
                        </a:lnSpc>
                        <a:spcAft>
                          <a:spcPts val="300"/>
                        </a:spcAft>
                      </a:pPr>
                      <a:r>
                        <a:rPr lang="en-US"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05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 (%)</a:t>
                      </a:r>
                      <a:endParaRPr lang="ru-RU" sz="1800" b="1"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68580" marR="68580" marT="0" marB="0" anchor="ctr">
                    <a:solidFill>
                      <a:srgbClr val="96E2EA"/>
                    </a:solidFill>
                  </a:tcPr>
                </a:tc>
                <a:extLst>
                  <a:ext uri="{0D108BD9-81ED-4DB2-BD59-A6C34878D82A}">
                    <a16:rowId xmlns:a16="http://schemas.microsoft.com/office/drawing/2014/main" val="2712327412"/>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5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5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=2665 (63%)</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2532</a:t>
                      </a:r>
                      <a:r>
                        <a:rPr lang="en-US" sz="1400" b="1" dirty="0">
                          <a:solidFill>
                            <a:srgbClr val="265374"/>
                          </a:solidFill>
                          <a:effectLst/>
                          <a:latin typeface="Verdana" panose="020B0604030504040204" pitchFamily="34" charset="0"/>
                          <a:ea typeface="Verdana" panose="020B0604030504040204" pitchFamily="34" charset="0"/>
                        </a:rPr>
                        <a:t> (95)</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23 (0,9)</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96 (3,6)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14 (0,5)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B w="19050" cap="flat" cmpd="sng" algn="ctr">
                      <a:solidFill>
                        <a:srgbClr val="D3F3F6"/>
                      </a:solidFill>
                      <a:prstDash val="solid"/>
                      <a:round/>
                      <a:headEnd type="none" w="med" len="med"/>
                      <a:tailEnd type="none" w="med" len="med"/>
                    </a:lnB>
                    <a:solidFill>
                      <a:srgbClr val="D3F3F6">
                        <a:alpha val="58000"/>
                      </a:srgbClr>
                    </a:solidFill>
                  </a:tcPr>
                </a:tc>
                <a:extLst>
                  <a:ext uri="{0D108BD9-81ED-4DB2-BD59-A6C34878D82A}">
                    <a16:rowId xmlns:a16="http://schemas.microsoft.com/office/drawing/2014/main" val="1445523804"/>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10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5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=323 (8%)</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112 (34</a:t>
                      </a:r>
                      <a:r>
                        <a:rPr lang="ru-RU" sz="1400" b="0" dirty="0">
                          <a:solidFill>
                            <a:srgbClr val="265374"/>
                          </a:solidFill>
                          <a:effectLst/>
                          <a:latin typeface="Verdana" panose="020B0604030504040204" pitchFamily="34" charset="0"/>
                          <a:ea typeface="Verdana" panose="020B0604030504040204" pitchFamily="34" charset="0"/>
                        </a:rPr>
                        <a:t>,</a:t>
                      </a:r>
                      <a:r>
                        <a:rPr lang="en-US" sz="1400" b="0" dirty="0">
                          <a:solidFill>
                            <a:srgbClr val="265374"/>
                          </a:solidFill>
                          <a:effectLst/>
                          <a:latin typeface="Verdana" panose="020B0604030504040204" pitchFamily="34" charset="0"/>
                          <a:ea typeface="Verdana" panose="020B0604030504040204" pitchFamily="34" charset="0"/>
                        </a:rPr>
                        <a:t>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194 (60,1)</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6 (1,9)</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11 (3,4)</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extLst>
                  <a:ext uri="{0D108BD9-81ED-4DB2-BD59-A6C34878D82A}">
                    <a16:rowId xmlns:a16="http://schemas.microsoft.com/office/drawing/2014/main" val="505452418"/>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5 мг + Амлодипин 10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=847 (20%)</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a:solidFill>
                            <a:srgbClr val="265374"/>
                          </a:solidFill>
                          <a:effectLst/>
                          <a:latin typeface="Verdana" panose="020B0604030504040204" pitchFamily="34" charset="0"/>
                          <a:ea typeface="Verdana" panose="020B0604030504040204" pitchFamily="34" charset="0"/>
                        </a:rPr>
                        <a:t>236 (27,8)</a:t>
                      </a:r>
                      <a:endParaRPr lang="ru-RU" sz="1400" b="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4 (0,5)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ru-RU" sz="1400" b="1" dirty="0">
                          <a:solidFill>
                            <a:srgbClr val="265374"/>
                          </a:solidFill>
                          <a:effectLst/>
                          <a:latin typeface="Verdana" panose="020B0604030504040204" pitchFamily="34" charset="0"/>
                          <a:ea typeface="Verdana" panose="020B0604030504040204" pitchFamily="34" charset="0"/>
                        </a:rPr>
                        <a:t>585 (69,1)</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22 (2,6)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alpha val="58000"/>
                      </a:srgbClr>
                    </a:solidFill>
                  </a:tcPr>
                </a:tc>
                <a:extLst>
                  <a:ext uri="{0D108BD9-81ED-4DB2-BD59-A6C34878D82A}">
                    <a16:rowId xmlns:a16="http://schemas.microsoft.com/office/drawing/2014/main" val="3597545358"/>
                  </a:ext>
                </a:extLst>
              </a:tr>
              <a:tr h="509630">
                <a:tc>
                  <a:txBody>
                    <a:bodyPr/>
                    <a:lstStyle/>
                    <a:p>
                      <a:pPr algn="l">
                        <a:lnSpc>
                          <a:spcPct val="107000"/>
                        </a:lnSpc>
                        <a:spcAft>
                          <a:spcPts val="300"/>
                        </a:spcAft>
                      </a:pPr>
                      <a:r>
                        <a:rPr lang="ru-RU" sz="1200" b="1" dirty="0" err="1">
                          <a:solidFill>
                            <a:srgbClr val="265374"/>
                          </a:solidFill>
                          <a:effectLst/>
                          <a:latin typeface="Verdana" panose="020B0604030504040204" pitchFamily="34" charset="0"/>
                          <a:ea typeface="Verdana" panose="020B0604030504040204" pitchFamily="34" charset="0"/>
                        </a:rPr>
                        <a:t>Бисопролол</a:t>
                      </a:r>
                      <a:r>
                        <a:rPr lang="ru-RU" sz="1200" b="1" dirty="0">
                          <a:solidFill>
                            <a:srgbClr val="265374"/>
                          </a:solidFill>
                          <a:effectLst/>
                          <a:latin typeface="Verdana" panose="020B0604030504040204" pitchFamily="34" charset="0"/>
                          <a:ea typeface="Verdana" panose="020B0604030504040204" pitchFamily="34" charset="0"/>
                        </a:rPr>
                        <a:t> 10 мг + </a:t>
                      </a:r>
                      <a:r>
                        <a:rPr lang="ru-RU" sz="1200" b="1" dirty="0" err="1">
                          <a:solidFill>
                            <a:srgbClr val="265374"/>
                          </a:solidFill>
                          <a:effectLst/>
                          <a:latin typeface="Verdana" panose="020B0604030504040204" pitchFamily="34" charset="0"/>
                          <a:ea typeface="Verdana" panose="020B0604030504040204" pitchFamily="34" charset="0"/>
                        </a:rPr>
                        <a:t>Амлодипин</a:t>
                      </a:r>
                      <a:r>
                        <a:rPr lang="ru-RU" sz="1200" b="1" dirty="0">
                          <a:solidFill>
                            <a:srgbClr val="265374"/>
                          </a:solidFill>
                          <a:effectLst/>
                          <a:latin typeface="Verdana" panose="020B0604030504040204" pitchFamily="34" charset="0"/>
                          <a:ea typeface="Verdana" panose="020B0604030504040204" pitchFamily="34" charset="0"/>
                        </a:rPr>
                        <a:t> 10 мг</a:t>
                      </a:r>
                      <a:endParaRPr lang="ru-RU" sz="2400" b="1" dirty="0">
                        <a:solidFill>
                          <a:srgbClr val="265374"/>
                        </a:solidFill>
                        <a:effectLst/>
                        <a:latin typeface="Verdana" panose="020B0604030504040204" pitchFamily="34" charset="0"/>
                        <a:ea typeface="Verdana" panose="020B0604030504040204" pitchFamily="34" charset="0"/>
                      </a:endParaRPr>
                    </a:p>
                    <a:p>
                      <a:pPr algn="l">
                        <a:lnSpc>
                          <a:spcPct val="107000"/>
                        </a:lnSpc>
                        <a:spcAft>
                          <a:spcPts val="300"/>
                        </a:spcAft>
                      </a:pP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a:t>
                      </a:r>
                      <a:r>
                        <a:rPr lang="ru-RU"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=391 (9%)</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122 (31,3)</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23 (5,8)</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61 (15,6)</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tc>
                  <a:txBody>
                    <a:bodyPr/>
                    <a:lstStyle/>
                    <a:p>
                      <a:pPr algn="ctr">
                        <a:lnSpc>
                          <a:spcPct val="107000"/>
                        </a:lnSpc>
                        <a:spcAft>
                          <a:spcPts val="300"/>
                        </a:spcAft>
                      </a:pPr>
                      <a:r>
                        <a:rPr lang="en-US" sz="1400" b="1" dirty="0">
                          <a:solidFill>
                            <a:srgbClr val="265374"/>
                          </a:solidFill>
                          <a:effectLst/>
                          <a:latin typeface="Verdana" panose="020B0604030504040204" pitchFamily="34" charset="0"/>
                          <a:ea typeface="Verdana" panose="020B0604030504040204" pitchFamily="34" charset="0"/>
                        </a:rPr>
                        <a:t>185 (47,3)</a:t>
                      </a:r>
                      <a:endParaRPr lang="ru-RU" sz="1400" b="1"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lnB w="19050" cap="flat" cmpd="sng" algn="ctr">
                      <a:solidFill>
                        <a:srgbClr val="D3F3F6"/>
                      </a:solidFill>
                      <a:prstDash val="solid"/>
                      <a:round/>
                      <a:headEnd type="none" w="med" len="med"/>
                      <a:tailEnd type="none" w="med" len="med"/>
                    </a:lnB>
                    <a:solidFill>
                      <a:srgbClr val="D3F3F6"/>
                    </a:solidFill>
                  </a:tcPr>
                </a:tc>
                <a:extLst>
                  <a:ext uri="{0D108BD9-81ED-4DB2-BD59-A6C34878D82A}">
                    <a16:rowId xmlns:a16="http://schemas.microsoft.com/office/drawing/2014/main" val="2149086609"/>
                  </a:ext>
                </a:extLst>
              </a:tr>
              <a:tr h="216563">
                <a:tc>
                  <a:txBody>
                    <a:bodyPr/>
                    <a:lstStyle/>
                    <a:p>
                      <a:pPr algn="l">
                        <a:lnSpc>
                          <a:spcPct val="107000"/>
                        </a:lnSpc>
                        <a:spcAft>
                          <a:spcPts val="300"/>
                        </a:spcAft>
                      </a:pPr>
                      <a:r>
                        <a:rPr lang="en-US" sz="1400" b="0" dirty="0" err="1">
                          <a:solidFill>
                            <a:srgbClr val="265374"/>
                          </a:solidFill>
                          <a:effectLst/>
                          <a:latin typeface="Verdana" panose="020B0604030504040204" pitchFamily="34" charset="0"/>
                          <a:ea typeface="Verdana" panose="020B0604030504040204" pitchFamily="34" charset="0"/>
                        </a:rPr>
                        <a:t>Общее</a:t>
                      </a:r>
                      <a:r>
                        <a:rPr lang="en-US" sz="1400" b="0" dirty="0">
                          <a:solidFill>
                            <a:srgbClr val="265374"/>
                          </a:solidFill>
                          <a:effectLst/>
                          <a:latin typeface="Verdana" panose="020B0604030504040204" pitchFamily="34" charset="0"/>
                          <a:ea typeface="Verdana" panose="020B0604030504040204" pitchFamily="34" charset="0"/>
                        </a:rPr>
                        <a:t> </a:t>
                      </a:r>
                      <a:r>
                        <a:rPr lang="en-US" sz="1400" b="0" dirty="0" err="1">
                          <a:solidFill>
                            <a:srgbClr val="265374"/>
                          </a:solidFill>
                          <a:effectLst/>
                          <a:latin typeface="Verdana" panose="020B0604030504040204" pitchFamily="34" charset="0"/>
                          <a:ea typeface="Verdana" panose="020B0604030504040204" pitchFamily="34" charset="0"/>
                        </a:rPr>
                        <a:t>количество</a:t>
                      </a:r>
                      <a:r>
                        <a:rPr lang="en-US" sz="1400" b="0" dirty="0">
                          <a:solidFill>
                            <a:srgbClr val="265374"/>
                          </a:solidFill>
                          <a:effectLst/>
                          <a:latin typeface="Verdana" panose="020B0604030504040204" pitchFamily="34" charset="0"/>
                          <a:ea typeface="Verdana" panose="020B0604030504040204" pitchFamily="34" charset="0"/>
                        </a:rPr>
                        <a:t> </a:t>
                      </a:r>
                      <a:r>
                        <a:rPr lang="en-US" sz="1400" b="0" dirty="0" err="1">
                          <a:solidFill>
                            <a:srgbClr val="265374"/>
                          </a:solidFill>
                          <a:effectLst/>
                          <a:latin typeface="Verdana" panose="020B0604030504040204" pitchFamily="34" charset="0"/>
                          <a:ea typeface="Verdana" panose="020B0604030504040204" pitchFamily="34" charset="0"/>
                        </a:rPr>
                        <a:t>пациентов</a:t>
                      </a:r>
                      <a:r>
                        <a:rPr lang="ru-RU" sz="1400" b="0" dirty="0">
                          <a:solidFill>
                            <a:srgbClr val="265374"/>
                          </a:solidFill>
                          <a:effectLst/>
                          <a:latin typeface="Verdana" panose="020B0604030504040204" pitchFamily="34" charset="0"/>
                          <a:ea typeface="Verdana" panose="020B0604030504040204" pitchFamily="34" charset="0"/>
                        </a:rPr>
                        <a:t>: </a:t>
                      </a:r>
                      <a:r>
                        <a:rPr lang="en-US" sz="14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rPr>
                        <a:t>n=4226</a:t>
                      </a:r>
                      <a:endParaRPr lang="ru-RU" sz="2800" b="0" i="1" dirty="0">
                        <a:solidFill>
                          <a:srgbClr val="265374"/>
                        </a:solidFill>
                        <a:effectLst/>
                        <a:latin typeface="Calibri" panose="020F0502020204030204" pitchFamily="34" charset="0"/>
                        <a:ea typeface="Verdana" panose="020B0604030504040204" pitchFamily="34" charset="0"/>
                        <a:cs typeface="Calibri" panose="020F0502020204030204" pitchFamily="34" charset="0"/>
                      </a:endParaRPr>
                    </a:p>
                  </a:txBody>
                  <a:tcPr marL="14400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3002 (70,3)</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244 (5,7)</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ru-RU" sz="1400" b="0" dirty="0">
                          <a:solidFill>
                            <a:srgbClr val="265374"/>
                          </a:solidFill>
                          <a:effectLst/>
                          <a:latin typeface="Verdana" panose="020B0604030504040204" pitchFamily="34" charset="0"/>
                          <a:ea typeface="Verdana" panose="020B0604030504040204" pitchFamily="34" charset="0"/>
                        </a:rPr>
                        <a:t>748 (17,7)</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tc>
                  <a:txBody>
                    <a:bodyPr/>
                    <a:lstStyle/>
                    <a:p>
                      <a:pPr algn="ctr">
                        <a:lnSpc>
                          <a:spcPct val="107000"/>
                        </a:lnSpc>
                        <a:spcAft>
                          <a:spcPts val="300"/>
                        </a:spcAft>
                      </a:pPr>
                      <a:r>
                        <a:rPr lang="en-US" sz="1400" b="0" dirty="0">
                          <a:solidFill>
                            <a:srgbClr val="265374"/>
                          </a:solidFill>
                          <a:effectLst/>
                          <a:latin typeface="Verdana" panose="020B0604030504040204" pitchFamily="34" charset="0"/>
                          <a:ea typeface="Verdana" panose="020B0604030504040204" pitchFamily="34" charset="0"/>
                        </a:rPr>
                        <a:t>232 (5,5)</a:t>
                      </a:r>
                      <a:endParaRPr lang="ru-RU" sz="1400" b="0" dirty="0">
                        <a:solidFill>
                          <a:srgbClr val="265374"/>
                        </a:solidFill>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72000" marB="72000" anchor="ctr">
                    <a:lnT w="19050" cap="flat" cmpd="sng" algn="ctr">
                      <a:solidFill>
                        <a:srgbClr val="D3F3F6"/>
                      </a:solidFill>
                      <a:prstDash val="solid"/>
                      <a:round/>
                      <a:headEnd type="none" w="med" len="med"/>
                      <a:tailEnd type="none" w="med" len="med"/>
                    </a:lnT>
                    <a:solidFill>
                      <a:srgbClr val="D3F3F6">
                        <a:alpha val="58000"/>
                      </a:srgbClr>
                    </a:solidFill>
                  </a:tcPr>
                </a:tc>
                <a:extLst>
                  <a:ext uri="{0D108BD9-81ED-4DB2-BD59-A6C34878D82A}">
                    <a16:rowId xmlns:a16="http://schemas.microsoft.com/office/drawing/2014/main" val="1318161376"/>
                  </a:ext>
                </a:extLst>
              </a:tr>
            </a:tbl>
          </a:graphicData>
        </a:graphic>
      </p:graphicFrame>
      <p:sp>
        <p:nvSpPr>
          <p:cNvPr id="5" name="Rectangle 4">
            <a:extLst>
              <a:ext uri="{FF2B5EF4-FFF2-40B4-BE49-F238E27FC236}">
                <a16:creationId xmlns:a16="http://schemas.microsoft.com/office/drawing/2014/main" id="{238D999D-048C-AB9F-7239-10C8A7C9E22C}"/>
              </a:ext>
            </a:extLst>
          </p:cNvPr>
          <p:cNvSpPr>
            <a:spLocks noChangeArrowheads="1"/>
          </p:cNvSpPr>
          <p:nvPr/>
        </p:nvSpPr>
        <p:spPr bwMode="auto">
          <a:xfrm>
            <a:off x="1460828" y="5469504"/>
            <a:ext cx="9734996" cy="559014"/>
          </a:xfrm>
          <a:prstGeom prst="rect">
            <a:avLst/>
          </a:prstGeom>
          <a:noFill/>
          <a:ln w="3175">
            <a:noFill/>
            <a:miter lim="800000"/>
            <a:headEnd/>
            <a:tailEnd/>
          </a:ln>
        </p:spPr>
        <p:txBody>
          <a:bodyPr wrap="square">
            <a:noAutofit/>
          </a:bodyPr>
          <a:lstStyle>
            <a:lvl1pPr>
              <a:spcBef>
                <a:spcPts val="1200"/>
              </a:spcBef>
              <a:buFont typeface="Wingdings" panose="05000000000000000000" pitchFamily="2" charset="2"/>
              <a:buChar char="§"/>
              <a:defRPr>
                <a:solidFill>
                  <a:schemeClr val="tx1"/>
                </a:solidFill>
                <a:latin typeface="Arial" panose="020B0604020202020204" pitchFamily="34" charset="0"/>
                <a:ea typeface="ＭＳ Ｐゴシック" panose="020B0600070205080204" pitchFamily="34" charset="-128"/>
              </a:defRPr>
            </a:lvl1pPr>
            <a:lvl2pPr marL="742950" indent="-285750">
              <a:spcBef>
                <a:spcPts val="800"/>
              </a:spcBef>
              <a:buFont typeface="Arial" panose="020B0604020202020204" pitchFamily="34" charset="0"/>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4pPr>
            <a:lvl5pPr marL="2057400" indent="-228600">
              <a:spcBef>
                <a:spcPts val="400"/>
              </a:spcBef>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ts val="400"/>
              </a:spcBef>
              <a:spcAft>
                <a:spcPct val="0"/>
              </a:spcAft>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34" charset="-128"/>
              </a:defRPr>
            </a:lvl9p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У 82,7% пациентов дозы </a:t>
            </a:r>
            <a:r>
              <a:rPr kumimoji="0" lang="ru-RU" altLang="en-US" sz="1400" b="1" i="0" u="none" strike="noStrike" kern="1200" cap="none" spc="0" normalizeH="0" baseline="0" noProof="0" dirty="0" err="1">
                <a:ln>
                  <a:noFill/>
                </a:ln>
                <a:solidFill>
                  <a:srgbClr val="0070C0"/>
                </a:solidFill>
                <a:effectLst/>
                <a:uLnTx/>
                <a:uFillTx/>
                <a:latin typeface="Verdana" panose="020B0604030504040204" pitchFamily="34" charset="0"/>
                <a:ea typeface="Verdana" panose="020B0604030504040204" pitchFamily="34" charset="0"/>
                <a:cs typeface="+mn-cs"/>
              </a:rPr>
              <a:t>бисопролола</a:t>
            </a: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 и амлодипина сохранились при переходе на </a:t>
            </a:r>
            <a:r>
              <a:rPr kumimoji="0" lang="en-US"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FDC</a:t>
            </a:r>
            <a:endPar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altLang="en-US" sz="1400" b="1"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mn-cs"/>
              </a:rPr>
              <a:t>У 13% пациентов доза снижена — FDC обеспечивает более эффективное действие, чем эквивалентная свободная комбинация</a:t>
            </a:r>
          </a:p>
        </p:txBody>
      </p:sp>
      <p:sp>
        <p:nvSpPr>
          <p:cNvPr id="23" name="Заголовок 7">
            <a:extLst>
              <a:ext uri="{FF2B5EF4-FFF2-40B4-BE49-F238E27FC236}">
                <a16:creationId xmlns:a16="http://schemas.microsoft.com/office/drawing/2014/main" id="{B2A083BC-5C61-C824-FDEE-B164CC513EEB}"/>
              </a:ext>
            </a:extLst>
          </p:cNvPr>
          <p:cNvSpPr txBox="1">
            <a:spLocks/>
          </p:cNvSpPr>
          <p:nvPr/>
        </p:nvSpPr>
        <p:spPr>
          <a:xfrm>
            <a:off x="895943"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j-cs"/>
              </a:rPr>
              <a:t>®</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 высокая приверженность и эффективность в реальной практике</a:t>
            </a:r>
            <a:endParaRPr kumimoji="0" lang="ru-RU" sz="2000" b="0" i="0"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6" name="Rectangle: Rounded Corners 6">
            <a:extLst>
              <a:ext uri="{FF2B5EF4-FFF2-40B4-BE49-F238E27FC236}">
                <a16:creationId xmlns:a16="http://schemas.microsoft.com/office/drawing/2014/main" id="{6777540D-3E0D-1442-9BAE-A7ACA94872A5}"/>
              </a:ext>
            </a:extLst>
          </p:cNvPr>
          <p:cNvSpPr/>
          <p:nvPr/>
        </p:nvSpPr>
        <p:spPr>
          <a:xfrm>
            <a:off x="4686231" y="2628017"/>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8" name="Rectangle: Rounded Corners 6">
            <a:extLst>
              <a:ext uri="{FF2B5EF4-FFF2-40B4-BE49-F238E27FC236}">
                <a16:creationId xmlns:a16="http://schemas.microsoft.com/office/drawing/2014/main" id="{3D95DAB0-57A6-8B76-A32B-2D4918B9FF29}"/>
              </a:ext>
            </a:extLst>
          </p:cNvPr>
          <p:cNvSpPr/>
          <p:nvPr/>
        </p:nvSpPr>
        <p:spPr>
          <a:xfrm>
            <a:off x="9731083" y="4422068"/>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9" name="Rectangle: Rounded Corners 6">
            <a:extLst>
              <a:ext uri="{FF2B5EF4-FFF2-40B4-BE49-F238E27FC236}">
                <a16:creationId xmlns:a16="http://schemas.microsoft.com/office/drawing/2014/main" id="{7B5D3103-2C69-7190-4FD5-76A6174AC95E}"/>
              </a:ext>
            </a:extLst>
          </p:cNvPr>
          <p:cNvSpPr/>
          <p:nvPr/>
        </p:nvSpPr>
        <p:spPr>
          <a:xfrm>
            <a:off x="6338954" y="3234823"/>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3" name="Rectangle: Rounded Corners 6">
            <a:extLst>
              <a:ext uri="{FF2B5EF4-FFF2-40B4-BE49-F238E27FC236}">
                <a16:creationId xmlns:a16="http://schemas.microsoft.com/office/drawing/2014/main" id="{B7661F3D-7A76-CD40-490D-9217B1400652}"/>
              </a:ext>
            </a:extLst>
          </p:cNvPr>
          <p:cNvSpPr/>
          <p:nvPr/>
        </p:nvSpPr>
        <p:spPr>
          <a:xfrm>
            <a:off x="8066721" y="3816988"/>
            <a:ext cx="1664362" cy="462093"/>
          </a:xfrm>
          <a:prstGeom prst="roundRect">
            <a:avLst>
              <a:gd name="adj" fmla="val 50000"/>
            </a:avLst>
          </a:prstGeom>
          <a:solidFill>
            <a:schemeClr val="bg2">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4" name="Заголовок 7">
            <a:extLst>
              <a:ext uri="{FF2B5EF4-FFF2-40B4-BE49-F238E27FC236}">
                <a16:creationId xmlns:a16="http://schemas.microsoft.com/office/drawing/2014/main" id="{53248A54-AA49-C732-94DA-708DA272D6B1}"/>
              </a:ext>
            </a:extLst>
          </p:cNvPr>
          <p:cNvSpPr txBox="1">
            <a:spLocks/>
          </p:cNvSpPr>
          <p:nvPr/>
        </p:nvSpPr>
        <p:spPr>
          <a:xfrm>
            <a:off x="924971" y="1110636"/>
            <a:ext cx="10909300" cy="39238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1600" b="0" i="1"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Исследование 4226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
        <p:nvSpPr>
          <p:cNvPr id="16" name="TextBox 15">
            <a:extLst>
              <a:ext uri="{FF2B5EF4-FFF2-40B4-BE49-F238E27FC236}">
                <a16:creationId xmlns:a16="http://schemas.microsoft.com/office/drawing/2014/main" id="{D6B5A26A-AD49-D6DB-1CA7-FBFC845A47BC}"/>
              </a:ext>
            </a:extLst>
          </p:cNvPr>
          <p:cNvSpPr txBox="1"/>
          <p:nvPr/>
        </p:nvSpPr>
        <p:spPr>
          <a:xfrm>
            <a:off x="6257711" y="6380784"/>
            <a:ext cx="612759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65374"/>
                </a:solidFill>
                <a:effectLst/>
                <a:uLnTx/>
                <a:uFillTx/>
                <a:latin typeface="Verdana"/>
                <a:ea typeface="+mn-ea"/>
                <a:cs typeface="+mn-cs"/>
              </a:rPr>
              <a:t>FDC</a:t>
            </a:r>
            <a:r>
              <a:rPr kumimoji="0" lang="ru-RU" sz="1000" b="0" i="0" u="none" strike="noStrike" kern="1200" cap="none" spc="0" normalizeH="0" baseline="0" noProof="0" dirty="0">
                <a:ln>
                  <a:noFill/>
                </a:ln>
                <a:solidFill>
                  <a:srgbClr val="265374"/>
                </a:solidFill>
                <a:effectLst/>
                <a:uLnTx/>
                <a:uFillTx/>
                <a:latin typeface="Verdana"/>
                <a:ea typeface="+mn-ea"/>
                <a:cs typeface="+mn-cs"/>
              </a:rPr>
              <a:t> –фиксированная комбинация (</a:t>
            </a:r>
            <a:r>
              <a:rPr kumimoji="0" lang="ru-RU" sz="1000" b="0" i="0" u="none" strike="noStrike" kern="1200" cap="none" spc="0" normalizeH="0" baseline="0" noProof="0" dirty="0" err="1">
                <a:ln>
                  <a:noFill/>
                </a:ln>
                <a:solidFill>
                  <a:srgbClr val="265374"/>
                </a:solidFill>
                <a:effectLst/>
                <a:uLnTx/>
                <a:uFillTx/>
                <a:latin typeface="Verdana"/>
                <a:ea typeface="+mn-ea"/>
                <a:cs typeface="+mn-cs"/>
              </a:rPr>
              <a:t>бисопролола</a:t>
            </a:r>
            <a:r>
              <a:rPr kumimoji="0" lang="ru-RU" sz="1000" b="0" i="0" u="none" strike="noStrike" kern="1200" cap="none" spc="0" normalizeH="0" baseline="0" noProof="0" dirty="0">
                <a:ln>
                  <a:noFill/>
                </a:ln>
                <a:solidFill>
                  <a:srgbClr val="265374"/>
                </a:solidFill>
                <a:effectLst/>
                <a:uLnTx/>
                <a:uFillTx/>
                <a:latin typeface="Verdana"/>
                <a:ea typeface="+mn-ea"/>
                <a:cs typeface="+mn-cs"/>
              </a:rPr>
              <a:t> и амлодипина)</a:t>
            </a:r>
          </a:p>
        </p:txBody>
      </p:sp>
    </p:spTree>
    <p:extLst>
      <p:ext uri="{BB962C8B-B14F-4D97-AF65-F5344CB8AC3E}">
        <p14:creationId xmlns:p14="http://schemas.microsoft.com/office/powerpoint/2010/main" val="224875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Номер слайда 13">
            <a:extLst>
              <a:ext uri="{FF2B5EF4-FFF2-40B4-BE49-F238E27FC236}">
                <a16:creationId xmlns:a16="http://schemas.microsoft.com/office/drawing/2014/main" id="{7ADD3DBA-75A6-C486-AF02-A6CA2A307D2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grpSp>
        <p:nvGrpSpPr>
          <p:cNvPr id="4" name="Группа 3">
            <a:extLst>
              <a:ext uri="{FF2B5EF4-FFF2-40B4-BE49-F238E27FC236}">
                <a16:creationId xmlns:a16="http://schemas.microsoft.com/office/drawing/2014/main" id="{D712500E-5CC6-FD58-2562-B8AD19D6CB07}"/>
              </a:ext>
            </a:extLst>
          </p:cNvPr>
          <p:cNvGrpSpPr/>
          <p:nvPr/>
        </p:nvGrpSpPr>
        <p:grpSpPr>
          <a:xfrm>
            <a:off x="924971" y="1233781"/>
            <a:ext cx="7408324" cy="4855472"/>
            <a:chOff x="924971" y="1233781"/>
            <a:chExt cx="7408324" cy="4855472"/>
          </a:xfrm>
        </p:grpSpPr>
        <p:graphicFrame>
          <p:nvGraphicFramePr>
            <p:cNvPr id="6" name="Chart 5">
              <a:extLst>
                <a:ext uri="{FF2B5EF4-FFF2-40B4-BE49-F238E27FC236}">
                  <a16:creationId xmlns:a16="http://schemas.microsoft.com/office/drawing/2014/main" id="{5AA6F54D-11E3-44D9-8FB1-1F1A72E1593E}"/>
                </a:ext>
              </a:extLst>
            </p:cNvPr>
            <p:cNvGraphicFramePr/>
            <p:nvPr/>
          </p:nvGraphicFramePr>
          <p:xfrm>
            <a:off x="924971" y="1486850"/>
            <a:ext cx="7408324" cy="4602403"/>
          </p:xfrm>
          <a:graphic>
            <a:graphicData uri="http://schemas.openxmlformats.org/drawingml/2006/chart">
              <c:chart xmlns:c="http://schemas.openxmlformats.org/drawingml/2006/chart" xmlns:r="http://schemas.openxmlformats.org/officeDocument/2006/relationships" r:id="rId2"/>
            </a:graphicData>
          </a:graphic>
        </p:graphicFrame>
        <p:sp>
          <p:nvSpPr>
            <p:cNvPr id="8" name="Arrow: Down 22">
              <a:extLst>
                <a:ext uri="{FF2B5EF4-FFF2-40B4-BE49-F238E27FC236}">
                  <a16:creationId xmlns:a16="http://schemas.microsoft.com/office/drawing/2014/main" id="{8527295B-56EE-4BF3-9B5D-CBDDD93B08B4}"/>
                </a:ext>
              </a:extLst>
            </p:cNvPr>
            <p:cNvSpPr/>
            <p:nvPr/>
          </p:nvSpPr>
          <p:spPr>
            <a:xfrm>
              <a:off x="2107094" y="2263619"/>
              <a:ext cx="838890" cy="1135380"/>
            </a:xfrm>
            <a:prstGeom prst="downArrow">
              <a:avLst>
                <a:gd name="adj1" fmla="val 46720"/>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-16,</a:t>
              </a:r>
              <a:r>
                <a:rPr kumimoji="0" lang="en-US" sz="1800" b="0" i="0" u="none" strike="noStrike" kern="1200" cap="none" spc="0" normalizeH="0" baseline="0" noProof="0" dirty="0">
                  <a:ln>
                    <a:noFill/>
                  </a:ln>
                  <a:solidFill>
                    <a:prstClr val="white"/>
                  </a:solidFill>
                  <a:effectLst/>
                  <a:uLnTx/>
                  <a:uFillTx/>
                  <a:latin typeface="Arial"/>
                  <a:ea typeface="+mn-ea"/>
                  <a:cs typeface="+mn-cs"/>
                </a:rPr>
                <a:t>5</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Arrow: Down 22">
              <a:extLst>
                <a:ext uri="{FF2B5EF4-FFF2-40B4-BE49-F238E27FC236}">
                  <a16:creationId xmlns:a16="http://schemas.microsoft.com/office/drawing/2014/main" id="{75A8E059-68EB-4212-9E00-834D37E71525}"/>
                </a:ext>
              </a:extLst>
            </p:cNvPr>
            <p:cNvSpPr/>
            <p:nvPr/>
          </p:nvSpPr>
          <p:spPr>
            <a:xfrm>
              <a:off x="5630706" y="4017050"/>
              <a:ext cx="744454" cy="924716"/>
            </a:xfrm>
            <a:prstGeom prst="downArrow">
              <a:avLst>
                <a:gd name="adj1" fmla="val 50404"/>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-9,</a:t>
              </a:r>
              <a:r>
                <a:rPr kumimoji="0" lang="en-US" sz="1800" b="0" i="0" u="none" strike="noStrike" kern="1200" cap="none" spc="0" normalizeH="0" baseline="0" noProof="0" dirty="0">
                  <a:ln>
                    <a:noFill/>
                  </a:ln>
                  <a:solidFill>
                    <a:prstClr val="white"/>
                  </a:solidFill>
                  <a:effectLst/>
                  <a:uLnTx/>
                  <a:uFillTx/>
                  <a:latin typeface="Arial"/>
                  <a:ea typeface="+mn-ea"/>
                  <a:cs typeface="+mn-cs"/>
                </a:rPr>
                <a:t>5</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Arrow: Down 22">
              <a:extLst>
                <a:ext uri="{FF2B5EF4-FFF2-40B4-BE49-F238E27FC236}">
                  <a16:creationId xmlns:a16="http://schemas.microsoft.com/office/drawing/2014/main" id="{EFB66B0C-1294-41E3-BFFC-894FE93C238B}"/>
                </a:ext>
              </a:extLst>
            </p:cNvPr>
            <p:cNvSpPr/>
            <p:nvPr/>
          </p:nvSpPr>
          <p:spPr>
            <a:xfrm>
              <a:off x="7382965" y="3661779"/>
              <a:ext cx="744454" cy="710541"/>
            </a:xfrm>
            <a:prstGeom prst="downArrow">
              <a:avLst>
                <a:gd name="adj1" fmla="val 55378"/>
                <a:gd name="adj2" fmla="val 3909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1219170" rtl="0" eaLnBrk="1" fontAlgn="auto" latinLnBrk="1"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Arial"/>
                  <a:ea typeface="+mn-ea"/>
                  <a:cs typeface="+mn-cs"/>
                </a:rPr>
                <a:t>-7,1</a:t>
              </a:r>
              <a:endParaRPr kumimoji="0" lang="en-GB" sz="1800" b="0" i="0" u="none" strike="noStrike" kern="1200" cap="none" spc="0" normalizeH="0" baseline="0" noProof="0" dirty="0">
                <a:ln>
                  <a:noFill/>
                </a:ln>
                <a:solidFill>
                  <a:prstClr val="white"/>
                </a:solidFill>
                <a:effectLst/>
                <a:uLnTx/>
                <a:uFillTx/>
                <a:latin typeface="Arial"/>
                <a:ea typeface="+mn-ea"/>
                <a:cs typeface="+mn-cs"/>
              </a:endParaRPr>
            </a:p>
          </p:txBody>
        </p:sp>
        <p:grpSp>
          <p:nvGrpSpPr>
            <p:cNvPr id="2" name="Группа 1">
              <a:extLst>
                <a:ext uri="{FF2B5EF4-FFF2-40B4-BE49-F238E27FC236}">
                  <a16:creationId xmlns:a16="http://schemas.microsoft.com/office/drawing/2014/main" id="{CD0BCC2A-8CF5-7C80-E366-375ADC878AFA}"/>
                </a:ext>
              </a:extLst>
            </p:cNvPr>
            <p:cNvGrpSpPr/>
            <p:nvPr/>
          </p:nvGrpSpPr>
          <p:grpSpPr>
            <a:xfrm>
              <a:off x="3528267" y="1233781"/>
              <a:ext cx="2944698" cy="1068442"/>
              <a:chOff x="4229099" y="1916996"/>
              <a:chExt cx="3324633" cy="1068442"/>
            </a:xfrm>
            <a:solidFill>
              <a:schemeClr val="bg1"/>
            </a:solidFill>
          </p:grpSpPr>
          <p:sp>
            <p:nvSpPr>
              <p:cNvPr id="17" name="TextBox 16">
                <a:extLst>
                  <a:ext uri="{FF2B5EF4-FFF2-40B4-BE49-F238E27FC236}">
                    <a16:creationId xmlns:a16="http://schemas.microsoft.com/office/drawing/2014/main" id="{12A9915A-1FF1-5915-60DC-8E73753D8DC3}"/>
                  </a:ext>
                </a:extLst>
              </p:cNvPr>
              <p:cNvSpPr txBox="1"/>
              <p:nvPr/>
            </p:nvSpPr>
            <p:spPr>
              <a:xfrm>
                <a:off x="4229099" y="1916996"/>
                <a:ext cx="2854785" cy="646331"/>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36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99</a:t>
                </a:r>
                <a:r>
                  <a:rPr kumimoji="0" lang="ru-RU" sz="2000" b="0"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 </a:t>
                </a:r>
                <a:r>
                  <a:rPr kumimoji="0" lang="ru-RU" sz="1400" b="1" i="0" u="none" strike="noStrike" kern="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Aldhabi" panose="020B0604020202020204" pitchFamily="2" charset="-78"/>
                    <a:sym typeface="Arial"/>
                  </a:rPr>
                  <a:t>пациентов</a:t>
                </a:r>
                <a:endParaRPr kumimoji="0" lang="ru-RU" sz="36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p:txBody>
          </p:sp>
          <p:sp>
            <p:nvSpPr>
              <p:cNvPr id="3" name="TextBox 2">
                <a:extLst>
                  <a:ext uri="{FF2B5EF4-FFF2-40B4-BE49-F238E27FC236}">
                    <a16:creationId xmlns:a16="http://schemas.microsoft.com/office/drawing/2014/main" id="{CA8FBC66-F91D-D8E0-538A-13D30AEF68DF}"/>
                  </a:ext>
                </a:extLst>
              </p:cNvPr>
              <p:cNvSpPr txBox="1"/>
              <p:nvPr/>
            </p:nvSpPr>
            <p:spPr>
              <a:xfrm>
                <a:off x="4229099" y="2462218"/>
                <a:ext cx="3324633" cy="523220"/>
              </a:xfrm>
              <a:prstGeom prst="rect">
                <a:avLst/>
              </a:prstGeom>
              <a:grpFill/>
            </p:spPr>
            <p:txBody>
              <a:bodyPr wrap="square">
                <a:sp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ru-RU" sz="1400" b="1" i="0" u="none" strike="noStrike" kern="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Aldhabi" panose="020B0604020202020204" pitchFamily="2" charset="-78"/>
                    <a:sym typeface="Arial"/>
                  </a:rPr>
                  <a:t>имели отличную или хорошую переносимость</a:t>
                </a:r>
              </a:p>
            </p:txBody>
          </p:sp>
        </p:grpSp>
        <p:grpSp>
          <p:nvGrpSpPr>
            <p:cNvPr id="23" name="Группа 22">
              <a:extLst>
                <a:ext uri="{FF2B5EF4-FFF2-40B4-BE49-F238E27FC236}">
                  <a16:creationId xmlns:a16="http://schemas.microsoft.com/office/drawing/2014/main" id="{B833A586-E2C8-68C9-4FF8-6CB0D774A624}"/>
                </a:ext>
              </a:extLst>
            </p:cNvPr>
            <p:cNvGrpSpPr/>
            <p:nvPr/>
          </p:nvGrpSpPr>
          <p:grpSpPr>
            <a:xfrm>
              <a:off x="1266057" y="5597003"/>
              <a:ext cx="7067238" cy="276999"/>
              <a:chOff x="895943" y="5318307"/>
              <a:chExt cx="7235686" cy="276999"/>
            </a:xfrm>
          </p:grpSpPr>
          <p:sp>
            <p:nvSpPr>
              <p:cNvPr id="18" name="TextBox 17">
                <a:extLst>
                  <a:ext uri="{FF2B5EF4-FFF2-40B4-BE49-F238E27FC236}">
                    <a16:creationId xmlns:a16="http://schemas.microsoft.com/office/drawing/2014/main" id="{DBAA966D-E634-F143-1E34-0FD91D2023F6}"/>
                  </a:ext>
                </a:extLst>
              </p:cNvPr>
              <p:cNvSpPr txBox="1"/>
              <p:nvPr/>
            </p:nvSpPr>
            <p:spPr>
              <a:xfrm>
                <a:off x="1186741"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19" name="TextBox 18">
                <a:extLst>
                  <a:ext uri="{FF2B5EF4-FFF2-40B4-BE49-F238E27FC236}">
                    <a16:creationId xmlns:a16="http://schemas.microsoft.com/office/drawing/2014/main" id="{2AFDC19E-3F77-648E-27D7-16C434612DA8}"/>
                  </a:ext>
                </a:extLst>
              </p:cNvPr>
              <p:cNvSpPr txBox="1"/>
              <p:nvPr/>
            </p:nvSpPr>
            <p:spPr>
              <a:xfrm>
                <a:off x="2991629"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0" name="TextBox 19">
                <a:extLst>
                  <a:ext uri="{FF2B5EF4-FFF2-40B4-BE49-F238E27FC236}">
                    <a16:creationId xmlns:a16="http://schemas.microsoft.com/office/drawing/2014/main" id="{938D6DC5-0281-E2E1-E519-A2B833CEA35E}"/>
                  </a:ext>
                </a:extLst>
              </p:cNvPr>
              <p:cNvSpPr txBox="1"/>
              <p:nvPr/>
            </p:nvSpPr>
            <p:spPr>
              <a:xfrm>
                <a:off x="4796517"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мм рт. ст.</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sp>
            <p:nvSpPr>
              <p:cNvPr id="21" name="TextBox 20">
                <a:extLst>
                  <a:ext uri="{FF2B5EF4-FFF2-40B4-BE49-F238E27FC236}">
                    <a16:creationId xmlns:a16="http://schemas.microsoft.com/office/drawing/2014/main" id="{CFFE8FFF-2946-71AA-D0EB-5823CD72F0F7}"/>
                  </a:ext>
                </a:extLst>
              </p:cNvPr>
              <p:cNvSpPr txBox="1"/>
              <p:nvPr/>
            </p:nvSpPr>
            <p:spPr>
              <a:xfrm>
                <a:off x="6641947" y="5318307"/>
                <a:ext cx="125049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уд.</a:t>
                </a:r>
                <a:r>
                  <a:rPr kumimoji="0" lang="en-US"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a:t>
                </a:r>
                <a:r>
                  <a:rPr kumimoji="0" lang="ru-RU" sz="1200" b="0" i="0" u="none" strike="noStrike" kern="1200" cap="none" spc="0" normalizeH="0" baseline="0" noProof="0" dirty="0">
                    <a:ln>
                      <a:noFill/>
                    </a:ln>
                    <a:solidFill>
                      <a:srgbClr val="265374"/>
                    </a:solidFill>
                    <a:effectLst/>
                    <a:uLnTx/>
                    <a:uFillTx/>
                    <a:latin typeface="arial" panose="020B0604020202020204" pitchFamily="34" charset="0"/>
                    <a:ea typeface="+mn-ea"/>
                    <a:cs typeface="+mn-cs"/>
                  </a:rPr>
                  <a:t>мин.</a:t>
                </a:r>
                <a:endParaRPr kumimoji="0" lang="ru-RU" sz="1200" b="0" i="0" u="none" strike="noStrike" kern="1200" cap="none" spc="0" normalizeH="0" baseline="0" noProof="0" dirty="0">
                  <a:ln>
                    <a:noFill/>
                  </a:ln>
                  <a:solidFill>
                    <a:srgbClr val="265374"/>
                  </a:solidFill>
                  <a:effectLst/>
                  <a:uLnTx/>
                  <a:uFillTx/>
                  <a:latin typeface="Verdana"/>
                  <a:ea typeface="+mn-ea"/>
                  <a:cs typeface="+mn-cs"/>
                </a:endParaRPr>
              </a:p>
            </p:txBody>
          </p:sp>
          <p:cxnSp>
            <p:nvCxnSpPr>
              <p:cNvPr id="22" name="Прямая соединительная линия 21">
                <a:extLst>
                  <a:ext uri="{FF2B5EF4-FFF2-40B4-BE49-F238E27FC236}">
                    <a16:creationId xmlns:a16="http://schemas.microsoft.com/office/drawing/2014/main" id="{6077A803-22D0-3B0F-091E-D1BAE80B8A9A}"/>
                  </a:ext>
                </a:extLst>
              </p:cNvPr>
              <p:cNvCxnSpPr/>
              <p:nvPr/>
            </p:nvCxnSpPr>
            <p:spPr>
              <a:xfrm>
                <a:off x="895943" y="5345522"/>
                <a:ext cx="7235686" cy="0"/>
              </a:xfrm>
              <a:prstGeom prst="line">
                <a:avLst/>
              </a:prstGeom>
              <a:ln w="9525">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9F62860D-0A5F-0BEE-B4B4-1B72D9E95421}"/>
              </a:ext>
            </a:extLst>
          </p:cNvPr>
          <p:cNvSpPr txBox="1"/>
          <p:nvPr/>
        </p:nvSpPr>
        <p:spPr>
          <a:xfrm>
            <a:off x="8730649" y="1529475"/>
            <a:ext cx="3173645" cy="4909036"/>
          </a:xfrm>
          <a:prstGeom prst="rect">
            <a:avLst/>
          </a:prstGeom>
          <a:noFill/>
        </p:spPr>
        <p:txBody>
          <a:bodyPr wrap="square">
            <a:spAutoFit/>
          </a:bodyPr>
          <a:lstStyle/>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1"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rPr>
              <a:t>ДИЗАЙН ИССЛЕДОВАНИЯ</a:t>
            </a:r>
            <a:endParaRPr kumimoji="0" lang="ru-RU" sz="1200" b="0" i="0" u="none" strike="noStrike" kern="1200" cap="none" spc="0" normalizeH="0" baseline="0" noProof="0" dirty="0">
              <a:ln>
                <a:noFill/>
              </a:ln>
              <a:solidFill>
                <a:srgbClr val="398ACB"/>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Включено </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12 424 пациента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с АГ старше 18 лет. </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За 4 недели до включения в исследование все были переведены со свободной комбинации </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амлодипина на фиксированную комбинацию </a:t>
            </a:r>
            <a:b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Конкор</a:t>
            </a:r>
            <a:r>
              <a:rPr kumimoji="0" lang="ru-RU" sz="1200" b="0" i="0" u="none" strike="noStrike" kern="1200" cap="none" spc="0" normalizeH="0" baseline="3000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АМ).</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Цель</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оценка приверженности терапии, а также АД, пульсового давления, ЧСС и нежелательных явлений.</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Длительность наблюдения</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b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b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месяцев. Средняя суточная доза в ФК составляла </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5,8 </a:t>
            </a:r>
            <a:r>
              <a:rPr kumimoji="0" lang="ru-RU" sz="12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2 мг </a:t>
            </a:r>
            <a:r>
              <a:rPr kumimoji="0" lang="ru-RU" sz="1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бисопролола</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и 6,3 </a:t>
            </a:r>
            <a:r>
              <a:rPr kumimoji="0" lang="ru-RU" sz="12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3 мг </a:t>
            </a:r>
            <a:r>
              <a:rPr kumimoji="0" lang="ru-RU" sz="1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амлодипина</a:t>
            </a: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(для свободной комбинации 5,5 мг и 6,1 мг соответственно).</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Коэффициент Коэна или величина эффекта: 0,2=малая, 0,5=средняя, 0,8=большая</a:t>
            </a:r>
          </a:p>
        </p:txBody>
      </p:sp>
      <p:sp>
        <p:nvSpPr>
          <p:cNvPr id="7" name="Объект 12">
            <a:extLst>
              <a:ext uri="{FF2B5EF4-FFF2-40B4-BE49-F238E27FC236}">
                <a16:creationId xmlns:a16="http://schemas.microsoft.com/office/drawing/2014/main" id="{AD64999D-BAAF-9497-423E-AEA21CB14FEF}"/>
              </a:ext>
            </a:extLst>
          </p:cNvPr>
          <p:cNvSpPr>
            <a:spLocks noGrp="1"/>
          </p:cNvSpPr>
          <p:nvPr>
            <p:ph idx="4294967295"/>
          </p:nvPr>
        </p:nvSpPr>
        <p:spPr>
          <a:xfrm>
            <a:off x="924972" y="6148527"/>
            <a:ext cx="7408324" cy="440575"/>
          </a:xfrm>
        </p:spPr>
        <p:txBody>
          <a:bodyPr>
            <a:noAutofit/>
          </a:bodyPr>
          <a:lstStyle/>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ДАД</a:t>
            </a:r>
            <a:r>
              <a:rPr lang="ru-RU" sz="800" dirty="0">
                <a:solidFill>
                  <a:srgbClr val="323F48"/>
                </a:solidFill>
                <a:latin typeface="Calibri" panose="020F0502020204030204" pitchFamily="34" charset="0"/>
                <a:cs typeface="Calibri" panose="020F0502020204030204" pitchFamily="34" charset="0"/>
              </a:rPr>
              <a:t> – диастолическое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САД </a:t>
            </a:r>
            <a:r>
              <a:rPr lang="ru-RU" sz="800" dirty="0">
                <a:solidFill>
                  <a:srgbClr val="323F48"/>
                </a:solidFill>
                <a:latin typeface="Calibri" panose="020F0502020204030204" pitchFamily="34" charset="0"/>
                <a:cs typeface="Calibri" panose="020F0502020204030204" pitchFamily="34" charset="0"/>
              </a:rPr>
              <a:t>– систолическое артериальное давление, </a:t>
            </a:r>
            <a:r>
              <a:rPr lang="ru-RU" sz="800" b="1" dirty="0">
                <a:solidFill>
                  <a:srgbClr val="323F48"/>
                </a:solidFill>
                <a:latin typeface="Calibri" panose="020F0502020204030204" pitchFamily="34" charset="0"/>
                <a:cs typeface="Calibri" panose="020F0502020204030204" pitchFamily="34" charset="0"/>
              </a:rPr>
              <a:t>ЧСС</a:t>
            </a:r>
            <a:r>
              <a:rPr lang="ru-RU" sz="800" dirty="0">
                <a:solidFill>
                  <a:srgbClr val="323F48"/>
                </a:solidFill>
                <a:latin typeface="Calibri" panose="020F0502020204030204" pitchFamily="34" charset="0"/>
                <a:cs typeface="Calibri" panose="020F0502020204030204" pitchFamily="34" charset="0"/>
              </a:rPr>
              <a:t> – частота сердечных сокращений</a:t>
            </a:r>
          </a:p>
          <a:p>
            <a:pPr marL="0" indent="0">
              <a:lnSpc>
                <a:spcPct val="120000"/>
              </a:lnSpc>
              <a:spcBef>
                <a:spcPts val="300"/>
              </a:spcBef>
              <a:buNone/>
            </a:pPr>
            <a:r>
              <a:rPr lang="ru-RU" sz="800" b="1" dirty="0">
                <a:solidFill>
                  <a:srgbClr val="323F48"/>
                </a:solidFill>
                <a:latin typeface="Calibri" panose="020F0502020204030204" pitchFamily="34" charset="0"/>
                <a:cs typeface="Calibri" panose="020F0502020204030204" pitchFamily="34" charset="0"/>
              </a:rPr>
              <a:t>1. </a:t>
            </a:r>
            <a:r>
              <a:rPr lang="en-US" sz="800" dirty="0" err="1">
                <a:solidFill>
                  <a:srgbClr val="323F48"/>
                </a:solidFill>
                <a:latin typeface="Calibri" panose="020F0502020204030204" pitchFamily="34" charset="0"/>
                <a:cs typeface="Calibri" panose="020F0502020204030204" pitchFamily="34" charset="0"/>
              </a:rPr>
              <a:t>Hostalek</a:t>
            </a:r>
            <a:r>
              <a:rPr lang="en-US" sz="800" dirty="0">
                <a:solidFill>
                  <a:srgbClr val="323F48"/>
                </a:solidFill>
                <a:latin typeface="Calibri" panose="020F0502020204030204" pitchFamily="34" charset="0"/>
                <a:cs typeface="Calibri" panose="020F0502020204030204" pitchFamily="34" charset="0"/>
              </a:rPr>
              <a:t> U. Treatment of hypertension with a fixed-dose combination of bisoprolol and amlodipine in daily practice: results of a multinational non-investigational study. Cardiovasc </a:t>
            </a:r>
            <a:r>
              <a:rPr lang="en-US" sz="800" dirty="0" err="1">
                <a:solidFill>
                  <a:srgbClr val="323F48"/>
                </a:solidFill>
                <a:latin typeface="Calibri" panose="020F0502020204030204" pitchFamily="34" charset="0"/>
                <a:cs typeface="Calibri" panose="020F0502020204030204" pitchFamily="34" charset="0"/>
              </a:rPr>
              <a:t>Disord</a:t>
            </a:r>
            <a:r>
              <a:rPr lang="en-US" sz="800" dirty="0">
                <a:solidFill>
                  <a:srgbClr val="323F48"/>
                </a:solidFill>
                <a:latin typeface="Calibri" panose="020F0502020204030204" pitchFamily="34" charset="0"/>
                <a:cs typeface="Calibri" panose="020F0502020204030204" pitchFamily="34" charset="0"/>
              </a:rPr>
              <a:t> Med. 2016;1(3):1–5. </a:t>
            </a:r>
            <a:r>
              <a:rPr lang="en-US" sz="800" dirty="0" err="1">
                <a:solidFill>
                  <a:srgbClr val="323F48"/>
                </a:solidFill>
                <a:latin typeface="Calibri" panose="020F0502020204030204" pitchFamily="34" charset="0"/>
                <a:cs typeface="Calibri" panose="020F0502020204030204" pitchFamily="34" charset="0"/>
              </a:rPr>
              <a:t>doi</a:t>
            </a:r>
            <a:r>
              <a:rPr lang="en-US" sz="800" dirty="0">
                <a:solidFill>
                  <a:srgbClr val="323F48"/>
                </a:solidFill>
                <a:latin typeface="Calibri" panose="020F0502020204030204" pitchFamily="34" charset="0"/>
                <a:cs typeface="Calibri" panose="020F0502020204030204" pitchFamily="34" charset="0"/>
              </a:rPr>
              <a:t>: 10.15761/CDM.1000118</a:t>
            </a:r>
          </a:p>
        </p:txBody>
      </p:sp>
      <p:sp>
        <p:nvSpPr>
          <p:cNvPr id="26" name="Заголовок 11">
            <a:extLst>
              <a:ext uri="{FF2B5EF4-FFF2-40B4-BE49-F238E27FC236}">
                <a16:creationId xmlns:a16="http://schemas.microsoft.com/office/drawing/2014/main" id="{E8A03CA6-035E-8FBF-ADF9-F3F892510269}"/>
              </a:ext>
            </a:extLst>
          </p:cNvPr>
          <p:cNvSpPr txBox="1">
            <a:spLocks/>
          </p:cNvSpPr>
          <p:nvPr/>
        </p:nvSpPr>
        <p:spPr>
          <a:xfrm>
            <a:off x="842558" y="279779"/>
            <a:ext cx="10909300" cy="736014"/>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0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Конкор</a:t>
            </a:r>
            <a:r>
              <a:rPr kumimoji="0" lang="ru-RU" sz="20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АМ обеспечивает дополнительное снижение АД и ЧСС по сравнению со свободной комбинацией</a:t>
            </a:r>
          </a:p>
        </p:txBody>
      </p:sp>
      <p:sp>
        <p:nvSpPr>
          <p:cNvPr id="5" name="Заголовок 7">
            <a:extLst>
              <a:ext uri="{FF2B5EF4-FFF2-40B4-BE49-F238E27FC236}">
                <a16:creationId xmlns:a16="http://schemas.microsoft.com/office/drawing/2014/main" id="{CA37C32A-7B69-E3A2-A166-552FDADC94E8}"/>
              </a:ext>
            </a:extLst>
          </p:cNvPr>
          <p:cNvSpPr txBox="1">
            <a:spLocks/>
          </p:cNvSpPr>
          <p:nvPr/>
        </p:nvSpPr>
        <p:spPr>
          <a:xfrm>
            <a:off x="842558" y="926190"/>
            <a:ext cx="10909300" cy="39238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1600" b="0"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j-cs"/>
              </a:rPr>
              <a:t>Неинтервенционное</a:t>
            </a:r>
            <a:r>
              <a:rPr kumimoji="0" lang="ru-RU" sz="16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 исследование среди 12 424 пациентов с артериальной гипертензией</a:t>
            </a:r>
            <a:endParaRPr kumimoji="0" lang="ru-RU" sz="1600" b="0" i="1" u="none" strike="noStrike" kern="1200" cap="none" spc="0" normalizeH="0" baseline="50000" noProof="0" dirty="0">
              <a:ln>
                <a:noFill/>
              </a:ln>
              <a:solidFill>
                <a:srgbClr val="265374"/>
              </a:solidFill>
              <a:effectLst/>
              <a:uLnTx/>
              <a:uFillTx/>
              <a:latin typeface="Verdana" panose="020B0604030504040204" pitchFamily="34" charset="0"/>
              <a:ea typeface="Verdana" panose="020B0604030504040204" pitchFamily="34" charset="0"/>
              <a:cs typeface="+mj-cs"/>
            </a:endParaRPr>
          </a:p>
        </p:txBody>
      </p:sp>
    </p:spTree>
    <p:extLst>
      <p:ext uri="{BB962C8B-B14F-4D97-AF65-F5344CB8AC3E}">
        <p14:creationId xmlns:p14="http://schemas.microsoft.com/office/powerpoint/2010/main" val="393172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9499-091D-E582-CE88-0A523AB8FC1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8818A26-61D5-FD90-1B67-6132B793D983}"/>
              </a:ext>
            </a:extLst>
          </p:cNvPr>
          <p:cNvSpPr>
            <a:spLocks noGrp="1"/>
          </p:cNvSpPr>
          <p:nvPr>
            <p:ph type="title"/>
          </p:nvPr>
        </p:nvSpPr>
        <p:spPr bwMode="gray">
          <a:xfrm>
            <a:off x="5951538" y="2240992"/>
            <a:ext cx="5617070" cy="1365808"/>
          </a:xfrm>
        </p:spPr>
        <p:txBody>
          <a:bodyPr/>
          <a:lstStyle/>
          <a:p>
            <a:r>
              <a:rPr lang="ru-RU" sz="4000" b="1" dirty="0">
                <a:latin typeface="Arial (Headings)"/>
              </a:rPr>
              <a:t>Контроль </a:t>
            </a:r>
            <a:r>
              <a:rPr lang="en-US" sz="4000" b="1" dirty="0">
                <a:latin typeface="Arial (Headings)"/>
              </a:rPr>
              <a:t>vs </a:t>
            </a:r>
            <a:r>
              <a:rPr lang="ru-RU" sz="4000" b="1" dirty="0">
                <a:latin typeface="Arial (Headings)"/>
              </a:rPr>
              <a:t>иллюзия контроля</a:t>
            </a:r>
            <a:br>
              <a:rPr lang="ru-RU" dirty="0"/>
            </a:br>
            <a:r>
              <a:rPr lang="ru-RU" sz="2000" i="1" dirty="0">
                <a:latin typeface="+mj-lt"/>
              </a:rPr>
              <a:t>Почему раздельная терапия создаёт опасную иллюзию, а фиксированная комбинация (FDC) обеспечивает реальное управление результатом</a:t>
            </a:r>
            <a:endParaRPr lang="ru-RU" i="1" dirty="0">
              <a:latin typeface="+mj-lt"/>
            </a:endParaRPr>
          </a:p>
        </p:txBody>
      </p:sp>
    </p:spTree>
    <p:custDataLst>
      <p:tags r:id="rId1"/>
    </p:custDataLst>
    <p:extLst>
      <p:ext uri="{BB962C8B-B14F-4D97-AF65-F5344CB8AC3E}">
        <p14:creationId xmlns:p14="http://schemas.microsoft.com/office/powerpoint/2010/main" val="323207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371600"/>
            <a:ext cx="1371600"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0" b="0" i="0" u="none" strike="noStrike" kern="1200" cap="none" spc="0" normalizeH="0" baseline="0" noProof="0" dirty="0">
                <a:ln>
                  <a:noFill/>
                </a:ln>
                <a:solidFill>
                  <a:srgbClr val="C8102E"/>
                </a:solidFill>
                <a:effectLst/>
                <a:uLnTx/>
                <a:uFillTx/>
                <a:latin typeface="Georgia" pitchFamily="34" charset="0"/>
                <a:ea typeface="Georgia" pitchFamily="34" charset="-122"/>
                <a:cs typeface="Georgia" pitchFamily="34" charset="-120"/>
              </a:rPr>
              <a:t>«</a:t>
            </a:r>
            <a:endParaRPr kumimoji="0" lang="en-US" sz="1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3412375"/>
            <a:ext cx="105156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Вопрос не в том, сколькими таблетками мы управляем.</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600" b="1"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Вопрос в том, управляем ли мы лечением — или только создаём себе иллюзию контроля.</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5212080"/>
            <a:ext cx="2743200" cy="0"/>
          </a:xfrm>
          <a:prstGeom prst="line">
            <a:avLst/>
          </a:prstGeom>
          <a:noFill/>
          <a:ln w="254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7959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Логика контроля: как думает врач</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37360"/>
            <a:ext cx="11247120" cy="640080"/>
          </a:xfrm>
          <a:prstGeom prst="rect">
            <a:avLst/>
          </a:prstGeom>
          <a:solidFill>
            <a:srgbClr val="F2F4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31520" y="1737360"/>
            <a:ext cx="106984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Когда врач назначает два препарата отдельно, он опирается на рациональные аргументы:</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731520" y="2743200"/>
            <a:ext cx="502920" cy="502920"/>
          </a:xfrm>
          <a:prstGeom prst="ellipse">
            <a:avLst/>
          </a:prstGeom>
          <a:solidFill>
            <a:srgbClr val="FFFFFF"/>
          </a:solidFill>
          <a:ln w="254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74320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2724912"/>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Гибкость титрации</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301752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«Я могу менять дозу каждого компонента независимо»</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31520" y="3611880"/>
            <a:ext cx="502920" cy="502920"/>
          </a:xfrm>
          <a:prstGeom prst="ellipse">
            <a:avLst/>
          </a:prstGeom>
          <a:solidFill>
            <a:srgbClr val="FFFFFF"/>
          </a:solidFill>
          <a:ln w="254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6118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63040" y="3593592"/>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Управление процессом</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388620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«Я вижу эффект каждого препарата в отдельности»</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31520" y="4480560"/>
            <a:ext cx="502920" cy="502920"/>
          </a:xfrm>
          <a:prstGeom prst="ellipse">
            <a:avLst/>
          </a:prstGeom>
          <a:solidFill>
            <a:srgbClr val="FFFFFF"/>
          </a:solidFill>
          <a:ln w="254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44805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463040" y="4462272"/>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Персонализация</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63040" y="475488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«Я адаптирую терапию под конкретного пациента»</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31520" y="5349240"/>
            <a:ext cx="502920" cy="502920"/>
          </a:xfrm>
          <a:prstGeom prst="ellipse">
            <a:avLst/>
          </a:prstGeom>
          <a:solidFill>
            <a:srgbClr val="FFFFFF"/>
          </a:solidFill>
          <a:ln w="25400">
            <a:solidFill>
              <a:srgbClr val="1E27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731520" y="5349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463040" y="5330952"/>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Профессиональный контроль</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463040" y="562356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«Я контролирую каждое решение по схеме лечения»</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57200" y="6263640"/>
            <a:ext cx="11247120" cy="45720"/>
          </a:xfrm>
          <a:prstGeom prst="rect">
            <a:avLst/>
          </a:prstGeom>
          <a:solidFill>
            <a:srgbClr val="D0D5D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57200" y="6355080"/>
            <a:ext cx="112471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Эту логику трудно оспорить — и именно поэтому она редко подвергается сомнению</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Что происходит после выхода из кабинета</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6012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Реальная картина приёма препаратов между визитами</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920240"/>
            <a:ext cx="5577840" cy="178308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920240"/>
            <a:ext cx="5577840" cy="73152"/>
          </a:xfrm>
          <a:prstGeom prst="rect">
            <a:avLst/>
          </a:prstGeom>
          <a:solidFill>
            <a:srgbClr val="C810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85800" y="2194560"/>
            <a:ext cx="5303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Разное время приёма</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85800" y="2651760"/>
            <a:ext cx="53035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Забыл утром амлодипин — принял вечером. Бисопролол — в обед, если вспомнил.</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Shape 7"/>
          <p:cNvSpPr/>
          <p:nvPr/>
        </p:nvSpPr>
        <p:spPr>
          <a:xfrm>
            <a:off x="6263640" y="1920240"/>
            <a:ext cx="5577840" cy="178308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6263640" y="1920240"/>
            <a:ext cx="5577840" cy="73152"/>
          </a:xfrm>
          <a:prstGeom prst="rect">
            <a:avLst/>
          </a:prstGeom>
          <a:solidFill>
            <a:srgbClr val="C810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492240" y="2194560"/>
            <a:ext cx="5303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Потерянная титрация</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92240" y="2651760"/>
            <a:ext cx="53035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Не дошёл до повторного визита — дозы остались на стартовом уровне.</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Shape 11"/>
          <p:cNvSpPr/>
          <p:nvPr/>
        </p:nvSpPr>
        <p:spPr>
          <a:xfrm>
            <a:off x="457200" y="3931920"/>
            <a:ext cx="5577840" cy="178308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457200" y="3931920"/>
            <a:ext cx="5577840" cy="73152"/>
          </a:xfrm>
          <a:prstGeom prst="rect">
            <a:avLst/>
          </a:prstGeom>
          <a:solidFill>
            <a:srgbClr val="C810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685800" y="4206240"/>
            <a:ext cx="5303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Самостоятельная отмена</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4663440"/>
            <a:ext cx="53035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Появился побочный эффект — отменил один компонент, не сообщив врачу.</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15"/>
          <p:cNvSpPr/>
          <p:nvPr/>
        </p:nvSpPr>
        <p:spPr>
          <a:xfrm>
            <a:off x="6263640" y="3931920"/>
            <a:ext cx="5577840" cy="1783080"/>
          </a:xfrm>
          <a:prstGeom prst="rect">
            <a:avLst/>
          </a:prstGeom>
          <a:solidFill>
            <a:srgbClr val="FFFFFF"/>
          </a:solid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263640" y="3931920"/>
            <a:ext cx="5577840" cy="73152"/>
          </a:xfrm>
          <a:prstGeom prst="rect">
            <a:avLst/>
          </a:prstGeom>
          <a:solidFill>
            <a:srgbClr val="C810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492240" y="4206240"/>
            <a:ext cx="5303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Потерянная схема</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6492240" y="4663440"/>
            <a:ext cx="530352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Через месяц не помнит, какую комбинацию назначали, — принимает не то, что выписано.</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472440" y="5842165"/>
            <a:ext cx="112471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По данным реальной практики, через 12 месяцев приверженность на свободной комбинации снижается до 54%</a:t>
            </a:r>
            <a:r>
              <a:rPr kumimoji="0" lang="en-US" sz="16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 это не гипотеза, а устойчивая картина </a:t>
            </a:r>
            <a:r>
              <a:rPr kumimoji="0" lang="en-US" sz="1600" b="0" i="1" u="none" strike="noStrike" kern="1200" cap="none" spc="0" normalizeH="0" baseline="0" noProof="0" dirty="0" err="1">
                <a:ln>
                  <a:noFill/>
                </a:ln>
                <a:solidFill>
                  <a:prstClr val="black"/>
                </a:solidFill>
                <a:effectLst/>
                <a:uLnTx/>
                <a:uFillTx/>
                <a:latin typeface="Calibri" pitchFamily="34" charset="0"/>
                <a:ea typeface="Calibri" pitchFamily="34" charset="-122"/>
                <a:cs typeface="Calibri" pitchFamily="34" charset="-120"/>
              </a:rPr>
              <a:t>реальной</a:t>
            </a:r>
            <a:r>
              <a:rPr kumimoji="0" lang="en-US" sz="1600"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 практики</a:t>
            </a:r>
            <a:r>
              <a:rPr kumimoji="0" lang="en-US" sz="1600" b="0" i="1" u="none" strike="noStrike" kern="1200" cap="none" spc="0" normalizeH="0" baseline="30000" noProof="0" dirty="0">
                <a:ln>
                  <a:noFill/>
                </a:ln>
                <a:solidFill>
                  <a:prstClr val="black"/>
                </a:solidFill>
                <a:effectLst/>
                <a:uLnTx/>
                <a:uFillTx/>
                <a:latin typeface="Calibri" pitchFamily="34" charset="0"/>
                <a:ea typeface="Calibri" pitchFamily="34" charset="-122"/>
                <a:cs typeface="Calibri" pitchFamily="34" charset="-120"/>
              </a:rPr>
              <a:t>1</a:t>
            </a:r>
            <a:endParaRPr kumimoji="0" lang="en-US" sz="16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638FCB74-6F98-99B6-CD23-B784BA22BC34}"/>
              </a:ext>
            </a:extLst>
          </p:cNvPr>
          <p:cNvSpPr txBox="1"/>
          <p:nvPr/>
        </p:nvSpPr>
        <p:spPr>
          <a:xfrm>
            <a:off x="176951" y="6472250"/>
            <a:ext cx="802493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 Hess G, et al. Medication utilization patterns and hypertension-related expenditures among patients who were switched from fixed-dose to free-combination antihypertensive therapy. P&amp;T. 2008;33(11):652–666.</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Иллюзия контроля на визите</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6012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5C6B7A"/>
                </a:solidFill>
                <a:effectLst/>
                <a:uLnTx/>
                <a:uFillTx/>
                <a:latin typeface="Calibri" pitchFamily="34" charset="0"/>
                <a:ea typeface="Calibri" pitchFamily="34" charset="-122"/>
                <a:cs typeface="Calibri" pitchFamily="34" charset="-120"/>
              </a:rPr>
              <a:t>Парадокс: показатели «в норме», прогноз — хуже</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417320"/>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57200" y="1737360"/>
            <a:ext cx="11247120" cy="1645920"/>
          </a:xfrm>
          <a:prstGeom prst="rect">
            <a:avLst/>
          </a:prstGeom>
          <a:solidFill>
            <a:srgbClr val="F2F4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31520" y="1874520"/>
            <a:ext cx="2743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400" normalizeH="0" baseline="0" noProof="0" dirty="0">
                <a:ln>
                  <a:noFill/>
                </a:ln>
                <a:solidFill>
                  <a:srgbClr val="5C6B7A"/>
                </a:solidFill>
                <a:effectLst/>
                <a:uLnTx/>
                <a:uFillTx/>
                <a:latin typeface="Calibri" pitchFamily="34" charset="0"/>
                <a:ea typeface="Calibri" pitchFamily="34" charset="-122"/>
                <a:cs typeface="Calibri" pitchFamily="34" charset="-120"/>
              </a:rPr>
              <a:t>На приёме</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2286000"/>
            <a:ext cx="1069848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Пациент принял таблетки утром. ЧСС и АД — в целевых значениях. Врач фиксирует хороший контроль, схема сохраняется.</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623560" y="3474720"/>
            <a:ext cx="9144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4023360"/>
            <a:ext cx="11247120" cy="2057400"/>
          </a:xfrm>
          <a:prstGeom prst="rect">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4160520"/>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400" normalizeH="0" baseline="0" noProof="0" dirty="0">
                <a:ln>
                  <a:noFill/>
                </a:ln>
                <a:solidFill>
                  <a:srgbClr val="FFB3BC"/>
                </a:solidFill>
                <a:effectLst/>
                <a:uLnTx/>
                <a:uFillTx/>
                <a:latin typeface="Calibri" pitchFamily="34" charset="0"/>
                <a:ea typeface="Calibri" pitchFamily="34" charset="-122"/>
                <a:cs typeface="Calibri" pitchFamily="34" charset="-120"/>
              </a:rPr>
              <a:t>Между визитами</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31520" y="4572000"/>
            <a:ext cx="1069848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Высокая вариабельность АД. Пропуски доз. Скрытые эпизоды гипер- и гипотензии.</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 </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Долгосрочный контроль хуже. Прогноз хуже. Врач этого не видит.</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57200" y="6263640"/>
            <a:ext cx="112471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Это и есть иллюзия контроля: результат на визите — при проигранной стратегии в целом</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7CC95-3198-D8B9-6109-6B48954D8CE7}"/>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D3BF39C-5E56-792D-ABC4-32CB07AB9D02}"/>
              </a:ext>
            </a:extLst>
          </p:cNvPr>
          <p:cNvSpPr txBox="1"/>
          <p:nvPr/>
        </p:nvSpPr>
        <p:spPr>
          <a:xfrm>
            <a:off x="1211766" y="2951946"/>
            <a:ext cx="9768468"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rPr>
              <a:t>«Контроль» на визите ≠ контроль терапии: раздельная схема не защищает от пропусков и иллюзии контроля, FDC повышает приверженность и стабильность</a:t>
            </a:r>
          </a:p>
        </p:txBody>
      </p:sp>
      <p:sp>
        <p:nvSpPr>
          <p:cNvPr id="2" name="TextBox 1">
            <a:extLst>
              <a:ext uri="{FF2B5EF4-FFF2-40B4-BE49-F238E27FC236}">
                <a16:creationId xmlns:a16="http://schemas.microsoft.com/office/drawing/2014/main" id="{16DF5301-D2D0-5227-1D19-FC5FB234EA50}"/>
              </a:ext>
            </a:extLst>
          </p:cNvPr>
          <p:cNvSpPr txBox="1"/>
          <p:nvPr/>
        </p:nvSpPr>
        <p:spPr>
          <a:xfrm>
            <a:off x="8331200" y="6325054"/>
            <a:ext cx="353060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FDC</a:t>
            </a: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 – фиксированная комбинация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(fixed-dose combination)</a:t>
            </a:r>
            <a:endPar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Diagonal Corners Snipped 4">
            <a:extLst>
              <a:ext uri="{FF2B5EF4-FFF2-40B4-BE49-F238E27FC236}">
                <a16:creationId xmlns:a16="http://schemas.microsoft.com/office/drawing/2014/main" id="{3941126B-EE07-629A-9B0A-E0D2A720030B}"/>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Главное</a:t>
            </a:r>
            <a:r>
              <a:rPr kumimoji="0" lang="ru-RU" sz="1800" b="0" i="0" u="none" strike="noStrike" kern="1200" cap="none" spc="0" normalizeH="0" baseline="0" noProof="0" dirty="0">
                <a:ln>
                  <a:noFill/>
                </a:ln>
                <a:solidFill>
                  <a:prstClr val="white"/>
                </a:solidFill>
                <a:effectLst/>
                <a:uLnTx/>
                <a:uFillTx/>
                <a:latin typeface="Merck" panose="02060803030402040803" pitchFamily="18" charset="0"/>
                <a:ea typeface="+mn-ea"/>
                <a:cs typeface="+mn-cs"/>
              </a:rPr>
              <a:t> </a:t>
            </a: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из</a:t>
            </a:r>
            <a:r>
              <a:rPr kumimoji="0" lang="ru-RU" sz="1800" b="0" i="0" u="none" strike="noStrike" kern="1200" cap="none" spc="0" normalizeH="0" baseline="0" noProof="0" dirty="0">
                <a:ln>
                  <a:noFill/>
                </a:ln>
                <a:solidFill>
                  <a:prstClr val="white"/>
                </a:solidFill>
                <a:effectLst/>
                <a:uLnTx/>
                <a:uFillTx/>
                <a:latin typeface="Merck" panose="02060803030402040803" pitchFamily="18" charset="0"/>
                <a:ea typeface="+mn-ea"/>
                <a:cs typeface="+mn-cs"/>
              </a:rPr>
              <a:t> </a:t>
            </a: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блока</a:t>
            </a:r>
          </a:p>
        </p:txBody>
      </p:sp>
    </p:spTree>
    <p:extLst>
      <p:ext uri="{BB962C8B-B14F-4D97-AF65-F5344CB8AC3E}">
        <p14:creationId xmlns:p14="http://schemas.microsoft.com/office/powerpoint/2010/main" val="11134667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Портрет пациента, для которого фиксированная комбинация (FDC) даёт максимальный клинический эффект</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34546"/>
            <a:ext cx="11247120" cy="0"/>
          </a:xfrm>
          <a:prstGeom prst="line">
            <a:avLst/>
          </a:prstGeom>
          <a:noFill/>
          <a:ln w="9525">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35458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01</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554480" y="135458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Стабильная ИБС + АГ</a:t>
            </a: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 подобранная комбинация ББ + ДГП-БКК уже работает</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1,2</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554480" y="172034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FDC обеспечивает приверженность и улучшает эффективность терапии</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554480" y="213182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222326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02</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554480" y="222326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Не достигнуты целевые ЧСС и АД</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3</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554480" y="258902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Комбинация ББ + ДГП-БКК эффективнее удвоения дозы — FDC упрощает её назначение</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554480" y="300050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57200" y="309194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03</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554480" y="309194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Высокая нагрузка таблетками</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4,5</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554480" y="345770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Пациент принимает более 3 таблеток в день — высокий риск пропусков</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554480" y="386918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57200" y="396062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04</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554480" y="396062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Коморбидность с </a:t>
            </a:r>
            <a:r>
              <a:rPr kumimoji="0" lang="en-US" sz="17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Мет</a:t>
            </a:r>
            <a:r>
              <a:rPr kumimoji="0" lang="ru-RU" sz="1700" b="1" i="0" u="none" strike="noStrike" kern="1200" cap="none" spc="0" normalizeH="0" baseline="0" noProof="0" dirty="0" err="1">
                <a:ln>
                  <a:noFill/>
                </a:ln>
                <a:solidFill>
                  <a:srgbClr val="1E2761"/>
                </a:solidFill>
                <a:effectLst/>
                <a:uLnTx/>
                <a:uFillTx/>
                <a:latin typeface="Calibri" pitchFamily="34" charset="0"/>
                <a:ea typeface="Calibri" pitchFamily="34" charset="-122"/>
                <a:cs typeface="Calibri" pitchFamily="34" charset="-120"/>
              </a:rPr>
              <a:t>аболическим</a:t>
            </a: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синдромом</a:t>
            </a:r>
            <a:r>
              <a:rPr kumimoji="0" lang="en-US"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 / СД2</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6</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554480" y="4315221"/>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err="1">
                <a:ln>
                  <a:noFill/>
                </a:ln>
                <a:solidFill>
                  <a:srgbClr val="1A1A1A"/>
                </a:solidFill>
                <a:effectLst/>
                <a:uLnTx/>
                <a:uFillTx/>
                <a:latin typeface="Calibri" pitchFamily="34" charset="0"/>
                <a:ea typeface="Calibri" pitchFamily="34" charset="-122"/>
                <a:cs typeface="Calibri" pitchFamily="34" charset="-120"/>
              </a:rPr>
              <a:t>Конкор</a:t>
            </a: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АМ— метаболически нейтральная комбинация </a:t>
            </a: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в фиксированной форме</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554480" y="4737866"/>
            <a:ext cx="10058400" cy="0"/>
          </a:xfrm>
          <a:prstGeom prst="line">
            <a:avLst/>
          </a:prstGeom>
          <a:noFill/>
          <a:ln w="6350">
            <a:solidFill>
              <a:srgbClr val="D0D5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4829306"/>
            <a:ext cx="914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05</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554480" y="482930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700" b="1" i="0" u="none" strike="noStrike" kern="1200" cap="none" spc="0" normalizeH="0" baseline="0" noProof="0" dirty="0">
                <a:ln>
                  <a:noFill/>
                </a:ln>
                <a:solidFill>
                  <a:srgbClr val="1E2761"/>
                </a:solidFill>
                <a:effectLst/>
                <a:uLnTx/>
                <a:uFillTx/>
                <a:latin typeface="Calibri" pitchFamily="34" charset="0"/>
                <a:ea typeface="Calibri" pitchFamily="34" charset="-122"/>
                <a:cs typeface="Calibri" pitchFamily="34" charset="-120"/>
              </a:rPr>
              <a:t>Объективные признаки сниженной приверженности</a:t>
            </a:r>
            <a:r>
              <a:rPr kumimoji="0" lang="ru-RU" sz="1700" b="1" i="0" u="none" strike="noStrike" kern="1200" cap="none" spc="0" normalizeH="0" baseline="30000" noProof="0" dirty="0">
                <a:ln>
                  <a:noFill/>
                </a:ln>
                <a:solidFill>
                  <a:srgbClr val="1E2761"/>
                </a:solidFill>
                <a:effectLst/>
                <a:uLnTx/>
                <a:uFillTx/>
                <a:latin typeface="Calibri" pitchFamily="34" charset="0"/>
                <a:ea typeface="Calibri" pitchFamily="34" charset="-122"/>
                <a:cs typeface="Calibri" pitchFamily="34" charset="-120"/>
              </a:rPr>
              <a:t>5</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554480" y="5195066"/>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З</a:t>
            </a:r>
            <a:r>
              <a:rPr kumimoji="0" lang="ru-RU" sz="1600" b="0" i="0" u="none" strike="noStrike" kern="1200" cap="none" spc="0" normalizeH="0" baseline="0" noProof="0" dirty="0" err="1">
                <a:ln>
                  <a:noFill/>
                </a:ln>
                <a:solidFill>
                  <a:srgbClr val="1A1A1A"/>
                </a:solidFill>
                <a:effectLst/>
                <a:uLnTx/>
                <a:uFillTx/>
                <a:latin typeface="Calibri" pitchFamily="34" charset="0"/>
                <a:ea typeface="Calibri" pitchFamily="34" charset="-122"/>
                <a:cs typeface="Calibri" pitchFamily="34" charset="-120"/>
              </a:rPr>
              <a:t>абывание</a:t>
            </a:r>
            <a:r>
              <a:rPr kumimoji="0" lang="ru-RU" sz="16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компонентов, пропуски доз, расхождение между назначенной и реально принимаемой терапией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FDC </a:t>
            </a: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устраняет фрагментацию схемы</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0">
            <a:extLst>
              <a:ext uri="{FF2B5EF4-FFF2-40B4-BE49-F238E27FC236}">
                <a16:creationId xmlns:a16="http://schemas.microsoft.com/office/drawing/2014/main" id="{F02FFB04-74FC-203A-DC0D-1C8A5AEE700B}"/>
              </a:ext>
            </a:extLst>
          </p:cNvPr>
          <p:cNvSpPr/>
          <p:nvPr/>
        </p:nvSpPr>
        <p:spPr>
          <a:xfrm>
            <a:off x="8795047" y="3273036"/>
            <a:ext cx="3241783" cy="640080"/>
          </a:xfrm>
          <a:prstGeom prst="rect">
            <a:avLst/>
          </a:prstGeom>
          <a:solidFill>
            <a:schemeClr val="bg1"/>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000" b="1" i="1" u="none" strike="noStrike" kern="1200" cap="none" spc="0" normalizeH="0" baseline="0" noProof="0" dirty="0">
                <a:ln>
                  <a:noFill/>
                </a:ln>
                <a:solidFill>
                  <a:srgbClr val="00B050"/>
                </a:solidFill>
                <a:effectLst/>
                <a:uLnTx/>
                <a:uFillTx/>
                <a:latin typeface="Calibri" pitchFamily="34" charset="0"/>
                <a:ea typeface="Calibri" pitchFamily="34" charset="-122"/>
                <a:cs typeface="Calibri" pitchFamily="34" charset="-120"/>
              </a:rPr>
              <a:t>FDC лучше свободной комбинации всегда, но у этих 5 категорий разница особенно велика</a:t>
            </a:r>
            <a:r>
              <a:rPr kumimoji="0" lang="ru-RU" sz="2000" b="1" i="1" u="none" strike="noStrike" kern="1200" cap="none" spc="0" normalizeH="0" baseline="30000" noProof="0" dirty="0">
                <a:ln>
                  <a:noFill/>
                </a:ln>
                <a:solidFill>
                  <a:srgbClr val="00B050"/>
                </a:solidFill>
                <a:effectLst/>
                <a:uLnTx/>
                <a:uFillTx/>
                <a:latin typeface="Calibri" pitchFamily="34" charset="0"/>
                <a:ea typeface="Calibri" pitchFamily="34" charset="-122"/>
                <a:cs typeface="Calibri" pitchFamily="34" charset="-120"/>
              </a:rPr>
              <a:t>3,4,5</a:t>
            </a:r>
            <a:endParaRPr kumimoji="0" lang="en-US" sz="2000" b="0" i="1" u="none" strike="noStrike" kern="1200" cap="none" spc="0" normalizeH="0" baseline="30000" noProof="0" dirty="0">
              <a:ln>
                <a:noFill/>
              </a:ln>
              <a:solidFill>
                <a:srgbClr val="00B05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AC15AAC-E796-2A12-5FB9-58B562E6A5F7}"/>
              </a:ext>
            </a:extLst>
          </p:cNvPr>
          <p:cNvSpPr txBox="1"/>
          <p:nvPr/>
        </p:nvSpPr>
        <p:spPr>
          <a:xfrm>
            <a:off x="217411" y="5903893"/>
            <a:ext cx="1172669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1.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Чесникова</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А.И., и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соавт</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Оценка эффективности фиксированной комбинации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бисопролола</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и амлодипина в амбулаторном лечении больных артериальной гипертензией и ишемической болезнью сердца. Кардиология. 2014;9:17–23.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2.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Скибицкий</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В.В., и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соавт</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Эффективность фиксированной комбинации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бисопролола</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и амлодипина у пациентов с артериальной гипертонией, ишемической болезнью сердца и метаболическим синдромом. Системные гипертензии. 2015;1:26–31.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3.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Wald DS, et al. Combination therapy versus monotherapy in reducing blood pressure: meta-analysis on 11,000 participants from 42 trials. Am J Med. 2009;122(3):290–300.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4. Verma AA, et al. Fixed-dose combination antihypertensive medications, adherence, and clinical outcomes. PLOS Medicine. 2018;15(6):e1002584.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5. Hess G, et al. Medication utilization patterns and hypertension-related expenditures among patients who were switched from fixed-dose to free-combination antihypertensive therapy. P&amp;T. 2008;33(11):652–666.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6. </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Жернакова Ю.В., и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соавт</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Возможности фиксированной комбинации высокоселективного </a:t>
            </a:r>
            <a:r>
              <a:rPr kumimoji="0" lang="el-GR" sz="800" b="0" i="0" u="none" strike="noStrike" kern="1200" cap="none" spc="0" normalizeH="0" baseline="0" noProof="0" dirty="0">
                <a:ln>
                  <a:noFill/>
                </a:ln>
                <a:solidFill>
                  <a:prstClr val="black"/>
                </a:solidFill>
                <a:effectLst/>
                <a:uLnTx/>
                <a:uFillTx/>
                <a:latin typeface="Calibri" panose="020F0502020204030204"/>
                <a:ea typeface="+mn-ea"/>
                <a:cs typeface="+mn-cs"/>
              </a:rPr>
              <a:t>β-</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адреноблокатора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бисопролола</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и антагониста кальция амлодипина (</a:t>
            </a: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в лечении артериальной гипертонии у больных с метаболическими нарушениями. Системные гипертензии. 2017;1:45–50.</a:t>
            </a:r>
          </a:p>
        </p:txBody>
      </p:sp>
      <p:sp>
        <p:nvSpPr>
          <p:cNvPr id="3" name="TextBox 2">
            <a:extLst>
              <a:ext uri="{FF2B5EF4-FFF2-40B4-BE49-F238E27FC236}">
                <a16:creationId xmlns:a16="http://schemas.microsoft.com/office/drawing/2014/main" id="{43DC6907-D771-6682-7808-1F61A904465C}"/>
              </a:ext>
            </a:extLst>
          </p:cNvPr>
          <p:cNvSpPr txBox="1"/>
          <p:nvPr/>
        </p:nvSpPr>
        <p:spPr>
          <a:xfrm>
            <a:off x="7472441" y="5595910"/>
            <a:ext cx="48041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prstClr val="black"/>
                </a:solidFill>
                <a:effectLst/>
                <a:uLnTx/>
                <a:uFillTx/>
                <a:latin typeface="Calibri" panose="020F0502020204030204"/>
                <a:ea typeface="+mn-ea"/>
                <a:cs typeface="+mn-cs"/>
              </a:rPr>
              <a:t>ДГП-БКК</a:t>
            </a: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ru-RU" sz="1200" b="0" i="0" u="none" strike="noStrike" kern="1200" cap="none" spc="0" normalizeH="0" baseline="0" noProof="0" dirty="0" err="1">
                <a:ln>
                  <a:noFill/>
                </a:ln>
                <a:solidFill>
                  <a:prstClr val="black"/>
                </a:solidFill>
                <a:effectLst/>
                <a:uLnTx/>
                <a:uFillTx/>
                <a:latin typeface="Calibri" panose="020F0502020204030204"/>
                <a:ea typeface="+mn-ea"/>
                <a:cs typeface="+mn-cs"/>
              </a:rPr>
              <a:t>дигидропиридиновые</a:t>
            </a: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 блокаторы кальциевых каналов</a:t>
            </a:r>
          </a:p>
        </p:txBody>
      </p:sp>
    </p:spTree>
    <p:extLst>
      <p:ext uri="{BB962C8B-B14F-4D97-AF65-F5344CB8AC3E}">
        <p14:creationId xmlns:p14="http://schemas.microsoft.com/office/powerpoint/2010/main" val="614708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A6DCCE6-70A0-653B-B03F-98896B7861F2}"/>
              </a:ext>
            </a:extLst>
          </p:cNvPr>
          <p:cNvSpPr txBox="1">
            <a:spLocks/>
          </p:cNvSpPr>
          <p:nvPr/>
        </p:nvSpPr>
        <p:spPr>
          <a:xfrm>
            <a:off x="384694" y="456923"/>
            <a:ext cx="11635510" cy="529738"/>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Цена иллюзии: что показывает реальная клиническая практика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graphicFrame>
        <p:nvGraphicFramePr>
          <p:cNvPr id="27" name="Chart 26">
            <a:extLst>
              <a:ext uri="{FF2B5EF4-FFF2-40B4-BE49-F238E27FC236}">
                <a16:creationId xmlns:a16="http://schemas.microsoft.com/office/drawing/2014/main" id="{00DF3758-4F67-7051-6E87-D23EBF453846}"/>
              </a:ext>
            </a:extLst>
          </p:cNvPr>
          <p:cNvGraphicFramePr/>
          <p:nvPr/>
        </p:nvGraphicFramePr>
        <p:xfrm>
          <a:off x="1192168" y="2490668"/>
          <a:ext cx="1710276" cy="1232085"/>
        </p:xfrm>
        <a:graphic>
          <a:graphicData uri="http://schemas.openxmlformats.org/drawingml/2006/chart">
            <c:chart xmlns:c="http://schemas.openxmlformats.org/drawingml/2006/chart" xmlns:r="http://schemas.openxmlformats.org/officeDocument/2006/relationships" r:id="rId2"/>
          </a:graphicData>
        </a:graphic>
      </p:graphicFrame>
      <p:sp>
        <p:nvSpPr>
          <p:cNvPr id="28" name="Rectangle: Rounded Corners 27">
            <a:extLst>
              <a:ext uri="{FF2B5EF4-FFF2-40B4-BE49-F238E27FC236}">
                <a16:creationId xmlns:a16="http://schemas.microsoft.com/office/drawing/2014/main" id="{DDF036BD-4DE7-7FFC-D46D-B9C56DF3AACC}"/>
              </a:ext>
            </a:extLst>
          </p:cNvPr>
          <p:cNvSpPr/>
          <p:nvPr/>
        </p:nvSpPr>
        <p:spPr>
          <a:xfrm>
            <a:off x="8122799" y="1943311"/>
            <a:ext cx="3267682"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Смертность от всех причин </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F100EFFA-3FB4-A9B3-25A9-4D0AA686A1A6}"/>
              </a:ext>
            </a:extLst>
          </p:cNvPr>
          <p:cNvSpPr/>
          <p:nvPr/>
        </p:nvSpPr>
        <p:spPr>
          <a:xfrm>
            <a:off x="411226" y="1943311"/>
            <a:ext cx="3267681"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Приверженность к терапии</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graphicFrame>
        <p:nvGraphicFramePr>
          <p:cNvPr id="30" name="Chart 29">
            <a:extLst>
              <a:ext uri="{FF2B5EF4-FFF2-40B4-BE49-F238E27FC236}">
                <a16:creationId xmlns:a16="http://schemas.microsoft.com/office/drawing/2014/main" id="{45007752-D10D-DF20-3BD0-05CDDF32EB00}"/>
              </a:ext>
            </a:extLst>
          </p:cNvPr>
          <p:cNvGraphicFramePr/>
          <p:nvPr/>
        </p:nvGraphicFramePr>
        <p:xfrm>
          <a:off x="5049278" y="2490669"/>
          <a:ext cx="1710276" cy="1232085"/>
        </p:xfrm>
        <a:graphic>
          <a:graphicData uri="http://schemas.openxmlformats.org/drawingml/2006/chart">
            <c:chart xmlns:c="http://schemas.openxmlformats.org/drawingml/2006/chart" xmlns:r="http://schemas.openxmlformats.org/officeDocument/2006/relationships" r:id="rId3"/>
          </a:graphicData>
        </a:graphic>
      </p:graphicFrame>
      <p:grpSp>
        <p:nvGrpSpPr>
          <p:cNvPr id="31" name="Group 30">
            <a:extLst>
              <a:ext uri="{FF2B5EF4-FFF2-40B4-BE49-F238E27FC236}">
                <a16:creationId xmlns:a16="http://schemas.microsoft.com/office/drawing/2014/main" id="{74690168-7B01-CA24-BEAC-4778FC66ED87}"/>
              </a:ext>
            </a:extLst>
          </p:cNvPr>
          <p:cNvGrpSpPr/>
          <p:nvPr/>
        </p:nvGrpSpPr>
        <p:grpSpPr>
          <a:xfrm>
            <a:off x="4270575" y="3734504"/>
            <a:ext cx="3267681" cy="2641604"/>
            <a:chOff x="4666588" y="3746254"/>
            <a:chExt cx="2664193" cy="2641604"/>
          </a:xfrm>
        </p:grpSpPr>
        <p:cxnSp>
          <p:nvCxnSpPr>
            <p:cNvPr id="32" name="Straight Connector 31">
              <a:extLst>
                <a:ext uri="{FF2B5EF4-FFF2-40B4-BE49-F238E27FC236}">
                  <a16:creationId xmlns:a16="http://schemas.microsoft.com/office/drawing/2014/main" id="{2861E845-63FC-1733-38E2-565E986F6C0B}"/>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33" name="TextBox 32">
              <a:extLst>
                <a:ext uri="{FF2B5EF4-FFF2-40B4-BE49-F238E27FC236}">
                  <a16:creationId xmlns:a16="http://schemas.microsoft.com/office/drawing/2014/main" id="{4319A7E5-8328-3A6D-02FB-D3D108521986}"/>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Комбинированная конечная точка</a:t>
              </a:r>
              <a:endParaRPr kumimoji="0" lang="en-US"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904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1 008 событий</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95% ДИ 0,81–0,97;</a:t>
              </a:r>
              <a:r>
                <a:rPr kumimoji="0" lang="en-US"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endPar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34" name="TextBox 33">
              <a:extLst>
                <a:ext uri="{FF2B5EF4-FFF2-40B4-BE49-F238E27FC236}">
                  <a16:creationId xmlns:a16="http://schemas.microsoft.com/office/drawing/2014/main" id="{953CF72F-E8CC-DF31-13A6-BFBD467EC7E2}"/>
                </a:ext>
              </a:extLst>
            </p:cNvPr>
            <p:cNvSpPr txBox="1"/>
            <p:nvPr/>
          </p:nvSpPr>
          <p:spPr>
            <a:xfrm>
              <a:off x="4666588" y="3746254"/>
              <a:ext cx="2495398"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Относительный риск – 0,89</a:t>
              </a:r>
              <a:r>
                <a:rPr kumimoji="0" lang="en-US"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 </a:t>
              </a:r>
            </a:p>
          </p:txBody>
        </p:sp>
      </p:grpSp>
      <p:graphicFrame>
        <p:nvGraphicFramePr>
          <p:cNvPr id="35" name="Chart 34">
            <a:extLst>
              <a:ext uri="{FF2B5EF4-FFF2-40B4-BE49-F238E27FC236}">
                <a16:creationId xmlns:a16="http://schemas.microsoft.com/office/drawing/2014/main" id="{8473B2C3-B8AA-D04A-B482-F6E60BC3898B}"/>
              </a:ext>
            </a:extLst>
          </p:cNvPr>
          <p:cNvGraphicFramePr/>
          <p:nvPr/>
        </p:nvGraphicFramePr>
        <p:xfrm>
          <a:off x="8901502" y="2490669"/>
          <a:ext cx="1710276" cy="1232085"/>
        </p:xfrm>
        <a:graphic>
          <a:graphicData uri="http://schemas.openxmlformats.org/drawingml/2006/chart">
            <c:chart xmlns:c="http://schemas.openxmlformats.org/drawingml/2006/chart" xmlns:r="http://schemas.openxmlformats.org/officeDocument/2006/relationships" r:id="rId4"/>
          </a:graphicData>
        </a:graphic>
      </p:graphicFrame>
      <p:sp>
        <p:nvSpPr>
          <p:cNvPr id="36" name="Freeform 8">
            <a:extLst>
              <a:ext uri="{FF2B5EF4-FFF2-40B4-BE49-F238E27FC236}">
                <a16:creationId xmlns:a16="http://schemas.microsoft.com/office/drawing/2014/main" id="{C44AE173-9B02-8BE3-3E2A-0471AA2C4E10}"/>
              </a:ext>
            </a:extLst>
          </p:cNvPr>
          <p:cNvSpPr>
            <a:spLocks noChangeAspect="1"/>
          </p:cNvSpPr>
          <p:nvPr/>
        </p:nvSpPr>
        <p:spPr>
          <a:xfrm>
            <a:off x="3972777" y="2912206"/>
            <a:ext cx="116658" cy="368077"/>
          </a:xfrm>
          <a:custGeom>
            <a:avLst/>
            <a:gdLst>
              <a:gd name="connsiteX0" fmla="*/ 0 w 434714"/>
              <a:gd name="connsiteY0" fmla="*/ 0 h 1573967"/>
              <a:gd name="connsiteX1" fmla="*/ 434714 w 434714"/>
              <a:gd name="connsiteY1" fmla="*/ 809469 h 1573967"/>
              <a:gd name="connsiteX2" fmla="*/ 14990 w 434714"/>
              <a:gd name="connsiteY2" fmla="*/ 1573967 h 1573967"/>
            </a:gdLst>
            <a:ahLst/>
            <a:cxnLst>
              <a:cxn ang="0">
                <a:pos x="connsiteX0" y="connsiteY0"/>
              </a:cxn>
              <a:cxn ang="0">
                <a:pos x="connsiteX1" y="connsiteY1"/>
              </a:cxn>
              <a:cxn ang="0">
                <a:pos x="connsiteX2" y="connsiteY2"/>
              </a:cxn>
            </a:cxnLst>
            <a:rect l="l" t="t" r="r" b="b"/>
            <a:pathLst>
              <a:path w="434714" h="1573967">
                <a:moveTo>
                  <a:pt x="0" y="0"/>
                </a:moveTo>
                <a:lnTo>
                  <a:pt x="434714" y="809469"/>
                </a:lnTo>
                <a:lnTo>
                  <a:pt x="14990" y="1573967"/>
                </a:lnTo>
              </a:path>
            </a:pathLst>
          </a:custGeom>
          <a:noFill/>
          <a:ln w="38100" cap="rnd" cmpd="sng" algn="ctr">
            <a:solidFill>
              <a:srgbClr val="CACED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37" name="Freeform 8">
            <a:extLst>
              <a:ext uri="{FF2B5EF4-FFF2-40B4-BE49-F238E27FC236}">
                <a16:creationId xmlns:a16="http://schemas.microsoft.com/office/drawing/2014/main" id="{3F2790D7-5994-39C4-C5D3-19630E049D20}"/>
              </a:ext>
            </a:extLst>
          </p:cNvPr>
          <p:cNvSpPr>
            <a:spLocks noChangeAspect="1"/>
          </p:cNvSpPr>
          <p:nvPr/>
        </p:nvSpPr>
        <p:spPr>
          <a:xfrm>
            <a:off x="7772199" y="2912206"/>
            <a:ext cx="116658" cy="368077"/>
          </a:xfrm>
          <a:custGeom>
            <a:avLst/>
            <a:gdLst>
              <a:gd name="connsiteX0" fmla="*/ 0 w 434714"/>
              <a:gd name="connsiteY0" fmla="*/ 0 h 1573967"/>
              <a:gd name="connsiteX1" fmla="*/ 434714 w 434714"/>
              <a:gd name="connsiteY1" fmla="*/ 809469 h 1573967"/>
              <a:gd name="connsiteX2" fmla="*/ 14990 w 434714"/>
              <a:gd name="connsiteY2" fmla="*/ 1573967 h 1573967"/>
            </a:gdLst>
            <a:ahLst/>
            <a:cxnLst>
              <a:cxn ang="0">
                <a:pos x="connsiteX0" y="connsiteY0"/>
              </a:cxn>
              <a:cxn ang="0">
                <a:pos x="connsiteX1" y="connsiteY1"/>
              </a:cxn>
              <a:cxn ang="0">
                <a:pos x="connsiteX2" y="connsiteY2"/>
              </a:cxn>
            </a:cxnLst>
            <a:rect l="l" t="t" r="r" b="b"/>
            <a:pathLst>
              <a:path w="434714" h="1573967">
                <a:moveTo>
                  <a:pt x="0" y="0"/>
                </a:moveTo>
                <a:lnTo>
                  <a:pt x="434714" y="809469"/>
                </a:lnTo>
                <a:lnTo>
                  <a:pt x="14990" y="1573967"/>
                </a:lnTo>
              </a:path>
            </a:pathLst>
          </a:custGeom>
          <a:noFill/>
          <a:ln w="38100" cap="rnd" cmpd="sng" algn="ctr">
            <a:solidFill>
              <a:srgbClr val="CACED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pic>
        <p:nvPicPr>
          <p:cNvPr id="38" name="Graphic 37">
            <a:extLst>
              <a:ext uri="{FF2B5EF4-FFF2-40B4-BE49-F238E27FC236}">
                <a16:creationId xmlns:a16="http://schemas.microsoft.com/office/drawing/2014/main" id="{FB5965EF-B7DB-79FD-111F-9E87DFA2B3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38960" y="2807381"/>
            <a:ext cx="616692" cy="616692"/>
          </a:xfrm>
          <a:prstGeom prst="rect">
            <a:avLst/>
          </a:prstGeom>
        </p:spPr>
      </p:pic>
      <p:pic>
        <p:nvPicPr>
          <p:cNvPr id="39" name="Graphic 38">
            <a:extLst>
              <a:ext uri="{FF2B5EF4-FFF2-40B4-BE49-F238E27FC236}">
                <a16:creationId xmlns:a16="http://schemas.microsoft.com/office/drawing/2014/main" id="{CD1D97F6-1F90-A453-E5BC-807317EE00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28974" y="2748446"/>
            <a:ext cx="750884" cy="750884"/>
          </a:xfrm>
          <a:prstGeom prst="rect">
            <a:avLst/>
          </a:prstGeom>
        </p:spPr>
      </p:pic>
      <p:pic>
        <p:nvPicPr>
          <p:cNvPr id="40" name="Graphic 39">
            <a:extLst>
              <a:ext uri="{FF2B5EF4-FFF2-40B4-BE49-F238E27FC236}">
                <a16:creationId xmlns:a16="http://schemas.microsoft.com/office/drawing/2014/main" id="{B571F223-93C6-C46E-5334-5CFE86F4EE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4768" y="2782016"/>
            <a:ext cx="683744" cy="683744"/>
          </a:xfrm>
          <a:prstGeom prst="rect">
            <a:avLst/>
          </a:prstGeom>
        </p:spPr>
      </p:pic>
      <p:sp>
        <p:nvSpPr>
          <p:cNvPr id="41" name="Rectangle: Rounded Corners 40">
            <a:extLst>
              <a:ext uri="{FF2B5EF4-FFF2-40B4-BE49-F238E27FC236}">
                <a16:creationId xmlns:a16="http://schemas.microsoft.com/office/drawing/2014/main" id="{967FA135-6C52-C76C-D879-E78CB638856A}"/>
              </a:ext>
            </a:extLst>
          </p:cNvPr>
          <p:cNvSpPr/>
          <p:nvPr/>
        </p:nvSpPr>
        <p:spPr>
          <a:xfrm>
            <a:off x="4270575" y="1943311"/>
            <a:ext cx="3267682" cy="428512"/>
          </a:xfrm>
          <a:prstGeom prst="roundRect">
            <a:avLst>
              <a:gd name="adj" fmla="val 50000"/>
            </a:avLst>
          </a:prstGeom>
          <a:solidFill>
            <a:srgbClr val="00BFB3"/>
          </a:solidFill>
          <a:ln w="12700" cap="flat" cmpd="sng" algn="ctr">
            <a:noFill/>
            <a:prstDash val="solid"/>
            <a:miter lim="800000"/>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0" cap="none" spc="0" normalizeH="0" baseline="0" noProof="0" dirty="0">
                <a:ln>
                  <a:noFill/>
                </a:ln>
                <a:solidFill>
                  <a:srgbClr val="FFFFFF"/>
                </a:solidFill>
                <a:effectLst/>
                <a:uLnTx/>
                <a:uFillTx/>
                <a:latin typeface="Arial" panose="020B0604020202020204"/>
                <a:ea typeface="+mn-ea"/>
                <a:cs typeface="+mn-cs"/>
              </a:rPr>
              <a:t>Смерть, ИМ, СН или инсульт</a:t>
            </a:r>
            <a:endParaRPr kumimoji="0" lang="en-US" sz="1600" b="1"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nvGrpSpPr>
          <p:cNvPr id="42" name="Group 41">
            <a:extLst>
              <a:ext uri="{FF2B5EF4-FFF2-40B4-BE49-F238E27FC236}">
                <a16:creationId xmlns:a16="http://schemas.microsoft.com/office/drawing/2014/main" id="{72B281B9-2946-2CAB-BB0F-E9DE0299E296}"/>
              </a:ext>
            </a:extLst>
          </p:cNvPr>
          <p:cNvGrpSpPr/>
          <p:nvPr/>
        </p:nvGrpSpPr>
        <p:grpSpPr>
          <a:xfrm>
            <a:off x="411226" y="3746254"/>
            <a:ext cx="3267681" cy="2641604"/>
            <a:chOff x="4666588" y="3746254"/>
            <a:chExt cx="2664193" cy="2641604"/>
          </a:xfrm>
        </p:grpSpPr>
        <p:cxnSp>
          <p:nvCxnSpPr>
            <p:cNvPr id="43" name="Straight Connector 42">
              <a:extLst>
                <a:ext uri="{FF2B5EF4-FFF2-40B4-BE49-F238E27FC236}">
                  <a16:creationId xmlns:a16="http://schemas.microsoft.com/office/drawing/2014/main" id="{8FD75B62-57E7-F249-42C7-6B169C05003C}"/>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44" name="TextBox 43">
              <a:extLst>
                <a:ext uri="{FF2B5EF4-FFF2-40B4-BE49-F238E27FC236}">
                  <a16:creationId xmlns:a16="http://schemas.microsoft.com/office/drawing/2014/main" id="{8C9BE0B3-944C-0BA3-3C46-0280EC945D32}"/>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FDC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vs</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свободная комбинация</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Количество таблеток за весь период наблюдения</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45" name="TextBox 44">
              <a:extLst>
                <a:ext uri="{FF2B5EF4-FFF2-40B4-BE49-F238E27FC236}">
                  <a16:creationId xmlns:a16="http://schemas.microsoft.com/office/drawing/2014/main" id="{AA47D70C-FA6A-B9BA-6C25-816C7D759B9F}"/>
                </a:ext>
              </a:extLst>
            </p:cNvPr>
            <p:cNvSpPr txBox="1"/>
            <p:nvPr/>
          </p:nvSpPr>
          <p:spPr>
            <a:xfrm>
              <a:off x="4666588" y="3746254"/>
              <a:ext cx="2495398"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70% vs 42% </a:t>
              </a:r>
            </a:p>
          </p:txBody>
        </p:sp>
      </p:grpSp>
      <p:grpSp>
        <p:nvGrpSpPr>
          <p:cNvPr id="46" name="Group 45">
            <a:extLst>
              <a:ext uri="{FF2B5EF4-FFF2-40B4-BE49-F238E27FC236}">
                <a16:creationId xmlns:a16="http://schemas.microsoft.com/office/drawing/2014/main" id="{855C7C63-2F34-2AAA-3940-6EF910356059}"/>
              </a:ext>
            </a:extLst>
          </p:cNvPr>
          <p:cNvGrpSpPr/>
          <p:nvPr/>
        </p:nvGrpSpPr>
        <p:grpSpPr>
          <a:xfrm>
            <a:off x="8122800" y="3746254"/>
            <a:ext cx="3267681" cy="2641604"/>
            <a:chOff x="4666588" y="3746254"/>
            <a:chExt cx="2664193" cy="2641604"/>
          </a:xfrm>
        </p:grpSpPr>
        <p:cxnSp>
          <p:nvCxnSpPr>
            <p:cNvPr id="47" name="Straight Connector 46">
              <a:extLst>
                <a:ext uri="{FF2B5EF4-FFF2-40B4-BE49-F238E27FC236}">
                  <a16:creationId xmlns:a16="http://schemas.microsoft.com/office/drawing/2014/main" id="{35A83819-244E-9A76-7209-690E33FF2E16}"/>
                </a:ext>
              </a:extLst>
            </p:cNvPr>
            <p:cNvCxnSpPr>
              <a:cxnSpLocks/>
            </p:cNvCxnSpPr>
            <p:nvPr/>
          </p:nvCxnSpPr>
          <p:spPr>
            <a:xfrm flipV="1">
              <a:off x="4672398" y="4385954"/>
              <a:ext cx="2658383" cy="1"/>
            </a:xfrm>
            <a:prstGeom prst="line">
              <a:avLst/>
            </a:prstGeom>
            <a:noFill/>
            <a:ln w="38100" cap="rnd" cmpd="sng" algn="ctr">
              <a:solidFill>
                <a:srgbClr val="CACED0"/>
              </a:solidFill>
              <a:prstDash val="solid"/>
              <a:round/>
            </a:ln>
            <a:effectLst/>
          </p:spPr>
        </p:cxnSp>
        <p:sp>
          <p:nvSpPr>
            <p:cNvPr id="48" name="TextBox 47">
              <a:extLst>
                <a:ext uri="{FF2B5EF4-FFF2-40B4-BE49-F238E27FC236}">
                  <a16:creationId xmlns:a16="http://schemas.microsoft.com/office/drawing/2014/main" id="{4C16C369-11A6-6920-090D-97403EEE0479}"/>
                </a:ext>
              </a:extLst>
            </p:cNvPr>
            <p:cNvSpPr txBox="1"/>
            <p:nvPr/>
          </p:nvSpPr>
          <p:spPr>
            <a:xfrm>
              <a:off x="4695588" y="4486624"/>
              <a:ext cx="2635193" cy="1901234"/>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ОР 0,85 (95% ДИ 0,77–0,94)</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p &lt; 0,01</a:t>
              </a:r>
              <a:endParaRPr kumimoji="0" lang="en-US"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49" name="TextBox 48">
              <a:extLst>
                <a:ext uri="{FF2B5EF4-FFF2-40B4-BE49-F238E27FC236}">
                  <a16:creationId xmlns:a16="http://schemas.microsoft.com/office/drawing/2014/main" id="{2970DEAF-B2D6-2529-DD81-8DDA3971F3E4}"/>
                </a:ext>
              </a:extLst>
            </p:cNvPr>
            <p:cNvSpPr txBox="1"/>
            <p:nvPr/>
          </p:nvSpPr>
          <p:spPr>
            <a:xfrm>
              <a:off x="4666588" y="3746254"/>
              <a:ext cx="2658383" cy="529738"/>
            </a:xfrm>
            <a:prstGeom prst="rect">
              <a:avLst/>
            </a:prstGeom>
            <a:ln>
              <a:noFill/>
            </a:ln>
          </p:spPr>
          <p:txBody>
            <a:bodyPr vert="horz" wrap="square" lIns="0" tIns="0" rIns="0" bIns="0" numCol="1" rtlCol="0" anchor="b" anchorCtr="0" compatLnSpc="1">
              <a:prstTxWarp prst="textNoShape">
                <a:avLst/>
              </a:prstTxWarp>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FDC - </a:t>
              </a:r>
              <a:r>
                <a:rPr kumimoji="0" lang="ru-RU"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rPr>
                <a:t>на 15% меньше смертей</a:t>
              </a:r>
              <a:endParaRPr kumimoji="0" lang="en-US" sz="1600" b="1" i="0" u="none" strike="noStrike" kern="0" cap="none" spc="0" normalizeH="0" baseline="0" noProof="0" dirty="0">
                <a:ln>
                  <a:noFill/>
                </a:ln>
                <a:solidFill>
                  <a:srgbClr val="00BFB3"/>
                </a:solidFill>
                <a:effectLst/>
                <a:uLnTx/>
                <a:uFillTx/>
                <a:latin typeface="Arial" panose="020B0604020202020204" pitchFamily="34" charset="0"/>
                <a:ea typeface="+mn-ea"/>
                <a:cs typeface="Arial" panose="020B0604020202020204" pitchFamily="34" charset="0"/>
              </a:endParaRPr>
            </a:p>
          </p:txBody>
        </p:sp>
      </p:grpSp>
      <p:sp>
        <p:nvSpPr>
          <p:cNvPr id="50" name="Title 1">
            <a:extLst>
              <a:ext uri="{FF2B5EF4-FFF2-40B4-BE49-F238E27FC236}">
                <a16:creationId xmlns:a16="http://schemas.microsoft.com/office/drawing/2014/main" id="{3F074972-0E4A-F3E2-A611-9C9E2189EB88}"/>
              </a:ext>
            </a:extLst>
          </p:cNvPr>
          <p:cNvSpPr txBox="1">
            <a:spLocks/>
          </p:cNvSpPr>
          <p:nvPr/>
        </p:nvSpPr>
        <p:spPr>
          <a:xfrm>
            <a:off x="411226" y="944426"/>
            <a:ext cx="11338560" cy="360631"/>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1600" b="1" i="0" u="none" strike="noStrike" kern="1200" cap="none" spc="0" normalizeH="0" baseline="0" noProof="0" dirty="0">
                <a:ln>
                  <a:noFill/>
                </a:ln>
                <a:solidFill>
                  <a:srgbClr val="0070C0"/>
                </a:solidFill>
                <a:effectLst/>
                <a:uLnTx/>
                <a:uFillTx/>
                <a:latin typeface="Arial" panose="020B0604020202020204"/>
                <a:ea typeface="+mj-ea"/>
                <a:cs typeface="+mj-cs"/>
              </a:rPr>
              <a:t>13 350 пациентов с артериальной гипертензией, до 5 лет наблюдения</a:t>
            </a:r>
            <a:endParaRPr kumimoji="0" lang="en-US" sz="1600" b="1" i="0" u="none" strike="noStrike" kern="1200" cap="none" spc="0" normalizeH="0" baseline="0" noProof="0" dirty="0">
              <a:ln>
                <a:noFill/>
              </a:ln>
              <a:solidFill>
                <a:srgbClr val="0070C0"/>
              </a:solidFill>
              <a:effectLst/>
              <a:uLnTx/>
              <a:uFillTx/>
              <a:latin typeface="Arial" panose="020B0604020202020204"/>
              <a:ea typeface="+mj-ea"/>
              <a:cs typeface="+mj-cs"/>
            </a:endParaRPr>
          </a:p>
        </p:txBody>
      </p:sp>
      <p:sp>
        <p:nvSpPr>
          <p:cNvPr id="3" name="TextBox 2">
            <a:extLst>
              <a:ext uri="{FF2B5EF4-FFF2-40B4-BE49-F238E27FC236}">
                <a16:creationId xmlns:a16="http://schemas.microsoft.com/office/drawing/2014/main" id="{28CE6B9A-4584-4DCB-88C1-E5CE63922937}"/>
              </a:ext>
            </a:extLst>
          </p:cNvPr>
          <p:cNvSpPr txBox="1"/>
          <p:nvPr/>
        </p:nvSpPr>
        <p:spPr>
          <a:xfrm>
            <a:off x="384694" y="6415740"/>
            <a:ext cx="1122234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Verma AA et al.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Fixed-dose combination antihypertensive</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medications, adherence, and clinical</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outcomes: A population-based retrospective</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cohort study</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da-DK"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PLOS Medicine 2018;15(6):e1002584. DOI: 10.1371/journal.pmed.1002584</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18959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0354B-C971-E9BD-E8C9-8BFAC299AF4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413C113-3C0E-BC78-99C5-5AF5C5283714}"/>
              </a:ext>
            </a:extLst>
          </p:cNvPr>
          <p:cNvSpPr>
            <a:spLocks noGrp="1"/>
          </p:cNvSpPr>
          <p:nvPr>
            <p:ph type="title"/>
          </p:nvPr>
        </p:nvSpPr>
        <p:spPr bwMode="gray">
          <a:xfrm>
            <a:off x="5588000" y="2037792"/>
            <a:ext cx="6604000" cy="1365808"/>
          </a:xfrm>
        </p:spPr>
        <p:txBody>
          <a:bodyPr/>
          <a:lstStyle/>
          <a:p>
            <a:r>
              <a:rPr lang="ru-RU" sz="4000" b="1" dirty="0">
                <a:latin typeface="Arial (Headings)"/>
              </a:rPr>
              <a:t>Время приёма антигипертензивных препаратов не влияет на сердечно-сосудистые исходы</a:t>
            </a:r>
          </a:p>
        </p:txBody>
      </p:sp>
      <p:sp>
        <p:nvSpPr>
          <p:cNvPr id="2" name="TextBox 1">
            <a:extLst>
              <a:ext uri="{FF2B5EF4-FFF2-40B4-BE49-F238E27FC236}">
                <a16:creationId xmlns:a16="http://schemas.microsoft.com/office/drawing/2014/main" id="{A57A6C31-C1F5-529D-6FD0-9BF1D5A2B376}"/>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214138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7394" name="Picture 2"/>
          <p:cNvPicPr>
            <a:picLocks noGrp="1" noChangeAspect="1" noChangeArrowheads="1"/>
          </p:cNvPicPr>
          <p:nvPr>
            <p:ph idx="4294967295"/>
          </p:nvPr>
        </p:nvPicPr>
        <p:blipFill>
          <a:blip r:embed="rId3" cstate="print"/>
          <a:stretch>
            <a:fillRect/>
          </a:stretch>
        </p:blipFill>
        <p:spPr bwMode="auto">
          <a:xfrm>
            <a:off x="924971" y="1515884"/>
            <a:ext cx="2769789" cy="2048302"/>
          </a:xfrm>
          <a:prstGeom prst="rect">
            <a:avLst/>
          </a:prstGeom>
          <a:noFill/>
          <a:ln w="9525">
            <a:noFill/>
            <a:miter lim="800000"/>
            <a:headEnd/>
            <a:tailEnd/>
          </a:ln>
        </p:spPr>
      </p:pic>
      <p:sp>
        <p:nvSpPr>
          <p:cNvPr id="5" name="Номер слайда 4">
            <a:extLst>
              <a:ext uri="{FF2B5EF4-FFF2-40B4-BE49-F238E27FC236}">
                <a16:creationId xmlns:a16="http://schemas.microsoft.com/office/drawing/2014/main" id="{8FE489B6-E33A-A431-D680-F939608B4A0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187426" name="TextBox 187425">
            <a:extLst>
              <a:ext uri="{FF2B5EF4-FFF2-40B4-BE49-F238E27FC236}">
                <a16:creationId xmlns:a16="http://schemas.microsoft.com/office/drawing/2014/main" id="{7CA33D43-DB69-2842-4786-DC37E6752F06}"/>
              </a:ext>
            </a:extLst>
          </p:cNvPr>
          <p:cNvSpPr txBox="1"/>
          <p:nvPr/>
        </p:nvSpPr>
        <p:spPr>
          <a:xfrm>
            <a:off x="817964" y="3923524"/>
            <a:ext cx="2898200" cy="2292935"/>
          </a:xfrm>
          <a:prstGeom prst="rect">
            <a:avLst/>
          </a:prstGeom>
          <a:noFill/>
        </p:spPr>
        <p:txBody>
          <a:bodyPr wrap="square">
            <a:spAutoFit/>
          </a:bodyPr>
          <a:lstStyle/>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Критерии включения</a:t>
            </a:r>
            <a:r>
              <a:rPr kumimoji="0" lang="ru-RU" sz="1300" b="0"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Пациенты с АГ (все формы) +/- лечение, получающие по меньшей мере один антигипертензивный препарат </a:t>
            </a:r>
            <a:endPar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 </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ru-RU"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Критерии исключения:</a:t>
            </a:r>
            <a:endParaRPr kumimoji="0" lang="en-US" sz="1300" b="1" i="0" u="sng"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endParaRPr>
          </a:p>
          <a:p>
            <a:pPr marL="266700" marR="0" lvl="0" indent="-266700" algn="l" defTabSz="914400" rtl="0" eaLnBrk="1" fontAlgn="auto" latinLnBrk="0" hangingPunct="1">
              <a:lnSpc>
                <a:spcPct val="100000"/>
              </a:lnSpc>
              <a:spcBef>
                <a:spcPts val="0"/>
              </a:spcBef>
              <a:spcAft>
                <a:spcPts val="0"/>
              </a:spcAft>
              <a:buClrTx/>
              <a:buSzTx/>
              <a:buFontTx/>
              <a:buAutoNum type="arabicPeriod"/>
              <a:tabLst/>
              <a:defRPr/>
            </a:pP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Пациенты, принимающие антигипертензивные препараты 2 раза в день</a:t>
            </a: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p>
          <a:p>
            <a:pPr marL="266700" marR="0" lvl="0" indent="-26670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2. </a:t>
            </a:r>
            <a:r>
              <a:rPr kumimoji="0" lang="ru-RU"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Работа в ночную смену</a:t>
            </a:r>
            <a:r>
              <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Calibri" panose="020F0502020204030204" pitchFamily="34" charset="0"/>
              </a:rPr>
              <a:t>.</a:t>
            </a:r>
            <a:endParaRPr kumimoji="0" lang="en-US" sz="13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aphicFrame>
        <p:nvGraphicFramePr>
          <p:cNvPr id="187429" name="Таблица 187429">
            <a:extLst>
              <a:ext uri="{FF2B5EF4-FFF2-40B4-BE49-F238E27FC236}">
                <a16:creationId xmlns:a16="http://schemas.microsoft.com/office/drawing/2014/main" id="{30D3A88E-5213-C1A0-7DC9-79D1564C3EA0}"/>
              </a:ext>
            </a:extLst>
          </p:cNvPr>
          <p:cNvGraphicFramePr>
            <a:graphicFrameLocks noGrp="1"/>
          </p:cNvGraphicFramePr>
          <p:nvPr/>
        </p:nvGraphicFramePr>
        <p:xfrm>
          <a:off x="4171324" y="5321924"/>
          <a:ext cx="7596128" cy="788342"/>
        </p:xfrm>
        <a:graphic>
          <a:graphicData uri="http://schemas.openxmlformats.org/drawingml/2006/table">
            <a:tbl>
              <a:tblPr bandRow="1">
                <a:tableStyleId>{00A15C55-8517-42AA-B614-E9B94910E393}</a:tableStyleId>
              </a:tblPr>
              <a:tblGrid>
                <a:gridCol w="713626">
                  <a:extLst>
                    <a:ext uri="{9D8B030D-6E8A-4147-A177-3AD203B41FA5}">
                      <a16:colId xmlns:a16="http://schemas.microsoft.com/office/drawing/2014/main" val="2073501663"/>
                    </a:ext>
                  </a:extLst>
                </a:gridCol>
                <a:gridCol w="625682">
                  <a:extLst>
                    <a:ext uri="{9D8B030D-6E8A-4147-A177-3AD203B41FA5}">
                      <a16:colId xmlns:a16="http://schemas.microsoft.com/office/drawing/2014/main" val="2190255398"/>
                    </a:ext>
                  </a:extLst>
                </a:gridCol>
                <a:gridCol w="625682">
                  <a:extLst>
                    <a:ext uri="{9D8B030D-6E8A-4147-A177-3AD203B41FA5}">
                      <a16:colId xmlns:a16="http://schemas.microsoft.com/office/drawing/2014/main" val="3914591074"/>
                    </a:ext>
                  </a:extLst>
                </a:gridCol>
                <a:gridCol w="625682">
                  <a:extLst>
                    <a:ext uri="{9D8B030D-6E8A-4147-A177-3AD203B41FA5}">
                      <a16:colId xmlns:a16="http://schemas.microsoft.com/office/drawing/2014/main" val="24288082"/>
                    </a:ext>
                  </a:extLst>
                </a:gridCol>
                <a:gridCol w="625682">
                  <a:extLst>
                    <a:ext uri="{9D8B030D-6E8A-4147-A177-3AD203B41FA5}">
                      <a16:colId xmlns:a16="http://schemas.microsoft.com/office/drawing/2014/main" val="928305566"/>
                    </a:ext>
                  </a:extLst>
                </a:gridCol>
                <a:gridCol w="625682">
                  <a:extLst>
                    <a:ext uri="{9D8B030D-6E8A-4147-A177-3AD203B41FA5}">
                      <a16:colId xmlns:a16="http://schemas.microsoft.com/office/drawing/2014/main" val="3971122394"/>
                    </a:ext>
                  </a:extLst>
                </a:gridCol>
                <a:gridCol w="625682">
                  <a:extLst>
                    <a:ext uri="{9D8B030D-6E8A-4147-A177-3AD203B41FA5}">
                      <a16:colId xmlns:a16="http://schemas.microsoft.com/office/drawing/2014/main" val="3858798181"/>
                    </a:ext>
                  </a:extLst>
                </a:gridCol>
                <a:gridCol w="625682">
                  <a:extLst>
                    <a:ext uri="{9D8B030D-6E8A-4147-A177-3AD203B41FA5}">
                      <a16:colId xmlns:a16="http://schemas.microsoft.com/office/drawing/2014/main" val="3159672819"/>
                    </a:ext>
                  </a:extLst>
                </a:gridCol>
                <a:gridCol w="625682">
                  <a:extLst>
                    <a:ext uri="{9D8B030D-6E8A-4147-A177-3AD203B41FA5}">
                      <a16:colId xmlns:a16="http://schemas.microsoft.com/office/drawing/2014/main" val="1546061980"/>
                    </a:ext>
                  </a:extLst>
                </a:gridCol>
                <a:gridCol w="625682">
                  <a:extLst>
                    <a:ext uri="{9D8B030D-6E8A-4147-A177-3AD203B41FA5}">
                      <a16:colId xmlns:a16="http://schemas.microsoft.com/office/drawing/2014/main" val="759094484"/>
                    </a:ext>
                  </a:extLst>
                </a:gridCol>
                <a:gridCol w="625682">
                  <a:extLst>
                    <a:ext uri="{9D8B030D-6E8A-4147-A177-3AD203B41FA5}">
                      <a16:colId xmlns:a16="http://schemas.microsoft.com/office/drawing/2014/main" val="2978815068"/>
                    </a:ext>
                  </a:extLst>
                </a:gridCol>
                <a:gridCol w="625682">
                  <a:extLst>
                    <a:ext uri="{9D8B030D-6E8A-4147-A177-3AD203B41FA5}">
                      <a16:colId xmlns:a16="http://schemas.microsoft.com/office/drawing/2014/main" val="310243924"/>
                    </a:ext>
                  </a:extLst>
                </a:gridCol>
              </a:tblGrid>
              <a:tr h="394171">
                <a:tc>
                  <a:txBody>
                    <a:bodyPr/>
                    <a:lstStyle/>
                    <a:p>
                      <a:r>
                        <a:rPr lang="ru-RU" sz="1000" b="1" dirty="0">
                          <a:solidFill>
                            <a:schemeClr val="tx1"/>
                          </a:solidFill>
                          <a:latin typeface="Arial Narrow" panose="020B0606020202030204" pitchFamily="34" charset="0"/>
                        </a:rPr>
                        <a:t>Утренний прием</a:t>
                      </a:r>
                    </a:p>
                  </a:txBody>
                  <a:tcPr marL="36000" marR="0" marT="0" marB="0" anchor="ctr">
                    <a:solidFill>
                      <a:srgbClr val="C1D82E"/>
                    </a:solidFill>
                  </a:tcPr>
                </a:tc>
                <a:tc>
                  <a:txBody>
                    <a:bodyPr/>
                    <a:lstStyle/>
                    <a:p>
                      <a:pPr algn="ctr"/>
                      <a:r>
                        <a:rPr lang="en-US" sz="1400" b="1" dirty="0">
                          <a:solidFill>
                            <a:srgbClr val="265374"/>
                          </a:solidFill>
                          <a:latin typeface="Arial Narrow" panose="020B0606020202030204" pitchFamily="34" charset="0"/>
                        </a:rPr>
                        <a:t>10 601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10 431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10 262</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10 075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9905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6527</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533</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175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154</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85</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0</a:t>
                      </a:r>
                      <a:endParaRPr lang="ru-RU" sz="1400" b="1" dirty="0">
                        <a:solidFill>
                          <a:srgbClr val="265374"/>
                        </a:solidFill>
                        <a:latin typeface="Arial Narrow" panose="020B0606020202030204" pitchFamily="34" charset="0"/>
                      </a:endParaRPr>
                    </a:p>
                  </a:txBody>
                  <a:tcPr marL="0" marR="0" marT="0" marB="0" anchor="ctr">
                    <a:solidFill>
                      <a:srgbClr val="D3F3F6"/>
                    </a:solidFill>
                  </a:tcPr>
                </a:tc>
                <a:extLst>
                  <a:ext uri="{0D108BD9-81ED-4DB2-BD59-A6C34878D82A}">
                    <a16:rowId xmlns:a16="http://schemas.microsoft.com/office/drawing/2014/main" val="4121007527"/>
                  </a:ext>
                </a:extLst>
              </a:tr>
              <a:tr h="3941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000" b="1" dirty="0">
                          <a:solidFill>
                            <a:schemeClr val="bg1"/>
                          </a:solidFill>
                          <a:latin typeface="Arial Narrow" panose="020B0606020202030204" pitchFamily="34" charset="0"/>
                        </a:rPr>
                        <a:t>Вечерний прием</a:t>
                      </a:r>
                    </a:p>
                  </a:txBody>
                  <a:tcPr marL="36000" marR="0" marT="0" marB="0" anchor="ctr">
                    <a:solidFill>
                      <a:srgbClr val="398ACB"/>
                    </a:solidFill>
                  </a:tcPr>
                </a:tc>
                <a:tc>
                  <a:txBody>
                    <a:bodyPr/>
                    <a:lstStyle/>
                    <a:p>
                      <a:pPr algn="ctr"/>
                      <a:r>
                        <a:rPr lang="en-US" sz="1400" b="1" dirty="0">
                          <a:solidFill>
                            <a:srgbClr val="265374"/>
                          </a:solidFill>
                          <a:latin typeface="Arial Narrow" panose="020B0606020202030204" pitchFamily="34" charset="0"/>
                        </a:rPr>
                        <a:t>10 503</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10 156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9 988</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9 776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9 571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6 271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529</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184</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166</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101</a:t>
                      </a:r>
                      <a:endParaRPr lang="ru-RU" sz="1400" b="1" dirty="0">
                        <a:solidFill>
                          <a:srgbClr val="265374"/>
                        </a:solidFill>
                        <a:latin typeface="Arial Narrow" panose="020B0606020202030204" pitchFamily="34" charset="0"/>
                      </a:endParaRPr>
                    </a:p>
                  </a:txBody>
                  <a:tcPr marL="0" marR="0" marT="0" marB="0" anchor="ctr">
                    <a:solidFill>
                      <a:srgbClr val="D3F3F6"/>
                    </a:solidFill>
                  </a:tcPr>
                </a:tc>
                <a:tc>
                  <a:txBody>
                    <a:bodyPr/>
                    <a:lstStyle/>
                    <a:p>
                      <a:pPr algn="ctr"/>
                      <a:r>
                        <a:rPr lang="en-US" sz="1400" b="1" dirty="0">
                          <a:solidFill>
                            <a:srgbClr val="265374"/>
                          </a:solidFill>
                          <a:latin typeface="Arial Narrow" panose="020B0606020202030204" pitchFamily="34" charset="0"/>
                        </a:rPr>
                        <a:t>0</a:t>
                      </a:r>
                      <a:endParaRPr lang="ru-RU" sz="1400" b="1" dirty="0">
                        <a:solidFill>
                          <a:srgbClr val="265374"/>
                        </a:solidFill>
                        <a:latin typeface="Arial Narrow" panose="020B0606020202030204" pitchFamily="34" charset="0"/>
                      </a:endParaRPr>
                    </a:p>
                  </a:txBody>
                  <a:tcPr marL="0" marR="0" marT="0" marB="0" anchor="ctr">
                    <a:solidFill>
                      <a:srgbClr val="D3F3F6"/>
                    </a:solidFill>
                  </a:tcPr>
                </a:tc>
                <a:extLst>
                  <a:ext uri="{0D108BD9-81ED-4DB2-BD59-A6C34878D82A}">
                    <a16:rowId xmlns:a16="http://schemas.microsoft.com/office/drawing/2014/main" val="376927619"/>
                  </a:ext>
                </a:extLst>
              </a:tr>
            </a:tbl>
          </a:graphicData>
        </a:graphic>
      </p:graphicFrame>
      <p:sp>
        <p:nvSpPr>
          <p:cNvPr id="187430" name="TextBox 4">
            <a:extLst>
              <a:ext uri="{FF2B5EF4-FFF2-40B4-BE49-F238E27FC236}">
                <a16:creationId xmlns:a16="http://schemas.microsoft.com/office/drawing/2014/main" id="{9444A23C-DC64-46BA-1669-6FA34E57ED56}"/>
              </a:ext>
            </a:extLst>
          </p:cNvPr>
          <p:cNvSpPr txBox="1"/>
          <p:nvPr/>
        </p:nvSpPr>
        <p:spPr>
          <a:xfrm>
            <a:off x="4094727" y="5036575"/>
            <a:ext cx="5652588" cy="230832"/>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Количество пациентов, подвергающихся риску </a:t>
            </a:r>
          </a:p>
        </p:txBody>
      </p:sp>
      <p:grpSp>
        <p:nvGrpSpPr>
          <p:cNvPr id="187427" name="Группа 187426">
            <a:extLst>
              <a:ext uri="{FF2B5EF4-FFF2-40B4-BE49-F238E27FC236}">
                <a16:creationId xmlns:a16="http://schemas.microsoft.com/office/drawing/2014/main" id="{42E118E4-040C-7062-43B6-B3E6A25F0A60}"/>
              </a:ext>
            </a:extLst>
          </p:cNvPr>
          <p:cNvGrpSpPr/>
          <p:nvPr/>
        </p:nvGrpSpPr>
        <p:grpSpPr>
          <a:xfrm>
            <a:off x="3965106" y="1335366"/>
            <a:ext cx="7733558" cy="3647472"/>
            <a:chOff x="3965106" y="1335366"/>
            <a:chExt cx="7733558" cy="3647472"/>
          </a:xfrm>
        </p:grpSpPr>
        <p:grpSp>
          <p:nvGrpSpPr>
            <p:cNvPr id="187424" name="Группа 187423">
              <a:extLst>
                <a:ext uri="{FF2B5EF4-FFF2-40B4-BE49-F238E27FC236}">
                  <a16:creationId xmlns:a16="http://schemas.microsoft.com/office/drawing/2014/main" id="{9723B0D3-4E8D-AB2E-B767-2CFC304CFA45}"/>
                </a:ext>
              </a:extLst>
            </p:cNvPr>
            <p:cNvGrpSpPr/>
            <p:nvPr/>
          </p:nvGrpSpPr>
          <p:grpSpPr>
            <a:xfrm>
              <a:off x="3965106" y="1335366"/>
              <a:ext cx="7733557" cy="3632341"/>
              <a:chOff x="1967369" y="1312903"/>
              <a:chExt cx="8317016" cy="4277661"/>
            </a:xfrm>
          </p:grpSpPr>
          <p:sp>
            <p:nvSpPr>
              <p:cNvPr id="2" name="Line 52">
                <a:extLst>
                  <a:ext uri="{FF2B5EF4-FFF2-40B4-BE49-F238E27FC236}">
                    <a16:creationId xmlns:a16="http://schemas.microsoft.com/office/drawing/2014/main" id="{D3840158-534B-BF71-03DB-04A9260699CE}"/>
                  </a:ext>
                </a:extLst>
              </p:cNvPr>
              <p:cNvSpPr>
                <a:spLocks noChangeShapeType="1"/>
              </p:cNvSpPr>
              <p:nvPr/>
            </p:nvSpPr>
            <p:spPr bwMode="auto">
              <a:xfrm>
                <a:off x="10133630" y="4991849"/>
                <a:ext cx="0" cy="81694"/>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8" name="Textfeld 266">
                <a:extLst>
                  <a:ext uri="{FF2B5EF4-FFF2-40B4-BE49-F238E27FC236}">
                    <a16:creationId xmlns:a16="http://schemas.microsoft.com/office/drawing/2014/main" id="{931B8391-8049-FC43-7D70-52061E521520}"/>
                  </a:ext>
                </a:extLst>
              </p:cNvPr>
              <p:cNvSpPr txBox="1"/>
              <p:nvPr/>
            </p:nvSpPr>
            <p:spPr bwMode="gray">
              <a:xfrm>
                <a:off x="5837166" y="5336844"/>
                <a:ext cx="70" cy="253720"/>
              </a:xfrm>
              <a:prstGeom prst="rect">
                <a:avLst/>
              </a:prstGeom>
              <a:noFill/>
              <a:ln/>
            </p:spPr>
            <p:txBody>
              <a:bodyPr wrap="non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300"/>
                  </a:spcAft>
                  <a:buClr>
                    <a:srgbClr val="52328F"/>
                  </a:buClr>
                  <a:buSzTx/>
                  <a:buFontTx/>
                  <a:buNone/>
                  <a:tabLst/>
                  <a:defRPr/>
                </a:pPr>
                <a:endParaRPr kumimoji="0" lang="de-DE"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9" name="Группа 8">
                <a:extLst>
                  <a:ext uri="{FF2B5EF4-FFF2-40B4-BE49-F238E27FC236}">
                    <a16:creationId xmlns:a16="http://schemas.microsoft.com/office/drawing/2014/main" id="{B42B794F-EAA1-317B-9839-22F065E4FC36}"/>
                  </a:ext>
                </a:extLst>
              </p:cNvPr>
              <p:cNvGrpSpPr/>
              <p:nvPr/>
            </p:nvGrpSpPr>
            <p:grpSpPr>
              <a:xfrm>
                <a:off x="1967369" y="1312903"/>
                <a:ext cx="8317016" cy="3987274"/>
                <a:chOff x="3536499" y="1719263"/>
                <a:chExt cx="8317016" cy="3987274"/>
              </a:xfrm>
            </p:grpSpPr>
            <p:sp>
              <p:nvSpPr>
                <p:cNvPr id="10" name="TextBox 4">
                  <a:extLst>
                    <a:ext uri="{FF2B5EF4-FFF2-40B4-BE49-F238E27FC236}">
                      <a16:creationId xmlns:a16="http://schemas.microsoft.com/office/drawing/2014/main" id="{45A87EB3-F747-582E-6B1C-189978559C2C}"/>
                    </a:ext>
                  </a:extLst>
                </p:cNvPr>
                <p:cNvSpPr txBox="1"/>
                <p:nvPr/>
              </p:nvSpPr>
              <p:spPr>
                <a:xfrm rot="16200000">
                  <a:off x="2008066" y="3595369"/>
                  <a:ext cx="3338213" cy="281347"/>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Кумулятивный риск, ССО</a:t>
                  </a:r>
                </a:p>
              </p:txBody>
            </p:sp>
            <p:sp>
              <p:nvSpPr>
                <p:cNvPr id="11" name="TextBox 6">
                  <a:extLst>
                    <a:ext uri="{FF2B5EF4-FFF2-40B4-BE49-F238E27FC236}">
                      <a16:creationId xmlns:a16="http://schemas.microsoft.com/office/drawing/2014/main" id="{5C787BE8-CE42-93CF-0673-D521C46AA358}"/>
                    </a:ext>
                  </a:extLst>
                </p:cNvPr>
                <p:cNvSpPr txBox="1"/>
                <p:nvPr/>
              </p:nvSpPr>
              <p:spPr>
                <a:xfrm>
                  <a:off x="6404529" y="4944743"/>
                  <a:ext cx="4709024" cy="326210"/>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ОР</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0,95 (95% </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ДИ</a:t>
                  </a:r>
                  <a:r>
                    <a:rPr kumimoji="0" lang="en-US"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0,83–1,10); p</a:t>
                  </a:r>
                  <a:r>
                    <a:rPr kumimoji="0" lang="ru-RU" sz="12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=0,53</a:t>
                  </a:r>
                </a:p>
              </p:txBody>
            </p:sp>
            <p:grpSp>
              <p:nvGrpSpPr>
                <p:cNvPr id="12" name="Группа 11">
                  <a:extLst>
                    <a:ext uri="{FF2B5EF4-FFF2-40B4-BE49-F238E27FC236}">
                      <a16:creationId xmlns:a16="http://schemas.microsoft.com/office/drawing/2014/main" id="{5A7D9F12-6A18-9956-A88B-D88B3036DAD7}"/>
                    </a:ext>
                  </a:extLst>
                </p:cNvPr>
                <p:cNvGrpSpPr/>
                <p:nvPr/>
              </p:nvGrpSpPr>
              <p:grpSpPr>
                <a:xfrm>
                  <a:off x="4584031" y="5489063"/>
                  <a:ext cx="7269484" cy="217474"/>
                  <a:chOff x="4584031" y="5489063"/>
                  <a:chExt cx="7269484" cy="217474"/>
                </a:xfrm>
              </p:grpSpPr>
              <p:sp>
                <p:nvSpPr>
                  <p:cNvPr id="187413" name="Textfeld 254">
                    <a:extLst>
                      <a:ext uri="{FF2B5EF4-FFF2-40B4-BE49-F238E27FC236}">
                        <a16:creationId xmlns:a16="http://schemas.microsoft.com/office/drawing/2014/main" id="{B88E0944-C91C-0E2B-8A14-32A3EA49C047}"/>
                      </a:ext>
                    </a:extLst>
                  </p:cNvPr>
                  <p:cNvSpPr txBox="1"/>
                  <p:nvPr/>
                </p:nvSpPr>
                <p:spPr bwMode="gray">
                  <a:xfrm>
                    <a:off x="4584031" y="5489063"/>
                    <a:ext cx="212792" cy="217473"/>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ru-RU"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4" name="Textfeld 254">
                    <a:extLst>
                      <a:ext uri="{FF2B5EF4-FFF2-40B4-BE49-F238E27FC236}">
                        <a16:creationId xmlns:a16="http://schemas.microsoft.com/office/drawing/2014/main" id="{9755430B-D7E1-FAC5-0FE0-F0975B3E145E}"/>
                      </a:ext>
                    </a:extLst>
                  </p:cNvPr>
                  <p:cNvSpPr txBox="1"/>
                  <p:nvPr/>
                </p:nvSpPr>
                <p:spPr bwMode="gray">
                  <a:xfrm>
                    <a:off x="5285890"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5" name="Textfeld 254">
                    <a:extLst>
                      <a:ext uri="{FF2B5EF4-FFF2-40B4-BE49-F238E27FC236}">
                        <a16:creationId xmlns:a16="http://schemas.microsoft.com/office/drawing/2014/main" id="{6D0615A9-CB2B-5B6D-8193-9520039390EB}"/>
                      </a:ext>
                    </a:extLst>
                  </p:cNvPr>
                  <p:cNvSpPr txBox="1"/>
                  <p:nvPr/>
                </p:nvSpPr>
                <p:spPr bwMode="gray">
                  <a:xfrm>
                    <a:off x="5987749"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6" name="Textfeld 254">
                    <a:extLst>
                      <a:ext uri="{FF2B5EF4-FFF2-40B4-BE49-F238E27FC236}">
                        <a16:creationId xmlns:a16="http://schemas.microsoft.com/office/drawing/2014/main" id="{3A972452-F19B-6614-32CE-20F3311383BF}"/>
                      </a:ext>
                    </a:extLst>
                  </p:cNvPr>
                  <p:cNvSpPr txBox="1"/>
                  <p:nvPr/>
                </p:nvSpPr>
                <p:spPr bwMode="gray">
                  <a:xfrm>
                    <a:off x="6689608"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7" name="Textfeld 254">
                    <a:extLst>
                      <a:ext uri="{FF2B5EF4-FFF2-40B4-BE49-F238E27FC236}">
                        <a16:creationId xmlns:a16="http://schemas.microsoft.com/office/drawing/2014/main" id="{874D9CF0-F39C-02B8-AB8C-F032623DD15C}"/>
                      </a:ext>
                    </a:extLst>
                  </p:cNvPr>
                  <p:cNvSpPr txBox="1"/>
                  <p:nvPr/>
                </p:nvSpPr>
                <p:spPr bwMode="gray">
                  <a:xfrm>
                    <a:off x="7391468"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8" name="Textfeld 254">
                    <a:extLst>
                      <a:ext uri="{FF2B5EF4-FFF2-40B4-BE49-F238E27FC236}">
                        <a16:creationId xmlns:a16="http://schemas.microsoft.com/office/drawing/2014/main" id="{2C3505CD-A982-C9F7-CA14-5373B6C818F1}"/>
                      </a:ext>
                    </a:extLst>
                  </p:cNvPr>
                  <p:cNvSpPr txBox="1"/>
                  <p:nvPr/>
                </p:nvSpPr>
                <p:spPr bwMode="gray">
                  <a:xfrm>
                    <a:off x="8093326"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19" name="Textfeld 254">
                    <a:extLst>
                      <a:ext uri="{FF2B5EF4-FFF2-40B4-BE49-F238E27FC236}">
                        <a16:creationId xmlns:a16="http://schemas.microsoft.com/office/drawing/2014/main" id="{11CD715E-98B6-70FC-C91A-929C10A8B359}"/>
                      </a:ext>
                    </a:extLst>
                  </p:cNvPr>
                  <p:cNvSpPr txBox="1"/>
                  <p:nvPr/>
                </p:nvSpPr>
                <p:spPr bwMode="gray">
                  <a:xfrm>
                    <a:off x="8795185"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0" name="Textfeld 254">
                    <a:extLst>
                      <a:ext uri="{FF2B5EF4-FFF2-40B4-BE49-F238E27FC236}">
                        <a16:creationId xmlns:a16="http://schemas.microsoft.com/office/drawing/2014/main" id="{E535E8DB-2518-1173-AC08-4D585028BDAB}"/>
                      </a:ext>
                    </a:extLst>
                  </p:cNvPr>
                  <p:cNvSpPr txBox="1"/>
                  <p:nvPr/>
                </p:nvSpPr>
                <p:spPr bwMode="gray">
                  <a:xfrm>
                    <a:off x="9497044"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7</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1" name="Textfeld 254">
                    <a:extLst>
                      <a:ext uri="{FF2B5EF4-FFF2-40B4-BE49-F238E27FC236}">
                        <a16:creationId xmlns:a16="http://schemas.microsoft.com/office/drawing/2014/main" id="{87699F67-CDE6-04EB-A329-3B28CEBA9461}"/>
                      </a:ext>
                    </a:extLst>
                  </p:cNvPr>
                  <p:cNvSpPr txBox="1"/>
                  <p:nvPr/>
                </p:nvSpPr>
                <p:spPr bwMode="gray">
                  <a:xfrm>
                    <a:off x="10198903"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8</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2" name="Textfeld 254">
                    <a:extLst>
                      <a:ext uri="{FF2B5EF4-FFF2-40B4-BE49-F238E27FC236}">
                        <a16:creationId xmlns:a16="http://schemas.microsoft.com/office/drawing/2014/main" id="{4D94E904-DC99-C891-9E6F-B5C3643AAACD}"/>
                      </a:ext>
                    </a:extLst>
                  </p:cNvPr>
                  <p:cNvSpPr txBox="1"/>
                  <p:nvPr/>
                </p:nvSpPr>
                <p:spPr bwMode="gray">
                  <a:xfrm>
                    <a:off x="10900762" y="5489063"/>
                    <a:ext cx="21279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9</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23" name="Textfeld 254">
                    <a:extLst>
                      <a:ext uri="{FF2B5EF4-FFF2-40B4-BE49-F238E27FC236}">
                        <a16:creationId xmlns:a16="http://schemas.microsoft.com/office/drawing/2014/main" id="{2BAC27AD-811E-01CB-2C55-4BF4068F267C}"/>
                      </a:ext>
                    </a:extLst>
                  </p:cNvPr>
                  <p:cNvSpPr txBox="1"/>
                  <p:nvPr/>
                </p:nvSpPr>
                <p:spPr bwMode="gray">
                  <a:xfrm>
                    <a:off x="11553073" y="5489063"/>
                    <a:ext cx="300442" cy="217474"/>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52328F"/>
                      </a:buClr>
                      <a:buSzTx/>
                      <a:buFontTx/>
                      <a:buNone/>
                      <a:tabLst/>
                      <a:defRPr/>
                    </a:pPr>
                    <a:r>
                      <a:rPr kumimoji="0" lang="en-US"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10</a:t>
                    </a:r>
                    <a:endParaRPr kumimoji="0" lang="de-DE" sz="1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grpSp>
              <p:nvGrpSpPr>
                <p:cNvPr id="13" name="Группа 12">
                  <a:extLst>
                    <a:ext uri="{FF2B5EF4-FFF2-40B4-BE49-F238E27FC236}">
                      <a16:creationId xmlns:a16="http://schemas.microsoft.com/office/drawing/2014/main" id="{DEA6133B-EB27-A829-9BDA-2EDB432191DF}"/>
                    </a:ext>
                  </a:extLst>
                </p:cNvPr>
                <p:cNvGrpSpPr/>
                <p:nvPr/>
              </p:nvGrpSpPr>
              <p:grpSpPr>
                <a:xfrm>
                  <a:off x="3783463" y="1987677"/>
                  <a:ext cx="437965" cy="3384811"/>
                  <a:chOff x="3783463" y="1987677"/>
                  <a:chExt cx="437965" cy="3384811"/>
                </a:xfrm>
              </p:grpSpPr>
              <p:sp>
                <p:nvSpPr>
                  <p:cNvPr id="187406" name="Textfeld 262">
                    <a:extLst>
                      <a:ext uri="{FF2B5EF4-FFF2-40B4-BE49-F238E27FC236}">
                        <a16:creationId xmlns:a16="http://schemas.microsoft.com/office/drawing/2014/main" id="{89ACEA74-A860-1ADF-AA3E-851E1B4B6204}"/>
                      </a:ext>
                    </a:extLst>
                  </p:cNvPr>
                  <p:cNvSpPr txBox="1"/>
                  <p:nvPr/>
                </p:nvSpPr>
                <p:spPr bwMode="gray">
                  <a:xfrm>
                    <a:off x="3783463" y="517313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,00</a:t>
                    </a:r>
                    <a:endPar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87407" name="Textfeld 262">
                    <a:extLst>
                      <a:ext uri="{FF2B5EF4-FFF2-40B4-BE49-F238E27FC236}">
                        <a16:creationId xmlns:a16="http://schemas.microsoft.com/office/drawing/2014/main" id="{8546E67E-2BE7-EECE-E34C-F060EFBD0E36}"/>
                      </a:ext>
                    </a:extLst>
                  </p:cNvPr>
                  <p:cNvSpPr txBox="1"/>
                  <p:nvPr/>
                </p:nvSpPr>
                <p:spPr bwMode="gray">
                  <a:xfrm>
                    <a:off x="3783463" y="464222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sp>
                <p:nvSpPr>
                  <p:cNvPr id="187408" name="Textfeld 262">
                    <a:extLst>
                      <a:ext uri="{FF2B5EF4-FFF2-40B4-BE49-F238E27FC236}">
                        <a16:creationId xmlns:a16="http://schemas.microsoft.com/office/drawing/2014/main" id="{6730E825-AFE9-74E4-1635-F89485B0BA17}"/>
                      </a:ext>
                    </a:extLst>
                  </p:cNvPr>
                  <p:cNvSpPr txBox="1"/>
                  <p:nvPr/>
                </p:nvSpPr>
                <p:spPr bwMode="gray">
                  <a:xfrm>
                    <a:off x="3783463" y="411131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87409" name="Textfeld 262">
                    <a:extLst>
                      <a:ext uri="{FF2B5EF4-FFF2-40B4-BE49-F238E27FC236}">
                        <a16:creationId xmlns:a16="http://schemas.microsoft.com/office/drawing/2014/main" id="{B0EB046B-F6C8-6D26-77D4-E7AD36B01EAD}"/>
                      </a:ext>
                    </a:extLst>
                  </p:cNvPr>
                  <p:cNvSpPr txBox="1"/>
                  <p:nvPr/>
                </p:nvSpPr>
                <p:spPr bwMode="gray">
                  <a:xfrm>
                    <a:off x="3783463" y="358040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3</a:t>
                    </a:r>
                  </a:p>
                </p:txBody>
              </p:sp>
              <p:sp>
                <p:nvSpPr>
                  <p:cNvPr id="187410" name="Textfeld 262">
                    <a:extLst>
                      <a:ext uri="{FF2B5EF4-FFF2-40B4-BE49-F238E27FC236}">
                        <a16:creationId xmlns:a16="http://schemas.microsoft.com/office/drawing/2014/main" id="{6302B9A7-23FC-D5E0-F65B-E979DFA35179}"/>
                      </a:ext>
                    </a:extLst>
                  </p:cNvPr>
                  <p:cNvSpPr txBox="1"/>
                  <p:nvPr/>
                </p:nvSpPr>
                <p:spPr bwMode="gray">
                  <a:xfrm>
                    <a:off x="3783463" y="304949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4</a:t>
                    </a:r>
                  </a:p>
                </p:txBody>
              </p:sp>
              <p:sp>
                <p:nvSpPr>
                  <p:cNvPr id="187411" name="Textfeld 262">
                    <a:extLst>
                      <a:ext uri="{FF2B5EF4-FFF2-40B4-BE49-F238E27FC236}">
                        <a16:creationId xmlns:a16="http://schemas.microsoft.com/office/drawing/2014/main" id="{C7CAB759-E89E-31B0-4C79-1C9FA862E4D3}"/>
                      </a:ext>
                    </a:extLst>
                  </p:cNvPr>
                  <p:cNvSpPr txBox="1"/>
                  <p:nvPr/>
                </p:nvSpPr>
                <p:spPr bwMode="gray">
                  <a:xfrm>
                    <a:off x="3783463" y="251858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5</a:t>
                    </a:r>
                  </a:p>
                </p:txBody>
              </p:sp>
              <p:sp>
                <p:nvSpPr>
                  <p:cNvPr id="187412" name="Textfeld 262">
                    <a:extLst>
                      <a:ext uri="{FF2B5EF4-FFF2-40B4-BE49-F238E27FC236}">
                        <a16:creationId xmlns:a16="http://schemas.microsoft.com/office/drawing/2014/main" id="{200245AD-EA0F-3739-7A98-C9321319AB46}"/>
                      </a:ext>
                    </a:extLst>
                  </p:cNvPr>
                  <p:cNvSpPr txBox="1"/>
                  <p:nvPr/>
                </p:nvSpPr>
                <p:spPr bwMode="gray">
                  <a:xfrm>
                    <a:off x="3783463" y="1987677"/>
                    <a:ext cx="437965" cy="199351"/>
                  </a:xfrm>
                  <a:prstGeom prst="rect">
                    <a:avLst/>
                  </a:prstGeom>
                  <a:noFill/>
                  <a:ln/>
                </p:spPr>
                <p:txBody>
                  <a:bodyPr wrap="square" lIns="0" tIns="0" rIns="0" bIns="0"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300"/>
                      </a:spcBef>
                      <a:spcAft>
                        <a:spcPts val="300"/>
                      </a:spcAft>
                      <a:buClr>
                        <a:srgbClr val="52328F"/>
                      </a:buClr>
                      <a:buSzTx/>
                      <a:buFontTx/>
                      <a:buNone/>
                      <a:tabLst/>
                      <a:defRPr/>
                    </a:pP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en-US"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,0</a:t>
                    </a:r>
                    <a:r>
                      <a:rPr kumimoji="0" lang="ru-RU" sz="11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Verdana" panose="020B0604030504040204" pitchFamily="34" charset="0"/>
                      </a:rPr>
                      <a:t>6</a:t>
                    </a:r>
                  </a:p>
                </p:txBody>
              </p:sp>
            </p:grpSp>
            <p:grpSp>
              <p:nvGrpSpPr>
                <p:cNvPr id="14" name="Группа 13">
                  <a:extLst>
                    <a:ext uri="{FF2B5EF4-FFF2-40B4-BE49-F238E27FC236}">
                      <a16:creationId xmlns:a16="http://schemas.microsoft.com/office/drawing/2014/main" id="{546076B3-BE0A-8147-75FC-FBBADAAEEA68}"/>
                    </a:ext>
                  </a:extLst>
                </p:cNvPr>
                <p:cNvGrpSpPr/>
                <p:nvPr/>
              </p:nvGrpSpPr>
              <p:grpSpPr>
                <a:xfrm>
                  <a:off x="4668063" y="1719263"/>
                  <a:ext cx="6542862" cy="3556353"/>
                  <a:chOff x="4668063" y="1719263"/>
                  <a:chExt cx="6542862" cy="3556353"/>
                </a:xfrm>
              </p:grpSpPr>
              <p:sp>
                <p:nvSpPr>
                  <p:cNvPr id="187404" name="Полилиния 87">
                    <a:extLst>
                      <a:ext uri="{FF2B5EF4-FFF2-40B4-BE49-F238E27FC236}">
                        <a16:creationId xmlns:a16="http://schemas.microsoft.com/office/drawing/2014/main" id="{C3E075D3-FF83-56A5-E8D0-AD8DAF0C6CCE}"/>
                      </a:ext>
                    </a:extLst>
                  </p:cNvPr>
                  <p:cNvSpPr/>
                  <p:nvPr/>
                </p:nvSpPr>
                <p:spPr>
                  <a:xfrm>
                    <a:off x="4668063" y="1800225"/>
                    <a:ext cx="6542862" cy="3468335"/>
                  </a:xfrm>
                  <a:custGeom>
                    <a:avLst/>
                    <a:gdLst>
                      <a:gd name="connsiteX0" fmla="*/ 6542862 w 6542862"/>
                      <a:gd name="connsiteY0" fmla="*/ 0 h 3468335"/>
                      <a:gd name="connsiteX1" fmla="*/ 6138050 w 6542862"/>
                      <a:gd name="connsiteY1" fmla="*/ 0 h 3468335"/>
                      <a:gd name="connsiteX2" fmla="*/ 6138050 w 6542862"/>
                      <a:gd name="connsiteY2" fmla="*/ 500063 h 3468335"/>
                      <a:gd name="connsiteX3" fmla="*/ 5695137 w 6542862"/>
                      <a:gd name="connsiteY3" fmla="*/ 500063 h 3468335"/>
                      <a:gd name="connsiteX4" fmla="*/ 5695137 w 6542862"/>
                      <a:gd name="connsiteY4" fmla="*/ 852488 h 3468335"/>
                      <a:gd name="connsiteX5" fmla="*/ 5185550 w 6542862"/>
                      <a:gd name="connsiteY5" fmla="*/ 852488 h 3468335"/>
                      <a:gd name="connsiteX6" fmla="*/ 5185550 w 6542862"/>
                      <a:gd name="connsiteY6" fmla="*/ 1166813 h 3468335"/>
                      <a:gd name="connsiteX7" fmla="*/ 4109225 w 6542862"/>
                      <a:gd name="connsiteY7" fmla="*/ 1166813 h 3468335"/>
                      <a:gd name="connsiteX8" fmla="*/ 4109225 w 6542862"/>
                      <a:gd name="connsiteY8" fmla="*/ 1200150 h 3468335"/>
                      <a:gd name="connsiteX9" fmla="*/ 4099700 w 6542862"/>
                      <a:gd name="connsiteY9" fmla="*/ 1200150 h 3468335"/>
                      <a:gd name="connsiteX10" fmla="*/ 4099700 w 6542862"/>
                      <a:gd name="connsiteY10" fmla="*/ 1238250 h 3468335"/>
                      <a:gd name="connsiteX11" fmla="*/ 4009212 w 6542862"/>
                      <a:gd name="connsiteY11" fmla="*/ 1238250 h 3468335"/>
                      <a:gd name="connsiteX12" fmla="*/ 4009212 w 6542862"/>
                      <a:gd name="connsiteY12" fmla="*/ 1262063 h 3468335"/>
                      <a:gd name="connsiteX13" fmla="*/ 3947300 w 6542862"/>
                      <a:gd name="connsiteY13" fmla="*/ 1262063 h 3468335"/>
                      <a:gd name="connsiteX14" fmla="*/ 3947300 w 6542862"/>
                      <a:gd name="connsiteY14" fmla="*/ 1285875 h 3468335"/>
                      <a:gd name="connsiteX15" fmla="*/ 3923487 w 6542862"/>
                      <a:gd name="connsiteY15" fmla="*/ 1285875 h 3468335"/>
                      <a:gd name="connsiteX16" fmla="*/ 3928250 w 6542862"/>
                      <a:gd name="connsiteY16" fmla="*/ 1290638 h 3468335"/>
                      <a:gd name="connsiteX17" fmla="*/ 3918725 w 6542862"/>
                      <a:gd name="connsiteY17" fmla="*/ 1300163 h 3468335"/>
                      <a:gd name="connsiteX18" fmla="*/ 3918725 w 6542862"/>
                      <a:gd name="connsiteY18" fmla="*/ 1328738 h 3468335"/>
                      <a:gd name="connsiteX19" fmla="*/ 3918725 w 6542862"/>
                      <a:gd name="connsiteY19" fmla="*/ 1343025 h 3468335"/>
                      <a:gd name="connsiteX20" fmla="*/ 3861575 w 6542862"/>
                      <a:gd name="connsiteY20" fmla="*/ 1343025 h 3468335"/>
                      <a:gd name="connsiteX21" fmla="*/ 3861575 w 6542862"/>
                      <a:gd name="connsiteY21" fmla="*/ 1366838 h 3468335"/>
                      <a:gd name="connsiteX22" fmla="*/ 3842525 w 6542862"/>
                      <a:gd name="connsiteY22" fmla="*/ 1366838 h 3468335"/>
                      <a:gd name="connsiteX23" fmla="*/ 3842525 w 6542862"/>
                      <a:gd name="connsiteY23" fmla="*/ 1395413 h 3468335"/>
                      <a:gd name="connsiteX24" fmla="*/ 3785375 w 6542862"/>
                      <a:gd name="connsiteY24" fmla="*/ 1395413 h 3468335"/>
                      <a:gd name="connsiteX25" fmla="*/ 3785375 w 6542862"/>
                      <a:gd name="connsiteY25" fmla="*/ 1428750 h 3468335"/>
                      <a:gd name="connsiteX26" fmla="*/ 3732987 w 6542862"/>
                      <a:gd name="connsiteY26" fmla="*/ 1428750 h 3468335"/>
                      <a:gd name="connsiteX27" fmla="*/ 3675837 w 6542862"/>
                      <a:gd name="connsiteY27" fmla="*/ 1428750 h 3468335"/>
                      <a:gd name="connsiteX28" fmla="*/ 3656787 w 6542862"/>
                      <a:gd name="connsiteY28" fmla="*/ 1447800 h 3468335"/>
                      <a:gd name="connsiteX29" fmla="*/ 3642500 w 6542862"/>
                      <a:gd name="connsiteY29" fmla="*/ 1462087 h 3468335"/>
                      <a:gd name="connsiteX30" fmla="*/ 3642500 w 6542862"/>
                      <a:gd name="connsiteY30" fmla="*/ 1476375 h 3468335"/>
                      <a:gd name="connsiteX31" fmla="*/ 3623450 w 6542862"/>
                      <a:gd name="connsiteY31" fmla="*/ 1476375 h 3468335"/>
                      <a:gd name="connsiteX32" fmla="*/ 3623450 w 6542862"/>
                      <a:gd name="connsiteY32" fmla="*/ 1509713 h 3468335"/>
                      <a:gd name="connsiteX33" fmla="*/ 3585350 w 6542862"/>
                      <a:gd name="connsiteY33" fmla="*/ 1509713 h 3468335"/>
                      <a:gd name="connsiteX34" fmla="*/ 3585350 w 6542862"/>
                      <a:gd name="connsiteY34" fmla="*/ 1528763 h 3468335"/>
                      <a:gd name="connsiteX35" fmla="*/ 3561537 w 6542862"/>
                      <a:gd name="connsiteY35" fmla="*/ 1528763 h 3468335"/>
                      <a:gd name="connsiteX36" fmla="*/ 3561537 w 6542862"/>
                      <a:gd name="connsiteY36" fmla="*/ 1552575 h 3468335"/>
                      <a:gd name="connsiteX37" fmla="*/ 3547250 w 6542862"/>
                      <a:gd name="connsiteY37" fmla="*/ 1566862 h 3468335"/>
                      <a:gd name="connsiteX38" fmla="*/ 3475812 w 6542862"/>
                      <a:gd name="connsiteY38" fmla="*/ 1566862 h 3468335"/>
                      <a:gd name="connsiteX39" fmla="*/ 3475812 w 6542862"/>
                      <a:gd name="connsiteY39" fmla="*/ 1590675 h 3468335"/>
                      <a:gd name="connsiteX40" fmla="*/ 3432950 w 6542862"/>
                      <a:gd name="connsiteY40" fmla="*/ 1590675 h 3468335"/>
                      <a:gd name="connsiteX41" fmla="*/ 3432950 w 6542862"/>
                      <a:gd name="connsiteY41" fmla="*/ 1609725 h 3468335"/>
                      <a:gd name="connsiteX42" fmla="*/ 3394850 w 6542862"/>
                      <a:gd name="connsiteY42" fmla="*/ 1609725 h 3468335"/>
                      <a:gd name="connsiteX43" fmla="*/ 3394850 w 6542862"/>
                      <a:gd name="connsiteY43" fmla="*/ 1633538 h 3468335"/>
                      <a:gd name="connsiteX44" fmla="*/ 3371037 w 6542862"/>
                      <a:gd name="connsiteY44" fmla="*/ 1633538 h 3468335"/>
                      <a:gd name="connsiteX45" fmla="*/ 3371037 w 6542862"/>
                      <a:gd name="connsiteY45" fmla="*/ 1638300 h 3468335"/>
                      <a:gd name="connsiteX46" fmla="*/ 3356750 w 6542862"/>
                      <a:gd name="connsiteY46" fmla="*/ 1638300 h 3468335"/>
                      <a:gd name="connsiteX47" fmla="*/ 3356750 w 6542862"/>
                      <a:gd name="connsiteY47" fmla="*/ 1657350 h 3468335"/>
                      <a:gd name="connsiteX48" fmla="*/ 3337700 w 6542862"/>
                      <a:gd name="connsiteY48" fmla="*/ 1657350 h 3468335"/>
                      <a:gd name="connsiteX49" fmla="*/ 3337700 w 6542862"/>
                      <a:gd name="connsiteY49" fmla="*/ 1666875 h 3468335"/>
                      <a:gd name="connsiteX50" fmla="*/ 3318650 w 6542862"/>
                      <a:gd name="connsiteY50" fmla="*/ 1666875 h 3468335"/>
                      <a:gd name="connsiteX51" fmla="*/ 3318650 w 6542862"/>
                      <a:gd name="connsiteY51" fmla="*/ 1690688 h 3468335"/>
                      <a:gd name="connsiteX52" fmla="*/ 3309125 w 6542862"/>
                      <a:gd name="connsiteY52" fmla="*/ 1700213 h 3468335"/>
                      <a:gd name="connsiteX53" fmla="*/ 3275787 w 6542862"/>
                      <a:gd name="connsiteY53" fmla="*/ 1700213 h 3468335"/>
                      <a:gd name="connsiteX54" fmla="*/ 3247212 w 6542862"/>
                      <a:gd name="connsiteY54" fmla="*/ 1728788 h 3468335"/>
                      <a:gd name="connsiteX55" fmla="*/ 3223400 w 6542862"/>
                      <a:gd name="connsiteY55" fmla="*/ 1728788 h 3468335"/>
                      <a:gd name="connsiteX56" fmla="*/ 3213875 w 6542862"/>
                      <a:gd name="connsiteY56" fmla="*/ 1738313 h 3468335"/>
                      <a:gd name="connsiteX57" fmla="*/ 3194825 w 6542862"/>
                      <a:gd name="connsiteY57" fmla="*/ 1738313 h 3468335"/>
                      <a:gd name="connsiteX58" fmla="*/ 3161488 w 6542862"/>
                      <a:gd name="connsiteY58" fmla="*/ 1771650 h 3468335"/>
                      <a:gd name="connsiteX59" fmla="*/ 3123387 w 6542862"/>
                      <a:gd name="connsiteY59" fmla="*/ 1771650 h 3468335"/>
                      <a:gd name="connsiteX60" fmla="*/ 3109100 w 6542862"/>
                      <a:gd name="connsiteY60" fmla="*/ 1785937 h 3468335"/>
                      <a:gd name="connsiteX61" fmla="*/ 3109100 w 6542862"/>
                      <a:gd name="connsiteY61" fmla="*/ 1804988 h 3468335"/>
                      <a:gd name="connsiteX62" fmla="*/ 3099575 w 6542862"/>
                      <a:gd name="connsiteY62" fmla="*/ 1814513 h 3468335"/>
                      <a:gd name="connsiteX63" fmla="*/ 3080525 w 6542862"/>
                      <a:gd name="connsiteY63" fmla="*/ 1833563 h 3468335"/>
                      <a:gd name="connsiteX64" fmla="*/ 3061475 w 6542862"/>
                      <a:gd name="connsiteY64" fmla="*/ 1833563 h 3468335"/>
                      <a:gd name="connsiteX65" fmla="*/ 3061475 w 6542862"/>
                      <a:gd name="connsiteY65" fmla="*/ 1857375 h 3468335"/>
                      <a:gd name="connsiteX66" fmla="*/ 3047187 w 6542862"/>
                      <a:gd name="connsiteY66" fmla="*/ 1871663 h 3468335"/>
                      <a:gd name="connsiteX67" fmla="*/ 3028137 w 6542862"/>
                      <a:gd name="connsiteY67" fmla="*/ 1890713 h 3468335"/>
                      <a:gd name="connsiteX68" fmla="*/ 2999562 w 6542862"/>
                      <a:gd name="connsiteY68" fmla="*/ 1890713 h 3468335"/>
                      <a:gd name="connsiteX69" fmla="*/ 2980512 w 6542862"/>
                      <a:gd name="connsiteY69" fmla="*/ 1909763 h 3468335"/>
                      <a:gd name="connsiteX70" fmla="*/ 2951937 w 6542862"/>
                      <a:gd name="connsiteY70" fmla="*/ 1909763 h 3468335"/>
                      <a:gd name="connsiteX71" fmla="*/ 2932887 w 6542862"/>
                      <a:gd name="connsiteY71" fmla="*/ 1928813 h 3468335"/>
                      <a:gd name="connsiteX72" fmla="*/ 2932887 w 6542862"/>
                      <a:gd name="connsiteY72" fmla="*/ 1952625 h 3468335"/>
                      <a:gd name="connsiteX73" fmla="*/ 2913837 w 6542862"/>
                      <a:gd name="connsiteY73" fmla="*/ 1971675 h 3468335"/>
                      <a:gd name="connsiteX74" fmla="*/ 2913837 w 6542862"/>
                      <a:gd name="connsiteY74" fmla="*/ 2009775 h 3468335"/>
                      <a:gd name="connsiteX75" fmla="*/ 2880499 w 6542862"/>
                      <a:gd name="connsiteY75" fmla="*/ 2043113 h 3468335"/>
                      <a:gd name="connsiteX76" fmla="*/ 2847162 w 6542862"/>
                      <a:gd name="connsiteY76" fmla="*/ 2043113 h 3468335"/>
                      <a:gd name="connsiteX77" fmla="*/ 2837637 w 6542862"/>
                      <a:gd name="connsiteY77" fmla="*/ 2043113 h 3468335"/>
                      <a:gd name="connsiteX78" fmla="*/ 2818587 w 6542862"/>
                      <a:gd name="connsiteY78" fmla="*/ 2062163 h 3468335"/>
                      <a:gd name="connsiteX79" fmla="*/ 2775725 w 6542862"/>
                      <a:gd name="connsiteY79" fmla="*/ 2062163 h 3468335"/>
                      <a:gd name="connsiteX80" fmla="*/ 2761438 w 6542862"/>
                      <a:gd name="connsiteY80" fmla="*/ 2076450 h 3468335"/>
                      <a:gd name="connsiteX81" fmla="*/ 2751912 w 6542862"/>
                      <a:gd name="connsiteY81" fmla="*/ 2076450 h 3468335"/>
                      <a:gd name="connsiteX82" fmla="*/ 2751912 w 6542862"/>
                      <a:gd name="connsiteY82" fmla="*/ 2081213 h 3468335"/>
                      <a:gd name="connsiteX83" fmla="*/ 2704287 w 6542862"/>
                      <a:gd name="connsiteY83" fmla="*/ 2081213 h 3468335"/>
                      <a:gd name="connsiteX84" fmla="*/ 2675712 w 6542862"/>
                      <a:gd name="connsiteY84" fmla="*/ 2109788 h 3468335"/>
                      <a:gd name="connsiteX85" fmla="*/ 2666187 w 6542862"/>
                      <a:gd name="connsiteY85" fmla="*/ 2119313 h 3468335"/>
                      <a:gd name="connsiteX86" fmla="*/ 2651900 w 6542862"/>
                      <a:gd name="connsiteY86" fmla="*/ 2119313 h 3468335"/>
                      <a:gd name="connsiteX87" fmla="*/ 2632850 w 6542862"/>
                      <a:gd name="connsiteY87" fmla="*/ 2138363 h 3468335"/>
                      <a:gd name="connsiteX88" fmla="*/ 2566175 w 6542862"/>
                      <a:gd name="connsiteY88" fmla="*/ 2138363 h 3468335"/>
                      <a:gd name="connsiteX89" fmla="*/ 2566175 w 6542862"/>
                      <a:gd name="connsiteY89" fmla="*/ 2185988 h 3468335"/>
                      <a:gd name="connsiteX90" fmla="*/ 2509025 w 6542862"/>
                      <a:gd name="connsiteY90" fmla="*/ 2185988 h 3468335"/>
                      <a:gd name="connsiteX91" fmla="*/ 2494737 w 6542862"/>
                      <a:gd name="connsiteY91" fmla="*/ 2200276 h 3468335"/>
                      <a:gd name="connsiteX92" fmla="*/ 2485213 w 6542862"/>
                      <a:gd name="connsiteY92" fmla="*/ 2209800 h 3468335"/>
                      <a:gd name="connsiteX93" fmla="*/ 2475687 w 6542862"/>
                      <a:gd name="connsiteY93" fmla="*/ 2209800 h 3468335"/>
                      <a:gd name="connsiteX94" fmla="*/ 2451875 w 6542862"/>
                      <a:gd name="connsiteY94" fmla="*/ 2233612 h 3468335"/>
                      <a:gd name="connsiteX95" fmla="*/ 2432824 w 6542862"/>
                      <a:gd name="connsiteY95" fmla="*/ 2252663 h 3468335"/>
                      <a:gd name="connsiteX96" fmla="*/ 2385200 w 6542862"/>
                      <a:gd name="connsiteY96" fmla="*/ 2252663 h 3468335"/>
                      <a:gd name="connsiteX97" fmla="*/ 2361388 w 6542862"/>
                      <a:gd name="connsiteY97" fmla="*/ 2276475 h 3468335"/>
                      <a:gd name="connsiteX98" fmla="*/ 2323287 w 6542862"/>
                      <a:gd name="connsiteY98" fmla="*/ 2276475 h 3468335"/>
                      <a:gd name="connsiteX99" fmla="*/ 2299475 w 6542862"/>
                      <a:gd name="connsiteY99" fmla="*/ 2300287 h 3468335"/>
                      <a:gd name="connsiteX100" fmla="*/ 2251850 w 6542862"/>
                      <a:gd name="connsiteY100" fmla="*/ 2300287 h 3468335"/>
                      <a:gd name="connsiteX101" fmla="*/ 2166125 w 6542862"/>
                      <a:gd name="connsiteY101" fmla="*/ 2386012 h 3468335"/>
                      <a:gd name="connsiteX102" fmla="*/ 2151837 w 6542862"/>
                      <a:gd name="connsiteY102" fmla="*/ 2400300 h 3468335"/>
                      <a:gd name="connsiteX103" fmla="*/ 2128025 w 6542862"/>
                      <a:gd name="connsiteY103" fmla="*/ 2424112 h 3468335"/>
                      <a:gd name="connsiteX104" fmla="*/ 2037537 w 6542862"/>
                      <a:gd name="connsiteY104" fmla="*/ 2424112 h 3468335"/>
                      <a:gd name="connsiteX105" fmla="*/ 2037537 w 6542862"/>
                      <a:gd name="connsiteY105" fmla="*/ 2433638 h 3468335"/>
                      <a:gd name="connsiteX106" fmla="*/ 2013725 w 6542862"/>
                      <a:gd name="connsiteY106" fmla="*/ 2457450 h 3468335"/>
                      <a:gd name="connsiteX107" fmla="*/ 1980387 w 6542862"/>
                      <a:gd name="connsiteY107" fmla="*/ 2490788 h 3468335"/>
                      <a:gd name="connsiteX108" fmla="*/ 1951812 w 6542862"/>
                      <a:gd name="connsiteY108" fmla="*/ 2519363 h 3468335"/>
                      <a:gd name="connsiteX109" fmla="*/ 1861325 w 6542862"/>
                      <a:gd name="connsiteY109" fmla="*/ 2519363 h 3468335"/>
                      <a:gd name="connsiteX110" fmla="*/ 1861325 w 6542862"/>
                      <a:gd name="connsiteY110" fmla="*/ 2562225 h 3468335"/>
                      <a:gd name="connsiteX111" fmla="*/ 1842275 w 6542862"/>
                      <a:gd name="connsiteY111" fmla="*/ 2581275 h 3468335"/>
                      <a:gd name="connsiteX112" fmla="*/ 1789887 w 6542862"/>
                      <a:gd name="connsiteY112" fmla="*/ 2581275 h 3468335"/>
                      <a:gd name="connsiteX113" fmla="*/ 1770837 w 6542862"/>
                      <a:gd name="connsiteY113" fmla="*/ 2600325 h 3468335"/>
                      <a:gd name="connsiteX114" fmla="*/ 1751787 w 6542862"/>
                      <a:gd name="connsiteY114" fmla="*/ 2619375 h 3468335"/>
                      <a:gd name="connsiteX115" fmla="*/ 1680350 w 6542862"/>
                      <a:gd name="connsiteY115" fmla="*/ 2619375 h 3468335"/>
                      <a:gd name="connsiteX116" fmla="*/ 1642250 w 6542862"/>
                      <a:gd name="connsiteY116" fmla="*/ 2657475 h 3468335"/>
                      <a:gd name="connsiteX117" fmla="*/ 1613675 w 6542862"/>
                      <a:gd name="connsiteY117" fmla="*/ 2686050 h 3468335"/>
                      <a:gd name="connsiteX118" fmla="*/ 1556525 w 6542862"/>
                      <a:gd name="connsiteY118" fmla="*/ 2686050 h 3468335"/>
                      <a:gd name="connsiteX119" fmla="*/ 1527950 w 6542862"/>
                      <a:gd name="connsiteY119" fmla="*/ 2714625 h 3468335"/>
                      <a:gd name="connsiteX120" fmla="*/ 1494612 w 6542862"/>
                      <a:gd name="connsiteY120" fmla="*/ 2747963 h 3468335"/>
                      <a:gd name="connsiteX121" fmla="*/ 1446987 w 6542862"/>
                      <a:gd name="connsiteY121" fmla="*/ 2747963 h 3468335"/>
                      <a:gd name="connsiteX122" fmla="*/ 1432700 w 6542862"/>
                      <a:gd name="connsiteY122" fmla="*/ 2762250 h 3468335"/>
                      <a:gd name="connsiteX123" fmla="*/ 1394600 w 6542862"/>
                      <a:gd name="connsiteY123" fmla="*/ 2762250 h 3468335"/>
                      <a:gd name="connsiteX124" fmla="*/ 1370787 w 6542862"/>
                      <a:gd name="connsiteY124" fmla="*/ 2786063 h 3468335"/>
                      <a:gd name="connsiteX125" fmla="*/ 1370787 w 6542862"/>
                      <a:gd name="connsiteY125" fmla="*/ 2805113 h 3468335"/>
                      <a:gd name="connsiteX126" fmla="*/ 1346975 w 6542862"/>
                      <a:gd name="connsiteY126" fmla="*/ 2805113 h 3468335"/>
                      <a:gd name="connsiteX127" fmla="*/ 1346975 w 6542862"/>
                      <a:gd name="connsiteY127" fmla="*/ 2824163 h 3468335"/>
                      <a:gd name="connsiteX128" fmla="*/ 1327925 w 6542862"/>
                      <a:gd name="connsiteY128" fmla="*/ 2843213 h 3468335"/>
                      <a:gd name="connsiteX129" fmla="*/ 1294587 w 6542862"/>
                      <a:gd name="connsiteY129" fmla="*/ 2843213 h 3468335"/>
                      <a:gd name="connsiteX130" fmla="*/ 1256487 w 6542862"/>
                      <a:gd name="connsiteY130" fmla="*/ 2881313 h 3468335"/>
                      <a:gd name="connsiteX131" fmla="*/ 1223150 w 6542862"/>
                      <a:gd name="connsiteY131" fmla="*/ 2914650 h 3468335"/>
                      <a:gd name="connsiteX132" fmla="*/ 1204100 w 6542862"/>
                      <a:gd name="connsiteY132" fmla="*/ 2933700 h 3468335"/>
                      <a:gd name="connsiteX133" fmla="*/ 1180287 w 6542862"/>
                      <a:gd name="connsiteY133" fmla="*/ 2957513 h 3468335"/>
                      <a:gd name="connsiteX134" fmla="*/ 1180287 w 6542862"/>
                      <a:gd name="connsiteY134" fmla="*/ 2976563 h 3468335"/>
                      <a:gd name="connsiteX135" fmla="*/ 1146950 w 6542862"/>
                      <a:gd name="connsiteY135" fmla="*/ 2976563 h 3468335"/>
                      <a:gd name="connsiteX136" fmla="*/ 1085037 w 6542862"/>
                      <a:gd name="connsiteY136" fmla="*/ 2976563 h 3468335"/>
                      <a:gd name="connsiteX137" fmla="*/ 1065987 w 6542862"/>
                      <a:gd name="connsiteY137" fmla="*/ 2995613 h 3468335"/>
                      <a:gd name="connsiteX138" fmla="*/ 1065987 w 6542862"/>
                      <a:gd name="connsiteY138" fmla="*/ 3024188 h 3468335"/>
                      <a:gd name="connsiteX139" fmla="*/ 1004075 w 6542862"/>
                      <a:gd name="connsiteY139" fmla="*/ 3024188 h 3468335"/>
                      <a:gd name="connsiteX140" fmla="*/ 980263 w 6542862"/>
                      <a:gd name="connsiteY140" fmla="*/ 3048000 h 3468335"/>
                      <a:gd name="connsiteX141" fmla="*/ 951687 w 6542862"/>
                      <a:gd name="connsiteY141" fmla="*/ 3048000 h 3468335"/>
                      <a:gd name="connsiteX142" fmla="*/ 951687 w 6542862"/>
                      <a:gd name="connsiteY142" fmla="*/ 3076575 h 3468335"/>
                      <a:gd name="connsiteX143" fmla="*/ 875487 w 6542862"/>
                      <a:gd name="connsiteY143" fmla="*/ 3076575 h 3468335"/>
                      <a:gd name="connsiteX144" fmla="*/ 846912 w 6542862"/>
                      <a:gd name="connsiteY144" fmla="*/ 3105150 h 3468335"/>
                      <a:gd name="connsiteX145" fmla="*/ 827862 w 6542862"/>
                      <a:gd name="connsiteY145" fmla="*/ 3124200 h 3468335"/>
                      <a:gd name="connsiteX146" fmla="*/ 780237 w 6542862"/>
                      <a:gd name="connsiteY146" fmla="*/ 3124200 h 3468335"/>
                      <a:gd name="connsiteX147" fmla="*/ 742137 w 6542862"/>
                      <a:gd name="connsiteY147" fmla="*/ 3124200 h 3468335"/>
                      <a:gd name="connsiteX148" fmla="*/ 704037 w 6542862"/>
                      <a:gd name="connsiteY148" fmla="*/ 3162300 h 3468335"/>
                      <a:gd name="connsiteX149" fmla="*/ 670700 w 6542862"/>
                      <a:gd name="connsiteY149" fmla="*/ 3162300 h 3468335"/>
                      <a:gd name="connsiteX150" fmla="*/ 646887 w 6542862"/>
                      <a:gd name="connsiteY150" fmla="*/ 3162300 h 3468335"/>
                      <a:gd name="connsiteX151" fmla="*/ 646887 w 6542862"/>
                      <a:gd name="connsiteY151" fmla="*/ 3209925 h 3468335"/>
                      <a:gd name="connsiteX152" fmla="*/ 613549 w 6542862"/>
                      <a:gd name="connsiteY152" fmla="*/ 3243263 h 3468335"/>
                      <a:gd name="connsiteX153" fmla="*/ 546875 w 6542862"/>
                      <a:gd name="connsiteY153" fmla="*/ 3243263 h 3468335"/>
                      <a:gd name="connsiteX154" fmla="*/ 523063 w 6542862"/>
                      <a:gd name="connsiteY154" fmla="*/ 3267075 h 3468335"/>
                      <a:gd name="connsiteX155" fmla="*/ 489725 w 6542862"/>
                      <a:gd name="connsiteY155" fmla="*/ 3300413 h 3468335"/>
                      <a:gd name="connsiteX156" fmla="*/ 356375 w 6542862"/>
                      <a:gd name="connsiteY156" fmla="*/ 3300413 h 3468335"/>
                      <a:gd name="connsiteX157" fmla="*/ 308750 w 6542862"/>
                      <a:gd name="connsiteY157" fmla="*/ 3348038 h 3468335"/>
                      <a:gd name="connsiteX158" fmla="*/ 270650 w 6542862"/>
                      <a:gd name="connsiteY158" fmla="*/ 3348038 h 3468335"/>
                      <a:gd name="connsiteX159" fmla="*/ 223025 w 6542862"/>
                      <a:gd name="connsiteY159" fmla="*/ 3348038 h 3468335"/>
                      <a:gd name="connsiteX160" fmla="*/ 180162 w 6542862"/>
                      <a:gd name="connsiteY160" fmla="*/ 3348038 h 3468335"/>
                      <a:gd name="connsiteX161" fmla="*/ 127775 w 6542862"/>
                      <a:gd name="connsiteY161" fmla="*/ 3400425 h 3468335"/>
                      <a:gd name="connsiteX162" fmla="*/ 94437 w 6542862"/>
                      <a:gd name="connsiteY162" fmla="*/ 3433763 h 3468335"/>
                      <a:gd name="connsiteX163" fmla="*/ 37287 w 6542862"/>
                      <a:gd name="connsiteY163" fmla="*/ 3433763 h 3468335"/>
                      <a:gd name="connsiteX164" fmla="*/ 37287 w 6542862"/>
                      <a:gd name="connsiteY164" fmla="*/ 3462338 h 3468335"/>
                      <a:gd name="connsiteX165" fmla="*/ 13475 w 6542862"/>
                      <a:gd name="connsiteY165" fmla="*/ 3462338 h 346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6542862" h="3468335">
                        <a:moveTo>
                          <a:pt x="6542862" y="0"/>
                        </a:moveTo>
                        <a:lnTo>
                          <a:pt x="6138050" y="0"/>
                        </a:lnTo>
                        <a:lnTo>
                          <a:pt x="6138050" y="500063"/>
                        </a:lnTo>
                        <a:lnTo>
                          <a:pt x="5695137" y="500063"/>
                        </a:lnTo>
                        <a:lnTo>
                          <a:pt x="5695137" y="852488"/>
                        </a:lnTo>
                        <a:lnTo>
                          <a:pt x="5185550" y="852488"/>
                        </a:lnTo>
                        <a:lnTo>
                          <a:pt x="5185550" y="1166813"/>
                        </a:lnTo>
                        <a:lnTo>
                          <a:pt x="4109225" y="1166813"/>
                        </a:lnTo>
                        <a:lnTo>
                          <a:pt x="4109225" y="1200150"/>
                        </a:lnTo>
                        <a:lnTo>
                          <a:pt x="4099700" y="1200150"/>
                        </a:lnTo>
                        <a:lnTo>
                          <a:pt x="4099700" y="1238250"/>
                        </a:lnTo>
                        <a:lnTo>
                          <a:pt x="4009212" y="1238250"/>
                        </a:lnTo>
                        <a:lnTo>
                          <a:pt x="4009212" y="1262063"/>
                        </a:lnTo>
                        <a:lnTo>
                          <a:pt x="3947300" y="1262063"/>
                        </a:lnTo>
                        <a:lnTo>
                          <a:pt x="3947300" y="1285875"/>
                        </a:lnTo>
                        <a:lnTo>
                          <a:pt x="3923487" y="1285875"/>
                        </a:lnTo>
                        <a:lnTo>
                          <a:pt x="3928250" y="1290638"/>
                        </a:lnTo>
                        <a:lnTo>
                          <a:pt x="3918725" y="1300163"/>
                        </a:lnTo>
                        <a:lnTo>
                          <a:pt x="3918725" y="1328738"/>
                        </a:lnTo>
                        <a:lnTo>
                          <a:pt x="3918725" y="1343025"/>
                        </a:lnTo>
                        <a:lnTo>
                          <a:pt x="3861575" y="1343025"/>
                        </a:lnTo>
                        <a:lnTo>
                          <a:pt x="3861575" y="1366838"/>
                        </a:lnTo>
                        <a:lnTo>
                          <a:pt x="3842525" y="1366838"/>
                        </a:lnTo>
                        <a:lnTo>
                          <a:pt x="3842525" y="1395413"/>
                        </a:lnTo>
                        <a:lnTo>
                          <a:pt x="3785375" y="1395413"/>
                        </a:lnTo>
                        <a:lnTo>
                          <a:pt x="3785375" y="1428750"/>
                        </a:lnTo>
                        <a:lnTo>
                          <a:pt x="3732987" y="1428750"/>
                        </a:lnTo>
                        <a:lnTo>
                          <a:pt x="3675837" y="1428750"/>
                        </a:lnTo>
                        <a:lnTo>
                          <a:pt x="3656787" y="1447800"/>
                        </a:lnTo>
                        <a:lnTo>
                          <a:pt x="3642500" y="1462087"/>
                        </a:lnTo>
                        <a:lnTo>
                          <a:pt x="3642500" y="1476375"/>
                        </a:lnTo>
                        <a:lnTo>
                          <a:pt x="3623450" y="1476375"/>
                        </a:lnTo>
                        <a:lnTo>
                          <a:pt x="3623450" y="1509713"/>
                        </a:lnTo>
                        <a:lnTo>
                          <a:pt x="3585350" y="1509713"/>
                        </a:lnTo>
                        <a:lnTo>
                          <a:pt x="3585350" y="1528763"/>
                        </a:lnTo>
                        <a:lnTo>
                          <a:pt x="3561537" y="1528763"/>
                        </a:lnTo>
                        <a:lnTo>
                          <a:pt x="3561537" y="1552575"/>
                        </a:lnTo>
                        <a:lnTo>
                          <a:pt x="3547250" y="1566862"/>
                        </a:lnTo>
                        <a:lnTo>
                          <a:pt x="3475812" y="1566862"/>
                        </a:lnTo>
                        <a:lnTo>
                          <a:pt x="3475812" y="1590675"/>
                        </a:lnTo>
                        <a:lnTo>
                          <a:pt x="3432950" y="1590675"/>
                        </a:lnTo>
                        <a:lnTo>
                          <a:pt x="3432950" y="1609725"/>
                        </a:lnTo>
                        <a:lnTo>
                          <a:pt x="3394850" y="1609725"/>
                        </a:lnTo>
                        <a:lnTo>
                          <a:pt x="3394850" y="1633538"/>
                        </a:lnTo>
                        <a:lnTo>
                          <a:pt x="3371037" y="1633538"/>
                        </a:lnTo>
                        <a:lnTo>
                          <a:pt x="3371037" y="1638300"/>
                        </a:lnTo>
                        <a:lnTo>
                          <a:pt x="3356750" y="1638300"/>
                        </a:lnTo>
                        <a:lnTo>
                          <a:pt x="3356750" y="1657350"/>
                        </a:lnTo>
                        <a:lnTo>
                          <a:pt x="3337700" y="1657350"/>
                        </a:lnTo>
                        <a:lnTo>
                          <a:pt x="3337700" y="1666875"/>
                        </a:lnTo>
                        <a:lnTo>
                          <a:pt x="3318650" y="1666875"/>
                        </a:lnTo>
                        <a:lnTo>
                          <a:pt x="3318650" y="1690688"/>
                        </a:lnTo>
                        <a:lnTo>
                          <a:pt x="3309125" y="1700213"/>
                        </a:lnTo>
                        <a:lnTo>
                          <a:pt x="3275787" y="1700213"/>
                        </a:lnTo>
                        <a:lnTo>
                          <a:pt x="3247212" y="1728788"/>
                        </a:lnTo>
                        <a:lnTo>
                          <a:pt x="3223400" y="1728788"/>
                        </a:lnTo>
                        <a:lnTo>
                          <a:pt x="3213875" y="1738313"/>
                        </a:lnTo>
                        <a:lnTo>
                          <a:pt x="3194825" y="1738313"/>
                        </a:lnTo>
                        <a:lnTo>
                          <a:pt x="3161488" y="1771650"/>
                        </a:lnTo>
                        <a:lnTo>
                          <a:pt x="3123387" y="1771650"/>
                        </a:lnTo>
                        <a:lnTo>
                          <a:pt x="3109100" y="1785937"/>
                        </a:lnTo>
                        <a:lnTo>
                          <a:pt x="3109100" y="1804988"/>
                        </a:lnTo>
                        <a:lnTo>
                          <a:pt x="3099575" y="1814513"/>
                        </a:lnTo>
                        <a:lnTo>
                          <a:pt x="3080525" y="1833563"/>
                        </a:lnTo>
                        <a:lnTo>
                          <a:pt x="3061475" y="1833563"/>
                        </a:lnTo>
                        <a:lnTo>
                          <a:pt x="3061475" y="1857375"/>
                        </a:lnTo>
                        <a:lnTo>
                          <a:pt x="3047187" y="1871663"/>
                        </a:lnTo>
                        <a:lnTo>
                          <a:pt x="3028137" y="1890713"/>
                        </a:lnTo>
                        <a:lnTo>
                          <a:pt x="2999562" y="1890713"/>
                        </a:lnTo>
                        <a:lnTo>
                          <a:pt x="2980512" y="1909763"/>
                        </a:lnTo>
                        <a:lnTo>
                          <a:pt x="2951937" y="1909763"/>
                        </a:lnTo>
                        <a:lnTo>
                          <a:pt x="2932887" y="1928813"/>
                        </a:lnTo>
                        <a:lnTo>
                          <a:pt x="2932887" y="1952625"/>
                        </a:lnTo>
                        <a:lnTo>
                          <a:pt x="2913837" y="1971675"/>
                        </a:lnTo>
                        <a:lnTo>
                          <a:pt x="2913837" y="2009775"/>
                        </a:lnTo>
                        <a:lnTo>
                          <a:pt x="2880499" y="2043113"/>
                        </a:lnTo>
                        <a:lnTo>
                          <a:pt x="2847162" y="2043113"/>
                        </a:lnTo>
                        <a:lnTo>
                          <a:pt x="2837637" y="2043113"/>
                        </a:lnTo>
                        <a:lnTo>
                          <a:pt x="2818587" y="2062163"/>
                        </a:lnTo>
                        <a:lnTo>
                          <a:pt x="2775725" y="2062163"/>
                        </a:lnTo>
                        <a:lnTo>
                          <a:pt x="2761438" y="2076450"/>
                        </a:lnTo>
                        <a:lnTo>
                          <a:pt x="2751912" y="2076450"/>
                        </a:lnTo>
                        <a:lnTo>
                          <a:pt x="2751912" y="2081213"/>
                        </a:lnTo>
                        <a:lnTo>
                          <a:pt x="2704287" y="2081213"/>
                        </a:lnTo>
                        <a:lnTo>
                          <a:pt x="2675712" y="2109788"/>
                        </a:lnTo>
                        <a:lnTo>
                          <a:pt x="2666187" y="2119313"/>
                        </a:lnTo>
                        <a:lnTo>
                          <a:pt x="2651900" y="2119313"/>
                        </a:lnTo>
                        <a:lnTo>
                          <a:pt x="2632850" y="2138363"/>
                        </a:lnTo>
                        <a:lnTo>
                          <a:pt x="2566175" y="2138363"/>
                        </a:lnTo>
                        <a:lnTo>
                          <a:pt x="2566175" y="2185988"/>
                        </a:lnTo>
                        <a:lnTo>
                          <a:pt x="2509025" y="2185988"/>
                        </a:lnTo>
                        <a:lnTo>
                          <a:pt x="2494737" y="2200276"/>
                        </a:lnTo>
                        <a:lnTo>
                          <a:pt x="2485213" y="2209800"/>
                        </a:lnTo>
                        <a:lnTo>
                          <a:pt x="2475687" y="2209800"/>
                        </a:lnTo>
                        <a:lnTo>
                          <a:pt x="2451875" y="2233612"/>
                        </a:lnTo>
                        <a:lnTo>
                          <a:pt x="2432824" y="2252663"/>
                        </a:lnTo>
                        <a:lnTo>
                          <a:pt x="2385200" y="2252663"/>
                        </a:lnTo>
                        <a:lnTo>
                          <a:pt x="2361388" y="2276475"/>
                        </a:lnTo>
                        <a:lnTo>
                          <a:pt x="2323287" y="2276475"/>
                        </a:lnTo>
                        <a:lnTo>
                          <a:pt x="2299475" y="2300287"/>
                        </a:lnTo>
                        <a:lnTo>
                          <a:pt x="2251850" y="2300287"/>
                        </a:lnTo>
                        <a:lnTo>
                          <a:pt x="2166125" y="2386012"/>
                        </a:lnTo>
                        <a:lnTo>
                          <a:pt x="2151837" y="2400300"/>
                        </a:lnTo>
                        <a:lnTo>
                          <a:pt x="2128025" y="2424112"/>
                        </a:lnTo>
                        <a:lnTo>
                          <a:pt x="2037537" y="2424112"/>
                        </a:lnTo>
                        <a:lnTo>
                          <a:pt x="2037537" y="2433638"/>
                        </a:lnTo>
                        <a:lnTo>
                          <a:pt x="2013725" y="2457450"/>
                        </a:lnTo>
                        <a:lnTo>
                          <a:pt x="1980387" y="2490788"/>
                        </a:lnTo>
                        <a:lnTo>
                          <a:pt x="1951812" y="2519363"/>
                        </a:lnTo>
                        <a:lnTo>
                          <a:pt x="1861325" y="2519363"/>
                        </a:lnTo>
                        <a:lnTo>
                          <a:pt x="1861325" y="2562225"/>
                        </a:lnTo>
                        <a:lnTo>
                          <a:pt x="1842275" y="2581275"/>
                        </a:lnTo>
                        <a:lnTo>
                          <a:pt x="1789887" y="2581275"/>
                        </a:lnTo>
                        <a:lnTo>
                          <a:pt x="1770837" y="2600325"/>
                        </a:lnTo>
                        <a:lnTo>
                          <a:pt x="1751787" y="2619375"/>
                        </a:lnTo>
                        <a:lnTo>
                          <a:pt x="1680350" y="2619375"/>
                        </a:lnTo>
                        <a:lnTo>
                          <a:pt x="1642250" y="2657475"/>
                        </a:lnTo>
                        <a:lnTo>
                          <a:pt x="1613675" y="2686050"/>
                        </a:lnTo>
                        <a:lnTo>
                          <a:pt x="1556525" y="2686050"/>
                        </a:lnTo>
                        <a:lnTo>
                          <a:pt x="1527950" y="2714625"/>
                        </a:lnTo>
                        <a:lnTo>
                          <a:pt x="1494612" y="2747963"/>
                        </a:lnTo>
                        <a:lnTo>
                          <a:pt x="1446987" y="2747963"/>
                        </a:lnTo>
                        <a:lnTo>
                          <a:pt x="1432700" y="2762250"/>
                        </a:lnTo>
                        <a:lnTo>
                          <a:pt x="1394600" y="2762250"/>
                        </a:lnTo>
                        <a:lnTo>
                          <a:pt x="1370787" y="2786063"/>
                        </a:lnTo>
                        <a:lnTo>
                          <a:pt x="1370787" y="2805113"/>
                        </a:lnTo>
                        <a:lnTo>
                          <a:pt x="1346975" y="2805113"/>
                        </a:lnTo>
                        <a:lnTo>
                          <a:pt x="1346975" y="2824163"/>
                        </a:lnTo>
                        <a:lnTo>
                          <a:pt x="1327925" y="2843213"/>
                        </a:lnTo>
                        <a:lnTo>
                          <a:pt x="1294587" y="2843213"/>
                        </a:lnTo>
                        <a:lnTo>
                          <a:pt x="1256487" y="2881313"/>
                        </a:lnTo>
                        <a:lnTo>
                          <a:pt x="1223150" y="2914650"/>
                        </a:lnTo>
                        <a:lnTo>
                          <a:pt x="1204100" y="2933700"/>
                        </a:lnTo>
                        <a:lnTo>
                          <a:pt x="1180287" y="2957513"/>
                        </a:lnTo>
                        <a:lnTo>
                          <a:pt x="1180287" y="2976563"/>
                        </a:lnTo>
                        <a:lnTo>
                          <a:pt x="1146950" y="2976563"/>
                        </a:lnTo>
                        <a:lnTo>
                          <a:pt x="1085037" y="2976563"/>
                        </a:lnTo>
                        <a:lnTo>
                          <a:pt x="1065987" y="2995613"/>
                        </a:lnTo>
                        <a:lnTo>
                          <a:pt x="1065987" y="3024188"/>
                        </a:lnTo>
                        <a:lnTo>
                          <a:pt x="1004075" y="3024188"/>
                        </a:lnTo>
                        <a:lnTo>
                          <a:pt x="980263" y="3048000"/>
                        </a:lnTo>
                        <a:lnTo>
                          <a:pt x="951687" y="3048000"/>
                        </a:lnTo>
                        <a:lnTo>
                          <a:pt x="951687" y="3076575"/>
                        </a:lnTo>
                        <a:lnTo>
                          <a:pt x="875487" y="3076575"/>
                        </a:lnTo>
                        <a:lnTo>
                          <a:pt x="846912" y="3105150"/>
                        </a:lnTo>
                        <a:lnTo>
                          <a:pt x="827862" y="3124200"/>
                        </a:lnTo>
                        <a:lnTo>
                          <a:pt x="780237" y="3124200"/>
                        </a:lnTo>
                        <a:lnTo>
                          <a:pt x="742137" y="3124200"/>
                        </a:lnTo>
                        <a:lnTo>
                          <a:pt x="704037" y="3162300"/>
                        </a:lnTo>
                        <a:lnTo>
                          <a:pt x="670700" y="3162300"/>
                        </a:lnTo>
                        <a:lnTo>
                          <a:pt x="646887" y="3162300"/>
                        </a:lnTo>
                        <a:lnTo>
                          <a:pt x="646887" y="3209925"/>
                        </a:lnTo>
                        <a:lnTo>
                          <a:pt x="613549" y="3243263"/>
                        </a:lnTo>
                        <a:lnTo>
                          <a:pt x="546875" y="3243263"/>
                        </a:lnTo>
                        <a:lnTo>
                          <a:pt x="523063" y="3267075"/>
                        </a:lnTo>
                        <a:lnTo>
                          <a:pt x="489725" y="3300413"/>
                        </a:lnTo>
                        <a:lnTo>
                          <a:pt x="356375" y="3300413"/>
                        </a:lnTo>
                        <a:lnTo>
                          <a:pt x="308750" y="3348038"/>
                        </a:lnTo>
                        <a:lnTo>
                          <a:pt x="270650" y="3348038"/>
                        </a:lnTo>
                        <a:lnTo>
                          <a:pt x="223025" y="3348038"/>
                        </a:lnTo>
                        <a:lnTo>
                          <a:pt x="180162" y="3348038"/>
                        </a:lnTo>
                        <a:lnTo>
                          <a:pt x="127775" y="3400425"/>
                        </a:lnTo>
                        <a:lnTo>
                          <a:pt x="94437" y="3433763"/>
                        </a:lnTo>
                        <a:lnTo>
                          <a:pt x="37287" y="3433763"/>
                        </a:lnTo>
                        <a:lnTo>
                          <a:pt x="37287" y="3462338"/>
                        </a:lnTo>
                        <a:cubicBezTo>
                          <a:pt x="29350" y="3462338"/>
                          <a:pt x="-24625" y="3475832"/>
                          <a:pt x="13475" y="3462338"/>
                        </a:cubicBezTo>
                      </a:path>
                    </a:pathLst>
                  </a:custGeom>
                  <a:ln w="31750">
                    <a:solidFill>
                      <a:srgbClr val="E61E50"/>
                    </a:solidFill>
                  </a:ln>
                </p:spPr>
                <p:style>
                  <a:lnRef idx="1">
                    <a:schemeClr val="accent5"/>
                  </a:lnRef>
                  <a:fillRef idx="0">
                    <a:schemeClr val="accent5"/>
                  </a:fillRef>
                  <a:effectRef idx="0">
                    <a:schemeClr val="accent5"/>
                  </a:effectRef>
                  <a:fontRef idx="minor">
                    <a:schemeClr val="tx1"/>
                  </a:fontRef>
                </p:style>
                <p:txBody>
                  <a:bodyPr rtlCol="0" anchor="ct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405" name="Полилиния 90">
                    <a:extLst>
                      <a:ext uri="{FF2B5EF4-FFF2-40B4-BE49-F238E27FC236}">
                        <a16:creationId xmlns:a16="http://schemas.microsoft.com/office/drawing/2014/main" id="{B1C37028-3402-B794-6924-7D163E3277A7}"/>
                      </a:ext>
                    </a:extLst>
                  </p:cNvPr>
                  <p:cNvSpPr/>
                  <p:nvPr/>
                </p:nvSpPr>
                <p:spPr>
                  <a:xfrm>
                    <a:off x="4680923" y="1719263"/>
                    <a:ext cx="6472852" cy="3556353"/>
                  </a:xfrm>
                  <a:custGeom>
                    <a:avLst/>
                    <a:gdLst>
                      <a:gd name="connsiteX0" fmla="*/ 6472852 w 6472852"/>
                      <a:gd name="connsiteY0" fmla="*/ 0 h 3556353"/>
                      <a:gd name="connsiteX1" fmla="*/ 6325215 w 6472852"/>
                      <a:gd name="connsiteY1" fmla="*/ 0 h 3556353"/>
                      <a:gd name="connsiteX2" fmla="*/ 6325215 w 6472852"/>
                      <a:gd name="connsiteY2" fmla="*/ 528637 h 3556353"/>
                      <a:gd name="connsiteX3" fmla="*/ 4658340 w 6472852"/>
                      <a:gd name="connsiteY3" fmla="*/ 528637 h 3556353"/>
                      <a:gd name="connsiteX4" fmla="*/ 4658340 w 6472852"/>
                      <a:gd name="connsiteY4" fmla="*/ 814387 h 3556353"/>
                      <a:gd name="connsiteX5" fmla="*/ 4524990 w 6472852"/>
                      <a:gd name="connsiteY5" fmla="*/ 814387 h 3556353"/>
                      <a:gd name="connsiteX6" fmla="*/ 4524990 w 6472852"/>
                      <a:gd name="connsiteY6" fmla="*/ 1100137 h 3556353"/>
                      <a:gd name="connsiteX7" fmla="*/ 4229715 w 6472852"/>
                      <a:gd name="connsiteY7" fmla="*/ 1100137 h 3556353"/>
                      <a:gd name="connsiteX8" fmla="*/ 4229715 w 6472852"/>
                      <a:gd name="connsiteY8" fmla="*/ 1247775 h 3556353"/>
                      <a:gd name="connsiteX9" fmla="*/ 4182090 w 6472852"/>
                      <a:gd name="connsiteY9" fmla="*/ 1247775 h 3556353"/>
                      <a:gd name="connsiteX10" fmla="*/ 4182090 w 6472852"/>
                      <a:gd name="connsiteY10" fmla="*/ 1281112 h 3556353"/>
                      <a:gd name="connsiteX11" fmla="*/ 4120177 w 6472852"/>
                      <a:gd name="connsiteY11" fmla="*/ 1281112 h 3556353"/>
                      <a:gd name="connsiteX12" fmla="*/ 4120177 w 6472852"/>
                      <a:gd name="connsiteY12" fmla="*/ 1333500 h 3556353"/>
                      <a:gd name="connsiteX13" fmla="*/ 4053502 w 6472852"/>
                      <a:gd name="connsiteY13" fmla="*/ 1333500 h 3556353"/>
                      <a:gd name="connsiteX14" fmla="*/ 4053502 w 6472852"/>
                      <a:gd name="connsiteY14" fmla="*/ 1371600 h 3556353"/>
                      <a:gd name="connsiteX15" fmla="*/ 4024927 w 6472852"/>
                      <a:gd name="connsiteY15" fmla="*/ 1371600 h 3556353"/>
                      <a:gd name="connsiteX16" fmla="*/ 4024927 w 6472852"/>
                      <a:gd name="connsiteY16" fmla="*/ 1423987 h 3556353"/>
                      <a:gd name="connsiteX17" fmla="*/ 3977302 w 6472852"/>
                      <a:gd name="connsiteY17" fmla="*/ 1423987 h 3556353"/>
                      <a:gd name="connsiteX18" fmla="*/ 3977302 w 6472852"/>
                      <a:gd name="connsiteY18" fmla="*/ 1471612 h 3556353"/>
                      <a:gd name="connsiteX19" fmla="*/ 3920152 w 6472852"/>
                      <a:gd name="connsiteY19" fmla="*/ 1471612 h 3556353"/>
                      <a:gd name="connsiteX20" fmla="*/ 3886815 w 6472852"/>
                      <a:gd name="connsiteY20" fmla="*/ 1471612 h 3556353"/>
                      <a:gd name="connsiteX21" fmla="*/ 3867765 w 6472852"/>
                      <a:gd name="connsiteY21" fmla="*/ 1490662 h 3556353"/>
                      <a:gd name="connsiteX22" fmla="*/ 3867765 w 6472852"/>
                      <a:gd name="connsiteY22" fmla="*/ 1519237 h 3556353"/>
                      <a:gd name="connsiteX23" fmla="*/ 3839190 w 6472852"/>
                      <a:gd name="connsiteY23" fmla="*/ 1547812 h 3556353"/>
                      <a:gd name="connsiteX24" fmla="*/ 3815377 w 6472852"/>
                      <a:gd name="connsiteY24" fmla="*/ 1571625 h 3556353"/>
                      <a:gd name="connsiteX25" fmla="*/ 3777277 w 6472852"/>
                      <a:gd name="connsiteY25" fmla="*/ 1609725 h 3556353"/>
                      <a:gd name="connsiteX26" fmla="*/ 3753465 w 6472852"/>
                      <a:gd name="connsiteY26" fmla="*/ 1633537 h 3556353"/>
                      <a:gd name="connsiteX27" fmla="*/ 3696315 w 6472852"/>
                      <a:gd name="connsiteY27" fmla="*/ 1633537 h 3556353"/>
                      <a:gd name="connsiteX28" fmla="*/ 3662977 w 6472852"/>
                      <a:gd name="connsiteY28" fmla="*/ 1666875 h 3556353"/>
                      <a:gd name="connsiteX29" fmla="*/ 3662977 w 6472852"/>
                      <a:gd name="connsiteY29" fmla="*/ 1714500 h 3556353"/>
                      <a:gd name="connsiteX30" fmla="*/ 3620115 w 6472852"/>
                      <a:gd name="connsiteY30" fmla="*/ 1714500 h 3556353"/>
                      <a:gd name="connsiteX31" fmla="*/ 3577252 w 6472852"/>
                      <a:gd name="connsiteY31" fmla="*/ 1714500 h 3556353"/>
                      <a:gd name="connsiteX32" fmla="*/ 3548677 w 6472852"/>
                      <a:gd name="connsiteY32" fmla="*/ 1743075 h 3556353"/>
                      <a:gd name="connsiteX33" fmla="*/ 3510577 w 6472852"/>
                      <a:gd name="connsiteY33" fmla="*/ 1743075 h 3556353"/>
                      <a:gd name="connsiteX34" fmla="*/ 3472477 w 6472852"/>
                      <a:gd name="connsiteY34" fmla="*/ 1781175 h 3556353"/>
                      <a:gd name="connsiteX35" fmla="*/ 3439140 w 6472852"/>
                      <a:gd name="connsiteY35" fmla="*/ 1814512 h 3556353"/>
                      <a:gd name="connsiteX36" fmla="*/ 3353415 w 6472852"/>
                      <a:gd name="connsiteY36" fmla="*/ 1814512 h 3556353"/>
                      <a:gd name="connsiteX37" fmla="*/ 3305790 w 6472852"/>
                      <a:gd name="connsiteY37" fmla="*/ 1862137 h 3556353"/>
                      <a:gd name="connsiteX38" fmla="*/ 3286740 w 6472852"/>
                      <a:gd name="connsiteY38" fmla="*/ 1881187 h 3556353"/>
                      <a:gd name="connsiteX39" fmla="*/ 3258165 w 6472852"/>
                      <a:gd name="connsiteY39" fmla="*/ 1909762 h 3556353"/>
                      <a:gd name="connsiteX40" fmla="*/ 3210540 w 6472852"/>
                      <a:gd name="connsiteY40" fmla="*/ 1909762 h 3556353"/>
                      <a:gd name="connsiteX41" fmla="*/ 3181965 w 6472852"/>
                      <a:gd name="connsiteY41" fmla="*/ 1938337 h 3556353"/>
                      <a:gd name="connsiteX42" fmla="*/ 3162915 w 6472852"/>
                      <a:gd name="connsiteY42" fmla="*/ 1957387 h 3556353"/>
                      <a:gd name="connsiteX43" fmla="*/ 3120052 w 6472852"/>
                      <a:gd name="connsiteY43" fmla="*/ 1957387 h 3556353"/>
                      <a:gd name="connsiteX44" fmla="*/ 3096240 w 6472852"/>
                      <a:gd name="connsiteY44" fmla="*/ 1981199 h 3556353"/>
                      <a:gd name="connsiteX45" fmla="*/ 3081952 w 6472852"/>
                      <a:gd name="connsiteY45" fmla="*/ 1995487 h 3556353"/>
                      <a:gd name="connsiteX46" fmla="*/ 3048615 w 6472852"/>
                      <a:gd name="connsiteY46" fmla="*/ 1995487 h 3556353"/>
                      <a:gd name="connsiteX47" fmla="*/ 3010515 w 6472852"/>
                      <a:gd name="connsiteY47" fmla="*/ 2033587 h 3556353"/>
                      <a:gd name="connsiteX48" fmla="*/ 2986702 w 6472852"/>
                      <a:gd name="connsiteY48" fmla="*/ 2057400 h 3556353"/>
                      <a:gd name="connsiteX49" fmla="*/ 2948602 w 6472852"/>
                      <a:gd name="connsiteY49" fmla="*/ 2095500 h 3556353"/>
                      <a:gd name="connsiteX50" fmla="*/ 2915265 w 6472852"/>
                      <a:gd name="connsiteY50" fmla="*/ 2128837 h 3556353"/>
                      <a:gd name="connsiteX51" fmla="*/ 2891452 w 6472852"/>
                      <a:gd name="connsiteY51" fmla="*/ 2152650 h 3556353"/>
                      <a:gd name="connsiteX52" fmla="*/ 2815252 w 6472852"/>
                      <a:gd name="connsiteY52" fmla="*/ 2152650 h 3556353"/>
                      <a:gd name="connsiteX53" fmla="*/ 2781915 w 6472852"/>
                      <a:gd name="connsiteY53" fmla="*/ 2185987 h 3556353"/>
                      <a:gd name="connsiteX54" fmla="*/ 2762865 w 6472852"/>
                      <a:gd name="connsiteY54" fmla="*/ 2205037 h 3556353"/>
                      <a:gd name="connsiteX55" fmla="*/ 2734290 w 6472852"/>
                      <a:gd name="connsiteY55" fmla="*/ 2233612 h 3556353"/>
                      <a:gd name="connsiteX56" fmla="*/ 2677140 w 6472852"/>
                      <a:gd name="connsiteY56" fmla="*/ 2233612 h 3556353"/>
                      <a:gd name="connsiteX57" fmla="*/ 2643802 w 6472852"/>
                      <a:gd name="connsiteY57" fmla="*/ 2266950 h 3556353"/>
                      <a:gd name="connsiteX58" fmla="*/ 2600940 w 6472852"/>
                      <a:gd name="connsiteY58" fmla="*/ 2266950 h 3556353"/>
                      <a:gd name="connsiteX59" fmla="*/ 2577128 w 6472852"/>
                      <a:gd name="connsiteY59" fmla="*/ 2290762 h 3556353"/>
                      <a:gd name="connsiteX60" fmla="*/ 2567602 w 6472852"/>
                      <a:gd name="connsiteY60" fmla="*/ 2300288 h 3556353"/>
                      <a:gd name="connsiteX61" fmla="*/ 2567602 w 6472852"/>
                      <a:gd name="connsiteY61" fmla="*/ 2328862 h 3556353"/>
                      <a:gd name="connsiteX62" fmla="*/ 2543789 w 6472852"/>
                      <a:gd name="connsiteY62" fmla="*/ 2352675 h 3556353"/>
                      <a:gd name="connsiteX63" fmla="*/ 2505689 w 6472852"/>
                      <a:gd name="connsiteY63" fmla="*/ 2390775 h 3556353"/>
                      <a:gd name="connsiteX64" fmla="*/ 2424727 w 6472852"/>
                      <a:gd name="connsiteY64" fmla="*/ 2390775 h 3556353"/>
                      <a:gd name="connsiteX65" fmla="*/ 2381865 w 6472852"/>
                      <a:gd name="connsiteY65" fmla="*/ 2433637 h 3556353"/>
                      <a:gd name="connsiteX66" fmla="*/ 2319952 w 6472852"/>
                      <a:gd name="connsiteY66" fmla="*/ 2433637 h 3556353"/>
                      <a:gd name="connsiteX67" fmla="*/ 2248514 w 6472852"/>
                      <a:gd name="connsiteY67" fmla="*/ 2505075 h 3556353"/>
                      <a:gd name="connsiteX68" fmla="*/ 2177077 w 6472852"/>
                      <a:gd name="connsiteY68" fmla="*/ 2505075 h 3556353"/>
                      <a:gd name="connsiteX69" fmla="*/ 2162790 w 6472852"/>
                      <a:gd name="connsiteY69" fmla="*/ 2519362 h 3556353"/>
                      <a:gd name="connsiteX70" fmla="*/ 2138977 w 6472852"/>
                      <a:gd name="connsiteY70" fmla="*/ 2543175 h 3556353"/>
                      <a:gd name="connsiteX71" fmla="*/ 2081827 w 6472852"/>
                      <a:gd name="connsiteY71" fmla="*/ 2600325 h 3556353"/>
                      <a:gd name="connsiteX72" fmla="*/ 2038965 w 6472852"/>
                      <a:gd name="connsiteY72" fmla="*/ 2643187 h 3556353"/>
                      <a:gd name="connsiteX73" fmla="*/ 1981815 w 6472852"/>
                      <a:gd name="connsiteY73" fmla="*/ 2643187 h 3556353"/>
                      <a:gd name="connsiteX74" fmla="*/ 1929427 w 6472852"/>
                      <a:gd name="connsiteY74" fmla="*/ 2695575 h 3556353"/>
                      <a:gd name="connsiteX75" fmla="*/ 1877040 w 6472852"/>
                      <a:gd name="connsiteY75" fmla="*/ 2695575 h 3556353"/>
                      <a:gd name="connsiteX76" fmla="*/ 1877040 w 6472852"/>
                      <a:gd name="connsiteY76" fmla="*/ 2738437 h 3556353"/>
                      <a:gd name="connsiteX77" fmla="*/ 1834177 w 6472852"/>
                      <a:gd name="connsiteY77" fmla="*/ 2738437 h 3556353"/>
                      <a:gd name="connsiteX78" fmla="*/ 1696065 w 6472852"/>
                      <a:gd name="connsiteY78" fmla="*/ 2738437 h 3556353"/>
                      <a:gd name="connsiteX79" fmla="*/ 1662727 w 6472852"/>
                      <a:gd name="connsiteY79" fmla="*/ 2738437 h 3556353"/>
                      <a:gd name="connsiteX80" fmla="*/ 1662727 w 6472852"/>
                      <a:gd name="connsiteY80" fmla="*/ 2771775 h 3556353"/>
                      <a:gd name="connsiteX81" fmla="*/ 1643677 w 6472852"/>
                      <a:gd name="connsiteY81" fmla="*/ 2790825 h 3556353"/>
                      <a:gd name="connsiteX82" fmla="*/ 1615102 w 6472852"/>
                      <a:gd name="connsiteY82" fmla="*/ 2819400 h 3556353"/>
                      <a:gd name="connsiteX83" fmla="*/ 1586527 w 6472852"/>
                      <a:gd name="connsiteY83" fmla="*/ 2819400 h 3556353"/>
                      <a:gd name="connsiteX84" fmla="*/ 1524615 w 6472852"/>
                      <a:gd name="connsiteY84" fmla="*/ 2819400 h 3556353"/>
                      <a:gd name="connsiteX85" fmla="*/ 1491278 w 6472852"/>
                      <a:gd name="connsiteY85" fmla="*/ 2852737 h 3556353"/>
                      <a:gd name="connsiteX86" fmla="*/ 1429365 w 6472852"/>
                      <a:gd name="connsiteY86" fmla="*/ 2852737 h 3556353"/>
                      <a:gd name="connsiteX87" fmla="*/ 1415077 w 6472852"/>
                      <a:gd name="connsiteY87" fmla="*/ 2867025 h 3556353"/>
                      <a:gd name="connsiteX88" fmla="*/ 1376977 w 6472852"/>
                      <a:gd name="connsiteY88" fmla="*/ 2905125 h 3556353"/>
                      <a:gd name="connsiteX89" fmla="*/ 1343640 w 6472852"/>
                      <a:gd name="connsiteY89" fmla="*/ 2938462 h 3556353"/>
                      <a:gd name="connsiteX90" fmla="*/ 1276965 w 6472852"/>
                      <a:gd name="connsiteY90" fmla="*/ 2938462 h 3556353"/>
                      <a:gd name="connsiteX91" fmla="*/ 1248390 w 6472852"/>
                      <a:gd name="connsiteY91" fmla="*/ 2967037 h 3556353"/>
                      <a:gd name="connsiteX92" fmla="*/ 1186477 w 6472852"/>
                      <a:gd name="connsiteY92" fmla="*/ 2967037 h 3556353"/>
                      <a:gd name="connsiteX93" fmla="*/ 1162665 w 6472852"/>
                      <a:gd name="connsiteY93" fmla="*/ 2990849 h 3556353"/>
                      <a:gd name="connsiteX94" fmla="*/ 1148377 w 6472852"/>
                      <a:gd name="connsiteY94" fmla="*/ 3005137 h 3556353"/>
                      <a:gd name="connsiteX95" fmla="*/ 1124564 w 6472852"/>
                      <a:gd name="connsiteY95" fmla="*/ 3028950 h 3556353"/>
                      <a:gd name="connsiteX96" fmla="*/ 1057890 w 6472852"/>
                      <a:gd name="connsiteY96" fmla="*/ 3028950 h 3556353"/>
                      <a:gd name="connsiteX97" fmla="*/ 1057890 w 6472852"/>
                      <a:gd name="connsiteY97" fmla="*/ 3090862 h 3556353"/>
                      <a:gd name="connsiteX98" fmla="*/ 1000740 w 6472852"/>
                      <a:gd name="connsiteY98" fmla="*/ 3090862 h 3556353"/>
                      <a:gd name="connsiteX99" fmla="*/ 972165 w 6472852"/>
                      <a:gd name="connsiteY99" fmla="*/ 3119437 h 3556353"/>
                      <a:gd name="connsiteX100" fmla="*/ 938827 w 6472852"/>
                      <a:gd name="connsiteY100" fmla="*/ 3119437 h 3556353"/>
                      <a:gd name="connsiteX101" fmla="*/ 938827 w 6472852"/>
                      <a:gd name="connsiteY101" fmla="*/ 3171825 h 3556353"/>
                      <a:gd name="connsiteX102" fmla="*/ 876915 w 6472852"/>
                      <a:gd name="connsiteY102" fmla="*/ 3171825 h 3556353"/>
                      <a:gd name="connsiteX103" fmla="*/ 843578 w 6472852"/>
                      <a:gd name="connsiteY103" fmla="*/ 3205162 h 3556353"/>
                      <a:gd name="connsiteX104" fmla="*/ 781665 w 6472852"/>
                      <a:gd name="connsiteY104" fmla="*/ 3205162 h 3556353"/>
                      <a:gd name="connsiteX105" fmla="*/ 734040 w 6472852"/>
                      <a:gd name="connsiteY105" fmla="*/ 3205162 h 3556353"/>
                      <a:gd name="connsiteX106" fmla="*/ 734040 w 6472852"/>
                      <a:gd name="connsiteY106" fmla="*/ 3257550 h 3556353"/>
                      <a:gd name="connsiteX107" fmla="*/ 653077 w 6472852"/>
                      <a:gd name="connsiteY107" fmla="*/ 3257550 h 3556353"/>
                      <a:gd name="connsiteX108" fmla="*/ 619740 w 6472852"/>
                      <a:gd name="connsiteY108" fmla="*/ 3257550 h 3556353"/>
                      <a:gd name="connsiteX109" fmla="*/ 619740 w 6472852"/>
                      <a:gd name="connsiteY109" fmla="*/ 3295650 h 3556353"/>
                      <a:gd name="connsiteX110" fmla="*/ 557827 w 6472852"/>
                      <a:gd name="connsiteY110" fmla="*/ 3295650 h 3556353"/>
                      <a:gd name="connsiteX111" fmla="*/ 534015 w 6472852"/>
                      <a:gd name="connsiteY111" fmla="*/ 3319462 h 3556353"/>
                      <a:gd name="connsiteX112" fmla="*/ 467340 w 6472852"/>
                      <a:gd name="connsiteY112" fmla="*/ 3319462 h 3556353"/>
                      <a:gd name="connsiteX113" fmla="*/ 443527 w 6472852"/>
                      <a:gd name="connsiteY113" fmla="*/ 3343275 h 3556353"/>
                      <a:gd name="connsiteX114" fmla="*/ 405427 w 6472852"/>
                      <a:gd name="connsiteY114" fmla="*/ 3381375 h 3556353"/>
                      <a:gd name="connsiteX115" fmla="*/ 338752 w 6472852"/>
                      <a:gd name="connsiteY115" fmla="*/ 3381375 h 3556353"/>
                      <a:gd name="connsiteX116" fmla="*/ 291127 w 6472852"/>
                      <a:gd name="connsiteY116" fmla="*/ 3429000 h 3556353"/>
                      <a:gd name="connsiteX117" fmla="*/ 257790 w 6472852"/>
                      <a:gd name="connsiteY117" fmla="*/ 3462337 h 3556353"/>
                      <a:gd name="connsiteX118" fmla="*/ 157777 w 6472852"/>
                      <a:gd name="connsiteY118" fmla="*/ 3462337 h 3556353"/>
                      <a:gd name="connsiteX119" fmla="*/ 157777 w 6472852"/>
                      <a:gd name="connsiteY119" fmla="*/ 3490912 h 3556353"/>
                      <a:gd name="connsiteX120" fmla="*/ 119677 w 6472852"/>
                      <a:gd name="connsiteY120" fmla="*/ 3490912 h 3556353"/>
                      <a:gd name="connsiteX121" fmla="*/ 86339 w 6472852"/>
                      <a:gd name="connsiteY121" fmla="*/ 3524250 h 3556353"/>
                      <a:gd name="connsiteX122" fmla="*/ 57764 w 6472852"/>
                      <a:gd name="connsiteY122" fmla="*/ 3552825 h 3556353"/>
                      <a:gd name="connsiteX123" fmla="*/ 615 w 6472852"/>
                      <a:gd name="connsiteY123" fmla="*/ 3552825 h 355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472852" h="3556353">
                        <a:moveTo>
                          <a:pt x="6472852" y="0"/>
                        </a:moveTo>
                        <a:lnTo>
                          <a:pt x="6325215" y="0"/>
                        </a:lnTo>
                        <a:lnTo>
                          <a:pt x="6325215" y="528637"/>
                        </a:lnTo>
                        <a:lnTo>
                          <a:pt x="4658340" y="528637"/>
                        </a:lnTo>
                        <a:lnTo>
                          <a:pt x="4658340" y="814387"/>
                        </a:lnTo>
                        <a:lnTo>
                          <a:pt x="4524990" y="814387"/>
                        </a:lnTo>
                        <a:lnTo>
                          <a:pt x="4524990" y="1100137"/>
                        </a:lnTo>
                        <a:lnTo>
                          <a:pt x="4229715" y="1100137"/>
                        </a:lnTo>
                        <a:lnTo>
                          <a:pt x="4229715" y="1247775"/>
                        </a:lnTo>
                        <a:lnTo>
                          <a:pt x="4182090" y="1247775"/>
                        </a:lnTo>
                        <a:lnTo>
                          <a:pt x="4182090" y="1281112"/>
                        </a:lnTo>
                        <a:lnTo>
                          <a:pt x="4120177" y="1281112"/>
                        </a:lnTo>
                        <a:lnTo>
                          <a:pt x="4120177" y="1333500"/>
                        </a:lnTo>
                        <a:lnTo>
                          <a:pt x="4053502" y="1333500"/>
                        </a:lnTo>
                        <a:lnTo>
                          <a:pt x="4053502" y="1371600"/>
                        </a:lnTo>
                        <a:lnTo>
                          <a:pt x="4024927" y="1371600"/>
                        </a:lnTo>
                        <a:lnTo>
                          <a:pt x="4024927" y="1423987"/>
                        </a:lnTo>
                        <a:lnTo>
                          <a:pt x="3977302" y="1423987"/>
                        </a:lnTo>
                        <a:lnTo>
                          <a:pt x="3977302" y="1471612"/>
                        </a:lnTo>
                        <a:lnTo>
                          <a:pt x="3920152" y="1471612"/>
                        </a:lnTo>
                        <a:lnTo>
                          <a:pt x="3886815" y="1471612"/>
                        </a:lnTo>
                        <a:lnTo>
                          <a:pt x="3867765" y="1490662"/>
                        </a:lnTo>
                        <a:lnTo>
                          <a:pt x="3867765" y="1519237"/>
                        </a:lnTo>
                        <a:lnTo>
                          <a:pt x="3839190" y="1547812"/>
                        </a:lnTo>
                        <a:lnTo>
                          <a:pt x="3815377" y="1571625"/>
                        </a:lnTo>
                        <a:lnTo>
                          <a:pt x="3777277" y="1609725"/>
                        </a:lnTo>
                        <a:lnTo>
                          <a:pt x="3753465" y="1633537"/>
                        </a:lnTo>
                        <a:lnTo>
                          <a:pt x="3696315" y="1633537"/>
                        </a:lnTo>
                        <a:lnTo>
                          <a:pt x="3662977" y="1666875"/>
                        </a:lnTo>
                        <a:lnTo>
                          <a:pt x="3662977" y="1714500"/>
                        </a:lnTo>
                        <a:lnTo>
                          <a:pt x="3620115" y="1714500"/>
                        </a:lnTo>
                        <a:lnTo>
                          <a:pt x="3577252" y="1714500"/>
                        </a:lnTo>
                        <a:lnTo>
                          <a:pt x="3548677" y="1743075"/>
                        </a:lnTo>
                        <a:lnTo>
                          <a:pt x="3510577" y="1743075"/>
                        </a:lnTo>
                        <a:lnTo>
                          <a:pt x="3472477" y="1781175"/>
                        </a:lnTo>
                        <a:lnTo>
                          <a:pt x="3439140" y="1814512"/>
                        </a:lnTo>
                        <a:lnTo>
                          <a:pt x="3353415" y="1814512"/>
                        </a:lnTo>
                        <a:lnTo>
                          <a:pt x="3305790" y="1862137"/>
                        </a:lnTo>
                        <a:lnTo>
                          <a:pt x="3286740" y="1881187"/>
                        </a:lnTo>
                        <a:lnTo>
                          <a:pt x="3258165" y="1909762"/>
                        </a:lnTo>
                        <a:lnTo>
                          <a:pt x="3210540" y="1909762"/>
                        </a:lnTo>
                        <a:lnTo>
                          <a:pt x="3181965" y="1938337"/>
                        </a:lnTo>
                        <a:lnTo>
                          <a:pt x="3162915" y="1957387"/>
                        </a:lnTo>
                        <a:lnTo>
                          <a:pt x="3120052" y="1957387"/>
                        </a:lnTo>
                        <a:lnTo>
                          <a:pt x="3096240" y="1981199"/>
                        </a:lnTo>
                        <a:lnTo>
                          <a:pt x="3081952" y="1995487"/>
                        </a:lnTo>
                        <a:lnTo>
                          <a:pt x="3048615" y="1995487"/>
                        </a:lnTo>
                        <a:lnTo>
                          <a:pt x="3010515" y="2033587"/>
                        </a:lnTo>
                        <a:lnTo>
                          <a:pt x="2986702" y="2057400"/>
                        </a:lnTo>
                        <a:lnTo>
                          <a:pt x="2948602" y="2095500"/>
                        </a:lnTo>
                        <a:lnTo>
                          <a:pt x="2915265" y="2128837"/>
                        </a:lnTo>
                        <a:lnTo>
                          <a:pt x="2891452" y="2152650"/>
                        </a:lnTo>
                        <a:lnTo>
                          <a:pt x="2815252" y="2152650"/>
                        </a:lnTo>
                        <a:lnTo>
                          <a:pt x="2781915" y="2185987"/>
                        </a:lnTo>
                        <a:lnTo>
                          <a:pt x="2762865" y="2205037"/>
                        </a:lnTo>
                        <a:lnTo>
                          <a:pt x="2734290" y="2233612"/>
                        </a:lnTo>
                        <a:lnTo>
                          <a:pt x="2677140" y="2233612"/>
                        </a:lnTo>
                        <a:lnTo>
                          <a:pt x="2643802" y="2266950"/>
                        </a:lnTo>
                        <a:lnTo>
                          <a:pt x="2600940" y="2266950"/>
                        </a:lnTo>
                        <a:lnTo>
                          <a:pt x="2577128" y="2290762"/>
                        </a:lnTo>
                        <a:lnTo>
                          <a:pt x="2567602" y="2300288"/>
                        </a:lnTo>
                        <a:lnTo>
                          <a:pt x="2567602" y="2328862"/>
                        </a:lnTo>
                        <a:lnTo>
                          <a:pt x="2543789" y="2352675"/>
                        </a:lnTo>
                        <a:lnTo>
                          <a:pt x="2505689" y="2390775"/>
                        </a:lnTo>
                        <a:lnTo>
                          <a:pt x="2424727" y="2390775"/>
                        </a:lnTo>
                        <a:lnTo>
                          <a:pt x="2381865" y="2433637"/>
                        </a:lnTo>
                        <a:lnTo>
                          <a:pt x="2319952" y="2433637"/>
                        </a:lnTo>
                        <a:lnTo>
                          <a:pt x="2248514" y="2505075"/>
                        </a:lnTo>
                        <a:lnTo>
                          <a:pt x="2177077" y="2505075"/>
                        </a:lnTo>
                        <a:lnTo>
                          <a:pt x="2162790" y="2519362"/>
                        </a:lnTo>
                        <a:lnTo>
                          <a:pt x="2138977" y="2543175"/>
                        </a:lnTo>
                        <a:lnTo>
                          <a:pt x="2081827" y="2600325"/>
                        </a:lnTo>
                        <a:lnTo>
                          <a:pt x="2038965" y="2643187"/>
                        </a:lnTo>
                        <a:lnTo>
                          <a:pt x="1981815" y="2643187"/>
                        </a:lnTo>
                        <a:cubicBezTo>
                          <a:pt x="1964352" y="2660650"/>
                          <a:pt x="1946096" y="2686844"/>
                          <a:pt x="1929427" y="2695575"/>
                        </a:cubicBezTo>
                        <a:lnTo>
                          <a:pt x="1877040" y="2695575"/>
                        </a:lnTo>
                        <a:lnTo>
                          <a:pt x="1877040" y="2738437"/>
                        </a:lnTo>
                        <a:lnTo>
                          <a:pt x="1834177" y="2738437"/>
                        </a:lnTo>
                        <a:lnTo>
                          <a:pt x="1696065" y="2738437"/>
                        </a:lnTo>
                        <a:lnTo>
                          <a:pt x="1662727" y="2738437"/>
                        </a:lnTo>
                        <a:lnTo>
                          <a:pt x="1662727" y="2771775"/>
                        </a:lnTo>
                        <a:lnTo>
                          <a:pt x="1643677" y="2790825"/>
                        </a:lnTo>
                        <a:lnTo>
                          <a:pt x="1615102" y="2819400"/>
                        </a:lnTo>
                        <a:lnTo>
                          <a:pt x="1586527" y="2819400"/>
                        </a:lnTo>
                        <a:lnTo>
                          <a:pt x="1524615" y="2819400"/>
                        </a:lnTo>
                        <a:lnTo>
                          <a:pt x="1491278" y="2852737"/>
                        </a:lnTo>
                        <a:lnTo>
                          <a:pt x="1429365" y="2852737"/>
                        </a:lnTo>
                        <a:lnTo>
                          <a:pt x="1415077" y="2867025"/>
                        </a:lnTo>
                        <a:lnTo>
                          <a:pt x="1376977" y="2905125"/>
                        </a:lnTo>
                        <a:lnTo>
                          <a:pt x="1343640" y="2938462"/>
                        </a:lnTo>
                        <a:lnTo>
                          <a:pt x="1276965" y="2938462"/>
                        </a:lnTo>
                        <a:lnTo>
                          <a:pt x="1248390" y="2967037"/>
                        </a:lnTo>
                        <a:lnTo>
                          <a:pt x="1186477" y="2967037"/>
                        </a:lnTo>
                        <a:lnTo>
                          <a:pt x="1162665" y="2990849"/>
                        </a:lnTo>
                        <a:lnTo>
                          <a:pt x="1148377" y="3005137"/>
                        </a:lnTo>
                        <a:lnTo>
                          <a:pt x="1124564" y="3028950"/>
                        </a:lnTo>
                        <a:lnTo>
                          <a:pt x="1057890" y="3028950"/>
                        </a:lnTo>
                        <a:lnTo>
                          <a:pt x="1057890" y="3090862"/>
                        </a:lnTo>
                        <a:lnTo>
                          <a:pt x="1000740" y="3090862"/>
                        </a:lnTo>
                        <a:lnTo>
                          <a:pt x="972165" y="3119437"/>
                        </a:lnTo>
                        <a:cubicBezTo>
                          <a:pt x="961052" y="3119437"/>
                          <a:pt x="944383" y="3110706"/>
                          <a:pt x="938827" y="3119437"/>
                        </a:cubicBezTo>
                        <a:lnTo>
                          <a:pt x="938827" y="3171825"/>
                        </a:lnTo>
                        <a:lnTo>
                          <a:pt x="876915" y="3171825"/>
                        </a:lnTo>
                        <a:lnTo>
                          <a:pt x="843578" y="3205162"/>
                        </a:lnTo>
                        <a:lnTo>
                          <a:pt x="781665" y="3205162"/>
                        </a:lnTo>
                        <a:lnTo>
                          <a:pt x="734040" y="3205162"/>
                        </a:lnTo>
                        <a:lnTo>
                          <a:pt x="734040" y="3257550"/>
                        </a:lnTo>
                        <a:lnTo>
                          <a:pt x="653077" y="3257550"/>
                        </a:lnTo>
                        <a:lnTo>
                          <a:pt x="619740" y="3257550"/>
                        </a:lnTo>
                        <a:lnTo>
                          <a:pt x="619740" y="3295650"/>
                        </a:lnTo>
                        <a:lnTo>
                          <a:pt x="557827" y="3295650"/>
                        </a:lnTo>
                        <a:lnTo>
                          <a:pt x="534015" y="3319462"/>
                        </a:lnTo>
                        <a:lnTo>
                          <a:pt x="467340" y="3319462"/>
                        </a:lnTo>
                        <a:lnTo>
                          <a:pt x="443527" y="3343275"/>
                        </a:lnTo>
                        <a:lnTo>
                          <a:pt x="405427" y="3381375"/>
                        </a:lnTo>
                        <a:lnTo>
                          <a:pt x="338752" y="3381375"/>
                        </a:lnTo>
                        <a:lnTo>
                          <a:pt x="291127" y="3429000"/>
                        </a:lnTo>
                        <a:lnTo>
                          <a:pt x="257790" y="3462337"/>
                        </a:lnTo>
                        <a:lnTo>
                          <a:pt x="157777" y="3462337"/>
                        </a:lnTo>
                        <a:lnTo>
                          <a:pt x="157777" y="3490912"/>
                        </a:lnTo>
                        <a:lnTo>
                          <a:pt x="119677" y="3490912"/>
                        </a:lnTo>
                        <a:lnTo>
                          <a:pt x="86339" y="3524250"/>
                        </a:lnTo>
                        <a:lnTo>
                          <a:pt x="57764" y="3552825"/>
                        </a:lnTo>
                        <a:cubicBezTo>
                          <a:pt x="38714" y="3552825"/>
                          <a:pt x="-5735" y="3560763"/>
                          <a:pt x="615" y="3552825"/>
                        </a:cubicBezTo>
                      </a:path>
                    </a:pathLst>
                  </a:custGeom>
                  <a:ln w="31750">
                    <a:solidFill>
                      <a:srgbClr val="A5CD50"/>
                    </a:solidFill>
                  </a:ln>
                </p:spPr>
                <p:style>
                  <a:lnRef idx="1">
                    <a:schemeClr val="accent5"/>
                  </a:lnRef>
                  <a:fillRef idx="0">
                    <a:schemeClr val="accent5"/>
                  </a:fillRef>
                  <a:effectRef idx="0">
                    <a:schemeClr val="accent5"/>
                  </a:effectRef>
                  <a:fontRef idx="minor">
                    <a:schemeClr val="tx1"/>
                  </a:fontRef>
                </p:style>
                <p:txBody>
                  <a:bodyPr rtlCol="0" anchor="ct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5" name="Группа 14">
                  <a:extLst>
                    <a:ext uri="{FF2B5EF4-FFF2-40B4-BE49-F238E27FC236}">
                      <a16:creationId xmlns:a16="http://schemas.microsoft.com/office/drawing/2014/main" id="{37BD7F02-E86E-4355-17A5-8A35A6442494}"/>
                    </a:ext>
                  </a:extLst>
                </p:cNvPr>
                <p:cNvGrpSpPr/>
                <p:nvPr/>
              </p:nvGrpSpPr>
              <p:grpSpPr>
                <a:xfrm>
                  <a:off x="4693921" y="2248081"/>
                  <a:ext cx="3014007" cy="616175"/>
                  <a:chOff x="4693921" y="2248081"/>
                  <a:chExt cx="3014007" cy="616175"/>
                </a:xfrm>
              </p:grpSpPr>
              <p:sp>
                <p:nvSpPr>
                  <p:cNvPr id="187401" name="TextBox 5">
                    <a:extLst>
                      <a:ext uri="{FF2B5EF4-FFF2-40B4-BE49-F238E27FC236}">
                        <a16:creationId xmlns:a16="http://schemas.microsoft.com/office/drawing/2014/main" id="{3F388754-523B-8E1C-F03B-D09BB5A107F2}"/>
                      </a:ext>
                    </a:extLst>
                  </p:cNvPr>
                  <p:cNvSpPr txBox="1"/>
                  <p:nvPr/>
                </p:nvSpPr>
                <p:spPr>
                  <a:xfrm>
                    <a:off x="5208261" y="2248081"/>
                    <a:ext cx="2499667" cy="616175"/>
                  </a:xfrm>
                  <a:prstGeom prst="rect">
                    <a:avLst/>
                  </a:prstGeom>
                  <a:noFill/>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Утренний прием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Вечерний прием</a:t>
                    </a:r>
                  </a:p>
                </p:txBody>
              </p:sp>
              <p:cxnSp>
                <p:nvCxnSpPr>
                  <p:cNvPr id="187402" name="Прямая соединительная линия 187401">
                    <a:extLst>
                      <a:ext uri="{FF2B5EF4-FFF2-40B4-BE49-F238E27FC236}">
                        <a16:creationId xmlns:a16="http://schemas.microsoft.com/office/drawing/2014/main" id="{586F0672-66FD-01C5-1231-EE87B30E0202}"/>
                      </a:ext>
                    </a:extLst>
                  </p:cNvPr>
                  <p:cNvCxnSpPr/>
                  <p:nvPr/>
                </p:nvCxnSpPr>
                <p:spPr>
                  <a:xfrm>
                    <a:off x="4693921" y="2395538"/>
                    <a:ext cx="430529" cy="0"/>
                  </a:xfrm>
                  <a:prstGeom prst="line">
                    <a:avLst/>
                  </a:prstGeom>
                  <a:ln w="31750">
                    <a:solidFill>
                      <a:srgbClr val="E61E50"/>
                    </a:solidFill>
                  </a:ln>
                </p:spPr>
                <p:style>
                  <a:lnRef idx="1">
                    <a:schemeClr val="accent5"/>
                  </a:lnRef>
                  <a:fillRef idx="0">
                    <a:schemeClr val="accent5"/>
                  </a:fillRef>
                  <a:effectRef idx="0">
                    <a:schemeClr val="accent5"/>
                  </a:effectRef>
                  <a:fontRef idx="minor">
                    <a:schemeClr val="tx1"/>
                  </a:fontRef>
                </p:style>
              </p:cxnSp>
              <p:cxnSp>
                <p:nvCxnSpPr>
                  <p:cNvPr id="187403" name="Прямая соединительная линия 187402">
                    <a:extLst>
                      <a:ext uri="{FF2B5EF4-FFF2-40B4-BE49-F238E27FC236}">
                        <a16:creationId xmlns:a16="http://schemas.microsoft.com/office/drawing/2014/main" id="{D114C723-D8A6-CAD5-839F-79E3626736A2}"/>
                      </a:ext>
                    </a:extLst>
                  </p:cNvPr>
                  <p:cNvCxnSpPr/>
                  <p:nvPr/>
                </p:nvCxnSpPr>
                <p:spPr>
                  <a:xfrm>
                    <a:off x="4693921" y="2628901"/>
                    <a:ext cx="430529" cy="0"/>
                  </a:xfrm>
                  <a:prstGeom prst="line">
                    <a:avLst/>
                  </a:prstGeom>
                  <a:ln w="31750">
                    <a:solidFill>
                      <a:srgbClr val="A5CD50"/>
                    </a:solidFill>
                  </a:ln>
                </p:spPr>
                <p:style>
                  <a:lnRef idx="1">
                    <a:schemeClr val="accent5"/>
                  </a:lnRef>
                  <a:fillRef idx="0">
                    <a:schemeClr val="accent5"/>
                  </a:fillRef>
                  <a:effectRef idx="0">
                    <a:schemeClr val="accent5"/>
                  </a:effectRef>
                  <a:fontRef idx="minor">
                    <a:schemeClr val="tx1"/>
                  </a:fontRef>
                </p:style>
              </p:cxnSp>
            </p:grpSp>
            <p:grpSp>
              <p:nvGrpSpPr>
                <p:cNvPr id="16" name="Группа 15">
                  <a:extLst>
                    <a:ext uri="{FF2B5EF4-FFF2-40B4-BE49-F238E27FC236}">
                      <a16:creationId xmlns:a16="http://schemas.microsoft.com/office/drawing/2014/main" id="{888B8A7F-1364-804E-EF13-EAEA56575E8E}"/>
                    </a:ext>
                  </a:extLst>
                </p:cNvPr>
                <p:cNvGrpSpPr/>
                <p:nvPr/>
              </p:nvGrpSpPr>
              <p:grpSpPr>
                <a:xfrm>
                  <a:off x="4294575" y="2066937"/>
                  <a:ext cx="7417998" cy="3412966"/>
                  <a:chOff x="4294575" y="2066937"/>
                  <a:chExt cx="7417998" cy="3412966"/>
                </a:xfrm>
              </p:grpSpPr>
              <p:grpSp>
                <p:nvGrpSpPr>
                  <p:cNvPr id="17" name="Группа 16">
                    <a:extLst>
                      <a:ext uri="{FF2B5EF4-FFF2-40B4-BE49-F238E27FC236}">
                        <a16:creationId xmlns:a16="http://schemas.microsoft.com/office/drawing/2014/main" id="{C7F570FF-137F-66E2-B443-8DC07F5CEBD0}"/>
                      </a:ext>
                    </a:extLst>
                  </p:cNvPr>
                  <p:cNvGrpSpPr/>
                  <p:nvPr/>
                </p:nvGrpSpPr>
                <p:grpSpPr>
                  <a:xfrm>
                    <a:off x="4393890" y="2066937"/>
                    <a:ext cx="7318683" cy="3332541"/>
                    <a:chOff x="4393890" y="2066937"/>
                    <a:chExt cx="7318683" cy="3332541"/>
                  </a:xfrm>
                </p:grpSpPr>
                <p:sp>
                  <p:nvSpPr>
                    <p:cNvPr id="187399" name="Line 16">
                      <a:extLst>
                        <a:ext uri="{FF2B5EF4-FFF2-40B4-BE49-F238E27FC236}">
                          <a16:creationId xmlns:a16="http://schemas.microsoft.com/office/drawing/2014/main" id="{1D551534-9240-C616-528E-200712DE7DC6}"/>
                        </a:ext>
                      </a:extLst>
                    </p:cNvPr>
                    <p:cNvSpPr>
                      <a:spLocks noChangeShapeType="1"/>
                    </p:cNvSpPr>
                    <p:nvPr/>
                  </p:nvSpPr>
                  <p:spPr bwMode="auto">
                    <a:xfrm flipH="1" flipV="1">
                      <a:off x="4393890" y="5399478"/>
                      <a:ext cx="7318683"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400" name="Line 16">
                      <a:extLst>
                        <a:ext uri="{FF2B5EF4-FFF2-40B4-BE49-F238E27FC236}">
                          <a16:creationId xmlns:a16="http://schemas.microsoft.com/office/drawing/2014/main" id="{2C3538A8-C221-5F04-C3FD-7A39A347B065}"/>
                        </a:ext>
                      </a:extLst>
                    </p:cNvPr>
                    <p:cNvSpPr>
                      <a:spLocks noChangeShapeType="1"/>
                    </p:cNvSpPr>
                    <p:nvPr/>
                  </p:nvSpPr>
                  <p:spPr bwMode="auto">
                    <a:xfrm flipH="1">
                      <a:off x="4398795" y="2066937"/>
                      <a:ext cx="16136" cy="3331685"/>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8" name="Группа 17">
                    <a:extLst>
                      <a:ext uri="{FF2B5EF4-FFF2-40B4-BE49-F238E27FC236}">
                        <a16:creationId xmlns:a16="http://schemas.microsoft.com/office/drawing/2014/main" id="{F47CE0B8-AE8A-DE17-3042-86F05EA5E704}"/>
                      </a:ext>
                    </a:extLst>
                  </p:cNvPr>
                  <p:cNvGrpSpPr/>
                  <p:nvPr/>
                </p:nvGrpSpPr>
                <p:grpSpPr>
                  <a:xfrm>
                    <a:off x="4294575" y="2066939"/>
                    <a:ext cx="120327" cy="3190837"/>
                    <a:chOff x="4243432" y="2066939"/>
                    <a:chExt cx="170421" cy="3190837"/>
                  </a:xfrm>
                </p:grpSpPr>
                <p:sp>
                  <p:nvSpPr>
                    <p:cNvPr id="31" name="Line 49">
                      <a:extLst>
                        <a:ext uri="{FF2B5EF4-FFF2-40B4-BE49-F238E27FC236}">
                          <a16:creationId xmlns:a16="http://schemas.microsoft.com/office/drawing/2014/main" id="{9695CA0B-C699-1420-2B2E-CC48E18A3218}"/>
                        </a:ext>
                      </a:extLst>
                    </p:cNvPr>
                    <p:cNvSpPr>
                      <a:spLocks noChangeShapeType="1"/>
                    </p:cNvSpPr>
                    <p:nvPr/>
                  </p:nvSpPr>
                  <p:spPr bwMode="auto">
                    <a:xfrm>
                      <a:off x="4243432" y="5257776"/>
                      <a:ext cx="147572"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2" name="Line 49">
                      <a:extLst>
                        <a:ext uri="{FF2B5EF4-FFF2-40B4-BE49-F238E27FC236}">
                          <a16:creationId xmlns:a16="http://schemas.microsoft.com/office/drawing/2014/main" id="{083565BB-9386-A56A-0936-0C4050A56E34}"/>
                        </a:ext>
                      </a:extLst>
                    </p:cNvPr>
                    <p:cNvSpPr>
                      <a:spLocks noChangeShapeType="1"/>
                    </p:cNvSpPr>
                    <p:nvPr/>
                  </p:nvSpPr>
                  <p:spPr bwMode="auto">
                    <a:xfrm>
                      <a:off x="4243432" y="4725969"/>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3" name="Line 49">
                      <a:extLst>
                        <a:ext uri="{FF2B5EF4-FFF2-40B4-BE49-F238E27FC236}">
                          <a16:creationId xmlns:a16="http://schemas.microsoft.com/office/drawing/2014/main" id="{EB046857-8AE8-77B7-3EA0-22E79C5FA4C8}"/>
                        </a:ext>
                      </a:extLst>
                    </p:cNvPr>
                    <p:cNvSpPr>
                      <a:spLocks noChangeShapeType="1"/>
                    </p:cNvSpPr>
                    <p:nvPr/>
                  </p:nvSpPr>
                  <p:spPr bwMode="auto">
                    <a:xfrm>
                      <a:off x="4243432" y="4194163"/>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5" name="Line 49">
                      <a:extLst>
                        <a:ext uri="{FF2B5EF4-FFF2-40B4-BE49-F238E27FC236}">
                          <a16:creationId xmlns:a16="http://schemas.microsoft.com/office/drawing/2014/main" id="{76798925-148C-4DDB-D255-023669BBB843}"/>
                        </a:ext>
                      </a:extLst>
                    </p:cNvPr>
                    <p:cNvSpPr>
                      <a:spLocks noChangeShapeType="1"/>
                    </p:cNvSpPr>
                    <p:nvPr/>
                  </p:nvSpPr>
                  <p:spPr bwMode="auto">
                    <a:xfrm>
                      <a:off x="4243432" y="3130551"/>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6" name="Line 49">
                      <a:extLst>
                        <a:ext uri="{FF2B5EF4-FFF2-40B4-BE49-F238E27FC236}">
                          <a16:creationId xmlns:a16="http://schemas.microsoft.com/office/drawing/2014/main" id="{57D764A7-DF10-C87C-EA21-DC2D362CB8AA}"/>
                        </a:ext>
                      </a:extLst>
                    </p:cNvPr>
                    <p:cNvSpPr>
                      <a:spLocks noChangeShapeType="1"/>
                    </p:cNvSpPr>
                    <p:nvPr/>
                  </p:nvSpPr>
                  <p:spPr bwMode="auto">
                    <a:xfrm>
                      <a:off x="4243439" y="2066939"/>
                      <a:ext cx="17041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7" name="Line 49">
                      <a:extLst>
                        <a:ext uri="{FF2B5EF4-FFF2-40B4-BE49-F238E27FC236}">
                          <a16:creationId xmlns:a16="http://schemas.microsoft.com/office/drawing/2014/main" id="{698AFEE8-2B7C-F3E4-D345-4920E462149D}"/>
                        </a:ext>
                      </a:extLst>
                    </p:cNvPr>
                    <p:cNvSpPr>
                      <a:spLocks noChangeShapeType="1"/>
                    </p:cNvSpPr>
                    <p:nvPr/>
                  </p:nvSpPr>
                  <p:spPr bwMode="auto">
                    <a:xfrm>
                      <a:off x="4243432" y="2598745"/>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187398" name="Line 49">
                      <a:extLst>
                        <a:ext uri="{FF2B5EF4-FFF2-40B4-BE49-F238E27FC236}">
                          <a16:creationId xmlns:a16="http://schemas.microsoft.com/office/drawing/2014/main" id="{8F349F63-3E07-F06F-7244-E79DBCF5FCA4}"/>
                        </a:ext>
                      </a:extLst>
                    </p:cNvPr>
                    <p:cNvSpPr>
                      <a:spLocks noChangeShapeType="1"/>
                    </p:cNvSpPr>
                    <p:nvPr/>
                  </p:nvSpPr>
                  <p:spPr bwMode="auto">
                    <a:xfrm>
                      <a:off x="4243432" y="3662357"/>
                      <a:ext cx="158634"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nvGrpSpPr>
                  <p:cNvPr id="19" name="Группа 18">
                    <a:extLst>
                      <a:ext uri="{FF2B5EF4-FFF2-40B4-BE49-F238E27FC236}">
                        <a16:creationId xmlns:a16="http://schemas.microsoft.com/office/drawing/2014/main" id="{9AF3A352-7380-D050-5E6C-4DF2A1045C55}"/>
                      </a:ext>
                    </a:extLst>
                  </p:cNvPr>
                  <p:cNvGrpSpPr/>
                  <p:nvPr/>
                </p:nvGrpSpPr>
                <p:grpSpPr>
                  <a:xfrm>
                    <a:off x="4693922" y="5405152"/>
                    <a:ext cx="7013743" cy="74751"/>
                    <a:chOff x="4693922" y="5911880"/>
                    <a:chExt cx="7013743" cy="112006"/>
                  </a:xfrm>
                </p:grpSpPr>
                <p:sp>
                  <p:nvSpPr>
                    <p:cNvPr id="20" name="Line 49">
                      <a:extLst>
                        <a:ext uri="{FF2B5EF4-FFF2-40B4-BE49-F238E27FC236}">
                          <a16:creationId xmlns:a16="http://schemas.microsoft.com/office/drawing/2014/main" id="{F20EC0BF-A05A-4142-A66B-823CF6928604}"/>
                        </a:ext>
                      </a:extLst>
                    </p:cNvPr>
                    <p:cNvSpPr>
                      <a:spLocks noChangeShapeType="1"/>
                    </p:cNvSpPr>
                    <p:nvPr/>
                  </p:nvSpPr>
                  <p:spPr bwMode="auto">
                    <a:xfrm rot="16200000">
                      <a:off x="8846163"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1" name="Line 49">
                      <a:extLst>
                        <a:ext uri="{FF2B5EF4-FFF2-40B4-BE49-F238E27FC236}">
                          <a16:creationId xmlns:a16="http://schemas.microsoft.com/office/drawing/2014/main" id="{0EAEE75B-5710-6F60-0370-F81ED16E35E1}"/>
                        </a:ext>
                      </a:extLst>
                    </p:cNvPr>
                    <p:cNvSpPr>
                      <a:spLocks noChangeShapeType="1"/>
                    </p:cNvSpPr>
                    <p:nvPr/>
                  </p:nvSpPr>
                  <p:spPr bwMode="auto">
                    <a:xfrm rot="16200000">
                      <a:off x="8144789"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2" name="Line 49">
                      <a:extLst>
                        <a:ext uri="{FF2B5EF4-FFF2-40B4-BE49-F238E27FC236}">
                          <a16:creationId xmlns:a16="http://schemas.microsoft.com/office/drawing/2014/main" id="{1951060A-7508-28CC-0E81-31F119AB8AC7}"/>
                        </a:ext>
                      </a:extLst>
                    </p:cNvPr>
                    <p:cNvSpPr>
                      <a:spLocks noChangeShapeType="1"/>
                    </p:cNvSpPr>
                    <p:nvPr/>
                  </p:nvSpPr>
                  <p:spPr bwMode="auto">
                    <a:xfrm rot="16200000">
                      <a:off x="7443415"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3" name="Line 49">
                      <a:extLst>
                        <a:ext uri="{FF2B5EF4-FFF2-40B4-BE49-F238E27FC236}">
                          <a16:creationId xmlns:a16="http://schemas.microsoft.com/office/drawing/2014/main" id="{BAFFA254-505F-C79C-8B54-6CB7B076B41C}"/>
                        </a:ext>
                      </a:extLst>
                    </p:cNvPr>
                    <p:cNvSpPr>
                      <a:spLocks noChangeShapeType="1"/>
                    </p:cNvSpPr>
                    <p:nvPr/>
                  </p:nvSpPr>
                  <p:spPr bwMode="auto">
                    <a:xfrm rot="16200000">
                      <a:off x="6040667"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4" name="Line 49">
                      <a:extLst>
                        <a:ext uri="{FF2B5EF4-FFF2-40B4-BE49-F238E27FC236}">
                          <a16:creationId xmlns:a16="http://schemas.microsoft.com/office/drawing/2014/main" id="{A0F8DD41-DD06-9E6D-A9F2-A65E35AE4F55}"/>
                        </a:ext>
                      </a:extLst>
                    </p:cNvPr>
                    <p:cNvSpPr>
                      <a:spLocks noChangeShapeType="1"/>
                    </p:cNvSpPr>
                    <p:nvPr/>
                  </p:nvSpPr>
                  <p:spPr bwMode="auto">
                    <a:xfrm rot="16200000">
                      <a:off x="4637919" y="5967883"/>
                      <a:ext cx="112005"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5" name="Line 49">
                      <a:extLst>
                        <a:ext uri="{FF2B5EF4-FFF2-40B4-BE49-F238E27FC236}">
                          <a16:creationId xmlns:a16="http://schemas.microsoft.com/office/drawing/2014/main" id="{B24B067F-711D-B25D-977D-62EF8FC2DAD7}"/>
                        </a:ext>
                      </a:extLst>
                    </p:cNvPr>
                    <p:cNvSpPr>
                      <a:spLocks noChangeShapeType="1"/>
                    </p:cNvSpPr>
                    <p:nvPr/>
                  </p:nvSpPr>
                  <p:spPr bwMode="auto">
                    <a:xfrm rot="16200000">
                      <a:off x="5339293"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6" name="Line 49">
                      <a:extLst>
                        <a:ext uri="{FF2B5EF4-FFF2-40B4-BE49-F238E27FC236}">
                          <a16:creationId xmlns:a16="http://schemas.microsoft.com/office/drawing/2014/main" id="{E8BB0092-A954-0442-ADC4-BACB5FDFF1B5}"/>
                        </a:ext>
                      </a:extLst>
                    </p:cNvPr>
                    <p:cNvSpPr>
                      <a:spLocks noChangeShapeType="1"/>
                    </p:cNvSpPr>
                    <p:nvPr/>
                  </p:nvSpPr>
                  <p:spPr bwMode="auto">
                    <a:xfrm rot="16200000">
                      <a:off x="6742041"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7" name="Line 49">
                      <a:extLst>
                        <a:ext uri="{FF2B5EF4-FFF2-40B4-BE49-F238E27FC236}">
                          <a16:creationId xmlns:a16="http://schemas.microsoft.com/office/drawing/2014/main" id="{7D7640E2-DC80-E255-8E0B-E1D1BC93859A}"/>
                        </a:ext>
                      </a:extLst>
                    </p:cNvPr>
                    <p:cNvSpPr>
                      <a:spLocks noChangeShapeType="1"/>
                    </p:cNvSpPr>
                    <p:nvPr/>
                  </p:nvSpPr>
                  <p:spPr bwMode="auto">
                    <a:xfrm rot="16200000">
                      <a:off x="9547537"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8" name="Line 49">
                      <a:extLst>
                        <a:ext uri="{FF2B5EF4-FFF2-40B4-BE49-F238E27FC236}">
                          <a16:creationId xmlns:a16="http://schemas.microsoft.com/office/drawing/2014/main" id="{906C9CDB-4650-F0A1-85D1-AD29FE9844F3}"/>
                        </a:ext>
                      </a:extLst>
                    </p:cNvPr>
                    <p:cNvSpPr>
                      <a:spLocks noChangeShapeType="1"/>
                    </p:cNvSpPr>
                    <p:nvPr/>
                  </p:nvSpPr>
                  <p:spPr bwMode="auto">
                    <a:xfrm rot="16200000">
                      <a:off x="10248911"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29" name="Line 49">
                      <a:extLst>
                        <a:ext uri="{FF2B5EF4-FFF2-40B4-BE49-F238E27FC236}">
                          <a16:creationId xmlns:a16="http://schemas.microsoft.com/office/drawing/2014/main" id="{D0A0DFF6-F285-8D54-A51B-2652C272EB9F}"/>
                        </a:ext>
                      </a:extLst>
                    </p:cNvPr>
                    <p:cNvSpPr>
                      <a:spLocks noChangeShapeType="1"/>
                    </p:cNvSpPr>
                    <p:nvPr/>
                  </p:nvSpPr>
                  <p:spPr bwMode="auto">
                    <a:xfrm rot="16200000">
                      <a:off x="11651662"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0" name="Line 49">
                      <a:extLst>
                        <a:ext uri="{FF2B5EF4-FFF2-40B4-BE49-F238E27FC236}">
                          <a16:creationId xmlns:a16="http://schemas.microsoft.com/office/drawing/2014/main" id="{102568D8-E13B-5258-2B4F-499313B6C20E}"/>
                        </a:ext>
                      </a:extLst>
                    </p:cNvPr>
                    <p:cNvSpPr>
                      <a:spLocks noChangeShapeType="1"/>
                    </p:cNvSpPr>
                    <p:nvPr/>
                  </p:nvSpPr>
                  <p:spPr bwMode="auto">
                    <a:xfrm rot="16200000">
                      <a:off x="10950285" y="5967883"/>
                      <a:ext cx="112006" cy="0"/>
                    </a:xfrm>
                    <a:prstGeom prst="line">
                      <a:avLst/>
                    </a:prstGeom>
                    <a:noFill/>
                    <a:ln w="12700">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265374"/>
                        </a:solidFill>
                        <a:effectLst/>
                        <a:uLnTx/>
                        <a:uFillTx/>
                        <a:latin typeface="Verdana" panose="020B0604030504040204" pitchFamily="34" charset="0"/>
                        <a:ea typeface="Verdana" panose="020B0604030504040204" pitchFamily="34" charset="0"/>
                        <a:cs typeface="+mn-cs"/>
                      </a:endParaRPr>
                    </a:p>
                  </p:txBody>
                </p:sp>
              </p:grpSp>
            </p:grpSp>
          </p:grpSp>
        </p:grpSp>
        <p:sp>
          <p:nvSpPr>
            <p:cNvPr id="187425" name="TextBox 187424">
              <a:extLst>
                <a:ext uri="{FF2B5EF4-FFF2-40B4-BE49-F238E27FC236}">
                  <a16:creationId xmlns:a16="http://schemas.microsoft.com/office/drawing/2014/main" id="{646F63F8-525E-9454-117B-9360A4CBD826}"/>
                </a:ext>
              </a:extLst>
            </p:cNvPr>
            <p:cNvSpPr txBox="1"/>
            <p:nvPr/>
          </p:nvSpPr>
          <p:spPr>
            <a:xfrm>
              <a:off x="4763981" y="4721228"/>
              <a:ext cx="693468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0"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Период наблюдения (годы)</a:t>
              </a:r>
            </a:p>
          </p:txBody>
        </p:sp>
      </p:grpSp>
      <p:sp>
        <p:nvSpPr>
          <p:cNvPr id="3" name="Объект 19">
            <a:extLst>
              <a:ext uri="{FF2B5EF4-FFF2-40B4-BE49-F238E27FC236}">
                <a16:creationId xmlns:a16="http://schemas.microsoft.com/office/drawing/2014/main" id="{4B7D009A-2A55-406C-627F-7723B8EC6337}"/>
              </a:ext>
            </a:extLst>
          </p:cNvPr>
          <p:cNvSpPr txBox="1">
            <a:spLocks/>
          </p:cNvSpPr>
          <p:nvPr/>
        </p:nvSpPr>
        <p:spPr>
          <a:xfrm>
            <a:off x="958891" y="6131365"/>
            <a:ext cx="8048419" cy="45773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300"/>
              </a:spcBef>
              <a:buFontTx/>
              <a:buNone/>
              <a:defRPr sz="800" kern="1200">
                <a:solidFill>
                  <a:schemeClr val="tx2"/>
                </a:solidFill>
                <a:latin typeface="Calibri" panose="020F0502020204030204" pitchFamily="34" charset="0"/>
                <a:ea typeface="+mn-ea"/>
                <a:cs typeface="Calibri" panose="020F0502020204030204" pitchFamily="34" charset="0"/>
              </a:defRPr>
            </a:lvl1pPr>
            <a:lvl2pPr marL="457200" indent="0" algn="l" defTabSz="914400" rtl="0" eaLnBrk="1" latinLnBrk="0" hangingPunct="1">
              <a:lnSpc>
                <a:spcPct val="110000"/>
              </a:lnSpc>
              <a:spcBef>
                <a:spcPts val="800"/>
              </a:spcBef>
              <a:buFontTx/>
              <a:buNone/>
              <a:defRPr sz="1600" kern="1200">
                <a:solidFill>
                  <a:schemeClr val="tx2"/>
                </a:solidFill>
                <a:latin typeface="Calibri" panose="020F0502020204030204" pitchFamily="34" charset="0"/>
                <a:ea typeface="+mn-ea"/>
                <a:cs typeface="Calibri" panose="020F0502020204030204" pitchFamily="34" charset="0"/>
              </a:defRPr>
            </a:lvl2pPr>
            <a:lvl3pPr marL="914400" indent="0" algn="l" defTabSz="914400" rtl="0" eaLnBrk="1" latinLnBrk="0" hangingPunct="1">
              <a:lnSpc>
                <a:spcPct val="110000"/>
              </a:lnSpc>
              <a:spcBef>
                <a:spcPts val="800"/>
              </a:spcBef>
              <a:buFontTx/>
              <a:buNone/>
              <a:defRPr sz="1400" kern="1200">
                <a:solidFill>
                  <a:schemeClr val="tx2"/>
                </a:solidFill>
                <a:latin typeface="Calibri" panose="020F0502020204030204" pitchFamily="34" charset="0"/>
                <a:ea typeface="+mn-ea"/>
                <a:cs typeface="Calibri" panose="020F0502020204030204" pitchFamily="34" charset="0"/>
              </a:defRPr>
            </a:lvl3pPr>
            <a:lvl4pPr marL="13716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4pPr>
            <a:lvl5pPr marL="1828800" indent="0" algn="l" defTabSz="914400" rtl="0" eaLnBrk="1" latinLnBrk="0" hangingPunct="1">
              <a:lnSpc>
                <a:spcPct val="110000"/>
              </a:lnSpc>
              <a:spcBef>
                <a:spcPts val="800"/>
              </a:spcBef>
              <a:buFontTx/>
              <a:buNone/>
              <a:defRPr sz="1200" kern="1200">
                <a:solidFill>
                  <a:schemeClr val="tx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АГ</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артериальная гипертензия,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ДИ </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доверительный интервал,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ОР</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отношение рисков, </a:t>
            </a:r>
            <a:r>
              <a:rPr kumimoji="0" lang="ru-RU" sz="800" b="1"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ССО</a:t>
            </a: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 сердечно-сосудистые осложнения</a:t>
            </a:r>
            <a:endPar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ru-RU"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  </a:t>
            </a:r>
            <a:endParaRPr kumimoji="0" lang="en-US" sz="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endParaRPr>
          </a:p>
        </p:txBody>
      </p:sp>
      <p:sp>
        <p:nvSpPr>
          <p:cNvPr id="187432" name="Заголовок 3">
            <a:extLst>
              <a:ext uri="{FF2B5EF4-FFF2-40B4-BE49-F238E27FC236}">
                <a16:creationId xmlns:a16="http://schemas.microsoft.com/office/drawing/2014/main" id="{0925287D-89E9-7DEF-913E-D787535D5077}"/>
              </a:ext>
            </a:extLst>
          </p:cNvPr>
          <p:cNvSpPr txBox="1">
            <a:spLocks/>
          </p:cNvSpPr>
          <p:nvPr/>
        </p:nvSpPr>
        <p:spPr>
          <a:xfrm>
            <a:off x="911225" y="497766"/>
            <a:ext cx="10909300" cy="783083"/>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3409950" algn="l"/>
              </a:tabLst>
              <a:defRPr sz="2300" b="1" kern="1200">
                <a:solidFill>
                  <a:srgbClr val="265374"/>
                </a:solidFill>
                <a:latin typeface="Verdana"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3409950" algn="l"/>
              </a:tabLst>
              <a:defRPr/>
            </a:pPr>
            <a:r>
              <a:rPr kumimoji="0" lang="ru-RU"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j-cs"/>
              </a:rPr>
              <a:t>Исследование TIME: кумулятивные кривые Каплана-Мейера риска ССО в зависимости от режима лечения АГ</a:t>
            </a:r>
          </a:p>
        </p:txBody>
      </p:sp>
      <p:sp>
        <p:nvSpPr>
          <p:cNvPr id="68" name="TextBox 67">
            <a:extLst>
              <a:ext uri="{FF2B5EF4-FFF2-40B4-BE49-F238E27FC236}">
                <a16:creationId xmlns:a16="http://schemas.microsoft.com/office/drawing/2014/main" id="{E5102BE5-30D7-4D1A-BB61-4E069B31ED88}"/>
              </a:ext>
            </a:extLst>
          </p:cNvPr>
          <p:cNvSpPr txBox="1"/>
          <p:nvPr/>
        </p:nvSpPr>
        <p:spPr>
          <a:xfrm>
            <a:off x="403761" y="6497999"/>
            <a:ext cx="9958060" cy="285555"/>
          </a:xfrm>
          <a:prstGeom prst="rect">
            <a:avLst/>
          </a:prstGeom>
          <a:noFill/>
        </p:spPr>
        <p:txBody>
          <a:bodyPr wrap="square" anchor="b">
            <a:noAutofit/>
          </a:bodyPr>
          <a:lstStyle/>
          <a:p>
            <a:pPr marL="36000" marR="0" lvl="0" indent="-36000" algn="l" defTabSz="914400" rtl="0" eaLnBrk="1" fontAlgn="auto" latinLnBrk="0" hangingPunct="1">
              <a:lnSpc>
                <a:spcPct val="100000"/>
              </a:lnSpc>
              <a:spcBef>
                <a:spcPts val="0"/>
              </a:spcBef>
              <a:spcAft>
                <a:spcPts val="0"/>
              </a:spcAft>
              <a:buClrTx/>
              <a:buSzTx/>
              <a:buFontTx/>
              <a:buAutoNum type="arabicPeriod"/>
              <a:tabLst/>
              <a:defRPr/>
            </a:pP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Mackenzie IS, at al; TIME Study Group.Lancet. 2022 </a:t>
            </a:r>
            <a:r>
              <a:rPr kumimoji="0" lang="da-DK" sz="700" b="0" i="0" u="none" strike="noStrike" kern="120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Oct</a:t>
            </a: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22;400(10361):1417-1425. </a:t>
            </a:r>
            <a:r>
              <a:rPr kumimoji="0" lang="da-DK" sz="700" b="0" i="0" u="none" strike="noStrike" kern="120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doi</a:t>
            </a:r>
            <a:r>
              <a:rPr kumimoji="0" lang="da-DK" sz="700" b="0" i="0" u="none" strike="noStrike" kern="120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10.1016/S0140-6736(22)01786-X..</a:t>
            </a:r>
          </a:p>
        </p:txBody>
      </p:sp>
    </p:spTree>
    <p:extLst>
      <p:ext uri="{BB962C8B-B14F-4D97-AF65-F5344CB8AC3E}">
        <p14:creationId xmlns:p14="http://schemas.microsoft.com/office/powerpoint/2010/main" val="24260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8073-D680-E7F4-2A96-AAB981427774}"/>
            </a:ext>
          </a:extLst>
        </p:cNvPr>
        <p:cNvGrpSpPr/>
        <p:nvPr/>
      </p:nvGrpSpPr>
      <p:grpSpPr>
        <a:xfrm>
          <a:off x="0" y="0"/>
          <a:ext cx="0" cy="0"/>
          <a:chOff x="0" y="0"/>
          <a:chExt cx="0" cy="0"/>
        </a:xfrm>
      </p:grpSpPr>
      <p:sp>
        <p:nvSpPr>
          <p:cNvPr id="37" name="Title 1">
            <a:extLst>
              <a:ext uri="{FF2B5EF4-FFF2-40B4-BE49-F238E27FC236}">
                <a16:creationId xmlns:a16="http://schemas.microsoft.com/office/drawing/2014/main" id="{4E97C670-2D0A-19CA-7B3E-27D405837D41}"/>
              </a:ext>
            </a:extLst>
          </p:cNvPr>
          <p:cNvSpPr txBox="1">
            <a:spLocks/>
          </p:cNvSpPr>
          <p:nvPr/>
        </p:nvSpPr>
        <p:spPr>
          <a:xfrm>
            <a:off x="384694" y="294468"/>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Крупные РКИ 2018–2025 опровергают тезис о преимуществе вечернего приёма антигипертензивных препаратов</a:t>
            </a:r>
            <a:r>
              <a:rPr kumimoji="0" lang="en-US" sz="2800" b="1" i="0" u="none" strike="noStrike" kern="1200" cap="none" spc="0" normalizeH="0" baseline="30000" noProof="0" dirty="0">
                <a:ln>
                  <a:noFill/>
                </a:ln>
                <a:solidFill>
                  <a:srgbClr val="2B3A42"/>
                </a:solidFill>
                <a:effectLst/>
                <a:uLnTx/>
                <a:uFillTx/>
                <a:latin typeface="Arial" panose="020B0604020202020204"/>
                <a:ea typeface="+mj-ea"/>
                <a:cs typeface="+mj-cs"/>
              </a:rPr>
              <a:t>1-6</a:t>
            </a:r>
          </a:p>
        </p:txBody>
      </p:sp>
      <p:cxnSp>
        <p:nvCxnSpPr>
          <p:cNvPr id="38" name="Straight Connector 37">
            <a:extLst>
              <a:ext uri="{FF2B5EF4-FFF2-40B4-BE49-F238E27FC236}">
                <a16:creationId xmlns:a16="http://schemas.microsoft.com/office/drawing/2014/main" id="{B1BBFB19-6697-E239-8FF0-597F6980D66C}"/>
              </a:ext>
            </a:extLst>
          </p:cNvPr>
          <p:cNvCxnSpPr>
            <a:cxnSpLocks/>
          </p:cNvCxnSpPr>
          <p:nvPr/>
        </p:nvCxnSpPr>
        <p:spPr>
          <a:xfrm>
            <a:off x="501537" y="1103767"/>
            <a:ext cx="3458398" cy="0"/>
          </a:xfrm>
          <a:prstGeom prst="line">
            <a:avLst/>
          </a:prstGeom>
          <a:noFill/>
          <a:ln w="76200" cap="rnd" cmpd="sng" algn="ctr">
            <a:solidFill>
              <a:srgbClr val="00BFB3"/>
            </a:solidFill>
            <a:prstDash val="solid"/>
            <a:miter lim="800000"/>
          </a:ln>
          <a:effectLst/>
        </p:spPr>
      </p:cxnSp>
      <p:grpSp>
        <p:nvGrpSpPr>
          <p:cNvPr id="40" name="Group 39">
            <a:extLst>
              <a:ext uri="{FF2B5EF4-FFF2-40B4-BE49-F238E27FC236}">
                <a16:creationId xmlns:a16="http://schemas.microsoft.com/office/drawing/2014/main" id="{50302287-8E6F-86D0-D5F7-D740632ABAEF}"/>
              </a:ext>
            </a:extLst>
          </p:cNvPr>
          <p:cNvGrpSpPr/>
          <p:nvPr/>
        </p:nvGrpSpPr>
        <p:grpSpPr>
          <a:xfrm>
            <a:off x="501538" y="1657777"/>
            <a:ext cx="3458396" cy="164665"/>
            <a:chOff x="586326" y="2778901"/>
            <a:chExt cx="11029759" cy="317051"/>
          </a:xfrm>
        </p:grpSpPr>
        <p:sp>
          <p:nvSpPr>
            <p:cNvPr id="41" name="Isosceles Triangle 7">
              <a:extLst>
                <a:ext uri="{FF2B5EF4-FFF2-40B4-BE49-F238E27FC236}">
                  <a16:creationId xmlns:a16="http://schemas.microsoft.com/office/drawing/2014/main" id="{998F39F5-E0DD-EB3F-2DC6-C77268E65908}"/>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8BE57F41-41B6-D187-B127-FBD91BBDED37}"/>
                </a:ext>
              </a:extLst>
            </p:cNvPr>
            <p:cNvCxnSpPr>
              <a:cxnSpLocks/>
              <a:endCxn id="41"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43" name="Straight Connector 42">
              <a:extLst>
                <a:ext uri="{FF2B5EF4-FFF2-40B4-BE49-F238E27FC236}">
                  <a16:creationId xmlns:a16="http://schemas.microsoft.com/office/drawing/2014/main" id="{6F6FBF1E-29E5-83BF-F448-200A3296F8F5}"/>
                </a:ext>
              </a:extLst>
            </p:cNvPr>
            <p:cNvCxnSpPr>
              <a:cxnSpLocks/>
              <a:stCxn id="41" idx="0"/>
            </p:cNvCxnSpPr>
            <p:nvPr/>
          </p:nvCxnSpPr>
          <p:spPr>
            <a:xfrm flipV="1">
              <a:off x="6804465" y="2789926"/>
              <a:ext cx="4811620" cy="6928"/>
            </a:xfrm>
            <a:prstGeom prst="line">
              <a:avLst/>
            </a:prstGeom>
            <a:noFill/>
            <a:ln w="38100" cap="rnd" cmpd="sng" algn="ctr">
              <a:solidFill>
                <a:srgbClr val="959CA0"/>
              </a:solidFill>
              <a:prstDash val="solid"/>
              <a:miter lim="800000"/>
            </a:ln>
            <a:effectLst/>
          </p:spPr>
        </p:cxnSp>
      </p:grpSp>
      <p:cxnSp>
        <p:nvCxnSpPr>
          <p:cNvPr id="45" name="Straight Connector 44">
            <a:extLst>
              <a:ext uri="{FF2B5EF4-FFF2-40B4-BE49-F238E27FC236}">
                <a16:creationId xmlns:a16="http://schemas.microsoft.com/office/drawing/2014/main" id="{C6D2681D-687A-E082-52AD-2F1A767276B4}"/>
              </a:ext>
            </a:extLst>
          </p:cNvPr>
          <p:cNvCxnSpPr>
            <a:cxnSpLocks/>
          </p:cNvCxnSpPr>
          <p:nvPr/>
        </p:nvCxnSpPr>
        <p:spPr>
          <a:xfrm>
            <a:off x="496936" y="3773942"/>
            <a:ext cx="11111637" cy="0"/>
          </a:xfrm>
          <a:prstGeom prst="line">
            <a:avLst/>
          </a:prstGeom>
          <a:noFill/>
          <a:ln w="76200" cap="rnd" cmpd="sng" algn="ctr">
            <a:solidFill>
              <a:srgbClr val="00BFB3"/>
            </a:solidFill>
            <a:prstDash val="solid"/>
            <a:miter lim="800000"/>
          </a:ln>
          <a:effectLst/>
        </p:spPr>
      </p:cxnSp>
      <p:sp>
        <p:nvSpPr>
          <p:cNvPr id="48" name="Isosceles Triangle 7">
            <a:extLst>
              <a:ext uri="{FF2B5EF4-FFF2-40B4-BE49-F238E27FC236}">
                <a16:creationId xmlns:a16="http://schemas.microsoft.com/office/drawing/2014/main" id="{8B864B04-31B0-3E87-6B92-133E52E0D563}"/>
              </a:ext>
            </a:extLst>
          </p:cNvPr>
          <p:cNvSpPr/>
          <p:nvPr/>
        </p:nvSpPr>
        <p:spPr>
          <a:xfrm rot="10800000">
            <a:off x="1961796" y="3903398"/>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50" name="Isosceles Triangle 7">
            <a:extLst>
              <a:ext uri="{FF2B5EF4-FFF2-40B4-BE49-F238E27FC236}">
                <a16:creationId xmlns:a16="http://schemas.microsoft.com/office/drawing/2014/main" id="{A1D8780E-E1AE-619F-B4CF-3365A455D7C1}"/>
              </a:ext>
            </a:extLst>
          </p:cNvPr>
          <p:cNvSpPr/>
          <p:nvPr/>
        </p:nvSpPr>
        <p:spPr>
          <a:xfrm rot="10800000">
            <a:off x="5786116" y="3903397"/>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56" name="Isosceles Triangle 7">
            <a:extLst>
              <a:ext uri="{FF2B5EF4-FFF2-40B4-BE49-F238E27FC236}">
                <a16:creationId xmlns:a16="http://schemas.microsoft.com/office/drawing/2014/main" id="{DA70432E-90D2-28E8-6852-17EF0DCD6D97}"/>
              </a:ext>
            </a:extLst>
          </p:cNvPr>
          <p:cNvSpPr/>
          <p:nvPr/>
        </p:nvSpPr>
        <p:spPr>
          <a:xfrm rot="10800000">
            <a:off x="9610435" y="3922479"/>
            <a:ext cx="537881" cy="184289"/>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76200" cap="rnd" cmpd="sng" algn="ctr">
            <a:solidFill>
              <a:srgbClr val="00BFB3"/>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57" name="Straight Connector 56">
            <a:extLst>
              <a:ext uri="{FF2B5EF4-FFF2-40B4-BE49-F238E27FC236}">
                <a16:creationId xmlns:a16="http://schemas.microsoft.com/office/drawing/2014/main" id="{3B78DE94-AE95-1596-7FDB-CC79F5572B9B}"/>
              </a:ext>
            </a:extLst>
          </p:cNvPr>
          <p:cNvCxnSpPr>
            <a:cxnSpLocks/>
          </p:cNvCxnSpPr>
          <p:nvPr/>
        </p:nvCxnSpPr>
        <p:spPr>
          <a:xfrm>
            <a:off x="4325857" y="1103767"/>
            <a:ext cx="3458398" cy="0"/>
          </a:xfrm>
          <a:prstGeom prst="line">
            <a:avLst/>
          </a:prstGeom>
          <a:noFill/>
          <a:ln w="76200" cap="rnd" cmpd="sng" algn="ctr">
            <a:solidFill>
              <a:srgbClr val="00BFB3"/>
            </a:solidFill>
            <a:prstDash val="solid"/>
            <a:miter lim="800000"/>
          </a:ln>
          <a:effectLst/>
        </p:spPr>
      </p:cxnSp>
      <p:sp>
        <p:nvSpPr>
          <p:cNvPr id="58" name="TextBox 57">
            <a:extLst>
              <a:ext uri="{FF2B5EF4-FFF2-40B4-BE49-F238E27FC236}">
                <a16:creationId xmlns:a16="http://schemas.microsoft.com/office/drawing/2014/main" id="{5B8CCD63-4FB3-4742-B647-C66F0BD5ADF3}"/>
              </a:ext>
            </a:extLst>
          </p:cNvPr>
          <p:cNvSpPr txBox="1"/>
          <p:nvPr/>
        </p:nvSpPr>
        <p:spPr>
          <a:xfrm>
            <a:off x="497427"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BFB3"/>
                </a:solidFill>
                <a:effectLst/>
                <a:uLnTx/>
                <a:uFillTx/>
                <a:latin typeface="Arial" panose="020B0604020202020204"/>
                <a:ea typeface="+mn-ea"/>
                <a:cs typeface="+mn-cs"/>
              </a:rPr>
              <a:t>HARMONY, 2018</a:t>
            </a:r>
            <a:r>
              <a:rPr kumimoji="0" lang="en-US" sz="1800" b="1" i="0" u="none" strike="noStrike" kern="1200" cap="none" spc="0" normalizeH="0" baseline="30000" noProof="0" dirty="0">
                <a:ln>
                  <a:noFill/>
                </a:ln>
                <a:solidFill>
                  <a:srgbClr val="00BFB3"/>
                </a:solidFill>
                <a:effectLst/>
                <a:uLnTx/>
                <a:uFillTx/>
                <a:latin typeface="Arial" panose="020B0604020202020204"/>
                <a:ea typeface="+mn-ea"/>
                <a:cs typeface="+mn-cs"/>
              </a:rPr>
              <a:t>3</a:t>
            </a:r>
          </a:p>
        </p:txBody>
      </p:sp>
      <p:grpSp>
        <p:nvGrpSpPr>
          <p:cNvPr id="59" name="Group 58">
            <a:extLst>
              <a:ext uri="{FF2B5EF4-FFF2-40B4-BE49-F238E27FC236}">
                <a16:creationId xmlns:a16="http://schemas.microsoft.com/office/drawing/2014/main" id="{F5BE1956-8EFE-220B-978B-920CE0ED89E6}"/>
              </a:ext>
            </a:extLst>
          </p:cNvPr>
          <p:cNvGrpSpPr/>
          <p:nvPr/>
        </p:nvGrpSpPr>
        <p:grpSpPr>
          <a:xfrm>
            <a:off x="4325858" y="1657777"/>
            <a:ext cx="3458396" cy="164665"/>
            <a:chOff x="586326" y="2778901"/>
            <a:chExt cx="11029759" cy="317051"/>
          </a:xfrm>
        </p:grpSpPr>
        <p:sp>
          <p:nvSpPr>
            <p:cNvPr id="60" name="Isosceles Triangle 7">
              <a:extLst>
                <a:ext uri="{FF2B5EF4-FFF2-40B4-BE49-F238E27FC236}">
                  <a16:creationId xmlns:a16="http://schemas.microsoft.com/office/drawing/2014/main" id="{23B5B32C-37D6-C44D-041A-52FD37B3F2AD}"/>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61" name="Straight Connector 60">
              <a:extLst>
                <a:ext uri="{FF2B5EF4-FFF2-40B4-BE49-F238E27FC236}">
                  <a16:creationId xmlns:a16="http://schemas.microsoft.com/office/drawing/2014/main" id="{5E6157DE-E4AA-07AE-AD08-2206DDD6B556}"/>
                </a:ext>
              </a:extLst>
            </p:cNvPr>
            <p:cNvCxnSpPr>
              <a:cxnSpLocks/>
              <a:endCxn id="60"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62" name="Straight Connector 61">
              <a:extLst>
                <a:ext uri="{FF2B5EF4-FFF2-40B4-BE49-F238E27FC236}">
                  <a16:creationId xmlns:a16="http://schemas.microsoft.com/office/drawing/2014/main" id="{8498E859-E316-FB8B-9CBA-C8A52E78D6A7}"/>
                </a:ext>
              </a:extLst>
            </p:cNvPr>
            <p:cNvCxnSpPr>
              <a:cxnSpLocks/>
              <a:stCxn id="60" idx="0"/>
            </p:cNvCxnSpPr>
            <p:nvPr/>
          </p:nvCxnSpPr>
          <p:spPr>
            <a:xfrm flipV="1">
              <a:off x="6804465" y="2789926"/>
              <a:ext cx="4811620" cy="6928"/>
            </a:xfrm>
            <a:prstGeom prst="line">
              <a:avLst/>
            </a:prstGeom>
            <a:noFill/>
            <a:ln w="38100" cap="rnd" cmpd="sng" algn="ctr">
              <a:solidFill>
                <a:srgbClr val="959CA0"/>
              </a:solidFill>
              <a:prstDash val="solid"/>
              <a:miter lim="800000"/>
            </a:ln>
            <a:effectLst/>
          </p:spPr>
        </p:cxnSp>
      </p:grpSp>
      <p:cxnSp>
        <p:nvCxnSpPr>
          <p:cNvPr id="64" name="Straight Connector 63">
            <a:extLst>
              <a:ext uri="{FF2B5EF4-FFF2-40B4-BE49-F238E27FC236}">
                <a16:creationId xmlns:a16="http://schemas.microsoft.com/office/drawing/2014/main" id="{F1B9B0F7-8D6D-5A1E-C41D-D8778983ECF4}"/>
              </a:ext>
            </a:extLst>
          </p:cNvPr>
          <p:cNvCxnSpPr>
            <a:cxnSpLocks/>
          </p:cNvCxnSpPr>
          <p:nvPr/>
        </p:nvCxnSpPr>
        <p:spPr>
          <a:xfrm>
            <a:off x="8150176" y="1103767"/>
            <a:ext cx="3458398" cy="0"/>
          </a:xfrm>
          <a:prstGeom prst="line">
            <a:avLst/>
          </a:prstGeom>
          <a:noFill/>
          <a:ln w="76200" cap="rnd" cmpd="sng" algn="ctr">
            <a:solidFill>
              <a:srgbClr val="00BFB3"/>
            </a:solidFill>
            <a:prstDash val="solid"/>
            <a:miter lim="800000"/>
          </a:ln>
          <a:effectLst/>
        </p:spPr>
      </p:cxnSp>
      <p:grpSp>
        <p:nvGrpSpPr>
          <p:cNvPr id="66" name="Group 65">
            <a:extLst>
              <a:ext uri="{FF2B5EF4-FFF2-40B4-BE49-F238E27FC236}">
                <a16:creationId xmlns:a16="http://schemas.microsoft.com/office/drawing/2014/main" id="{AF9C53E6-90CB-507C-FEB7-BEC08C065750}"/>
              </a:ext>
            </a:extLst>
          </p:cNvPr>
          <p:cNvGrpSpPr/>
          <p:nvPr/>
        </p:nvGrpSpPr>
        <p:grpSpPr>
          <a:xfrm>
            <a:off x="8146566" y="1657145"/>
            <a:ext cx="3458396" cy="164665"/>
            <a:chOff x="586326" y="2778901"/>
            <a:chExt cx="11029759" cy="317051"/>
          </a:xfrm>
        </p:grpSpPr>
        <p:sp>
          <p:nvSpPr>
            <p:cNvPr id="67" name="Isosceles Triangle 7">
              <a:extLst>
                <a:ext uri="{FF2B5EF4-FFF2-40B4-BE49-F238E27FC236}">
                  <a16:creationId xmlns:a16="http://schemas.microsoft.com/office/drawing/2014/main" id="{E1B6ED48-5907-753D-B2B8-F223146B9FB5}"/>
                </a:ext>
              </a:extLst>
            </p:cNvPr>
            <p:cNvSpPr/>
            <p:nvPr/>
          </p:nvSpPr>
          <p:spPr>
            <a:xfrm rot="10800000">
              <a:off x="5374923" y="2796854"/>
              <a:ext cx="1429542" cy="299098"/>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959CA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68" name="Straight Connector 67">
              <a:extLst>
                <a:ext uri="{FF2B5EF4-FFF2-40B4-BE49-F238E27FC236}">
                  <a16:creationId xmlns:a16="http://schemas.microsoft.com/office/drawing/2014/main" id="{0E779DF1-A78A-8EA3-60EC-AF5A03A23F3C}"/>
                </a:ext>
              </a:extLst>
            </p:cNvPr>
            <p:cNvCxnSpPr>
              <a:cxnSpLocks/>
              <a:endCxn id="67" idx="2"/>
            </p:cNvCxnSpPr>
            <p:nvPr/>
          </p:nvCxnSpPr>
          <p:spPr>
            <a:xfrm>
              <a:off x="586326" y="2778901"/>
              <a:ext cx="4788597" cy="17953"/>
            </a:xfrm>
            <a:prstGeom prst="line">
              <a:avLst/>
            </a:prstGeom>
            <a:noFill/>
            <a:ln w="38100" cap="rnd" cmpd="sng" algn="ctr">
              <a:solidFill>
                <a:srgbClr val="959CA0"/>
              </a:solidFill>
              <a:prstDash val="solid"/>
              <a:miter lim="800000"/>
            </a:ln>
            <a:effectLst/>
          </p:spPr>
        </p:cxnSp>
        <p:cxnSp>
          <p:nvCxnSpPr>
            <p:cNvPr id="69" name="Straight Connector 68">
              <a:extLst>
                <a:ext uri="{FF2B5EF4-FFF2-40B4-BE49-F238E27FC236}">
                  <a16:creationId xmlns:a16="http://schemas.microsoft.com/office/drawing/2014/main" id="{4FC61D4C-5520-DC81-D3DB-8BC4ECD6D779}"/>
                </a:ext>
              </a:extLst>
            </p:cNvPr>
            <p:cNvCxnSpPr>
              <a:cxnSpLocks/>
              <a:stCxn id="67" idx="0"/>
            </p:cNvCxnSpPr>
            <p:nvPr/>
          </p:nvCxnSpPr>
          <p:spPr>
            <a:xfrm flipV="1">
              <a:off x="6804465" y="2789928"/>
              <a:ext cx="4811620" cy="6928"/>
            </a:xfrm>
            <a:prstGeom prst="line">
              <a:avLst/>
            </a:prstGeom>
            <a:noFill/>
            <a:ln w="38100" cap="rnd" cmpd="sng" algn="ctr">
              <a:solidFill>
                <a:srgbClr val="959CA0"/>
              </a:solidFill>
              <a:prstDash val="solid"/>
              <a:miter lim="800000"/>
            </a:ln>
            <a:effectLst/>
          </p:spPr>
        </p:cxnSp>
      </p:grpSp>
      <p:sp>
        <p:nvSpPr>
          <p:cNvPr id="72" name="TextBox 71">
            <a:extLst>
              <a:ext uri="{FF2B5EF4-FFF2-40B4-BE49-F238E27FC236}">
                <a16:creationId xmlns:a16="http://schemas.microsoft.com/office/drawing/2014/main" id="{274B5D6A-B64B-6306-779F-4CF4FB40A37F}"/>
              </a:ext>
            </a:extLst>
          </p:cNvPr>
          <p:cNvSpPr txBox="1"/>
          <p:nvPr/>
        </p:nvSpPr>
        <p:spPr>
          <a:xfrm>
            <a:off x="4997186" y="6221307"/>
            <a:ext cx="719481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Mackenzie IS, et al. Lancet 2022;400:1417–1425. </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Garrison SR</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BMJ Open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2022 Feb 24;12(2):e059711.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doi</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10.1136/bmjopen-2021-059711.</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3.</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Poulter NR, et al. Hypertension 2018;72:870–873. </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4.</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Maqsood MH, et al. Hypertension 2023;80:1544–1554. </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5.</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Stergiou G, et al. J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Hypertens</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2022;40:1847–1858. </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6</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Brunström</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M, et al. Hypertension 2021;78:555–558.</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7</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Garrison SR</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et al JAMA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Netw</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Open. 2025;8(5):e2513812. doi:10.1001/jamanetworkopen.2025.13812</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Box 72">
            <a:extLst>
              <a:ext uri="{FF2B5EF4-FFF2-40B4-BE49-F238E27FC236}">
                <a16:creationId xmlns:a16="http://schemas.microsoft.com/office/drawing/2014/main" id="{D0459A98-FFD1-9EAF-CBDD-90810F70D511}"/>
              </a:ext>
            </a:extLst>
          </p:cNvPr>
          <p:cNvSpPr txBox="1"/>
          <p:nvPr/>
        </p:nvSpPr>
        <p:spPr>
          <a:xfrm>
            <a:off x="8165849"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BFB3"/>
                </a:solidFill>
                <a:effectLst/>
                <a:uLnTx/>
                <a:uFillTx/>
                <a:latin typeface="Arial" panose="020B0604020202020204"/>
                <a:ea typeface="+mn-ea"/>
                <a:cs typeface="+mn-cs"/>
              </a:rPr>
              <a:t>BedMed</a:t>
            </a:r>
            <a:r>
              <a:rPr kumimoji="0" lang="en-US" sz="1800" b="1" i="0" u="none" strike="noStrike" kern="1200" cap="none" spc="0" normalizeH="0" baseline="0" noProof="0" dirty="0">
                <a:ln>
                  <a:noFill/>
                </a:ln>
                <a:solidFill>
                  <a:srgbClr val="00BFB3"/>
                </a:solidFill>
                <a:effectLst/>
                <a:uLnTx/>
                <a:uFillTx/>
                <a:latin typeface="Arial" panose="020B0604020202020204"/>
                <a:ea typeface="+mn-ea"/>
                <a:cs typeface="+mn-cs"/>
              </a:rPr>
              <a:t>, 2025</a:t>
            </a:r>
            <a:r>
              <a:rPr kumimoji="0" lang="en-US" sz="1800" b="1" i="0" u="none" strike="noStrike" kern="1200" cap="none" spc="0" normalizeH="0" baseline="30000" noProof="0" dirty="0">
                <a:ln>
                  <a:noFill/>
                </a:ln>
                <a:solidFill>
                  <a:srgbClr val="00BFB3"/>
                </a:solidFill>
                <a:effectLst/>
                <a:uLnTx/>
                <a:uFillTx/>
                <a:latin typeface="Arial" panose="020B0604020202020204"/>
                <a:ea typeface="+mn-ea"/>
                <a:cs typeface="+mn-cs"/>
              </a:rPr>
              <a:t>2,7</a:t>
            </a:r>
          </a:p>
        </p:txBody>
      </p:sp>
      <p:grpSp>
        <p:nvGrpSpPr>
          <p:cNvPr id="3" name="Group 2">
            <a:extLst>
              <a:ext uri="{FF2B5EF4-FFF2-40B4-BE49-F238E27FC236}">
                <a16:creationId xmlns:a16="http://schemas.microsoft.com/office/drawing/2014/main" id="{8FA3B18D-A55F-C65E-045C-FE2F7C8C9074}"/>
              </a:ext>
            </a:extLst>
          </p:cNvPr>
          <p:cNvGrpSpPr/>
          <p:nvPr/>
        </p:nvGrpSpPr>
        <p:grpSpPr>
          <a:xfrm>
            <a:off x="397739" y="1847769"/>
            <a:ext cx="11048539" cy="901166"/>
            <a:chOff x="397739" y="1769712"/>
            <a:chExt cx="11048539" cy="901166"/>
          </a:xfrm>
        </p:grpSpPr>
        <p:sp>
          <p:nvSpPr>
            <p:cNvPr id="49" name="TextBox 48">
              <a:extLst>
                <a:ext uri="{FF2B5EF4-FFF2-40B4-BE49-F238E27FC236}">
                  <a16:creationId xmlns:a16="http://schemas.microsoft.com/office/drawing/2014/main" id="{CB589A1C-A25A-098B-904E-EE4E35A5A650}"/>
                </a:ext>
              </a:extLst>
            </p:cNvPr>
            <p:cNvSpPr txBox="1"/>
            <p:nvPr/>
          </p:nvSpPr>
          <p:spPr>
            <a:xfrm>
              <a:off x="397739" y="1769712"/>
              <a:ext cx="3458947" cy="901166"/>
            </a:xfrm>
            <a:prstGeom prst="rect">
              <a:avLst/>
            </a:prstGeom>
            <a:ln>
              <a:noFill/>
            </a:ln>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«Нет оснований ожидать, что конкретное время приёма препарата улучшит контроль АД — за исключением случаев, когда время приёма негативно влияет на приверженность лечению на индивидуальном уровне».</a:t>
              </a:r>
              <a:endPar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TextBox 74">
              <a:extLst>
                <a:ext uri="{FF2B5EF4-FFF2-40B4-BE49-F238E27FC236}">
                  <a16:creationId xmlns:a16="http://schemas.microsoft.com/office/drawing/2014/main" id="{1937CE8D-3CE3-D7BA-CF4B-7AE7E899D87C}"/>
                </a:ext>
              </a:extLst>
            </p:cNvPr>
            <p:cNvSpPr txBox="1"/>
            <p:nvPr/>
          </p:nvSpPr>
          <p:spPr>
            <a:xfrm>
              <a:off x="8305251" y="1769712"/>
              <a:ext cx="3141027" cy="627733"/>
            </a:xfrm>
            <a:prstGeom prst="rect">
              <a:avLst/>
            </a:prstGeom>
            <a:ln>
              <a:noFill/>
            </a:ln>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«Время приёма антигипертензивных препаратов не влияет на исходы — оно должно определяться предпочтениями пациента»</a:t>
              </a:r>
              <a:endPar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6" name="TextBox 75">
              <a:extLst>
                <a:ext uri="{FF2B5EF4-FFF2-40B4-BE49-F238E27FC236}">
                  <a16:creationId xmlns:a16="http://schemas.microsoft.com/office/drawing/2014/main" id="{58BFF62F-C8D1-7033-0353-5E9FAD950977}"/>
                </a:ext>
              </a:extLst>
            </p:cNvPr>
            <p:cNvSpPr txBox="1"/>
            <p:nvPr/>
          </p:nvSpPr>
          <p:spPr>
            <a:xfrm>
              <a:off x="4225499" y="1769712"/>
              <a:ext cx="3708000" cy="901166"/>
            </a:xfrm>
            <a:prstGeom prst="rect">
              <a:avLst/>
            </a:prstGeom>
            <a:ln>
              <a:noFill/>
            </a:ln>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Ранние данные о преимуществе вечернего приёма (MAPEC, </a:t>
              </a: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Hygia</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R. </a:t>
              </a: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Hermida</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методологически дискредитированы. </a:t>
              </a:r>
            </a:p>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Eur</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Heart J выпустил </a:t>
              </a: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Expression</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of</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ru-RU" sz="14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Concern</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(2020), часть публикаций той же группы отозвана (2022)</a:t>
              </a:r>
              <a:r>
                <a:rPr kumimoji="0" lang="en-US" sz="1400" b="0" i="1"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6</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ctr" defTabSz="914400" rtl="0" eaLnBrk="1" fontAlgn="base" latinLnBrk="0" hangingPunct="1">
                <a:lnSpc>
                  <a:spcPct val="100000"/>
                </a:lnSpc>
                <a:spcBef>
                  <a:spcPts val="0"/>
                </a:spcBef>
                <a:spcAft>
                  <a:spcPts val="300"/>
                </a:spcAft>
                <a:buClrTx/>
                <a:buSzTx/>
                <a:buFontTx/>
                <a:buNone/>
                <a:tabLst/>
                <a:defRPr/>
              </a:pP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Современный консенсус ISH / WHL / ESH 2022 на эти данные не опирается</a:t>
              </a:r>
              <a:r>
                <a:rPr kumimoji="0" lang="en-US" sz="1400" b="0" i="1"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5</a:t>
              </a:r>
              <a:r>
                <a:rPr kumimoji="0" lang="ru-RU"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4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77" name="TextBox 76">
            <a:extLst>
              <a:ext uri="{FF2B5EF4-FFF2-40B4-BE49-F238E27FC236}">
                <a16:creationId xmlns:a16="http://schemas.microsoft.com/office/drawing/2014/main" id="{3F5AE650-10FF-DF87-C641-6C29B1566AF9}"/>
              </a:ext>
            </a:extLst>
          </p:cNvPr>
          <p:cNvSpPr txBox="1"/>
          <p:nvPr/>
        </p:nvSpPr>
        <p:spPr>
          <a:xfrm>
            <a:off x="4320868" y="1210496"/>
            <a:ext cx="3458397" cy="541271"/>
          </a:xfrm>
          <a:prstGeom prst="rect">
            <a:avLst/>
          </a:prstGeom>
          <a:noFill/>
          <a:ln w="12700">
            <a:noFill/>
          </a:ln>
        </p:spPr>
        <p:txBody>
          <a:bodyPr vert="horz" wrap="square" lIns="91440" tIns="0" rIns="9144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srgbClr val="00BFB3"/>
                </a:solidFill>
                <a:effectLst/>
                <a:uLnTx/>
                <a:uFillTx/>
                <a:latin typeface="Arial" panose="020B0604020202020204"/>
                <a:ea typeface="+mn-ea"/>
                <a:cs typeface="+mn-cs"/>
              </a:rPr>
              <a:t>Мета-анализ </a:t>
            </a:r>
            <a:r>
              <a:rPr kumimoji="0" lang="en-US" sz="1800" b="1" i="0" u="none" strike="noStrike" kern="1200" cap="none" spc="0" normalizeH="0" baseline="0" noProof="0" dirty="0">
                <a:ln>
                  <a:noFill/>
                </a:ln>
                <a:solidFill>
                  <a:srgbClr val="00BFB3"/>
                </a:solidFill>
                <a:effectLst/>
                <a:uLnTx/>
                <a:uFillTx/>
                <a:latin typeface="Arial" panose="020B0604020202020204"/>
                <a:ea typeface="+mn-ea"/>
                <a:cs typeface="+mn-cs"/>
              </a:rPr>
              <a:t>Maqsood 2023</a:t>
            </a:r>
            <a:r>
              <a:rPr kumimoji="0" lang="en-US" sz="1800" b="1" i="0" u="none" strike="noStrike" kern="1200" cap="none" spc="0" normalizeH="0" baseline="30000" noProof="0" dirty="0">
                <a:ln>
                  <a:noFill/>
                </a:ln>
                <a:solidFill>
                  <a:srgbClr val="00BFB3"/>
                </a:solidFill>
                <a:effectLst/>
                <a:uLnTx/>
                <a:uFillTx/>
                <a:latin typeface="Arial" panose="020B0604020202020204"/>
                <a:ea typeface="+mn-ea"/>
                <a:cs typeface="+mn-cs"/>
              </a:rPr>
              <a:t>4</a:t>
            </a:r>
          </a:p>
        </p:txBody>
      </p:sp>
      <p:grpSp>
        <p:nvGrpSpPr>
          <p:cNvPr id="2" name="Group 1">
            <a:extLst>
              <a:ext uri="{FF2B5EF4-FFF2-40B4-BE49-F238E27FC236}">
                <a16:creationId xmlns:a16="http://schemas.microsoft.com/office/drawing/2014/main" id="{0D765C32-8DC8-8845-9B27-03D899C9A73A}"/>
              </a:ext>
            </a:extLst>
          </p:cNvPr>
          <p:cNvGrpSpPr/>
          <p:nvPr/>
        </p:nvGrpSpPr>
        <p:grpSpPr>
          <a:xfrm>
            <a:off x="496936" y="4199131"/>
            <a:ext cx="11314937" cy="2036052"/>
            <a:chOff x="497427" y="2161875"/>
            <a:chExt cx="11314937" cy="2036052"/>
          </a:xfrm>
        </p:grpSpPr>
        <p:sp>
          <p:nvSpPr>
            <p:cNvPr id="63" name="TextBox 62">
              <a:extLst>
                <a:ext uri="{FF2B5EF4-FFF2-40B4-BE49-F238E27FC236}">
                  <a16:creationId xmlns:a16="http://schemas.microsoft.com/office/drawing/2014/main" id="{5B781E33-D4D8-ECDE-F8C5-B4D8E23D5AD7}"/>
                </a:ext>
              </a:extLst>
            </p:cNvPr>
            <p:cNvSpPr txBox="1"/>
            <p:nvPr/>
          </p:nvSpPr>
          <p:spPr>
            <a:xfrm>
              <a:off x="497427" y="2161875"/>
              <a:ext cx="3458397" cy="1481147"/>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РКИ с перекрестным включением пациентов: СМАД при утреннем и вечернем приёме у одних и тех же пациентов</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80% мощность для детекции 3 мм рт. ст. разницы по 24-час САД</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Достоверных различий нет</a:t>
              </a: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a:t>
              </a:r>
            </a:p>
            <a:p>
              <a:pPr marL="360363" marR="0" lvl="0" indent="-182563" algn="l" defTabSz="914400" rtl="0" eaLnBrk="1" fontAlgn="base" latinLnBrk="0" hangingPunct="1">
                <a:lnSpc>
                  <a:spcPct val="100000"/>
                </a:lnSpc>
                <a:spcBef>
                  <a:spcPts val="0"/>
                </a:spcBef>
                <a:spcAft>
                  <a:spcPts val="300"/>
                </a:spcAft>
                <a:buClrTx/>
                <a:buSzTx/>
                <a:buFont typeface="Wingdings" panose="05000000000000000000" pitchFamily="2" charset="2"/>
                <a:buChar char="Ø"/>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24-час САД: 0,11 мм рт. ст. (95% ДИ −3,20...3,42) — первичная КТ</a:t>
              </a:r>
            </a:p>
            <a:p>
              <a:pPr marL="360363" marR="0" lvl="0" indent="-182563" algn="l" defTabSz="914400" rtl="0" eaLnBrk="1" fontAlgn="base" latinLnBrk="0" hangingPunct="1">
                <a:lnSpc>
                  <a:spcPct val="100000"/>
                </a:lnSpc>
                <a:spcBef>
                  <a:spcPts val="0"/>
                </a:spcBef>
                <a:spcAft>
                  <a:spcPts val="300"/>
                </a:spcAft>
                <a:buClrTx/>
                <a:buSzTx/>
                <a:buFont typeface="Wingdings" panose="05000000000000000000" pitchFamily="2" charset="2"/>
                <a:buChar char="Ø"/>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Ночное САД - </a:t>
              </a: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p&gt;0,05</a:t>
              </a:r>
              <a:endPar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a:p>
              <a:pPr marL="360363" marR="0" lvl="0" indent="-182563" algn="l" defTabSz="914400" rtl="0" eaLnBrk="1" fontAlgn="base" latinLnBrk="0" hangingPunct="1">
                <a:lnSpc>
                  <a:spcPct val="100000"/>
                </a:lnSpc>
                <a:spcBef>
                  <a:spcPts val="0"/>
                </a:spcBef>
                <a:spcAft>
                  <a:spcPts val="300"/>
                </a:spcAft>
                <a:buClrTx/>
                <a:buSzTx/>
                <a:buFont typeface="Wingdings" panose="05000000000000000000" pitchFamily="2" charset="2"/>
                <a:buChar char="Ø"/>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Дневное и офисное АД - </a:t>
              </a: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p&gt;0,05</a:t>
              </a:r>
            </a:p>
          </p:txBody>
        </p:sp>
        <p:sp>
          <p:nvSpPr>
            <p:cNvPr id="74" name="TextBox 73">
              <a:extLst>
                <a:ext uri="{FF2B5EF4-FFF2-40B4-BE49-F238E27FC236}">
                  <a16:creationId xmlns:a16="http://schemas.microsoft.com/office/drawing/2014/main" id="{B9C2CA17-2C2C-E2B7-F247-06E376F5DAED}"/>
                </a:ext>
              </a:extLst>
            </p:cNvPr>
            <p:cNvSpPr txBox="1"/>
            <p:nvPr/>
          </p:nvSpPr>
          <p:spPr>
            <a:xfrm>
              <a:off x="8165849" y="2161875"/>
              <a:ext cx="3646515" cy="1481147"/>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3 357 пациентов с АГ; медиана 4,6 года</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Конечная точка: смерть от любой причины + госпитализация по поводу инсульта, ОКС, СН</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ОР 0,96 (95% ДИ 0,77–1,19), p = 0,70 – разницы нет</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Нет различий по падениям/переломам, глаукоме, когнитивному снижению</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1" i="0" u="none" strike="noStrike" kern="120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BedMed-Frail</a:t>
              </a:r>
              <a:r>
                <a:rPr kumimoji="0" lang="ru-RU"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(n = 776, хрупкие): ОР 0,88 (0,71–1,11), p = 0,28 – разницы нет</a:t>
              </a:r>
              <a:endParaRPr kumimoji="0" lang="en-US"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78" name="TextBox 77">
              <a:extLst>
                <a:ext uri="{FF2B5EF4-FFF2-40B4-BE49-F238E27FC236}">
                  <a16:creationId xmlns:a16="http://schemas.microsoft.com/office/drawing/2014/main" id="{937E6390-9A74-3322-68DF-53F65BDB49BB}"/>
                </a:ext>
              </a:extLst>
            </p:cNvPr>
            <p:cNvSpPr txBox="1"/>
            <p:nvPr/>
          </p:nvSpPr>
          <p:spPr>
            <a:xfrm>
              <a:off x="4320868" y="2161875"/>
              <a:ext cx="3458397" cy="2036052"/>
            </a:xfrm>
            <a:prstGeom prst="rect">
              <a:avLst/>
            </a:prstGeom>
            <a:ln>
              <a:noFill/>
            </a:ln>
          </p:spPr>
          <p:txBody>
            <a:bodyPr vert="horz" wrap="square" lIns="0" tIns="0" rIns="0" bIns="0" numCol="1" rtlCol="0" anchor="t" anchorCtr="0" compatLnSpc="1">
              <a:prstTxWarp prst="textNoShape">
                <a:avLst/>
              </a:prstTxWarp>
              <a:noAutofit/>
            </a:bodyPr>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72 РКИ включены в обзор</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Вечерний приём: </a:t>
              </a:r>
            </a:p>
            <a:p>
              <a:pPr marL="468313" marR="0" lvl="0" indent="-285750" algn="l" defTabSz="914400" rtl="0" eaLnBrk="1" fontAlgn="base" latinLnBrk="0" hangingPunct="1">
                <a:lnSpc>
                  <a:spcPct val="100000"/>
                </a:lnSpc>
                <a:spcBef>
                  <a:spcPts val="0"/>
                </a:spcBef>
                <a:spcAft>
                  <a:spcPts val="300"/>
                </a:spcAft>
                <a:buClrTx/>
                <a:buSzTx/>
                <a:buFont typeface="Wingdings" panose="05000000000000000000" pitchFamily="2" charset="2"/>
                <a:buChar char="Ø"/>
                <a:tabLst>
                  <a:tab pos="182563" algn="l"/>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Ночное САД −4,09 мм рт. ст. (95% ДИ 3,01–5,16);</a:t>
              </a:r>
            </a:p>
            <a:p>
              <a:pPr marL="468313" marR="0" lvl="0" indent="-285750" algn="l" defTabSz="914400" rtl="0" eaLnBrk="1" fontAlgn="base" latinLnBrk="0" hangingPunct="1">
                <a:lnSpc>
                  <a:spcPct val="100000"/>
                </a:lnSpc>
                <a:spcBef>
                  <a:spcPts val="0"/>
                </a:spcBef>
                <a:spcAft>
                  <a:spcPts val="300"/>
                </a:spcAft>
                <a:buClrTx/>
                <a:buSzTx/>
                <a:buFont typeface="Wingdings" panose="05000000000000000000" pitchFamily="2" charset="2"/>
                <a:buChar char="Ø"/>
                <a:tabLst>
                  <a:tab pos="182563" algn="l"/>
                </a:tabLst>
                <a:defRPr/>
              </a:pP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24-час САД −1,41 мм рт. ст. (95% ДИ 0,48–2,34)</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2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НО</a:t>
              </a: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снижение СС-событий полностью объясняется работами MAPEC и </a:t>
              </a:r>
              <a:r>
                <a:rPr kumimoji="0" lang="ru-RU" sz="1200" b="0" i="0" u="none" strike="noStrike" kern="120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Hygia</a:t>
              </a:r>
              <a:r>
                <a:rPr kumimoji="0" lang="ru-RU"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при их исключении это преимущество исчезает</a:t>
              </a:r>
              <a:endPar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4178136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29184"/>
            <a:ext cx="1234440" cy="292608"/>
          </a:xfrm>
          <a:prstGeom prst="roundRect">
            <a:avLst>
              <a:gd name="adj" fmla="val 50000"/>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329184"/>
            <a:ext cx="1234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ВОЗРАЖЕНИЕ</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965960" y="274320"/>
            <a:ext cx="97383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«Предпочитаю свободную комбинацию с вечерним приёмом амлодипина: так меньше риск отёков»</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02920" y="1133856"/>
            <a:ext cx="548640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A5600"/>
                </a:solidFill>
                <a:effectLst/>
                <a:uLnTx/>
                <a:uFillTx/>
                <a:latin typeface="Arial" pitchFamily="34" charset="0"/>
                <a:ea typeface="Arial" pitchFamily="34" charset="-122"/>
                <a:cs typeface="Arial" pitchFamily="34" charset="-120"/>
              </a:rPr>
              <a:t>На чём это основано</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36192"/>
            <a:ext cx="3401568" cy="3246120"/>
          </a:xfrm>
          <a:prstGeom prst="roundRect">
            <a:avLst>
              <a:gd name="adj" fmla="val 1690"/>
            </a:avLst>
          </a:prstGeom>
          <a:solidFill>
            <a:srgbClr val="FDF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722376" y="1737360"/>
            <a:ext cx="420624" cy="420624"/>
          </a:xfrm>
          <a:prstGeom prst="ellipse">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22376" y="173736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71016" y="1737360"/>
            <a:ext cx="24688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A5600"/>
                </a:solidFill>
                <a:effectLst/>
                <a:uLnTx/>
                <a:uFillTx/>
                <a:latin typeface="Arial" pitchFamily="34" charset="0"/>
                <a:ea typeface="Arial" pitchFamily="34" charset="-122"/>
                <a:cs typeface="Arial" pitchFamily="34" charset="-120"/>
              </a:rPr>
              <a:t>Фармакокинетика</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40664" y="2304288"/>
            <a:ext cx="2926080" cy="228600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Максимальная концентрация амлодипина достигается через 6–12 часов </a:t>
            </a:r>
            <a:r>
              <a:rPr kumimoji="0" lang="en-US" sz="15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после</a:t>
            </a: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5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приёма</a:t>
            </a:r>
            <a:r>
              <a:rPr kumimoji="0" lang="ru-RU" sz="15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1</a:t>
            </a: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Приём на ночь смещает пик вазодилатации на период, когда пациент находится в горизонтальном положении.</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416552" y="1536192"/>
            <a:ext cx="3401568" cy="3246120"/>
          </a:xfrm>
          <a:prstGeom prst="roundRect">
            <a:avLst>
              <a:gd name="adj" fmla="val 1690"/>
            </a:avLst>
          </a:prstGeom>
          <a:solidFill>
            <a:srgbClr val="FDF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636008" y="1737360"/>
            <a:ext cx="420624" cy="420624"/>
          </a:xfrm>
          <a:prstGeom prst="ellipse">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636008" y="173736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184648" y="1737360"/>
            <a:ext cx="24688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A5600"/>
                </a:solidFill>
                <a:effectLst/>
                <a:uLnTx/>
                <a:uFillTx/>
                <a:latin typeface="Arial" pitchFamily="34" charset="0"/>
                <a:ea typeface="Arial" pitchFamily="34" charset="-122"/>
                <a:cs typeface="Arial" pitchFamily="34" charset="-120"/>
              </a:rPr>
              <a:t>Гравитация</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654296" y="2304288"/>
            <a:ext cx="2926080" cy="228600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Отёк гидростатический: он формируется фильтрацией жидкости в интерстиций голеней под действием силы тяжести. В положении лёжа эта нагрузка на капиллярное </a:t>
            </a:r>
            <a:r>
              <a:rPr kumimoji="0" lang="en-US" sz="15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русло</a:t>
            </a: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5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ниже</a:t>
            </a:r>
            <a:r>
              <a:rPr kumimoji="0" lang="ru-RU" sz="15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2</a:t>
            </a: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8330184" y="1536192"/>
            <a:ext cx="3401568" cy="3246120"/>
          </a:xfrm>
          <a:prstGeom prst="roundRect">
            <a:avLst>
              <a:gd name="adj" fmla="val 1690"/>
            </a:avLst>
          </a:prstGeom>
          <a:solidFill>
            <a:srgbClr val="FDF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8549640" y="1737360"/>
            <a:ext cx="420624" cy="420624"/>
          </a:xfrm>
          <a:prstGeom prst="ellipse">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549640" y="173736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098280" y="1737360"/>
            <a:ext cx="24688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A5600"/>
                </a:solidFill>
                <a:effectLst/>
                <a:uLnTx/>
                <a:uFillTx/>
                <a:latin typeface="Arial" pitchFamily="34" charset="0"/>
                <a:ea typeface="Arial" pitchFamily="34" charset="-122"/>
                <a:cs typeface="Arial" pitchFamily="34" charset="-120"/>
              </a:rPr>
              <a:t>Данные</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567928" y="2304288"/>
            <a:ext cx="2926080" cy="2286000"/>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Единственное рандомизированное исследование хронотерапии дигидропиридина: перенос приёма нифедипина GITS на вечер снизил частоту отёков с 13 % до 1 %</a:t>
            </a:r>
            <a:r>
              <a:rPr kumimoji="0" lang="ru-RU" sz="15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3</a:t>
            </a:r>
            <a:r>
              <a:rPr kumimoji="0" lang="en-US" sz="15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215182" y="6269459"/>
            <a:ext cx="11548276" cy="310896"/>
          </a:xfrm>
          <a:prstGeom prst="rect">
            <a:avLst/>
          </a:prstGeom>
          <a:noFill/>
          <a:ln/>
        </p:spPr>
        <p:txBody>
          <a:bodyPr wrap="square" lIns="0" tIns="0" rIns="0" bIns="0" rtlCol="0" anchor="ctr"/>
          <a:lstStyle/>
          <a:p>
            <a:pPr marL="92075" marR="0" lvl="0" indent="-92075" algn="l" defTabSz="914400" rtl="0" eaLnBrk="1" fontAlgn="auto" latinLnBrk="0" hangingPunct="1">
              <a:lnSpc>
                <a:spcPct val="100000"/>
              </a:lnSpc>
              <a:spcBef>
                <a:spcPts val="0"/>
              </a:spcBef>
              <a:spcAft>
                <a:spcPts val="0"/>
              </a:spcAft>
              <a:buClrTx/>
              <a:buSzTx/>
              <a:buFont typeface="+mj-lt"/>
              <a:buAutoNum type="arabicPeriod"/>
              <a:tabLst/>
              <a:defRPr/>
            </a:pPr>
            <a:r>
              <a:rPr kumimoji="0" lang="ru-RU"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Конкор</a:t>
            </a:r>
            <a:r>
              <a:rPr kumimoji="0" lang="ru-RU"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АМ. Общая характеристика лекарственного препарата. ЛП-№(012650)-(РГ-RU) от 28.11.2025</a:t>
            </a:r>
          </a:p>
          <a:p>
            <a:pPr marL="92075" marR="0" lvl="0" indent="-920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Makani H, et al. Effect of renin-angiotensin system blockade on calcium channel blocker-associated peripheral edema. Am J Med. 2011;124(2):128–135. doi:10.1016/j.amjmed.2010.08.007. PMID: 21295192.</a:t>
            </a:r>
            <a:endParaRPr kumimoji="0" lang="ru-RU"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endParaRPr>
          </a:p>
          <a:p>
            <a:pPr marL="92075" marR="0" lvl="0" indent="-920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Hermida RC, et al. Chronotherapy with nifedipine GITS in hypertensive patients: improved efficacy and safety with bedtime dosing. Am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2008;21(8):948–954. doi:10.1038/ajh.2008.216.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29184"/>
            <a:ext cx="1234440" cy="292608"/>
          </a:xfrm>
          <a:prstGeom prst="roundRect">
            <a:avLst>
              <a:gd name="adj" fmla="val 50000"/>
            </a:avLst>
          </a:prstGeom>
          <a:solidFill>
            <a:srgbClr val="00B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329184"/>
            <a:ext cx="1234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ФАКТ</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965960" y="274320"/>
            <a:ext cx="97383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Пика вазодилатации при постоянной терапии не существует, а отёк определяют другие факторы</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1060704"/>
            <a:ext cx="5532120" cy="2304288"/>
          </a:xfrm>
          <a:prstGeom prst="roundRect">
            <a:avLst>
              <a:gd name="adj" fmla="val 2381"/>
            </a:avLst>
          </a:prstGeom>
          <a:solidFill>
            <a:srgbClr val="E4F7F5"/>
          </a:solidFill>
          <a:ln w="28575">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31520" y="1152144"/>
            <a:ext cx="50749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Равновесное состояние</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16280" y="1499616"/>
            <a:ext cx="5245608" cy="1188720"/>
          </a:xfrm>
          <a:prstGeom prst="rect">
            <a:avLst/>
          </a:prstGeom>
          <a:noFill/>
          <a:ln/>
        </p:spPr>
        <p:txBody>
          <a:bodyPr wrap="square" lIns="0" tIns="0" rIns="0" bIns="0" rtlCol="0" anchor="t"/>
          <a:lstStyle/>
          <a:p>
            <a:pPr marL="177800" marR="0" lvl="0" indent="-177800" algn="l" defTabSz="914400" rtl="0" eaLnBrk="1" fontAlgn="auto" latinLnBrk="0" hangingPunct="1">
              <a:lnSpc>
                <a:spcPct val="110000"/>
              </a:lnSpc>
              <a:spcBef>
                <a:spcPts val="0"/>
              </a:spcBef>
              <a:spcAft>
                <a:spcPts val="300"/>
              </a:spcAft>
              <a:buClrTx/>
              <a:buSzTx/>
              <a:buFont typeface="Wingdings" panose="05000000000000000000" pitchFamily="2" charset="2"/>
              <a:buChar char="q"/>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Период полувыведения 30–50 часов превышает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междозовый</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интервал</a:t>
            </a: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препарат присутствует в организме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непрерывно</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a:t>
            </a:r>
            <a:endPar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endParaRPr>
          </a:p>
          <a:p>
            <a:pPr marL="177800" marR="0" lvl="0" indent="-177800" algn="l" defTabSz="914400" rtl="0" eaLnBrk="1" fontAlgn="auto" latinLnBrk="0" hangingPunct="1">
              <a:lnSpc>
                <a:spcPct val="110000"/>
              </a:lnSpc>
              <a:spcBef>
                <a:spcPts val="0"/>
              </a:spcBef>
              <a:spcAft>
                <a:spcPts val="300"/>
              </a:spcAft>
              <a:buClrTx/>
              <a:buSzTx/>
              <a:buFont typeface="Wingdings" panose="05000000000000000000" pitchFamily="2" charset="2"/>
              <a:buChar char="q"/>
              <a:tabLst/>
              <a:defRPr/>
            </a:pP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Равновесная</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концентрация достигается к 7–8-м суткам, эффект сохраняется не менее 24 часов. </a:t>
            </a:r>
            <a:endPar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endParaRPr>
          </a:p>
          <a:p>
            <a:pPr marL="177800" marR="0" lvl="0" indent="-177800" algn="l" defTabSz="914400" rtl="0" eaLnBrk="1" fontAlgn="auto" latinLnBrk="0" hangingPunct="1">
              <a:lnSpc>
                <a:spcPct val="110000"/>
              </a:lnSpc>
              <a:spcBef>
                <a:spcPts val="0"/>
              </a:spcBef>
              <a:spcAft>
                <a:spcPts val="300"/>
              </a:spcAft>
              <a:buClrTx/>
              <a:buSzTx/>
              <a:buFont typeface="Wingdings" panose="05000000000000000000" pitchFamily="2" charset="2"/>
              <a:buChar char="q"/>
              <a:tabLst/>
              <a:defRPr/>
            </a:pP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Гипотензивный</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эффект</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ru-RU"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дигидропиридинов</a:t>
            </a: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включая амлодипин</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стабилен на протяжении всех 24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часов</a:t>
            </a:r>
            <a:r>
              <a:rPr kumimoji="0" lang="ru-RU" sz="13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1,2</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880360"/>
            <a:ext cx="50749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Понятие «</a:t>
            </a:r>
            <a:r>
              <a:rPr kumimoji="0" lang="en-US" sz="14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пик</a:t>
            </a:r>
            <a:r>
              <a:rPr kumimoji="0" lang="ru-RU"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ru-RU" sz="14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вазодилатации</a:t>
            </a:r>
            <a:r>
              <a:rPr kumimoji="0" lang="en-US"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применимо к однократной дозе, но не к </a:t>
            </a:r>
            <a:r>
              <a:rPr kumimoji="0" lang="en-US" sz="14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стационарному</a:t>
            </a:r>
            <a:r>
              <a:rPr kumimoji="0" lang="en-US"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4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режиму</a:t>
            </a:r>
            <a:r>
              <a:rPr kumimoji="0" lang="ru-RU"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172200" y="1060704"/>
            <a:ext cx="5513832" cy="2304288"/>
          </a:xfrm>
          <a:prstGeom prst="roundRect">
            <a:avLst>
              <a:gd name="adj" fmla="val 2381"/>
            </a:avLst>
          </a:prstGeom>
          <a:solidFill>
            <a:srgbClr val="E9F2F9"/>
          </a:solidFill>
          <a:ln w="28575">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0" y="1152144"/>
            <a:ext cx="50749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Доза</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0" y="1536192"/>
            <a:ext cx="50292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A3E0"/>
                </a:solidFill>
                <a:effectLst/>
                <a:uLnTx/>
                <a:uFillTx/>
                <a:latin typeface="Arial" pitchFamily="34" charset="0"/>
                <a:ea typeface="Arial" pitchFamily="34" charset="-122"/>
                <a:cs typeface="Arial" pitchFamily="34" charset="-120"/>
              </a:rPr>
              <a:t>ОР 2,01</a:t>
            </a:r>
            <a:r>
              <a:rPr kumimoji="0" lang="en-US" sz="14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амлодипин 2,5–5 мг</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00800" y="2011680"/>
            <a:ext cx="50292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0B323"/>
                </a:solidFill>
                <a:effectLst/>
                <a:uLnTx/>
                <a:uFillTx/>
                <a:latin typeface="Arial" pitchFamily="34" charset="0"/>
                <a:ea typeface="Arial" pitchFamily="34" charset="-122"/>
                <a:cs typeface="Arial" pitchFamily="34" charset="-120"/>
              </a:rPr>
              <a:t>ОР 3,08</a:t>
            </a:r>
            <a:r>
              <a:rPr kumimoji="0" lang="en-US" sz="14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амлодипин 10 мг</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00800" y="2542032"/>
            <a:ext cx="5074920" cy="73152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Мета-анализ 22 РКИ: </a:t>
            </a:r>
            <a:r>
              <a:rPr kumimoji="0" lang="ru-RU" sz="1400" b="1" i="0" u="sng"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около трети случаев </a:t>
            </a:r>
            <a:r>
              <a:rPr kumimoji="0" lang="ru-RU"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отёков у пациентов, принимающих амлодипин 2,5-5 мг, оказались </a:t>
            </a:r>
            <a:r>
              <a:rPr kumimoji="0" lang="ru-RU" sz="1400" b="1" i="0" u="sng"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не связаны с препаратом</a:t>
            </a:r>
            <a:r>
              <a:rPr kumimoji="0" lang="ru-RU" sz="1400" b="1" i="0" u="sng" strike="noStrike" kern="1200" cap="none" spc="0" normalizeH="0" baseline="30000" noProof="0" dirty="0">
                <a:ln>
                  <a:noFill/>
                </a:ln>
                <a:solidFill>
                  <a:srgbClr val="005587"/>
                </a:solidFill>
                <a:effectLst/>
                <a:uLnTx/>
                <a:uFillTx/>
                <a:latin typeface="Arial" pitchFamily="34" charset="0"/>
                <a:ea typeface="Arial" pitchFamily="34" charset="-122"/>
                <a:cs typeface="Arial" pitchFamily="34" charset="-120"/>
              </a:rPr>
              <a:t>3</a:t>
            </a:r>
            <a:endParaRPr kumimoji="0" lang="en-US" sz="1400" b="0" i="0" u="sng"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3511296"/>
            <a:ext cx="5532120" cy="2139696"/>
          </a:xfrm>
          <a:prstGeom prst="roundRect">
            <a:avLst>
              <a:gd name="adj" fmla="val 2564"/>
            </a:avLst>
          </a:prstGeom>
          <a:solidFill>
            <a:srgbClr val="E4F7F5"/>
          </a:solidFill>
          <a:ln w="28575">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3602736"/>
            <a:ext cx="50749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Положение</a:t>
            </a:r>
            <a:r>
              <a:rPr kumimoji="0" lang="en-US" sz="17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7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тела</a:t>
            </a:r>
            <a:r>
              <a:rPr kumimoji="0" lang="ru-RU" sz="1700" b="1" i="0" u="none" strike="noStrike" kern="1200" cap="none" spc="0" normalizeH="0" baseline="30000" noProof="0" dirty="0">
                <a:ln>
                  <a:noFill/>
                </a:ln>
                <a:solidFill>
                  <a:srgbClr val="005587"/>
                </a:solidFill>
                <a:effectLst/>
                <a:uLnTx/>
                <a:uFillTx/>
                <a:latin typeface="Arial" pitchFamily="34" charset="0"/>
                <a:ea typeface="Arial" pitchFamily="34" charset="-122"/>
                <a:cs typeface="Arial" pitchFamily="34" charset="-120"/>
              </a:rPr>
              <a:t>4</a:t>
            </a:r>
            <a:endParaRPr kumimoji="0" lang="en-US" sz="17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3950208"/>
            <a:ext cx="20116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BFB3"/>
                </a:solidFill>
                <a:effectLst/>
                <a:uLnTx/>
                <a:uFillTx/>
                <a:latin typeface="Arial" pitchFamily="34" charset="0"/>
                <a:ea typeface="Arial" pitchFamily="34" charset="-122"/>
                <a:cs typeface="Arial" pitchFamily="34" charset="-120"/>
              </a:rPr>
              <a:t>ОШ 1,92</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788920" y="3950208"/>
            <a:ext cx="30175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95 % ДИ 1,03–3,58; p = 0,041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31520" y="4553712"/>
            <a:ext cx="5074920" cy="822960"/>
          </a:xfrm>
          <a:prstGeom prst="rect">
            <a:avLst/>
          </a:prstGeom>
          <a:noFill/>
          <a:ln/>
        </p:spPr>
        <p:txBody>
          <a:bodyPr wrap="square" lIns="0" tIns="0" rIns="0" bIns="0" rtlCol="0" anchor="t"/>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Продолжительность пребывания в вертикальном положении — </a:t>
            </a:r>
            <a:r>
              <a:rPr kumimoji="0" lang="en-US" sz="1300" b="1" i="0" u="sng"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единственный независимый фактор риска </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при многофакторном анализе. Время на ногах одинаково независимо от часа приёма.</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172200" y="3511296"/>
            <a:ext cx="5513832" cy="2139696"/>
          </a:xfrm>
          <a:prstGeom prst="roundRect">
            <a:avLst>
              <a:gd name="adj" fmla="val 2564"/>
            </a:avLst>
          </a:prstGeom>
          <a:solidFill>
            <a:srgbClr val="F1F4F6"/>
          </a:solidFill>
          <a:ln w="28575">
            <a:solidFill>
              <a:schemeClr val="tx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400800" y="3602736"/>
            <a:ext cx="50749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Происхождение данных</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263640" y="3873080"/>
            <a:ext cx="5440680" cy="896112"/>
          </a:xfrm>
          <a:prstGeom prst="rect">
            <a:avLst/>
          </a:prstGeom>
          <a:noFill/>
          <a:ln/>
        </p:spPr>
        <p:txBody>
          <a:bodyPr wrap="square" lIns="0" tIns="0" rIns="0" bIns="0" rtlCol="0" anchor="t"/>
          <a:lstStyle/>
          <a:p>
            <a:pPr marL="285750" marR="0" lvl="0" indent="-285750" algn="l" defTabSz="914400" rtl="0" eaLnBrk="1" fontAlgn="auto" latinLnBrk="0" hangingPunct="1">
              <a:lnSpc>
                <a:spcPct val="108000"/>
              </a:lnSpc>
              <a:spcBef>
                <a:spcPts val="0"/>
              </a:spcBef>
              <a:spcAft>
                <a:spcPts val="300"/>
              </a:spcAft>
              <a:buClrTx/>
              <a:buSzTx/>
              <a:buFont typeface="Wingdings" panose="05000000000000000000" pitchFamily="2" charset="2"/>
              <a:buChar char="q"/>
              <a:tabLst/>
              <a:defRPr/>
            </a:pP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Нифедипин GITS — другой препарат: 24-часовое действие обеспечивает лекарственная форма, а не накопление препарата</a:t>
            </a:r>
            <a:r>
              <a:rPr kumimoji="0" lang="ru-RU" sz="13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5</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endPar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endParaRPr>
          </a:p>
          <a:p>
            <a:pPr marL="285750" marR="0" lvl="0" indent="-285750" algn="l" defTabSz="914400" rtl="0" eaLnBrk="1" fontAlgn="auto" latinLnBrk="0" hangingPunct="1">
              <a:lnSpc>
                <a:spcPct val="108000"/>
              </a:lnSpc>
              <a:spcBef>
                <a:spcPts val="0"/>
              </a:spcBef>
              <a:spcAft>
                <a:spcPts val="300"/>
              </a:spcAft>
              <a:buClrTx/>
              <a:buSzTx/>
              <a:buFont typeface="Wingdings" panose="05000000000000000000" pitchFamily="2" charset="2"/>
              <a:buChar char="q"/>
              <a:tabLst/>
              <a:defRPr/>
            </a:pP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Исследование</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выполнено группой Hermida — Smolensky, той же, что опубликовала MAPEC и Hygia; </a:t>
            </a:r>
            <a:endPar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endParaRPr>
          </a:p>
          <a:p>
            <a:pPr marL="285750" marR="0" lvl="0" indent="-285750" algn="l" defTabSz="914400" rtl="0" eaLnBrk="1" fontAlgn="auto" latinLnBrk="0" hangingPunct="1">
              <a:lnSpc>
                <a:spcPct val="108000"/>
              </a:lnSpc>
              <a:spcBef>
                <a:spcPts val="0"/>
              </a:spcBef>
              <a:spcAft>
                <a:spcPts val="300"/>
              </a:spcAft>
              <a:buClrTx/>
              <a:buSzTx/>
              <a:buFont typeface="Wingdings" panose="05000000000000000000" pitchFamily="2" charset="2"/>
              <a:buChar char="q"/>
              <a:tabLst/>
              <a:defRPr/>
            </a:pP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Раскритиковано </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ISH, WHL</a:t>
            </a: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ESH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вечерний</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приём</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рутинно</a:t>
            </a: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не</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рекоменд</a:t>
            </a: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ован</a:t>
            </a:r>
            <a:r>
              <a:rPr kumimoji="0" lang="ru-RU" sz="13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6</a:t>
            </a:r>
            <a:endParaRPr kumimoji="0" lang="en-US" sz="13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400800" y="5166360"/>
            <a:ext cx="507492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pitchFamily="34" charset="0"/>
                <a:ea typeface="Arial" pitchFamily="34" charset="-122"/>
                <a:cs typeface="Arial" pitchFamily="34" charset="-120"/>
              </a:rPr>
              <a:t>Исчезновение дозозависимого класс-эффекта от сдвига на 12 часов биологически малоправдоподобно</a:t>
            </a:r>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3" name="Shape 21"/>
          <p:cNvSpPr/>
          <p:nvPr/>
        </p:nvSpPr>
        <p:spPr>
          <a:xfrm>
            <a:off x="502920" y="5746113"/>
            <a:ext cx="11183112" cy="432000"/>
          </a:xfrm>
          <a:prstGeom prst="roundRect">
            <a:avLst>
              <a:gd name="adj" fmla="val 9677"/>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77240" y="5678649"/>
            <a:ext cx="1060704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Значение имеют доза и положение тела, а не показания часов</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1">
            <a:extLst>
              <a:ext uri="{FF2B5EF4-FFF2-40B4-BE49-F238E27FC236}">
                <a16:creationId xmlns:a16="http://schemas.microsoft.com/office/drawing/2014/main" id="{18FB773D-BA5E-BEDC-C0CD-55541073D195}"/>
              </a:ext>
            </a:extLst>
          </p:cNvPr>
          <p:cNvSpPr/>
          <p:nvPr/>
        </p:nvSpPr>
        <p:spPr>
          <a:xfrm>
            <a:off x="156044" y="6388669"/>
            <a:ext cx="1193187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1. </a:t>
            </a:r>
            <a:r>
              <a:rPr kumimoji="0" lang="ru-RU"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Конкор</a:t>
            </a:r>
            <a:r>
              <a:rPr kumimoji="0" lang="ru-RU"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АМ. Общая характеристика лекарственного препарата. ЛП-№(012650)-(РГ-RU) от 28.11.2025</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2.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Ghamami</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N, et al. Time course for blood pressure lowering of dihydropyridine calcium channel blockers. Cochrane Database Syst Rev. 2014;(8):CD010052. doi:10.1002/14651858.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3.</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Vukadinović D,, et al. Peripheral edema and headache associated with amlodipine treatment: a meta-analysis of randomized, placebo-controlled trials.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2019;37(10):2093–2103. doi:10.1097/HJH.0000000000002145.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4.</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Tolla KS,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Solela</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G, et al. Incidence and risk factors of calcium channel blocker-related edema in hypertensive patients: a multicenter retrospective cohort study.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PLoS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One. 2026;21(3):e0336659. doi:10.1371/journal.pone.0336659.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5.</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Hermida RC, et al. Chronotherapy with nifedipine GITS in hypertensive patients: improved efficacy and safety with bedtime dosing. Am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2008;21(8):948–954. doi:10.1038/ajh.2008.216</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6.</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Stergiou G, et al. Bedtime dosing of antihypertensive medications: systematic review and consensus statement: ISH position paper endorsed by World Hypertension League and ESH.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2022;40(10):1847–1858. doi:10.1097/HJH.0000000000003240.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29184"/>
            <a:ext cx="1234440" cy="292608"/>
          </a:xfrm>
          <a:prstGeom prst="roundRect">
            <a:avLst>
              <a:gd name="adj" fmla="val 50000"/>
            </a:avLst>
          </a:prstGeom>
          <a:solidFill>
            <a:srgbClr val="00B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329184"/>
            <a:ext cx="12344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ФАКТ</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965960" y="274320"/>
            <a:ext cx="97383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Частота отёка зависит от дозы и не равна частоте отмены препарата</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1060704"/>
            <a:ext cx="5532120" cy="2615184"/>
          </a:xfrm>
          <a:prstGeom prst="roundRect">
            <a:avLst>
              <a:gd name="adj" fmla="val 2098"/>
            </a:avLst>
          </a:prstGeom>
          <a:solidFill>
            <a:srgbClr val="E9F2F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822129" y="1282654"/>
            <a:ext cx="5029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Данные РКИ: </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Частота</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отёка растёт с </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дозой</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амлодипина</a:t>
            </a:r>
            <a:r>
              <a:rPr kumimoji="0" lang="en-US" sz="1600" b="1" i="0" u="none" strike="noStrike" kern="1200" cap="none" spc="0" normalizeH="0" baseline="30000" noProof="0" dirty="0">
                <a:ln>
                  <a:noFill/>
                </a:ln>
                <a:solidFill>
                  <a:srgbClr val="005587"/>
                </a:solidFill>
                <a:effectLst/>
                <a:uLnTx/>
                <a:uFillTx/>
                <a:latin typeface="Arial" pitchFamily="34" charset="0"/>
                <a:ea typeface="Arial" pitchFamily="34" charset="-122"/>
                <a:cs typeface="Arial" pitchFamily="34" charset="-120"/>
              </a:rPr>
              <a:t>1</a:t>
            </a:r>
            <a:endParaRPr kumimoji="0" lang="en-US" sz="16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777240" y="3310128"/>
            <a:ext cx="5029200" cy="0"/>
          </a:xfrm>
          <a:prstGeom prst="line">
            <a:avLst/>
          </a:prstGeom>
          <a:noFill/>
          <a:ln w="12700">
            <a:solidFill>
              <a:srgbClr val="B9C7D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960120" y="3231388"/>
            <a:ext cx="822960" cy="78740"/>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77240" y="2957068"/>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0,6 %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3346704"/>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Плацебо</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167128" y="3073908"/>
            <a:ext cx="822960" cy="236220"/>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984248" y="2799588"/>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1,8 %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984248" y="3346704"/>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2,5 мг</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374136" y="2916428"/>
            <a:ext cx="822960" cy="393700"/>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191256" y="2642108"/>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3,0 %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191256" y="3346704"/>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5 мг</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581144" y="1892808"/>
            <a:ext cx="822960" cy="1417320"/>
          </a:xfrm>
          <a:prstGeom prst="rect">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398264" y="1618488"/>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10,8 %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398264" y="3346704"/>
            <a:ext cx="1188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10 мг</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172200" y="1060704"/>
            <a:ext cx="5513832" cy="2615184"/>
          </a:xfrm>
          <a:prstGeom prst="roundRect">
            <a:avLst>
              <a:gd name="adj" fmla="val 2098"/>
            </a:avLst>
          </a:prstGeom>
          <a:solidFill>
            <a:srgbClr val="E4F7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391656" y="1228621"/>
            <a:ext cx="5148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Данные РКИ: Возник отёк ≠ потребовалась отмена</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400800" y="1536192"/>
            <a:ext cx="21031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0B323"/>
                </a:solidFill>
                <a:effectLst/>
                <a:uLnTx/>
                <a:uFillTx/>
                <a:latin typeface="Arial" pitchFamily="34" charset="0"/>
                <a:ea typeface="Arial" pitchFamily="34" charset="-122"/>
                <a:cs typeface="Arial" pitchFamily="34" charset="-120"/>
              </a:rPr>
              <a:t>16,6 %</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549640" y="1536192"/>
            <a:ext cx="2926080" cy="68580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частота отёка на амлодипине против </a:t>
            </a: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6,2 % </a:t>
            </a:r>
            <a:r>
              <a:rPr kumimoji="0" lang="en-US" sz="1300" b="1"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на</a:t>
            </a:r>
            <a:r>
              <a:rPr kumimoji="0" lang="en-US" sz="1300" b="1"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плацебо</a:t>
            </a:r>
            <a:r>
              <a:rPr kumimoji="0" lang="en-US" sz="1300" b="1"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2</a:t>
            </a:r>
            <a:endParaRPr kumimoji="0" lang="en-US" sz="13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400800" y="2286000"/>
            <a:ext cx="21031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BFB3"/>
                </a:solidFill>
                <a:effectLst/>
                <a:uLnTx/>
                <a:uFillTx/>
                <a:latin typeface="Arial" pitchFamily="34" charset="0"/>
                <a:ea typeface="Arial" pitchFamily="34" charset="-122"/>
                <a:cs typeface="Arial" pitchFamily="34" charset="-120"/>
              </a:rPr>
              <a:t>~ 5 %</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549640" y="2286000"/>
            <a:ext cx="2926080" cy="68580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прекратили приём антагониста кальция именно из-за отёка при </a:t>
            </a: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длительной</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терапии</a:t>
            </a:r>
            <a:r>
              <a:rPr kumimoji="0" lang="en-US" sz="1300" b="0" i="0" u="none" strike="noStrike" kern="1200" cap="none" spc="0" normalizeH="0" baseline="30000" noProof="0" dirty="0">
                <a:ln>
                  <a:noFill/>
                </a:ln>
                <a:solidFill>
                  <a:srgbClr val="1A2B36"/>
                </a:solidFill>
                <a:effectLst/>
                <a:uLnTx/>
                <a:uFillTx/>
                <a:latin typeface="Arial" pitchFamily="34" charset="0"/>
                <a:ea typeface="Arial" pitchFamily="34" charset="-122"/>
                <a:cs typeface="Arial" pitchFamily="34" charset="-120"/>
              </a:rPr>
              <a:t>3</a:t>
            </a:r>
            <a:endParaRPr kumimoji="0" lang="en-US" sz="13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473824" y="3822192"/>
            <a:ext cx="11183112" cy="1755648"/>
          </a:xfrm>
          <a:prstGeom prst="roundRect">
            <a:avLst>
              <a:gd name="adj" fmla="val 3125"/>
            </a:avLst>
          </a:prstGeom>
          <a:solidFill>
            <a:srgbClr val="F1F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731520" y="3895344"/>
            <a:ext cx="807165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Исследование р</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еальн</a:t>
            </a: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ой</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практик</a:t>
            </a: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и</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Конкор® АМ</a:t>
            </a: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10 532 пациента, 6 месяцев</a:t>
            </a:r>
            <a:r>
              <a:rPr kumimoji="0" lang="en-US" sz="1600" b="1" i="0" u="none" strike="noStrike" kern="1200" cap="none" spc="0" normalizeH="0" baseline="30000" noProof="0" dirty="0">
                <a:ln>
                  <a:noFill/>
                </a:ln>
                <a:solidFill>
                  <a:srgbClr val="005587"/>
                </a:solidFill>
                <a:effectLst/>
                <a:uLnTx/>
                <a:uFillTx/>
                <a:latin typeface="Arial" pitchFamily="34" charset="0"/>
                <a:ea typeface="Arial" pitchFamily="34" charset="-122"/>
                <a:cs typeface="Arial" pitchFamily="34" charset="-120"/>
              </a:rPr>
              <a:t>4</a:t>
            </a:r>
            <a:endParaRPr kumimoji="0" lang="en-US" sz="16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grpSp>
        <p:nvGrpSpPr>
          <p:cNvPr id="45" name="Group 44">
            <a:extLst>
              <a:ext uri="{FF2B5EF4-FFF2-40B4-BE49-F238E27FC236}">
                <a16:creationId xmlns:a16="http://schemas.microsoft.com/office/drawing/2014/main" id="{138AF923-8AF6-1F23-0C85-86426E0D293C}"/>
              </a:ext>
            </a:extLst>
          </p:cNvPr>
          <p:cNvGrpSpPr/>
          <p:nvPr/>
        </p:nvGrpSpPr>
        <p:grpSpPr>
          <a:xfrm>
            <a:off x="668760" y="4187952"/>
            <a:ext cx="2121822" cy="603504"/>
            <a:chOff x="457198" y="4187952"/>
            <a:chExt cx="2333384" cy="603504"/>
          </a:xfrm>
        </p:grpSpPr>
        <p:sp>
          <p:nvSpPr>
            <p:cNvPr id="29" name="Text 27"/>
            <p:cNvSpPr/>
            <p:nvPr/>
          </p:nvSpPr>
          <p:spPr>
            <a:xfrm>
              <a:off x="457198" y="4206240"/>
              <a:ext cx="1051560" cy="56692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0B323"/>
                  </a:solidFill>
                  <a:effectLst/>
                  <a:uLnTx/>
                  <a:uFillTx/>
                  <a:latin typeface="Arial" pitchFamily="34" charset="0"/>
                  <a:ea typeface="Arial" pitchFamily="34" charset="-122"/>
                  <a:cs typeface="Arial" pitchFamily="34" charset="-120"/>
                </a:rPr>
                <a:t>7</a:t>
              </a:r>
              <a:r>
                <a:rPr kumimoji="0" lang="ru-RU" sz="3200" b="1" i="0" u="none" strike="noStrike" kern="1200" cap="none" spc="0" normalizeH="0" baseline="0" noProof="0" dirty="0">
                  <a:ln>
                    <a:noFill/>
                  </a:ln>
                  <a:solidFill>
                    <a:srgbClr val="F0B323"/>
                  </a:solidFill>
                  <a:effectLst/>
                  <a:uLnTx/>
                  <a:uFillTx/>
                  <a:latin typeface="Arial" pitchFamily="34" charset="0"/>
                  <a:ea typeface="Arial" pitchFamily="34" charset="-122"/>
                  <a:cs typeface="Arial" pitchFamily="34" charset="-120"/>
                </a:rPr>
                <a:t>5</a:t>
              </a:r>
              <a:r>
                <a:rPr kumimoji="0" lang="en-US" sz="3200" b="1" i="0" u="none" strike="noStrike" kern="1200" cap="none" spc="0" normalizeH="0" baseline="0" noProof="0" dirty="0">
                  <a:ln>
                    <a:noFill/>
                  </a:ln>
                  <a:solidFill>
                    <a:srgbClr val="F0B323"/>
                  </a:solidFill>
                  <a:effectLst/>
                  <a:uLnTx/>
                  <a:uFillTx/>
                  <a:latin typeface="Arial" pitchFamily="34" charset="0"/>
                  <a:ea typeface="Arial" pitchFamily="34" charset="-122"/>
                  <a:cs typeface="Arial" pitchFamily="34" charset="-120"/>
                </a:rPr>
                <a: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1600198" y="4187952"/>
              <a:ext cx="1190384" cy="60350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1A2B36"/>
                  </a:solidFill>
                  <a:effectLst/>
                  <a:uLnTx/>
                  <a:uFillTx/>
                  <a:latin typeface="Arial" pitchFamily="34" charset="0"/>
                  <a:ea typeface="Arial" pitchFamily="34" charset="-122"/>
                  <a:cs typeface="Arial" pitchFamily="34" charset="-120"/>
                </a:rPr>
                <a:t>Конкор</a:t>
              </a: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 АМ </a:t>
              </a:r>
              <a:endPar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5 мг + 5 мг</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D4C3ECDA-FA76-E6C3-9ADA-F78CBDDB2582}"/>
              </a:ext>
            </a:extLst>
          </p:cNvPr>
          <p:cNvGrpSpPr/>
          <p:nvPr/>
        </p:nvGrpSpPr>
        <p:grpSpPr>
          <a:xfrm>
            <a:off x="3041625" y="4197096"/>
            <a:ext cx="2747034" cy="612648"/>
            <a:chOff x="3453936" y="4197096"/>
            <a:chExt cx="2747034" cy="612648"/>
          </a:xfrm>
        </p:grpSpPr>
        <p:sp>
          <p:nvSpPr>
            <p:cNvPr id="32" name="Text 30"/>
            <p:cNvSpPr/>
            <p:nvPr/>
          </p:nvSpPr>
          <p:spPr>
            <a:xfrm>
              <a:off x="3453936" y="4197096"/>
              <a:ext cx="1051560" cy="56692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uLnTx/>
                  <a:uFillTx/>
                  <a:latin typeface="Arial" pitchFamily="34" charset="0"/>
                  <a:ea typeface="Arial" pitchFamily="34" charset="-122"/>
                  <a:cs typeface="Arial" pitchFamily="34" charset="-120"/>
                </a:rPr>
                <a:t>0,4%</a:t>
              </a:r>
              <a:endParaRPr kumimoji="0" lang="en-US" sz="32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
          <p:nvSpPr>
            <p:cNvPr id="33" name="Text 31"/>
            <p:cNvSpPr/>
            <p:nvPr/>
          </p:nvSpPr>
          <p:spPr>
            <a:xfrm>
              <a:off x="4551216" y="4206240"/>
              <a:ext cx="1649754" cy="60350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1A2B36"/>
                  </a:solidFill>
                  <a:effectLst/>
                  <a:uLnTx/>
                  <a:uFillTx/>
                  <a:latin typeface="Arial" pitchFamily="34" charset="0"/>
                  <a:ea typeface="+mn-ea"/>
                  <a:cs typeface="Arial" pitchFamily="34" charset="-120"/>
                </a:rPr>
                <a:t>Зарегистрированные явления отёка</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8" name="Group 47">
            <a:extLst>
              <a:ext uri="{FF2B5EF4-FFF2-40B4-BE49-F238E27FC236}">
                <a16:creationId xmlns:a16="http://schemas.microsoft.com/office/drawing/2014/main" id="{54DC745E-ED2C-3050-2FE8-49B8EB6B6A69}"/>
              </a:ext>
            </a:extLst>
          </p:cNvPr>
          <p:cNvGrpSpPr/>
          <p:nvPr/>
        </p:nvGrpSpPr>
        <p:grpSpPr>
          <a:xfrm>
            <a:off x="8776160" y="4187952"/>
            <a:ext cx="2818016" cy="603504"/>
            <a:chOff x="8776160" y="4187952"/>
            <a:chExt cx="2818016" cy="603504"/>
          </a:xfrm>
        </p:grpSpPr>
        <p:sp>
          <p:nvSpPr>
            <p:cNvPr id="35" name="Text 33"/>
            <p:cNvSpPr/>
            <p:nvPr/>
          </p:nvSpPr>
          <p:spPr>
            <a:xfrm>
              <a:off x="8776160" y="4206240"/>
              <a:ext cx="852055" cy="56692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B050"/>
                  </a:solidFill>
                  <a:effectLst/>
                  <a:uLnTx/>
                  <a:uFillTx/>
                  <a:latin typeface="Arial" pitchFamily="34" charset="0"/>
                  <a:ea typeface="Arial" pitchFamily="34" charset="-122"/>
                  <a:cs typeface="Arial" pitchFamily="34" charset="-120"/>
                </a:rPr>
                <a:t>97%</a:t>
              </a:r>
              <a:endParaRPr kumimoji="0" lang="en-US" sz="3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36" name="Text 34"/>
            <p:cNvSpPr/>
            <p:nvPr/>
          </p:nvSpPr>
          <p:spPr>
            <a:xfrm>
              <a:off x="9719656" y="4187952"/>
              <a:ext cx="1874520" cy="60350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предпочли фиксированную комбинацию свободной</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8" name="Text 36"/>
          <p:cNvSpPr/>
          <p:nvPr/>
        </p:nvSpPr>
        <p:spPr>
          <a:xfrm>
            <a:off x="716140" y="5041046"/>
            <a:ext cx="106984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1A2B36"/>
                </a:solidFill>
                <a:effectLst/>
                <a:uLnTx/>
                <a:uFillTx/>
                <a:latin typeface="Arial" pitchFamily="34" charset="0"/>
                <a:ea typeface="Arial" pitchFamily="34" charset="-122"/>
                <a:cs typeface="Arial" pitchFamily="34" charset="-120"/>
              </a:rPr>
              <a:t>Пациенты были переведены на фиксированную комбинацию не менее чем за 4 недели до включения и ранее получали те же препараты в свободной комбинации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502920" y="5583195"/>
            <a:ext cx="11183112" cy="566928"/>
          </a:xfrm>
          <a:prstGeom prst="roundRect">
            <a:avLst>
              <a:gd name="adj" fmla="val 9677"/>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777240" y="5583195"/>
            <a:ext cx="1060704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Большинство случаев отёка не приводит к прекращению терапии</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7" name="Group 46">
            <a:extLst>
              <a:ext uri="{FF2B5EF4-FFF2-40B4-BE49-F238E27FC236}">
                <a16:creationId xmlns:a16="http://schemas.microsoft.com/office/drawing/2014/main" id="{EED402CA-7322-49EB-2369-C5899E292A4E}"/>
              </a:ext>
            </a:extLst>
          </p:cNvPr>
          <p:cNvGrpSpPr/>
          <p:nvPr/>
        </p:nvGrpSpPr>
        <p:grpSpPr>
          <a:xfrm>
            <a:off x="6039702" y="4183380"/>
            <a:ext cx="2485414" cy="612648"/>
            <a:chOff x="5644340" y="4183380"/>
            <a:chExt cx="2485414" cy="612648"/>
          </a:xfrm>
        </p:grpSpPr>
        <p:sp>
          <p:nvSpPr>
            <p:cNvPr id="42" name="Text 30">
              <a:extLst>
                <a:ext uri="{FF2B5EF4-FFF2-40B4-BE49-F238E27FC236}">
                  <a16:creationId xmlns:a16="http://schemas.microsoft.com/office/drawing/2014/main" id="{BD2570E6-9CCC-C4BD-4D40-EC19EB08604B}"/>
                </a:ext>
              </a:extLst>
            </p:cNvPr>
            <p:cNvSpPr/>
            <p:nvPr/>
          </p:nvSpPr>
          <p:spPr>
            <a:xfrm>
              <a:off x="5644340" y="4183380"/>
              <a:ext cx="1051560" cy="56692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BFB3"/>
                  </a:solidFill>
                  <a:effectLst/>
                  <a:uLnTx/>
                  <a:uFillTx/>
                  <a:latin typeface="Arial" pitchFamily="34" charset="0"/>
                  <a:ea typeface="Arial" pitchFamily="34" charset="-122"/>
                  <a:cs typeface="Arial" pitchFamily="34" charset="-120"/>
                </a:rPr>
                <a:t>0,</a:t>
              </a:r>
              <a:r>
                <a:rPr kumimoji="0" lang="ru-RU" sz="3200" b="1" i="0" u="none" strike="noStrike" kern="1200" cap="none" spc="0" normalizeH="0" baseline="0" noProof="0" dirty="0">
                  <a:ln>
                    <a:noFill/>
                  </a:ln>
                  <a:solidFill>
                    <a:srgbClr val="00BFB3"/>
                  </a:solidFill>
                  <a:effectLst/>
                  <a:uLnTx/>
                  <a:uFillTx/>
                  <a:latin typeface="Arial" pitchFamily="34" charset="0"/>
                  <a:ea typeface="Arial" pitchFamily="34" charset="-122"/>
                  <a:cs typeface="Arial" pitchFamily="34" charset="-120"/>
                </a:rPr>
                <a:t>7</a:t>
              </a:r>
              <a:r>
                <a:rPr kumimoji="0" lang="en-US" sz="3200" b="1" i="0" u="none" strike="noStrike" kern="1200" cap="none" spc="0" normalizeH="0" baseline="0" noProof="0" dirty="0">
                  <a:ln>
                    <a:noFill/>
                  </a:ln>
                  <a:solidFill>
                    <a:srgbClr val="00BFB3"/>
                  </a:solidFill>
                  <a:effectLst/>
                  <a:uLnTx/>
                  <a:uFillTx/>
                  <a:latin typeface="Arial" pitchFamily="34" charset="0"/>
                  <a:ea typeface="Arial" pitchFamily="34" charset="-122"/>
                  <a:cs typeface="Arial" pitchFamily="34" charset="-120"/>
                </a:rPr>
                <a: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1">
              <a:extLst>
                <a:ext uri="{FF2B5EF4-FFF2-40B4-BE49-F238E27FC236}">
                  <a16:creationId xmlns:a16="http://schemas.microsoft.com/office/drawing/2014/main" id="{2EAD9EDE-1690-AEF5-0CFD-AD0F06B549CF}"/>
                </a:ext>
              </a:extLst>
            </p:cNvPr>
            <p:cNvSpPr/>
            <p:nvPr/>
          </p:nvSpPr>
          <p:spPr>
            <a:xfrm>
              <a:off x="6741620" y="4192524"/>
              <a:ext cx="1388134" cy="60350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ru-RU" sz="1300" b="0" i="0" u="none" strike="noStrike" kern="1200" cap="none" spc="0" normalizeH="0" baseline="0" noProof="0" dirty="0">
                  <a:ln>
                    <a:noFill/>
                  </a:ln>
                  <a:solidFill>
                    <a:srgbClr val="1A2B36"/>
                  </a:solidFill>
                  <a:effectLst/>
                  <a:uLnTx/>
                  <a:uFillTx/>
                  <a:latin typeface="Arial" pitchFamily="34" charset="0"/>
                  <a:ea typeface="+mn-ea"/>
                  <a:cs typeface="Arial" pitchFamily="34" charset="-120"/>
                </a:rPr>
                <a:t>Все нежелательные явления</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4" name="Arrow: Right 43">
            <a:extLst>
              <a:ext uri="{FF2B5EF4-FFF2-40B4-BE49-F238E27FC236}">
                <a16:creationId xmlns:a16="http://schemas.microsoft.com/office/drawing/2014/main" id="{0361B695-DE6C-A524-62EF-8849C38DA2F9}"/>
              </a:ext>
            </a:extLst>
          </p:cNvPr>
          <p:cNvSpPr/>
          <p:nvPr/>
        </p:nvSpPr>
        <p:spPr>
          <a:xfrm>
            <a:off x="8442440" y="4384361"/>
            <a:ext cx="288000" cy="252000"/>
          </a:xfrm>
          <a:prstGeom prst="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 21">
            <a:extLst>
              <a:ext uri="{FF2B5EF4-FFF2-40B4-BE49-F238E27FC236}">
                <a16:creationId xmlns:a16="http://schemas.microsoft.com/office/drawing/2014/main" id="{ECBAB13F-751E-F9ED-A428-8B51BC873A84}"/>
              </a:ext>
            </a:extLst>
          </p:cNvPr>
          <p:cNvSpPr/>
          <p:nvPr/>
        </p:nvSpPr>
        <p:spPr>
          <a:xfrm>
            <a:off x="206261" y="6400800"/>
            <a:ext cx="11931878"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1. </a:t>
            </a:r>
            <a:r>
              <a:rPr kumimoji="0" lang="ru-RU"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Конкор</a:t>
            </a:r>
            <a:r>
              <a:rPr kumimoji="0" lang="ru-RU"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АМ. Общая характеристика лекарственного препарата. ЛП-№(012650)-(РГ-RU) от 28.11.2025</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2.</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Vukadinović D,, et al. Peripheral edema and headache associated with amlodipine treatment: a meta-analysis of randomized, placebo-controlled trials.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2019;37(10):2093–2103. doi:10.1097/HJH.0000000000002145. </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3. </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Makani H, Bangalore S, Romero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Htyte</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N, Berrios RS, Makwana H, Messerli FH. Peripheral edema associated with calcium channel blockers: incidence and withdrawal rate — a meta-analysis of randomized trials. J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Hypertens</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2011;29(7):1270–1280. doi:10.1097/HJH.0b013e3283472643.</a:t>
            </a:r>
            <a:r>
              <a:rPr kumimoji="0" lang="en-US" sz="800" b="1"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4.</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Hostalek</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U, Czarnecka D, Koch EMW. Treatment of hypertensive patients with a fixed-dose combination of bisoprolol and amlodipine: results of a cohort study with more than 10,000 patients. </a:t>
            </a:r>
            <a:r>
              <a:rPr kumimoji="0" lang="en-US" sz="800" b="0" i="0" u="none" strike="noStrike" kern="1200" cap="none" spc="0" normalizeH="0" baseline="0" noProof="0" dirty="0" err="1">
                <a:ln>
                  <a:noFill/>
                </a:ln>
                <a:solidFill>
                  <a:prstClr val="black"/>
                </a:solidFill>
                <a:effectLst/>
                <a:uLnTx/>
                <a:uFillTx/>
                <a:latin typeface="Arial" pitchFamily="34" charset="0"/>
                <a:ea typeface="Arial" pitchFamily="34" charset="-122"/>
                <a:cs typeface="Arial" pitchFamily="34" charset="-120"/>
              </a:rPr>
              <a:t>Cardiol</a:t>
            </a:r>
            <a:r>
              <a:rPr kumimoji="0" lang="en-US" sz="8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 Ther. 2015;4(2):179–190. doi:10.1007/s40119-015-0045-z.</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98D55-4983-86CB-6FBD-F9CC37D582D4}"/>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10E901A-527E-495F-9C38-F03954485F14}"/>
              </a:ext>
            </a:extLst>
          </p:cNvPr>
          <p:cNvSpPr>
            <a:spLocks noGrp="1"/>
          </p:cNvSpPr>
          <p:nvPr>
            <p:ph type="title"/>
          </p:nvPr>
        </p:nvSpPr>
        <p:spPr bwMode="gray">
          <a:xfrm>
            <a:off x="5588000" y="2037792"/>
            <a:ext cx="6604000" cy="1365808"/>
          </a:xfrm>
        </p:spPr>
        <p:txBody>
          <a:bodyPr/>
          <a:lstStyle/>
          <a:p>
            <a:r>
              <a:rPr lang="ru-RU" sz="4000" b="1" dirty="0">
                <a:latin typeface="Arial (Headings)"/>
              </a:rPr>
              <a:t>Прием препаратов при нагрузочных пробах</a:t>
            </a:r>
          </a:p>
        </p:txBody>
      </p:sp>
      <p:sp>
        <p:nvSpPr>
          <p:cNvPr id="2" name="TextBox 1">
            <a:extLst>
              <a:ext uri="{FF2B5EF4-FFF2-40B4-BE49-F238E27FC236}">
                <a16:creationId xmlns:a16="http://schemas.microsoft.com/office/drawing/2014/main" id="{119D07EA-3FC1-1966-6C0E-37E733F1B65F}"/>
              </a:ext>
            </a:extLst>
          </p:cNvPr>
          <p:cNvSpPr txBox="1"/>
          <p:nvPr/>
        </p:nvSpPr>
        <p:spPr>
          <a:xfrm>
            <a:off x="1822287" y="16669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ustDataLst>
      <p:tags r:id="rId1"/>
    </p:custDataLst>
    <p:extLst>
      <p:ext uri="{BB962C8B-B14F-4D97-AF65-F5344CB8AC3E}">
        <p14:creationId xmlns:p14="http://schemas.microsoft.com/office/powerpoint/2010/main" val="413039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8585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Отмена β-адреноблокатора перед нагрузочной пробой</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19" y="768096"/>
            <a:ext cx="11628000" cy="3108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Отменять ли — и насколько? </a:t>
            </a:r>
            <a:r>
              <a:rPr kumimoji="0" lang="en-US" sz="1600" b="0" i="0"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Зависит от цели пробы. Формального протокола отмены нет — это клиническое решение.</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170432"/>
            <a:ext cx="5410048" cy="1591056"/>
          </a:xfrm>
          <a:prstGeom prst="roundRect">
            <a:avLst>
              <a:gd name="adj" fmla="val 5172"/>
            </a:avLst>
          </a:prstGeom>
          <a:solidFill>
            <a:srgbClr val="EAF5FB"/>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04088" y="1371600"/>
            <a:ext cx="420624" cy="420624"/>
          </a:xfrm>
          <a:prstGeom prst="ellipse">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817656" y="1485168"/>
            <a:ext cx="193487" cy="193487"/>
          </a:xfrm>
          <a:prstGeom prst="rect">
            <a:avLst/>
          </a:prstGeom>
        </p:spPr>
      </p:pic>
      <p:sp>
        <p:nvSpPr>
          <p:cNvPr id="7" name="Text 4"/>
          <p:cNvSpPr/>
          <p:nvPr/>
        </p:nvSpPr>
        <p:spPr>
          <a:xfrm>
            <a:off x="1234440" y="1371600"/>
            <a:ext cx="44956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ДИАГНОСТИКА </a:t>
            </a:r>
            <a:r>
              <a:rPr kumimoji="0" lang="en-US"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ишемии</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22376" y="1828800"/>
            <a:ext cx="497113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Отменить β-адреноблокатор</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722375" y="2157984"/>
            <a:ext cx="5122243"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β-блокада маскирует ишемию → ложноотрицательный результат</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22376" y="2450592"/>
            <a:ext cx="4971136"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1"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КР РФ: </a:t>
            </a:r>
            <a:r>
              <a:rPr kumimoji="0" lang="en-US" sz="950" b="0" i="1"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пробу проводят вне антиишемической терапии (IIb B)</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278728" y="1170432"/>
            <a:ext cx="5410048" cy="1591056"/>
          </a:xfrm>
          <a:prstGeom prst="roundRect">
            <a:avLst>
              <a:gd name="adj" fmla="val 5172"/>
            </a:avLst>
          </a:prstGeom>
          <a:solidFill>
            <a:srgbClr val="E4F6F4"/>
          </a:solidFill>
          <a:ln w="19050">
            <a:solidFill>
              <a:srgbClr val="FF0000"/>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6479896" y="1371600"/>
            <a:ext cx="420624" cy="420624"/>
          </a:xfrm>
          <a:prstGeom prst="ellipse">
            <a:avLst/>
          </a:prstGeom>
          <a:solidFill>
            <a:srgbClr val="00B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6593464" y="1485168"/>
            <a:ext cx="193487" cy="193487"/>
          </a:xfrm>
          <a:prstGeom prst="rect">
            <a:avLst/>
          </a:prstGeom>
        </p:spPr>
      </p:pic>
      <p:sp>
        <p:nvSpPr>
          <p:cNvPr id="14" name="Text 10"/>
          <p:cNvSpPr/>
          <p:nvPr/>
        </p:nvSpPr>
        <p:spPr>
          <a:xfrm>
            <a:off x="7010248" y="1371600"/>
            <a:ext cx="44956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itchFamily="34" charset="0"/>
                <a:ea typeface="Arial" pitchFamily="34" charset="-122"/>
                <a:cs typeface="Arial" pitchFamily="34" charset="-120"/>
              </a:rPr>
              <a:t>ОЦЕНКА ЭФФЕКТИВНОСТИ </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терапии</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6498184" y="1828800"/>
            <a:ext cx="497113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0000"/>
                </a:solidFill>
                <a:effectLst/>
                <a:uLnTx/>
                <a:uFillTx/>
                <a:latin typeface="Arial" pitchFamily="34" charset="0"/>
                <a:ea typeface="Arial" pitchFamily="34" charset="-122"/>
                <a:cs typeface="Arial" pitchFamily="34" charset="-120"/>
              </a:rPr>
              <a:t>Не отменять </a:t>
            </a:r>
            <a:r>
              <a:rPr kumimoji="0" lang="en-US" sz="15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проба на фоне приёма</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6498184" y="2157984"/>
            <a:ext cx="4971136"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оценивают эффект терапии; при отмене проба теряет смысл</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6498184" y="2450592"/>
            <a:ext cx="4971136"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1"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КР РФ: </a:t>
            </a:r>
            <a:r>
              <a:rPr kumimoji="0" lang="en-US" sz="950" b="0" i="1"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на фоне приёма (IIb C)</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3025064" y="2798064"/>
            <a:ext cx="365760" cy="365760"/>
          </a:xfrm>
          <a:prstGeom prst="rect">
            <a:avLst/>
          </a:prstGeom>
        </p:spPr>
      </p:pic>
      <p:sp>
        <p:nvSpPr>
          <p:cNvPr id="20" name="Text 15"/>
          <p:cNvSpPr/>
          <p:nvPr/>
        </p:nvSpPr>
        <p:spPr>
          <a:xfrm>
            <a:off x="8206511" y="2834640"/>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дальше не разворачиваем</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502920" y="3273552"/>
            <a:ext cx="1118585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Если отменяем — насколько?</a:t>
            </a:r>
            <a:r>
              <a:rPr kumimoji="0" lang="en-US" sz="16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Прямого протокола нет; ориентир — фармакокинетика бисопролола (T½ 10–12 ч).</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7"/>
          <p:cNvSpPr/>
          <p:nvPr/>
        </p:nvSpPr>
        <p:spPr>
          <a:xfrm>
            <a:off x="502919" y="3566160"/>
            <a:ext cx="1130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На фоне β-блокады не достигается ишемический порог (целевая ЧСС / двойное произведение ЧСС×АД) → субмаксимальная, ложноотрицательная проба.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8"/>
          <p:cNvSpPr/>
          <p:nvPr/>
        </p:nvSpPr>
        <p:spPr>
          <a:xfrm>
            <a:off x="502920" y="3931920"/>
            <a:ext cx="5410048" cy="1005840"/>
          </a:xfrm>
          <a:prstGeom prst="roundRect">
            <a:avLst>
              <a:gd name="adj" fmla="val 8182"/>
            </a:avLst>
          </a:prstGeom>
          <a:solidFill>
            <a:srgbClr val="EAF5FB"/>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685800" y="4114800"/>
            <a:ext cx="365760" cy="365760"/>
          </a:xfrm>
          <a:prstGeom prst="ellipse">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tretch>
            <a:fillRect/>
          </a:stretch>
        </p:blipFill>
        <p:spPr>
          <a:xfrm>
            <a:off x="784555" y="4213555"/>
            <a:ext cx="168250" cy="168250"/>
          </a:xfrm>
          <a:prstGeom prst="rect">
            <a:avLst/>
          </a:prstGeom>
        </p:spPr>
      </p:pic>
      <p:sp>
        <p:nvSpPr>
          <p:cNvPr id="26" name="Text 20"/>
          <p:cNvSpPr/>
          <p:nvPr/>
        </p:nvSpPr>
        <p:spPr>
          <a:xfrm>
            <a:off x="1161288" y="4096512"/>
            <a:ext cx="4568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Пропустить только утренний приём</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777240" y="4480560"/>
            <a:ext cx="4897984"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частичная β-блокада → риск субмаксимальной пробы</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2"/>
          <p:cNvSpPr/>
          <p:nvPr/>
        </p:nvSpPr>
        <p:spPr>
          <a:xfrm>
            <a:off x="6278728" y="3931920"/>
            <a:ext cx="5410048" cy="1005840"/>
          </a:xfrm>
          <a:prstGeom prst="roundRect">
            <a:avLst>
              <a:gd name="adj" fmla="val 8182"/>
            </a:avLst>
          </a:prstGeom>
          <a:solidFill>
            <a:srgbClr val="EAF5FB"/>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461608" y="4114800"/>
            <a:ext cx="365760" cy="365760"/>
          </a:xfrm>
          <a:prstGeom prst="ellipse">
            <a:avLst/>
          </a:prstGeom>
          <a:solidFill>
            <a:srgbClr val="00B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4" descr="preencoded.png"/>
          <p:cNvPicPr>
            <a:picLocks noChangeAspect="1"/>
          </p:cNvPicPr>
          <p:nvPr/>
        </p:nvPicPr>
        <p:blipFill>
          <a:blip r:embed="rId6"/>
          <a:stretch>
            <a:fillRect/>
          </a:stretch>
        </p:blipFill>
        <p:spPr>
          <a:xfrm>
            <a:off x="6560363" y="4213555"/>
            <a:ext cx="168250" cy="168250"/>
          </a:xfrm>
          <a:prstGeom prst="rect">
            <a:avLst/>
          </a:prstGeom>
        </p:spPr>
      </p:pic>
      <p:sp>
        <p:nvSpPr>
          <p:cNvPr id="31" name="Text 24"/>
          <p:cNvSpPr/>
          <p:nvPr/>
        </p:nvSpPr>
        <p:spPr>
          <a:xfrm>
            <a:off x="6937096" y="4096512"/>
            <a:ext cx="4568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Отмыть ~48 ч  (≈4–5 T½)</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p:nvPr/>
        </p:nvSpPr>
        <p:spPr>
          <a:xfrm>
            <a:off x="6553048" y="4480560"/>
            <a:ext cx="4897984"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почти полная отмывка → максимальная чувствительность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6"/>
          <p:cNvSpPr/>
          <p:nvPr/>
        </p:nvSpPr>
        <p:spPr>
          <a:xfrm>
            <a:off x="502920" y="5138928"/>
            <a:ext cx="11185855" cy="950976"/>
          </a:xfrm>
          <a:prstGeom prst="roundRect">
            <a:avLst>
              <a:gd name="adj" fmla="val 10465"/>
            </a:avLst>
          </a:prstGeom>
          <a:solidFill>
            <a:srgbClr val="FCF4E2"/>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27"/>
          <p:cNvSpPr/>
          <p:nvPr/>
        </p:nvSpPr>
        <p:spPr>
          <a:xfrm>
            <a:off x="685800" y="5330952"/>
            <a:ext cx="384048" cy="384048"/>
          </a:xfrm>
          <a:prstGeom prst="ellipse">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5" name="Image 5" descr="preencoded.png"/>
          <p:cNvPicPr>
            <a:picLocks noChangeAspect="1"/>
          </p:cNvPicPr>
          <p:nvPr/>
        </p:nvPicPr>
        <p:blipFill>
          <a:blip r:embed="rId7"/>
          <a:stretch>
            <a:fillRect/>
          </a:stretch>
        </p:blipFill>
        <p:spPr>
          <a:xfrm>
            <a:off x="789493" y="5434645"/>
            <a:ext cx="176662" cy="176662"/>
          </a:xfrm>
          <a:prstGeom prst="rect">
            <a:avLst/>
          </a:prstGeom>
        </p:spPr>
      </p:pic>
      <p:sp>
        <p:nvSpPr>
          <p:cNvPr id="36" name="Text 28"/>
          <p:cNvSpPr/>
          <p:nvPr/>
        </p:nvSpPr>
        <p:spPr>
          <a:xfrm>
            <a:off x="1179576" y="5203146"/>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Отмена</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не</a:t>
            </a:r>
            <a:r>
              <a:rPr kumimoji="0" lang="en-US"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6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бесплатна</a:t>
            </a:r>
            <a:r>
              <a:rPr kumimoji="0" lang="ru-RU" sz="16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p:nvPr/>
        </p:nvSpPr>
        <p:spPr>
          <a:xfrm>
            <a:off x="1179576" y="5634968"/>
            <a:ext cx="10271455"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Резкая отмена → рикошет (тахикардия, подъём АД, учащение стенокардии). </a:t>
            </a:r>
            <a:endParaRPr kumimoji="0" lang="ru-RU" sz="16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Компромисс</a:t>
            </a:r>
            <a:r>
              <a:rPr kumimoji="0" lang="en-US" sz="16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 половинная доза утром в день теста (не стандартизирован).</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0"/>
          <p:cNvSpPr/>
          <p:nvPr/>
        </p:nvSpPr>
        <p:spPr>
          <a:xfrm>
            <a:off x="502920" y="6373368"/>
            <a:ext cx="11185855" cy="384048"/>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Барбараш О.Л., и соавт. Стабильная ишемическая болезнь сердца. Клинические рекомендации 2024. Российский кардиологический журнал. 2024;29(9):6110. doi:10.15829/1560-4071-2024-6110  ·  Sicari R. Cardiovasc Ultrasound. 2004;2:14. doi:10.1186/1476-7120-2-14  ·  Cohen BJ. Clin Pharmacol Drug Dev. 2017;6(1):6-8. doi:10.1002/cpdd.325  ·  Koracevic G, et al. Curr Vasc Pharmacol. 2021;19(6):624-633. doi:10.2174/1570161119666210302152322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37785933-DBE0-D980-805D-FC535CEBD8A2}"/>
              </a:ext>
            </a:extLst>
          </p:cNvPr>
          <p:cNvSpPr txBox="1"/>
          <p:nvPr/>
        </p:nvSpPr>
        <p:spPr>
          <a:xfrm>
            <a:off x="1822287" y="100189"/>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8585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Что оставить и чем подстраховать</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768096"/>
            <a:ext cx="11185855" cy="3108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Отменяют β-адреноблокатор. Амлодипин — по выбору, отменять не обязательно.</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170432"/>
            <a:ext cx="6492240" cy="5047488"/>
          </a:xfrm>
          <a:prstGeom prst="roundRect">
            <a:avLst>
              <a:gd name="adj" fmla="val 1630"/>
            </a:avLst>
          </a:prstGeom>
          <a:solidFill>
            <a:srgbClr val="EAF5FB"/>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40664" y="1408176"/>
            <a:ext cx="457200" cy="457200"/>
          </a:xfrm>
          <a:prstGeom prst="ellipse">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864108" y="1531620"/>
            <a:ext cx="210312" cy="210312"/>
          </a:xfrm>
          <a:prstGeom prst="rect">
            <a:avLst/>
          </a:prstGeom>
        </p:spPr>
      </p:pic>
      <p:sp>
        <p:nvSpPr>
          <p:cNvPr id="7" name="Text 4"/>
          <p:cNvSpPr/>
          <p:nvPr/>
        </p:nvSpPr>
        <p:spPr>
          <a:xfrm>
            <a:off x="1344168" y="1426464"/>
            <a:ext cx="54406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Амлодипин: отменять не обязательно</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813816" y="2029968"/>
            <a:ext cx="58704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Приоритет — снять β-адреноблокатор. Амлодипин — отдельный вопрос:</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13816" y="2433583"/>
            <a:ext cx="5870448" cy="1792224"/>
          </a:xfrm>
          <a:prstGeom prst="rect">
            <a:avLst/>
          </a:prstGeom>
          <a:noFill/>
          <a:ln/>
        </p:spPr>
        <p:txBody>
          <a:bodyPr wrap="square" lIns="0" tIns="0" rIns="0" bIns="0" rtlCol="0" anchor="ctr"/>
          <a:lstStyle/>
          <a:p>
            <a:pPr marL="180975" marR="0" lvl="0" indent="-180975" algn="l" defTabSz="914400" rtl="0" eaLnBrk="1" fontAlgn="auto" latinLnBrk="0" hangingPunct="1">
              <a:lnSpc>
                <a:spcPct val="1000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не влияет на ЧСС (ДГП, не верапамил/дилтиазем) — вне логики отмены ради ЧСС</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ct val="1000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вазодилататор → может маскировать ишемию; величина не установлена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ct val="1000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T½ 30–50 ч → короткая отмена (24–48 ч) малоэффективна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ct val="1000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рикошета нет → отменить или оставить — это выбор, не необходимость</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13816" y="4315968"/>
            <a:ext cx="5870448" cy="768096"/>
          </a:xfrm>
          <a:prstGeom prst="roundRect">
            <a:avLst>
              <a:gd name="adj" fmla="val 7143"/>
            </a:avLst>
          </a:prstGeom>
          <a:solidFill>
            <a:srgbClr val="FFFFFF"/>
          </a:solidFill>
          <a:ln w="12700">
            <a:solidFill>
              <a:srgbClr val="00BFB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960120" y="4389120"/>
            <a:ext cx="5577840" cy="6217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Конкор-АМ — фиксированная комбинация: </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компоненты не разделить. Чтобы убрать β-АБ — снять всю таблетку или временно перейти на монокомпонент амлодипина.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813816" y="5193792"/>
            <a:ext cx="5870448" cy="585216"/>
          </a:xfrm>
          <a:prstGeom prst="roundRect">
            <a:avLst>
              <a:gd name="adj" fmla="val 9375"/>
            </a:avLst>
          </a:prstGeom>
          <a:solidFill>
            <a:srgbClr val="FFFFFF"/>
          </a:solidFill>
          <a:ln w="12700">
            <a:solidFill>
              <a:srgbClr val="F0B3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960120" y="5330952"/>
            <a:ext cx="237744" cy="237744"/>
          </a:xfrm>
          <a:prstGeom prst="rect">
            <a:avLst/>
          </a:prstGeom>
        </p:spPr>
      </p:pic>
      <p:sp>
        <p:nvSpPr>
          <p:cNvPr id="14" name="Text 10"/>
          <p:cNvSpPr/>
          <p:nvPr/>
        </p:nvSpPr>
        <p:spPr>
          <a:xfrm>
            <a:off x="1307592" y="5230368"/>
            <a:ext cx="5358384"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Не</a:t>
            </a:r>
            <a:r>
              <a:rPr kumimoji="0" lang="en-US" sz="11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a:t>
            </a:r>
            <a:r>
              <a:rPr kumimoji="0" lang="en-US" sz="1100" b="1"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формул</a:t>
            </a:r>
            <a:r>
              <a:rPr kumimoji="0" lang="ru-RU" sz="1100" b="1"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ируем</a:t>
            </a:r>
            <a:r>
              <a:rPr kumimoji="0" lang="en-US" sz="11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«амлодипин нейтрален для пробы». </a:t>
            </a:r>
            <a:r>
              <a:rPr kumimoji="0" lang="en-US" sz="11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При отмене — контроль АД.</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7315200" y="1170432"/>
            <a:ext cx="4373575" cy="1664208"/>
          </a:xfrm>
          <a:prstGeom prst="roundRect">
            <a:avLst>
              <a:gd name="adj" fmla="val 4945"/>
            </a:avLst>
          </a:prstGeom>
          <a:solidFill>
            <a:srgbClr val="E4F6F4"/>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7534656" y="1389888"/>
            <a:ext cx="420624" cy="420624"/>
          </a:xfrm>
          <a:prstGeom prst="ellipse">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7648224" y="1503456"/>
            <a:ext cx="193487" cy="193487"/>
          </a:xfrm>
          <a:prstGeom prst="rect">
            <a:avLst/>
          </a:prstGeom>
        </p:spPr>
      </p:pic>
      <p:sp>
        <p:nvSpPr>
          <p:cNvPr id="18" name="Text 13"/>
          <p:cNvSpPr/>
          <p:nvPr/>
        </p:nvSpPr>
        <p:spPr>
          <a:xfrm>
            <a:off x="8083296" y="1408176"/>
            <a:ext cx="3413455"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Нитратный мост</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7589520" y="1865376"/>
            <a:ext cx="3824935"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Короткие нитраты по требованию — в период отмывки β-АБ.</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4"/>
          <a:stretch>
            <a:fillRect/>
          </a:stretch>
        </p:blipFill>
        <p:spPr>
          <a:xfrm>
            <a:off x="7589520" y="2397426"/>
            <a:ext cx="219456" cy="219456"/>
          </a:xfrm>
          <a:prstGeom prst="rect">
            <a:avLst/>
          </a:prstGeom>
        </p:spPr>
      </p:pic>
      <p:sp>
        <p:nvSpPr>
          <p:cNvPr id="21" name="Text 15"/>
          <p:cNvSpPr/>
          <p:nvPr/>
        </p:nvSpPr>
        <p:spPr>
          <a:xfrm>
            <a:off x="7882128" y="2360850"/>
            <a:ext cx="3532327"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Перед самой пробой не давать — маскируют ишемию.</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6"/>
          <p:cNvSpPr/>
          <p:nvPr/>
        </p:nvSpPr>
        <p:spPr>
          <a:xfrm>
            <a:off x="7315200" y="3017520"/>
            <a:ext cx="4373575" cy="3200400"/>
          </a:xfrm>
          <a:prstGeom prst="roundRect">
            <a:avLst>
              <a:gd name="adj" fmla="val 2571"/>
            </a:avLst>
          </a:prstGeom>
          <a:solidFill>
            <a:srgbClr val="F3F6F8"/>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7"/>
          <p:cNvSpPr/>
          <p:nvPr/>
        </p:nvSpPr>
        <p:spPr>
          <a:xfrm>
            <a:off x="7534656" y="3236976"/>
            <a:ext cx="420624" cy="420624"/>
          </a:xfrm>
          <a:prstGeom prst="ellipse">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4" descr="preencoded.png"/>
          <p:cNvPicPr>
            <a:picLocks noChangeAspect="1"/>
          </p:cNvPicPr>
          <p:nvPr/>
        </p:nvPicPr>
        <p:blipFill>
          <a:blip r:embed="rId6"/>
          <a:stretch>
            <a:fillRect/>
          </a:stretch>
        </p:blipFill>
        <p:spPr>
          <a:xfrm>
            <a:off x="7648224" y="3350544"/>
            <a:ext cx="193487" cy="193487"/>
          </a:xfrm>
          <a:prstGeom prst="rect">
            <a:avLst/>
          </a:prstGeom>
        </p:spPr>
      </p:pic>
      <p:sp>
        <p:nvSpPr>
          <p:cNvPr id="25" name="Text 18"/>
          <p:cNvSpPr/>
          <p:nvPr/>
        </p:nvSpPr>
        <p:spPr>
          <a:xfrm>
            <a:off x="8083296" y="3255264"/>
            <a:ext cx="3413455"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Зависит от вида пробы</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19"/>
          <p:cNvSpPr/>
          <p:nvPr/>
        </p:nvSpPr>
        <p:spPr>
          <a:xfrm>
            <a:off x="7589520" y="3803904"/>
            <a:ext cx="3824935" cy="1207008"/>
          </a:xfrm>
          <a:prstGeom prst="rect">
            <a:avLst/>
          </a:prstGeom>
          <a:noFill/>
          <a:ln/>
        </p:spPr>
        <p:txBody>
          <a:bodyPr wrap="square" lIns="0" tIns="0" rIns="0" bIns="0" rtlCol="0" anchor="ctr"/>
          <a:lstStyle/>
          <a:p>
            <a:pPr marL="0" marR="0" lvl="0" indent="0" algn="l" defTabSz="914400" rtl="0" eaLnBrk="1" fontAlgn="auto" latinLnBrk="0" hangingPunct="1">
              <a:lnSpc>
                <a:spcPct val="104000"/>
              </a:lnSpc>
              <a:spcBef>
                <a:spcPts val="0"/>
              </a:spcBef>
              <a:spcAft>
                <a:spcPts val="1300"/>
              </a:spcAft>
              <a:buClrTx/>
              <a:buSzTx/>
              <a:buFontTx/>
              <a:buNone/>
              <a:tabLst/>
              <a:defRPr/>
            </a:pPr>
            <a:r>
              <a:rPr kumimoji="0" lang="en-US" sz="14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Нагрузочная ЭКГ</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β-АБ отменять (нужен прирост ЧСС/АД).</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4000"/>
              </a:lnSpc>
              <a:spcBef>
                <a:spcPts val="0"/>
              </a:spcBef>
              <a:spcAft>
                <a:spcPts val="1300"/>
              </a:spcAft>
              <a:buClrTx/>
              <a:buSzTx/>
              <a:buFontTx/>
              <a:buNone/>
              <a:tabLst/>
              <a:defRPr/>
            </a:pPr>
            <a:r>
              <a:rPr kumimoji="0" lang="en-US" sz="1400" b="1"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Добутаминовая стресс-ЭхоКГ</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β-агонист; β-АБ притупляют ответ → </a:t>
            </a:r>
            <a:r>
              <a:rPr kumimoji="0" lang="en-US" sz="1400" b="0"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атропин</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0"/>
          <p:cNvSpPr/>
          <p:nvPr/>
        </p:nvSpPr>
        <p:spPr>
          <a:xfrm>
            <a:off x="502920" y="6373368"/>
            <a:ext cx="11185855" cy="384048"/>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C6B79"/>
                </a:solidFill>
                <a:effectLst/>
                <a:uLnTx/>
                <a:uFillTx/>
                <a:latin typeface="Arial" pitchFamily="34" charset="0"/>
                <a:ea typeface="Arial" pitchFamily="34" charset="-122"/>
                <a:cs typeface="Arial" pitchFamily="34" charset="-120"/>
              </a:rPr>
              <a:t>Toal CB, Meredith PA, Elliott HL. Blood Press. 2012;21(Suppl 1):3-10. doi:10.3109/08037051.2012.690615  ·  Cohen BJ. Clin Pharmacol Drug Dev. 2017;6(1):6-8. doi:10.1002/cpdd.325  ·  Zoghbi GJ, Dorfman TA, Iskandrian AE. J Am Coll Cardiol. 2008;52(6):401-416. doi:10.1016/j.jacc.2008.04.035  ·  Барбараш О.Л., и соавт. Российский кардиологический журнал. 2024;29(9):6110. doi:10.15829/1560-4071-2024-6110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5F74475B-A785-CA44-E140-9475C2A30D6A}"/>
              </a:ext>
            </a:extLst>
          </p:cNvPr>
          <p:cNvSpPr txBox="1"/>
          <p:nvPr/>
        </p:nvSpPr>
        <p:spPr>
          <a:xfrm>
            <a:off x="1822287" y="108503"/>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72B63-0E69-91D6-48DE-B1D4F2BD525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3DD44898-8FCC-3E12-ED6F-1067577A2C36}"/>
              </a:ext>
            </a:extLst>
          </p:cNvPr>
          <p:cNvSpPr>
            <a:spLocks noGrp="1"/>
          </p:cNvSpPr>
          <p:nvPr>
            <p:ph type="title"/>
          </p:nvPr>
        </p:nvSpPr>
        <p:spPr bwMode="gray">
          <a:xfrm>
            <a:off x="5629564" y="2503305"/>
            <a:ext cx="5756590" cy="1365808"/>
          </a:xfrm>
        </p:spPr>
        <p:txBody>
          <a:bodyPr/>
          <a:lstStyle/>
          <a:p>
            <a:r>
              <a:rPr lang="ru-RU" sz="4000" b="1" dirty="0">
                <a:latin typeface="Arial (Headings)"/>
              </a:rPr>
              <a:t>Стенокардия / Ишемия без обструктивного поражения коронарных артерий</a:t>
            </a:r>
          </a:p>
        </p:txBody>
      </p:sp>
    </p:spTree>
    <p:custDataLst>
      <p:tags r:id="rId1"/>
    </p:custDataLst>
    <p:extLst>
      <p:ext uri="{BB962C8B-B14F-4D97-AF65-F5344CB8AC3E}">
        <p14:creationId xmlns:p14="http://schemas.microsoft.com/office/powerpoint/2010/main" val="149653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FC3A45B-54FC-03DC-E517-D37FEF771F25}"/>
              </a:ext>
            </a:extLst>
          </p:cNvPr>
          <p:cNvGrpSpPr/>
          <p:nvPr/>
        </p:nvGrpSpPr>
        <p:grpSpPr>
          <a:xfrm>
            <a:off x="590257" y="875934"/>
            <a:ext cx="7249802" cy="5786660"/>
            <a:chOff x="3142211" y="1071340"/>
            <a:chExt cx="7249802" cy="5786660"/>
          </a:xfrm>
        </p:grpSpPr>
        <p:pic>
          <p:nvPicPr>
            <p:cNvPr id="3" name="Picture 2">
              <a:extLst>
                <a:ext uri="{FF2B5EF4-FFF2-40B4-BE49-F238E27FC236}">
                  <a16:creationId xmlns:a16="http://schemas.microsoft.com/office/drawing/2014/main" id="{342D0018-5487-9405-9DF3-C6E97D5E5EA2}"/>
                </a:ext>
              </a:extLst>
            </p:cNvPr>
            <p:cNvPicPr>
              <a:picLocks noChangeAspect="1"/>
            </p:cNvPicPr>
            <p:nvPr/>
          </p:nvPicPr>
          <p:blipFill>
            <a:blip r:embed="rId2"/>
            <a:stretch>
              <a:fillRect/>
            </a:stretch>
          </p:blipFill>
          <p:spPr>
            <a:xfrm>
              <a:off x="3142211" y="1071340"/>
              <a:ext cx="7249802" cy="5786660"/>
            </a:xfrm>
            <a:prstGeom prst="rect">
              <a:avLst/>
            </a:prstGeom>
          </p:spPr>
        </p:pic>
        <p:sp>
          <p:nvSpPr>
            <p:cNvPr id="4" name="TextBox 3">
              <a:extLst>
                <a:ext uri="{FF2B5EF4-FFF2-40B4-BE49-F238E27FC236}">
                  <a16:creationId xmlns:a16="http://schemas.microsoft.com/office/drawing/2014/main" id="{405FB227-3F38-C209-6C62-5DFB9696F74A}"/>
                </a:ext>
              </a:extLst>
            </p:cNvPr>
            <p:cNvSpPr txBox="1"/>
            <p:nvPr/>
          </p:nvSpPr>
          <p:spPr>
            <a:xfrm>
              <a:off x="3374965" y="1985480"/>
              <a:ext cx="1584000" cy="216000"/>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1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Обструктивная КБС</a:t>
              </a:r>
            </a:p>
          </p:txBody>
        </p:sp>
        <p:sp>
          <p:nvSpPr>
            <p:cNvPr id="5" name="TextBox 4">
              <a:extLst>
                <a:ext uri="{FF2B5EF4-FFF2-40B4-BE49-F238E27FC236}">
                  <a16:creationId xmlns:a16="http://schemas.microsoft.com/office/drawing/2014/main" id="{ED0F0914-4F4A-5C28-D0A2-9404C122752A}"/>
                </a:ext>
              </a:extLst>
            </p:cNvPr>
            <p:cNvSpPr txBox="1"/>
            <p:nvPr/>
          </p:nvSpPr>
          <p:spPr>
            <a:xfrm>
              <a:off x="3348652" y="3449528"/>
              <a:ext cx="1620000" cy="324000"/>
            </a:xfrm>
            <a:prstGeom prst="rect">
              <a:avLst/>
            </a:prstGeom>
            <a:solidFill>
              <a:srgbClr val="E4E5EC"/>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Необструктивная</a:t>
              </a:r>
              <a:r>
                <a:rPr kumimoji="0" lang="ru-RU" sz="1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или неочевидная КБС</a:t>
              </a:r>
            </a:p>
          </p:txBody>
        </p:sp>
        <p:sp>
          <p:nvSpPr>
            <p:cNvPr id="6" name="TextBox 5">
              <a:extLst>
                <a:ext uri="{FF2B5EF4-FFF2-40B4-BE49-F238E27FC236}">
                  <a16:creationId xmlns:a16="http://schemas.microsoft.com/office/drawing/2014/main" id="{6E58DB7E-F6DA-7126-212A-DE6D3DAD8006}"/>
                </a:ext>
              </a:extLst>
            </p:cNvPr>
            <p:cNvSpPr txBox="1"/>
            <p:nvPr/>
          </p:nvSpPr>
          <p:spPr>
            <a:xfrm>
              <a:off x="3557847" y="4927117"/>
              <a:ext cx="1188000" cy="324000"/>
            </a:xfrm>
            <a:prstGeom prst="rect">
              <a:avLst/>
            </a:prstGeom>
            <a:solidFill>
              <a:srgbClr val="CBCCD9"/>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5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Коронарные факторы риска</a:t>
              </a:r>
            </a:p>
          </p:txBody>
        </p:sp>
        <p:sp>
          <p:nvSpPr>
            <p:cNvPr id="7" name="TextBox 6">
              <a:extLst>
                <a:ext uri="{FF2B5EF4-FFF2-40B4-BE49-F238E27FC236}">
                  <a16:creationId xmlns:a16="http://schemas.microsoft.com/office/drawing/2014/main" id="{3C98438C-19F9-DD32-88C5-2D6C53FB2C7E}"/>
                </a:ext>
              </a:extLst>
            </p:cNvPr>
            <p:cNvSpPr txBox="1"/>
            <p:nvPr/>
          </p:nvSpPr>
          <p:spPr>
            <a:xfrm>
              <a:off x="6508059" y="2710728"/>
              <a:ext cx="1332000" cy="415498"/>
            </a:xfrm>
            <a:prstGeom prst="rect">
              <a:avLst/>
            </a:prstGeom>
            <a:solidFill>
              <a:srgbClr val="CBD3E7"/>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Подтвержденная ишемия вследствие дисбаланса</a:t>
              </a:r>
            </a:p>
          </p:txBody>
        </p:sp>
        <p:sp>
          <p:nvSpPr>
            <p:cNvPr id="8" name="TextBox 7">
              <a:extLst>
                <a:ext uri="{FF2B5EF4-FFF2-40B4-BE49-F238E27FC236}">
                  <a16:creationId xmlns:a16="http://schemas.microsoft.com/office/drawing/2014/main" id="{60D862CD-31AE-CF6E-8929-4FE8001C17B0}"/>
                </a:ext>
              </a:extLst>
            </p:cNvPr>
            <p:cNvSpPr txBox="1"/>
            <p:nvPr/>
          </p:nvSpPr>
          <p:spPr>
            <a:xfrm>
              <a:off x="6508059" y="3175607"/>
              <a:ext cx="1296000" cy="415498"/>
            </a:xfrm>
            <a:prstGeom prst="rect">
              <a:avLst/>
            </a:prstGeom>
            <a:solidFill>
              <a:srgbClr val="CBD3E7"/>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Нарушенная </a:t>
              </a:r>
              <a:r>
                <a:rPr kumimoji="0" lang="ru-RU" sz="9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вазодилатация</a:t>
              </a:r>
              <a:endPar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(КРК </a:t>
              </a:r>
              <a:r>
                <a:rPr kumimoji="0" lang="en-US"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&lt;2,5)</a:t>
              </a:r>
              <a:endPar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 name="TextBox 1">
              <a:extLst>
                <a:ext uri="{FF2B5EF4-FFF2-40B4-BE49-F238E27FC236}">
                  <a16:creationId xmlns:a16="http://schemas.microsoft.com/office/drawing/2014/main" id="{7435DEAB-C9B7-F3CD-728B-A6677E57BC2A}"/>
                </a:ext>
              </a:extLst>
            </p:cNvPr>
            <p:cNvSpPr txBox="1"/>
            <p:nvPr/>
          </p:nvSpPr>
          <p:spPr>
            <a:xfrm>
              <a:off x="6541307" y="3769264"/>
              <a:ext cx="1224000" cy="138499"/>
            </a:xfrm>
            <a:prstGeom prst="rect">
              <a:avLst/>
            </a:prstGeom>
            <a:solidFill>
              <a:srgbClr val="CBD3E7"/>
            </a:solid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Вазоспазм</a:t>
              </a:r>
              <a:r>
                <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на </a:t>
              </a:r>
              <a:r>
                <a:rPr kumimoji="0" lang="ru-RU" sz="9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Ац</a:t>
              </a:r>
              <a:endPar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 name="TextBox 8">
              <a:extLst>
                <a:ext uri="{FF2B5EF4-FFF2-40B4-BE49-F238E27FC236}">
                  <a16:creationId xmlns:a16="http://schemas.microsoft.com/office/drawing/2014/main" id="{4563E9B8-8BDD-60AA-6D1E-098528AE94A0}"/>
                </a:ext>
              </a:extLst>
            </p:cNvPr>
            <p:cNvSpPr txBox="1"/>
            <p:nvPr/>
          </p:nvSpPr>
          <p:spPr>
            <a:xfrm>
              <a:off x="6541307" y="4130889"/>
              <a:ext cx="1224000" cy="288000"/>
            </a:xfrm>
            <a:prstGeom prst="rect">
              <a:avLst/>
            </a:prstGeom>
            <a:solidFill>
              <a:srgbClr val="CBD3E7"/>
            </a:solid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Эндотелиальная дисфункция</a:t>
              </a:r>
            </a:p>
          </p:txBody>
        </p:sp>
      </p:grpSp>
      <p:sp>
        <p:nvSpPr>
          <p:cNvPr id="11" name="Text 0">
            <a:extLst>
              <a:ext uri="{FF2B5EF4-FFF2-40B4-BE49-F238E27FC236}">
                <a16:creationId xmlns:a16="http://schemas.microsoft.com/office/drawing/2014/main" id="{6AF4CBA0-A9D2-16FA-8F51-C49203241C08}"/>
              </a:ext>
            </a:extLst>
          </p:cNvPr>
          <p:cNvSpPr/>
          <p:nvPr/>
        </p:nvSpPr>
        <p:spPr>
          <a:xfrm>
            <a:off x="502920" y="274320"/>
            <a:ext cx="11185855" cy="786384"/>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ANOCA/INOCA — </a:t>
            </a:r>
            <a:r>
              <a:rPr kumimoji="0" lang="ru-RU" sz="18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стенокардия / </a:t>
            </a:r>
            <a:r>
              <a:rPr kumimoji="0" lang="en-US" sz="18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ишемия</a:t>
            </a:r>
            <a:r>
              <a:rPr kumimoji="0" lang="en-US" sz="18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без обструкции: механизм </a:t>
            </a:r>
            <a:r>
              <a:rPr kumimoji="0" lang="en-US" sz="18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надо</a:t>
            </a:r>
            <a:r>
              <a:rPr kumimoji="0" lang="en-US" sz="18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en-US" sz="18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определять</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4">
            <a:extLst>
              <a:ext uri="{FF2B5EF4-FFF2-40B4-BE49-F238E27FC236}">
                <a16:creationId xmlns:a16="http://schemas.microsoft.com/office/drawing/2014/main" id="{EF522239-456E-1766-B5CF-D93B2FCE909D}"/>
              </a:ext>
            </a:extLst>
          </p:cNvPr>
          <p:cNvSpPr/>
          <p:nvPr/>
        </p:nvSpPr>
        <p:spPr>
          <a:xfrm>
            <a:off x="8122690" y="1151573"/>
            <a:ext cx="3955841" cy="2560784"/>
          </a:xfrm>
          <a:prstGeom prst="roundRect">
            <a:avLst>
              <a:gd name="adj" fmla="val 8182"/>
            </a:avLst>
          </a:prstGeom>
          <a:solidFill>
            <a:srgbClr val="FCF4E2"/>
          </a:solidFill>
          <a:ln w="9525">
            <a:solidFill>
              <a:srgbClr val="D7DEE4"/>
            </a:solidFill>
            <a:prstDash val="solid"/>
          </a:ln>
          <a:effectLst>
            <a:outerShdw blurRad="88900" dist="38100" dir="5400000" algn="bl" rotWithShape="0">
              <a:srgbClr val="9AA7B2">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5">
            <a:extLst>
              <a:ext uri="{FF2B5EF4-FFF2-40B4-BE49-F238E27FC236}">
                <a16:creationId xmlns:a16="http://schemas.microsoft.com/office/drawing/2014/main" id="{3400840F-E491-9FB9-F111-E98F11A77B83}"/>
              </a:ext>
            </a:extLst>
          </p:cNvPr>
          <p:cNvSpPr/>
          <p:nvPr/>
        </p:nvSpPr>
        <p:spPr>
          <a:xfrm>
            <a:off x="8342146" y="1425893"/>
            <a:ext cx="457200" cy="457200"/>
          </a:xfrm>
          <a:prstGeom prst="ellipse">
            <a:avLst/>
          </a:prstGeom>
          <a:solidFill>
            <a:srgbClr val="F0B3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3" descr="preencoded.png">
            <a:extLst>
              <a:ext uri="{FF2B5EF4-FFF2-40B4-BE49-F238E27FC236}">
                <a16:creationId xmlns:a16="http://schemas.microsoft.com/office/drawing/2014/main" id="{0601CFEC-2846-8360-1FA0-4CFFA8CCC349}"/>
              </a:ext>
            </a:extLst>
          </p:cNvPr>
          <p:cNvPicPr>
            <a:picLocks noChangeAspect="1"/>
          </p:cNvPicPr>
          <p:nvPr/>
        </p:nvPicPr>
        <p:blipFill>
          <a:blip r:embed="rId3"/>
          <a:stretch>
            <a:fillRect/>
          </a:stretch>
        </p:blipFill>
        <p:spPr>
          <a:xfrm>
            <a:off x="8465590" y="1549337"/>
            <a:ext cx="210312" cy="210312"/>
          </a:xfrm>
          <a:prstGeom prst="rect">
            <a:avLst/>
          </a:prstGeom>
        </p:spPr>
      </p:pic>
      <p:sp>
        <p:nvSpPr>
          <p:cNvPr id="15" name="Text 16">
            <a:extLst>
              <a:ext uri="{FF2B5EF4-FFF2-40B4-BE49-F238E27FC236}">
                <a16:creationId xmlns:a16="http://schemas.microsoft.com/office/drawing/2014/main" id="{B7475181-BE95-1679-5E41-E8287EA2FD66}"/>
              </a:ext>
            </a:extLst>
          </p:cNvPr>
          <p:cNvSpPr/>
          <p:nvPr/>
        </p:nvSpPr>
        <p:spPr>
          <a:xfrm>
            <a:off x="8922790" y="1635016"/>
            <a:ext cx="3155742" cy="1523382"/>
          </a:xfrm>
          <a:prstGeom prst="rect">
            <a:avLst/>
          </a:prstGeom>
          <a:noFill/>
          <a:ln/>
        </p:spPr>
        <p:txBody>
          <a:bodyPr wrap="square" lIns="0" tIns="0" rIns="0" bIns="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Реальность РФ: </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функциональное тестирование (CFR, IMR, проба с ацетилхолином) рутинно </a:t>
            </a:r>
            <a:r>
              <a:rPr kumimoji="0" lang="en-US" sz="1400" b="0" i="0" u="none" strike="noStrike" kern="1200" cap="none" spc="0" normalizeH="0" baseline="0" noProof="0" dirty="0" err="1">
                <a:ln>
                  <a:noFill/>
                </a:ln>
                <a:solidFill>
                  <a:srgbClr val="1F2D3A"/>
                </a:solidFill>
                <a:effectLst/>
                <a:uLnTx/>
                <a:uFillTx/>
                <a:latin typeface="Arial" pitchFamily="34" charset="0"/>
                <a:ea typeface="Arial" pitchFamily="34" charset="-122"/>
                <a:cs typeface="Arial" pitchFamily="34" charset="-120"/>
              </a:rPr>
              <a:t>малодоступно</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a:t>
            </a:r>
            <a:r>
              <a:rPr kumimoji="0" lang="ru-RU"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или недоступно </a:t>
            </a:r>
            <a:r>
              <a:rPr kumimoji="0" lang="en-US" sz="1400" b="0" i="0" u="none" strike="noStrike" kern="1200" cap="none" spc="0" normalizeH="0" baseline="0" noProof="0" dirty="0">
                <a:ln>
                  <a:noFill/>
                </a:ln>
                <a:solidFill>
                  <a:srgbClr val="1F2D3A"/>
                </a:solidFill>
                <a:effectLst/>
                <a:uLnTx/>
                <a:uFillTx/>
                <a:latin typeface="Arial" pitchFamily="34" charset="0"/>
                <a:ea typeface="Arial" pitchFamily="34" charset="-122"/>
                <a:cs typeface="Arial" pitchFamily="34" charset="-120"/>
              </a:rPr>
              <a:t>→ на практике терапию чаще подбирают эмпирически, по клиническому фенотипу.</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E5BE878A-2C39-4490-CBBE-033F6E6F0131}"/>
              </a:ext>
            </a:extLst>
          </p:cNvPr>
          <p:cNvSpPr txBox="1"/>
          <p:nvPr/>
        </p:nvSpPr>
        <p:spPr>
          <a:xfrm>
            <a:off x="8122690" y="5532681"/>
            <a:ext cx="3628181"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КБС – коронарная болезнь сердца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КРК – коронарный резерв кровотока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err="1">
                <a:ln>
                  <a:noFill/>
                </a:ln>
                <a:solidFill>
                  <a:prstClr val="black"/>
                </a:solidFill>
                <a:effectLst/>
                <a:uLnTx/>
                <a:uFillTx/>
                <a:latin typeface="Calibri" panose="020F0502020204030204"/>
                <a:ea typeface="+mn-ea"/>
                <a:cs typeface="+mn-cs"/>
              </a:rPr>
              <a:t>Ац</a:t>
            </a: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 – ацетилхолин</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ANOCA – </a:t>
            </a: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стенокардия без обструктивного поражения коронарных артерий</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INOCA – </a:t>
            </a: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ишемия без обструктивного поражения коронарных артерий</a:t>
            </a:r>
          </a:p>
        </p:txBody>
      </p:sp>
      <p:sp>
        <p:nvSpPr>
          <p:cNvPr id="18" name="TextBox 17">
            <a:extLst>
              <a:ext uri="{FF2B5EF4-FFF2-40B4-BE49-F238E27FC236}">
                <a16:creationId xmlns:a16="http://schemas.microsoft.com/office/drawing/2014/main" id="{4FB217DC-D0E2-D935-66AF-E6C2A3CD597A}"/>
              </a:ext>
            </a:extLst>
          </p:cNvPr>
          <p:cNvSpPr txBox="1"/>
          <p:nvPr/>
        </p:nvSpPr>
        <p:spPr>
          <a:xfrm>
            <a:off x="247304" y="6594510"/>
            <a:ext cx="752509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Vrints</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C. et al. 2024 ESC Guidelines for the management of chronic coronary syndromes.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Heart J. 2024 Aug 30: ehae177.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doi</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10.1093/</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eurheartj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/ehae177. PMID: 39210710.</a:t>
            </a:r>
            <a:endPar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22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83112" cy="731520"/>
          </a:xfrm>
          <a:prstGeom prst="rect">
            <a:avLst/>
          </a:prstGeom>
          <a:noFill/>
          <a:ln/>
        </p:spPr>
        <p:txBody>
          <a:bodyPr wrap="square" lIns="0" tIns="0" rIns="0" bIns="0" rtlCol="0" anchor="t"/>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Место классов определяется эндотипом: </a:t>
            </a:r>
            <a:r>
              <a:rPr kumimoji="0" lang="en-US" sz="2100" b="1" i="0" u="none" strike="noStrike" kern="1200" cap="none" spc="0" normalizeH="0" baseline="0" noProof="0" dirty="0">
                <a:ln>
                  <a:noFill/>
                </a:ln>
                <a:solidFill>
                  <a:srgbClr val="00A3E0"/>
                </a:solidFill>
                <a:effectLst/>
                <a:uLnTx/>
                <a:uFillTx/>
                <a:latin typeface="Arial" pitchFamily="34" charset="0"/>
                <a:ea typeface="Arial" pitchFamily="34" charset="-122"/>
                <a:cs typeface="Arial" pitchFamily="34" charset="-120"/>
              </a:rPr>
              <a:t>при нарушенной вазодилатации — бета-адреноблокатор, при вазоспазме — антагонист кальция</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1298448"/>
            <a:ext cx="5532120" cy="3401568"/>
          </a:xfrm>
          <a:prstGeom prst="roundRect">
            <a:avLst>
              <a:gd name="adj" fmla="val 2151"/>
            </a:avLst>
          </a:prstGeom>
          <a:solidFill>
            <a:srgbClr val="EAF4FB"/>
          </a:solidFill>
          <a:ln w="12700">
            <a:solidFill>
              <a:srgbClr val="EAF4F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58952" y="1536192"/>
            <a:ext cx="475488" cy="475488"/>
          </a:xfrm>
          <a:prstGeom prst="ellipse">
            <a:avLst/>
          </a:prstGeom>
          <a:solidFill>
            <a:srgbClr val="00A3E0"/>
          </a:solidFill>
          <a:ln w="12700">
            <a:solidFill>
              <a:srgbClr val="00A3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877824" y="1655064"/>
            <a:ext cx="237744" cy="237744"/>
          </a:xfrm>
          <a:prstGeom prst="rect">
            <a:avLst/>
          </a:prstGeom>
        </p:spPr>
      </p:pic>
      <p:sp>
        <p:nvSpPr>
          <p:cNvPr id="6" name="Text 3"/>
          <p:cNvSpPr/>
          <p:nvPr/>
        </p:nvSpPr>
        <p:spPr>
          <a:xfrm>
            <a:off x="1371600" y="1517904"/>
            <a:ext cx="4389120" cy="530352"/>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Микрососудистый эндотип</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(нарушенная вазодилатация)</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58952" y="2157984"/>
            <a:ext cx="5029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A3E0"/>
                </a:solidFill>
                <a:effectLst/>
                <a:uLnTx/>
                <a:uFillTx/>
                <a:latin typeface="Arial" pitchFamily="34" charset="0"/>
                <a:ea typeface="Arial" pitchFamily="34" charset="-122"/>
                <a:cs typeface="Arial" pitchFamily="34" charset="-120"/>
              </a:rPr>
              <a:t>Первая линия — бета-адреноблокатор</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58952" y="2441448"/>
            <a:ext cx="5029200" cy="2240280"/>
          </a:xfrm>
          <a:prstGeom prst="rect">
            <a:avLst/>
          </a:prstGeom>
          <a:noFill/>
          <a:ln/>
        </p:spPr>
        <p:txBody>
          <a:bodyPr wrap="square" lIns="0" tIns="0" rIns="0" bIns="0" rtlCol="0" anchor="ctr"/>
          <a:lstStyle/>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ESC 2024 г. — IIa B; в таблице рекомендаций класс препаратов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не</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назван</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снижение потребности миокарда)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EAPCI 2020 г — </a:t>
            </a: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БАБ первой линией</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далее</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АК</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КР МЗ РФ 2024 г. — </a:t>
            </a: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БАБ</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 АК + иАПФ + статины, УУР A / УДД 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Microvascular Network 2025 г. — </a:t>
            </a:r>
            <a:r>
              <a:rPr kumimoji="0" lang="en-US" sz="1400" b="1"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бисопролол</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2,5–10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мг</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метопролол</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небиволол,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карведилол</a:t>
            </a:r>
            <a:endPar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endParaRPr>
          </a:p>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ru-RU" sz="1400" b="0" i="0" u="none" strike="noStrike" kern="1200" cap="none" spc="0" normalizeH="0" baseline="0" noProof="0" dirty="0">
                <a:ln>
                  <a:noFill/>
                </a:ln>
                <a:solidFill>
                  <a:srgbClr val="1F2A33"/>
                </a:solidFill>
                <a:effectLst/>
                <a:uLnTx/>
                <a:uFillTx/>
                <a:latin typeface="Arial" pitchFamily="34" charset="0"/>
                <a:ea typeface="+mn-ea"/>
                <a:cs typeface="Arial" pitchFamily="34" charset="-120"/>
              </a:rPr>
              <a:t>БАБ наиболее эффективны у пациентов с высокой ЧСС в покое или повышенным симпатическим тонусом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6375069" y="1298448"/>
            <a:ext cx="5349240" cy="3401568"/>
          </a:xfrm>
          <a:prstGeom prst="roundRect">
            <a:avLst>
              <a:gd name="adj" fmla="val 2151"/>
            </a:avLst>
          </a:prstGeom>
          <a:solidFill>
            <a:srgbClr val="FDF4E0"/>
          </a:solidFill>
          <a:ln w="12700">
            <a:solidFill>
              <a:srgbClr val="FDF4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6592824" y="1536192"/>
            <a:ext cx="475488" cy="475488"/>
          </a:xfrm>
          <a:prstGeom prst="ellipse">
            <a:avLst/>
          </a:prstGeom>
          <a:solidFill>
            <a:srgbClr val="F0B323"/>
          </a:solidFill>
          <a:ln w="12700">
            <a:solidFill>
              <a:srgbClr val="F0B3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tretch>
            <a:fillRect/>
          </a:stretch>
        </p:blipFill>
        <p:spPr>
          <a:xfrm>
            <a:off x="6711696" y="1655064"/>
            <a:ext cx="237744" cy="237744"/>
          </a:xfrm>
          <a:prstGeom prst="rect">
            <a:avLst/>
          </a:prstGeom>
        </p:spPr>
      </p:pic>
      <p:sp>
        <p:nvSpPr>
          <p:cNvPr id="12" name="Text 8"/>
          <p:cNvSpPr/>
          <p:nvPr/>
        </p:nvSpPr>
        <p:spPr>
          <a:xfrm>
            <a:off x="7205472" y="1517904"/>
            <a:ext cx="4206240" cy="530352"/>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Вазоспастический эндотип</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(эпикардиальный / микрососудистый спазм)</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6592824" y="2157984"/>
            <a:ext cx="4846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B37A12"/>
                </a:solidFill>
                <a:effectLst/>
                <a:uLnTx/>
                <a:uFillTx/>
                <a:latin typeface="Arial" pitchFamily="34" charset="0"/>
                <a:ea typeface="Arial" pitchFamily="34" charset="-122"/>
                <a:cs typeface="Arial" pitchFamily="34" charset="-120"/>
              </a:rPr>
              <a:t>Первая линия — антагонист кальция</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6592824" y="2487168"/>
            <a:ext cx="5093208" cy="1234440"/>
          </a:xfrm>
          <a:prstGeom prst="rect">
            <a:avLst/>
          </a:prstGeom>
          <a:noFill/>
          <a:ln/>
        </p:spPr>
        <p:txBody>
          <a:bodyPr wrap="square" lIns="0" tIns="0" rIns="0" bIns="0" rtlCol="0" anchor="ctr"/>
          <a:lstStyle/>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ESC 2024 г. — антагонисты кальция I A, нитраты IIa B</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80975" marR="0" lvl="0" indent="-180975"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КР МЗ РФ 2024 г. — неселективные БАБ противопоказаны</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46088" marR="0" lvl="0" indent="-285750"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Ø"/>
              <a:tabLst/>
              <a:defRPr/>
            </a:pP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пропранолол</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увеличивал продолжительность эпизодов, не изменяя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их</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частоту</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Robertson 1982 г.</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6592824" y="3657600"/>
            <a:ext cx="4846320" cy="914400"/>
          </a:xfrm>
          <a:prstGeom prst="roundRect">
            <a:avLst>
              <a:gd name="adj" fmla="val 5556"/>
            </a:avLst>
          </a:prstGeom>
          <a:solidFill>
            <a:srgbClr val="FFFFFF"/>
          </a:solidFill>
          <a:ln w="12700">
            <a:solidFill>
              <a:srgbClr val="F0B3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2"/>
          <p:cNvSpPr/>
          <p:nvPr/>
        </p:nvSpPr>
        <p:spPr>
          <a:xfrm>
            <a:off x="6748272" y="3849624"/>
            <a:ext cx="4535424" cy="621792"/>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Если селективный БАБ нужен по другому показанию: </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КР МЗ РФ 2024 г. допускают его в особых клинических ситуациях — в сочетании с ДГП-БКК и/или нитратами длительного действия</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02920" y="4892040"/>
            <a:ext cx="11183112" cy="932688"/>
          </a:xfrm>
          <a:prstGeom prst="roundRect">
            <a:avLst>
              <a:gd name="adj" fmla="val 7843"/>
            </a:avLst>
          </a:prstGeom>
          <a:solidFill>
            <a:srgbClr val="EDF7E7"/>
          </a:solidFill>
          <a:ln w="12700">
            <a:solidFill>
              <a:srgbClr val="EDF7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4"/>
          <p:cNvSpPr/>
          <p:nvPr/>
        </p:nvSpPr>
        <p:spPr>
          <a:xfrm>
            <a:off x="758952" y="5129784"/>
            <a:ext cx="457200" cy="457200"/>
          </a:xfrm>
          <a:prstGeom prst="ellipse">
            <a:avLst/>
          </a:prstGeom>
          <a:solidFill>
            <a:srgbClr val="43B02A"/>
          </a:solidFill>
          <a:ln w="12700">
            <a:solidFill>
              <a:srgbClr val="43B0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5"/>
          <a:stretch>
            <a:fillRect/>
          </a:stretch>
        </p:blipFill>
        <p:spPr>
          <a:xfrm>
            <a:off x="868680" y="5239512"/>
            <a:ext cx="237744" cy="237744"/>
          </a:xfrm>
          <a:prstGeom prst="rect">
            <a:avLst/>
          </a:prstGeom>
        </p:spPr>
      </p:pic>
      <p:sp>
        <p:nvSpPr>
          <p:cNvPr id="20" name="Text 15"/>
          <p:cNvSpPr/>
          <p:nvPr/>
        </p:nvSpPr>
        <p:spPr>
          <a:xfrm>
            <a:off x="1371600" y="5080739"/>
            <a:ext cx="10149840" cy="566928"/>
          </a:xfrm>
          <a:prstGeom prst="rect">
            <a:avLst/>
          </a:prstGeom>
          <a:noFill/>
          <a:ln/>
        </p:spPr>
        <p:txBody>
          <a:bodyPr wrap="square" lIns="0" tIns="0" rIns="0" bIns="0" rtlCol="0" anchor="ct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БАБ + дигидропиридиновый БКК — предсказуемое сочетание. </a:t>
            </a:r>
            <a:endPar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КР МЗ РФ 2024 г., III C: сочетание БАБ с недигидропиридиновым БКК (верапамил, дилтиазем) не рекомендуется из-за риска суммирования побочных эффектов</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502920" y="6144768"/>
            <a:ext cx="11183112" cy="50292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Vrints C, et al. Eur Heart J. 2024;45(36):3415–3537. doi:10.1093/eurheartj/ehae177  ·  Kunadian V, et al. Eur Heart J. 2020;41(37):3504–3520. doi:10.1093/eurheartj/ehaa503  ·  Барбараш О.Л., и соавт. Российский кардиологический журнал. 2024;29(9):6110. doi:10.15829/1560-4071-2024-6110  ·  Toleva O, et al. J Soc Cardiovasc Angiogr Interv. 2025;4:102633. doi:10.1016/j.jscai.2025.102633  ·  Robertson RM, et al. Circulation. 1982;65(2):281–285. doi:10.1161/01.cir.65.2.281</a:t>
            </a:r>
            <a:r>
              <a:rPr kumimoji="0" lang="ru-RU" sz="800" b="0" i="0" u="none" strike="noStrike" kern="1200" cap="none" spc="0" normalizeH="0" baseline="0" noProof="0" dirty="0">
                <a:ln>
                  <a:noFill/>
                </a:ln>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 </a:t>
            </a:r>
            <a:r>
              <a:rPr kumimoji="0" lang="ru-RU" sz="800" b="0" i="0" u="none" strike="noStrike" kern="1200" cap="none" spc="0" normalizeH="0" baseline="0" noProof="0" dirty="0">
                <a:ln>
                  <a:noFill/>
                </a:ln>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Ong P, et al. Pharmacotherapy for coronary microvascular dysfunction. </a:t>
            </a:r>
            <a:r>
              <a:rPr kumimoji="0" lang="en-US" sz="800" b="0" i="0" u="none" strike="noStrike" kern="1200" cap="none" spc="0" normalizeH="0" baseline="0" noProof="0" dirty="0" err="1">
                <a:ln>
                  <a:noFill/>
                </a:ln>
                <a:effectLst/>
                <a:uLnTx/>
                <a:uFillTx/>
                <a:latin typeface="Arial" pitchFamily="34" charset="0"/>
                <a:ea typeface="Arial" pitchFamily="34" charset="-122"/>
                <a:cs typeface="Arial" pitchFamily="34" charset="-120"/>
              </a:rPr>
              <a:t>Eur</a:t>
            </a: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 Heart J Cardiovasc </a:t>
            </a:r>
            <a:r>
              <a:rPr kumimoji="0" lang="en-US" sz="800" b="0" i="0" u="none" strike="noStrike" kern="1200" cap="none" spc="0" normalizeH="0" baseline="0" noProof="0" dirty="0" err="1">
                <a:ln>
                  <a:noFill/>
                </a:ln>
                <a:effectLst/>
                <a:uLnTx/>
                <a:uFillTx/>
                <a:latin typeface="Arial" pitchFamily="34" charset="0"/>
                <a:ea typeface="Arial" pitchFamily="34" charset="-122"/>
                <a:cs typeface="Arial" pitchFamily="34" charset="-120"/>
              </a:rPr>
              <a:t>Pharmacother</a:t>
            </a: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 2015;1(1):65–71. doi:10.1093/</a:t>
            </a:r>
            <a:r>
              <a:rPr kumimoji="0" lang="en-US" sz="800" b="0" i="0" u="none" strike="noStrike" kern="1200" cap="none" spc="0" normalizeH="0" baseline="0" noProof="0" dirty="0" err="1">
                <a:ln>
                  <a:noFill/>
                </a:ln>
                <a:effectLst/>
                <a:uLnTx/>
                <a:uFillTx/>
                <a:latin typeface="Arial" pitchFamily="34" charset="0"/>
                <a:ea typeface="Arial" pitchFamily="34" charset="-122"/>
                <a:cs typeface="Arial" pitchFamily="34" charset="-120"/>
              </a:rPr>
              <a:t>ehjcvp</a:t>
            </a: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/pvu020</a:t>
            </a:r>
            <a:endParaRPr kumimoji="0" lang="en-US" sz="800" b="0" i="0" u="none" strike="noStrike" kern="1200" cap="none" spc="0" normalizeH="0" baseline="0" noProof="0" dirty="0">
              <a:ln>
                <a:noFill/>
              </a:ln>
              <a:effectLst/>
              <a:uLnTx/>
              <a:uFillTx/>
              <a:latin typeface="Calibri" panose="020F0502020204030204"/>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1183112" cy="731520"/>
          </a:xfrm>
          <a:prstGeom prst="rect">
            <a:avLst/>
          </a:prstGeom>
          <a:noFill/>
          <a:ln/>
        </p:spPr>
        <p:txBody>
          <a:bodyPr wrap="square" lIns="0" tIns="0" rIns="0" bIns="0" rtlCol="0" anchor="t"/>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Сочетание БАБ с дигидропиридиновым БКК: </a:t>
            </a:r>
            <a:r>
              <a:rPr kumimoji="0" lang="en-US" sz="2100" b="1" i="0" u="none" strike="noStrike" kern="1200" cap="none" spc="0" normalizeH="0" baseline="0" noProof="0" dirty="0">
                <a:ln>
                  <a:noFill/>
                </a:ln>
                <a:solidFill>
                  <a:srgbClr val="00A3E0"/>
                </a:solidFill>
                <a:effectLst/>
                <a:uLnTx/>
                <a:uFillTx/>
                <a:latin typeface="Arial" pitchFamily="34" charset="0"/>
                <a:ea typeface="Arial" pitchFamily="34" charset="-122"/>
                <a:cs typeface="Arial" pitchFamily="34" charset="-120"/>
              </a:rPr>
              <a:t>клинические ситуации и выбор препарата внутри класса</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1298448"/>
            <a:ext cx="5532120" cy="3611880"/>
          </a:xfrm>
          <a:prstGeom prst="roundRect">
            <a:avLst>
              <a:gd name="adj" fmla="val 2025"/>
            </a:avLst>
          </a:prstGeom>
          <a:solidFill>
            <a:srgbClr val="EAF4FB"/>
          </a:solidFill>
          <a:ln w="12700">
            <a:solidFill>
              <a:srgbClr val="EAF4F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58952" y="1536192"/>
            <a:ext cx="475488" cy="475488"/>
          </a:xfrm>
          <a:prstGeom prst="ellipse">
            <a:avLst/>
          </a:prstGeom>
          <a:solidFill>
            <a:srgbClr val="00A3E0"/>
          </a:solidFill>
          <a:ln w="12700">
            <a:solidFill>
              <a:srgbClr val="00A3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877824" y="1655064"/>
            <a:ext cx="237744" cy="237744"/>
          </a:xfrm>
          <a:prstGeom prst="rect">
            <a:avLst/>
          </a:prstGeom>
        </p:spPr>
      </p:pic>
      <p:sp>
        <p:nvSpPr>
          <p:cNvPr id="6" name="Text 3"/>
          <p:cNvSpPr/>
          <p:nvPr/>
        </p:nvSpPr>
        <p:spPr>
          <a:xfrm>
            <a:off x="1371600" y="1517904"/>
            <a:ext cx="4389120" cy="530352"/>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Где сочетание уместно</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58951" y="2212848"/>
            <a:ext cx="5131485" cy="2514600"/>
          </a:xfrm>
          <a:prstGeom prst="rect">
            <a:avLst/>
          </a:prstGeom>
          <a:noFill/>
          <a:ln/>
        </p:spPr>
        <p:txBody>
          <a:bodyPr wrap="square" lIns="0" tIns="0" rIns="0" bIns="0" rtlCol="0" anchor="ctr"/>
          <a:lstStyle/>
          <a:p>
            <a:pPr marL="342900" marR="0" lvl="0" indent="-342900"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q"/>
              <a:tabLst/>
              <a:defRPr/>
            </a:pP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Микрососудистый эндотип</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БАБ первой линии, при сохранении симптомов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добавляется</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lang="ru-RU" sz="1400" dirty="0">
                <a:solidFill>
                  <a:srgbClr val="1F2A33"/>
                </a:solidFill>
                <a:latin typeface="Arial" pitchFamily="34" charset="0"/>
                <a:ea typeface="Arial" pitchFamily="34" charset="-122"/>
                <a:cs typeface="Arial" pitchFamily="34" charset="-120"/>
              </a:rPr>
              <a:t>АК </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(EAPCI 2020 г., ключевое положение 12)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q"/>
              <a:tabLst/>
              <a:defRPr/>
            </a:pP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Смешанный эндотип</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амлодипин и БАБ одновременно в первой линии (Microvascular Network 2025 г.)</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q"/>
              <a:tabLst/>
              <a:defRPr/>
            </a:pP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Вазоспазм при показаниях к БАБ по другому поводу</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только в сочетании с ДГП-БКК (КР МЗ РФ 2024 г.)</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q"/>
              <a:tabLst/>
              <a:defRPr/>
            </a:pPr>
            <a:r>
              <a:rPr kumimoji="0" lang="en-US" sz="1400" b="1"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Сопутствующая артериальная гипертензия</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строгий контроль АД при INOCA — самостоятельная терапевтическая задача (EAPCI 2020 г.)</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446520" y="1097280"/>
            <a:ext cx="5349240" cy="3611880"/>
          </a:xfrm>
          <a:prstGeom prst="roundRect">
            <a:avLst>
              <a:gd name="adj" fmla="val 2025"/>
            </a:avLst>
          </a:prstGeom>
          <a:solidFill>
            <a:srgbClr val="F2F5F7"/>
          </a:solidFill>
          <a:ln w="12700">
            <a:solidFill>
              <a:srgbClr val="F2F5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592824" y="1536192"/>
            <a:ext cx="475488" cy="475488"/>
          </a:xfrm>
          <a:prstGeom prst="ellipse">
            <a:avLst/>
          </a:prstGeom>
          <a:solidFill>
            <a:srgbClr val="005587"/>
          </a:solidFill>
          <a:ln w="12700">
            <a:solidFill>
              <a:srgbClr val="00558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6711696" y="1655064"/>
            <a:ext cx="237744" cy="237744"/>
          </a:xfrm>
          <a:prstGeom prst="rect">
            <a:avLst/>
          </a:prstGeom>
        </p:spPr>
      </p:pic>
      <p:sp>
        <p:nvSpPr>
          <p:cNvPr id="11" name="Text 7"/>
          <p:cNvSpPr/>
          <p:nvPr/>
        </p:nvSpPr>
        <p:spPr>
          <a:xfrm>
            <a:off x="7205472" y="1517904"/>
            <a:ext cx="4206240" cy="530352"/>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Выбор препарата внутри класса</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6592824" y="2212848"/>
            <a:ext cx="5093208" cy="1874520"/>
          </a:xfrm>
          <a:prstGeom prst="rect">
            <a:avLst/>
          </a:prstGeom>
          <a:noFill/>
          <a:ln/>
        </p:spPr>
        <p:txBody>
          <a:bodyPr wrap="square" lIns="0" tIns="0" rIns="0" bIns="0" rtlCol="0" anchor="ctr"/>
          <a:lstStyle/>
          <a:p>
            <a:pPr marL="182563" marR="0" lvl="0" indent="-182563"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q"/>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Прямых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сравнений</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БАБ</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в популяции, верифицированной по современным критериям, нет ни для одного препарата класса</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7188" marR="0" lvl="0" indent="-182563"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Ø"/>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Hung 2016 г. —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небиволол</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против</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атенолола</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различий</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нет</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1"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двойное</a:t>
            </a:r>
            <a:r>
              <a:rPr kumimoji="0" lang="en-US"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слепое РКИ, 12 мес, инвазивная </a:t>
            </a:r>
            <a:r>
              <a:rPr kumimoji="0" lang="en-US" sz="1400" b="0" i="1"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оценка</a:t>
            </a:r>
            <a:r>
              <a:rPr kumimoji="0" lang="en-US"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a:t>
            </a:r>
            <a:r>
              <a:rPr kumimoji="0" lang="ru-RU"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1"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финансировано</a:t>
            </a:r>
            <a:r>
              <a:rPr kumimoji="0" lang="en-US"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производителем небиволола</a:t>
            </a:r>
            <a:endPar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357188" marR="0" lvl="0" indent="-182563" algn="l" defTabSz="914400" rtl="0" eaLnBrk="1" fontAlgn="auto" latinLnBrk="0" hangingPunct="1">
              <a:lnSpc>
                <a:spcPts val="1400"/>
              </a:lnSpc>
              <a:spcBef>
                <a:spcPts val="0"/>
              </a:spcBef>
              <a:spcAft>
                <a:spcPts val="700"/>
              </a:spcAft>
              <a:buClrTx/>
              <a:buSzPct val="100000"/>
              <a:buFont typeface="Wingdings" panose="05000000000000000000" pitchFamily="2" charset="2"/>
              <a:buChar char="Ø"/>
              <a:tabLst/>
              <a:defRPr/>
            </a:pP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Li 2020 г. —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различий</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по</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эндотелиальной</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функции</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en-US" sz="1400" b="0" i="0"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нет</a:t>
            </a:r>
            <a:r>
              <a:rPr kumimoji="0" lang="ru-RU"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a:t>
            </a:r>
            <a:r>
              <a:rPr kumimoji="0" lang="ru-RU"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a:t>
            </a:r>
            <a:r>
              <a:rPr kumimoji="0" lang="en-US" sz="1400" b="0" i="1" u="none" strike="noStrike" kern="1200" cap="none" spc="0" normalizeH="0" baseline="0" noProof="0" dirty="0" err="1">
                <a:ln>
                  <a:noFill/>
                </a:ln>
                <a:solidFill>
                  <a:srgbClr val="1F2A33"/>
                </a:solidFill>
                <a:effectLst/>
                <a:uLnTx/>
                <a:uFillTx/>
                <a:latin typeface="Arial" pitchFamily="34" charset="0"/>
                <a:ea typeface="Arial" pitchFamily="34" charset="-122"/>
                <a:cs typeface="Arial" pitchFamily="34" charset="-120"/>
              </a:rPr>
              <a:t>метаанализ</a:t>
            </a:r>
            <a:r>
              <a:rPr kumimoji="0" lang="en-US"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 4 РКИ, 388 пациентов с АГ</a:t>
            </a:r>
            <a:r>
              <a:rPr kumimoji="0" lang="ru-RU" sz="1400" b="0" i="1"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a:t>
            </a:r>
            <a:r>
              <a:rPr kumimoji="0" lang="en-US" sz="14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6592824" y="4187952"/>
            <a:ext cx="4846320" cy="566928"/>
          </a:xfrm>
          <a:prstGeom prst="roundRect">
            <a:avLst>
              <a:gd name="adj" fmla="val 8065"/>
            </a:avLst>
          </a:prstGeom>
          <a:solidFill>
            <a:srgbClr val="FFFFFF"/>
          </a:solidFill>
          <a:ln w="12700">
            <a:solidFill>
              <a:srgbClr val="D6E4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p:nvPr/>
        </p:nvSpPr>
        <p:spPr>
          <a:xfrm>
            <a:off x="6748272" y="4279392"/>
            <a:ext cx="4663440" cy="402336"/>
          </a:xfrm>
          <a:prstGeom prst="rect">
            <a:avLst/>
          </a:prstGeom>
          <a:noFill/>
          <a:ln/>
        </p:spPr>
        <p:txBody>
          <a:bodyPr wrap="square" lIns="0" tIns="0" rIns="0" bIns="0" rtlCol="0" anchor="ctr"/>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В руководствах упоминаются </a:t>
            </a:r>
            <a:r>
              <a:rPr kumimoji="0" lang="ru-RU" sz="13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бисопролол</a:t>
            </a:r>
            <a:r>
              <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a:t>
            </a:r>
            <a:r>
              <a:rPr kumimoji="0" lang="ru-RU" sz="1300" b="1" i="0" u="none" strike="noStrike" kern="1200" cap="none" spc="0" normalizeH="0" baseline="0" noProof="0" dirty="0" err="1">
                <a:ln>
                  <a:noFill/>
                </a:ln>
                <a:solidFill>
                  <a:srgbClr val="005587"/>
                </a:solidFill>
                <a:effectLst/>
                <a:uLnTx/>
                <a:uFillTx/>
                <a:latin typeface="Arial" pitchFamily="34" charset="0"/>
                <a:ea typeface="Arial" pitchFamily="34" charset="-122"/>
                <a:cs typeface="Arial" pitchFamily="34" charset="-120"/>
              </a:rPr>
              <a:t>небиволол</a:t>
            </a:r>
            <a:r>
              <a:rPr kumimoji="0" lang="ru-RU" sz="1300" b="1" i="0" u="none" strike="noStrike" kern="1200" cap="none" spc="0" normalizeH="0" baseline="0" noProof="0" dirty="0">
                <a:ln>
                  <a:noFill/>
                </a:ln>
                <a:solidFill>
                  <a:srgbClr val="005587"/>
                </a:solidFill>
                <a:effectLst/>
                <a:uLnTx/>
                <a:uFillTx/>
                <a:latin typeface="Arial" pitchFamily="34" charset="0"/>
                <a:ea typeface="Arial" pitchFamily="34" charset="-122"/>
                <a:cs typeface="Arial" pitchFamily="34" charset="-120"/>
              </a:rPr>
              <a:t>, метопролол, карведилол; ни одно упоминание не опирается на прямое сравнение</a:t>
            </a:r>
          </a:p>
        </p:txBody>
      </p:sp>
      <p:sp>
        <p:nvSpPr>
          <p:cNvPr id="15" name="Shape 11"/>
          <p:cNvSpPr/>
          <p:nvPr/>
        </p:nvSpPr>
        <p:spPr>
          <a:xfrm>
            <a:off x="502920" y="5120640"/>
            <a:ext cx="11183112" cy="841248"/>
          </a:xfrm>
          <a:prstGeom prst="roundRect">
            <a:avLst>
              <a:gd name="adj" fmla="val 8696"/>
            </a:avLst>
          </a:prstGeom>
          <a:solidFill>
            <a:srgbClr val="FDF4E0"/>
          </a:solidFill>
          <a:ln w="12700">
            <a:solidFill>
              <a:srgbClr val="FDF4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758952" y="5312664"/>
            <a:ext cx="457200" cy="457200"/>
          </a:xfrm>
          <a:prstGeom prst="ellipse">
            <a:avLst/>
          </a:prstGeom>
          <a:solidFill>
            <a:srgbClr val="F0B323"/>
          </a:solidFill>
          <a:ln w="12700">
            <a:solidFill>
              <a:srgbClr val="F0B3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868680" y="5422392"/>
            <a:ext cx="237744" cy="237744"/>
          </a:xfrm>
          <a:prstGeom prst="rect">
            <a:avLst/>
          </a:prstGeom>
        </p:spPr>
      </p:pic>
      <p:sp>
        <p:nvSpPr>
          <p:cNvPr id="18" name="Text 13"/>
          <p:cNvSpPr/>
          <p:nvPr/>
        </p:nvSpPr>
        <p:spPr>
          <a:xfrm>
            <a:off x="1371600" y="5266944"/>
            <a:ext cx="10149840" cy="54864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F2A33"/>
                </a:solidFill>
                <a:effectLst/>
                <a:uLnTx/>
                <a:uFillTx/>
                <a:latin typeface="Arial" pitchFamily="34" charset="0"/>
                <a:ea typeface="Arial" pitchFamily="34" charset="-122"/>
                <a:cs typeface="Arial" pitchFamily="34" charset="-120"/>
              </a:rPr>
              <a:t>Рандомизированных исследований комбинации при ANOCA не проводилось: обоснование патофизиологическое и опирается на положения рекомендаций. Отсутствие различий между препаратами класса не равнозначно доказанной эквивалентности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502920" y="6144768"/>
            <a:ext cx="11183112" cy="50292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latin typeface="Arial" pitchFamily="34" charset="0"/>
                <a:ea typeface="Arial" pitchFamily="34" charset="-122"/>
                <a:cs typeface="Arial" pitchFamily="34" charset="-120"/>
              </a:rPr>
              <a:t>Kunadian V, et al. Eur Heart J. 2020;41(37):3504–3520. doi:10.1093/eurheartj/ehaa503  ·  Toleva O, et al. J Soc Cardiovasc Angiogr Interv. 2025;4:102633. doi:10.1016/j.jscai.2025.102633  ·  Барбараш О.Л., и соавт. Российский кардиологический журнал. 2024;29(9):6110. doi:10.15829/1560-4071-2024-6110  ·  Hung OY, et al. J Am Heart Assoc. 2016;5(1):e002764. doi:10.1161/JAHA.115.002764  ·  Li B, et al. Biosci Rep. 2020;40(5):BSR20200436. doi:10.1042/BSR20200436</a:t>
            </a:r>
            <a:endParaRPr kumimoji="0" lang="en-US" sz="800" b="0" i="0" u="none" strike="noStrike" kern="1200" cap="none" spc="0" normalizeH="0" baseline="0" noProof="0" dirty="0">
              <a:ln>
                <a:noFill/>
              </a:ln>
              <a:effectLst/>
              <a:uLnTx/>
              <a:uFillTx/>
              <a:latin typeface="Calibri" panose="020F0502020204030204"/>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CEF6D-2FD6-6F7D-BEFB-493F0787E5A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7E25DAF6-C582-A94C-6129-94F31960E695}"/>
              </a:ext>
            </a:extLst>
          </p:cNvPr>
          <p:cNvSpPr>
            <a:spLocks noGrp="1"/>
          </p:cNvSpPr>
          <p:nvPr>
            <p:ph type="title"/>
          </p:nvPr>
        </p:nvSpPr>
        <p:spPr bwMode="gray">
          <a:xfrm>
            <a:off x="5588000" y="2037792"/>
            <a:ext cx="5756590" cy="1365808"/>
          </a:xfrm>
        </p:spPr>
        <p:txBody>
          <a:bodyPr/>
          <a:lstStyle/>
          <a:p>
            <a:r>
              <a:rPr lang="ru-RU" sz="4000" b="1" dirty="0">
                <a:latin typeface="Arial (Headings)"/>
              </a:rPr>
              <a:t>Безопасность </a:t>
            </a:r>
            <a:r>
              <a:rPr lang="ru-RU" sz="4000" b="1" dirty="0" err="1">
                <a:latin typeface="Arial (Headings)"/>
              </a:rPr>
              <a:t>бисопролола</a:t>
            </a:r>
            <a:r>
              <a:rPr lang="ru-RU" sz="4000" b="1" dirty="0">
                <a:latin typeface="Arial (Headings)"/>
              </a:rPr>
              <a:t> — основа безопасности </a:t>
            </a:r>
            <a:r>
              <a:rPr lang="ru-RU" sz="4000" b="1" dirty="0" err="1">
                <a:latin typeface="Arial (Headings)"/>
              </a:rPr>
              <a:t>Конкор</a:t>
            </a:r>
            <a:r>
              <a:rPr lang="ru-RU" sz="4000" b="1" dirty="0">
                <a:latin typeface="Arial (Headings)"/>
              </a:rPr>
              <a:t>® АМ</a:t>
            </a:r>
            <a:br>
              <a:rPr lang="ru-RU" sz="4000" b="1" dirty="0">
                <a:latin typeface="Arial (Headings)"/>
              </a:rPr>
            </a:br>
            <a:r>
              <a:rPr lang="ru-RU" sz="3200" b="1" dirty="0">
                <a:latin typeface="Arial (Headings)"/>
              </a:rPr>
              <a:t>что показывают современные данные</a:t>
            </a:r>
            <a:endParaRPr lang="ru-RU" sz="4000" b="1" dirty="0">
              <a:latin typeface="Arial (Headings)"/>
            </a:endParaRPr>
          </a:p>
        </p:txBody>
      </p:sp>
    </p:spTree>
    <p:custDataLst>
      <p:tags r:id="rId1"/>
    </p:custDataLst>
    <p:extLst>
      <p:ext uri="{BB962C8B-B14F-4D97-AF65-F5344CB8AC3E}">
        <p14:creationId xmlns:p14="http://schemas.microsoft.com/office/powerpoint/2010/main" val="360962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DDF7D7-5595-7264-5C04-E3D8B51AC0EE}"/>
              </a:ext>
            </a:extLst>
          </p:cNvPr>
          <p:cNvSpPr>
            <a:spLocks noGrp="1"/>
          </p:cNvSpPr>
          <p:nvPr>
            <p:ph type="sldNum" sz="quarter" idx="12"/>
          </p:nvPr>
        </p:nvSpPr>
        <p:spPr/>
        <p:txBody>
          <a:bodyPr/>
          <a:lstStyle/>
          <a:p>
            <a:fld id="{E05DA353-F16A-46E9-BF3A-5C7883ED105A}" type="slidenum">
              <a:rPr lang="ru-RU" smtClean="0"/>
              <a:pPr/>
              <a:t>64</a:t>
            </a:fld>
            <a:endParaRPr lang="ru-RU" dirty="0"/>
          </a:p>
        </p:txBody>
      </p:sp>
      <p:graphicFrame>
        <p:nvGraphicFramePr>
          <p:cNvPr id="5" name="Chart 4">
            <a:extLst>
              <a:ext uri="{FF2B5EF4-FFF2-40B4-BE49-F238E27FC236}">
                <a16:creationId xmlns:a16="http://schemas.microsoft.com/office/drawing/2014/main" id="{481FF019-9558-A976-C120-CCDDAA1D9F99}"/>
              </a:ext>
            </a:extLst>
          </p:cNvPr>
          <p:cNvGraphicFramePr>
            <a:graphicFrameLocks/>
          </p:cNvGraphicFramePr>
          <p:nvPr>
            <p:extLst>
              <p:ext uri="{D42A27DB-BD31-4B8C-83A1-F6EECF244321}">
                <p14:modId xmlns:p14="http://schemas.microsoft.com/office/powerpoint/2010/main" val="24239493"/>
              </p:ext>
            </p:extLst>
          </p:nvPr>
        </p:nvGraphicFramePr>
        <p:xfrm>
          <a:off x="492072" y="367990"/>
          <a:ext cx="10805532" cy="489538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52A1B80C-1737-521D-9AFD-A688B786B965}"/>
              </a:ext>
            </a:extLst>
          </p:cNvPr>
          <p:cNvSpPr txBox="1"/>
          <p:nvPr/>
        </p:nvSpPr>
        <p:spPr>
          <a:xfrm>
            <a:off x="228365" y="5534561"/>
            <a:ext cx="10578180" cy="1323439"/>
          </a:xfrm>
          <a:prstGeom prst="rect">
            <a:avLst/>
          </a:prstGeom>
          <a:noFill/>
        </p:spPr>
        <p:txBody>
          <a:bodyPr wrap="square">
            <a:spAutoFit/>
          </a:bodyPr>
          <a:lstStyle/>
          <a:p>
            <a:pPr marL="228600" indent="-228600">
              <a:buAutoNum type="arabicPeriod"/>
            </a:pPr>
            <a:r>
              <a:rPr lang="ru-RU" sz="800" dirty="0"/>
              <a:t>Бойцов С.А и др. Регистр кардиоваскулярных заболеваний (РЕКВАЗА): диагностика, сочетанная сердечно-сосудистая патология, сопутствующие заболевания и лечение в условиях реальной амбулаторно-поликлинической практики. Кардиоваскулярная терапия и профилактика. 2014;13(6):44-50. </a:t>
            </a:r>
            <a:r>
              <a:rPr lang="en-US" sz="800" dirty="0"/>
              <a:t>doi:10.15829/1728-8800-2014-6-3-8</a:t>
            </a:r>
            <a:endParaRPr lang="ru-RU" sz="800" dirty="0"/>
          </a:p>
          <a:p>
            <a:pPr marL="228600" indent="-228600">
              <a:buAutoNum type="arabicPeriod"/>
            </a:pPr>
            <a:r>
              <a:rPr lang="en-US" sz="800" dirty="0"/>
              <a:t>Kalra P.R.,, et al. Impact of chronic kidney disease on use of evidence-based therapy in stable coronary artery disease: a prospective analysis of 22,272 patients. </a:t>
            </a:r>
            <a:r>
              <a:rPr lang="en-US" sz="800" dirty="0" err="1"/>
              <a:t>PLoS</a:t>
            </a:r>
            <a:r>
              <a:rPr lang="en-US" sz="800" dirty="0"/>
              <a:t> One. 2014;9(7):e102335. doi:10.1371/journal.pone.0102335</a:t>
            </a:r>
            <a:endParaRPr lang="ru-RU" sz="800" dirty="0"/>
          </a:p>
          <a:p>
            <a:pPr marL="228600" indent="-228600">
              <a:buAutoNum type="arabicPeriod"/>
            </a:pPr>
            <a:r>
              <a:rPr lang="en-US" sz="800" dirty="0" err="1"/>
              <a:t>Kotseva</a:t>
            </a:r>
            <a:r>
              <a:rPr lang="en-US" sz="800" dirty="0"/>
              <a:t> K., et al. EUROASPIRE IV: a European Society of Cardiology survey on the lifestyle, risk factor and therapeutic management of coronary patients from 24 European countries. </a:t>
            </a:r>
            <a:r>
              <a:rPr lang="en-US" sz="800" dirty="0" err="1"/>
              <a:t>Eur</a:t>
            </a:r>
            <a:r>
              <a:rPr lang="en-US" sz="800" dirty="0"/>
              <a:t> J Prev </a:t>
            </a:r>
            <a:r>
              <a:rPr lang="en-US" sz="800" dirty="0" err="1"/>
              <a:t>Cardiol</a:t>
            </a:r>
            <a:r>
              <a:rPr lang="en-US" sz="800" dirty="0"/>
              <a:t>. 2016;23(6):636-648. doi:10.1177/2047487315569401</a:t>
            </a:r>
            <a:endParaRPr lang="ru-RU" sz="800" dirty="0"/>
          </a:p>
          <a:p>
            <a:pPr marL="228600" indent="-228600">
              <a:buAutoNum type="arabicPeriod"/>
            </a:pPr>
            <a:r>
              <a:rPr lang="en-US" sz="800" dirty="0"/>
              <a:t>Baviera M., et al. Peripheral artery disease in patients with stable coronary artery disease in general practice: results from an Italian nationwide study — PAD &amp; CAD study. Intern Emerg Med. 2025;20(1):159-169. doi:10.1007/s11739-024-03771-9</a:t>
            </a:r>
            <a:endParaRPr lang="ru-RU" sz="800" dirty="0"/>
          </a:p>
          <a:p>
            <a:pPr marL="228600" indent="-228600">
              <a:buAutoNum type="arabicPeriod"/>
            </a:pPr>
            <a:r>
              <a:rPr lang="en-US" sz="800" dirty="0"/>
              <a:t>Zheng Y., et al. Global insights into chronic obstructive pulmonary disease and coronary artery disease: a systematic review and meta-analysis of 6,400,000 patients. Rev Cardiovasc Med. 2024;25(1):25. doi:10.31083/j.rcm2501025</a:t>
            </a:r>
            <a:endParaRPr lang="ru-RU" sz="800" dirty="0"/>
          </a:p>
        </p:txBody>
      </p:sp>
    </p:spTree>
    <p:extLst>
      <p:ext uri="{BB962C8B-B14F-4D97-AF65-F5344CB8AC3E}">
        <p14:creationId xmlns:p14="http://schemas.microsoft.com/office/powerpoint/2010/main" val="203651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5" descr="A colorful pattern with a blue background&#10;&#10;Description automatically generated"/>
          <p:cNvPicPr preferRelativeResize="0"/>
          <p:nvPr/>
        </p:nvPicPr>
        <p:blipFill rotWithShape="1">
          <a:blip r:embed="rId3">
            <a:alphaModFix/>
          </a:blip>
          <a:srcRect r="36301" b="989"/>
          <a:stretch/>
        </p:blipFill>
        <p:spPr>
          <a:xfrm>
            <a:off x="8001000" y="2260075"/>
            <a:ext cx="4190995" cy="4606044"/>
          </a:xfrm>
          <a:prstGeom prst="rect">
            <a:avLst/>
          </a:prstGeom>
          <a:noFill/>
          <a:ln>
            <a:noFill/>
          </a:ln>
        </p:spPr>
      </p:pic>
      <p:pic>
        <p:nvPicPr>
          <p:cNvPr id="301" name="Google Shape;301;p5"/>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302" name="Google Shape;302;p5"/>
          <p:cNvSpPr txBox="1"/>
          <p:nvPr/>
        </p:nvSpPr>
        <p:spPr>
          <a:xfrm>
            <a:off x="281939" y="358093"/>
            <a:ext cx="109548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Результаты</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28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2800" b="1" i="0" u="none" strike="noStrike" kern="1200" cap="none" spc="0" normalizeH="0" baseline="0" noProof="0" dirty="0" err="1">
                <a:ln>
                  <a:noFill/>
                </a:ln>
                <a:solidFill>
                  <a:srgbClr val="503291"/>
                </a:solidFill>
                <a:effectLst/>
                <a:uLnTx/>
                <a:uFillTx/>
                <a:latin typeface="Verdana"/>
                <a:ea typeface="Verdana"/>
                <a:cs typeface="Verdana"/>
                <a:sym typeface="Verdana"/>
              </a:rPr>
              <a:t>безопасности</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Анализ</a:t>
            </a:r>
            <a:r>
              <a:rPr kumimoji="0" lang="en-US" sz="2000" b="1" i="0" u="none" strike="noStrike" kern="1200" cap="none" spc="0" normalizeH="0" baseline="0" noProof="0" dirty="0">
                <a:ln>
                  <a:noFill/>
                </a:ln>
                <a:solidFill>
                  <a:srgbClr val="E61E50"/>
                </a:solidFill>
                <a:effectLst/>
                <a:uLnTx/>
                <a:uFillTx/>
                <a:latin typeface="Verdana"/>
                <a:ea typeface="Verdana"/>
                <a:cs typeface="Verdana"/>
                <a:sym typeface="Verdana"/>
              </a:rPr>
              <a:t> </a:t>
            </a: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по</a:t>
            </a:r>
            <a:r>
              <a:rPr kumimoji="0" lang="en-US" sz="2000" b="1" i="0" u="none" strike="noStrike" kern="1200" cap="none" spc="0" normalizeH="0" baseline="0" noProof="0" dirty="0">
                <a:ln>
                  <a:noFill/>
                </a:ln>
                <a:solidFill>
                  <a:srgbClr val="E61E50"/>
                </a:solidFill>
                <a:effectLst/>
                <a:uLnTx/>
                <a:uFillTx/>
                <a:latin typeface="Verdana"/>
                <a:ea typeface="Verdana"/>
                <a:cs typeface="Verdana"/>
                <a:sym typeface="Verdana"/>
              </a:rPr>
              <a:t> СД 2 </a:t>
            </a:r>
            <a:r>
              <a:rPr kumimoji="0" lang="en-US" sz="2000" b="1" i="0" u="none" strike="noStrike" kern="1200" cap="none" spc="0" normalizeH="0" baseline="0" noProof="0" dirty="0" err="1">
                <a:ln>
                  <a:noFill/>
                </a:ln>
                <a:solidFill>
                  <a:srgbClr val="E61E50"/>
                </a:solidFill>
                <a:effectLst/>
                <a:uLnTx/>
                <a:uFillTx/>
                <a:latin typeface="Verdana"/>
                <a:ea typeface="Verdana"/>
                <a:cs typeface="Verdana"/>
                <a:sym typeface="Verdana"/>
              </a:rPr>
              <a:t>типа</a:t>
            </a:r>
            <a:endParaRPr kumimoji="0" sz="20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03" name="Google Shape;303;p5"/>
          <p:cNvSpPr txBox="1"/>
          <p:nvPr/>
        </p:nvSpPr>
        <p:spPr>
          <a:xfrm>
            <a:off x="359028" y="4128543"/>
            <a:ext cx="10808400" cy="95400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В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ru-RU" sz="1400" b="1" i="0" u="none" strike="noStrike" kern="1200" cap="none" spc="0" normalizeH="0" baseline="0" noProof="0" dirty="0">
                <a:ln>
                  <a:noFill/>
                </a:ln>
                <a:solidFill>
                  <a:srgbClr val="002060"/>
                </a:solidFill>
                <a:effectLst/>
                <a:uLnTx/>
                <a:uFillTx/>
                <a:latin typeface="Verdana"/>
                <a:ea typeface="Verdana"/>
                <a:cs typeface="Verdana"/>
                <a:sym typeface="Verdana"/>
              </a:rPr>
              <a:t> СД 2 типа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другими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β-</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блокатор</a:t>
            </a:r>
            <a:r>
              <a:rPr kumimoji="0" lang="ru-RU" sz="1400" b="0" i="0" u="none" strike="noStrike" kern="1200" cap="none" spc="0" normalizeH="0" baseline="0" noProof="0" dirty="0" err="1">
                <a:ln>
                  <a:noFill/>
                </a:ln>
                <a:solidFill>
                  <a:srgbClr val="002060"/>
                </a:solidFill>
                <a:effectLst/>
                <a:uLnTx/>
                <a:uFillTx/>
                <a:latin typeface="Verdana"/>
                <a:ea typeface="Verdana"/>
                <a:cs typeface="Verdana"/>
                <a:sym typeface="Verdana"/>
              </a:rPr>
              <a:t>ами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002060"/>
                </a:solidFill>
                <a:effectLst/>
                <a:uLnTx/>
                <a:uFillTx/>
                <a:latin typeface="Verdana"/>
                <a:ea typeface="Verdana"/>
                <a:cs typeface="Verdana"/>
                <a:sym typeface="Verdana"/>
              </a:rPr>
              <a:t>БКК</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или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002060"/>
                </a:solidFill>
                <a:effectLst/>
                <a:uLnTx/>
                <a:uFillTx/>
                <a:latin typeface="Verdana"/>
                <a:ea typeface="Verdana"/>
                <a:cs typeface="Verdana"/>
                <a:sym typeface="Verdana"/>
              </a:rPr>
              <a:t>диуретик</a:t>
            </a:r>
            <a:r>
              <a:rPr kumimoji="0" lang="ru-RU" sz="1400" b="0" i="0" u="none" strike="noStrike" kern="1200" cap="none" spc="0" normalizeH="0" baseline="0" noProof="0" dirty="0" err="1">
                <a:ln>
                  <a:noFill/>
                </a:ln>
                <a:solidFill>
                  <a:srgbClr val="002060"/>
                </a:solidFill>
                <a:effectLst/>
                <a:uLnTx/>
                <a:uFillTx/>
                <a:latin typeface="Verdana"/>
                <a:ea typeface="Verdana"/>
                <a:cs typeface="Verdana"/>
                <a:sym typeface="Verdana"/>
              </a:rPr>
              <a:t>ами</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002060"/>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FF000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АПФ/АРБ</a:t>
            </a:r>
            <a:r>
              <a:rPr kumimoji="0" lang="en-US" sz="1400" b="0"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СД2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был</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ниже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cxnSp>
        <p:nvCxnSpPr>
          <p:cNvPr id="304" name="Google Shape;304;p5"/>
          <p:cNvCxnSpPr/>
          <p:nvPr/>
        </p:nvCxnSpPr>
        <p:spPr>
          <a:xfrm>
            <a:off x="7789242" y="2533949"/>
            <a:ext cx="1004100" cy="4800"/>
          </a:xfrm>
          <a:prstGeom prst="straightConnector1">
            <a:avLst/>
          </a:prstGeom>
          <a:noFill/>
          <a:ln w="9525" cap="flat" cmpd="sng">
            <a:solidFill>
              <a:srgbClr val="E61E50"/>
            </a:solidFill>
            <a:prstDash val="solid"/>
            <a:miter lim="800000"/>
            <a:headEnd type="none" w="sm" len="sm"/>
            <a:tailEnd type="triangle" w="med" len="med"/>
          </a:ln>
        </p:spPr>
      </p:cxnSp>
      <p:sp>
        <p:nvSpPr>
          <p:cNvPr id="305" name="Google Shape;305;p5"/>
          <p:cNvSpPr txBox="1"/>
          <p:nvPr/>
        </p:nvSpPr>
        <p:spPr>
          <a:xfrm>
            <a:off x="384511" y="1988477"/>
            <a:ext cx="4320000" cy="10350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Сахарный диабет 2 типа</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0"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306" name="Google Shape;306;p5"/>
          <p:cNvSpPr/>
          <p:nvPr/>
        </p:nvSpPr>
        <p:spPr>
          <a:xfrm>
            <a:off x="3591739" y="1923312"/>
            <a:ext cx="0" cy="1281001"/>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7" name="Google Shape;307;p5"/>
          <p:cNvSpPr/>
          <p:nvPr/>
        </p:nvSpPr>
        <p:spPr>
          <a:xfrm>
            <a:off x="3024283" y="2315696"/>
            <a:ext cx="947409" cy="0"/>
          </a:xfrm>
          <a:custGeom>
            <a:avLst/>
            <a:gdLst/>
            <a:ahLst/>
            <a:cxnLst/>
            <a:rect l="l" t="t" r="r" b="b"/>
            <a:pathLst>
              <a:path w="630555" h="120000" extrusionOk="0">
                <a:moveTo>
                  <a:pt x="63028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8" name="Google Shape;308;p5"/>
          <p:cNvSpPr/>
          <p:nvPr/>
        </p:nvSpPr>
        <p:spPr>
          <a:xfrm>
            <a:off x="3562256" y="2522356"/>
            <a:ext cx="872990" cy="0"/>
          </a:xfrm>
          <a:custGeom>
            <a:avLst/>
            <a:gdLst/>
            <a:ahLst/>
            <a:cxnLst/>
            <a:rect l="l" t="t" r="r" b="b"/>
            <a:pathLst>
              <a:path w="581025" h="120000" extrusionOk="0">
                <a:moveTo>
                  <a:pt x="0" y="0"/>
                </a:moveTo>
                <a:lnTo>
                  <a:pt x="58054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09" name="Google Shape;309;p5"/>
          <p:cNvSpPr/>
          <p:nvPr/>
        </p:nvSpPr>
        <p:spPr>
          <a:xfrm>
            <a:off x="3102965" y="2724203"/>
            <a:ext cx="914968" cy="0"/>
          </a:xfrm>
          <a:custGeom>
            <a:avLst/>
            <a:gdLst/>
            <a:ahLst/>
            <a:cxnLst/>
            <a:rect l="l" t="t" r="r" b="b"/>
            <a:pathLst>
              <a:path w="608964" h="120000" extrusionOk="0">
                <a:moveTo>
                  <a:pt x="0" y="0"/>
                </a:moveTo>
                <a:lnTo>
                  <a:pt x="60868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0" name="Google Shape;310;p5"/>
          <p:cNvSpPr/>
          <p:nvPr/>
        </p:nvSpPr>
        <p:spPr>
          <a:xfrm>
            <a:off x="3208709" y="2929259"/>
            <a:ext cx="955994" cy="0"/>
          </a:xfrm>
          <a:custGeom>
            <a:avLst/>
            <a:gdLst/>
            <a:ahLst/>
            <a:cxnLst/>
            <a:rect l="l" t="t" r="r" b="b"/>
            <a:pathLst>
              <a:path w="636269" h="120000" extrusionOk="0">
                <a:moveTo>
                  <a:pt x="63616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1" name="Google Shape;311;p5"/>
          <p:cNvSpPr txBox="1"/>
          <p:nvPr/>
        </p:nvSpPr>
        <p:spPr>
          <a:xfrm>
            <a:off x="4796851" y="2229257"/>
            <a:ext cx="15048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0.98 (0.63,1.53)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1.46 (0.98, 2.18)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1.04 (0.68, 1.59)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1.16 (0.75, 1.78)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2" name="Google Shape;312;p5"/>
          <p:cNvSpPr txBox="1"/>
          <p:nvPr/>
        </p:nvSpPr>
        <p:spPr>
          <a:xfrm>
            <a:off x="6309190" y="2229136"/>
            <a:ext cx="5292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1.16</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2.28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3" name="Google Shape;313;p5"/>
          <p:cNvSpPr/>
          <p:nvPr/>
        </p:nvSpPr>
        <p:spPr>
          <a:xfrm>
            <a:off x="7675127" y="1957897"/>
            <a:ext cx="0" cy="1281001"/>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grpSp>
        <p:nvGrpSpPr>
          <p:cNvPr id="314" name="Google Shape;314;p5"/>
          <p:cNvGrpSpPr/>
          <p:nvPr/>
        </p:nvGrpSpPr>
        <p:grpSpPr>
          <a:xfrm>
            <a:off x="7056417" y="2335238"/>
            <a:ext cx="1018507" cy="614660"/>
            <a:chOff x="4767554" y="1388414"/>
            <a:chExt cx="659142" cy="374701"/>
          </a:xfrm>
        </p:grpSpPr>
        <p:sp>
          <p:nvSpPr>
            <p:cNvPr id="315" name="Google Shape;315;p5"/>
            <p:cNvSpPr/>
            <p:nvPr/>
          </p:nvSpPr>
          <p:spPr>
            <a:xfrm>
              <a:off x="4767554" y="1388414"/>
              <a:ext cx="631189" cy="0"/>
            </a:xfrm>
            <a:custGeom>
              <a:avLst/>
              <a:gdLst/>
              <a:ahLst/>
              <a:cxnLst/>
              <a:rect l="l" t="t" r="r" b="b"/>
              <a:pathLst>
                <a:path w="631189" h="120000" extrusionOk="0">
                  <a:moveTo>
                    <a:pt x="0" y="0"/>
                  </a:moveTo>
                  <a:lnTo>
                    <a:pt x="630936"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6" name="Google Shape;316;p5"/>
            <p:cNvSpPr/>
            <p:nvPr/>
          </p:nvSpPr>
          <p:spPr>
            <a:xfrm>
              <a:off x="4821542" y="1637563"/>
              <a:ext cx="605154" cy="0"/>
            </a:xfrm>
            <a:custGeom>
              <a:avLst/>
              <a:gdLst/>
              <a:ahLst/>
              <a:cxnLst/>
              <a:rect l="l" t="t" r="r" b="b"/>
              <a:pathLst>
                <a:path w="605154" h="120000" extrusionOk="0">
                  <a:moveTo>
                    <a:pt x="604761"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17" name="Google Shape;317;p5"/>
            <p:cNvSpPr/>
            <p:nvPr/>
          </p:nvSpPr>
          <p:spPr>
            <a:xfrm>
              <a:off x="4790135" y="1763115"/>
              <a:ext cx="610235" cy="0"/>
            </a:xfrm>
            <a:custGeom>
              <a:avLst/>
              <a:gdLst/>
              <a:ahLst/>
              <a:cxnLst/>
              <a:rect l="l" t="t" r="r" b="b"/>
              <a:pathLst>
                <a:path w="610235" h="120000" extrusionOk="0">
                  <a:moveTo>
                    <a:pt x="0" y="0"/>
                  </a:moveTo>
                  <a:lnTo>
                    <a:pt x="609676"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grpSp>
      <p:sp>
        <p:nvSpPr>
          <p:cNvPr id="318" name="Google Shape;318;p5"/>
          <p:cNvSpPr txBox="1"/>
          <p:nvPr/>
        </p:nvSpPr>
        <p:spPr>
          <a:xfrm>
            <a:off x="9002424" y="2217884"/>
            <a:ext cx="1457400" cy="2013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0.94 (0.60, 1.45)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19" name="Google Shape;319;p5"/>
          <p:cNvSpPr txBox="1"/>
          <p:nvPr/>
        </p:nvSpPr>
        <p:spPr>
          <a:xfrm>
            <a:off x="8992695" y="2431618"/>
            <a:ext cx="1489200" cy="422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1.75 (1.18, 2.61)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0.99 (0.65, 1.52)</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20" name="Google Shape;320;p5"/>
          <p:cNvSpPr txBox="1"/>
          <p:nvPr/>
        </p:nvSpPr>
        <p:spPr>
          <a:xfrm>
            <a:off x="8994044" y="2862352"/>
            <a:ext cx="1609500" cy="2013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0.96 (0.62, 1.47)</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21" name="Google Shape;321;p5"/>
          <p:cNvSpPr txBox="1"/>
          <p:nvPr/>
        </p:nvSpPr>
        <p:spPr>
          <a:xfrm>
            <a:off x="10435391" y="2214003"/>
            <a:ext cx="529200" cy="8634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1.32</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2.90</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1.11</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1.25</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grpSp>
        <p:nvGrpSpPr>
          <p:cNvPr id="322" name="Google Shape;322;p5"/>
          <p:cNvGrpSpPr/>
          <p:nvPr/>
        </p:nvGrpSpPr>
        <p:grpSpPr>
          <a:xfrm>
            <a:off x="2503523" y="3209295"/>
            <a:ext cx="2541896" cy="220272"/>
            <a:chOff x="4523930" y="3845712"/>
            <a:chExt cx="1518547" cy="220272"/>
          </a:xfrm>
        </p:grpSpPr>
        <p:sp>
          <p:nvSpPr>
            <p:cNvPr id="323" name="Google Shape;323;p5"/>
            <p:cNvSpPr txBox="1"/>
            <p:nvPr/>
          </p:nvSpPr>
          <p:spPr>
            <a:xfrm>
              <a:off x="4523930" y="3879984"/>
              <a:ext cx="2691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24" name="Google Shape;324;p5"/>
            <p:cNvSpPr txBox="1"/>
            <p:nvPr/>
          </p:nvSpPr>
          <p:spPr>
            <a:xfrm>
              <a:off x="5075277"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25" name="Google Shape;325;p5"/>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6" name="Google Shape;326;p5"/>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7" name="Google Shape;327;p5"/>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8" name="Google Shape;328;p5"/>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29" name="Google Shape;329;p5"/>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0" name="Google Shape;330;p5"/>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grpSp>
        <p:nvGrpSpPr>
          <p:cNvPr id="331" name="Google Shape;331;p5"/>
          <p:cNvGrpSpPr/>
          <p:nvPr/>
        </p:nvGrpSpPr>
        <p:grpSpPr>
          <a:xfrm>
            <a:off x="6516690" y="3211047"/>
            <a:ext cx="2611882" cy="220272"/>
            <a:chOff x="4482121" y="3845712"/>
            <a:chExt cx="1560357" cy="220272"/>
          </a:xfrm>
        </p:grpSpPr>
        <p:sp>
          <p:nvSpPr>
            <p:cNvPr id="332" name="Google Shape;332;p5"/>
            <p:cNvSpPr txBox="1"/>
            <p:nvPr/>
          </p:nvSpPr>
          <p:spPr>
            <a:xfrm>
              <a:off x="4482121" y="3879984"/>
              <a:ext cx="310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33" name="Google Shape;333;p5"/>
            <p:cNvSpPr txBox="1"/>
            <p:nvPr/>
          </p:nvSpPr>
          <p:spPr>
            <a:xfrm>
              <a:off x="5075278" y="3878843"/>
              <a:ext cx="967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34" name="Google Shape;334;p5"/>
            <p:cNvSpPr/>
            <p:nvPr/>
          </p:nvSpPr>
          <p:spPr>
            <a:xfrm>
              <a:off x="4660900" y="3845724"/>
              <a:ext cx="1237614"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5" name="Google Shape;335;p5"/>
            <p:cNvSpPr/>
            <p:nvPr/>
          </p:nvSpPr>
          <p:spPr>
            <a:xfrm>
              <a:off x="4663376"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6" name="Google Shape;336;p5"/>
            <p:cNvSpPr/>
            <p:nvPr/>
          </p:nvSpPr>
          <p:spPr>
            <a:xfrm>
              <a:off x="5174157" y="384571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7" name="Google Shape;337;p5"/>
            <p:cNvSpPr/>
            <p:nvPr/>
          </p:nvSpPr>
          <p:spPr>
            <a:xfrm>
              <a:off x="5416562"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8" name="Google Shape;338;p5"/>
            <p:cNvSpPr/>
            <p:nvPr/>
          </p:nvSpPr>
          <p:spPr>
            <a:xfrm>
              <a:off x="5653773"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39" name="Google Shape;339;p5"/>
            <p:cNvSpPr/>
            <p:nvPr/>
          </p:nvSpPr>
          <p:spPr>
            <a:xfrm>
              <a:off x="5895695" y="384571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grpSp>
      <p:sp>
        <p:nvSpPr>
          <p:cNvPr id="340" name="Google Shape;340;p5"/>
          <p:cNvSpPr/>
          <p:nvPr/>
        </p:nvSpPr>
        <p:spPr>
          <a:xfrm>
            <a:off x="4858096" y="1915302"/>
            <a:ext cx="6217087"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41" name="Google Shape;341;p5"/>
          <p:cNvSpPr txBox="1"/>
          <p:nvPr/>
        </p:nvSpPr>
        <p:spPr>
          <a:xfrm>
            <a:off x="417872" y="1695825"/>
            <a:ext cx="2181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С</a:t>
            </a:r>
            <a:r>
              <a:rPr kumimoji="0" lang="en-US" sz="1100" b="1" i="0" u="none" strike="noStrike" kern="1200" cap="none" spc="0" normalizeH="0" baseline="0" noProof="0" dirty="0" err="1">
                <a:ln>
                  <a:noFill/>
                </a:ln>
                <a:solidFill>
                  <a:srgbClr val="E61E50"/>
                </a:solidFill>
                <a:effectLst/>
                <a:uLnTx/>
                <a:uFillTx/>
                <a:latin typeface="Verdana"/>
                <a:ea typeface="Verdana"/>
                <a:cs typeface="Verdana"/>
                <a:sym typeface="Verdana"/>
              </a:rPr>
              <a:t>обытие</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2" name="Google Shape;342;p5"/>
          <p:cNvSpPr txBox="1"/>
          <p:nvPr/>
        </p:nvSpPr>
        <p:spPr>
          <a:xfrm>
            <a:off x="3444099" y="1695829"/>
            <a:ext cx="322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3" name="Google Shape;343;p5"/>
          <p:cNvSpPr txBox="1"/>
          <p:nvPr/>
        </p:nvSpPr>
        <p:spPr>
          <a:xfrm>
            <a:off x="4744090" y="1695829"/>
            <a:ext cx="14973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344" name="Google Shape;344;p5"/>
          <p:cNvSpPr txBox="1"/>
          <p:nvPr/>
        </p:nvSpPr>
        <p:spPr>
          <a:xfrm>
            <a:off x="6228923" y="1695825"/>
            <a:ext cx="11361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5" name="Google Shape;345;p5"/>
          <p:cNvSpPr txBox="1"/>
          <p:nvPr/>
        </p:nvSpPr>
        <p:spPr>
          <a:xfrm>
            <a:off x="7477213" y="1695829"/>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6" name="Google Shape;346;p5"/>
          <p:cNvSpPr txBox="1"/>
          <p:nvPr/>
        </p:nvSpPr>
        <p:spPr>
          <a:xfrm>
            <a:off x="8734611" y="1695829"/>
            <a:ext cx="1592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7" name="Google Shape;347;p5"/>
          <p:cNvSpPr txBox="1"/>
          <p:nvPr/>
        </p:nvSpPr>
        <p:spPr>
          <a:xfrm>
            <a:off x="10228650" y="1682725"/>
            <a:ext cx="12546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48" name="Google Shape;348;p5"/>
          <p:cNvSpPr/>
          <p:nvPr/>
        </p:nvSpPr>
        <p:spPr>
          <a:xfrm>
            <a:off x="433478" y="1915289"/>
            <a:ext cx="4115548"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49" name="Google Shape;349;p5"/>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1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pic>
        <p:nvPicPr>
          <p:cNvPr id="350" name="Google Shape;350;p5"/>
          <p:cNvPicPr preferRelativeResize="0"/>
          <p:nvPr/>
        </p:nvPicPr>
        <p:blipFill rotWithShape="1">
          <a:blip r:embed="rId5">
            <a:alphaModFix/>
          </a:blip>
          <a:srcRect/>
          <a:stretch/>
        </p:blipFill>
        <p:spPr>
          <a:xfrm>
            <a:off x="7538359" y="2277757"/>
            <a:ext cx="109208" cy="115954"/>
          </a:xfrm>
          <a:prstGeom prst="rect">
            <a:avLst/>
          </a:prstGeom>
          <a:noFill/>
          <a:ln>
            <a:noFill/>
          </a:ln>
        </p:spPr>
      </p:pic>
      <p:pic>
        <p:nvPicPr>
          <p:cNvPr id="351" name="Google Shape;351;p5"/>
          <p:cNvPicPr preferRelativeResize="0"/>
          <p:nvPr/>
        </p:nvPicPr>
        <p:blipFill rotWithShape="1">
          <a:blip r:embed="rId6">
            <a:alphaModFix/>
          </a:blip>
          <a:srcRect/>
          <a:stretch/>
        </p:blipFill>
        <p:spPr>
          <a:xfrm>
            <a:off x="8188879" y="2482023"/>
            <a:ext cx="109228" cy="115954"/>
          </a:xfrm>
          <a:prstGeom prst="rect">
            <a:avLst/>
          </a:prstGeom>
          <a:noFill/>
          <a:ln>
            <a:noFill/>
          </a:ln>
        </p:spPr>
      </p:pic>
      <p:pic>
        <p:nvPicPr>
          <p:cNvPr id="352" name="Google Shape;352;p5"/>
          <p:cNvPicPr preferRelativeResize="0"/>
          <p:nvPr/>
        </p:nvPicPr>
        <p:blipFill rotWithShape="1">
          <a:blip r:embed="rId6">
            <a:alphaModFix/>
          </a:blip>
          <a:srcRect/>
          <a:stretch/>
        </p:blipFill>
        <p:spPr>
          <a:xfrm>
            <a:off x="7617365" y="2686952"/>
            <a:ext cx="109228" cy="115954"/>
          </a:xfrm>
          <a:prstGeom prst="rect">
            <a:avLst/>
          </a:prstGeom>
          <a:noFill/>
          <a:ln>
            <a:noFill/>
          </a:ln>
        </p:spPr>
      </p:pic>
      <p:pic>
        <p:nvPicPr>
          <p:cNvPr id="353" name="Google Shape;353;p5"/>
          <p:cNvPicPr preferRelativeResize="0"/>
          <p:nvPr/>
        </p:nvPicPr>
        <p:blipFill rotWithShape="1">
          <a:blip r:embed="rId7">
            <a:alphaModFix/>
          </a:blip>
          <a:srcRect/>
          <a:stretch/>
        </p:blipFill>
        <p:spPr>
          <a:xfrm>
            <a:off x="7569584" y="2888260"/>
            <a:ext cx="109228" cy="115954"/>
          </a:xfrm>
          <a:prstGeom prst="rect">
            <a:avLst/>
          </a:prstGeom>
          <a:noFill/>
          <a:ln>
            <a:noFill/>
          </a:ln>
        </p:spPr>
      </p:pic>
      <p:pic>
        <p:nvPicPr>
          <p:cNvPr id="354" name="Google Shape;354;p5"/>
          <p:cNvPicPr preferRelativeResize="0"/>
          <p:nvPr/>
        </p:nvPicPr>
        <p:blipFill rotWithShape="1">
          <a:blip r:embed="rId8">
            <a:alphaModFix/>
          </a:blip>
          <a:srcRect/>
          <a:stretch/>
        </p:blipFill>
        <p:spPr>
          <a:xfrm>
            <a:off x="3510557" y="2256115"/>
            <a:ext cx="106201" cy="115954"/>
          </a:xfrm>
          <a:prstGeom prst="rect">
            <a:avLst/>
          </a:prstGeom>
          <a:noFill/>
          <a:ln>
            <a:noFill/>
          </a:ln>
        </p:spPr>
      </p:pic>
      <p:pic>
        <p:nvPicPr>
          <p:cNvPr id="355" name="Google Shape;355;p5"/>
          <p:cNvPicPr preferRelativeResize="0"/>
          <p:nvPr/>
        </p:nvPicPr>
        <p:blipFill rotWithShape="1">
          <a:blip r:embed="rId9">
            <a:alphaModFix/>
          </a:blip>
          <a:srcRect/>
          <a:stretch/>
        </p:blipFill>
        <p:spPr>
          <a:xfrm>
            <a:off x="3566435" y="2666518"/>
            <a:ext cx="106201" cy="115954"/>
          </a:xfrm>
          <a:prstGeom prst="rect">
            <a:avLst/>
          </a:prstGeom>
          <a:noFill/>
          <a:ln>
            <a:noFill/>
          </a:ln>
        </p:spPr>
      </p:pic>
      <p:pic>
        <p:nvPicPr>
          <p:cNvPr id="356" name="Google Shape;356;p5"/>
          <p:cNvPicPr preferRelativeResize="0"/>
          <p:nvPr/>
        </p:nvPicPr>
        <p:blipFill rotWithShape="1">
          <a:blip r:embed="rId7">
            <a:alphaModFix/>
          </a:blip>
          <a:srcRect/>
          <a:stretch/>
        </p:blipFill>
        <p:spPr>
          <a:xfrm>
            <a:off x="3652483" y="2869970"/>
            <a:ext cx="106220" cy="115954"/>
          </a:xfrm>
          <a:prstGeom prst="rect">
            <a:avLst/>
          </a:prstGeom>
          <a:solidFill>
            <a:srgbClr val="A5D5D5"/>
          </a:solidFill>
          <a:ln>
            <a:noFill/>
          </a:ln>
        </p:spPr>
      </p:pic>
      <p:pic>
        <p:nvPicPr>
          <p:cNvPr id="357" name="Google Shape;357;p5"/>
          <p:cNvPicPr preferRelativeResize="0"/>
          <p:nvPr/>
        </p:nvPicPr>
        <p:blipFill rotWithShape="1">
          <a:blip r:embed="rId10">
            <a:alphaModFix/>
          </a:blip>
          <a:srcRect/>
          <a:stretch/>
        </p:blipFill>
        <p:spPr>
          <a:xfrm>
            <a:off x="3871738" y="2463587"/>
            <a:ext cx="106201" cy="115954"/>
          </a:xfrm>
          <a:prstGeom prst="rect">
            <a:avLst/>
          </a:prstGeom>
          <a:noFill/>
          <a:ln>
            <a:noFill/>
          </a:ln>
        </p:spPr>
      </p:pic>
      <p:sp>
        <p:nvSpPr>
          <p:cNvPr id="358" name="Google Shape;358;p5"/>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359" name="Google Shape;359;p5"/>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6" descr="A colorful pattern with a blue background&#10;&#10;Description automatically generated"/>
          <p:cNvPicPr preferRelativeResize="0"/>
          <p:nvPr/>
        </p:nvPicPr>
        <p:blipFill rotWithShape="1">
          <a:blip r:embed="rId3">
            <a:alphaModFix/>
          </a:blip>
          <a:srcRect t="21952" r="36301" b="992"/>
          <a:stretch/>
        </p:blipFill>
        <p:spPr>
          <a:xfrm>
            <a:off x="8001000" y="3281458"/>
            <a:ext cx="4190998" cy="3584659"/>
          </a:xfrm>
          <a:prstGeom prst="rect">
            <a:avLst/>
          </a:prstGeom>
          <a:noFill/>
          <a:ln>
            <a:noFill/>
          </a:ln>
        </p:spPr>
      </p:pic>
      <p:pic>
        <p:nvPicPr>
          <p:cNvPr id="365" name="Google Shape;365;p6"/>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366" name="Google Shape;366;p6"/>
          <p:cNvSpPr txBox="1"/>
          <p:nvPr/>
        </p:nvSpPr>
        <p:spPr>
          <a:xfrm>
            <a:off x="150471" y="264129"/>
            <a:ext cx="115386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a:ln>
                  <a:noFill/>
                </a:ln>
                <a:solidFill>
                  <a:srgbClr val="503291"/>
                </a:solidFill>
                <a:effectLst/>
                <a:uLnTx/>
                <a:uFillTx/>
                <a:latin typeface="Verdana"/>
                <a:ea typeface="Verdana"/>
                <a:cs typeface="Verdana"/>
                <a:sym typeface="Verdana"/>
              </a:rPr>
              <a:t>Результаты по безопасности</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a:ln>
                  <a:noFill/>
                </a:ln>
                <a:solidFill>
                  <a:srgbClr val="503291"/>
                </a:solidFill>
                <a:effectLst/>
                <a:uLnTx/>
                <a:uFillTx/>
                <a:latin typeface="Verdana"/>
                <a:ea typeface="Verdana"/>
                <a:cs typeface="Verdana"/>
                <a:sym typeface="Verdana"/>
              </a:rPr>
              <a:t> </a:t>
            </a:r>
            <a:r>
              <a:rPr kumimoji="0" lang="en-US" sz="2000" b="1" i="0" u="none" strike="noStrike" kern="1200" cap="none" spc="0" normalizeH="0" baseline="0" noProof="0">
                <a:ln>
                  <a:noFill/>
                </a:ln>
                <a:solidFill>
                  <a:srgbClr val="E61E50"/>
                </a:solidFill>
                <a:effectLst/>
                <a:uLnTx/>
                <a:uFillTx/>
                <a:latin typeface="Verdana"/>
                <a:ea typeface="Verdana"/>
                <a:cs typeface="Verdana"/>
                <a:sym typeface="Verdana"/>
              </a:rPr>
              <a:t>Дислипидемия</a:t>
            </a:r>
            <a:endParaRPr kumimoji="0" sz="2000" b="1"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67" name="Google Shape;367;p6"/>
          <p:cNvSpPr txBox="1"/>
          <p:nvPr/>
        </p:nvSpPr>
        <p:spPr>
          <a:xfrm>
            <a:off x="281939" y="4170627"/>
            <a:ext cx="11070300" cy="2031900"/>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других</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β-</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блокаторов</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не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различался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однако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был</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повышен</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диуретиков</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Наблюдалась</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тенденция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к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увеличению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риска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0"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400" b="0" i="0" u="none" strike="noStrike" kern="1200" cap="none" spc="0" normalizeH="0" baseline="0" noProof="0" dirty="0">
                <a:ln>
                  <a:noFill/>
                </a:ln>
                <a:solidFill>
                  <a:srgbClr val="503291"/>
                </a:solidFill>
                <a:effectLst/>
                <a:uLnTx/>
                <a:uFillTx/>
                <a:latin typeface="Verdana"/>
                <a:ea typeface="Verdana"/>
                <a:cs typeface="Verdana"/>
                <a:sym typeface="Verdana"/>
              </a:rPr>
              <a:t>БКК</a:t>
            </a:r>
            <a:r>
              <a:rPr kumimoji="0" lang="en-US" sz="1400" b="0" i="0" u="none" strike="noStrike" kern="1200" cap="none" spc="0" normalizeH="0" baseline="0" noProof="0" dirty="0">
                <a:ln>
                  <a:noFill/>
                </a:ln>
                <a:solidFill>
                  <a:srgbClr val="503291"/>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0" i="0" u="none" strike="noStrike" kern="1200" cap="none" spc="0" normalizeH="0" baseline="0" noProof="0" dirty="0">
              <a:ln>
                <a:noFill/>
              </a:ln>
              <a:solidFill>
                <a:srgbClr val="503291"/>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503291"/>
              </a:buClr>
              <a:buSzPts val="1400"/>
              <a:buFont typeface="Arial"/>
              <a:buChar char="•"/>
              <a:tabLst/>
              <a:defRPr/>
            </a:pP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ОР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риск</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дислипидемии</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и</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АПФ/</a:t>
            </a:r>
            <a:r>
              <a:rPr kumimoji="0" lang="ru-RU" sz="1400" b="1" i="0" u="none" strike="noStrike" kern="1200" cap="none" spc="0" normalizeH="0" baseline="0" noProof="0" dirty="0">
                <a:ln>
                  <a:noFill/>
                </a:ln>
                <a:solidFill>
                  <a:srgbClr val="503291"/>
                </a:solidFill>
                <a:effectLst/>
                <a:uLnTx/>
                <a:uFillTx/>
                <a:latin typeface="Verdana"/>
                <a:ea typeface="Verdana"/>
                <a:cs typeface="Verdana"/>
                <a:sym typeface="Verdana"/>
              </a:rPr>
              <a:t>БРА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однако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SHR (ОСР)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указывал</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на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снижение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риска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503291"/>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503291"/>
                </a:solidFill>
                <a:effectLst/>
                <a:uLnTx/>
                <a:uFillTx/>
                <a:latin typeface="Verdana"/>
                <a:ea typeface="Verdana"/>
                <a:cs typeface="Verdana"/>
                <a:sym typeface="Verdana"/>
              </a:rPr>
              <a:t> с АПФ/АРБ.</a:t>
            </a:r>
            <a:endParaRPr kumimoji="0" sz="14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grpSp>
        <p:nvGrpSpPr>
          <p:cNvPr id="368" name="Google Shape;368;p6"/>
          <p:cNvGrpSpPr/>
          <p:nvPr/>
        </p:nvGrpSpPr>
        <p:grpSpPr>
          <a:xfrm>
            <a:off x="405381" y="1581625"/>
            <a:ext cx="11133543" cy="1836792"/>
            <a:chOff x="700157" y="1468408"/>
            <a:chExt cx="11133543" cy="1836792"/>
          </a:xfrm>
        </p:grpSpPr>
        <p:sp>
          <p:nvSpPr>
            <p:cNvPr id="369" name="Google Shape;369;p6"/>
            <p:cNvSpPr txBox="1"/>
            <p:nvPr/>
          </p:nvSpPr>
          <p:spPr>
            <a:xfrm>
              <a:off x="702864" y="1752205"/>
              <a:ext cx="4320000" cy="10350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Дислипидемия</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0"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370" name="Google Shape;370;p6"/>
            <p:cNvSpPr/>
            <p:nvPr/>
          </p:nvSpPr>
          <p:spPr>
            <a:xfrm>
              <a:off x="3910092" y="1712160"/>
              <a:ext cx="0" cy="1368649"/>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1" name="Google Shape;371;p6"/>
            <p:cNvSpPr/>
            <p:nvPr/>
          </p:nvSpPr>
          <p:spPr>
            <a:xfrm>
              <a:off x="3344601" y="2084441"/>
              <a:ext cx="656412" cy="0"/>
            </a:xfrm>
            <a:custGeom>
              <a:avLst/>
              <a:gdLst/>
              <a:ahLst/>
              <a:cxnLst/>
              <a:rect l="l" t="t" r="r" b="b"/>
              <a:pathLst>
                <a:path w="436880" h="120000" extrusionOk="0">
                  <a:moveTo>
                    <a:pt x="0" y="0"/>
                  </a:moveTo>
                  <a:lnTo>
                    <a:pt x="436549"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2" name="Google Shape;372;p6"/>
            <p:cNvSpPr/>
            <p:nvPr/>
          </p:nvSpPr>
          <p:spPr>
            <a:xfrm>
              <a:off x="3620954" y="2291642"/>
              <a:ext cx="519022" cy="0"/>
            </a:xfrm>
            <a:custGeom>
              <a:avLst/>
              <a:gdLst/>
              <a:ahLst/>
              <a:cxnLst/>
              <a:rect l="l" t="t" r="r" b="b"/>
              <a:pathLst>
                <a:path w="345439" h="120000" extrusionOk="0">
                  <a:moveTo>
                    <a:pt x="0" y="0"/>
                  </a:moveTo>
                  <a:lnTo>
                    <a:pt x="34493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3" name="Google Shape;373;p6"/>
            <p:cNvSpPr/>
            <p:nvPr/>
          </p:nvSpPr>
          <p:spPr>
            <a:xfrm>
              <a:off x="3370904" y="2494552"/>
              <a:ext cx="599167" cy="0"/>
            </a:xfrm>
            <a:custGeom>
              <a:avLst/>
              <a:gdLst/>
              <a:ahLst/>
              <a:cxnLst/>
              <a:rect l="l" t="t" r="r" b="b"/>
              <a:pathLst>
                <a:path w="398780" h="120000" extrusionOk="0">
                  <a:moveTo>
                    <a:pt x="398589"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4" name="Google Shape;374;p6"/>
            <p:cNvSpPr txBox="1"/>
            <p:nvPr/>
          </p:nvSpPr>
          <p:spPr>
            <a:xfrm>
              <a:off x="4860976" y="1987973"/>
              <a:ext cx="15069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0.85 (0.63, 1.13)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1.03 (0.81, 1.31)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0.81 (0.63, 1.05)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0.76 (0.58, 0.99)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75" name="Google Shape;375;p6"/>
            <p:cNvSpPr txBox="1"/>
            <p:nvPr/>
          </p:nvSpPr>
          <p:spPr>
            <a:xfrm>
              <a:off x="6536491" y="1989657"/>
              <a:ext cx="603900" cy="12015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1.63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1.77</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1.96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76" name="Google Shape;376;p6"/>
            <p:cNvSpPr/>
            <p:nvPr/>
          </p:nvSpPr>
          <p:spPr>
            <a:xfrm>
              <a:off x="7993474" y="1739683"/>
              <a:ext cx="0" cy="1368649"/>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7" name="Google Shape;377;p6"/>
            <p:cNvSpPr/>
            <p:nvPr/>
          </p:nvSpPr>
          <p:spPr>
            <a:xfrm>
              <a:off x="7356619" y="2102854"/>
              <a:ext cx="674978" cy="0"/>
            </a:xfrm>
            <a:custGeom>
              <a:avLst/>
              <a:gdLst/>
              <a:ahLst/>
              <a:cxnLst/>
              <a:rect l="l" t="t" r="r" b="b"/>
              <a:pathLst>
                <a:path w="436879" h="120000" extrusionOk="0">
                  <a:moveTo>
                    <a:pt x="436867"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8" name="Google Shape;378;p6"/>
            <p:cNvSpPr/>
            <p:nvPr/>
          </p:nvSpPr>
          <p:spPr>
            <a:xfrm>
              <a:off x="8043818" y="2308994"/>
              <a:ext cx="473858" cy="0"/>
            </a:xfrm>
            <a:custGeom>
              <a:avLst/>
              <a:gdLst/>
              <a:ahLst/>
              <a:cxnLst/>
              <a:rect l="l" t="t" r="r" b="b"/>
              <a:pathLst>
                <a:path w="306704" h="120000" extrusionOk="0">
                  <a:moveTo>
                    <a:pt x="0" y="0"/>
                  </a:moveTo>
                  <a:lnTo>
                    <a:pt x="306298"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79" name="Google Shape;379;p6"/>
            <p:cNvSpPr/>
            <p:nvPr/>
          </p:nvSpPr>
          <p:spPr>
            <a:xfrm>
              <a:off x="7373300" y="2508695"/>
              <a:ext cx="628869" cy="0"/>
            </a:xfrm>
            <a:custGeom>
              <a:avLst/>
              <a:gdLst/>
              <a:ahLst/>
              <a:cxnLst/>
              <a:rect l="l" t="t" r="r" b="b"/>
              <a:pathLst>
                <a:path w="407035" h="120000" extrusionOk="0">
                  <a:moveTo>
                    <a:pt x="406450"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80" name="Google Shape;380;p6"/>
            <p:cNvSpPr/>
            <p:nvPr/>
          </p:nvSpPr>
          <p:spPr>
            <a:xfrm>
              <a:off x="7210584" y="2722088"/>
              <a:ext cx="521784" cy="0"/>
            </a:xfrm>
            <a:custGeom>
              <a:avLst/>
              <a:gdLst/>
              <a:ahLst/>
              <a:cxnLst/>
              <a:rect l="l" t="t" r="r" b="b"/>
              <a:pathLst>
                <a:path w="630555" h="120000" extrusionOk="0">
                  <a:moveTo>
                    <a:pt x="630288"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381" name="Google Shape;381;p6"/>
            <p:cNvSpPr txBox="1"/>
            <p:nvPr/>
          </p:nvSpPr>
          <p:spPr>
            <a:xfrm>
              <a:off x="9175071" y="1991649"/>
              <a:ext cx="14196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0.78 (0.59, 1.04)</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1.33 (1.05, 1.70)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0.77 (0.60, 1.00)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0.65 (0.5, 0.85)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82" name="Google Shape;382;p6"/>
            <p:cNvSpPr txBox="1"/>
            <p:nvPr/>
          </p:nvSpPr>
          <p:spPr>
            <a:xfrm>
              <a:off x="10900993" y="2001820"/>
              <a:ext cx="603900" cy="12015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1.88</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1.99</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1.92</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2.45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383" name="Google Shape;383;p6"/>
            <p:cNvSpPr txBox="1"/>
            <p:nvPr/>
          </p:nvSpPr>
          <p:spPr>
            <a:xfrm>
              <a:off x="2803409" y="3117448"/>
              <a:ext cx="4503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84" name="Google Shape;384;p6"/>
            <p:cNvSpPr txBox="1"/>
            <p:nvPr/>
          </p:nvSpPr>
          <p:spPr>
            <a:xfrm>
              <a:off x="3751274" y="3116307"/>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85" name="Google Shape;385;p6"/>
            <p:cNvSpPr/>
            <p:nvPr/>
          </p:nvSpPr>
          <p:spPr>
            <a:xfrm>
              <a:off x="3051178" y="3083188"/>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6" name="Google Shape;386;p6"/>
            <p:cNvSpPr/>
            <p:nvPr/>
          </p:nvSpPr>
          <p:spPr>
            <a:xfrm>
              <a:off x="3055323"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7" name="Google Shape;387;p6"/>
            <p:cNvSpPr/>
            <p:nvPr/>
          </p:nvSpPr>
          <p:spPr>
            <a:xfrm>
              <a:off x="3910322" y="3083176"/>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8" name="Google Shape;388;p6"/>
            <p:cNvSpPr/>
            <p:nvPr/>
          </p:nvSpPr>
          <p:spPr>
            <a:xfrm>
              <a:off x="4316085"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89" name="Google Shape;389;p6"/>
            <p:cNvSpPr/>
            <p:nvPr/>
          </p:nvSpPr>
          <p:spPr>
            <a:xfrm>
              <a:off x="4713154"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0" name="Google Shape;390;p6"/>
            <p:cNvSpPr/>
            <p:nvPr/>
          </p:nvSpPr>
          <p:spPr>
            <a:xfrm>
              <a:off x="5118108" y="3083176"/>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1" name="Google Shape;391;p6"/>
            <p:cNvSpPr txBox="1"/>
            <p:nvPr/>
          </p:nvSpPr>
          <p:spPr>
            <a:xfrm>
              <a:off x="6976483" y="3119200"/>
              <a:ext cx="445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92" name="Google Shape;392;p6"/>
            <p:cNvSpPr txBox="1"/>
            <p:nvPr/>
          </p:nvSpPr>
          <p:spPr>
            <a:xfrm>
              <a:off x="7834424" y="3118059"/>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393" name="Google Shape;393;p6"/>
            <p:cNvSpPr/>
            <p:nvPr/>
          </p:nvSpPr>
          <p:spPr>
            <a:xfrm>
              <a:off x="7134330" y="3084940"/>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4" name="Google Shape;394;p6"/>
            <p:cNvSpPr/>
            <p:nvPr/>
          </p:nvSpPr>
          <p:spPr>
            <a:xfrm>
              <a:off x="7138475"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5" name="Google Shape;395;p6"/>
            <p:cNvSpPr/>
            <p:nvPr/>
          </p:nvSpPr>
          <p:spPr>
            <a:xfrm>
              <a:off x="7993474" y="3084928"/>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6" name="Google Shape;396;p6"/>
            <p:cNvSpPr/>
            <p:nvPr/>
          </p:nvSpPr>
          <p:spPr>
            <a:xfrm>
              <a:off x="8399237"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7" name="Google Shape;397;p6"/>
            <p:cNvSpPr/>
            <p:nvPr/>
          </p:nvSpPr>
          <p:spPr>
            <a:xfrm>
              <a:off x="8796306"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8" name="Google Shape;398;p6"/>
            <p:cNvSpPr/>
            <p:nvPr/>
          </p:nvSpPr>
          <p:spPr>
            <a:xfrm>
              <a:off x="9201260" y="3084928"/>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399" name="Google Shape;399;p6"/>
            <p:cNvSpPr/>
            <p:nvPr/>
          </p:nvSpPr>
          <p:spPr>
            <a:xfrm>
              <a:off x="4947847" y="1679030"/>
              <a:ext cx="6587466"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00" name="Google Shape;400;p6"/>
            <p:cNvSpPr txBox="1"/>
            <p:nvPr/>
          </p:nvSpPr>
          <p:spPr>
            <a:xfrm>
              <a:off x="700157" y="1468408"/>
              <a:ext cx="2181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С</a:t>
              </a:r>
              <a:r>
                <a:rPr kumimoji="0" lang="en-US" sz="1100" b="1" i="0" u="none" strike="noStrike" kern="1200" cap="none" spc="0" normalizeH="0" baseline="0" noProof="0" dirty="0" err="1">
                  <a:ln>
                    <a:noFill/>
                  </a:ln>
                  <a:solidFill>
                    <a:srgbClr val="E61E50"/>
                  </a:solidFill>
                  <a:effectLst/>
                  <a:uLnTx/>
                  <a:uFillTx/>
                  <a:latin typeface="Verdana"/>
                  <a:ea typeface="Verdana"/>
                  <a:cs typeface="Verdana"/>
                  <a:sym typeface="Verdana"/>
                </a:rPr>
                <a:t>обытие</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1" name="Google Shape;401;p6"/>
            <p:cNvSpPr txBox="1"/>
            <p:nvPr/>
          </p:nvSpPr>
          <p:spPr>
            <a:xfrm>
              <a:off x="3762452" y="1468417"/>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2" name="Google Shape;402;p6"/>
            <p:cNvSpPr txBox="1"/>
            <p:nvPr/>
          </p:nvSpPr>
          <p:spPr>
            <a:xfrm>
              <a:off x="4811426" y="1468408"/>
              <a:ext cx="15069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ОР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03" name="Google Shape;403;p6"/>
            <p:cNvSpPr txBox="1"/>
            <p:nvPr/>
          </p:nvSpPr>
          <p:spPr>
            <a:xfrm>
              <a:off x="6506321" y="1468408"/>
              <a:ext cx="1001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4" name="Google Shape;404;p6"/>
            <p:cNvSpPr txBox="1"/>
            <p:nvPr/>
          </p:nvSpPr>
          <p:spPr>
            <a:xfrm>
              <a:off x="7795566" y="1468417"/>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5" name="Google Shape;405;p6"/>
            <p:cNvSpPr txBox="1"/>
            <p:nvPr/>
          </p:nvSpPr>
          <p:spPr>
            <a:xfrm>
              <a:off x="9134132" y="1468417"/>
              <a:ext cx="1483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6" name="Google Shape;406;p6"/>
            <p:cNvSpPr txBox="1"/>
            <p:nvPr/>
          </p:nvSpPr>
          <p:spPr>
            <a:xfrm>
              <a:off x="10727000" y="1468408"/>
              <a:ext cx="11067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07" name="Google Shape;407;p6"/>
            <p:cNvSpPr/>
            <p:nvPr/>
          </p:nvSpPr>
          <p:spPr>
            <a:xfrm>
              <a:off x="703703" y="1679017"/>
              <a:ext cx="3655211"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08" name="Google Shape;408;p6"/>
            <p:cNvSpPr/>
            <p:nvPr/>
          </p:nvSpPr>
          <p:spPr>
            <a:xfrm>
              <a:off x="3296878" y="2699206"/>
              <a:ext cx="599167" cy="0"/>
            </a:xfrm>
            <a:custGeom>
              <a:avLst/>
              <a:gdLst/>
              <a:ahLst/>
              <a:cxnLst/>
              <a:rect l="l" t="t" r="r" b="b"/>
              <a:pathLst>
                <a:path w="398780" h="120000" extrusionOk="0">
                  <a:moveTo>
                    <a:pt x="398589"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pic>
          <p:nvPicPr>
            <p:cNvPr id="409" name="Google Shape;409;p6"/>
            <p:cNvPicPr preferRelativeResize="0"/>
            <p:nvPr/>
          </p:nvPicPr>
          <p:blipFill rotWithShape="1">
            <a:blip r:embed="rId5">
              <a:alphaModFix/>
            </a:blip>
            <a:srcRect/>
            <a:stretch/>
          </p:blipFill>
          <p:spPr>
            <a:xfrm>
              <a:off x="3880361" y="2230186"/>
              <a:ext cx="106220" cy="115933"/>
            </a:xfrm>
            <a:prstGeom prst="rect">
              <a:avLst/>
            </a:prstGeom>
            <a:noFill/>
            <a:ln>
              <a:noFill/>
            </a:ln>
          </p:spPr>
        </p:pic>
        <p:pic>
          <p:nvPicPr>
            <p:cNvPr id="410" name="Google Shape;410;p6"/>
            <p:cNvPicPr preferRelativeResize="0"/>
            <p:nvPr/>
          </p:nvPicPr>
          <p:blipFill rotWithShape="1">
            <a:blip r:embed="rId6">
              <a:alphaModFix/>
            </a:blip>
            <a:srcRect/>
            <a:stretch/>
          </p:blipFill>
          <p:spPr>
            <a:xfrm>
              <a:off x="3630553" y="2026191"/>
              <a:ext cx="106220" cy="115954"/>
            </a:xfrm>
            <a:prstGeom prst="rect">
              <a:avLst/>
            </a:prstGeom>
            <a:noFill/>
            <a:ln>
              <a:noFill/>
            </a:ln>
          </p:spPr>
        </p:pic>
        <p:pic>
          <p:nvPicPr>
            <p:cNvPr id="411" name="Google Shape;411;p6"/>
            <p:cNvPicPr preferRelativeResize="0"/>
            <p:nvPr/>
          </p:nvPicPr>
          <p:blipFill rotWithShape="1">
            <a:blip r:embed="rId7">
              <a:alphaModFix/>
            </a:blip>
            <a:srcRect/>
            <a:stretch/>
          </p:blipFill>
          <p:spPr>
            <a:xfrm>
              <a:off x="3602150" y="2437138"/>
              <a:ext cx="106201" cy="115954"/>
            </a:xfrm>
            <a:prstGeom prst="rect">
              <a:avLst/>
            </a:prstGeom>
            <a:noFill/>
            <a:ln>
              <a:noFill/>
            </a:ln>
          </p:spPr>
        </p:pic>
        <p:pic>
          <p:nvPicPr>
            <p:cNvPr id="412" name="Google Shape;412;p6"/>
            <p:cNvPicPr preferRelativeResize="0"/>
            <p:nvPr/>
          </p:nvPicPr>
          <p:blipFill rotWithShape="1">
            <a:blip r:embed="rId7">
              <a:alphaModFix/>
            </a:blip>
            <a:srcRect/>
            <a:stretch/>
          </p:blipFill>
          <p:spPr>
            <a:xfrm>
              <a:off x="3528124" y="2641792"/>
              <a:ext cx="106201" cy="115954"/>
            </a:xfrm>
            <a:prstGeom prst="rect">
              <a:avLst/>
            </a:prstGeom>
            <a:noFill/>
            <a:ln>
              <a:noFill/>
            </a:ln>
          </p:spPr>
        </p:pic>
        <p:pic>
          <p:nvPicPr>
            <p:cNvPr id="413" name="Google Shape;413;p6"/>
            <p:cNvPicPr preferRelativeResize="0"/>
            <p:nvPr/>
          </p:nvPicPr>
          <p:blipFill rotWithShape="1">
            <a:blip r:embed="rId8">
              <a:alphaModFix/>
            </a:blip>
            <a:srcRect/>
            <a:stretch/>
          </p:blipFill>
          <p:spPr>
            <a:xfrm>
              <a:off x="7605896" y="2047044"/>
              <a:ext cx="109208" cy="115954"/>
            </a:xfrm>
            <a:prstGeom prst="rect">
              <a:avLst/>
            </a:prstGeom>
            <a:noFill/>
            <a:ln>
              <a:noFill/>
            </a:ln>
          </p:spPr>
        </p:pic>
        <p:pic>
          <p:nvPicPr>
            <p:cNvPr id="414" name="Google Shape;414;p6"/>
            <p:cNvPicPr preferRelativeResize="0"/>
            <p:nvPr/>
          </p:nvPicPr>
          <p:blipFill rotWithShape="1">
            <a:blip r:embed="rId9">
              <a:alphaModFix/>
            </a:blip>
            <a:srcRect/>
            <a:stretch/>
          </p:blipFill>
          <p:spPr>
            <a:xfrm>
              <a:off x="8202588" y="2248889"/>
              <a:ext cx="109208" cy="115933"/>
            </a:xfrm>
            <a:prstGeom prst="rect">
              <a:avLst/>
            </a:prstGeom>
            <a:noFill/>
            <a:ln>
              <a:noFill/>
            </a:ln>
          </p:spPr>
        </p:pic>
        <p:pic>
          <p:nvPicPr>
            <p:cNvPr id="415" name="Google Shape;415;p6"/>
            <p:cNvPicPr preferRelativeResize="0"/>
            <p:nvPr/>
          </p:nvPicPr>
          <p:blipFill rotWithShape="1">
            <a:blip r:embed="rId10">
              <a:alphaModFix/>
            </a:blip>
            <a:srcRect/>
            <a:stretch/>
          </p:blipFill>
          <p:spPr>
            <a:xfrm>
              <a:off x="7586686" y="2452862"/>
              <a:ext cx="109208" cy="115933"/>
            </a:xfrm>
            <a:prstGeom prst="rect">
              <a:avLst/>
            </a:prstGeom>
            <a:noFill/>
            <a:ln>
              <a:noFill/>
            </a:ln>
          </p:spPr>
        </p:pic>
        <p:pic>
          <p:nvPicPr>
            <p:cNvPr id="416" name="Google Shape;416;p6"/>
            <p:cNvPicPr preferRelativeResize="0"/>
            <p:nvPr/>
          </p:nvPicPr>
          <p:blipFill rotWithShape="1">
            <a:blip r:embed="rId11">
              <a:alphaModFix/>
            </a:blip>
            <a:srcRect/>
            <a:stretch/>
          </p:blipFill>
          <p:spPr>
            <a:xfrm>
              <a:off x="7398570" y="2660065"/>
              <a:ext cx="109228" cy="115954"/>
            </a:xfrm>
            <a:prstGeom prst="rect">
              <a:avLst/>
            </a:prstGeom>
            <a:noFill/>
            <a:ln>
              <a:noFill/>
            </a:ln>
          </p:spPr>
        </p:pic>
      </p:grpSp>
      <p:sp>
        <p:nvSpPr>
          <p:cNvPr id="417" name="Google Shape;417;p6"/>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418" name="Google Shape;418;p6"/>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419" name="Google Shape;419;p6"/>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11368735"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5587"/>
                </a:solidFill>
                <a:effectLst/>
                <a:uLnTx/>
                <a:uFillTx/>
                <a:latin typeface="Arial" panose="020B0604020202020204" pitchFamily="34" charset="0"/>
                <a:ea typeface="Arial" pitchFamily="34" charset="-122"/>
                <a:cs typeface="Arial" panose="020B0604020202020204" pitchFamily="34" charset="0"/>
              </a:rPr>
              <a:t>Бисопролол при СД 2 типа: нейтральный гликемический профиль и благоприятное влияние на холестерин</a:t>
            </a:r>
            <a:endParaRPr kumimoji="0" lang="en-US"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 1"/>
          <p:cNvSpPr/>
          <p:nvPr/>
        </p:nvSpPr>
        <p:spPr>
          <a:xfrm>
            <a:off x="411479" y="888558"/>
            <a:ext cx="11368735"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12 981 пациент с СД 2 типа · Maccabi Health Services 2003–2023 · ретроспективное когортное исследование · IPTW</a:t>
            </a:r>
            <a:endPar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hape 2"/>
          <p:cNvSpPr/>
          <p:nvPr/>
        </p:nvSpPr>
        <p:spPr>
          <a:xfrm>
            <a:off x="411480" y="1359116"/>
            <a:ext cx="5524348" cy="438912"/>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 3"/>
          <p:cNvSpPr/>
          <p:nvPr/>
        </p:nvSpPr>
        <p:spPr>
          <a:xfrm>
            <a:off x="411480" y="1359116"/>
            <a:ext cx="5524348"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Гликемический профиль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hape 4"/>
          <p:cNvSpPr/>
          <p:nvPr/>
        </p:nvSpPr>
        <p:spPr>
          <a:xfrm>
            <a:off x="6255868" y="1359116"/>
            <a:ext cx="5524348" cy="438912"/>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 5"/>
          <p:cNvSpPr/>
          <p:nvPr/>
        </p:nvSpPr>
        <p:spPr>
          <a:xfrm>
            <a:off x="6255868" y="1359116"/>
            <a:ext cx="5524348"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Липидный профиль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hape 6"/>
          <p:cNvSpPr/>
          <p:nvPr/>
        </p:nvSpPr>
        <p:spPr>
          <a:xfrm>
            <a:off x="411480"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448056"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Параметр</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hape 8"/>
          <p:cNvSpPr/>
          <p:nvPr/>
        </p:nvSpPr>
        <p:spPr>
          <a:xfrm>
            <a:off x="1516350"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10"/>
          <p:cNvSpPr/>
          <p:nvPr/>
        </p:nvSpPr>
        <p:spPr>
          <a:xfrm>
            <a:off x="2621219"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Shape 12"/>
          <p:cNvSpPr/>
          <p:nvPr/>
        </p:nvSpPr>
        <p:spPr>
          <a:xfrm>
            <a:off x="3726089"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Shape 14"/>
          <p:cNvSpPr/>
          <p:nvPr/>
        </p:nvSpPr>
        <p:spPr>
          <a:xfrm>
            <a:off x="4830958"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 15"/>
          <p:cNvSpPr/>
          <p:nvPr/>
        </p:nvSpPr>
        <p:spPr>
          <a:xfrm>
            <a:off x="486753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Shape 16"/>
          <p:cNvSpPr/>
          <p:nvPr/>
        </p:nvSpPr>
        <p:spPr>
          <a:xfrm>
            <a:off x="411480"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17"/>
          <p:cNvSpPr/>
          <p:nvPr/>
        </p:nvSpPr>
        <p:spPr>
          <a:xfrm>
            <a:off x="457200"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HbA1c (%)</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 name="Shape 18"/>
          <p:cNvSpPr/>
          <p:nvPr/>
        </p:nvSpPr>
        <p:spPr>
          <a:xfrm>
            <a:off x="1516350"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20"/>
          <p:cNvSpPr/>
          <p:nvPr/>
        </p:nvSpPr>
        <p:spPr>
          <a:xfrm>
            <a:off x="2621219"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Shape 22"/>
          <p:cNvSpPr/>
          <p:nvPr/>
        </p:nvSpPr>
        <p:spPr>
          <a:xfrm>
            <a:off x="3726089"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Shape 24"/>
          <p:cNvSpPr/>
          <p:nvPr/>
        </p:nvSpPr>
        <p:spPr>
          <a:xfrm>
            <a:off x="4830958"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 25"/>
          <p:cNvSpPr/>
          <p:nvPr/>
        </p:nvSpPr>
        <p:spPr>
          <a:xfrm>
            <a:off x="487667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0,014</a:t>
            </a:r>
            <a:endParaRPr kumimoji="0" lang="en-US" sz="1200" b="0"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28" name="Shape 26"/>
          <p:cNvSpPr/>
          <p:nvPr/>
        </p:nvSpPr>
        <p:spPr>
          <a:xfrm>
            <a:off x="411480"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Text 27"/>
          <p:cNvSpPr/>
          <p:nvPr/>
        </p:nvSpPr>
        <p:spPr>
          <a:xfrm>
            <a:off x="457200"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ГПН (мг/дл)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Shape 28"/>
          <p:cNvSpPr/>
          <p:nvPr/>
        </p:nvSpPr>
        <p:spPr>
          <a:xfrm>
            <a:off x="1516350"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Shape 30"/>
          <p:cNvSpPr/>
          <p:nvPr/>
        </p:nvSpPr>
        <p:spPr>
          <a:xfrm>
            <a:off x="2621219"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Shape 32"/>
          <p:cNvSpPr/>
          <p:nvPr/>
        </p:nvSpPr>
        <p:spPr>
          <a:xfrm>
            <a:off x="3726089"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Shape 34"/>
          <p:cNvSpPr/>
          <p:nvPr/>
        </p:nvSpPr>
        <p:spPr>
          <a:xfrm>
            <a:off x="4830958"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Text 35"/>
          <p:cNvSpPr/>
          <p:nvPr/>
        </p:nvSpPr>
        <p:spPr>
          <a:xfrm>
            <a:off x="487667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0,038</a:t>
            </a:r>
            <a:endParaRPr kumimoji="0" lang="en-US" sz="1200" b="0"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38" name="Shape 36"/>
          <p:cNvSpPr/>
          <p:nvPr/>
        </p:nvSpPr>
        <p:spPr>
          <a:xfrm>
            <a:off x="411480" y="3224492"/>
            <a:ext cx="5524348" cy="475488"/>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Text 37"/>
          <p:cNvSpPr/>
          <p:nvPr/>
        </p:nvSpPr>
        <p:spPr>
          <a:xfrm>
            <a:off x="502920" y="3224492"/>
            <a:ext cx="5341468"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err="1">
                <a:ln>
                  <a:noFill/>
                </a:ln>
                <a:solidFill>
                  <a:prstClr val="black"/>
                </a:solidFill>
                <a:effectLst/>
                <a:uLnTx/>
                <a:uFillTx/>
                <a:latin typeface="Arial" panose="020B0604020202020204" pitchFamily="34" charset="0"/>
                <a:ea typeface="Arial" pitchFamily="34" charset="-122"/>
                <a:cs typeface="Arial" panose="020B0604020202020204" pitchFamily="34" charset="0"/>
              </a:rPr>
              <a:t>Эффект</a:t>
            </a: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Arial" pitchFamily="34" charset="-122"/>
                <a:cs typeface="Arial" panose="020B0604020202020204" pitchFamily="34" charset="0"/>
              </a:rPr>
              <a:t> бисопролола на гликемию однороден независимо от возраста, ожирения и исходного HbA1c.</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 name="Shape 38"/>
          <p:cNvSpPr/>
          <p:nvPr/>
        </p:nvSpPr>
        <p:spPr>
          <a:xfrm>
            <a:off x="422631" y="3754844"/>
            <a:ext cx="5524348" cy="347472"/>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 name="Text 39"/>
          <p:cNvSpPr/>
          <p:nvPr/>
        </p:nvSpPr>
        <p:spPr>
          <a:xfrm>
            <a:off x="484632" y="3754844"/>
            <a:ext cx="5378044"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Гипогликемические эпизоды (</a:t>
            </a:r>
            <a:r>
              <a:rPr kumimoji="0" lang="en-US" sz="1200" b="1" i="0" u="none" strike="noStrike" kern="1200" cap="none" spc="0" normalizeH="0" baseline="0" noProof="0" dirty="0" err="1">
                <a:ln>
                  <a:noFill/>
                </a:ln>
                <a:solidFill>
                  <a:srgbClr val="2B3A42"/>
                </a:solidFill>
                <a:effectLst/>
                <a:uLnTx/>
                <a:uFillTx/>
                <a:latin typeface="Arial" panose="020B0604020202020204" pitchFamily="34" charset="0"/>
                <a:ea typeface="Arial" pitchFamily="34" charset="-122"/>
                <a:cs typeface="Arial" panose="020B0604020202020204" pitchFamily="34" charset="0"/>
              </a:rPr>
              <a:t>зарегистрированные</a:t>
            </a: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a:t>
            </a:r>
            <a:r>
              <a:rPr kumimoji="0" lang="ru-RU"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 – разница недостоверна</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 name="Shape 40"/>
          <p:cNvSpPr/>
          <p:nvPr/>
        </p:nvSpPr>
        <p:spPr>
          <a:xfrm>
            <a:off x="411480" y="4102316"/>
            <a:ext cx="2762174"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 name="Text 41"/>
          <p:cNvSpPr/>
          <p:nvPr/>
        </p:nvSpPr>
        <p:spPr>
          <a:xfrm>
            <a:off x="484632" y="4102316"/>
            <a:ext cx="261587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 name="Shape 42"/>
          <p:cNvSpPr/>
          <p:nvPr/>
        </p:nvSpPr>
        <p:spPr>
          <a:xfrm>
            <a:off x="3173654" y="4102316"/>
            <a:ext cx="2762174"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5" name="Text 43"/>
          <p:cNvSpPr/>
          <p:nvPr/>
        </p:nvSpPr>
        <p:spPr>
          <a:xfrm>
            <a:off x="3246806" y="4102316"/>
            <a:ext cx="261587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 name="Shape 44"/>
          <p:cNvSpPr/>
          <p:nvPr/>
        </p:nvSpPr>
        <p:spPr>
          <a:xfrm>
            <a:off x="411480" y="4596092"/>
            <a:ext cx="2762174"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 name="Text 45"/>
          <p:cNvSpPr/>
          <p:nvPr/>
        </p:nvSpPr>
        <p:spPr>
          <a:xfrm>
            <a:off x="484632" y="4596092"/>
            <a:ext cx="261587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β-блокатора</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 name="Shape 46"/>
          <p:cNvSpPr/>
          <p:nvPr/>
        </p:nvSpPr>
        <p:spPr>
          <a:xfrm>
            <a:off x="3173654" y="4596092"/>
            <a:ext cx="2762174"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 name="Text 47"/>
          <p:cNvSpPr/>
          <p:nvPr/>
        </p:nvSpPr>
        <p:spPr>
          <a:xfrm>
            <a:off x="3246806" y="4596092"/>
            <a:ext cx="261587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 name="Shape 49"/>
          <p:cNvSpPr/>
          <p:nvPr/>
        </p:nvSpPr>
        <p:spPr>
          <a:xfrm>
            <a:off x="411480" y="5321808"/>
            <a:ext cx="5524348" cy="475488"/>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Text 50"/>
          <p:cNvSpPr/>
          <p:nvPr/>
        </p:nvSpPr>
        <p:spPr>
          <a:xfrm>
            <a:off x="521208" y="5321808"/>
            <a:ext cx="5304892"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  Нейтральный гликемический профиль</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Shape 51"/>
          <p:cNvSpPr/>
          <p:nvPr/>
        </p:nvSpPr>
        <p:spPr>
          <a:xfrm>
            <a:off x="6255868"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2"/>
          <p:cNvSpPr/>
          <p:nvPr/>
        </p:nvSpPr>
        <p:spPr>
          <a:xfrm>
            <a:off x="62924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Параметр</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 name="Shape 53"/>
          <p:cNvSpPr/>
          <p:nvPr/>
        </p:nvSpPr>
        <p:spPr>
          <a:xfrm>
            <a:off x="7360737"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7" name="Shape 55"/>
          <p:cNvSpPr/>
          <p:nvPr/>
        </p:nvSpPr>
        <p:spPr>
          <a:xfrm>
            <a:off x="8465607"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Shape 57"/>
          <p:cNvSpPr/>
          <p:nvPr/>
        </p:nvSpPr>
        <p:spPr>
          <a:xfrm>
            <a:off x="9570476"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Shape 59"/>
          <p:cNvSpPr/>
          <p:nvPr/>
        </p:nvSpPr>
        <p:spPr>
          <a:xfrm>
            <a:off x="10675346"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60"/>
          <p:cNvSpPr/>
          <p:nvPr/>
        </p:nvSpPr>
        <p:spPr>
          <a:xfrm>
            <a:off x="10711922"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Shape 61"/>
          <p:cNvSpPr/>
          <p:nvPr/>
        </p:nvSpPr>
        <p:spPr>
          <a:xfrm>
            <a:off x="6255868"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Text 62"/>
          <p:cNvSpPr/>
          <p:nvPr/>
        </p:nvSpPr>
        <p:spPr>
          <a:xfrm>
            <a:off x="63015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Общий ХС</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Shape 63"/>
          <p:cNvSpPr/>
          <p:nvPr/>
        </p:nvSpPr>
        <p:spPr>
          <a:xfrm>
            <a:off x="7360737"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7" name="Shape 65"/>
          <p:cNvSpPr/>
          <p:nvPr/>
        </p:nvSpPr>
        <p:spPr>
          <a:xfrm>
            <a:off x="8465607"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Shape 67"/>
          <p:cNvSpPr/>
          <p:nvPr/>
        </p:nvSpPr>
        <p:spPr>
          <a:xfrm>
            <a:off x="9570476"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Shape 69"/>
          <p:cNvSpPr/>
          <p:nvPr/>
        </p:nvSpPr>
        <p:spPr>
          <a:xfrm>
            <a:off x="10675346"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70"/>
          <p:cNvSpPr/>
          <p:nvPr/>
        </p:nvSpPr>
        <p:spPr>
          <a:xfrm>
            <a:off x="10721066"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27123"/>
                </a:solidFill>
                <a:effectLst/>
                <a:uLnTx/>
                <a:uFillTx/>
                <a:latin typeface="Arial" panose="020B0604020202020204" pitchFamily="34" charset="0"/>
                <a:ea typeface="Arial" pitchFamily="34" charset="-122"/>
                <a:cs typeface="Arial" panose="020B0604020202020204" pitchFamily="34" charset="0"/>
              </a:rPr>
              <a:t>&lt;0,001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Shape 71"/>
          <p:cNvSpPr/>
          <p:nvPr/>
        </p:nvSpPr>
        <p:spPr>
          <a:xfrm>
            <a:off x="6255868"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2"/>
          <p:cNvSpPr/>
          <p:nvPr/>
        </p:nvSpPr>
        <p:spPr>
          <a:xfrm>
            <a:off x="63015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ЛПНП</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Shape 73"/>
          <p:cNvSpPr/>
          <p:nvPr/>
        </p:nvSpPr>
        <p:spPr>
          <a:xfrm>
            <a:off x="7360737"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7" name="Shape 75"/>
          <p:cNvSpPr/>
          <p:nvPr/>
        </p:nvSpPr>
        <p:spPr>
          <a:xfrm>
            <a:off x="8465607"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Shape 77"/>
          <p:cNvSpPr/>
          <p:nvPr/>
        </p:nvSpPr>
        <p:spPr>
          <a:xfrm>
            <a:off x="9570476"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Shape 79"/>
          <p:cNvSpPr/>
          <p:nvPr/>
        </p:nvSpPr>
        <p:spPr>
          <a:xfrm>
            <a:off x="10675346"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2" name="Text 80"/>
          <p:cNvSpPr/>
          <p:nvPr/>
        </p:nvSpPr>
        <p:spPr>
          <a:xfrm>
            <a:off x="10721066"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27123"/>
                </a:solidFill>
                <a:effectLst/>
                <a:uLnTx/>
                <a:uFillTx/>
                <a:latin typeface="Arial" panose="020B0604020202020204" pitchFamily="34" charset="0"/>
                <a:ea typeface="Arial" pitchFamily="34" charset="-122"/>
                <a:cs typeface="Arial" panose="020B0604020202020204" pitchFamily="34" charset="0"/>
              </a:rPr>
              <a:t>&lt;0,001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3" name="Shape 81"/>
          <p:cNvSpPr/>
          <p:nvPr/>
        </p:nvSpPr>
        <p:spPr>
          <a:xfrm>
            <a:off x="6255868"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4" name="Text 82"/>
          <p:cNvSpPr/>
          <p:nvPr/>
        </p:nvSpPr>
        <p:spPr>
          <a:xfrm>
            <a:off x="6301588"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ЛПВП† (мг/дл)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5" name="Shape 83"/>
          <p:cNvSpPr/>
          <p:nvPr/>
        </p:nvSpPr>
        <p:spPr>
          <a:xfrm>
            <a:off x="7360737"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85"/>
          <p:cNvSpPr/>
          <p:nvPr/>
        </p:nvSpPr>
        <p:spPr>
          <a:xfrm>
            <a:off x="8465607"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9" name="Shape 87"/>
          <p:cNvSpPr/>
          <p:nvPr/>
        </p:nvSpPr>
        <p:spPr>
          <a:xfrm>
            <a:off x="9570476"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Shape 89"/>
          <p:cNvSpPr/>
          <p:nvPr/>
        </p:nvSpPr>
        <p:spPr>
          <a:xfrm>
            <a:off x="10675346"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 90"/>
          <p:cNvSpPr/>
          <p:nvPr/>
        </p:nvSpPr>
        <p:spPr>
          <a:xfrm>
            <a:off x="10721066"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&lt;0,001</a:t>
            </a:r>
            <a:endPar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93" name="Shape 91"/>
          <p:cNvSpPr/>
          <p:nvPr/>
        </p:nvSpPr>
        <p:spPr>
          <a:xfrm>
            <a:off x="6255868"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Shape 93"/>
          <p:cNvSpPr/>
          <p:nvPr/>
        </p:nvSpPr>
        <p:spPr>
          <a:xfrm>
            <a:off x="7360737"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7" name="Shape 95"/>
          <p:cNvSpPr/>
          <p:nvPr/>
        </p:nvSpPr>
        <p:spPr>
          <a:xfrm>
            <a:off x="8465607"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1" name="Shape 99"/>
          <p:cNvSpPr/>
          <p:nvPr/>
        </p:nvSpPr>
        <p:spPr>
          <a:xfrm>
            <a:off x="10675346"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2" name="Text 100"/>
          <p:cNvSpPr/>
          <p:nvPr/>
        </p:nvSpPr>
        <p:spPr>
          <a:xfrm>
            <a:off x="10721066"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0,18</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3" name="Shape 101"/>
          <p:cNvSpPr/>
          <p:nvPr/>
        </p:nvSpPr>
        <p:spPr>
          <a:xfrm>
            <a:off x="6255868" y="4212044"/>
            <a:ext cx="5524348" cy="420624"/>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4" name="Text 102"/>
          <p:cNvSpPr/>
          <p:nvPr/>
        </p:nvSpPr>
        <p:spPr>
          <a:xfrm>
            <a:off x="6347308" y="4212044"/>
            <a:ext cx="5341468"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Arial" pitchFamily="34" charset="-122"/>
                <a:cs typeface="Arial" panose="020B0604020202020204" pitchFamily="34" charset="0"/>
              </a:rPr>
              <a:t>† Снижение ЛПВП статистически значимо, но клинически незначимо (абсолютная разница −0,94 мг/дл). </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Shape 103"/>
          <p:cNvSpPr/>
          <p:nvPr/>
        </p:nvSpPr>
        <p:spPr>
          <a:xfrm>
            <a:off x="6255868" y="4687532"/>
            <a:ext cx="5524348" cy="475488"/>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6" name="Text 104"/>
          <p:cNvSpPr/>
          <p:nvPr/>
        </p:nvSpPr>
        <p:spPr>
          <a:xfrm>
            <a:off x="6365596" y="4687532"/>
            <a:ext cx="5304892"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  Значимое снижение общего ХС и ЛПНП</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7" name="Shape 105"/>
          <p:cNvSpPr/>
          <p:nvPr/>
        </p:nvSpPr>
        <p:spPr>
          <a:xfrm>
            <a:off x="411480" y="5852160"/>
            <a:ext cx="11368735" cy="475488"/>
          </a:xfrm>
          <a:prstGeom prst="rect">
            <a:avLst/>
          </a:prstGeom>
          <a:solidFill>
            <a:srgbClr val="EBF5FB"/>
          </a:solidFill>
          <a:ln w="12700">
            <a:solidFill>
              <a:srgbClr val="00A3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8" name="Text 106"/>
          <p:cNvSpPr/>
          <p:nvPr/>
        </p:nvSpPr>
        <p:spPr>
          <a:xfrm>
            <a:off x="594360" y="5852160"/>
            <a:ext cx="11002975"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587"/>
                </a:solidFill>
                <a:effectLst/>
                <a:uLnTx/>
                <a:uFillTx/>
                <a:latin typeface="Arial" panose="020B0604020202020204" pitchFamily="34" charset="0"/>
                <a:ea typeface="Arial" pitchFamily="34" charset="-122"/>
                <a:cs typeface="Arial" panose="020B0604020202020204" pitchFamily="34" charset="0"/>
              </a:rPr>
              <a:t>Vs неселективные β-блокаторы (n=1 224):  </a:t>
            </a:r>
            <a:r>
              <a:rPr kumimoji="0" lang="en-US" sz="14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общий ХС −5,86 мг/дл (95% ДИ −9,46; −2,25), p=0,001  ·  ЛПНП −7,08 мг/дл (95% ДИ −10,25; −3,92), p&lt;0,001  ·  гликемия — без различий</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1" name="Text 109"/>
          <p:cNvSpPr/>
          <p:nvPr/>
        </p:nvSpPr>
        <p:spPr>
          <a:xfrm>
            <a:off x="320041" y="6602366"/>
            <a:ext cx="11368735"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По данным: Gazit S, Yonatan Y, Hoshen MB, et al. Cardiovasc Drugs Ther. 2026;40(3):911–921. doi:10.1007/s10557-025-07753-7</a:t>
            </a:r>
            <a:endPar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Text 92"/>
          <p:cNvSpPr/>
          <p:nvPr/>
        </p:nvSpPr>
        <p:spPr>
          <a:xfrm>
            <a:off x="6301588" y="3663404"/>
            <a:ext cx="115200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Триглицериды</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11"/>
          <p:cNvSpPr/>
          <p:nvPr/>
        </p:nvSpPr>
        <p:spPr>
          <a:xfrm>
            <a:off x="3237657"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ББ</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21"/>
          <p:cNvSpPr/>
          <p:nvPr/>
        </p:nvSpPr>
        <p:spPr>
          <a:xfrm>
            <a:off x="3246801"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−0,037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Text 31"/>
          <p:cNvSpPr/>
          <p:nvPr/>
        </p:nvSpPr>
        <p:spPr>
          <a:xfrm>
            <a:off x="3246801"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−0,629</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8" name="Text 56"/>
          <p:cNvSpPr/>
          <p:nvPr/>
        </p:nvSpPr>
        <p:spPr>
          <a:xfrm>
            <a:off x="90597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ББ</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66"/>
          <p:cNvSpPr/>
          <p:nvPr/>
        </p:nvSpPr>
        <p:spPr>
          <a:xfrm>
            <a:off x="90688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−3,530</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Text 76"/>
          <p:cNvSpPr/>
          <p:nvPr/>
        </p:nvSpPr>
        <p:spPr>
          <a:xfrm>
            <a:off x="90688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−2,917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Text 86"/>
          <p:cNvSpPr/>
          <p:nvPr/>
        </p:nvSpPr>
        <p:spPr>
          <a:xfrm>
            <a:off x="9068888"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−0,176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8" name="Text 96"/>
          <p:cNvSpPr/>
          <p:nvPr/>
        </p:nvSpPr>
        <p:spPr>
          <a:xfrm>
            <a:off x="9068888"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+0,313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 9"/>
          <p:cNvSpPr/>
          <p:nvPr/>
        </p:nvSpPr>
        <p:spPr>
          <a:xfrm>
            <a:off x="17313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17404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−0,083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 29"/>
          <p:cNvSpPr/>
          <p:nvPr/>
        </p:nvSpPr>
        <p:spPr>
          <a:xfrm>
            <a:off x="17404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−2,196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54"/>
          <p:cNvSpPr/>
          <p:nvPr/>
        </p:nvSpPr>
        <p:spPr>
          <a:xfrm>
            <a:off x="7553427"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6" name="Text 64"/>
          <p:cNvSpPr/>
          <p:nvPr/>
        </p:nvSpPr>
        <p:spPr>
          <a:xfrm>
            <a:off x="7562571"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−12,208</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6" name="Text 74"/>
          <p:cNvSpPr/>
          <p:nvPr/>
        </p:nvSpPr>
        <p:spPr>
          <a:xfrm>
            <a:off x="7562571"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−10,503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6" name="Text 84"/>
          <p:cNvSpPr/>
          <p:nvPr/>
        </p:nvSpPr>
        <p:spPr>
          <a:xfrm>
            <a:off x="7562571"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−1,109</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Text 94"/>
          <p:cNvSpPr/>
          <p:nvPr/>
        </p:nvSpPr>
        <p:spPr>
          <a:xfrm>
            <a:off x="7562571"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−1,850</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6343-8189-FD9B-5816-E16CE76F7762}"/>
            </a:ext>
          </a:extLst>
        </p:cNvPr>
        <p:cNvGrpSpPr/>
        <p:nvPr/>
      </p:nvGrpSpPr>
      <p:grpSpPr>
        <a:xfrm>
          <a:off x="0" y="0"/>
          <a:ext cx="0" cy="0"/>
          <a:chOff x="0" y="0"/>
          <a:chExt cx="0" cy="0"/>
        </a:xfrm>
      </p:grpSpPr>
      <p:sp>
        <p:nvSpPr>
          <p:cNvPr id="15" name="Rounded Rectangle 69">
            <a:extLst>
              <a:ext uri="{FF2B5EF4-FFF2-40B4-BE49-F238E27FC236}">
                <a16:creationId xmlns:a16="http://schemas.microsoft.com/office/drawing/2014/main" id="{518A3668-28F9-0172-4754-06A29AA7FA09}"/>
              </a:ext>
            </a:extLst>
          </p:cNvPr>
          <p:cNvSpPr>
            <a:spLocks/>
          </p:cNvSpPr>
          <p:nvPr/>
        </p:nvSpPr>
        <p:spPr>
          <a:xfrm>
            <a:off x="461490" y="1326403"/>
            <a:ext cx="11498445" cy="1488683"/>
          </a:xfrm>
          <a:prstGeom prst="rect">
            <a:avLst/>
          </a:prstGeom>
          <a:noFill/>
          <a:ln w="12700" cap="flat" cmpd="sng" algn="ctr">
            <a:noFill/>
            <a:prstDash val="solid"/>
            <a:miter lim="800000"/>
          </a:ln>
          <a:effectLst/>
        </p:spPr>
        <p:txBody>
          <a:bodyPr rtlCol="0" anchor="t" anchorCtr="0"/>
          <a:lstStyle/>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 с PAD часто нуждаются в БАБ из-за ИБС, ХСН, АГ</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Назначение БАБ при PAD вызывает опасения из-за риска ухудшения периферической перфузии, особенно при критической ишемии.</a:t>
            </a:r>
          </a:p>
          <a:p>
            <a:pPr marL="182880" marR="0" lvl="0" indent="-182880" algn="l" defTabSz="914400" rtl="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Ранее данные были противоречивы, особенно при критической ишемии — требуются крупные РКИ</a:t>
            </a:r>
            <a:endParaRPr kumimoji="0" lang="en-US" sz="14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9C8C3568-8D33-D984-5C93-D40729DF64C5}"/>
              </a:ext>
            </a:extLst>
          </p:cNvPr>
          <p:cNvSpPr txBox="1"/>
          <p:nvPr/>
        </p:nvSpPr>
        <p:spPr>
          <a:xfrm>
            <a:off x="380845" y="282544"/>
            <a:ext cx="10820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Использование бета-блокаторов (ББ) при АГ, ИБС, ХСН с сопутствующим облитерирующим атеросклерозом артерий нижних конечностей (PAD)</a:t>
            </a:r>
          </a:p>
        </p:txBody>
      </p:sp>
      <p:sp>
        <p:nvSpPr>
          <p:cNvPr id="9" name="Arrow: Chevron 8">
            <a:extLst>
              <a:ext uri="{FF2B5EF4-FFF2-40B4-BE49-F238E27FC236}">
                <a16:creationId xmlns:a16="http://schemas.microsoft.com/office/drawing/2014/main" id="{06C926AC-9764-DBAA-1FAF-AB6E5974C7E3}"/>
              </a:ext>
            </a:extLst>
          </p:cNvPr>
          <p:cNvSpPr/>
          <p:nvPr/>
        </p:nvSpPr>
        <p:spPr>
          <a:xfrm rot="5400000">
            <a:off x="5978995" y="2137935"/>
            <a:ext cx="313764" cy="324193"/>
          </a:xfrm>
          <a:prstGeom prst="chevr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ED04D223-EF4A-ABE0-C1CB-0781A1FD2581}"/>
              </a:ext>
            </a:extLst>
          </p:cNvPr>
          <p:cNvSpPr txBox="1"/>
          <p:nvPr/>
        </p:nvSpPr>
        <p:spPr>
          <a:xfrm>
            <a:off x="243840" y="2996688"/>
            <a:ext cx="4470400"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Проспективное мультицентровое обсервационное исследование (n=1267; 2004–2010)</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Пациенты ≥18 лет с клинически подтвержденной PAD (включая критическую ишемию)</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Средний возраст: 70.9 лет, PAD III степени 55%</a:t>
            </a:r>
          </a:p>
        </p:txBody>
      </p:sp>
      <p:sp>
        <p:nvSpPr>
          <p:cNvPr id="14" name="TextBox 13">
            <a:extLst>
              <a:ext uri="{FF2B5EF4-FFF2-40B4-BE49-F238E27FC236}">
                <a16:creationId xmlns:a16="http://schemas.microsoft.com/office/drawing/2014/main" id="{C9BB659B-D6CF-7199-0BCC-78B22C807190}"/>
              </a:ext>
            </a:extLst>
          </p:cNvPr>
          <p:cNvSpPr txBox="1"/>
          <p:nvPr/>
        </p:nvSpPr>
        <p:spPr>
          <a:xfrm>
            <a:off x="2256366" y="2430511"/>
            <a:ext cx="88840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a:ln>
                  <a:noFill/>
                </a:ln>
                <a:solidFill>
                  <a:prstClr val="black"/>
                </a:solidFill>
                <a:effectLst/>
                <a:uLnTx/>
                <a:uFillTx/>
                <a:latin typeface="Aptos" panose="02110004020202020204"/>
                <a:ea typeface="+mn-ea"/>
                <a:cs typeface="+mn-cs"/>
              </a:rPr>
              <a:t>β-блокаторы и исходы при </a:t>
            </a: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PAD</a:t>
            </a:r>
            <a:r>
              <a:rPr kumimoji="0" lang="ru-RU" sz="1800" b="1" i="0" u="none" strike="noStrike" kern="1200" cap="none" spc="0" normalizeH="0" baseline="0" noProof="0" dirty="0">
                <a:ln>
                  <a:noFill/>
                </a:ln>
                <a:solidFill>
                  <a:prstClr val="black"/>
                </a:solidFill>
                <a:effectLst/>
                <a:uLnTx/>
                <a:uFillTx/>
                <a:latin typeface="Aptos" panose="02110004020202020204"/>
                <a:ea typeface="+mn-ea"/>
                <a:cs typeface="+mn-cs"/>
              </a:rPr>
              <a:t>: данные реестра COPART</a:t>
            </a:r>
            <a:r>
              <a:rPr kumimoji="0" lang="ru-RU" sz="1800" b="1" i="0" u="none" strike="noStrike" kern="1200" cap="none" spc="0" normalizeH="0" baseline="30000" noProof="0" dirty="0">
                <a:ln>
                  <a:noFill/>
                </a:ln>
                <a:solidFill>
                  <a:prstClr val="black"/>
                </a:solidFill>
                <a:effectLst/>
                <a:uLnTx/>
                <a:uFillTx/>
                <a:latin typeface="Aptos" panose="02110004020202020204"/>
                <a:ea typeface="+mn-ea"/>
                <a:cs typeface="+mn-cs"/>
              </a:rPr>
              <a:t>1</a:t>
            </a:r>
          </a:p>
        </p:txBody>
      </p:sp>
      <p:graphicFrame>
        <p:nvGraphicFramePr>
          <p:cNvPr id="2" name="Table 1">
            <a:extLst>
              <a:ext uri="{FF2B5EF4-FFF2-40B4-BE49-F238E27FC236}">
                <a16:creationId xmlns:a16="http://schemas.microsoft.com/office/drawing/2014/main" id="{6DE1BEDF-888D-3633-1BE8-64B7142B4DC6}"/>
              </a:ext>
            </a:extLst>
          </p:cNvPr>
          <p:cNvGraphicFramePr>
            <a:graphicFrameLocks noGrp="1"/>
          </p:cNvGraphicFramePr>
          <p:nvPr/>
        </p:nvGraphicFramePr>
        <p:xfrm>
          <a:off x="4790285" y="3248361"/>
          <a:ext cx="7308000" cy="1280160"/>
        </p:xfrm>
        <a:graphic>
          <a:graphicData uri="http://schemas.openxmlformats.org/drawingml/2006/table">
            <a:tbl>
              <a:tblPr/>
              <a:tblGrid>
                <a:gridCol w="1768170">
                  <a:extLst>
                    <a:ext uri="{9D8B030D-6E8A-4147-A177-3AD203B41FA5}">
                      <a16:colId xmlns:a16="http://schemas.microsoft.com/office/drawing/2014/main" val="878556156"/>
                    </a:ext>
                  </a:extLst>
                </a:gridCol>
                <a:gridCol w="1345324">
                  <a:extLst>
                    <a:ext uri="{9D8B030D-6E8A-4147-A177-3AD203B41FA5}">
                      <a16:colId xmlns:a16="http://schemas.microsoft.com/office/drawing/2014/main" val="3353558547"/>
                    </a:ext>
                  </a:extLst>
                </a:gridCol>
                <a:gridCol w="1576552">
                  <a:extLst>
                    <a:ext uri="{9D8B030D-6E8A-4147-A177-3AD203B41FA5}">
                      <a16:colId xmlns:a16="http://schemas.microsoft.com/office/drawing/2014/main" val="3720328388"/>
                    </a:ext>
                  </a:extLst>
                </a:gridCol>
                <a:gridCol w="1597573">
                  <a:extLst>
                    <a:ext uri="{9D8B030D-6E8A-4147-A177-3AD203B41FA5}">
                      <a16:colId xmlns:a16="http://schemas.microsoft.com/office/drawing/2014/main" val="38933919"/>
                    </a:ext>
                  </a:extLst>
                </a:gridCol>
                <a:gridCol w="1020381">
                  <a:extLst>
                    <a:ext uri="{9D8B030D-6E8A-4147-A177-3AD203B41FA5}">
                      <a16:colId xmlns:a16="http://schemas.microsoft.com/office/drawing/2014/main" val="951009039"/>
                    </a:ext>
                  </a:extLst>
                </a:gridCol>
              </a:tblGrid>
              <a:tr h="0">
                <a:tc>
                  <a:txBody>
                    <a:bodyPr/>
                    <a:lstStyle/>
                    <a:p>
                      <a:r>
                        <a:rPr lang="ru-RU" sz="1200" b="1">
                          <a:latin typeface="Arial" panose="020B0604020202020204" pitchFamily="34" charset="0"/>
                          <a:cs typeface="Arial" panose="020B0604020202020204" pitchFamily="34" charset="0"/>
                        </a:rPr>
                        <a:t>Показатель (через 1 год)</a:t>
                      </a:r>
                      <a:endParaRPr lang="ru-RU"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b="1">
                          <a:latin typeface="Arial" panose="020B0604020202020204" pitchFamily="34" charset="0"/>
                          <a:cs typeface="Arial" panose="020B0604020202020204" pitchFamily="34" charset="0"/>
                        </a:rPr>
                        <a:t>ББ</a:t>
                      </a:r>
                      <a:endParaRPr lang="ru-RU"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b="1" dirty="0">
                          <a:latin typeface="Arial" panose="020B0604020202020204" pitchFamily="34" charset="0"/>
                          <a:cs typeface="Arial" panose="020B0604020202020204" pitchFamily="34" charset="0"/>
                        </a:rPr>
                        <a:t>Без ББ</a:t>
                      </a:r>
                      <a:endParaRPr lang="ru-RU"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latin typeface="Arial" panose="020B0604020202020204" pitchFamily="34" charset="0"/>
                          <a:cs typeface="Arial" panose="020B0604020202020204" pitchFamily="34" charset="0"/>
                        </a:rPr>
                        <a:t>OR (95% CI)</a:t>
                      </a: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latin typeface="Arial" panose="020B0604020202020204" pitchFamily="34" charset="0"/>
                          <a:cs typeface="Arial" panose="020B0604020202020204" pitchFamily="34" charset="0"/>
                        </a:rPr>
                        <a:t>p-value</a:t>
                      </a:r>
                      <a:endParaRPr lang="en-US"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9853805"/>
                  </a:ext>
                </a:extLst>
              </a:tr>
              <a:tr h="0">
                <a:tc>
                  <a:txBody>
                    <a:bodyPr/>
                    <a:lstStyle/>
                    <a:p>
                      <a:r>
                        <a:rPr lang="ru-RU" sz="1200">
                          <a:latin typeface="Arial" panose="020B0604020202020204" pitchFamily="34" charset="0"/>
                          <a:cs typeface="Arial" panose="020B0604020202020204" pitchFamily="34" charset="0"/>
                        </a:rPr>
                        <a:t>Общая смертность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22.7% (74/326)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22.5% (197/875)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1.34 (0.92–1.97)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5295847"/>
                  </a:ext>
                </a:extLst>
              </a:tr>
              <a:tr h="0">
                <a:tc>
                  <a:txBody>
                    <a:bodyPr/>
                    <a:lstStyle/>
                    <a:p>
                      <a:r>
                        <a:rPr lang="ru-RU" sz="1200">
                          <a:latin typeface="Arial" panose="020B0604020202020204" pitchFamily="34" charset="0"/>
                          <a:cs typeface="Arial" panose="020B0604020202020204" pitchFamily="34" charset="0"/>
                        </a:rPr>
                        <a:t>СС смертность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1.08 (0.77–1.50)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a:latin typeface="Arial" panose="020B0604020202020204" pitchFamily="34" charset="0"/>
                          <a:cs typeface="Arial" panose="020B0604020202020204" pitchFamily="34" charset="0"/>
                        </a:rPr>
                        <a:t>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4347518"/>
                  </a:ext>
                </a:extLst>
              </a:tr>
              <a:tr h="0">
                <a:tc>
                  <a:txBody>
                    <a:bodyPr/>
                    <a:lstStyle/>
                    <a:p>
                      <a:r>
                        <a:rPr lang="ru-RU" sz="1200">
                          <a:latin typeface="Arial" panose="020B0604020202020204" pitchFamily="34" charset="0"/>
                          <a:cs typeface="Arial" panose="020B0604020202020204" pitchFamily="34" charset="0"/>
                        </a:rPr>
                        <a:t>Ампутации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0.63 (0.33–1.19)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ru-RU" sz="1200" dirty="0">
                          <a:latin typeface="Arial" panose="020B0604020202020204" pitchFamily="34" charset="0"/>
                          <a:cs typeface="Arial" panose="020B0604020202020204" pitchFamily="34" charset="0"/>
                        </a:rPr>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069775"/>
                  </a:ext>
                </a:extLst>
              </a:tr>
            </a:tbl>
          </a:graphicData>
        </a:graphic>
      </p:graphicFrame>
      <p:cxnSp>
        <p:nvCxnSpPr>
          <p:cNvPr id="3" name="Straight Connector 2">
            <a:extLst>
              <a:ext uri="{FF2B5EF4-FFF2-40B4-BE49-F238E27FC236}">
                <a16:creationId xmlns:a16="http://schemas.microsoft.com/office/drawing/2014/main" id="{45B5DD92-EA64-3B55-445D-C026F55E5396}"/>
              </a:ext>
            </a:extLst>
          </p:cNvPr>
          <p:cNvCxnSpPr>
            <a:cxnSpLocks/>
          </p:cNvCxnSpPr>
          <p:nvPr/>
        </p:nvCxnSpPr>
        <p:spPr>
          <a:xfrm>
            <a:off x="461491" y="1301157"/>
            <a:ext cx="5147733" cy="0"/>
          </a:xfrm>
          <a:prstGeom prst="line">
            <a:avLst/>
          </a:prstGeom>
          <a:noFill/>
          <a:ln w="76200" cap="rnd" cmpd="sng" algn="ctr">
            <a:solidFill>
              <a:srgbClr val="00A3E0"/>
            </a:solidFill>
            <a:prstDash val="solid"/>
            <a:round/>
          </a:ln>
          <a:effectLst/>
        </p:spPr>
      </p:cxnSp>
      <p:sp>
        <p:nvSpPr>
          <p:cNvPr id="6" name="Rectangle: Rounded Corners 5">
            <a:extLst>
              <a:ext uri="{FF2B5EF4-FFF2-40B4-BE49-F238E27FC236}">
                <a16:creationId xmlns:a16="http://schemas.microsoft.com/office/drawing/2014/main" id="{0A1C060F-1D16-4A9B-2564-FE2AEB0CBF3D}"/>
              </a:ext>
            </a:extLst>
          </p:cNvPr>
          <p:cNvSpPr>
            <a:spLocks/>
          </p:cNvSpPr>
          <p:nvPr/>
        </p:nvSpPr>
        <p:spPr>
          <a:xfrm>
            <a:off x="380845" y="800062"/>
            <a:ext cx="2213188"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l" defTabSz="1219170" rtl="0" eaLnBrk="1" fontAlgn="auto" latinLnBrk="0" hangingPunct="1">
              <a:lnSpc>
                <a:spcPct val="100000"/>
              </a:lnSpc>
              <a:spcBef>
                <a:spcPts val="0"/>
              </a:spcBef>
              <a:spcAft>
                <a:spcPts val="0"/>
              </a:spcAft>
              <a:buClr>
                <a:srgbClr val="544F40"/>
              </a:buClr>
              <a:buSzTx/>
              <a:buFontTx/>
              <a:buNone/>
              <a:tabLst/>
              <a:defRPr/>
            </a:pPr>
            <a:r>
              <a:rPr kumimoji="0" lang="ru-RU" sz="1800" b="1" i="0" u="none" strike="noStrike" kern="0" cap="none" spc="0" normalizeH="0" baseline="0" noProof="0" dirty="0">
                <a:ln>
                  <a:noFill/>
                </a:ln>
                <a:solidFill>
                  <a:srgbClr val="00A3E0"/>
                </a:solidFill>
                <a:effectLst/>
                <a:uLnTx/>
                <a:uFillTx/>
                <a:latin typeface="Arial"/>
                <a:ea typeface="+mn-ea"/>
                <a:cs typeface="+mn-cs"/>
              </a:rPr>
              <a:t>Суть проблемы</a:t>
            </a:r>
            <a:endParaRPr kumimoji="0" lang="en-US" sz="1800" b="0" i="0" u="none" strike="noStrike" kern="0" cap="none" spc="0" normalizeH="0" baseline="0" noProof="0" dirty="0">
              <a:ln>
                <a:noFill/>
              </a:ln>
              <a:solidFill>
                <a:srgbClr val="00A3E0"/>
              </a:solidFill>
              <a:effectLst/>
              <a:uLnTx/>
              <a:uFillTx/>
              <a:latin typeface="Arial"/>
              <a:ea typeface="+mn-ea"/>
              <a:cs typeface="+mn-cs"/>
            </a:endParaRPr>
          </a:p>
        </p:txBody>
      </p:sp>
      <p:sp>
        <p:nvSpPr>
          <p:cNvPr id="37" name="Rectangle: Rounded Corners 36">
            <a:extLst>
              <a:ext uri="{FF2B5EF4-FFF2-40B4-BE49-F238E27FC236}">
                <a16:creationId xmlns:a16="http://schemas.microsoft.com/office/drawing/2014/main" id="{4411BF5C-B274-947B-71F9-256A2DDF0A39}"/>
              </a:ext>
            </a:extLst>
          </p:cNvPr>
          <p:cNvSpPr/>
          <p:nvPr/>
        </p:nvSpPr>
        <p:spPr>
          <a:xfrm>
            <a:off x="243840" y="4799626"/>
            <a:ext cx="3383280" cy="198455"/>
          </a:xfrm>
          <a:prstGeom prst="roundRect">
            <a:avLst>
              <a:gd name="adj" fmla="val 50000"/>
            </a:avLst>
          </a:prstGeom>
          <a:solidFill>
            <a:srgbClr val="005587"/>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76FF7B5C-EB54-DF95-ED84-7A6363A87624}"/>
              </a:ext>
            </a:extLst>
          </p:cNvPr>
          <p:cNvSpPr/>
          <p:nvPr/>
        </p:nvSpPr>
        <p:spPr>
          <a:xfrm>
            <a:off x="243840" y="5084711"/>
            <a:ext cx="3383280" cy="954107"/>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Назначение ББ не ухудшает</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отдаленный прогноз по смертности и ампутациям у пациентов, госпитализированных по поводу PAD</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39" name="Rectangle: Rounded Corners 38">
            <a:extLst>
              <a:ext uri="{FF2B5EF4-FFF2-40B4-BE49-F238E27FC236}">
                <a16:creationId xmlns:a16="http://schemas.microsoft.com/office/drawing/2014/main" id="{04BF02DF-9540-8221-F218-DEEA91DFBC80}"/>
              </a:ext>
            </a:extLst>
          </p:cNvPr>
          <p:cNvSpPr/>
          <p:nvPr/>
        </p:nvSpPr>
        <p:spPr>
          <a:xfrm>
            <a:off x="3915104" y="4799626"/>
            <a:ext cx="4166197" cy="198455"/>
          </a:xfrm>
          <a:prstGeom prst="roundRect">
            <a:avLst>
              <a:gd name="adj" fmla="val 50000"/>
            </a:avLst>
          </a:prstGeom>
          <a:solidFill>
            <a:srgbClr val="00A3E0"/>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5A6C4595-B39C-A86F-ADAA-F33A1A7E7CC4}"/>
              </a:ext>
            </a:extLst>
          </p:cNvPr>
          <p:cNvSpPr/>
          <p:nvPr/>
        </p:nvSpPr>
        <p:spPr>
          <a:xfrm>
            <a:off x="8307744" y="4799626"/>
            <a:ext cx="3495637" cy="198455"/>
          </a:xfrm>
          <a:prstGeom prst="roundRect">
            <a:avLst>
              <a:gd name="adj" fmla="val 50000"/>
            </a:avLst>
          </a:prstGeom>
          <a:solidFill>
            <a:srgbClr val="00BFB3"/>
          </a:solidFill>
          <a:ln w="12700" cap="flat" cmpd="sng" algn="ctr">
            <a:no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F7BA9A82-4F24-AC5E-F9D4-86CCA91D3FC5}"/>
              </a:ext>
            </a:extLst>
          </p:cNvPr>
          <p:cNvSpPr/>
          <p:nvPr/>
        </p:nvSpPr>
        <p:spPr>
          <a:xfrm>
            <a:off x="3890683" y="5065189"/>
            <a:ext cx="4166197" cy="1169551"/>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тренд к снижению ампутаций у пациентов, получавших ББ, в согласии с данными датского исследования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Høgh</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et</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err="1">
                <a:ln>
                  <a:noFill/>
                </a:ln>
                <a:solidFill>
                  <a:srgbClr val="2B3A42"/>
                </a:solidFill>
                <a:effectLst/>
                <a:uLnTx/>
                <a:uFillTx/>
                <a:latin typeface="Arial" panose="020B0604020202020204"/>
                <a:ea typeface="Noto Sans" panose="020B0502040504020204" pitchFamily="34"/>
                <a:cs typeface="Noto Sans" panose="020B0502040504020204" pitchFamily="34"/>
              </a:rPr>
              <a:t>al</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2013), где ОР для ампутаций при применении ББ составил 0.80 (95% CI: 0.70–0.93)</a:t>
            </a:r>
            <a:r>
              <a:rPr kumimoji="0" lang="ru-RU" sz="1400" b="0" i="0" u="none" strike="noStrike" kern="1200" cap="none" spc="0" normalizeH="0" baseline="3000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2</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42" name="Rectangle 41">
            <a:extLst>
              <a:ext uri="{FF2B5EF4-FFF2-40B4-BE49-F238E27FC236}">
                <a16:creationId xmlns:a16="http://schemas.microsoft.com/office/drawing/2014/main" id="{FA3AC458-A099-45C8-C2CD-638AD900F56F}"/>
              </a:ext>
            </a:extLst>
          </p:cNvPr>
          <p:cNvSpPr/>
          <p:nvPr/>
        </p:nvSpPr>
        <p:spPr>
          <a:xfrm>
            <a:off x="8310880" y="5045498"/>
            <a:ext cx="3495637" cy="954107"/>
          </a:xfrm>
          <a:prstGeom prst="rect">
            <a:avLst/>
          </a:prstGeom>
        </p:spPr>
        <p:txBody>
          <a:bodyPr wrap="square" lIns="91440" rIns="91440">
            <a:spAutoFit/>
          </a:bodyPr>
          <a:lstStyle/>
          <a:p>
            <a:pPr marL="0" marR="0" lvl="0" indent="0" algn="l" defTabSz="914400" rtl="0" eaLnBrk="1" fontAlgn="auto" latinLnBrk="0" hangingPunct="1">
              <a:lnSpc>
                <a:spcPct val="100000"/>
              </a:lnSpc>
              <a:spcBef>
                <a:spcPts val="0"/>
              </a:spcBef>
              <a:spcAft>
                <a:spcPts val="300"/>
              </a:spcAft>
              <a:buClrTx/>
              <a:buSzTx/>
              <a:buFontTx/>
              <a:buNone/>
              <a:tabLst>
                <a:tab pos="4283075" algn="l"/>
              </a:tabLst>
              <a:defRPr/>
            </a:pP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Несмотря на потенциальные опасения</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наличие </a:t>
            </a:r>
            <a:r>
              <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PAD </a:t>
            </a:r>
            <a:r>
              <a:rPr kumimoji="0" lang="ru-RU"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rPr>
              <a:t>не должно автоматически исключать назначение ББ, однако требуется подтверждение в РКИ.</a:t>
            </a:r>
            <a:endParaRPr kumimoji="0" lang="en-US" sz="1400" b="0" i="0" u="none" strike="noStrike" kern="1200" cap="none" spc="0" normalizeH="0" baseline="0" noProof="0" dirty="0">
              <a:ln>
                <a:noFill/>
              </a:ln>
              <a:solidFill>
                <a:srgbClr val="2B3A42"/>
              </a:solidFill>
              <a:effectLst/>
              <a:uLnTx/>
              <a:uFillTx/>
              <a:latin typeface="Arial" panose="020B0604020202020204"/>
              <a:ea typeface="Noto Sans" panose="020B0502040504020204" pitchFamily="34"/>
              <a:cs typeface="Noto Sans" panose="020B0502040504020204" pitchFamily="34"/>
            </a:endParaRPr>
          </a:p>
        </p:txBody>
      </p:sp>
      <p:sp>
        <p:nvSpPr>
          <p:cNvPr id="47" name="TextBox 46">
            <a:extLst>
              <a:ext uri="{FF2B5EF4-FFF2-40B4-BE49-F238E27FC236}">
                <a16:creationId xmlns:a16="http://schemas.microsoft.com/office/drawing/2014/main" id="{A3FB1064-BCDD-ECC8-E7DE-20A3EBB1BF65}"/>
              </a:ext>
            </a:extLst>
          </p:cNvPr>
          <p:cNvSpPr txBox="1"/>
          <p:nvPr/>
        </p:nvSpPr>
        <p:spPr>
          <a:xfrm>
            <a:off x="122146" y="6476327"/>
            <a:ext cx="1194770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Mirault</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 et al.</a:t>
            </a:r>
            <a:r>
              <a:rPr kumimoji="0" lang="ru-RU"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Impact of Betablockers on General and Local Outcome in Patients Hospitalized for Lower Extremity Peripheral Artery Disease: The COPART Registry</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Medicine. 2017. DOI: 10.1097/MD.0000000000005916</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Høgh A. et al, Beta-Blocker Use and Clinical Outcomes After Primary Vascular Surgery: A Nationwide Propensity Score-Matched Study</a:t>
            </a:r>
            <a:r>
              <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European Journal of Vascular and Endovascular Surgery : The Official Journal of the European Society for Vascular Surgery. 2013. </a:t>
            </a:r>
            <a:endParaRPr kumimoji="0" lang="ru-RU"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321265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7" descr="A colorful pattern with a blue background&#10;&#10;Description automatically generated"/>
          <p:cNvPicPr preferRelativeResize="0"/>
          <p:nvPr/>
        </p:nvPicPr>
        <p:blipFill rotWithShape="1">
          <a:blip r:embed="rId3">
            <a:alphaModFix/>
          </a:blip>
          <a:srcRect t="21952" r="36301" b="992"/>
          <a:stretch/>
        </p:blipFill>
        <p:spPr>
          <a:xfrm>
            <a:off x="8001000" y="3281458"/>
            <a:ext cx="4190998" cy="3584659"/>
          </a:xfrm>
          <a:prstGeom prst="rect">
            <a:avLst/>
          </a:prstGeom>
          <a:noFill/>
          <a:ln>
            <a:noFill/>
          </a:ln>
        </p:spPr>
      </p:pic>
      <p:pic>
        <p:nvPicPr>
          <p:cNvPr id="425" name="Google Shape;425;p7"/>
          <p:cNvPicPr preferRelativeResize="0"/>
          <p:nvPr/>
        </p:nvPicPr>
        <p:blipFill rotWithShape="1">
          <a:blip r:embed="rId4">
            <a:alphaModFix/>
          </a:blip>
          <a:srcRect/>
          <a:stretch/>
        </p:blipFill>
        <p:spPr>
          <a:xfrm>
            <a:off x="9981299" y="6446739"/>
            <a:ext cx="1729122" cy="276958"/>
          </a:xfrm>
          <a:prstGeom prst="rect">
            <a:avLst/>
          </a:prstGeom>
          <a:noFill/>
          <a:ln>
            <a:noFill/>
          </a:ln>
        </p:spPr>
      </p:pic>
      <p:sp>
        <p:nvSpPr>
          <p:cNvPr id="426" name="Google Shape;426;p7"/>
          <p:cNvSpPr txBox="1"/>
          <p:nvPr/>
        </p:nvSpPr>
        <p:spPr>
          <a:xfrm>
            <a:off x="281939" y="358093"/>
            <a:ext cx="10954800" cy="8310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en-US" sz="2800" b="1" i="0" u="none" strike="noStrike" kern="1200" cap="none" spc="0" normalizeH="0" baseline="0" noProof="0">
                <a:ln>
                  <a:noFill/>
                </a:ln>
                <a:solidFill>
                  <a:srgbClr val="503291"/>
                </a:solidFill>
                <a:effectLst/>
                <a:uLnTx/>
                <a:uFillTx/>
                <a:latin typeface="Verdana"/>
                <a:ea typeface="Verdana"/>
                <a:cs typeface="Verdana"/>
                <a:sym typeface="Verdana"/>
              </a:rPr>
              <a:t>Результаты по безопасности</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1200" cap="none" spc="0" normalizeH="0" baseline="0" noProof="0">
                <a:ln>
                  <a:noFill/>
                </a:ln>
                <a:solidFill>
                  <a:srgbClr val="E61E50"/>
                </a:solidFill>
                <a:effectLst/>
                <a:uLnTx/>
                <a:uFillTx/>
                <a:latin typeface="Verdana"/>
                <a:ea typeface="Verdana"/>
                <a:cs typeface="Verdana"/>
                <a:sym typeface="Verdana"/>
              </a:rPr>
              <a:t>Ожирение</a:t>
            </a:r>
            <a:endParaRPr kumimoji="0" sz="2000" b="1"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27" name="Google Shape;427;p7"/>
          <p:cNvSpPr txBox="1"/>
          <p:nvPr/>
        </p:nvSpPr>
        <p:spPr>
          <a:xfrm>
            <a:off x="281939" y="4170627"/>
            <a:ext cx="11070300" cy="1446509"/>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E61E5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выявлено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различий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ожирения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другими</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когортами</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a:p>
            <a:pPr marL="285750" marR="0" lvl="0" indent="-196850" algn="l" defTabSz="914400" rtl="0" eaLnBrk="1" fontAlgn="auto" latinLnBrk="0" hangingPunct="1">
              <a:lnSpc>
                <a:spcPct val="100000"/>
              </a:lnSpc>
              <a:spcBef>
                <a:spcPts val="0"/>
              </a:spcBef>
              <a:spcAft>
                <a:spcPts val="0"/>
              </a:spcAft>
              <a:buClr>
                <a:srgbClr val="265374"/>
              </a:buClr>
              <a:buSzPts val="1400"/>
              <a:buFont typeface="Arial"/>
              <a:buNone/>
              <a:tabLst/>
              <a:defRPr/>
            </a:pPr>
            <a:endParaRPr kumimoji="0" sz="1400" b="1" i="0" u="none" strike="noStrike" kern="1200" cap="none" spc="0" normalizeH="0" baseline="0" noProof="0" dirty="0">
              <a:ln>
                <a:noFill/>
              </a:ln>
              <a:solidFill>
                <a:srgbClr val="002060"/>
              </a:solidFill>
              <a:effectLst/>
              <a:uLnTx/>
              <a:uFillTx/>
              <a:latin typeface="Verdana"/>
              <a:ea typeface="Verdana"/>
              <a:cs typeface="Verdana"/>
              <a:sym typeface="Verdana"/>
            </a:endParaRPr>
          </a:p>
          <a:p>
            <a:pPr marL="285750" marR="0" lvl="0" indent="-285750" algn="l" defTabSz="914400" rtl="0" eaLnBrk="1" fontAlgn="auto" latinLnBrk="0" hangingPunct="1">
              <a:lnSpc>
                <a:spcPct val="100000"/>
              </a:lnSpc>
              <a:spcBef>
                <a:spcPts val="0"/>
              </a:spcBef>
              <a:spcAft>
                <a:spcPts val="0"/>
              </a:spcAft>
              <a:buClr>
                <a:srgbClr val="E61E50"/>
              </a:buClr>
              <a:buSzPts val="1400"/>
              <a:buFont typeface="Arial"/>
              <a:buChar char="•"/>
              <a:tabLst/>
              <a:defRPr/>
            </a:pP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Разницы</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развития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ожирения</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сравнению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с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когортой</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диуретиков</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не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было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о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чем</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свидетельствует</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HR (О</a:t>
            </a:r>
            <a:r>
              <a:rPr kumimoji="0" lang="ru-RU" sz="1400" b="1" i="0" u="none" strike="noStrike" kern="1200" cap="none" spc="0" normalizeH="0" baseline="0" noProof="0" dirty="0">
                <a:ln>
                  <a:noFill/>
                </a:ln>
                <a:solidFill>
                  <a:srgbClr val="002060"/>
                </a:solidFill>
                <a:effectLst/>
                <a:uLnTx/>
                <a:uFillTx/>
                <a:latin typeface="Verdana"/>
                <a:ea typeface="Verdana"/>
                <a:cs typeface="Verdana"/>
                <a:sym typeface="Verdana"/>
              </a:rPr>
              <a:t>Р</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однако</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SHR (ОСР</a:t>
            </a:r>
            <a:r>
              <a:rPr kumimoji="0" lang="en-US" sz="1800" b="1" i="0" u="none" strike="noStrike" kern="1200" cap="none" spc="0" normalizeH="0" baseline="0" noProof="0" dirty="0">
                <a:ln>
                  <a:noFill/>
                </a:ln>
                <a:solidFill>
                  <a:srgbClr val="002060"/>
                </a:solidFill>
                <a:effectLst/>
                <a:uLnTx/>
                <a:uFillTx/>
                <a:latin typeface="Verdana"/>
                <a:ea typeface="Verdana"/>
                <a:cs typeface="Verdana"/>
                <a:sym typeface="Verdana"/>
              </a:rPr>
              <a:t>)</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показал</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тенденцию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к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увеличению</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риска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в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когорте</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 </a:t>
            </a:r>
            <a:r>
              <a:rPr kumimoji="0" lang="en-US" sz="1400" b="1" i="0" u="none" strike="noStrike" kern="1200" cap="none" spc="0" normalizeH="0" baseline="0" noProof="0" dirty="0" err="1">
                <a:ln>
                  <a:noFill/>
                </a:ln>
                <a:solidFill>
                  <a:srgbClr val="002060"/>
                </a:solidFill>
                <a:effectLst/>
                <a:uLnTx/>
                <a:uFillTx/>
                <a:latin typeface="Verdana"/>
                <a:ea typeface="Verdana"/>
                <a:cs typeface="Verdana"/>
                <a:sym typeface="Verdana"/>
              </a:rPr>
              <a:t>бисопролола</a:t>
            </a:r>
            <a:r>
              <a:rPr kumimoji="0" lang="en-US" sz="1400" b="1" i="0" u="none" strike="noStrike" kern="1200" cap="none" spc="0" normalizeH="0" baseline="0" noProof="0" dirty="0">
                <a:ln>
                  <a:noFill/>
                </a:ln>
                <a:solidFill>
                  <a:srgbClr val="002060"/>
                </a:solidFill>
                <a:effectLst/>
                <a:uLnTx/>
                <a:uFillTx/>
                <a:latin typeface="Verdana"/>
                <a:ea typeface="Verdana"/>
                <a:cs typeface="Verdana"/>
                <a:sym typeface="Verdana"/>
              </a:rPr>
              <a:t>.</a:t>
            </a:r>
            <a:endParaRPr kumimoji="0" sz="1400" b="0" i="0" u="none" strike="noStrike" kern="1200" cap="none" spc="0" normalizeH="0" baseline="0" noProof="0" dirty="0">
              <a:ln>
                <a:noFill/>
              </a:ln>
              <a:solidFill>
                <a:srgbClr val="002060"/>
              </a:solidFill>
              <a:effectLst/>
              <a:uLnTx/>
              <a:uFillTx/>
              <a:latin typeface="Arial"/>
              <a:ea typeface="Arial"/>
              <a:cs typeface="Arial"/>
              <a:sym typeface="Arial"/>
            </a:endParaRPr>
          </a:p>
        </p:txBody>
      </p:sp>
      <p:grpSp>
        <p:nvGrpSpPr>
          <p:cNvPr id="428" name="Google Shape;428;p7"/>
          <p:cNvGrpSpPr/>
          <p:nvPr/>
        </p:nvGrpSpPr>
        <p:grpSpPr>
          <a:xfrm>
            <a:off x="391061" y="1625550"/>
            <a:ext cx="10690672" cy="1713613"/>
            <a:chOff x="702864" y="1486859"/>
            <a:chExt cx="10690672" cy="1713613"/>
          </a:xfrm>
        </p:grpSpPr>
        <p:sp>
          <p:nvSpPr>
            <p:cNvPr id="429" name="Google Shape;429;p7"/>
            <p:cNvSpPr txBox="1"/>
            <p:nvPr/>
          </p:nvSpPr>
          <p:spPr>
            <a:xfrm>
              <a:off x="702864" y="1752205"/>
              <a:ext cx="4320000" cy="1255800"/>
            </a:xfrm>
            <a:prstGeom prst="rect">
              <a:avLst/>
            </a:prstGeom>
            <a:noFill/>
            <a:ln>
              <a:noFill/>
            </a:ln>
          </p:spPr>
          <p:txBody>
            <a:bodyPr spcFirstLastPara="1" wrap="square" lIns="0" tIns="44450" rIns="0" bIns="0" anchor="t" anchorCtr="0">
              <a:spAutoFit/>
            </a:bodyPr>
            <a:lstStyle/>
            <a:p>
              <a:pPr marL="19685"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Ожирение</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9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других бета блокаторов</a:t>
              </a: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ингибиторов АПФ/АРБ  </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6985"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БКК</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7" marR="0" lvl="0" indent="0" algn="l" defTabSz="914400" rtl="0" eaLnBrk="1" fontAlgn="auto" latinLnBrk="0" hangingPunct="1">
                <a:lnSpc>
                  <a:spcPct val="100000"/>
                </a:lnSpc>
                <a:spcBef>
                  <a:spcPts val="400"/>
                </a:spcBef>
                <a:spcAft>
                  <a:spcPts val="0"/>
                </a:spcAft>
                <a:buClr>
                  <a:srgbClr val="265374"/>
                </a:buClr>
                <a:buSzPts val="1100"/>
                <a:buFont typeface="Arial"/>
                <a:buNone/>
                <a:tabLst/>
                <a:defRPr/>
              </a:pPr>
              <a:r>
                <a:rPr kumimoji="0" lang="en-US" sz="1000" b="0" i="0" u="none" strike="noStrike" kern="1200" cap="none" spc="0" normalizeH="0" baseline="0" noProof="0">
                  <a:ln>
                    <a:noFill/>
                  </a:ln>
                  <a:solidFill>
                    <a:srgbClr val="503291"/>
                  </a:solidFill>
                  <a:effectLst/>
                  <a:uLnTx/>
                  <a:uFillTx/>
                  <a:latin typeface="Verdana"/>
                  <a:ea typeface="Verdana"/>
                  <a:cs typeface="Verdana"/>
                  <a:sym typeface="Verdana"/>
                </a:rPr>
                <a:t>Бисопролол против диуретиков</a:t>
              </a:r>
              <a:endParaRPr kumimoji="0" sz="10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5729" marR="0"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430" name="Google Shape;430;p7"/>
            <p:cNvSpPr/>
            <p:nvPr/>
          </p:nvSpPr>
          <p:spPr>
            <a:xfrm>
              <a:off x="3910092" y="1687040"/>
              <a:ext cx="0" cy="1281001"/>
            </a:xfrm>
            <a:custGeom>
              <a:avLst/>
              <a:gdLst/>
              <a:ahLst/>
              <a:cxnLst/>
              <a:rect l="l" t="t" r="r" b="b"/>
              <a:pathLst>
                <a:path w="120000" h="2696845" extrusionOk="0">
                  <a:moveTo>
                    <a:pt x="0" y="0"/>
                  </a:moveTo>
                  <a:lnTo>
                    <a:pt x="0" y="2696540"/>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1" name="Google Shape;431;p7"/>
            <p:cNvSpPr/>
            <p:nvPr/>
          </p:nvSpPr>
          <p:spPr>
            <a:xfrm>
              <a:off x="3406547" y="2107075"/>
              <a:ext cx="684079" cy="0"/>
            </a:xfrm>
            <a:custGeom>
              <a:avLst/>
              <a:gdLst/>
              <a:ahLst/>
              <a:cxnLst/>
              <a:rect l="l" t="t" r="r" b="b"/>
              <a:pathLst>
                <a:path w="455294" h="120000" extrusionOk="0">
                  <a:moveTo>
                    <a:pt x="454875"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2" name="Google Shape;432;p7"/>
            <p:cNvSpPr/>
            <p:nvPr/>
          </p:nvSpPr>
          <p:spPr>
            <a:xfrm>
              <a:off x="3435078" y="2308903"/>
              <a:ext cx="620157" cy="0"/>
            </a:xfrm>
            <a:custGeom>
              <a:avLst/>
              <a:gdLst/>
              <a:ahLst/>
              <a:cxnLst/>
              <a:rect l="l" t="t" r="r" b="b"/>
              <a:pathLst>
                <a:path w="412750" h="120000" extrusionOk="0">
                  <a:moveTo>
                    <a:pt x="0" y="0"/>
                  </a:moveTo>
                  <a:lnTo>
                    <a:pt x="41233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3" name="Google Shape;433;p7"/>
            <p:cNvSpPr/>
            <p:nvPr/>
          </p:nvSpPr>
          <p:spPr>
            <a:xfrm>
              <a:off x="3407539" y="2516104"/>
              <a:ext cx="631604" cy="0"/>
            </a:xfrm>
            <a:custGeom>
              <a:avLst/>
              <a:gdLst/>
              <a:ahLst/>
              <a:cxnLst/>
              <a:rect l="l" t="t" r="r" b="b"/>
              <a:pathLst>
                <a:path w="420369" h="120000" extrusionOk="0">
                  <a:moveTo>
                    <a:pt x="420192"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4" name="Google Shape;434;p7"/>
            <p:cNvSpPr/>
            <p:nvPr/>
          </p:nvSpPr>
          <p:spPr>
            <a:xfrm>
              <a:off x="3389849" y="2716869"/>
              <a:ext cx="664045" cy="0"/>
            </a:xfrm>
            <a:custGeom>
              <a:avLst/>
              <a:gdLst/>
              <a:ahLst/>
              <a:cxnLst/>
              <a:rect l="l" t="t" r="r" b="b"/>
              <a:pathLst>
                <a:path w="441960" h="120000" extrusionOk="0">
                  <a:moveTo>
                    <a:pt x="0" y="0"/>
                  </a:moveTo>
                  <a:lnTo>
                    <a:pt x="441782"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5" name="Google Shape;435;p7"/>
            <p:cNvSpPr txBox="1"/>
            <p:nvPr/>
          </p:nvSpPr>
          <p:spPr>
            <a:xfrm>
              <a:off x="5080812" y="2016571"/>
              <a:ext cx="14139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0.92 (0.67, 1.25)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0.91 (0.69, 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0.89 (0.67, 1.19)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0.89 (0.66, 1.21)</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36" name="Google Shape;436;p7"/>
            <p:cNvSpPr txBox="1"/>
            <p:nvPr/>
          </p:nvSpPr>
          <p:spPr>
            <a:xfrm>
              <a:off x="6518642" y="2016450"/>
              <a:ext cx="529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1.39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37" name="Google Shape;437;p7"/>
            <p:cNvSpPr/>
            <p:nvPr/>
          </p:nvSpPr>
          <p:spPr>
            <a:xfrm>
              <a:off x="8002912" y="1710871"/>
              <a:ext cx="0" cy="1281001"/>
            </a:xfrm>
            <a:custGeom>
              <a:avLst/>
              <a:gdLst/>
              <a:ahLst/>
              <a:cxnLst/>
              <a:rect l="l" t="t" r="r" b="b"/>
              <a:pathLst>
                <a:path w="120000" h="2696845" extrusionOk="0">
                  <a:moveTo>
                    <a:pt x="0" y="0"/>
                  </a:moveTo>
                  <a:lnTo>
                    <a:pt x="0" y="2696527"/>
                  </a:lnTo>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8" name="Google Shape;438;p7"/>
            <p:cNvSpPr/>
            <p:nvPr/>
          </p:nvSpPr>
          <p:spPr>
            <a:xfrm>
              <a:off x="7441573" y="2127094"/>
              <a:ext cx="702450" cy="0"/>
            </a:xfrm>
            <a:custGeom>
              <a:avLst/>
              <a:gdLst/>
              <a:ahLst/>
              <a:cxnLst/>
              <a:rect l="l" t="t" r="r" b="b"/>
              <a:pathLst>
                <a:path w="454660" h="120000" extrusionOk="0">
                  <a:moveTo>
                    <a:pt x="0" y="0"/>
                  </a:moveTo>
                  <a:lnTo>
                    <a:pt x="45454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39" name="Google Shape;439;p7"/>
            <p:cNvSpPr/>
            <p:nvPr/>
          </p:nvSpPr>
          <p:spPr>
            <a:xfrm>
              <a:off x="7752576" y="2326796"/>
              <a:ext cx="610229" cy="0"/>
            </a:xfrm>
            <a:custGeom>
              <a:avLst/>
              <a:gdLst/>
              <a:ahLst/>
              <a:cxnLst/>
              <a:rect l="l" t="t" r="r" b="b"/>
              <a:pathLst>
                <a:path w="394970" h="120000" extrusionOk="0">
                  <a:moveTo>
                    <a:pt x="394652" y="0"/>
                  </a:moveTo>
                  <a:lnTo>
                    <a:pt x="0"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40" name="Google Shape;440;p7"/>
            <p:cNvSpPr/>
            <p:nvPr/>
          </p:nvSpPr>
          <p:spPr>
            <a:xfrm>
              <a:off x="7443084" y="2532914"/>
              <a:ext cx="668112" cy="0"/>
            </a:xfrm>
            <a:custGeom>
              <a:avLst/>
              <a:gdLst/>
              <a:ahLst/>
              <a:cxnLst/>
              <a:rect l="l" t="t" r="r" b="b"/>
              <a:pathLst>
                <a:path w="432435" h="120000" extrusionOk="0">
                  <a:moveTo>
                    <a:pt x="0" y="0"/>
                  </a:moveTo>
                  <a:lnTo>
                    <a:pt x="43196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41" name="Google Shape;441;p7"/>
            <p:cNvSpPr txBox="1"/>
            <p:nvPr/>
          </p:nvSpPr>
          <p:spPr>
            <a:xfrm>
              <a:off x="9321069" y="2013413"/>
              <a:ext cx="16095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0.87 (0.64, 1.19)</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1.11 (0.84, 1.48)</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0.86 (0.64, 1.15)</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0.76 (0.56, 1.03)</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42" name="Google Shape;442;p7"/>
            <p:cNvSpPr txBox="1"/>
            <p:nvPr/>
          </p:nvSpPr>
          <p:spPr>
            <a:xfrm>
              <a:off x="10726731" y="2028613"/>
              <a:ext cx="529200" cy="863100"/>
            </a:xfrm>
            <a:prstGeom prst="rect">
              <a:avLst/>
            </a:prstGeom>
            <a:noFill/>
            <a:ln>
              <a:noFill/>
            </a:ln>
          </p:spPr>
          <p:txBody>
            <a:bodyPr spcFirstLastPara="1" wrap="square" lIns="0" tIns="31750" rIns="0" bIns="0" anchor="t" anchorCtr="0">
              <a:spAutoFit/>
            </a:bodyPr>
            <a:lstStyle/>
            <a:p>
              <a:pPr marL="123188" marR="6985"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1.56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1.46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1.60</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3188" marR="6985" lvl="0" indent="0" algn="l" defTabSz="914400" rtl="0" eaLnBrk="1" fontAlgn="auto" latinLnBrk="0" hangingPunct="1">
                <a:lnSpc>
                  <a:spcPct val="100000"/>
                </a:lnSpc>
                <a:spcBef>
                  <a:spcPts val="40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503291"/>
                  </a:solidFill>
                  <a:effectLst/>
                  <a:uLnTx/>
                  <a:uFillTx/>
                  <a:latin typeface="Verdana"/>
                  <a:ea typeface="Verdana"/>
                  <a:cs typeface="Verdana"/>
                  <a:sym typeface="Verdana"/>
                </a:rPr>
                <a:t>1.96</a:t>
              </a:r>
              <a:endParaRPr kumimoji="0" sz="1100" b="0" i="0" u="none" strike="noStrike" kern="1200" cap="none" spc="0" normalizeH="0" baseline="0" noProof="0">
                <a:ln>
                  <a:noFill/>
                </a:ln>
                <a:solidFill>
                  <a:srgbClr val="503291"/>
                </a:solidFill>
                <a:effectLst/>
                <a:uLnTx/>
                <a:uFillTx/>
                <a:latin typeface="Verdana"/>
                <a:ea typeface="Verdana"/>
                <a:cs typeface="Verdana"/>
                <a:sym typeface="Verdana"/>
              </a:endParaRPr>
            </a:p>
          </p:txBody>
        </p:sp>
        <p:sp>
          <p:nvSpPr>
            <p:cNvPr id="443" name="Google Shape;443;p7"/>
            <p:cNvSpPr txBox="1"/>
            <p:nvPr/>
          </p:nvSpPr>
          <p:spPr>
            <a:xfrm>
              <a:off x="2893332" y="3005152"/>
              <a:ext cx="435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44" name="Google Shape;444;p7"/>
            <p:cNvSpPr txBox="1"/>
            <p:nvPr/>
          </p:nvSpPr>
          <p:spPr>
            <a:xfrm>
              <a:off x="3735232" y="3004011"/>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45" name="Google Shape;445;p7"/>
            <p:cNvSpPr/>
            <p:nvPr/>
          </p:nvSpPr>
          <p:spPr>
            <a:xfrm>
              <a:off x="3051178" y="2970892"/>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6" name="Google Shape;446;p7"/>
            <p:cNvSpPr/>
            <p:nvPr/>
          </p:nvSpPr>
          <p:spPr>
            <a:xfrm>
              <a:off x="3055323"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7" name="Google Shape;447;p7"/>
            <p:cNvSpPr/>
            <p:nvPr/>
          </p:nvSpPr>
          <p:spPr>
            <a:xfrm>
              <a:off x="3910322" y="2970880"/>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8" name="Google Shape;448;p7"/>
            <p:cNvSpPr/>
            <p:nvPr/>
          </p:nvSpPr>
          <p:spPr>
            <a:xfrm>
              <a:off x="4316085"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49" name="Google Shape;449;p7"/>
            <p:cNvSpPr/>
            <p:nvPr/>
          </p:nvSpPr>
          <p:spPr>
            <a:xfrm>
              <a:off x="4713154"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0" name="Google Shape;450;p7"/>
            <p:cNvSpPr/>
            <p:nvPr/>
          </p:nvSpPr>
          <p:spPr>
            <a:xfrm>
              <a:off x="5118108" y="2970880"/>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1" name="Google Shape;451;p7"/>
            <p:cNvSpPr txBox="1"/>
            <p:nvPr/>
          </p:nvSpPr>
          <p:spPr>
            <a:xfrm>
              <a:off x="6976483" y="3006904"/>
              <a:ext cx="5292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0.50</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52" name="Google Shape;452;p7"/>
            <p:cNvSpPr txBox="1"/>
            <p:nvPr/>
          </p:nvSpPr>
          <p:spPr>
            <a:xfrm>
              <a:off x="7834426" y="3014472"/>
              <a:ext cx="16188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a:ln>
                    <a:noFill/>
                  </a:ln>
                  <a:solidFill>
                    <a:srgbClr val="E61E50"/>
                  </a:solidFill>
                  <a:effectLst/>
                  <a:uLnTx/>
                  <a:uFillTx/>
                  <a:latin typeface="Verdana"/>
                  <a:ea typeface="Verdana"/>
                  <a:cs typeface="Verdana"/>
                  <a:sym typeface="Verdana"/>
                </a:rPr>
                <a:t>1.0    1.5    2.0   2.5</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53" name="Google Shape;453;p7"/>
            <p:cNvSpPr/>
            <p:nvPr/>
          </p:nvSpPr>
          <p:spPr>
            <a:xfrm>
              <a:off x="7134330" y="2972644"/>
              <a:ext cx="2073003" cy="0"/>
            </a:xfrm>
            <a:custGeom>
              <a:avLst/>
              <a:gdLst/>
              <a:ahLst/>
              <a:cxnLst/>
              <a:rect l="l" t="t" r="r" b="b"/>
              <a:pathLst>
                <a:path w="1237614" h="120000" extrusionOk="0">
                  <a:moveTo>
                    <a:pt x="1237488"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4" name="Google Shape;454;p7"/>
            <p:cNvSpPr/>
            <p:nvPr/>
          </p:nvSpPr>
          <p:spPr>
            <a:xfrm>
              <a:off x="7138475"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5" name="Google Shape;455;p7"/>
            <p:cNvSpPr/>
            <p:nvPr/>
          </p:nvSpPr>
          <p:spPr>
            <a:xfrm>
              <a:off x="8002183" y="2972632"/>
              <a:ext cx="0" cy="46354"/>
            </a:xfrm>
            <a:custGeom>
              <a:avLst/>
              <a:gdLst/>
              <a:ahLst/>
              <a:cxnLst/>
              <a:rect l="l" t="t" r="r" b="b"/>
              <a:pathLst>
                <a:path w="120000" h="46354" extrusionOk="0">
                  <a:moveTo>
                    <a:pt x="0" y="0"/>
                  </a:moveTo>
                  <a:lnTo>
                    <a:pt x="0" y="45923"/>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6" name="Google Shape;456;p7"/>
            <p:cNvSpPr/>
            <p:nvPr/>
          </p:nvSpPr>
          <p:spPr>
            <a:xfrm>
              <a:off x="8399237"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7" name="Google Shape;457;p7"/>
            <p:cNvSpPr/>
            <p:nvPr/>
          </p:nvSpPr>
          <p:spPr>
            <a:xfrm>
              <a:off x="8796306"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8" name="Google Shape;458;p7"/>
            <p:cNvSpPr/>
            <p:nvPr/>
          </p:nvSpPr>
          <p:spPr>
            <a:xfrm>
              <a:off x="9201260" y="2972632"/>
              <a:ext cx="0" cy="46354"/>
            </a:xfrm>
            <a:custGeom>
              <a:avLst/>
              <a:gdLst/>
              <a:ahLst/>
              <a:cxnLst/>
              <a:rect l="l" t="t" r="r" b="b"/>
              <a:pathLst>
                <a:path w="120000" h="46354" extrusionOk="0">
                  <a:moveTo>
                    <a:pt x="0" y="45923"/>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endParaRPr kumimoji="0" sz="10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59" name="Google Shape;459;p7"/>
            <p:cNvSpPr/>
            <p:nvPr/>
          </p:nvSpPr>
          <p:spPr>
            <a:xfrm>
              <a:off x="5176449" y="1679030"/>
              <a:ext cx="6217087" cy="0"/>
            </a:xfrm>
            <a:custGeom>
              <a:avLst/>
              <a:gdLst/>
              <a:ahLst/>
              <a:cxnLst/>
              <a:rect l="l" t="t" r="r" b="b"/>
              <a:pathLst>
                <a:path w="3527425" h="120000" extrusionOk="0">
                  <a:moveTo>
                    <a:pt x="3526916"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sp>
          <p:nvSpPr>
            <p:cNvPr id="460" name="Google Shape;460;p7"/>
            <p:cNvSpPr txBox="1"/>
            <p:nvPr/>
          </p:nvSpPr>
          <p:spPr>
            <a:xfrm>
              <a:off x="736228" y="1486859"/>
              <a:ext cx="2073000" cy="186000"/>
            </a:xfrm>
            <a:prstGeom prst="rect">
              <a:avLst/>
            </a:prstGeom>
            <a:noFill/>
            <a:ln>
              <a:noFill/>
            </a:ln>
          </p:spPr>
          <p:txBody>
            <a:bodyPr spcFirstLastPara="1" wrap="square" lIns="0" tIns="165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Интересующее событие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61" name="Google Shape;461;p7"/>
            <p:cNvSpPr/>
            <p:nvPr/>
          </p:nvSpPr>
          <p:spPr>
            <a:xfrm>
              <a:off x="751831" y="1679017"/>
              <a:ext cx="4115548" cy="0"/>
            </a:xfrm>
            <a:custGeom>
              <a:avLst/>
              <a:gdLst/>
              <a:ahLst/>
              <a:cxnLst/>
              <a:rect l="l" t="t" r="r" b="b"/>
              <a:pathLst>
                <a:path w="2748279" h="120000" extrusionOk="0">
                  <a:moveTo>
                    <a:pt x="2748102" y="0"/>
                  </a:moveTo>
                  <a:lnTo>
                    <a:pt x="0" y="0"/>
                  </a:lnTo>
                </a:path>
              </a:pathLst>
            </a:custGeom>
            <a:noFill/>
            <a:ln w="9525" cap="flat" cmpd="sng">
              <a:solidFill>
                <a:srgbClr val="231F2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1200" cap="none" spc="0" normalizeH="0" baseline="0" noProof="0">
                <a:ln>
                  <a:noFill/>
                </a:ln>
                <a:solidFill>
                  <a:srgbClr val="265374"/>
                </a:solidFill>
                <a:effectLst/>
                <a:uLnTx/>
                <a:uFillTx/>
                <a:latin typeface="Verdana"/>
                <a:ea typeface="Verdana"/>
                <a:cs typeface="Verdana"/>
                <a:sym typeface="Verdana"/>
              </a:endParaRPr>
            </a:p>
          </p:txBody>
        </p:sp>
        <p:pic>
          <p:nvPicPr>
            <p:cNvPr id="462" name="Google Shape;462;p7"/>
            <p:cNvPicPr preferRelativeResize="0"/>
            <p:nvPr/>
          </p:nvPicPr>
          <p:blipFill rotWithShape="1">
            <a:blip r:embed="rId5">
              <a:alphaModFix/>
            </a:blip>
            <a:srcRect/>
            <a:stretch/>
          </p:blipFill>
          <p:spPr>
            <a:xfrm>
              <a:off x="3736774" y="2048284"/>
              <a:ext cx="106201" cy="115954"/>
            </a:xfrm>
            <a:prstGeom prst="rect">
              <a:avLst/>
            </a:prstGeom>
            <a:noFill/>
            <a:ln>
              <a:noFill/>
            </a:ln>
          </p:spPr>
        </p:pic>
        <p:pic>
          <p:nvPicPr>
            <p:cNvPr id="463" name="Google Shape;463;p7"/>
            <p:cNvPicPr preferRelativeResize="0"/>
            <p:nvPr/>
          </p:nvPicPr>
          <p:blipFill rotWithShape="1">
            <a:blip r:embed="rId6">
              <a:alphaModFix/>
            </a:blip>
            <a:srcRect/>
            <a:stretch/>
          </p:blipFill>
          <p:spPr>
            <a:xfrm>
              <a:off x="3719809" y="2250404"/>
              <a:ext cx="106220" cy="115933"/>
            </a:xfrm>
            <a:prstGeom prst="rect">
              <a:avLst/>
            </a:prstGeom>
            <a:noFill/>
            <a:ln>
              <a:noFill/>
            </a:ln>
          </p:spPr>
        </p:pic>
        <p:pic>
          <p:nvPicPr>
            <p:cNvPr id="464" name="Google Shape;464;p7"/>
            <p:cNvPicPr preferRelativeResize="0"/>
            <p:nvPr/>
          </p:nvPicPr>
          <p:blipFill rotWithShape="1">
            <a:blip r:embed="rId7">
              <a:alphaModFix/>
            </a:blip>
            <a:srcRect/>
            <a:stretch/>
          </p:blipFill>
          <p:spPr>
            <a:xfrm>
              <a:off x="3688834" y="2457335"/>
              <a:ext cx="106220" cy="115954"/>
            </a:xfrm>
            <a:prstGeom prst="rect">
              <a:avLst/>
            </a:prstGeom>
            <a:noFill/>
            <a:ln>
              <a:noFill/>
            </a:ln>
          </p:spPr>
        </p:pic>
        <p:pic>
          <p:nvPicPr>
            <p:cNvPr id="465" name="Google Shape;465;p7"/>
            <p:cNvPicPr preferRelativeResize="0"/>
            <p:nvPr/>
          </p:nvPicPr>
          <p:blipFill rotWithShape="1">
            <a:blip r:embed="rId8">
              <a:alphaModFix/>
            </a:blip>
            <a:srcRect/>
            <a:stretch/>
          </p:blipFill>
          <p:spPr>
            <a:xfrm>
              <a:off x="3690304" y="2660058"/>
              <a:ext cx="106201" cy="115933"/>
            </a:xfrm>
            <a:prstGeom prst="rect">
              <a:avLst/>
            </a:prstGeom>
            <a:noFill/>
            <a:ln>
              <a:noFill/>
            </a:ln>
          </p:spPr>
        </p:pic>
        <p:pic>
          <p:nvPicPr>
            <p:cNvPr id="466" name="Google Shape;466;p7"/>
            <p:cNvPicPr preferRelativeResize="0"/>
            <p:nvPr/>
          </p:nvPicPr>
          <p:blipFill rotWithShape="1">
            <a:blip r:embed="rId9">
              <a:alphaModFix/>
            </a:blip>
            <a:srcRect/>
            <a:stretch/>
          </p:blipFill>
          <p:spPr>
            <a:xfrm>
              <a:off x="7745719" y="2071551"/>
              <a:ext cx="109208" cy="115933"/>
            </a:xfrm>
            <a:prstGeom prst="rect">
              <a:avLst/>
            </a:prstGeom>
            <a:noFill/>
            <a:ln>
              <a:noFill/>
            </a:ln>
          </p:spPr>
        </p:pic>
        <p:pic>
          <p:nvPicPr>
            <p:cNvPr id="467" name="Google Shape;467;p7"/>
            <p:cNvPicPr preferRelativeResize="0"/>
            <p:nvPr/>
          </p:nvPicPr>
          <p:blipFill rotWithShape="1">
            <a:blip r:embed="rId10">
              <a:alphaModFix/>
            </a:blip>
            <a:srcRect/>
            <a:stretch/>
          </p:blipFill>
          <p:spPr>
            <a:xfrm>
              <a:off x="8035723" y="2269358"/>
              <a:ext cx="109208" cy="115933"/>
            </a:xfrm>
            <a:prstGeom prst="rect">
              <a:avLst/>
            </a:prstGeom>
            <a:noFill/>
            <a:ln>
              <a:noFill/>
            </a:ln>
          </p:spPr>
        </p:pic>
        <p:pic>
          <p:nvPicPr>
            <p:cNvPr id="468" name="Google Shape;468;p7"/>
            <p:cNvPicPr preferRelativeResize="0"/>
            <p:nvPr/>
          </p:nvPicPr>
          <p:blipFill rotWithShape="1">
            <a:blip r:embed="rId11">
              <a:alphaModFix/>
            </a:blip>
            <a:srcRect/>
            <a:stretch/>
          </p:blipFill>
          <p:spPr>
            <a:xfrm>
              <a:off x="7727252" y="2475499"/>
              <a:ext cx="109228" cy="115933"/>
            </a:xfrm>
            <a:prstGeom prst="rect">
              <a:avLst/>
            </a:prstGeom>
            <a:noFill/>
            <a:ln>
              <a:noFill/>
            </a:ln>
          </p:spPr>
        </p:pic>
        <p:pic>
          <p:nvPicPr>
            <p:cNvPr id="469" name="Google Shape;469;p7"/>
            <p:cNvPicPr preferRelativeResize="0"/>
            <p:nvPr/>
          </p:nvPicPr>
          <p:blipFill rotWithShape="1">
            <a:blip r:embed="rId9">
              <a:alphaModFix/>
            </a:blip>
            <a:srcRect/>
            <a:stretch/>
          </p:blipFill>
          <p:spPr>
            <a:xfrm>
              <a:off x="7572518" y="2677346"/>
              <a:ext cx="109208" cy="115933"/>
            </a:xfrm>
            <a:prstGeom prst="rect">
              <a:avLst/>
            </a:prstGeom>
            <a:noFill/>
            <a:ln>
              <a:noFill/>
            </a:ln>
          </p:spPr>
        </p:pic>
      </p:grpSp>
      <p:sp>
        <p:nvSpPr>
          <p:cNvPr id="470" name="Google Shape;470;p7"/>
          <p:cNvSpPr/>
          <p:nvPr/>
        </p:nvSpPr>
        <p:spPr>
          <a:xfrm rot="10800000" flipH="1">
            <a:off x="6994353" y="2822751"/>
            <a:ext cx="467030" cy="51600"/>
          </a:xfrm>
          <a:custGeom>
            <a:avLst/>
            <a:gdLst/>
            <a:ahLst/>
            <a:cxnLst/>
            <a:rect l="l" t="t" r="r" b="b"/>
            <a:pathLst>
              <a:path w="432435" h="120000" extrusionOk="0">
                <a:moveTo>
                  <a:pt x="0" y="0"/>
                </a:moveTo>
                <a:lnTo>
                  <a:pt x="431965" y="0"/>
                </a:lnTo>
              </a:path>
            </a:pathLst>
          </a:custGeom>
          <a:noFill/>
          <a:ln w="9525" cap="flat" cmpd="sng">
            <a:solidFill>
              <a:srgbClr val="E61E50"/>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265374"/>
              </a:solidFill>
              <a:effectLst/>
              <a:uLnTx/>
              <a:uFillTx/>
              <a:latin typeface="Calibri"/>
              <a:ea typeface="Calibri"/>
              <a:cs typeface="Calibri"/>
              <a:sym typeface="Calibri"/>
            </a:endParaRPr>
          </a:p>
        </p:txBody>
      </p:sp>
      <p:sp>
        <p:nvSpPr>
          <p:cNvPr id="471" name="Google Shape;471;p7"/>
          <p:cNvSpPr txBox="1"/>
          <p:nvPr/>
        </p:nvSpPr>
        <p:spPr>
          <a:xfrm>
            <a:off x="281952" y="6227205"/>
            <a:ext cx="7083000" cy="6462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*The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cohort’ included: Acebutolol, Atenolol,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Betaxolol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Carteolol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Carvedilol, </a:t>
            </a:r>
            <a:r>
              <a:rPr kumimoji="0" lang="en-US" sz="900" b="0" i="0" u="none" strike="noStrike" kern="1200" cap="none" spc="0" normalizeH="0" baseline="0" noProof="0" dirty="0" err="1">
                <a:ln>
                  <a:noFill/>
                </a:ln>
                <a:solidFill>
                  <a:srgbClr val="265374">
                    <a:lumMod val="75000"/>
                    <a:lumOff val="25000"/>
                  </a:srgbClr>
                </a:solidFill>
                <a:effectLst/>
                <a:uLnTx/>
                <a:uFillTx/>
                <a:latin typeface="Verdana"/>
                <a:ea typeface="Verdana"/>
                <a:cs typeface="Verdana"/>
                <a:sym typeface="Verdana"/>
              </a:rPr>
              <a:t>Celiprolol</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 Labetalol, Metoprolol, Nadolol, Nebivolol, Oxprenolol, Pindolol, Propranolol or Timolol.</a:t>
            </a:r>
          </a:p>
          <a:p>
            <a:pPr marL="0" marR="0" lvl="0" indent="0" algn="l" defTabSz="914400" rtl="0" eaLnBrk="1" fontAlgn="auto" latinLnBrk="0" hangingPunct="1">
              <a:lnSpc>
                <a:spcPct val="100000"/>
              </a:lnSpc>
              <a:spcBef>
                <a:spcPts val="0"/>
              </a:spcBef>
              <a:spcAft>
                <a:spcPts val="0"/>
              </a:spcAft>
              <a:buClr>
                <a:srgbClr val="0F69AF"/>
              </a:buClr>
              <a:buSzPts val="900"/>
              <a:buFont typeface="Verdana"/>
              <a:buNone/>
              <a:tabLst/>
              <a:defRPr/>
            </a:pP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Foch, Caroline, et al. "Effectiveness of bisoprolol versus other </a:t>
            </a:r>
            <a:r>
              <a:rPr kumimoji="0" lang="el-GR"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β-</a:t>
            </a:r>
            <a:r>
              <a:rPr kumimoji="0" lang="en-US" sz="900" b="0" i="0" u="none" strike="noStrike" kern="1200" cap="none" spc="0" normalizeH="0" baseline="0" noProof="0" dirty="0">
                <a:ln>
                  <a:noFill/>
                </a:ln>
                <a:solidFill>
                  <a:srgbClr val="265374">
                    <a:lumMod val="75000"/>
                    <a:lumOff val="25000"/>
                  </a:srgbClr>
                </a:solidFill>
                <a:effectLst/>
                <a:uLnTx/>
                <a:uFillTx/>
                <a:latin typeface="Verdana"/>
                <a:ea typeface="Verdana"/>
                <a:cs typeface="Verdana"/>
                <a:sym typeface="Verdana"/>
              </a:rPr>
              <a:t>blockers and other antihypertensive classes: a cohort study in the Clinical Practice Research Datalink." Journal of Comparative Effectiveness Research 11.6 (2022): 423-436.</a:t>
            </a:r>
          </a:p>
        </p:txBody>
      </p:sp>
      <p:sp>
        <p:nvSpPr>
          <p:cNvPr id="472" name="Google Shape;472;p7"/>
          <p:cNvSpPr/>
          <p:nvPr/>
        </p:nvSpPr>
        <p:spPr>
          <a:xfrm>
            <a:off x="3304275" y="3484275"/>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sp>
        <p:nvSpPr>
          <p:cNvPr id="473" name="Google Shape;473;p7"/>
          <p:cNvSpPr/>
          <p:nvPr/>
        </p:nvSpPr>
        <p:spPr>
          <a:xfrm>
            <a:off x="7923025" y="3447950"/>
            <a:ext cx="2181000" cy="369300"/>
          </a:xfrm>
          <a:prstGeom prst="rightArrow">
            <a:avLst>
              <a:gd name="adj1" fmla="val 50000"/>
              <a:gd name="adj2" fmla="val 50000"/>
            </a:avLst>
          </a:prstGeom>
          <a:noFill/>
          <a:ln w="19050" cap="flat" cmpd="sng">
            <a:solidFill>
              <a:srgbClr val="E61E50"/>
            </a:solidFill>
            <a:prstDash val="solid"/>
            <a:round/>
            <a:headEnd type="none" w="sm" len="sm"/>
            <a:tailEnd type="none" w="sm" len="sm"/>
          </a:ln>
        </p:spPr>
        <p:txBody>
          <a:bodyPr spcFirstLastPara="1" wrap="square" lIns="0" tIns="16500" rIns="0" bIns="0" anchor="t" anchorCtr="0">
            <a:noAutofit/>
          </a:bodyPr>
          <a:lstStyle/>
          <a:p>
            <a:pPr marL="127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Б</a:t>
            </a:r>
            <a:r>
              <a:rPr kumimoji="0" lang="en-US" sz="1100" b="0" i="0" u="none" strike="noStrike" kern="1200" cap="none" spc="0" normalizeH="0" baseline="0" noProof="0" dirty="0" err="1">
                <a:ln>
                  <a:noFill/>
                </a:ln>
                <a:solidFill>
                  <a:srgbClr val="503291"/>
                </a:solidFill>
                <a:effectLst/>
                <a:uLnTx/>
                <a:uFillTx/>
                <a:latin typeface="Verdana"/>
                <a:ea typeface="Verdana"/>
                <a:cs typeface="Verdana"/>
                <a:sym typeface="Verdana"/>
              </a:rPr>
              <a:t>исопролол</a:t>
            </a:r>
            <a:r>
              <a:rPr kumimoji="0" lang="ru-RU" sz="1100" b="0" i="0" u="none" strike="noStrike" kern="1200" cap="none" spc="0" normalizeH="0" baseline="0" noProof="0" dirty="0">
                <a:ln>
                  <a:noFill/>
                </a:ln>
                <a:solidFill>
                  <a:srgbClr val="503291"/>
                </a:solidFill>
                <a:effectLst/>
                <a:uLnTx/>
                <a:uFillTx/>
                <a:latin typeface="Verdana"/>
                <a:ea typeface="Verdana"/>
                <a:cs typeface="Verdana"/>
                <a:sym typeface="Verdana"/>
              </a:rPr>
              <a:t> лучше</a:t>
            </a:r>
            <a:endParaRPr kumimoji="0" sz="1100" b="0" i="0" u="none" strike="noStrike" kern="1200" cap="none" spc="0" normalizeH="0" baseline="0" noProof="0" dirty="0">
              <a:ln>
                <a:noFill/>
              </a:ln>
              <a:solidFill>
                <a:srgbClr val="503291"/>
              </a:solidFill>
              <a:effectLst/>
              <a:uLnTx/>
              <a:uFillTx/>
              <a:latin typeface="Verdana"/>
              <a:ea typeface="Verdana"/>
              <a:cs typeface="Verdana"/>
              <a:sym typeface="Verdana"/>
            </a:endParaRPr>
          </a:p>
        </p:txBody>
      </p:sp>
      <p:grpSp>
        <p:nvGrpSpPr>
          <p:cNvPr id="474" name="Google Shape;474;p7"/>
          <p:cNvGrpSpPr/>
          <p:nvPr/>
        </p:nvGrpSpPr>
        <p:grpSpPr>
          <a:xfrm>
            <a:off x="3467676" y="1581625"/>
            <a:ext cx="8071248" cy="186009"/>
            <a:chOff x="3762452" y="1468408"/>
            <a:chExt cx="8071248" cy="186009"/>
          </a:xfrm>
        </p:grpSpPr>
        <p:sp>
          <p:nvSpPr>
            <p:cNvPr id="475" name="Google Shape;475;p7"/>
            <p:cNvSpPr txBox="1"/>
            <p:nvPr/>
          </p:nvSpPr>
          <p:spPr>
            <a:xfrm>
              <a:off x="3762452" y="1468417"/>
              <a:ext cx="322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О</a:t>
              </a: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Р</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76" name="Google Shape;476;p7"/>
            <p:cNvSpPr txBox="1"/>
            <p:nvPr/>
          </p:nvSpPr>
          <p:spPr>
            <a:xfrm>
              <a:off x="4811426" y="1468408"/>
              <a:ext cx="15069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О</a:t>
              </a:r>
              <a:r>
                <a:rPr kumimoji="0" lang="ru-RU" sz="1100" b="1" i="0" u="none" strike="noStrike" kern="1200" cap="none" spc="0" normalizeH="0" baseline="0" noProof="0" dirty="0">
                  <a:ln>
                    <a:noFill/>
                  </a:ln>
                  <a:solidFill>
                    <a:srgbClr val="E61E50"/>
                  </a:solidFill>
                  <a:effectLst/>
                  <a:uLnTx/>
                  <a:uFillTx/>
                  <a:latin typeface="Verdana"/>
                  <a:ea typeface="Verdana"/>
                  <a:cs typeface="Verdana"/>
                  <a:sym typeface="Verdana"/>
                </a:rPr>
                <a:t>Р</a:t>
              </a:r>
              <a:r>
                <a:rPr kumimoji="0" lang="en-US" sz="1100" b="1" i="0" u="none" strike="noStrike" kern="1200" cap="none" spc="0" normalizeH="0" baseline="0" noProof="0" dirty="0">
                  <a:ln>
                    <a:noFill/>
                  </a:ln>
                  <a:solidFill>
                    <a:srgbClr val="E61E50"/>
                  </a:solidFill>
                  <a:effectLst/>
                  <a:uLnTx/>
                  <a:uFillTx/>
                  <a:latin typeface="Verdana"/>
                  <a:ea typeface="Verdana"/>
                  <a:cs typeface="Verdana"/>
                  <a:sym typeface="Verdana"/>
                </a:rPr>
                <a:t> (98.75% ДИ)</a:t>
              </a:r>
              <a:endParaRPr kumimoji="0" sz="1100" b="0"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477" name="Google Shape;477;p7"/>
            <p:cNvSpPr txBox="1"/>
            <p:nvPr/>
          </p:nvSpPr>
          <p:spPr>
            <a:xfrm>
              <a:off x="6506321" y="1468408"/>
              <a:ext cx="10014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78" name="Google Shape;478;p7"/>
            <p:cNvSpPr txBox="1"/>
            <p:nvPr/>
          </p:nvSpPr>
          <p:spPr>
            <a:xfrm>
              <a:off x="7795566" y="1468417"/>
              <a:ext cx="4458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265374"/>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79" name="Google Shape;479;p7"/>
            <p:cNvSpPr txBox="1"/>
            <p:nvPr/>
          </p:nvSpPr>
          <p:spPr>
            <a:xfrm>
              <a:off x="9134132" y="1468417"/>
              <a:ext cx="14832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ОСР (98.75% ДИ)</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sp>
          <p:nvSpPr>
            <p:cNvPr id="480" name="Google Shape;480;p7"/>
            <p:cNvSpPr txBox="1"/>
            <p:nvPr/>
          </p:nvSpPr>
          <p:spPr>
            <a:xfrm>
              <a:off x="10727000" y="1468408"/>
              <a:ext cx="1106700" cy="186000"/>
            </a:xfrm>
            <a:prstGeom prst="rect">
              <a:avLst/>
            </a:prstGeom>
            <a:noFill/>
            <a:ln>
              <a:noFill/>
            </a:ln>
          </p:spPr>
          <p:txBody>
            <a:bodyPr spcFirstLastPara="1" wrap="square" lIns="0" tIns="16500" rIns="0" bIns="0" anchor="t" anchorCtr="0">
              <a:spAutoFit/>
            </a:bodyPr>
            <a:lstStyle/>
            <a:p>
              <a:pPr marL="1270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E61E50"/>
                  </a:solidFill>
                  <a:effectLst/>
                  <a:uLnTx/>
                  <a:uFillTx/>
                  <a:latin typeface="Verdana"/>
                  <a:ea typeface="Verdana"/>
                  <a:cs typeface="Verdana"/>
                  <a:sym typeface="Verdana"/>
                </a:rPr>
                <a:t>E-значение</a:t>
              </a:r>
              <a:endParaRPr kumimoji="0" sz="1100" b="0" i="0" u="none" strike="noStrike" kern="1200" cap="none" spc="0" normalizeH="0" baseline="0" noProof="0">
                <a:ln>
                  <a:noFill/>
                </a:ln>
                <a:solidFill>
                  <a:srgbClr val="E61E50"/>
                </a:solidFill>
                <a:effectLst/>
                <a:uLnTx/>
                <a:uFillTx/>
                <a:latin typeface="Verdana"/>
                <a:ea typeface="Verdana"/>
                <a:cs typeface="Verdana"/>
                <a:sym typeface="Verdan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1584DB5-068D-965D-46C2-787446E4FA18}"/>
              </a:ext>
            </a:extLst>
          </p:cNvPr>
          <p:cNvCxnSpPr>
            <a:cxnSpLocks/>
          </p:cNvCxnSpPr>
          <p:nvPr/>
        </p:nvCxnSpPr>
        <p:spPr>
          <a:xfrm>
            <a:off x="461491" y="1624315"/>
            <a:ext cx="5147733" cy="0"/>
          </a:xfrm>
          <a:prstGeom prst="line">
            <a:avLst/>
          </a:prstGeom>
          <a:noFill/>
          <a:ln w="76200" cap="rnd" cmpd="sng" algn="ctr">
            <a:solidFill>
              <a:srgbClr val="00A3E0"/>
            </a:solidFill>
            <a:prstDash val="solid"/>
            <a:round/>
          </a:ln>
          <a:effectLst/>
        </p:spPr>
      </p:cxnSp>
      <p:cxnSp>
        <p:nvCxnSpPr>
          <p:cNvPr id="5" name="Straight Connector 4">
            <a:extLst>
              <a:ext uri="{FF2B5EF4-FFF2-40B4-BE49-F238E27FC236}">
                <a16:creationId xmlns:a16="http://schemas.microsoft.com/office/drawing/2014/main" id="{EC61251E-608B-72EA-1086-0AA86D7C7532}"/>
              </a:ext>
            </a:extLst>
          </p:cNvPr>
          <p:cNvCxnSpPr>
            <a:cxnSpLocks/>
          </p:cNvCxnSpPr>
          <p:nvPr/>
        </p:nvCxnSpPr>
        <p:spPr>
          <a:xfrm>
            <a:off x="6565957" y="1624315"/>
            <a:ext cx="5147733" cy="0"/>
          </a:xfrm>
          <a:prstGeom prst="line">
            <a:avLst/>
          </a:prstGeom>
          <a:noFill/>
          <a:ln w="76200" cap="rnd" cmpd="sng" algn="ctr">
            <a:solidFill>
              <a:srgbClr val="005587"/>
            </a:solidFill>
            <a:prstDash val="solid"/>
            <a:round/>
          </a:ln>
          <a:effectLst/>
        </p:spPr>
      </p:cxnSp>
      <p:sp>
        <p:nvSpPr>
          <p:cNvPr id="6" name="Title 2">
            <a:extLst>
              <a:ext uri="{FF2B5EF4-FFF2-40B4-BE49-F238E27FC236}">
                <a16:creationId xmlns:a16="http://schemas.microsoft.com/office/drawing/2014/main" id="{6CA39681-EE20-9B30-8D54-6DDD4BAA31CA}"/>
              </a:ext>
            </a:extLst>
          </p:cNvPr>
          <p:cNvSpPr txBox="1">
            <a:spLocks/>
          </p:cNvSpPr>
          <p:nvPr/>
        </p:nvSpPr>
        <p:spPr>
          <a:xfrm>
            <a:off x="771119" y="271175"/>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«У пациентов с более выраженной </a:t>
            </a:r>
            <a:r>
              <a:rPr kumimoji="0" lang="ru-RU" sz="2000" b="1" i="0" u="none" strike="noStrike" kern="1200" cap="none" spc="0" normalizeH="0" baseline="0" noProof="0" dirty="0" err="1">
                <a:ln>
                  <a:noFill/>
                </a:ln>
                <a:solidFill>
                  <a:srgbClr val="7030A0"/>
                </a:solidFill>
                <a:effectLst/>
                <a:uLnTx/>
                <a:uFillTx/>
                <a:latin typeface="Verdana" panose="020B0604030504040204" pitchFamily="34" charset="0"/>
                <a:ea typeface="Verdana" panose="020B0604030504040204" pitchFamily="34" charset="0"/>
                <a:cs typeface="+mj-cs"/>
              </a:rPr>
              <a:t>бронхообструкцией</a:t>
            </a: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 или более частыми обострениями ХОБЛ </a:t>
            </a:r>
            <a:r>
              <a:rPr kumimoji="0" lang="ru-RU" sz="2000" b="1" i="0" u="none" strike="noStrike" kern="1200" cap="none" spc="0" normalizeH="0" baseline="0" noProof="0" dirty="0" err="1">
                <a:ln>
                  <a:noFill/>
                </a:ln>
                <a:solidFill>
                  <a:srgbClr val="7030A0"/>
                </a:solidFill>
                <a:effectLst/>
                <a:uLnTx/>
                <a:uFillTx/>
                <a:latin typeface="Verdana" panose="020B0604030504040204" pitchFamily="34" charset="0"/>
                <a:ea typeface="Verdana" panose="020B0604030504040204" pitchFamily="34" charset="0"/>
                <a:cs typeface="+mj-cs"/>
              </a:rPr>
              <a:t>бисопролол</a:t>
            </a:r>
            <a:r>
              <a:rPr kumimoji="0" lang="ru-RU"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rPr>
              <a:t> может быть предпочтительнее метопролола благодаря более высокой селективности»³</a:t>
            </a:r>
            <a:endParaRPr kumimoji="0" lang="en-US" sz="2000" b="1" i="0" u="none" strike="noStrike" kern="120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cs typeface="+mj-cs"/>
            </a:endParaRPr>
          </a:p>
        </p:txBody>
      </p:sp>
      <p:sp>
        <p:nvSpPr>
          <p:cNvPr id="7" name="Rectangle: Rounded Corners 6">
            <a:extLst>
              <a:ext uri="{FF2B5EF4-FFF2-40B4-BE49-F238E27FC236}">
                <a16:creationId xmlns:a16="http://schemas.microsoft.com/office/drawing/2014/main" id="{E5F6573F-99D9-6C5A-0B0C-EA9829A79803}"/>
              </a:ext>
            </a:extLst>
          </p:cNvPr>
          <p:cNvSpPr>
            <a:spLocks/>
          </p:cNvSpPr>
          <p:nvPr/>
        </p:nvSpPr>
        <p:spPr>
          <a:xfrm>
            <a:off x="1149772" y="1094215"/>
            <a:ext cx="4116015"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l" defTabSz="1219170" rtl="0" eaLnBrk="1" fontAlgn="auto" latinLnBrk="0" hangingPunct="1">
              <a:lnSpc>
                <a:spcPct val="100000"/>
              </a:lnSpc>
              <a:spcBef>
                <a:spcPts val="0"/>
              </a:spcBef>
              <a:spcAft>
                <a:spcPts val="0"/>
              </a:spcAft>
              <a:buClr>
                <a:srgbClr val="544F40"/>
              </a:buClr>
              <a:buSzTx/>
              <a:buFontTx/>
              <a:buNone/>
              <a:tabLst/>
              <a:defRPr/>
            </a:pPr>
            <a:r>
              <a:rPr kumimoji="0" lang="en-US" sz="1800" b="1" i="0" u="none" strike="noStrike" kern="0" cap="none" spc="0" normalizeH="0" baseline="0" noProof="0" dirty="0">
                <a:ln>
                  <a:noFill/>
                </a:ln>
                <a:solidFill>
                  <a:srgbClr val="00A3E0"/>
                </a:solidFill>
                <a:effectLst/>
                <a:uLnTx/>
                <a:uFillTx/>
                <a:latin typeface="Arial"/>
                <a:ea typeface="+mn-ea"/>
                <a:cs typeface="+mn-cs"/>
              </a:rPr>
              <a:t>The BLOCK COPD trial</a:t>
            </a:r>
            <a:r>
              <a:rPr kumimoji="0" lang="en-US" sz="1800" b="1" i="0" u="none" strike="noStrike" kern="0" cap="none" spc="0" normalizeH="0" baseline="30000" noProof="0" dirty="0">
                <a:ln>
                  <a:noFill/>
                </a:ln>
                <a:solidFill>
                  <a:srgbClr val="00A3E0"/>
                </a:solidFill>
                <a:effectLst/>
                <a:uLnTx/>
                <a:uFillTx/>
                <a:latin typeface="Arial"/>
                <a:ea typeface="+mn-ea"/>
                <a:cs typeface="+mn-cs"/>
              </a:rPr>
              <a:t>1</a:t>
            </a:r>
            <a:endParaRPr kumimoji="0" lang="en-US" sz="1800" b="0" i="0" u="none" strike="noStrike" kern="0" cap="none" spc="0" normalizeH="0" baseline="30000" noProof="0" dirty="0">
              <a:ln>
                <a:noFill/>
              </a:ln>
              <a:solidFill>
                <a:srgbClr val="00A3E0"/>
              </a:solidFill>
              <a:effectLst/>
              <a:uLnTx/>
              <a:uFillTx/>
              <a:latin typeface="Arial"/>
              <a:ea typeface="+mn-ea"/>
              <a:cs typeface="+mn-cs"/>
            </a:endParaRPr>
          </a:p>
        </p:txBody>
      </p:sp>
      <p:sp>
        <p:nvSpPr>
          <p:cNvPr id="8" name="Rectangle: Rounded Corners 7">
            <a:extLst>
              <a:ext uri="{FF2B5EF4-FFF2-40B4-BE49-F238E27FC236}">
                <a16:creationId xmlns:a16="http://schemas.microsoft.com/office/drawing/2014/main" id="{FEDF0BF8-1F69-7C55-4DA3-976E13878FEE}"/>
              </a:ext>
            </a:extLst>
          </p:cNvPr>
          <p:cNvSpPr>
            <a:spLocks/>
          </p:cNvSpPr>
          <p:nvPr/>
        </p:nvSpPr>
        <p:spPr>
          <a:xfrm>
            <a:off x="9144001" y="1094215"/>
            <a:ext cx="1860046" cy="567181"/>
          </a:xfrm>
          <a:prstGeom prst="roundRect">
            <a:avLst>
              <a:gd name="adj" fmla="val 0"/>
            </a:avLst>
          </a:prstGeom>
          <a:noFill/>
          <a:ln w="19050" cap="flat" cmpd="sng" algn="ctr">
            <a:noFill/>
            <a:prstDash val="solid"/>
            <a:miter lim="800000"/>
          </a:ln>
          <a:effectLst/>
        </p:spPr>
        <p:txBody>
          <a:bodyPr rtlCol="0" anchor="ctr" anchorCtr="0"/>
          <a:lstStyle/>
          <a:p>
            <a:pPr marL="0" marR="0" lvl="0" indent="0" algn="r" defTabSz="1219170" rtl="0" eaLnBrk="1" fontAlgn="auto" latinLnBrk="0" hangingPunct="1">
              <a:lnSpc>
                <a:spcPct val="100000"/>
              </a:lnSpc>
              <a:spcBef>
                <a:spcPts val="0"/>
              </a:spcBef>
              <a:spcAft>
                <a:spcPts val="0"/>
              </a:spcAft>
              <a:buClr>
                <a:srgbClr val="544F40"/>
              </a:buClr>
              <a:buSzTx/>
              <a:buFontTx/>
              <a:buNone/>
              <a:tabLst/>
              <a:defRPr/>
            </a:pPr>
            <a:r>
              <a:rPr kumimoji="0" lang="en-US" sz="1800" b="1" i="0" u="none" strike="noStrike" kern="0" cap="none" spc="0" normalizeH="0" baseline="0" noProof="0" dirty="0">
                <a:ln>
                  <a:noFill/>
                </a:ln>
                <a:solidFill>
                  <a:srgbClr val="005587"/>
                </a:solidFill>
                <a:effectLst/>
                <a:uLnTx/>
                <a:uFillTx/>
                <a:latin typeface="Arial"/>
                <a:ea typeface="+mn-ea"/>
                <a:cs typeface="+mn-cs"/>
              </a:rPr>
              <a:t>The BICS trial</a:t>
            </a:r>
            <a:r>
              <a:rPr kumimoji="0" lang="en-US" sz="1800" b="1" i="0" u="none" strike="noStrike" kern="0" cap="none" spc="0" normalizeH="0" baseline="30000" noProof="0" dirty="0">
                <a:ln>
                  <a:noFill/>
                </a:ln>
                <a:solidFill>
                  <a:srgbClr val="005587"/>
                </a:solidFill>
                <a:effectLst/>
                <a:uLnTx/>
                <a:uFillTx/>
                <a:latin typeface="Arial"/>
                <a:ea typeface="+mn-ea"/>
                <a:cs typeface="+mn-cs"/>
              </a:rPr>
              <a:t>2</a:t>
            </a:r>
          </a:p>
        </p:txBody>
      </p:sp>
      <p:sp>
        <p:nvSpPr>
          <p:cNvPr id="9" name="Oval 8">
            <a:extLst>
              <a:ext uri="{FF2B5EF4-FFF2-40B4-BE49-F238E27FC236}">
                <a16:creationId xmlns:a16="http://schemas.microsoft.com/office/drawing/2014/main" id="{1A782EFA-9CA3-E6A3-3A79-B45447EB35E9}"/>
              </a:ext>
            </a:extLst>
          </p:cNvPr>
          <p:cNvSpPr/>
          <p:nvPr/>
        </p:nvSpPr>
        <p:spPr>
          <a:xfrm>
            <a:off x="453642" y="1052370"/>
            <a:ext cx="668287" cy="667997"/>
          </a:xfrm>
          <a:prstGeom prst="ellipse">
            <a:avLst/>
          </a:prstGeom>
          <a:solidFill>
            <a:srgbClr val="FFFFFF"/>
          </a:solidFill>
          <a:ln w="12700" cap="rnd" cmpd="sng" algn="ctr">
            <a:solidFill>
              <a:srgbClr val="00A3E0"/>
            </a:solidFill>
            <a:prstDash val="solid"/>
            <a:round/>
          </a:ln>
          <a:effectLst/>
        </p:spPr>
        <p:txBody>
          <a:bodyPr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dirty="0" err="1">
              <a:ln>
                <a:noFill/>
              </a:ln>
              <a:solidFill>
                <a:srgbClr val="FFFFFF"/>
              </a:solidFill>
              <a:effectLst/>
              <a:uLnTx/>
              <a:uFillTx/>
              <a:latin typeface="Arial"/>
              <a:ea typeface="+mn-ea"/>
              <a:cs typeface="+mn-cs"/>
            </a:endParaRPr>
          </a:p>
        </p:txBody>
      </p:sp>
      <p:pic>
        <p:nvPicPr>
          <p:cNvPr id="10" name="Graphic 9">
            <a:extLst>
              <a:ext uri="{FF2B5EF4-FFF2-40B4-BE49-F238E27FC236}">
                <a16:creationId xmlns:a16="http://schemas.microsoft.com/office/drawing/2014/main" id="{F6C9DAD3-042F-0D57-532F-28749C0580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8254" y="1127061"/>
            <a:ext cx="514469" cy="514469"/>
          </a:xfrm>
          <a:prstGeom prst="rect">
            <a:avLst/>
          </a:prstGeom>
        </p:spPr>
      </p:pic>
      <p:grpSp>
        <p:nvGrpSpPr>
          <p:cNvPr id="11" name="Group 10">
            <a:extLst>
              <a:ext uri="{FF2B5EF4-FFF2-40B4-BE49-F238E27FC236}">
                <a16:creationId xmlns:a16="http://schemas.microsoft.com/office/drawing/2014/main" id="{375BE87D-AFD9-30B5-3BE8-5D6A5A771B0F}"/>
              </a:ext>
            </a:extLst>
          </p:cNvPr>
          <p:cNvGrpSpPr/>
          <p:nvPr/>
        </p:nvGrpSpPr>
        <p:grpSpPr>
          <a:xfrm>
            <a:off x="6188994" y="1202620"/>
            <a:ext cx="576839" cy="4576834"/>
            <a:chOff x="6323253" y="1793630"/>
            <a:chExt cx="576839" cy="4576834"/>
          </a:xfrm>
        </p:grpSpPr>
        <p:cxnSp>
          <p:nvCxnSpPr>
            <p:cNvPr id="12" name="Straight Connector 11">
              <a:extLst>
                <a:ext uri="{FF2B5EF4-FFF2-40B4-BE49-F238E27FC236}">
                  <a16:creationId xmlns:a16="http://schemas.microsoft.com/office/drawing/2014/main" id="{FBD46D92-B8A8-5369-AF4E-C777F44D1179}"/>
                </a:ext>
              </a:extLst>
            </p:cNvPr>
            <p:cNvCxnSpPr>
              <a:cxnSpLocks/>
            </p:cNvCxnSpPr>
            <p:nvPr/>
          </p:nvCxnSpPr>
          <p:spPr>
            <a:xfrm flipV="1">
              <a:off x="6323255" y="2152081"/>
              <a:ext cx="0" cy="4218383"/>
            </a:xfrm>
            <a:prstGeom prst="line">
              <a:avLst/>
            </a:prstGeom>
            <a:noFill/>
            <a:ln w="38100" cap="rnd" cmpd="sng" algn="ctr">
              <a:solidFill>
                <a:srgbClr val="CACED0"/>
              </a:solidFill>
              <a:prstDash val="solid"/>
              <a:round/>
            </a:ln>
            <a:effectLst/>
          </p:spPr>
        </p:cxnSp>
        <p:sp>
          <p:nvSpPr>
            <p:cNvPr id="13" name="Rectangle: Rounded Corners 119">
              <a:extLst>
                <a:ext uri="{FF2B5EF4-FFF2-40B4-BE49-F238E27FC236}">
                  <a16:creationId xmlns:a16="http://schemas.microsoft.com/office/drawing/2014/main" id="{D43442CA-A6C0-414A-0F99-290808F7C373}"/>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4" name="Isosceles Triangle 7">
              <a:extLst>
                <a:ext uri="{FF2B5EF4-FFF2-40B4-BE49-F238E27FC236}">
                  <a16:creationId xmlns:a16="http://schemas.microsoft.com/office/drawing/2014/main" id="{D40947F3-6D4A-EDA1-5A61-AC63A30BCF5C}"/>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04F40D8B-7625-A6A5-9D65-BC3F124A486B}"/>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grpSp>
        <p:nvGrpSpPr>
          <p:cNvPr id="16" name="Group 15">
            <a:extLst>
              <a:ext uri="{FF2B5EF4-FFF2-40B4-BE49-F238E27FC236}">
                <a16:creationId xmlns:a16="http://schemas.microsoft.com/office/drawing/2014/main" id="{77B5BBEE-E8F4-6574-CAEF-66A82E41979A}"/>
              </a:ext>
            </a:extLst>
          </p:cNvPr>
          <p:cNvGrpSpPr/>
          <p:nvPr/>
        </p:nvGrpSpPr>
        <p:grpSpPr>
          <a:xfrm flipH="1">
            <a:off x="5409347" y="1202620"/>
            <a:ext cx="576839" cy="4576834"/>
            <a:chOff x="6323253" y="1793630"/>
            <a:chExt cx="576839" cy="4576834"/>
          </a:xfrm>
        </p:grpSpPr>
        <p:cxnSp>
          <p:nvCxnSpPr>
            <p:cNvPr id="17" name="Straight Connector 16">
              <a:extLst>
                <a:ext uri="{FF2B5EF4-FFF2-40B4-BE49-F238E27FC236}">
                  <a16:creationId xmlns:a16="http://schemas.microsoft.com/office/drawing/2014/main" id="{646E4D52-50AD-B43A-9159-E8E9D4CC6C67}"/>
                </a:ext>
              </a:extLst>
            </p:cNvPr>
            <p:cNvCxnSpPr>
              <a:cxnSpLocks/>
            </p:cNvCxnSpPr>
            <p:nvPr/>
          </p:nvCxnSpPr>
          <p:spPr>
            <a:xfrm flipH="1" flipV="1">
              <a:off x="6323255" y="2152081"/>
              <a:ext cx="0" cy="4218383"/>
            </a:xfrm>
            <a:prstGeom prst="line">
              <a:avLst/>
            </a:prstGeom>
            <a:noFill/>
            <a:ln w="38100" cap="rnd" cmpd="sng" algn="ctr">
              <a:solidFill>
                <a:srgbClr val="CACED0"/>
              </a:solidFill>
              <a:prstDash val="solid"/>
              <a:round/>
            </a:ln>
            <a:effectLst/>
          </p:spPr>
        </p:cxnSp>
        <p:sp>
          <p:nvSpPr>
            <p:cNvPr id="18" name="Rectangle: Rounded Corners 119">
              <a:extLst>
                <a:ext uri="{FF2B5EF4-FFF2-40B4-BE49-F238E27FC236}">
                  <a16:creationId xmlns:a16="http://schemas.microsoft.com/office/drawing/2014/main" id="{592AB1C1-89D3-9092-4B06-E6009BE4C631}"/>
                </a:ext>
              </a:extLst>
            </p:cNvPr>
            <p:cNvSpPr/>
            <p:nvPr/>
          </p:nvSpPr>
          <p:spPr>
            <a:xfrm rot="16200000">
              <a:off x="6323212" y="1886566"/>
              <a:ext cx="264629" cy="264548"/>
            </a:xfrm>
            <a:custGeom>
              <a:avLst/>
              <a:gdLst>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0 w 9751542"/>
                <a:gd name="connsiteY7" fmla="*/ 664889 h 1329778"/>
                <a:gd name="connsiteX0" fmla="*/ 0 w 9751542"/>
                <a:gd name="connsiteY0" fmla="*/ 664889 h 1329778"/>
                <a:gd name="connsiteX1" fmla="*/ 664889 w 9751542"/>
                <a:gd name="connsiteY1" fmla="*/ 0 h 1329778"/>
                <a:gd name="connsiteX2" fmla="*/ 9086653 w 9751542"/>
                <a:gd name="connsiteY2" fmla="*/ 0 h 1329778"/>
                <a:gd name="connsiteX3" fmla="*/ 9751542 w 9751542"/>
                <a:gd name="connsiteY3" fmla="*/ 664889 h 1329778"/>
                <a:gd name="connsiteX4" fmla="*/ 9751542 w 9751542"/>
                <a:gd name="connsiteY4" fmla="*/ 664889 h 1329778"/>
                <a:gd name="connsiteX5" fmla="*/ 9086653 w 9751542"/>
                <a:gd name="connsiteY5" fmla="*/ 1329778 h 1329778"/>
                <a:gd name="connsiteX6" fmla="*/ 664889 w 9751542"/>
                <a:gd name="connsiteY6" fmla="*/ 1329778 h 1329778"/>
                <a:gd name="connsiteX7" fmla="*/ 91440 w 9751542"/>
                <a:gd name="connsiteY7" fmla="*/ 756329 h 1329778"/>
                <a:gd name="connsiteX0" fmla="*/ 590125 w 9676778"/>
                <a:gd name="connsiteY0" fmla="*/ 0 h 1329778"/>
                <a:gd name="connsiteX1" fmla="*/ 9011889 w 9676778"/>
                <a:gd name="connsiteY1" fmla="*/ 0 h 1329778"/>
                <a:gd name="connsiteX2" fmla="*/ 9676778 w 9676778"/>
                <a:gd name="connsiteY2" fmla="*/ 664889 h 1329778"/>
                <a:gd name="connsiteX3" fmla="*/ 9676778 w 9676778"/>
                <a:gd name="connsiteY3" fmla="*/ 664889 h 1329778"/>
                <a:gd name="connsiteX4" fmla="*/ 9011889 w 9676778"/>
                <a:gd name="connsiteY4" fmla="*/ 1329778 h 1329778"/>
                <a:gd name="connsiteX5" fmla="*/ 590125 w 9676778"/>
                <a:gd name="connsiteY5" fmla="*/ 1329778 h 1329778"/>
                <a:gd name="connsiteX6" fmla="*/ 16676 w 9676778"/>
                <a:gd name="connsiteY6" fmla="*/ 756329 h 1329778"/>
                <a:gd name="connsiteX0" fmla="*/ 9011889 w 9676778"/>
                <a:gd name="connsiteY0" fmla="*/ 0 h 1329778"/>
                <a:gd name="connsiteX1" fmla="*/ 9676778 w 9676778"/>
                <a:gd name="connsiteY1" fmla="*/ 664889 h 1329778"/>
                <a:gd name="connsiteX2" fmla="*/ 9676778 w 9676778"/>
                <a:gd name="connsiteY2" fmla="*/ 664889 h 1329778"/>
                <a:gd name="connsiteX3" fmla="*/ 9011889 w 9676778"/>
                <a:gd name="connsiteY3" fmla="*/ 1329778 h 1329778"/>
                <a:gd name="connsiteX4" fmla="*/ 590125 w 9676778"/>
                <a:gd name="connsiteY4" fmla="*/ 1329778 h 1329778"/>
                <a:gd name="connsiteX5" fmla="*/ 16676 w 9676778"/>
                <a:gd name="connsiteY5" fmla="*/ 756329 h 1329778"/>
                <a:gd name="connsiteX0" fmla="*/ 8421764 w 9086653"/>
                <a:gd name="connsiteY0" fmla="*/ 0 h 1329778"/>
                <a:gd name="connsiteX1" fmla="*/ 9086653 w 9086653"/>
                <a:gd name="connsiteY1" fmla="*/ 664889 h 1329778"/>
                <a:gd name="connsiteX2" fmla="*/ 9086653 w 9086653"/>
                <a:gd name="connsiteY2" fmla="*/ 664889 h 1329778"/>
                <a:gd name="connsiteX3" fmla="*/ 8421764 w 9086653"/>
                <a:gd name="connsiteY3" fmla="*/ 1329778 h 1329778"/>
                <a:gd name="connsiteX4" fmla="*/ 0 w 9086653"/>
                <a:gd name="connsiteY4" fmla="*/ 1329778 h 1329778"/>
                <a:gd name="connsiteX0" fmla="*/ 0 w 664889"/>
                <a:gd name="connsiteY0" fmla="*/ 0 h 1329778"/>
                <a:gd name="connsiteX1" fmla="*/ 664889 w 664889"/>
                <a:gd name="connsiteY1" fmla="*/ 664889 h 1329778"/>
                <a:gd name="connsiteX2" fmla="*/ 664889 w 664889"/>
                <a:gd name="connsiteY2" fmla="*/ 664889 h 1329778"/>
                <a:gd name="connsiteX3" fmla="*/ 0 w 664889"/>
                <a:gd name="connsiteY3" fmla="*/ 1329778 h 1329778"/>
                <a:gd name="connsiteX0" fmla="*/ 0 w 664889"/>
                <a:gd name="connsiteY0" fmla="*/ 0 h 664889"/>
                <a:gd name="connsiteX1" fmla="*/ 664889 w 664889"/>
                <a:gd name="connsiteY1" fmla="*/ 664889 h 664889"/>
                <a:gd name="connsiteX2" fmla="*/ 664889 w 664889"/>
                <a:gd name="connsiteY2" fmla="*/ 664889 h 664889"/>
                <a:gd name="connsiteX0" fmla="*/ 0 w 665092"/>
                <a:gd name="connsiteY0" fmla="*/ 0 h 664889"/>
                <a:gd name="connsiteX1" fmla="*/ 664889 w 665092"/>
                <a:gd name="connsiteY1" fmla="*/ 664889 h 664889"/>
                <a:gd name="connsiteX2" fmla="*/ 664889 w 665092"/>
                <a:gd name="connsiteY2" fmla="*/ 664889 h 664889"/>
              </a:gdLst>
              <a:ahLst/>
              <a:cxnLst>
                <a:cxn ang="0">
                  <a:pos x="connsiteX0" y="connsiteY0"/>
                </a:cxn>
                <a:cxn ang="0">
                  <a:pos x="connsiteX1" y="connsiteY1"/>
                </a:cxn>
                <a:cxn ang="0">
                  <a:pos x="connsiteX2" y="connsiteY2"/>
                </a:cxn>
              </a:cxnLst>
              <a:rect l="l" t="t" r="r" b="b"/>
              <a:pathLst>
                <a:path w="665092" h="664889">
                  <a:moveTo>
                    <a:pt x="0" y="0"/>
                  </a:moveTo>
                  <a:cubicBezTo>
                    <a:pt x="367208" y="0"/>
                    <a:pt x="674125" y="260736"/>
                    <a:pt x="664889" y="664889"/>
                  </a:cubicBezTo>
                  <a:lnTo>
                    <a:pt x="664889" y="664889"/>
                  </a:lnTo>
                </a:path>
              </a:pathLst>
            </a:custGeom>
            <a:noFill/>
            <a:ln w="38100" cap="rnd" cmpd="sng" algn="ctr">
              <a:solidFill>
                <a:srgbClr val="CACED0"/>
              </a:solidFill>
              <a:prstDash val="solid"/>
              <a:miter lim="800000"/>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9" name="Isosceles Triangle 7">
              <a:extLst>
                <a:ext uri="{FF2B5EF4-FFF2-40B4-BE49-F238E27FC236}">
                  <a16:creationId xmlns:a16="http://schemas.microsoft.com/office/drawing/2014/main" id="{0F3CB957-662C-36C8-C436-BF122BE786C3}"/>
                </a:ext>
              </a:extLst>
            </p:cNvPr>
            <p:cNvSpPr/>
            <p:nvPr/>
          </p:nvSpPr>
          <p:spPr>
            <a:xfrm rot="5400000">
              <a:off x="6764579" y="1856543"/>
              <a:ext cx="198426" cy="72600"/>
            </a:xfrm>
            <a:custGeom>
              <a:avLst/>
              <a:gdLst>
                <a:gd name="connsiteX0" fmla="*/ 0 w 1079064"/>
                <a:gd name="connsiteY0" fmla="*/ 581889 h 581889"/>
                <a:gd name="connsiteX1" fmla="*/ 539532 w 1079064"/>
                <a:gd name="connsiteY1" fmla="*/ 0 h 581889"/>
                <a:gd name="connsiteX2" fmla="*/ 1079064 w 1079064"/>
                <a:gd name="connsiteY2" fmla="*/ 581889 h 581889"/>
                <a:gd name="connsiteX3" fmla="*/ 0 w 1079064"/>
                <a:gd name="connsiteY3" fmla="*/ 581889 h 581889"/>
                <a:gd name="connsiteX0" fmla="*/ 0 w 1079064"/>
                <a:gd name="connsiteY0" fmla="*/ 581889 h 591462"/>
                <a:gd name="connsiteX1" fmla="*/ 539532 w 1079064"/>
                <a:gd name="connsiteY1" fmla="*/ 0 h 591462"/>
                <a:gd name="connsiteX2" fmla="*/ 1079064 w 1079064"/>
                <a:gd name="connsiteY2" fmla="*/ 581889 h 591462"/>
                <a:gd name="connsiteX3" fmla="*/ 547347 w 1079064"/>
                <a:gd name="connsiteY3" fmla="*/ 591462 h 591462"/>
                <a:gd name="connsiteX4" fmla="*/ 0 w 1079064"/>
                <a:gd name="connsiteY4" fmla="*/ 581889 h 591462"/>
                <a:gd name="connsiteX0" fmla="*/ 547347 w 1079064"/>
                <a:gd name="connsiteY0" fmla="*/ 591462 h 682902"/>
                <a:gd name="connsiteX1" fmla="*/ 0 w 1079064"/>
                <a:gd name="connsiteY1" fmla="*/ 581889 h 682902"/>
                <a:gd name="connsiteX2" fmla="*/ 539532 w 1079064"/>
                <a:gd name="connsiteY2" fmla="*/ 0 h 682902"/>
                <a:gd name="connsiteX3" fmla="*/ 1079064 w 1079064"/>
                <a:gd name="connsiteY3" fmla="*/ 581889 h 682902"/>
                <a:gd name="connsiteX4" fmla="*/ 638787 w 1079064"/>
                <a:gd name="connsiteY4" fmla="*/ 682902 h 682902"/>
                <a:gd name="connsiteX0" fmla="*/ 547347 w 1079064"/>
                <a:gd name="connsiteY0" fmla="*/ 591462 h 591462"/>
                <a:gd name="connsiteX1" fmla="*/ 0 w 1079064"/>
                <a:gd name="connsiteY1" fmla="*/ 581889 h 591462"/>
                <a:gd name="connsiteX2" fmla="*/ 539532 w 1079064"/>
                <a:gd name="connsiteY2" fmla="*/ 0 h 591462"/>
                <a:gd name="connsiteX3" fmla="*/ 1079064 w 1079064"/>
                <a:gd name="connsiteY3" fmla="*/ 581889 h 591462"/>
                <a:gd name="connsiteX0" fmla="*/ 0 w 1079064"/>
                <a:gd name="connsiteY0" fmla="*/ 581889 h 581889"/>
                <a:gd name="connsiteX1" fmla="*/ 539532 w 1079064"/>
                <a:gd name="connsiteY1" fmla="*/ 0 h 581889"/>
                <a:gd name="connsiteX2" fmla="*/ 1079064 w 1079064"/>
                <a:gd name="connsiteY2" fmla="*/ 581889 h 581889"/>
              </a:gdLst>
              <a:ahLst/>
              <a:cxnLst>
                <a:cxn ang="0">
                  <a:pos x="connsiteX0" y="connsiteY0"/>
                </a:cxn>
                <a:cxn ang="0">
                  <a:pos x="connsiteX1" y="connsiteY1"/>
                </a:cxn>
                <a:cxn ang="0">
                  <a:pos x="connsiteX2" y="connsiteY2"/>
                </a:cxn>
              </a:cxnLst>
              <a:rect l="l" t="t" r="r" b="b"/>
              <a:pathLst>
                <a:path w="1079064" h="581889">
                  <a:moveTo>
                    <a:pt x="0" y="581889"/>
                  </a:moveTo>
                  <a:lnTo>
                    <a:pt x="539532" y="0"/>
                  </a:lnTo>
                  <a:lnTo>
                    <a:pt x="1079064" y="581889"/>
                  </a:lnTo>
                </a:path>
              </a:pathLst>
            </a:custGeom>
            <a:noFill/>
            <a:ln w="38100" cap="rnd" cmpd="sng" algn="ctr">
              <a:solidFill>
                <a:srgbClr val="CACED0"/>
              </a:solidFill>
              <a:prstDash val="solid"/>
              <a:round/>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cxnSp>
          <p:nvCxnSpPr>
            <p:cNvPr id="20" name="Straight Connector 19">
              <a:extLst>
                <a:ext uri="{FF2B5EF4-FFF2-40B4-BE49-F238E27FC236}">
                  <a16:creationId xmlns:a16="http://schemas.microsoft.com/office/drawing/2014/main" id="{3C3C654A-E676-7D37-DB32-1030926E441D}"/>
                </a:ext>
              </a:extLst>
            </p:cNvPr>
            <p:cNvCxnSpPr>
              <a:cxnSpLocks/>
            </p:cNvCxnSpPr>
            <p:nvPr/>
          </p:nvCxnSpPr>
          <p:spPr>
            <a:xfrm>
              <a:off x="6574658" y="1886186"/>
              <a:ext cx="309561" cy="0"/>
            </a:xfrm>
            <a:prstGeom prst="line">
              <a:avLst/>
            </a:prstGeom>
            <a:noFill/>
            <a:ln w="38100" cap="flat" cmpd="sng" algn="ctr">
              <a:solidFill>
                <a:srgbClr val="CACED0"/>
              </a:solidFill>
              <a:prstDash val="solid"/>
              <a:miter lim="800000"/>
            </a:ln>
            <a:effectLst/>
          </p:spPr>
        </p:cxnSp>
      </p:grpSp>
      <p:sp>
        <p:nvSpPr>
          <p:cNvPr id="21" name="Rounded Rectangle 69">
            <a:extLst>
              <a:ext uri="{FF2B5EF4-FFF2-40B4-BE49-F238E27FC236}">
                <a16:creationId xmlns:a16="http://schemas.microsoft.com/office/drawing/2014/main" id="{C1F0A8AD-BA84-09E3-7428-6A2B1D5C9D71}"/>
              </a:ext>
            </a:extLst>
          </p:cNvPr>
          <p:cNvSpPr>
            <a:spLocks/>
          </p:cNvSpPr>
          <p:nvPr/>
        </p:nvSpPr>
        <p:spPr>
          <a:xfrm>
            <a:off x="461491" y="1751161"/>
            <a:ext cx="5147733"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rPr>
              <a:t>Проспективное, рандомизированное, двойное слепое, плацебо-контролируемое исследование</a:t>
            </a:r>
            <a:endParaRPr kumimoji="0" lang="en-US" sz="1600" b="1" i="0" u="none" strike="noStrike" kern="0" cap="none" spc="0" normalizeH="0" baseline="0" noProof="0" dirty="0">
              <a:ln>
                <a:noFill/>
              </a:ln>
              <a:solidFill>
                <a:srgbClr val="00A3E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 ХОБЛ 40–85 лет, с умеренным ограничением воздушного потока и повышенным риском обострений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Лечение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метопролол пролонгированного высвобождения или плацебо</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Первичная конечная точка</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время до первого обострения ХОБЛ в период лечения(336–350 дней)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Число пациентов</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532 (51% от запланированного набора; досрочное прекращение из-за отсутствия эффективности и проблем безопасности)</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Результат по первичной конечной точке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статистически значимых различий между группами по медиане времени до первого обострения ХОБЛ не выявлено.</a:t>
            </a:r>
          </a:p>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Ключевой вывод</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При этом </a:t>
            </a:r>
            <a:r>
              <a:rPr kumimoji="0" lang="ru-RU" sz="1400" b="1" i="0" u="none" strike="noStrike" kern="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м</a:t>
            </a:r>
            <a:r>
              <a:rPr kumimoji="0" lang="ru-RU" sz="1400" b="1" i="0" u="none" strike="noStrike" kern="0" cap="none" spc="0" normalizeH="0" baseline="0" noProof="0" dirty="0" err="1">
                <a:ln>
                  <a:noFill/>
                </a:ln>
                <a:solidFill>
                  <a:srgbClr val="FF0000"/>
                </a:solidFill>
                <a:effectLst/>
                <a:uLnTx/>
                <a:uFillTx/>
                <a:latin typeface="Arial" panose="020B0604020202020204" pitchFamily="34" charset="0"/>
                <a:ea typeface="+mn-ea"/>
                <a:cs typeface="Arial" panose="020B0604020202020204" pitchFamily="34" charset="0"/>
              </a:rPr>
              <a:t>етопролол</a:t>
            </a:r>
            <a:r>
              <a:rPr kumimoji="0" lang="ru-RU" sz="1400" b="1" i="0" u="none" strike="noStrike" kern="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ассоциировался с почти двукратным риском развития обострений, приводящих к госпитализации (HR 1,91; 95% ДИ 1,29–2,83)</a:t>
            </a:r>
            <a:endParaRPr kumimoji="0" lang="en-US" sz="1400" b="1" i="0" u="none" strike="noStrike" kern="0" cap="none" spc="0" normalizeH="0" baseline="0" noProof="0" dirty="0">
              <a:ln>
                <a:noFill/>
              </a:ln>
              <a:solidFill>
                <a:srgbClr val="FF0000"/>
              </a:solidFill>
              <a:effectLst/>
              <a:uLnTx/>
              <a:uFillTx/>
              <a:latin typeface="Arial" panose="020B0604020202020204"/>
              <a:ea typeface="+mn-ea"/>
              <a:cs typeface="+mn-cs"/>
            </a:endParaRPr>
          </a:p>
        </p:txBody>
      </p:sp>
      <p:sp>
        <p:nvSpPr>
          <p:cNvPr id="22" name="Rounded Rectangle 69">
            <a:extLst>
              <a:ext uri="{FF2B5EF4-FFF2-40B4-BE49-F238E27FC236}">
                <a16:creationId xmlns:a16="http://schemas.microsoft.com/office/drawing/2014/main" id="{2BE4BD3B-EF2C-C7A6-0833-ED69A5AE291E}"/>
              </a:ext>
            </a:extLst>
          </p:cNvPr>
          <p:cNvSpPr>
            <a:spLocks/>
          </p:cNvSpPr>
          <p:nvPr/>
        </p:nvSpPr>
        <p:spPr>
          <a:xfrm>
            <a:off x="6565957" y="1751161"/>
            <a:ext cx="5147733" cy="4028293"/>
          </a:xfrm>
          <a:prstGeom prst="rect">
            <a:avLst/>
          </a:prstGeom>
          <a:noFill/>
          <a:ln w="12700" cap="flat" cmpd="sng" algn="ctr">
            <a:noFill/>
            <a:prstDash val="solid"/>
            <a:miter lim="800000"/>
          </a:ln>
          <a:effectLst/>
        </p:spPr>
        <p:txBody>
          <a:bodyPr rtlCol="0" anchor="t" anchorCtr="0"/>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rPr>
              <a:t>Проспективное, рандомизированное, плацебо-контролируемое исследование</a:t>
            </a:r>
            <a:endParaRPr kumimoji="0" lang="en-US" sz="1600" b="1" i="0" u="none" strike="noStrike" kern="0" cap="none" spc="0" normalizeH="0" baseline="0" noProof="0" dirty="0">
              <a:ln>
                <a:noFill/>
              </a:ln>
              <a:solidFill>
                <a:srgbClr val="005587"/>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Пациенты</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 ХОБЛ 40 лет и старше, с умеренным ограничением воздушного потока и повышенным риском обострений</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Лечение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0"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бисопролол</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или плацебо</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Первичная конечная точка</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сообщаемое пациентом число обострений ХОБЛ, требовавших назначения пероральных глюкокортикостероидов, антибиотиков или их комбинации, в течение 52 недель лечения</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Число пациентов</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 515 (33% от запланированного набора; низкий темп набора в связи с COVID-19)</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Результат по первичной конечной точке</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статистически значимых различий между группами по числу обострений ХОБЛ, сообщаемых пациентами, не выявлено. </a:t>
            </a:r>
          </a:p>
          <a:p>
            <a:pPr marL="0" marR="0" lvl="0" indent="0" algn="l" defTabSz="914400" rtl="0" eaLnBrk="1" fontAlgn="base" latinLnBrk="0" hangingPunct="1">
              <a:lnSpc>
                <a:spcPct val="100000"/>
              </a:lnSpc>
              <a:spcBef>
                <a:spcPts val="0"/>
              </a:spcBef>
              <a:spcAft>
                <a:spcPts val="600"/>
              </a:spcAft>
              <a:buClrTx/>
              <a:buSzTx/>
              <a:buFontTx/>
              <a:buNone/>
              <a:tabLst/>
              <a:defRPr/>
            </a:pPr>
            <a:r>
              <a:rPr kumimoji="0" lang="ru-RU" sz="14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Ключевой вывод</a:t>
            </a:r>
            <a:r>
              <a:rPr kumimoji="0" lang="ru-RU" sz="1400" b="0"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a:t>
            </a:r>
            <a:r>
              <a:rPr kumimoji="0" lang="ru-RU" sz="1400" b="1" i="0" u="none" strike="noStrike" kern="0" cap="none" spc="0" normalizeH="0" baseline="0" noProof="0" dirty="0" err="1">
                <a:ln>
                  <a:noFill/>
                </a:ln>
                <a:solidFill>
                  <a:srgbClr val="2B3A42"/>
                </a:solidFill>
                <a:effectLst/>
                <a:highlight>
                  <a:srgbClr val="00FF00"/>
                </a:highlight>
                <a:uLnTx/>
                <a:uFillTx/>
                <a:latin typeface="Arial" panose="020B0604020202020204" pitchFamily="34" charset="0"/>
                <a:ea typeface="+mn-ea"/>
                <a:cs typeface="Arial" panose="020B0604020202020204" pitchFamily="34" charset="0"/>
              </a:rPr>
              <a:t>Бисопролол</a:t>
            </a:r>
            <a:r>
              <a:rPr kumimoji="0" lang="ru-RU" sz="1400" b="1" i="0" u="none" strike="noStrike" kern="0" cap="none" spc="0" normalizeH="0" baseline="0" noProof="0" dirty="0">
                <a:ln>
                  <a:noFill/>
                </a:ln>
                <a:solidFill>
                  <a:srgbClr val="2B3A42"/>
                </a:solidFill>
                <a:effectLst/>
                <a:highlight>
                  <a:srgbClr val="00FF00"/>
                </a:highlight>
                <a:uLnTx/>
                <a:uFillTx/>
                <a:latin typeface="Arial" panose="020B0604020202020204" pitchFamily="34" charset="0"/>
                <a:ea typeface="+mn-ea"/>
                <a:cs typeface="Arial" panose="020B0604020202020204" pitchFamily="34" charset="0"/>
              </a:rPr>
              <a:t> не ассоциировался с увеличением частоты нежелательных реакций со стороны дыхательной системы</a:t>
            </a:r>
            <a:endParaRPr kumimoji="0" lang="en-US" sz="1400" b="1" i="0" u="none" strike="noStrike" kern="0" cap="none" spc="0" normalizeH="0" baseline="0" noProof="0" dirty="0">
              <a:ln>
                <a:noFill/>
              </a:ln>
              <a:solidFill>
                <a:srgbClr val="2B3A42"/>
              </a:solidFill>
              <a:effectLst/>
              <a:highlight>
                <a:srgbClr val="00FF00"/>
              </a:highlight>
              <a:uLnTx/>
              <a:uFillTx/>
              <a:latin typeface="Arial" panose="020B0604020202020204"/>
              <a:ea typeface="+mn-ea"/>
              <a:cs typeface="+mn-cs"/>
            </a:endParaRPr>
          </a:p>
        </p:txBody>
      </p:sp>
      <p:sp>
        <p:nvSpPr>
          <p:cNvPr id="23" name="Oval 22">
            <a:extLst>
              <a:ext uri="{FF2B5EF4-FFF2-40B4-BE49-F238E27FC236}">
                <a16:creationId xmlns:a16="http://schemas.microsoft.com/office/drawing/2014/main" id="{9894DB11-10DC-30F2-9F4B-8D0245DBD094}"/>
              </a:ext>
            </a:extLst>
          </p:cNvPr>
          <p:cNvSpPr/>
          <p:nvPr/>
        </p:nvSpPr>
        <p:spPr>
          <a:xfrm>
            <a:off x="11054967" y="1052370"/>
            <a:ext cx="668287" cy="667997"/>
          </a:xfrm>
          <a:prstGeom prst="ellipse">
            <a:avLst/>
          </a:prstGeom>
          <a:solidFill>
            <a:srgbClr val="FFFFFF"/>
          </a:solidFill>
          <a:ln w="12700" cap="rnd" cmpd="sng" algn="ctr">
            <a:solidFill>
              <a:srgbClr val="005587"/>
            </a:solidFill>
            <a:prstDash val="solid"/>
            <a:round/>
          </a:ln>
          <a:effectLst/>
        </p:spPr>
        <p:txBody>
          <a:bodyPr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0" cap="none" spc="0" normalizeH="0" baseline="0" noProof="0" dirty="0" err="1">
              <a:ln>
                <a:noFill/>
              </a:ln>
              <a:solidFill>
                <a:srgbClr val="FFFFFF"/>
              </a:solidFill>
              <a:effectLst/>
              <a:uLnTx/>
              <a:uFillTx/>
              <a:latin typeface="Arial"/>
              <a:ea typeface="+mn-ea"/>
              <a:cs typeface="+mn-cs"/>
            </a:endParaRPr>
          </a:p>
        </p:txBody>
      </p:sp>
      <p:pic>
        <p:nvPicPr>
          <p:cNvPr id="24" name="Graphic 23">
            <a:extLst>
              <a:ext uri="{FF2B5EF4-FFF2-40B4-BE49-F238E27FC236}">
                <a16:creationId xmlns:a16="http://schemas.microsoft.com/office/drawing/2014/main" id="{66C0C44B-DD09-4BC6-4397-1A38F5A5C5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29579" y="1127061"/>
            <a:ext cx="514469" cy="514469"/>
          </a:xfrm>
          <a:prstGeom prst="rect">
            <a:avLst/>
          </a:prstGeom>
        </p:spPr>
      </p:pic>
      <p:sp>
        <p:nvSpPr>
          <p:cNvPr id="25" name="Text Placeholder 1">
            <a:extLst>
              <a:ext uri="{FF2B5EF4-FFF2-40B4-BE49-F238E27FC236}">
                <a16:creationId xmlns:a16="http://schemas.microsoft.com/office/drawing/2014/main" id="{759DC719-A53A-FE06-864E-B81D7A38CD3A}"/>
              </a:ext>
            </a:extLst>
          </p:cNvPr>
          <p:cNvSpPr txBox="1">
            <a:spLocks/>
          </p:cNvSpPr>
          <p:nvPr/>
        </p:nvSpPr>
        <p:spPr>
          <a:xfrm>
            <a:off x="1112806" y="6316327"/>
            <a:ext cx="9746756" cy="2246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800" kern="1200">
                <a:solidFill>
                  <a:srgbClr val="E61E5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Dransfield MT, SP, et al. Metoprolol for the prevention of acute exacerbations of COPD. N Engl J Med. 2019;381(24):2304-2314.</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Devereux G, Cotton S, Nath M, et al. Bisoprolol in patients with chronic obstructive pulmonary disease at high risk of exacerbation: the BICS Randomized Clinical Trial. JAMA. 2024;332(6):462-470.</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700" b="0" i="0" u="none" strike="noStrike" kern="1200" cap="none" spc="0" normalizeH="0" baseline="0" noProof="0" dirty="0" err="1">
                <a:ln>
                  <a:noFill/>
                </a:ln>
                <a:solidFill>
                  <a:srgbClr val="2B3A42"/>
                </a:solidFill>
                <a:effectLst/>
                <a:uLnTx/>
                <a:uFillTx/>
                <a:latin typeface="Arial" panose="020B0604020202020204"/>
                <a:ea typeface="+mn-ea"/>
                <a:cs typeface="+mn-cs"/>
              </a:rPr>
              <a:t>Lipworth</a:t>
            </a: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 BJ, Devereux G. Use of β-Blockers in COPD: The Long and Winding Road. Chest. 2025 Jan;167(1):37-39. </a:t>
            </a:r>
            <a:r>
              <a:rPr kumimoji="0" lang="en-US" sz="700" b="0" i="0" u="none" strike="noStrike" kern="1200" cap="none" spc="0" normalizeH="0" baseline="0" noProof="0" dirty="0" err="1">
                <a:ln>
                  <a:noFill/>
                </a:ln>
                <a:solidFill>
                  <a:srgbClr val="2B3A42"/>
                </a:solidFill>
                <a:effectLst/>
                <a:uLnTx/>
                <a:uFillTx/>
                <a:latin typeface="Arial" panose="020B0604020202020204"/>
                <a:ea typeface="+mn-ea"/>
                <a:cs typeface="+mn-cs"/>
              </a:rPr>
              <a:t>doi</a:t>
            </a:r>
            <a:r>
              <a:rPr kumimoji="0" lang="en-US" sz="700" b="0" i="0" u="none" strike="noStrike" kern="1200" cap="none" spc="0" normalizeH="0" baseline="0" noProof="0" dirty="0">
                <a:ln>
                  <a:noFill/>
                </a:ln>
                <a:solidFill>
                  <a:srgbClr val="2B3A42"/>
                </a:solidFill>
                <a:effectLst/>
                <a:uLnTx/>
                <a:uFillTx/>
                <a:latin typeface="Arial" panose="020B0604020202020204"/>
                <a:ea typeface="+mn-ea"/>
                <a:cs typeface="+mn-cs"/>
              </a:rPr>
              <a:t>: 10.1016/j.chest.2024.07.163. Voelker H, Bhatt </a:t>
            </a:r>
          </a:p>
        </p:txBody>
      </p:sp>
    </p:spTree>
    <p:extLst>
      <p:ext uri="{BB962C8B-B14F-4D97-AF65-F5344CB8AC3E}">
        <p14:creationId xmlns:p14="http://schemas.microsoft.com/office/powerpoint/2010/main" val="2763822162"/>
      </p:ext>
    </p:extLst>
  </p:cSld>
  <p:clrMapOvr>
    <a:masterClrMapping/>
  </p:clrMapOvr>
  <mc:AlternateContent xmlns:mc="http://schemas.openxmlformats.org/markup-compatibility/2006" xmlns:p14="http://schemas.microsoft.com/office/powerpoint/2010/main">
    <mc:Choice Requires="p14">
      <p:transition spd="slow" p14:dur="2000" advTm="118345"/>
    </mc:Choice>
    <mc:Fallback xmlns="">
      <p:transition spd="slow" advTm="118345"/>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E96189-526A-8D02-F5C0-3F57AC9CE25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05DA353-F16A-46E9-BF3A-5C7883ED105A}" type="slidenum">
              <a:rPr kumimoji="0" lang="ru-RU" sz="800" b="0" i="0" u="none" strike="noStrike" kern="1200" cap="none" spc="0" normalizeH="0" baseline="0" noProof="0" smtClean="0">
                <a:ln>
                  <a:noFill/>
                </a:ln>
                <a:solidFill>
                  <a:srgbClr val="265374">
                    <a:tint val="75000"/>
                  </a:srgbClr>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ru-RU" sz="800" b="0" i="0" u="none" strike="noStrike" kern="1200" cap="none" spc="0" normalizeH="0" baseline="0" noProof="0" dirty="0">
              <a:ln>
                <a:noFill/>
              </a:ln>
              <a:solidFill>
                <a:srgbClr val="265374">
                  <a:tint val="75000"/>
                </a:srgbClr>
              </a:solidFill>
              <a:effectLst/>
              <a:uLnTx/>
              <a:uFillTx/>
              <a:latin typeface="Verdana"/>
              <a:ea typeface="+mn-ea"/>
              <a:cs typeface="+mn-cs"/>
            </a:endParaRPr>
          </a:p>
        </p:txBody>
      </p:sp>
      <p:sp>
        <p:nvSpPr>
          <p:cNvPr id="3" name="TextBox 2">
            <a:extLst>
              <a:ext uri="{FF2B5EF4-FFF2-40B4-BE49-F238E27FC236}">
                <a16:creationId xmlns:a16="http://schemas.microsoft.com/office/drawing/2014/main" id="{31A2D43C-1975-45C0-D6F2-97BE031AEC40}"/>
              </a:ext>
            </a:extLst>
          </p:cNvPr>
          <p:cNvSpPr txBox="1"/>
          <p:nvPr/>
        </p:nvSpPr>
        <p:spPr>
          <a:xfrm>
            <a:off x="88202" y="2441279"/>
            <a:ext cx="5193638" cy="255454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srgbClr val="265374"/>
                </a:solidFill>
                <a:effectLst/>
                <a:uLnTx/>
                <a:uFillTx/>
                <a:latin typeface="Verdana"/>
                <a:ea typeface="+mn-ea"/>
                <a:cs typeface="+mn-cs"/>
              </a:rPr>
              <a:t>280 пациентов с ХОБЛ средне-тяжёлой и тяжёлой степени</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err="1">
                <a:ln>
                  <a:noFill/>
                </a:ln>
                <a:solidFill>
                  <a:srgbClr val="265374"/>
                </a:solidFill>
                <a:effectLst/>
                <a:uLnTx/>
                <a:uFillTx/>
                <a:latin typeface="Verdana"/>
                <a:ea typeface="+mn-ea"/>
                <a:cs typeface="+mn-cs"/>
              </a:rPr>
              <a:t>Бисопролол</a:t>
            </a:r>
            <a:r>
              <a:rPr kumimoji="0" lang="ru-RU" sz="1400" b="0" i="0" u="none" strike="noStrike" kern="1200" cap="none" spc="0" normalizeH="0" baseline="0" noProof="0" dirty="0">
                <a:ln>
                  <a:noFill/>
                </a:ln>
                <a:solidFill>
                  <a:srgbClr val="265374"/>
                </a:solidFill>
                <a:effectLst/>
                <a:uLnTx/>
                <a:uFillTx/>
                <a:latin typeface="Verdana"/>
                <a:ea typeface="+mn-ea"/>
                <a:cs typeface="+mn-cs"/>
              </a:rPr>
              <a:t> 1,25–5 мг/</a:t>
            </a:r>
            <a:r>
              <a:rPr kumimoji="0" lang="ru-RU" sz="1400" b="0" i="0" u="none" strike="noStrike" kern="1200" cap="none" spc="0" normalizeH="0" baseline="0" noProof="0" dirty="0" err="1">
                <a:ln>
                  <a:noFill/>
                </a:ln>
                <a:solidFill>
                  <a:srgbClr val="265374"/>
                </a:solidFill>
                <a:effectLst/>
                <a:uLnTx/>
                <a:uFillTx/>
                <a:latin typeface="Verdana"/>
                <a:ea typeface="+mn-ea"/>
                <a:cs typeface="+mn-cs"/>
              </a:rPr>
              <a:t>сут</a:t>
            </a:r>
            <a:r>
              <a:rPr kumimoji="0" lang="ru-RU" sz="1400" b="0" i="0" u="none" strike="noStrike" kern="1200" cap="none" spc="0" normalizeH="0" baseline="0" noProof="0" dirty="0">
                <a:ln>
                  <a:noFill/>
                </a:ln>
                <a:solidFill>
                  <a:srgbClr val="265374"/>
                </a:solidFill>
                <a:effectLst/>
                <a:uLnTx/>
                <a:uFillTx/>
                <a:latin typeface="Verdana"/>
                <a:ea typeface="+mn-ea"/>
                <a:cs typeface="+mn-cs"/>
              </a:rPr>
              <a:t> </a:t>
            </a:r>
            <a:r>
              <a:rPr kumimoji="0" lang="ru-RU" sz="1400" b="0" i="0" u="none" strike="noStrike" kern="1200" cap="none" spc="0" normalizeH="0" baseline="0" noProof="0" dirty="0" err="1">
                <a:ln>
                  <a:noFill/>
                </a:ln>
                <a:solidFill>
                  <a:srgbClr val="265374"/>
                </a:solidFill>
                <a:effectLst/>
                <a:uLnTx/>
                <a:uFillTx/>
                <a:latin typeface="Verdana"/>
                <a:ea typeface="+mn-ea"/>
                <a:cs typeface="+mn-cs"/>
              </a:rPr>
              <a:t>vs</a:t>
            </a:r>
            <a:r>
              <a:rPr kumimoji="0" lang="ru-RU" sz="1400" b="0" i="0" u="none" strike="noStrike" kern="1200" cap="none" spc="0" normalizeH="0" baseline="0" noProof="0" dirty="0">
                <a:ln>
                  <a:noFill/>
                </a:ln>
                <a:solidFill>
                  <a:srgbClr val="265374"/>
                </a:solidFill>
                <a:effectLst/>
                <a:uLnTx/>
                <a:uFillTx/>
                <a:latin typeface="Verdana"/>
                <a:ea typeface="+mn-ea"/>
                <a:cs typeface="+mn-cs"/>
              </a:rPr>
              <a:t> плацебо</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srgbClr val="265374"/>
                </a:solidFill>
                <a:effectLst/>
                <a:uLnTx/>
                <a:uFillTx/>
                <a:latin typeface="Verdana"/>
                <a:ea typeface="+mn-ea"/>
                <a:cs typeface="+mn-cs"/>
              </a:rPr>
              <a:t>24 месяца наблюдения, 22 центра</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srgbClr val="265374"/>
                </a:solidFill>
                <a:effectLst/>
                <a:uLnTx/>
                <a:uFillTx/>
                <a:latin typeface="Verdana"/>
                <a:ea typeface="+mn-ea"/>
                <a:cs typeface="+mn-cs"/>
              </a:rPr>
              <a:t>Включены пациенты с СС-показаниями: </a:t>
            </a:r>
          </a:p>
          <a:p>
            <a:pPr marL="266700" marR="0" lvl="0" indent="0" algn="l" defTabSz="914400" rtl="0" eaLnBrk="1" fontAlgn="auto" latinLnBrk="0" hangingPunct="1">
              <a:lnSpc>
                <a:spcPct val="100000"/>
              </a:lnSpc>
              <a:spcBef>
                <a:spcPts val="0"/>
              </a:spcBef>
              <a:spcAft>
                <a:spcPts val="600"/>
              </a:spcAft>
              <a:buClrTx/>
              <a:buSzTx/>
              <a:buFontTx/>
              <a:buNone/>
              <a:tabLst/>
              <a:defRPr/>
            </a:pPr>
            <a:r>
              <a:rPr kumimoji="0" lang="ru-RU" sz="1400" b="0" i="0" u="none" strike="noStrike" kern="1200" cap="none" spc="0" normalizeH="0" baseline="0" noProof="0" dirty="0">
                <a:ln>
                  <a:noFill/>
                </a:ln>
                <a:solidFill>
                  <a:srgbClr val="265374"/>
                </a:solidFill>
                <a:effectLst/>
                <a:uLnTx/>
                <a:uFillTx/>
                <a:latin typeface="Verdana"/>
                <a:ea typeface="+mn-ea"/>
                <a:cs typeface="+mn-cs"/>
              </a:rPr>
              <a:t>37% — АГ, 11% — ИБС, 6% — ХСН</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ru-RU" sz="1400" b="0" i="0" u="none" strike="noStrike" kern="1200" cap="none" spc="0" normalizeH="0" baseline="0" noProof="0" dirty="0">
                <a:ln>
                  <a:noFill/>
                </a:ln>
                <a:solidFill>
                  <a:srgbClr val="265374"/>
                </a:solidFill>
                <a:effectLst/>
                <a:uLnTx/>
                <a:uFillTx/>
                <a:latin typeface="Verdana"/>
                <a:ea typeface="+mn-ea"/>
                <a:cs typeface="+mn-cs"/>
              </a:rPr>
              <a:t>Первичная конечная точка: иерархический комбинированный исход (</a:t>
            </a:r>
            <a:r>
              <a:rPr kumimoji="0" lang="ru-RU" sz="1400" b="0" i="0" u="none" strike="noStrike" kern="1200" cap="none" spc="0" normalizeH="0" baseline="0" noProof="0" dirty="0" err="1">
                <a:ln>
                  <a:noFill/>
                </a:ln>
                <a:solidFill>
                  <a:srgbClr val="265374"/>
                </a:solidFill>
                <a:effectLst/>
                <a:uLnTx/>
                <a:uFillTx/>
                <a:latin typeface="Verdana"/>
                <a:ea typeface="+mn-ea"/>
                <a:cs typeface="+mn-cs"/>
              </a:rPr>
              <a:t>win</a:t>
            </a:r>
            <a:r>
              <a:rPr kumimoji="0" lang="ru-RU" sz="1400" b="0" i="0" u="none" strike="noStrike" kern="1200" cap="none" spc="0" normalizeH="0" baseline="0" noProof="0" dirty="0">
                <a:ln>
                  <a:noFill/>
                </a:ln>
                <a:solidFill>
                  <a:srgbClr val="265374"/>
                </a:solidFill>
                <a:effectLst/>
                <a:uLnTx/>
                <a:uFillTx/>
                <a:latin typeface="Verdana"/>
                <a:ea typeface="+mn-ea"/>
                <a:cs typeface="+mn-cs"/>
              </a:rPr>
              <a:t> </a:t>
            </a:r>
            <a:r>
              <a:rPr kumimoji="0" lang="ru-RU" sz="1400" b="0" i="0" u="none" strike="noStrike" kern="1200" cap="none" spc="0" normalizeH="0" baseline="0" noProof="0" dirty="0" err="1">
                <a:ln>
                  <a:noFill/>
                </a:ln>
                <a:solidFill>
                  <a:srgbClr val="265374"/>
                </a:solidFill>
                <a:effectLst/>
                <a:uLnTx/>
                <a:uFillTx/>
                <a:latin typeface="Verdana"/>
                <a:ea typeface="+mn-ea"/>
                <a:cs typeface="+mn-cs"/>
              </a:rPr>
              <a:t>ratio</a:t>
            </a:r>
            <a:r>
              <a:rPr kumimoji="0" lang="ru-RU" sz="1400" b="0" i="0" u="none" strike="noStrike" kern="1200" cap="none" spc="0" normalizeH="0" baseline="0" noProof="0" dirty="0">
                <a:ln>
                  <a:noFill/>
                </a:ln>
                <a:solidFill>
                  <a:srgbClr val="265374"/>
                </a:solidFill>
                <a:effectLst/>
                <a:uLnTx/>
                <a:uFillTx/>
                <a:latin typeface="Verdana"/>
                <a:ea typeface="+mn-ea"/>
                <a:cs typeface="+mn-cs"/>
              </a:rPr>
              <a:t>): смертность, госпитализации, обострения ХОБЛ, качество жизни, ОФВ₁</a:t>
            </a:r>
          </a:p>
        </p:txBody>
      </p:sp>
      <p:sp>
        <p:nvSpPr>
          <p:cNvPr id="4" name="TextBox 3">
            <a:extLst>
              <a:ext uri="{FF2B5EF4-FFF2-40B4-BE49-F238E27FC236}">
                <a16:creationId xmlns:a16="http://schemas.microsoft.com/office/drawing/2014/main" id="{FE2BA0A6-367C-7959-D55B-0170B9FF9DFB}"/>
              </a:ext>
            </a:extLst>
          </p:cNvPr>
          <p:cNvSpPr txBox="1"/>
          <p:nvPr/>
        </p:nvSpPr>
        <p:spPr>
          <a:xfrm>
            <a:off x="5116738" y="2186766"/>
            <a:ext cx="701109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err="1">
                <a:ln>
                  <a:noFill/>
                </a:ln>
                <a:solidFill>
                  <a:srgbClr val="265374"/>
                </a:solidFill>
                <a:effectLst/>
                <a:uLnTx/>
                <a:uFillTx/>
                <a:latin typeface="Verdana"/>
                <a:ea typeface="+mn-ea"/>
                <a:cs typeface="+mn-cs"/>
              </a:rPr>
              <a:t>Win</a:t>
            </a:r>
            <a:r>
              <a:rPr kumimoji="0" lang="ru-RU" sz="1400" b="1" i="0" u="none" strike="noStrike" kern="1200" cap="none" spc="0" normalizeH="0" baseline="0" noProof="0" dirty="0">
                <a:ln>
                  <a:noFill/>
                </a:ln>
                <a:solidFill>
                  <a:srgbClr val="265374"/>
                </a:solidFill>
                <a:effectLst/>
                <a:uLnTx/>
                <a:uFillTx/>
                <a:latin typeface="Verdana"/>
                <a:ea typeface="+mn-ea"/>
                <a:cs typeface="+mn-cs"/>
              </a:rPr>
              <a:t> </a:t>
            </a:r>
            <a:r>
              <a:rPr kumimoji="0" lang="ru-RU" sz="1400" b="1" i="0" u="none" strike="noStrike" kern="1200" cap="none" spc="0" normalizeH="0" baseline="0" noProof="0" dirty="0" err="1">
                <a:ln>
                  <a:noFill/>
                </a:ln>
                <a:solidFill>
                  <a:srgbClr val="265374"/>
                </a:solidFill>
                <a:effectLst/>
                <a:uLnTx/>
                <a:uFillTx/>
                <a:latin typeface="Verdana"/>
                <a:ea typeface="+mn-ea"/>
                <a:cs typeface="+mn-cs"/>
              </a:rPr>
              <a:t>ratio</a:t>
            </a:r>
            <a:r>
              <a:rPr kumimoji="0" lang="ru-RU" sz="1400" b="1" i="0" u="none" strike="noStrike" kern="1200" cap="none" spc="0" normalizeH="0" baseline="0" noProof="0" dirty="0">
                <a:ln>
                  <a:noFill/>
                </a:ln>
                <a:solidFill>
                  <a:srgbClr val="265374"/>
                </a:solidFill>
                <a:effectLst/>
                <a:uLnTx/>
                <a:uFillTx/>
                <a:latin typeface="Verdana"/>
                <a:ea typeface="+mn-ea"/>
                <a:cs typeface="+mn-cs"/>
              </a:rPr>
              <a:t> 0,95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265374"/>
                </a:solidFill>
                <a:effectLst/>
                <a:uLnTx/>
                <a:uFillTx/>
                <a:latin typeface="Verdana"/>
                <a:ea typeface="+mn-ea"/>
                <a:cs typeface="+mn-cs"/>
              </a:rPr>
              <a:t>(95% ДИ 0,72–1,25; p=0,72)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400" b="1" i="0" u="sng" strike="noStrike" kern="1200" cap="none" spc="0" normalizeH="0" baseline="0" noProof="0" dirty="0">
                <a:ln>
                  <a:noFill/>
                </a:ln>
                <a:solidFill>
                  <a:srgbClr val="265374"/>
                </a:solidFill>
                <a:effectLst/>
                <a:uLnTx/>
                <a:uFillTx/>
                <a:latin typeface="Verdana"/>
                <a:ea typeface="+mn-ea"/>
                <a:cs typeface="+mn-cs"/>
              </a:rPr>
              <a:t>Нет различий с плацебо по комбинированной первичной точке</a:t>
            </a:r>
          </a:p>
        </p:txBody>
      </p:sp>
      <p:graphicFrame>
        <p:nvGraphicFramePr>
          <p:cNvPr id="5" name="Table 4">
            <a:extLst>
              <a:ext uri="{FF2B5EF4-FFF2-40B4-BE49-F238E27FC236}">
                <a16:creationId xmlns:a16="http://schemas.microsoft.com/office/drawing/2014/main" id="{A2D90AF0-3402-CACD-43F9-D3FAFDB0189B}"/>
              </a:ext>
            </a:extLst>
          </p:cNvPr>
          <p:cNvGraphicFramePr>
            <a:graphicFrameLocks noGrp="1"/>
          </p:cNvGraphicFramePr>
          <p:nvPr/>
        </p:nvGraphicFramePr>
        <p:xfrm>
          <a:off x="5562287" y="3038439"/>
          <a:ext cx="6120000" cy="2296160"/>
        </p:xfrm>
        <a:graphic>
          <a:graphicData uri="http://schemas.openxmlformats.org/drawingml/2006/table">
            <a:tbl>
              <a:tblPr firstRow="1" bandRow="1">
                <a:tableStyleId>{5C22544A-7EE6-4342-B048-85BDC9FD1C3A}</a:tableStyleId>
              </a:tblPr>
              <a:tblGrid>
                <a:gridCol w="2040000">
                  <a:extLst>
                    <a:ext uri="{9D8B030D-6E8A-4147-A177-3AD203B41FA5}">
                      <a16:colId xmlns:a16="http://schemas.microsoft.com/office/drawing/2014/main" val="3402371116"/>
                    </a:ext>
                  </a:extLst>
                </a:gridCol>
                <a:gridCol w="2040000">
                  <a:extLst>
                    <a:ext uri="{9D8B030D-6E8A-4147-A177-3AD203B41FA5}">
                      <a16:colId xmlns:a16="http://schemas.microsoft.com/office/drawing/2014/main" val="2207859387"/>
                    </a:ext>
                  </a:extLst>
                </a:gridCol>
                <a:gridCol w="2040000">
                  <a:extLst>
                    <a:ext uri="{9D8B030D-6E8A-4147-A177-3AD203B41FA5}">
                      <a16:colId xmlns:a16="http://schemas.microsoft.com/office/drawing/2014/main" val="3240944746"/>
                    </a:ext>
                  </a:extLst>
                </a:gridCol>
              </a:tblGrid>
              <a:tr h="370840">
                <a:tc>
                  <a:txBody>
                    <a:bodyPr/>
                    <a:lstStyle/>
                    <a:p>
                      <a:pPr algn="ctr"/>
                      <a:r>
                        <a:rPr lang="ru-RU" sz="1400" dirty="0">
                          <a:solidFill>
                            <a:schemeClr val="tx1"/>
                          </a:solidFill>
                        </a:rPr>
                        <a:t>Показатель</a:t>
                      </a:r>
                    </a:p>
                  </a:txBody>
                  <a:tcPr/>
                </a:tc>
                <a:tc>
                  <a:txBody>
                    <a:bodyPr/>
                    <a:lstStyle/>
                    <a:p>
                      <a:pPr algn="ctr"/>
                      <a:r>
                        <a:rPr lang="ru-RU" sz="1400" dirty="0" err="1">
                          <a:solidFill>
                            <a:schemeClr val="tx1"/>
                          </a:solidFill>
                        </a:rPr>
                        <a:t>Бисопролол</a:t>
                      </a:r>
                      <a:endParaRPr lang="ru-RU" sz="1400" dirty="0">
                        <a:solidFill>
                          <a:schemeClr val="tx1"/>
                        </a:solidFill>
                      </a:endParaRPr>
                    </a:p>
                  </a:txBody>
                  <a:tcPr/>
                </a:tc>
                <a:tc>
                  <a:txBody>
                    <a:bodyPr/>
                    <a:lstStyle/>
                    <a:p>
                      <a:pPr algn="ctr"/>
                      <a:r>
                        <a:rPr lang="ru-RU" sz="1400" dirty="0">
                          <a:solidFill>
                            <a:schemeClr val="tx1"/>
                          </a:solidFill>
                        </a:rPr>
                        <a:t>Плацебо</a:t>
                      </a:r>
                    </a:p>
                  </a:txBody>
                  <a:tcPr/>
                </a:tc>
                <a:extLst>
                  <a:ext uri="{0D108BD9-81ED-4DB2-BD59-A6C34878D82A}">
                    <a16:rowId xmlns:a16="http://schemas.microsoft.com/office/drawing/2014/main" val="3154292219"/>
                  </a:ext>
                </a:extLst>
              </a:tr>
              <a:tr h="370840">
                <a:tc>
                  <a:txBody>
                    <a:bodyPr/>
                    <a:lstStyle/>
                    <a:p>
                      <a:r>
                        <a:rPr lang="ru-RU" sz="1400" dirty="0"/>
                        <a:t>Смертность</a:t>
                      </a:r>
                      <a:r>
                        <a:rPr lang="en-US" sz="1400" dirty="0"/>
                        <a:t>*</a:t>
                      </a:r>
                      <a:endParaRPr lang="ru-RU" sz="1400" dirty="0"/>
                    </a:p>
                  </a:txBody>
                  <a:tcPr/>
                </a:tc>
                <a:tc>
                  <a:txBody>
                    <a:bodyPr/>
                    <a:lstStyle/>
                    <a:p>
                      <a:pPr algn="ctr"/>
                      <a:r>
                        <a:rPr lang="ru-RU" sz="1400" dirty="0"/>
                        <a:t>10%</a:t>
                      </a:r>
                    </a:p>
                  </a:txBody>
                  <a:tcPr/>
                </a:tc>
                <a:tc>
                  <a:txBody>
                    <a:bodyPr/>
                    <a:lstStyle/>
                    <a:p>
                      <a:pPr algn="ctr"/>
                      <a:r>
                        <a:rPr lang="ru-RU" sz="1400" dirty="0"/>
                        <a:t>8%</a:t>
                      </a:r>
                    </a:p>
                  </a:txBody>
                  <a:tcPr/>
                </a:tc>
                <a:extLst>
                  <a:ext uri="{0D108BD9-81ED-4DB2-BD59-A6C34878D82A}">
                    <a16:rowId xmlns:a16="http://schemas.microsoft.com/office/drawing/2014/main" val="9776870"/>
                  </a:ext>
                </a:extLst>
              </a:tr>
              <a:tr h="370840">
                <a:tc>
                  <a:txBody>
                    <a:bodyPr/>
                    <a:lstStyle/>
                    <a:p>
                      <a:r>
                        <a:rPr lang="ru-RU" sz="1400" dirty="0"/>
                        <a:t>Обострения ХОБЛ/год</a:t>
                      </a:r>
                    </a:p>
                  </a:txBody>
                  <a:tcPr/>
                </a:tc>
                <a:tc>
                  <a:txBody>
                    <a:bodyPr/>
                    <a:lstStyle/>
                    <a:p>
                      <a:pPr algn="ctr"/>
                      <a:r>
                        <a:rPr lang="ru-RU" sz="1400" dirty="0"/>
                        <a:t>0,89</a:t>
                      </a:r>
                    </a:p>
                  </a:txBody>
                  <a:tcPr/>
                </a:tc>
                <a:tc>
                  <a:txBody>
                    <a:bodyPr/>
                    <a:lstStyle/>
                    <a:p>
                      <a:pPr algn="ctr"/>
                      <a:r>
                        <a:rPr lang="ru-RU" sz="1400" dirty="0"/>
                        <a:t>0,95</a:t>
                      </a:r>
                    </a:p>
                  </a:txBody>
                  <a:tcPr/>
                </a:tc>
                <a:extLst>
                  <a:ext uri="{0D108BD9-81ED-4DB2-BD59-A6C34878D82A}">
                    <a16:rowId xmlns:a16="http://schemas.microsoft.com/office/drawing/2014/main" val="1110626047"/>
                  </a:ext>
                </a:extLst>
              </a:tr>
              <a:tr h="370840">
                <a:tc>
                  <a:txBody>
                    <a:bodyPr/>
                    <a:lstStyle/>
                    <a:p>
                      <a:r>
                        <a:rPr lang="ru-RU" sz="1400" dirty="0"/>
                        <a:t>ОФВ₁ от должного на 24 месяце</a:t>
                      </a:r>
                    </a:p>
                  </a:txBody>
                  <a:tcPr/>
                </a:tc>
                <a:tc>
                  <a:txBody>
                    <a:bodyPr/>
                    <a:lstStyle/>
                    <a:p>
                      <a:pPr algn="ctr"/>
                      <a:r>
                        <a:rPr lang="ru-RU" sz="1400" dirty="0"/>
                        <a:t>45,1%</a:t>
                      </a:r>
                    </a:p>
                  </a:txBody>
                  <a:tcPr/>
                </a:tc>
                <a:tc>
                  <a:txBody>
                    <a:bodyPr/>
                    <a:lstStyle/>
                    <a:p>
                      <a:pPr algn="ctr"/>
                      <a:r>
                        <a:rPr lang="ru-RU" sz="1400" dirty="0"/>
                        <a:t>46,5%</a:t>
                      </a:r>
                    </a:p>
                  </a:txBody>
                  <a:tcPr/>
                </a:tc>
                <a:extLst>
                  <a:ext uri="{0D108BD9-81ED-4DB2-BD59-A6C34878D82A}">
                    <a16:rowId xmlns:a16="http://schemas.microsoft.com/office/drawing/2014/main" val="1237909471"/>
                  </a:ext>
                </a:extLst>
              </a:tr>
              <a:tr h="370840">
                <a:tc>
                  <a:txBody>
                    <a:bodyPr/>
                    <a:lstStyle/>
                    <a:p>
                      <a:r>
                        <a:rPr lang="en-US" sz="1400" dirty="0"/>
                        <a:t>MACE</a:t>
                      </a:r>
                      <a:endParaRPr lang="ru-RU" sz="1400" dirty="0"/>
                    </a:p>
                  </a:txBody>
                  <a:tcPr/>
                </a:tc>
                <a:tc gridSpan="2">
                  <a:txBody>
                    <a:bodyPr/>
                    <a:lstStyle/>
                    <a:p>
                      <a:pPr algn="ctr"/>
                      <a:r>
                        <a:rPr lang="ru-RU" sz="1400" dirty="0"/>
                        <a:t>17 (6%) участников — без различий между группами</a:t>
                      </a:r>
                    </a:p>
                  </a:txBody>
                  <a:tcPr/>
                </a:tc>
                <a:tc hMerge="1">
                  <a:txBody>
                    <a:bodyPr/>
                    <a:lstStyle/>
                    <a:p>
                      <a:endParaRPr lang="ru-RU" dirty="0"/>
                    </a:p>
                  </a:txBody>
                  <a:tcPr/>
                </a:tc>
                <a:extLst>
                  <a:ext uri="{0D108BD9-81ED-4DB2-BD59-A6C34878D82A}">
                    <a16:rowId xmlns:a16="http://schemas.microsoft.com/office/drawing/2014/main" val="279265546"/>
                  </a:ext>
                </a:extLst>
              </a:tr>
            </a:tbl>
          </a:graphicData>
        </a:graphic>
      </p:graphicFrame>
      <p:sp>
        <p:nvSpPr>
          <p:cNvPr id="6" name="Google Shape;491;p8">
            <a:extLst>
              <a:ext uri="{FF2B5EF4-FFF2-40B4-BE49-F238E27FC236}">
                <a16:creationId xmlns:a16="http://schemas.microsoft.com/office/drawing/2014/main" id="{7D947C3D-A2B0-41AE-F260-A8C528F0AA29}"/>
              </a:ext>
            </a:extLst>
          </p:cNvPr>
          <p:cNvSpPr txBox="1"/>
          <p:nvPr/>
        </p:nvSpPr>
        <p:spPr>
          <a:xfrm>
            <a:off x="281939" y="358093"/>
            <a:ext cx="10954800" cy="15696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Tx/>
              <a:buNone/>
              <a:tabLst/>
              <a:defRPr/>
            </a:pPr>
            <a:r>
              <a:rPr kumimoji="0" lang="ru-RU" sz="2800" b="1" i="0" u="none" strike="noStrike" kern="1200" cap="none" spc="0" normalizeH="0" baseline="0" noProof="0" dirty="0">
                <a:ln>
                  <a:noFill/>
                </a:ln>
                <a:solidFill>
                  <a:srgbClr val="503291"/>
                </a:solidFill>
                <a:effectLst/>
                <a:uLnTx/>
                <a:uFillTx/>
                <a:latin typeface="Verdana"/>
                <a:ea typeface="Verdana"/>
                <a:cs typeface="Verdana"/>
                <a:sym typeface="Verdana"/>
              </a:rPr>
              <a:t>Исследование PACE (2026): </a:t>
            </a:r>
            <a:r>
              <a:rPr kumimoji="0" lang="ru-RU" sz="2800" b="1" i="0" u="none" strike="noStrike" kern="1200" cap="none" spc="0" normalizeH="0" baseline="0" noProof="0" dirty="0" err="1">
                <a:ln>
                  <a:noFill/>
                </a:ln>
                <a:solidFill>
                  <a:srgbClr val="503291"/>
                </a:solidFill>
                <a:effectLst/>
                <a:uLnTx/>
                <a:uFillTx/>
                <a:latin typeface="Verdana"/>
                <a:ea typeface="Verdana"/>
                <a:cs typeface="Verdana"/>
                <a:sym typeface="Verdana"/>
              </a:rPr>
              <a:t>бисопролол</a:t>
            </a:r>
            <a:r>
              <a:rPr kumimoji="0" lang="ru-RU" sz="2800" b="1" i="0" u="none" strike="noStrike" kern="1200" cap="none" spc="0" normalizeH="0" baseline="0" noProof="0" dirty="0">
                <a:ln>
                  <a:noFill/>
                </a:ln>
                <a:solidFill>
                  <a:srgbClr val="503291"/>
                </a:solidFill>
                <a:effectLst/>
                <a:uLnTx/>
                <a:uFillTx/>
                <a:latin typeface="Verdana"/>
                <a:ea typeface="Verdana"/>
                <a:cs typeface="Verdana"/>
                <a:sym typeface="Verdana"/>
              </a:rPr>
              <a:t> безопасен у пациентов с ХОБЛ </a:t>
            </a:r>
          </a:p>
          <a:p>
            <a:pPr marL="0" marR="0" lvl="0" indent="0" algn="l" defTabSz="914400" rtl="0" eaLnBrk="1" fontAlgn="auto" latinLnBrk="0" hangingPunct="1">
              <a:lnSpc>
                <a:spcPct val="100000"/>
              </a:lnSpc>
              <a:spcBef>
                <a:spcPts val="0"/>
              </a:spcBef>
              <a:spcAft>
                <a:spcPts val="0"/>
              </a:spcAft>
              <a:buClr>
                <a:srgbClr val="000000"/>
              </a:buClr>
              <a:buSzPts val="2800"/>
              <a:buFontTx/>
              <a:buNone/>
              <a:tabLst/>
              <a:defRPr/>
            </a:pPr>
            <a:r>
              <a:rPr kumimoji="0" lang="ru-RU" sz="2000" b="1" i="0" u="none" strike="noStrike" kern="1200" cap="none" spc="0" normalizeH="0" baseline="0" noProof="0" dirty="0">
                <a:ln>
                  <a:noFill/>
                </a:ln>
                <a:solidFill>
                  <a:srgbClr val="E61E50"/>
                </a:solidFill>
                <a:effectLst/>
                <a:uLnTx/>
                <a:uFillTx/>
                <a:latin typeface="Verdana"/>
                <a:ea typeface="Verdana"/>
                <a:cs typeface="Verdana"/>
                <a:sym typeface="Verdana"/>
              </a:rPr>
              <a:t>Первое двойное слепое РКИ III фазы по кардиореспираторной безопасности </a:t>
            </a:r>
            <a:r>
              <a:rPr kumimoji="0" lang="ru-RU" sz="2000" b="1" i="0" u="none" strike="noStrike" kern="1200" cap="none" spc="0" normalizeH="0" baseline="0" noProof="0" dirty="0" err="1">
                <a:ln>
                  <a:noFill/>
                </a:ln>
                <a:solidFill>
                  <a:srgbClr val="E61E50"/>
                </a:solidFill>
                <a:effectLst/>
                <a:uLnTx/>
                <a:uFillTx/>
                <a:latin typeface="Verdana"/>
                <a:ea typeface="Verdana"/>
                <a:cs typeface="Verdana"/>
                <a:sym typeface="Verdana"/>
              </a:rPr>
              <a:t>бисопролола</a:t>
            </a:r>
            <a:r>
              <a:rPr kumimoji="0" lang="ru-RU" sz="2000" b="1" i="0" u="none" strike="noStrike" kern="1200" cap="none" spc="0" normalizeH="0" baseline="0" noProof="0" dirty="0">
                <a:ln>
                  <a:noFill/>
                </a:ln>
                <a:solidFill>
                  <a:srgbClr val="E61E50"/>
                </a:solidFill>
                <a:effectLst/>
                <a:uLnTx/>
                <a:uFillTx/>
                <a:latin typeface="Verdana"/>
                <a:ea typeface="Verdana"/>
                <a:cs typeface="Verdana"/>
                <a:sym typeface="Verdana"/>
              </a:rPr>
              <a:t> при ХОБЛ (24 месяца)</a:t>
            </a:r>
            <a:endParaRPr kumimoji="0" sz="2000" b="1" i="0" u="none" strike="noStrike" kern="1200" cap="none" spc="0" normalizeH="0" baseline="0" noProof="0" dirty="0">
              <a:ln>
                <a:noFill/>
              </a:ln>
              <a:solidFill>
                <a:srgbClr val="E61E50"/>
              </a:solidFill>
              <a:effectLst/>
              <a:uLnTx/>
              <a:uFillTx/>
              <a:latin typeface="Verdana"/>
              <a:ea typeface="Verdana"/>
              <a:cs typeface="Verdana"/>
              <a:sym typeface="Verdana"/>
            </a:endParaRPr>
          </a:p>
        </p:txBody>
      </p:sp>
      <p:sp>
        <p:nvSpPr>
          <p:cNvPr id="8" name="TextBox 7">
            <a:extLst>
              <a:ext uri="{FF2B5EF4-FFF2-40B4-BE49-F238E27FC236}">
                <a16:creationId xmlns:a16="http://schemas.microsoft.com/office/drawing/2014/main" id="{DFC64DB7-BF85-7389-36A3-02955A935160}"/>
              </a:ext>
            </a:extLst>
          </p:cNvPr>
          <p:cNvSpPr txBox="1"/>
          <p:nvPr/>
        </p:nvSpPr>
        <p:spPr>
          <a:xfrm>
            <a:off x="5554537" y="5628251"/>
            <a:ext cx="612775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5374"/>
                </a:solidFill>
                <a:effectLst/>
                <a:uLnTx/>
                <a:uFillTx/>
                <a:latin typeface="Verdana"/>
                <a:ea typeface="+mn-ea"/>
                <a:cs typeface="+mn-cs"/>
              </a:rPr>
              <a:t>*</a:t>
            </a:r>
            <a:r>
              <a:rPr kumimoji="0" lang="ru-RU" sz="1400" b="0" i="0" u="none" strike="noStrike" kern="1200" cap="none" spc="0" normalizeH="0" baseline="0" noProof="0" dirty="0">
                <a:ln>
                  <a:noFill/>
                </a:ln>
                <a:solidFill>
                  <a:srgbClr val="265374"/>
                </a:solidFill>
                <a:effectLst/>
                <a:uLnTx/>
                <a:uFillTx/>
                <a:latin typeface="Verdana"/>
                <a:ea typeface="+mn-ea"/>
                <a:cs typeface="+mn-cs"/>
              </a:rPr>
              <a:t>ни одна смерть не была связана с лечением</a:t>
            </a:r>
          </a:p>
        </p:txBody>
      </p:sp>
      <p:sp>
        <p:nvSpPr>
          <p:cNvPr id="10" name="TextBox 9">
            <a:extLst>
              <a:ext uri="{FF2B5EF4-FFF2-40B4-BE49-F238E27FC236}">
                <a16:creationId xmlns:a16="http://schemas.microsoft.com/office/drawing/2014/main" id="{6923C4EF-5146-CB07-356A-7309943D8764}"/>
              </a:ext>
            </a:extLst>
          </p:cNvPr>
          <p:cNvSpPr txBox="1"/>
          <p:nvPr/>
        </p:nvSpPr>
        <p:spPr>
          <a:xfrm>
            <a:off x="492072" y="6432518"/>
            <a:ext cx="11052228"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265374"/>
                </a:solidFill>
                <a:effectLst/>
                <a:uLnTx/>
                <a:uFillTx/>
                <a:latin typeface="Verdana"/>
                <a:ea typeface="+mn-ea"/>
                <a:cs typeface="+mn-cs"/>
              </a:rPr>
              <a:t>PACE </a:t>
            </a:r>
            <a:r>
              <a:rPr kumimoji="0" lang="fr-FR" sz="700" b="0" i="0" u="none" strike="noStrike" kern="1200" cap="none" spc="0" normalizeH="0" baseline="0" noProof="0" dirty="0" err="1">
                <a:ln>
                  <a:noFill/>
                </a:ln>
                <a:solidFill>
                  <a:srgbClr val="265374"/>
                </a:solidFill>
                <a:effectLst/>
                <a:uLnTx/>
                <a:uFillTx/>
                <a:latin typeface="Verdana"/>
                <a:ea typeface="+mn-ea"/>
                <a:cs typeface="+mn-cs"/>
              </a:rPr>
              <a:t>Investigators</a:t>
            </a:r>
            <a:r>
              <a:rPr kumimoji="0" lang="fr-FR" sz="700" b="0" i="0" u="none" strike="noStrike" kern="1200" cap="none" spc="0" normalizeH="0" baseline="0" noProof="0" dirty="0">
                <a:ln>
                  <a:noFill/>
                </a:ln>
                <a:solidFill>
                  <a:srgbClr val="265374"/>
                </a:solidFill>
                <a:effectLst/>
                <a:uLnTx/>
                <a:uFillTx/>
                <a:latin typeface="Verdana"/>
                <a:ea typeface="+mn-ea"/>
                <a:cs typeface="+mn-cs"/>
              </a:rPr>
              <a:t>. Lancet </a:t>
            </a:r>
            <a:r>
              <a:rPr kumimoji="0" lang="fr-FR" sz="700" b="0" i="0" u="none" strike="noStrike" kern="1200" cap="none" spc="0" normalizeH="0" baseline="0" noProof="0" dirty="0" err="1">
                <a:ln>
                  <a:noFill/>
                </a:ln>
                <a:solidFill>
                  <a:srgbClr val="265374"/>
                </a:solidFill>
                <a:effectLst/>
                <a:uLnTx/>
                <a:uFillTx/>
                <a:latin typeface="Verdana"/>
                <a:ea typeface="+mn-ea"/>
                <a:cs typeface="+mn-cs"/>
              </a:rPr>
              <a:t>Respir</a:t>
            </a:r>
            <a:r>
              <a:rPr kumimoji="0" lang="fr-FR" sz="700" b="0" i="0" u="none" strike="noStrike" kern="1200" cap="none" spc="0" normalizeH="0" baseline="0" noProof="0" dirty="0">
                <a:ln>
                  <a:noFill/>
                </a:ln>
                <a:solidFill>
                  <a:srgbClr val="265374"/>
                </a:solidFill>
                <a:effectLst/>
                <a:uLnTx/>
                <a:uFillTx/>
                <a:latin typeface="Verdana"/>
                <a:ea typeface="+mn-ea"/>
                <a:cs typeface="+mn-cs"/>
              </a:rPr>
              <a:t> Med. 2026.</a:t>
            </a:r>
            <a:r>
              <a:rPr kumimoji="0" lang="ru-RU" sz="700" b="0" i="0" u="none" strike="noStrike" kern="1200" cap="none" spc="0" normalizeH="0" baseline="0" noProof="0" dirty="0">
                <a:ln>
                  <a:noFill/>
                </a:ln>
                <a:solidFill>
                  <a:srgbClr val="265374"/>
                </a:solidFill>
                <a:effectLst/>
                <a:uLnTx/>
                <a:uFillTx/>
                <a:latin typeface="Verdana"/>
                <a:ea typeface="+mn-ea"/>
                <a:cs typeface="+mn-cs"/>
              </a:rPr>
              <a:t> </a:t>
            </a:r>
            <a:r>
              <a:rPr kumimoji="0" lang="en-US" sz="700" b="0" i="0" u="none" strike="noStrike" kern="1200" cap="none" spc="0" normalizeH="0" baseline="0" noProof="0" dirty="0">
                <a:ln>
                  <a:noFill/>
                </a:ln>
                <a:solidFill>
                  <a:srgbClr val="265374"/>
                </a:solidFill>
                <a:effectLst/>
                <a:uLnTx/>
                <a:uFillTx/>
                <a:latin typeface="Verdana"/>
                <a:ea typeface="+mn-ea"/>
                <a:cs typeface="+mn-cs"/>
              </a:rPr>
              <a:t>Published Online</a:t>
            </a:r>
            <a:r>
              <a:rPr kumimoji="0" lang="ru-RU" sz="700" b="0" i="0" u="none" strike="noStrike" kern="1200" cap="none" spc="0" normalizeH="0" baseline="0" noProof="0" dirty="0">
                <a:ln>
                  <a:noFill/>
                </a:ln>
                <a:solidFill>
                  <a:srgbClr val="265374"/>
                </a:solidFill>
                <a:effectLst/>
                <a:uLnTx/>
                <a:uFillTx/>
                <a:latin typeface="Verdana"/>
                <a:ea typeface="+mn-ea"/>
                <a:cs typeface="+mn-cs"/>
              </a:rPr>
              <a:t> </a:t>
            </a:r>
            <a:r>
              <a:rPr kumimoji="0" lang="en-US" sz="700" b="0" i="0" u="none" strike="noStrike" kern="1200" cap="none" spc="0" normalizeH="0" baseline="0" noProof="0" dirty="0">
                <a:ln>
                  <a:noFill/>
                </a:ln>
                <a:solidFill>
                  <a:srgbClr val="265374"/>
                </a:solidFill>
                <a:effectLst/>
                <a:uLnTx/>
                <a:uFillTx/>
                <a:latin typeface="Verdana"/>
                <a:ea typeface="+mn-ea"/>
                <a:cs typeface="+mn-cs"/>
              </a:rPr>
              <a:t>Jan</a:t>
            </a:r>
            <a:r>
              <a:rPr kumimoji="0" lang="ru-RU" sz="700" b="0" i="0" u="none" strike="noStrike" kern="1200" cap="none" spc="0" normalizeH="0" baseline="0" noProof="0" dirty="0">
                <a:ln>
                  <a:noFill/>
                </a:ln>
                <a:solidFill>
                  <a:srgbClr val="265374"/>
                </a:solidFill>
                <a:effectLst/>
                <a:uLnTx/>
                <a:uFillTx/>
                <a:latin typeface="Verdana"/>
                <a:ea typeface="+mn-ea"/>
                <a:cs typeface="+mn-cs"/>
              </a:rPr>
              <a:t>,</a:t>
            </a:r>
            <a:r>
              <a:rPr kumimoji="0" lang="en-US" sz="700" b="0" i="0" u="none" strike="noStrike" kern="1200" cap="none" spc="0" normalizeH="0" baseline="0" noProof="0" dirty="0">
                <a:ln>
                  <a:noFill/>
                </a:ln>
                <a:solidFill>
                  <a:srgbClr val="265374"/>
                </a:solidFill>
                <a:effectLst/>
                <a:uLnTx/>
                <a:uFillTx/>
                <a:latin typeface="Verdana"/>
                <a:ea typeface="+mn-ea"/>
                <a:cs typeface="+mn-cs"/>
              </a:rPr>
              <a:t> 21, 2026</a:t>
            </a:r>
            <a:r>
              <a:rPr kumimoji="0" lang="ru-RU" sz="700" b="0" i="0" u="none" strike="noStrike" kern="1200" cap="none" spc="0" normalizeH="0" baseline="0" noProof="0" dirty="0">
                <a:ln>
                  <a:noFill/>
                </a:ln>
                <a:solidFill>
                  <a:srgbClr val="265374"/>
                </a:solidFill>
                <a:effectLst/>
                <a:uLnTx/>
                <a:uFillTx/>
                <a:latin typeface="Verdana"/>
                <a:ea typeface="+mn-ea"/>
                <a:cs typeface="+mn-cs"/>
              </a:rPr>
              <a:t>, </a:t>
            </a:r>
            <a:r>
              <a:rPr kumimoji="0" lang="en-US" sz="700" b="0" i="0" u="none" strike="noStrike" kern="1200" cap="none" spc="0" normalizeH="0" baseline="0" noProof="0" dirty="0">
                <a:ln>
                  <a:noFill/>
                </a:ln>
                <a:solidFill>
                  <a:srgbClr val="265374"/>
                </a:solidFill>
                <a:effectLst/>
                <a:uLnTx/>
                <a:uFillTx/>
                <a:latin typeface="Verdana"/>
                <a:ea typeface="+mn-ea"/>
                <a:cs typeface="+mn-cs"/>
              </a:rPr>
              <a:t>https://doi.org/10.1016/S2213-2600(25)00390-X</a:t>
            </a:r>
            <a:endParaRPr kumimoji="0" lang="ru-RU" sz="700" b="0" i="0" u="none" strike="noStrike" kern="1200" cap="none" spc="0" normalizeH="0" baseline="0" noProof="0" dirty="0">
              <a:ln>
                <a:noFill/>
              </a:ln>
              <a:solidFill>
                <a:srgbClr val="265374"/>
              </a:solidFill>
              <a:effectLst/>
              <a:uLnTx/>
              <a:uFillTx/>
              <a:latin typeface="Verdana"/>
              <a:ea typeface="+mn-ea"/>
              <a:cs typeface="+mn-cs"/>
            </a:endParaRPr>
          </a:p>
        </p:txBody>
      </p:sp>
      <p:sp>
        <p:nvSpPr>
          <p:cNvPr id="12" name="TextBox 11">
            <a:extLst>
              <a:ext uri="{FF2B5EF4-FFF2-40B4-BE49-F238E27FC236}">
                <a16:creationId xmlns:a16="http://schemas.microsoft.com/office/drawing/2014/main" id="{46F9A626-54CB-9754-EBAE-B798020275C2}"/>
              </a:ext>
            </a:extLst>
          </p:cNvPr>
          <p:cNvSpPr txBox="1"/>
          <p:nvPr/>
        </p:nvSpPr>
        <p:spPr>
          <a:xfrm>
            <a:off x="281938" y="6088281"/>
            <a:ext cx="10802373"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265374"/>
                </a:solidFill>
                <a:effectLst/>
                <a:uLnTx/>
                <a:uFillTx/>
                <a:latin typeface="Verdana"/>
                <a:ea typeface="+mn-ea"/>
                <a:cs typeface="+mn-cs"/>
              </a:rPr>
              <a:t>ОФВ</a:t>
            </a:r>
            <a:r>
              <a:rPr kumimoji="0" lang="ru-RU" sz="1200" b="0" i="0" u="none" strike="noStrike" kern="1200" cap="none" spc="0" normalizeH="0" baseline="-25000" noProof="0" dirty="0">
                <a:ln>
                  <a:noFill/>
                </a:ln>
                <a:solidFill>
                  <a:srgbClr val="265374"/>
                </a:solidFill>
                <a:effectLst/>
                <a:uLnTx/>
                <a:uFillTx/>
                <a:latin typeface="Verdana"/>
                <a:ea typeface="+mn-ea"/>
                <a:cs typeface="+mn-cs"/>
              </a:rPr>
              <a:t>1</a:t>
            </a:r>
            <a:r>
              <a:rPr kumimoji="0" lang="ru-RU" sz="1200" b="0" i="0" u="none" strike="noStrike" kern="1200" cap="none" spc="0" normalizeH="0" baseline="30000" noProof="0" dirty="0">
                <a:ln>
                  <a:noFill/>
                </a:ln>
                <a:solidFill>
                  <a:srgbClr val="265374"/>
                </a:solidFill>
                <a:effectLst/>
                <a:uLnTx/>
                <a:uFillTx/>
                <a:latin typeface="Verdana"/>
                <a:ea typeface="+mn-ea"/>
                <a:cs typeface="+mn-cs"/>
              </a:rPr>
              <a:t> </a:t>
            </a:r>
            <a:r>
              <a:rPr kumimoji="0" lang="ru-RU" sz="1200" b="0" i="0" u="none" strike="noStrike" kern="1200" cap="none" spc="0" normalizeH="0" baseline="0" noProof="0" dirty="0">
                <a:ln>
                  <a:noFill/>
                </a:ln>
                <a:solidFill>
                  <a:srgbClr val="265374"/>
                </a:solidFill>
                <a:effectLst/>
                <a:uLnTx/>
                <a:uFillTx/>
                <a:latin typeface="Verdana"/>
                <a:ea typeface="+mn-ea"/>
                <a:cs typeface="+mn-cs"/>
              </a:rPr>
              <a:t>объем форсированного выдоха, </a:t>
            </a:r>
            <a:r>
              <a:rPr kumimoji="0" lang="en-US" sz="1200" b="0" i="0" u="none" strike="noStrike" kern="1200" cap="none" spc="0" normalizeH="0" baseline="0" noProof="0" dirty="0">
                <a:ln>
                  <a:noFill/>
                </a:ln>
                <a:solidFill>
                  <a:srgbClr val="265374"/>
                </a:solidFill>
                <a:effectLst/>
                <a:uLnTx/>
                <a:uFillTx/>
                <a:latin typeface="Verdana"/>
                <a:ea typeface="+mn-ea"/>
                <a:cs typeface="+mn-cs"/>
              </a:rPr>
              <a:t>MACE – </a:t>
            </a:r>
            <a:r>
              <a:rPr kumimoji="0" lang="ru-RU" sz="1200" b="0" i="0" u="none" strike="noStrike" kern="1200" cap="none" spc="0" normalizeH="0" baseline="0" noProof="0" dirty="0">
                <a:ln>
                  <a:noFill/>
                </a:ln>
                <a:solidFill>
                  <a:srgbClr val="265374"/>
                </a:solidFill>
                <a:effectLst/>
                <a:uLnTx/>
                <a:uFillTx/>
                <a:latin typeface="Verdana"/>
                <a:ea typeface="+mn-ea"/>
                <a:cs typeface="+mn-cs"/>
              </a:rPr>
              <a:t>большие сердечно-сосудистые события</a:t>
            </a:r>
            <a:endParaRPr kumimoji="0" lang="ru-RU" sz="1200" b="0" i="0" u="none" strike="noStrike" kern="1200" cap="none" spc="0" normalizeH="0" baseline="-25000" noProof="0" dirty="0">
              <a:ln>
                <a:noFill/>
              </a:ln>
              <a:solidFill>
                <a:srgbClr val="265374"/>
              </a:solidFill>
              <a:effectLst/>
              <a:uLnTx/>
              <a:uFillTx/>
              <a:latin typeface="Verdana"/>
              <a:ea typeface="+mn-ea"/>
              <a:cs typeface="+mn-cs"/>
            </a:endParaRPr>
          </a:p>
        </p:txBody>
      </p:sp>
    </p:spTree>
    <p:extLst>
      <p:ext uri="{BB962C8B-B14F-4D97-AF65-F5344CB8AC3E}">
        <p14:creationId xmlns:p14="http://schemas.microsoft.com/office/powerpoint/2010/main" val="221576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Бисопролол у пациентов с ХСН и ХБП: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доказательная</a:t>
            </a: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база</a:t>
            </a:r>
            <a:endPar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5" name="Shape 3"/>
          <p:cNvSpPr/>
          <p:nvPr/>
        </p:nvSpPr>
        <p:spPr>
          <a:xfrm>
            <a:off x="457200" y="1554480"/>
            <a:ext cx="11247120" cy="141732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554480"/>
            <a:ext cx="73152" cy="1417320"/>
          </a:xfrm>
          <a:prstGeom prst="rect">
            <a:avLst/>
          </a:prstGeom>
          <a:solidFill>
            <a:srgbClr val="065A82"/>
          </a:solidFill>
          <a:ln w="12700">
            <a:solidFill>
              <a:srgbClr val="065A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31520" y="1627632"/>
            <a:ext cx="10881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1. Фармакокинетика бисопролола при нарушении </a:t>
            </a:r>
            <a:r>
              <a:rPr kumimoji="0" lang="en-US" sz="1500" b="1" i="0" u="none" strike="noStrike" kern="1200" cap="none" spc="0" normalizeH="0" baseline="0" noProof="0" dirty="0" err="1">
                <a:ln>
                  <a:noFill/>
                </a:ln>
                <a:solidFill>
                  <a:srgbClr val="065A82"/>
                </a:solidFill>
                <a:effectLst/>
                <a:uLnTx/>
                <a:uFillTx/>
                <a:latin typeface="Arial" panose="020B0604020202020204" pitchFamily="34" charset="0"/>
                <a:ea typeface="Calibri" pitchFamily="34" charset="-122"/>
                <a:cs typeface="Arial" panose="020B0604020202020204" pitchFamily="34" charset="0"/>
              </a:rPr>
              <a:t>функции</a:t>
            </a:r>
            <a:r>
              <a:rPr kumimoji="0" lang="en-US" sz="15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 почек</a:t>
            </a:r>
            <a:r>
              <a:rPr kumimoji="0" lang="en-US" sz="1500" b="1" i="0" u="none" strike="noStrike" kern="1200" cap="none" spc="0" normalizeH="0" baseline="3000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3</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6"/>
          <p:cNvSpPr/>
          <p:nvPr/>
        </p:nvSpPr>
        <p:spPr>
          <a:xfrm>
            <a:off x="731520" y="2011680"/>
            <a:ext cx="1088136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Сбалансированный клиренс </a:t>
            </a:r>
            <a:r>
              <a:rPr kumimoji="0" lang="ru-RU" sz="12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(~50% почечная / ~50% печёночная элиминация) — фармакокинетическая особенность </a:t>
            </a:r>
            <a:r>
              <a:rPr kumimoji="0" lang="ru-RU" sz="1200" b="0" i="0" u="none" strike="noStrike" kern="1200" cap="none" spc="0" normalizeH="0" baseline="0" noProof="0" dirty="0" err="1">
                <a:ln>
                  <a:noFill/>
                </a:ln>
                <a:solidFill>
                  <a:srgbClr val="1A1A1A"/>
                </a:solidFill>
                <a:effectLst/>
                <a:uLnTx/>
                <a:uFillTx/>
                <a:latin typeface="Arial" panose="020B0604020202020204" pitchFamily="34" charset="0"/>
                <a:ea typeface="Calibri" pitchFamily="34" charset="-122"/>
                <a:cs typeface="Arial" panose="020B0604020202020204" pitchFamily="34" charset="0"/>
              </a:rPr>
              <a:t>бисопролола</a:t>
            </a:r>
            <a:r>
              <a:rPr kumimoji="0" lang="ru-RU" sz="12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обеспечивающая предсказуемое поведение препарата при нарушении функции почек</a:t>
            </a:r>
            <a:r>
              <a:rPr kumimoji="0" lang="ru-RU" sz="12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731520" y="2423160"/>
            <a:ext cx="108813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Отсутствие клинически значимой кумуляции </a:t>
            </a:r>
            <a:r>
              <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даже при тяжёлой почечной дисфункции и терминальной ХБП на гемодиализе; коррекция дозы не требуется при лёгкой/умеренной ХБП, при тяжёлой/терминальной ХБП — не выше 10 мг/</a:t>
            </a:r>
            <a:r>
              <a:rPr kumimoji="0" lang="ru-RU" sz="1200" b="0"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сут</a:t>
            </a:r>
            <a:r>
              <a:rPr kumimoji="0" lang="ru-RU" sz="12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hape 8"/>
          <p:cNvSpPr/>
          <p:nvPr/>
        </p:nvSpPr>
        <p:spPr>
          <a:xfrm>
            <a:off x="457200" y="3108960"/>
            <a:ext cx="5486400" cy="224028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108960"/>
            <a:ext cx="73152" cy="224028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182112"/>
            <a:ext cx="5166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C7293"/>
                </a:solidFill>
                <a:effectLst/>
                <a:uLnTx/>
                <a:uFillTx/>
                <a:latin typeface="Arial" panose="020B0604020202020204" pitchFamily="34" charset="0"/>
                <a:ea typeface="Calibri" pitchFamily="34" charset="-122"/>
                <a:cs typeface="Arial" panose="020B0604020202020204" pitchFamily="34" charset="0"/>
              </a:rPr>
              <a:t>2. CIBIS-II (Lancet, 1999)</a:t>
            </a:r>
            <a:r>
              <a:rPr kumimoji="0" lang="en-US" sz="1500" b="1" i="0" u="none" strike="noStrike" kern="1200" cap="none" spc="0" normalizeH="0" baseline="30000" noProof="0" dirty="0">
                <a:ln>
                  <a:noFill/>
                </a:ln>
                <a:solidFill>
                  <a:srgbClr val="1C7293"/>
                </a:solidFill>
                <a:effectLst/>
                <a:uLnTx/>
                <a:uFillTx/>
                <a:latin typeface="Arial" panose="020B0604020202020204" pitchFamily="34" charset="0"/>
                <a:ea typeface="Calibri" pitchFamily="34" charset="-122"/>
                <a:cs typeface="Arial" panose="020B0604020202020204" pitchFamily="34" charset="0"/>
              </a:rPr>
              <a:t>1</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11"/>
          <p:cNvSpPr/>
          <p:nvPr/>
        </p:nvSpPr>
        <p:spPr>
          <a:xfrm>
            <a:off x="731520" y="3547872"/>
            <a:ext cx="516636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n=2647</a:t>
            </a: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ХСН NYHA III–IV, ФВ ≤35%</a:t>
            </a:r>
            <a:endParaRPr kumimoji="0" lang="en-US" sz="11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731520" y="3886200"/>
            <a:ext cx="1737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34%</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514600" y="3931920"/>
            <a:ext cx="33832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общая смертность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ОР 0.66 (95% ДИ 0.54–0.81)</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p&lt;0.0001</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14"/>
          <p:cNvSpPr/>
          <p:nvPr/>
        </p:nvSpPr>
        <p:spPr>
          <a:xfrm>
            <a:off x="731520" y="4886461"/>
            <a:ext cx="5166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Post-hoc subgroup-анализ показал сохранение эффекта у пациентов с ХБП</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15"/>
          <p:cNvSpPr/>
          <p:nvPr/>
        </p:nvSpPr>
        <p:spPr>
          <a:xfrm>
            <a:off x="6217920" y="3108960"/>
            <a:ext cx="5486400" cy="224028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217920" y="3108960"/>
            <a:ext cx="73152" cy="2240280"/>
          </a:xfrm>
          <a:prstGeom prst="rect">
            <a:avLst/>
          </a:prstGeom>
          <a:solidFill>
            <a:srgbClr val="21295C"/>
          </a:solidFill>
          <a:ln w="12700">
            <a:solidFill>
              <a:srgbClr val="2129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492240" y="3182112"/>
            <a:ext cx="5166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3. Cochrane Lunney et al., 2020</a:t>
            </a:r>
            <a:r>
              <a:rPr kumimoji="0" lang="en-US" sz="1500" b="1" i="0" u="none" strike="noStrike" kern="1200" cap="none" spc="0" normalizeH="0" baseline="3000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2</a:t>
            </a:r>
            <a:endParaRPr kumimoji="0" lang="en-US" sz="15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 name="Text 18"/>
          <p:cNvSpPr/>
          <p:nvPr/>
        </p:nvSpPr>
        <p:spPr>
          <a:xfrm>
            <a:off x="6492240" y="3547872"/>
            <a:ext cx="516636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Мета-анализ 4 РКИ, </a:t>
            </a: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n=3136</a:t>
            </a:r>
            <a:r>
              <a:rPr kumimoji="0" lang="en-US" sz="115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a:t>
            </a:r>
            <a:r>
              <a:rPr kumimoji="0" lang="en-US" sz="115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ХСН + ХБП</a:t>
            </a:r>
            <a:endParaRPr kumimoji="0" lang="en-US" sz="115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6492240" y="3886200"/>
            <a:ext cx="1737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31%</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275320" y="3931920"/>
            <a:ext cx="33832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смертность от всех причин</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ОР 0.69 (95% ДИ 0.60–0.79)</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I² = 0%; </a:t>
            </a:r>
            <a:r>
              <a:rPr kumimoji="0" lang="ru-RU"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согласованные результаты по всем 4 РКИ</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 moderate certainty (GRADE)</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21"/>
          <p:cNvSpPr/>
          <p:nvPr/>
        </p:nvSpPr>
        <p:spPr>
          <a:xfrm>
            <a:off x="6492240" y="4886461"/>
            <a:ext cx="5166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Терапия β-адреноблокаторами у пациентов с ХСН и сопутствующей ХБП</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TextBox 28">
            <a:extLst>
              <a:ext uri="{FF2B5EF4-FFF2-40B4-BE49-F238E27FC236}">
                <a16:creationId xmlns:a16="http://schemas.microsoft.com/office/drawing/2014/main" id="{52DA61E3-3A7A-CF11-7058-E7AE84E528ED}"/>
              </a:ext>
            </a:extLst>
          </p:cNvPr>
          <p:cNvSpPr txBox="1"/>
          <p:nvPr/>
        </p:nvSpPr>
        <p:spPr>
          <a:xfrm>
            <a:off x="296349" y="6222817"/>
            <a:ext cx="109728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1. CIBIS-II Investigators and Committees. The Cardiac Insufficiency Bisoprolol Study II (CIBIS-II): a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randomised</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trial. Lancet 1999;353(9146):9–13. DOI: 10.1016/S0140-6736(98)11181-9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2. Lunney M, et al. Pharmacological interventions for heart failure in people with chronic kidney disease. Cochrane Database Syst Rev 2020;2(2):CD012466. DOI: 10.1002/14651858.CD012466.pub2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3. Payton CD, et al. The single dose pharmacokinetics of bisoprolol (10 mg) in renal insufficiency: the clinical significance of balanced clearance. </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 Heart J 1987;8(Suppl M):15–22. DOI: 10.1093/</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eurheartj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/8.suppl_M.15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01168"/>
            <a:ext cx="11368735"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5587"/>
                </a:solidFill>
                <a:effectLst/>
                <a:uLnTx/>
                <a:uFillTx/>
                <a:latin typeface="Arial" panose="020B0604020202020204" pitchFamily="34" charset="0"/>
                <a:ea typeface="Arial" pitchFamily="34" charset="-122"/>
                <a:cs typeface="Arial" panose="020B0604020202020204" pitchFamily="34" charset="0"/>
              </a:rPr>
              <a:t>Бисопролол при СД 2 типа: нейтральный гликемический профиль и благоприятное влияние на холестерин</a:t>
            </a:r>
            <a:endParaRPr kumimoji="0" lang="en-US"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 1"/>
          <p:cNvSpPr/>
          <p:nvPr/>
        </p:nvSpPr>
        <p:spPr>
          <a:xfrm>
            <a:off x="411479" y="888558"/>
            <a:ext cx="11368735"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12 981 пациент с СД 2 типа · Maccabi Health Services 2003–2023 · ретроспективное когортное исследование · IPTW</a:t>
            </a:r>
            <a:endPar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hape 2"/>
          <p:cNvSpPr/>
          <p:nvPr/>
        </p:nvSpPr>
        <p:spPr>
          <a:xfrm>
            <a:off x="411480" y="1359116"/>
            <a:ext cx="5524348" cy="438912"/>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 3"/>
          <p:cNvSpPr/>
          <p:nvPr/>
        </p:nvSpPr>
        <p:spPr>
          <a:xfrm>
            <a:off x="411480" y="1359116"/>
            <a:ext cx="5524348"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Гликемический профиль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Shape 4"/>
          <p:cNvSpPr/>
          <p:nvPr/>
        </p:nvSpPr>
        <p:spPr>
          <a:xfrm>
            <a:off x="6255868" y="1359116"/>
            <a:ext cx="5524348" cy="438912"/>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 5"/>
          <p:cNvSpPr/>
          <p:nvPr/>
        </p:nvSpPr>
        <p:spPr>
          <a:xfrm>
            <a:off x="6255868" y="1359116"/>
            <a:ext cx="5524348"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Липидный профиль</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hape 6"/>
          <p:cNvSpPr/>
          <p:nvPr/>
        </p:nvSpPr>
        <p:spPr>
          <a:xfrm>
            <a:off x="411480"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448056"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Параметр</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Shape 8"/>
          <p:cNvSpPr/>
          <p:nvPr/>
        </p:nvSpPr>
        <p:spPr>
          <a:xfrm>
            <a:off x="1516350"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10"/>
          <p:cNvSpPr/>
          <p:nvPr/>
        </p:nvSpPr>
        <p:spPr>
          <a:xfrm>
            <a:off x="2621219"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Shape 12"/>
          <p:cNvSpPr/>
          <p:nvPr/>
        </p:nvSpPr>
        <p:spPr>
          <a:xfrm>
            <a:off x="3726089"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Shape 14"/>
          <p:cNvSpPr/>
          <p:nvPr/>
        </p:nvSpPr>
        <p:spPr>
          <a:xfrm>
            <a:off x="4830958"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 15"/>
          <p:cNvSpPr/>
          <p:nvPr/>
        </p:nvSpPr>
        <p:spPr>
          <a:xfrm>
            <a:off x="486753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Shape 16"/>
          <p:cNvSpPr/>
          <p:nvPr/>
        </p:nvSpPr>
        <p:spPr>
          <a:xfrm>
            <a:off x="411480"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17"/>
          <p:cNvSpPr/>
          <p:nvPr/>
        </p:nvSpPr>
        <p:spPr>
          <a:xfrm>
            <a:off x="457200"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HbA1c (%)</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 name="Shape 18"/>
          <p:cNvSpPr/>
          <p:nvPr/>
        </p:nvSpPr>
        <p:spPr>
          <a:xfrm>
            <a:off x="1516350"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20"/>
          <p:cNvSpPr/>
          <p:nvPr/>
        </p:nvSpPr>
        <p:spPr>
          <a:xfrm>
            <a:off x="2621219"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Shape 22"/>
          <p:cNvSpPr/>
          <p:nvPr/>
        </p:nvSpPr>
        <p:spPr>
          <a:xfrm>
            <a:off x="3726089"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Shape 24"/>
          <p:cNvSpPr/>
          <p:nvPr/>
        </p:nvSpPr>
        <p:spPr>
          <a:xfrm>
            <a:off x="4830958"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 25"/>
          <p:cNvSpPr/>
          <p:nvPr/>
        </p:nvSpPr>
        <p:spPr>
          <a:xfrm>
            <a:off x="487667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0,014</a:t>
            </a:r>
            <a:endParaRPr kumimoji="0" lang="en-US" sz="1200" b="0"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28" name="Shape 26"/>
          <p:cNvSpPr/>
          <p:nvPr/>
        </p:nvSpPr>
        <p:spPr>
          <a:xfrm>
            <a:off x="411480"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Text 27"/>
          <p:cNvSpPr/>
          <p:nvPr/>
        </p:nvSpPr>
        <p:spPr>
          <a:xfrm>
            <a:off x="457200"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ГПН (мг/дл)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Shape 28"/>
          <p:cNvSpPr/>
          <p:nvPr/>
        </p:nvSpPr>
        <p:spPr>
          <a:xfrm>
            <a:off x="1516350"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Shape 30"/>
          <p:cNvSpPr/>
          <p:nvPr/>
        </p:nvSpPr>
        <p:spPr>
          <a:xfrm>
            <a:off x="2621219"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Shape 32"/>
          <p:cNvSpPr/>
          <p:nvPr/>
        </p:nvSpPr>
        <p:spPr>
          <a:xfrm>
            <a:off x="3726089"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Shape 34"/>
          <p:cNvSpPr/>
          <p:nvPr/>
        </p:nvSpPr>
        <p:spPr>
          <a:xfrm>
            <a:off x="4830958"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Text 35"/>
          <p:cNvSpPr/>
          <p:nvPr/>
        </p:nvSpPr>
        <p:spPr>
          <a:xfrm>
            <a:off x="487667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0,038</a:t>
            </a:r>
            <a:endParaRPr kumimoji="0" lang="en-US" sz="1200" b="0"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38" name="Shape 36"/>
          <p:cNvSpPr/>
          <p:nvPr/>
        </p:nvSpPr>
        <p:spPr>
          <a:xfrm>
            <a:off x="411480" y="3224492"/>
            <a:ext cx="5524348" cy="475488"/>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Text 37"/>
          <p:cNvSpPr/>
          <p:nvPr/>
        </p:nvSpPr>
        <p:spPr>
          <a:xfrm>
            <a:off x="502920" y="3224492"/>
            <a:ext cx="5341468"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err="1">
                <a:ln>
                  <a:noFill/>
                </a:ln>
                <a:solidFill>
                  <a:prstClr val="black"/>
                </a:solidFill>
                <a:effectLst/>
                <a:uLnTx/>
                <a:uFillTx/>
                <a:latin typeface="Arial" panose="020B0604020202020204" pitchFamily="34" charset="0"/>
                <a:ea typeface="Arial" pitchFamily="34" charset="-122"/>
                <a:cs typeface="Arial" panose="020B0604020202020204" pitchFamily="34" charset="0"/>
              </a:rPr>
              <a:t>Эффект</a:t>
            </a: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Arial" pitchFamily="34" charset="-122"/>
                <a:cs typeface="Arial" panose="020B0604020202020204" pitchFamily="34" charset="0"/>
              </a:rPr>
              <a:t> бисопролола на гликемию однороден независимо от возраста, ожирения и исходного HbA1c.</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 name="Shape 38"/>
          <p:cNvSpPr/>
          <p:nvPr/>
        </p:nvSpPr>
        <p:spPr>
          <a:xfrm>
            <a:off x="422631" y="3754844"/>
            <a:ext cx="5524348" cy="347472"/>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 name="Text 39"/>
          <p:cNvSpPr/>
          <p:nvPr/>
        </p:nvSpPr>
        <p:spPr>
          <a:xfrm>
            <a:off x="484632" y="3754844"/>
            <a:ext cx="5378044"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Гипогликемические эпизоды (</a:t>
            </a:r>
            <a:r>
              <a:rPr kumimoji="0" lang="en-US" sz="1200" b="1" i="0" u="none" strike="noStrike" kern="1200" cap="none" spc="0" normalizeH="0" baseline="0" noProof="0" dirty="0" err="1">
                <a:ln>
                  <a:noFill/>
                </a:ln>
                <a:solidFill>
                  <a:srgbClr val="2B3A42"/>
                </a:solidFill>
                <a:effectLst/>
                <a:uLnTx/>
                <a:uFillTx/>
                <a:latin typeface="Arial" panose="020B0604020202020204" pitchFamily="34" charset="0"/>
                <a:ea typeface="Arial" pitchFamily="34" charset="-122"/>
                <a:cs typeface="Arial" panose="020B0604020202020204" pitchFamily="34" charset="0"/>
              </a:rPr>
              <a:t>зарегистрированные</a:t>
            </a: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a:t>
            </a:r>
            <a:r>
              <a:rPr kumimoji="0" lang="ru-RU"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 – разница недостоверна</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 name="Shape 40"/>
          <p:cNvSpPr/>
          <p:nvPr/>
        </p:nvSpPr>
        <p:spPr>
          <a:xfrm>
            <a:off x="411480" y="4102316"/>
            <a:ext cx="2762174"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 name="Text 41"/>
          <p:cNvSpPr/>
          <p:nvPr/>
        </p:nvSpPr>
        <p:spPr>
          <a:xfrm>
            <a:off x="484632" y="4102316"/>
            <a:ext cx="261587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 name="Shape 42"/>
          <p:cNvSpPr/>
          <p:nvPr/>
        </p:nvSpPr>
        <p:spPr>
          <a:xfrm>
            <a:off x="3173654" y="4102316"/>
            <a:ext cx="2762174"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5" name="Text 43"/>
          <p:cNvSpPr/>
          <p:nvPr/>
        </p:nvSpPr>
        <p:spPr>
          <a:xfrm>
            <a:off x="3246806" y="4102316"/>
            <a:ext cx="261587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 name="Shape 44"/>
          <p:cNvSpPr/>
          <p:nvPr/>
        </p:nvSpPr>
        <p:spPr>
          <a:xfrm>
            <a:off x="411480" y="4596092"/>
            <a:ext cx="2762174"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 name="Text 45"/>
          <p:cNvSpPr/>
          <p:nvPr/>
        </p:nvSpPr>
        <p:spPr>
          <a:xfrm>
            <a:off x="484632" y="4596092"/>
            <a:ext cx="261587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β-блокатора</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 name="Shape 46"/>
          <p:cNvSpPr/>
          <p:nvPr/>
        </p:nvSpPr>
        <p:spPr>
          <a:xfrm>
            <a:off x="3173654" y="4596092"/>
            <a:ext cx="2762174"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 name="Text 47"/>
          <p:cNvSpPr/>
          <p:nvPr/>
        </p:nvSpPr>
        <p:spPr>
          <a:xfrm>
            <a:off x="3246806" y="4596092"/>
            <a:ext cx="261587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 name="Shape 49"/>
          <p:cNvSpPr/>
          <p:nvPr/>
        </p:nvSpPr>
        <p:spPr>
          <a:xfrm>
            <a:off x="411480" y="5321808"/>
            <a:ext cx="5524348" cy="475488"/>
          </a:xfrm>
          <a:prstGeom prst="rect">
            <a:avLst/>
          </a:prstGeom>
          <a:solidFill>
            <a:srgbClr val="00558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Text 50"/>
          <p:cNvSpPr/>
          <p:nvPr/>
        </p:nvSpPr>
        <p:spPr>
          <a:xfrm>
            <a:off x="521208" y="5321808"/>
            <a:ext cx="5304892"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  Нейтральный гликемический профиль</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Shape 51"/>
          <p:cNvSpPr/>
          <p:nvPr/>
        </p:nvSpPr>
        <p:spPr>
          <a:xfrm>
            <a:off x="6255868"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2"/>
          <p:cNvSpPr/>
          <p:nvPr/>
        </p:nvSpPr>
        <p:spPr>
          <a:xfrm>
            <a:off x="62924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Параметр</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 name="Shape 53"/>
          <p:cNvSpPr/>
          <p:nvPr/>
        </p:nvSpPr>
        <p:spPr>
          <a:xfrm>
            <a:off x="7360737"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7" name="Shape 55"/>
          <p:cNvSpPr/>
          <p:nvPr/>
        </p:nvSpPr>
        <p:spPr>
          <a:xfrm>
            <a:off x="8465607"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Shape 57"/>
          <p:cNvSpPr/>
          <p:nvPr/>
        </p:nvSpPr>
        <p:spPr>
          <a:xfrm>
            <a:off x="9570476"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Shape 59"/>
          <p:cNvSpPr/>
          <p:nvPr/>
        </p:nvSpPr>
        <p:spPr>
          <a:xfrm>
            <a:off x="10675346" y="1798028"/>
            <a:ext cx="1104870" cy="384048"/>
          </a:xfrm>
          <a:prstGeom prst="rect">
            <a:avLst/>
          </a:prstGeom>
          <a:solidFill>
            <a:srgbClr val="E8EA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60"/>
          <p:cNvSpPr/>
          <p:nvPr/>
        </p:nvSpPr>
        <p:spPr>
          <a:xfrm>
            <a:off x="10711922"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Shape 61"/>
          <p:cNvSpPr/>
          <p:nvPr/>
        </p:nvSpPr>
        <p:spPr>
          <a:xfrm>
            <a:off x="6255868"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Text 62"/>
          <p:cNvSpPr/>
          <p:nvPr/>
        </p:nvSpPr>
        <p:spPr>
          <a:xfrm>
            <a:off x="63015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Общий ХС</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Shape 63"/>
          <p:cNvSpPr/>
          <p:nvPr/>
        </p:nvSpPr>
        <p:spPr>
          <a:xfrm>
            <a:off x="7360737"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7" name="Shape 65"/>
          <p:cNvSpPr/>
          <p:nvPr/>
        </p:nvSpPr>
        <p:spPr>
          <a:xfrm>
            <a:off x="8465607"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Shape 67"/>
          <p:cNvSpPr/>
          <p:nvPr/>
        </p:nvSpPr>
        <p:spPr>
          <a:xfrm>
            <a:off x="9570476"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Shape 69"/>
          <p:cNvSpPr/>
          <p:nvPr/>
        </p:nvSpPr>
        <p:spPr>
          <a:xfrm>
            <a:off x="10675346" y="2182076"/>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70"/>
          <p:cNvSpPr/>
          <p:nvPr/>
        </p:nvSpPr>
        <p:spPr>
          <a:xfrm>
            <a:off x="10721066"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27123"/>
                </a:solidFill>
                <a:effectLst/>
                <a:uLnTx/>
                <a:uFillTx/>
                <a:latin typeface="Arial" panose="020B0604020202020204" pitchFamily="34" charset="0"/>
                <a:ea typeface="Arial" pitchFamily="34" charset="-122"/>
                <a:cs typeface="Arial" panose="020B0604020202020204" pitchFamily="34" charset="0"/>
              </a:rPr>
              <a:t>&lt;0,001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Shape 71"/>
          <p:cNvSpPr/>
          <p:nvPr/>
        </p:nvSpPr>
        <p:spPr>
          <a:xfrm>
            <a:off x="6255868"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2"/>
          <p:cNvSpPr/>
          <p:nvPr/>
        </p:nvSpPr>
        <p:spPr>
          <a:xfrm>
            <a:off x="63015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ЛПНП</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Shape 73"/>
          <p:cNvSpPr/>
          <p:nvPr/>
        </p:nvSpPr>
        <p:spPr>
          <a:xfrm>
            <a:off x="7360737"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7" name="Shape 75"/>
          <p:cNvSpPr/>
          <p:nvPr/>
        </p:nvSpPr>
        <p:spPr>
          <a:xfrm>
            <a:off x="8465607"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Shape 77"/>
          <p:cNvSpPr/>
          <p:nvPr/>
        </p:nvSpPr>
        <p:spPr>
          <a:xfrm>
            <a:off x="9570476"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Shape 79"/>
          <p:cNvSpPr/>
          <p:nvPr/>
        </p:nvSpPr>
        <p:spPr>
          <a:xfrm>
            <a:off x="10675346" y="2675852"/>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2" name="Text 80"/>
          <p:cNvSpPr/>
          <p:nvPr/>
        </p:nvSpPr>
        <p:spPr>
          <a:xfrm>
            <a:off x="10721066"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27123"/>
                </a:solidFill>
                <a:effectLst/>
                <a:uLnTx/>
                <a:uFillTx/>
                <a:latin typeface="Arial" panose="020B0604020202020204" pitchFamily="34" charset="0"/>
                <a:ea typeface="Arial" pitchFamily="34" charset="-122"/>
                <a:cs typeface="Arial" panose="020B0604020202020204" pitchFamily="34" charset="0"/>
              </a:rPr>
              <a:t>&lt;0,001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3" name="Shape 81"/>
          <p:cNvSpPr/>
          <p:nvPr/>
        </p:nvSpPr>
        <p:spPr>
          <a:xfrm>
            <a:off x="6255868"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4" name="Text 82"/>
          <p:cNvSpPr/>
          <p:nvPr/>
        </p:nvSpPr>
        <p:spPr>
          <a:xfrm>
            <a:off x="6301588"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ЛПВП† (мг/дл)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5" name="Shape 83"/>
          <p:cNvSpPr/>
          <p:nvPr/>
        </p:nvSpPr>
        <p:spPr>
          <a:xfrm>
            <a:off x="7360737"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85"/>
          <p:cNvSpPr/>
          <p:nvPr/>
        </p:nvSpPr>
        <p:spPr>
          <a:xfrm>
            <a:off x="8465607"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9" name="Shape 87"/>
          <p:cNvSpPr/>
          <p:nvPr/>
        </p:nvSpPr>
        <p:spPr>
          <a:xfrm>
            <a:off x="9570476"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Shape 89"/>
          <p:cNvSpPr/>
          <p:nvPr/>
        </p:nvSpPr>
        <p:spPr>
          <a:xfrm>
            <a:off x="10675346" y="3169628"/>
            <a:ext cx="1104870" cy="493776"/>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 90"/>
          <p:cNvSpPr/>
          <p:nvPr/>
        </p:nvSpPr>
        <p:spPr>
          <a:xfrm>
            <a:off x="10721066"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Arial" pitchFamily="34" charset="-122"/>
                <a:cs typeface="Arial" panose="020B0604020202020204" pitchFamily="34" charset="0"/>
              </a:rPr>
              <a:t>&lt;0,001</a:t>
            </a:r>
            <a:endParaRPr kumimoji="0" lang="en-US" sz="1200" b="1" i="0" u="none" strike="noStrike" kern="1200" cap="none" spc="0" normalizeH="0" baseline="0" noProof="0" dirty="0">
              <a:ln>
                <a:noFill/>
              </a:ln>
              <a:solidFill>
                <a:srgbClr val="70AD47">
                  <a:lumMod val="50000"/>
                </a:srgbClr>
              </a:solidFill>
              <a:effectLst/>
              <a:uLnTx/>
              <a:uFillTx/>
              <a:latin typeface="Arial" panose="020B0604020202020204" pitchFamily="34" charset="0"/>
              <a:ea typeface="+mn-ea"/>
              <a:cs typeface="Arial" panose="020B0604020202020204" pitchFamily="34" charset="0"/>
            </a:endParaRPr>
          </a:p>
        </p:txBody>
      </p:sp>
      <p:sp>
        <p:nvSpPr>
          <p:cNvPr id="93" name="Shape 91"/>
          <p:cNvSpPr/>
          <p:nvPr/>
        </p:nvSpPr>
        <p:spPr>
          <a:xfrm>
            <a:off x="6255868"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Shape 93"/>
          <p:cNvSpPr/>
          <p:nvPr/>
        </p:nvSpPr>
        <p:spPr>
          <a:xfrm>
            <a:off x="7360737"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7" name="Shape 95"/>
          <p:cNvSpPr/>
          <p:nvPr/>
        </p:nvSpPr>
        <p:spPr>
          <a:xfrm>
            <a:off x="8465607"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1" name="Shape 99"/>
          <p:cNvSpPr/>
          <p:nvPr/>
        </p:nvSpPr>
        <p:spPr>
          <a:xfrm>
            <a:off x="10675346" y="3663404"/>
            <a:ext cx="1104870" cy="493776"/>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2" name="Text 100"/>
          <p:cNvSpPr/>
          <p:nvPr/>
        </p:nvSpPr>
        <p:spPr>
          <a:xfrm>
            <a:off x="10721066"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0,18</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3" name="Shape 101"/>
          <p:cNvSpPr/>
          <p:nvPr/>
        </p:nvSpPr>
        <p:spPr>
          <a:xfrm>
            <a:off x="6255868" y="4212044"/>
            <a:ext cx="5524348" cy="420624"/>
          </a:xfrm>
          <a:prstGeom prst="rect">
            <a:avLst/>
          </a:prstGeom>
          <a:solidFill>
            <a:srgbClr val="F3F3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4" name="Text 102"/>
          <p:cNvSpPr/>
          <p:nvPr/>
        </p:nvSpPr>
        <p:spPr>
          <a:xfrm>
            <a:off x="6347308" y="4212044"/>
            <a:ext cx="5341468"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Arial" panose="020B0604020202020204" pitchFamily="34" charset="0"/>
                <a:ea typeface="Arial" pitchFamily="34" charset="-122"/>
                <a:cs typeface="Arial" panose="020B0604020202020204" pitchFamily="34" charset="0"/>
              </a:rPr>
              <a:t>† Снижение ЛПВП статистически значимо, но клинически незначимо (абсолютная разница −0,94 мг/дл). </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Shape 103"/>
          <p:cNvSpPr/>
          <p:nvPr/>
        </p:nvSpPr>
        <p:spPr>
          <a:xfrm>
            <a:off x="6255868" y="4687532"/>
            <a:ext cx="5524348" cy="475488"/>
          </a:xfrm>
          <a:prstGeom prst="rect">
            <a:avLst/>
          </a:prstGeom>
          <a:solidFill>
            <a:srgbClr val="00A3E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6" name="Text 104"/>
          <p:cNvSpPr/>
          <p:nvPr/>
        </p:nvSpPr>
        <p:spPr>
          <a:xfrm>
            <a:off x="6365596" y="4687532"/>
            <a:ext cx="5304892"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ea typeface="Arial" pitchFamily="34" charset="-122"/>
                <a:cs typeface="Arial" panose="020B0604020202020204" pitchFamily="34" charset="0"/>
              </a:rPr>
              <a:t>✓  Значимое снижение общего ХС и ЛПНП</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7" name="Shape 105"/>
          <p:cNvSpPr/>
          <p:nvPr/>
        </p:nvSpPr>
        <p:spPr>
          <a:xfrm>
            <a:off x="411480" y="5852160"/>
            <a:ext cx="11368735" cy="475488"/>
          </a:xfrm>
          <a:prstGeom prst="rect">
            <a:avLst/>
          </a:prstGeom>
          <a:solidFill>
            <a:srgbClr val="EBF5FB"/>
          </a:solidFill>
          <a:ln w="12700">
            <a:solidFill>
              <a:srgbClr val="00A3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8" name="Text 106"/>
          <p:cNvSpPr/>
          <p:nvPr/>
        </p:nvSpPr>
        <p:spPr>
          <a:xfrm>
            <a:off x="594360" y="5852160"/>
            <a:ext cx="11002975"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587"/>
                </a:solidFill>
                <a:effectLst/>
                <a:uLnTx/>
                <a:uFillTx/>
                <a:latin typeface="Arial" panose="020B0604020202020204" pitchFamily="34" charset="0"/>
                <a:ea typeface="Arial" pitchFamily="34" charset="-122"/>
                <a:cs typeface="Arial" panose="020B0604020202020204" pitchFamily="34" charset="0"/>
              </a:rPr>
              <a:t>Vs неселективные β-блокаторы (n=1 224):  </a:t>
            </a:r>
            <a:r>
              <a:rPr kumimoji="0" lang="en-US" sz="14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общий ХС −5,86 мг/дл (95% ДИ −9,46; −2,25), p=0,001  ·  ЛПНП −7,08 мг/дл (95% ДИ −10,25; −3,92), p&lt;0,001  ·  гликемия — без различий</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1" name="Text 109"/>
          <p:cNvSpPr/>
          <p:nvPr/>
        </p:nvSpPr>
        <p:spPr>
          <a:xfrm>
            <a:off x="320041" y="6602366"/>
            <a:ext cx="11368735"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По данным: Gazit S, Yonatan Y, Hoshen MB, et al. Cardiovasc Drugs Ther. 2026;40(3):911–921. doi:10.1007/s10557-025-07753-7</a:t>
            </a:r>
            <a:endPar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Text 92"/>
          <p:cNvSpPr/>
          <p:nvPr/>
        </p:nvSpPr>
        <p:spPr>
          <a:xfrm>
            <a:off x="6301588" y="3663404"/>
            <a:ext cx="115200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Триглицериды</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(мг/дл)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11"/>
          <p:cNvSpPr/>
          <p:nvPr/>
        </p:nvSpPr>
        <p:spPr>
          <a:xfrm>
            <a:off x="3237657"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ББ</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21"/>
          <p:cNvSpPr/>
          <p:nvPr/>
        </p:nvSpPr>
        <p:spPr>
          <a:xfrm>
            <a:off x="3246801"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−0,037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Text 31"/>
          <p:cNvSpPr/>
          <p:nvPr/>
        </p:nvSpPr>
        <p:spPr>
          <a:xfrm>
            <a:off x="3246801"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−0,629</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8" name="Text 56"/>
          <p:cNvSpPr/>
          <p:nvPr/>
        </p:nvSpPr>
        <p:spPr>
          <a:xfrm>
            <a:off x="90597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Без ББ</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66"/>
          <p:cNvSpPr/>
          <p:nvPr/>
        </p:nvSpPr>
        <p:spPr>
          <a:xfrm>
            <a:off x="90688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−3,530</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Text 76"/>
          <p:cNvSpPr/>
          <p:nvPr/>
        </p:nvSpPr>
        <p:spPr>
          <a:xfrm>
            <a:off x="90688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−2,917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Text 86"/>
          <p:cNvSpPr/>
          <p:nvPr/>
        </p:nvSpPr>
        <p:spPr>
          <a:xfrm>
            <a:off x="9068888"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−0,176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8" name="Text 96"/>
          <p:cNvSpPr/>
          <p:nvPr/>
        </p:nvSpPr>
        <p:spPr>
          <a:xfrm>
            <a:off x="9068888"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+0,313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 9"/>
          <p:cNvSpPr/>
          <p:nvPr/>
        </p:nvSpPr>
        <p:spPr>
          <a:xfrm>
            <a:off x="1731344"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1740488"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−0,083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 29"/>
          <p:cNvSpPr/>
          <p:nvPr/>
        </p:nvSpPr>
        <p:spPr>
          <a:xfrm>
            <a:off x="1740488"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−2,196</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54"/>
          <p:cNvSpPr/>
          <p:nvPr/>
        </p:nvSpPr>
        <p:spPr>
          <a:xfrm>
            <a:off x="7553427" y="1798028"/>
            <a:ext cx="103171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Бисопролол</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(изм.)</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6" name="Text 64"/>
          <p:cNvSpPr/>
          <p:nvPr/>
        </p:nvSpPr>
        <p:spPr>
          <a:xfrm>
            <a:off x="7562571" y="2182076"/>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−12,208</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6" name="Text 74"/>
          <p:cNvSpPr/>
          <p:nvPr/>
        </p:nvSpPr>
        <p:spPr>
          <a:xfrm>
            <a:off x="7562571" y="2675852"/>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−10,503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6" name="Text 84"/>
          <p:cNvSpPr/>
          <p:nvPr/>
        </p:nvSpPr>
        <p:spPr>
          <a:xfrm>
            <a:off x="7562571" y="3169628"/>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06B71"/>
                </a:solidFill>
                <a:effectLst/>
                <a:uLnTx/>
                <a:uFillTx/>
                <a:latin typeface="Arial" panose="020B0604020202020204" pitchFamily="34" charset="0"/>
                <a:ea typeface="Arial" pitchFamily="34" charset="-122"/>
                <a:cs typeface="Arial" panose="020B0604020202020204" pitchFamily="34" charset="0"/>
              </a:rPr>
              <a:t>−1,109</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Text 94"/>
          <p:cNvSpPr/>
          <p:nvPr/>
        </p:nvSpPr>
        <p:spPr>
          <a:xfrm>
            <a:off x="7562571" y="3663404"/>
            <a:ext cx="1013430"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3A42"/>
                </a:solidFill>
                <a:effectLst/>
                <a:uLnTx/>
                <a:uFillTx/>
                <a:latin typeface="Arial" panose="020B0604020202020204" pitchFamily="34" charset="0"/>
                <a:ea typeface="Arial" pitchFamily="34" charset="-122"/>
                <a:cs typeface="Arial" panose="020B0604020202020204" pitchFamily="34" charset="0"/>
              </a:rPr>
              <a:t>−1,850</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Бисопролол у пациентов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на</a:t>
            </a:r>
            <a:r>
              <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rPr>
              <a:t> </a:t>
            </a:r>
            <a:r>
              <a:rPr kumimoji="0" lang="en-US" sz="2200" b="1" i="0" u="none" strike="noStrike" kern="1200" cap="none" spc="0" normalizeH="0" baseline="0" noProof="0" dirty="0" err="1">
                <a:ln>
                  <a:noFill/>
                </a:ln>
                <a:solidFill>
                  <a:srgbClr val="265374"/>
                </a:solidFill>
                <a:effectLst/>
                <a:uLnTx/>
                <a:uFillTx/>
                <a:latin typeface="Verdana" panose="020B0604030504040204" pitchFamily="34" charset="0"/>
                <a:ea typeface="Verdana" panose="020B0604030504040204" pitchFamily="34" charset="0"/>
                <a:cs typeface="+mn-cs"/>
              </a:rPr>
              <a:t>гемодиализе</a:t>
            </a:r>
            <a:endParaRPr kumimoji="0" lang="en-US" sz="2200" b="1" i="0" u="none" strike="noStrike" kern="1200" cap="none" spc="0" normalizeH="0" baseline="0" noProof="0" dirty="0">
              <a:ln>
                <a:noFill/>
              </a:ln>
              <a:solidFill>
                <a:srgbClr val="265374"/>
              </a:solidFill>
              <a:effectLst/>
              <a:uLnTx/>
              <a:uFillTx/>
              <a:latin typeface="Verdana" panose="020B0604030504040204" pitchFamily="34" charset="0"/>
              <a:ea typeface="Verdana" panose="020B0604030504040204" pitchFamily="34" charset="0"/>
              <a:cs typeface="+mn-cs"/>
            </a:endParaRPr>
          </a:p>
        </p:txBody>
      </p:sp>
      <p:sp>
        <p:nvSpPr>
          <p:cNvPr id="3" name="Text 1"/>
          <p:cNvSpPr/>
          <p:nvPr/>
        </p:nvSpPr>
        <p:spPr>
          <a:xfrm>
            <a:off x="457200" y="914400"/>
            <a:ext cx="1124712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5A6B7A"/>
                </a:solidFill>
                <a:effectLst/>
                <a:uLnTx/>
                <a:uFillTx/>
                <a:latin typeface="Calibri" pitchFamily="34" charset="0"/>
                <a:ea typeface="Calibri" pitchFamily="34" charset="-122"/>
                <a:cs typeface="Calibri" pitchFamily="34" charset="-120"/>
              </a:rPr>
              <a:t>Данные реальной клинической практики при терминальной ХБП</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325880"/>
            <a:ext cx="11247120" cy="0"/>
          </a:xfrm>
          <a:prstGeom prst="line">
            <a:avLst/>
          </a:prstGeom>
          <a:noFill/>
          <a:ln w="9525">
            <a:solidFill>
              <a:srgbClr val="D4DCE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554480"/>
            <a:ext cx="1124712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Wu PH et al., Clinical Kidney Journal 2021</a:t>
            </a:r>
            <a:r>
              <a:rPr kumimoji="0" lang="en-US" sz="1600" b="1" i="0" u="none" strike="noStrike" kern="1200" cap="none" spc="0" normalizeH="0" baseline="3000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1</a:t>
            </a: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 тайваньское когортное исследование, </a:t>
            </a: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n = 20 476</a:t>
            </a:r>
            <a:r>
              <a:rPr kumimoji="0" lang="en-US" sz="16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пациентов на гемодиализе (бисопролол 9 305 vs карведилол 11 171); 2-летнее наблюдение, propensity score matching.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ext 4"/>
          <p:cNvSpPr/>
          <p:nvPr/>
        </p:nvSpPr>
        <p:spPr>
          <a:xfrm>
            <a:off x="457200" y="2194560"/>
            <a:ext cx="11247120" cy="228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Ретроспективное когортное исследование</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
          <p:cNvSpPr/>
          <p:nvPr/>
        </p:nvSpPr>
        <p:spPr>
          <a:xfrm>
            <a:off x="45720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Shape 6"/>
          <p:cNvSpPr/>
          <p:nvPr/>
        </p:nvSpPr>
        <p:spPr>
          <a:xfrm>
            <a:off x="457200" y="2651760"/>
            <a:ext cx="73152" cy="1828800"/>
          </a:xfrm>
          <a:prstGeom prst="rect">
            <a:avLst/>
          </a:prstGeom>
          <a:solidFill>
            <a:srgbClr val="065A82"/>
          </a:solidFill>
          <a:ln w="12700">
            <a:solidFill>
              <a:srgbClr val="065A8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62179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a:t>
            </a:r>
            <a:r>
              <a:rPr kumimoji="0" lang="en-US" sz="3800" b="1" i="0" u="none" strike="noStrike" kern="1200" cap="none" spc="0" normalizeH="0" baseline="0" noProof="0" dirty="0">
                <a:ln>
                  <a:noFill/>
                </a:ln>
                <a:solidFill>
                  <a:srgbClr val="065A82"/>
                </a:solidFill>
                <a:effectLst/>
                <a:uLnTx/>
                <a:uFillTx/>
                <a:latin typeface="Calibri Light" panose="020F0302020204030204"/>
                <a:ea typeface="Calibri" pitchFamily="34" charset="-122"/>
                <a:cs typeface="Arial" panose="020B0604020202020204" pitchFamily="34" charset="0"/>
              </a:rPr>
              <a:t> </a:t>
            </a: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34%</a:t>
            </a:r>
          </a:p>
        </p:txBody>
      </p:sp>
      <p:sp>
        <p:nvSpPr>
          <p:cNvPr id="10" name="Text 8"/>
          <p:cNvSpPr/>
          <p:nvPr/>
        </p:nvSpPr>
        <p:spPr>
          <a:xfrm>
            <a:off x="62179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Общая смертность</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 9"/>
          <p:cNvSpPr/>
          <p:nvPr/>
        </p:nvSpPr>
        <p:spPr>
          <a:xfrm>
            <a:off x="62179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0.66 (95% ДИ 0.60–0.73)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10"/>
          <p:cNvSpPr/>
          <p:nvPr/>
        </p:nvSpPr>
        <p:spPr>
          <a:xfrm>
            <a:off x="329184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Shape 11"/>
          <p:cNvSpPr/>
          <p:nvPr/>
        </p:nvSpPr>
        <p:spPr>
          <a:xfrm>
            <a:off x="329184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345643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17%</a:t>
            </a:r>
          </a:p>
        </p:txBody>
      </p:sp>
      <p:sp>
        <p:nvSpPr>
          <p:cNvPr id="15" name="Text 13"/>
          <p:cNvSpPr/>
          <p:nvPr/>
        </p:nvSpPr>
        <p:spPr>
          <a:xfrm>
            <a:off x="345643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Госпитализация по СН</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14"/>
          <p:cNvSpPr/>
          <p:nvPr/>
        </p:nvSpPr>
        <p:spPr>
          <a:xfrm>
            <a:off x="345643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0.83 (95% ДИ 0.77–0.91)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15"/>
          <p:cNvSpPr/>
          <p:nvPr/>
        </p:nvSpPr>
        <p:spPr>
          <a:xfrm>
            <a:off x="612648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Shape 16"/>
          <p:cNvSpPr/>
          <p:nvPr/>
        </p:nvSpPr>
        <p:spPr>
          <a:xfrm>
            <a:off x="612648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17"/>
          <p:cNvSpPr/>
          <p:nvPr/>
        </p:nvSpPr>
        <p:spPr>
          <a:xfrm>
            <a:off x="629107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16%</a:t>
            </a:r>
          </a:p>
        </p:txBody>
      </p:sp>
      <p:sp>
        <p:nvSpPr>
          <p:cNvPr id="20" name="Text 18"/>
          <p:cNvSpPr/>
          <p:nvPr/>
        </p:nvSpPr>
        <p:spPr>
          <a:xfrm>
            <a:off x="629107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Ишемический инсульт</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629107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0.84 (95% ДИ 0.72–0.97)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20"/>
          <p:cNvSpPr/>
          <p:nvPr/>
        </p:nvSpPr>
        <p:spPr>
          <a:xfrm>
            <a:off x="8961120" y="2651760"/>
            <a:ext cx="2697480" cy="182880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Shape 21"/>
          <p:cNvSpPr/>
          <p:nvPr/>
        </p:nvSpPr>
        <p:spPr>
          <a:xfrm>
            <a:off x="8961120" y="2651760"/>
            <a:ext cx="73152" cy="1828800"/>
          </a:xfrm>
          <a:prstGeom prst="rect">
            <a:avLst/>
          </a:prstGeom>
          <a:solidFill>
            <a:srgbClr val="1C7293"/>
          </a:solidFill>
          <a:ln w="12700">
            <a:solidFill>
              <a:srgbClr val="1C72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22"/>
          <p:cNvSpPr/>
          <p:nvPr/>
        </p:nvSpPr>
        <p:spPr>
          <a:xfrm>
            <a:off x="9125712" y="2788920"/>
            <a:ext cx="2468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65A82"/>
                </a:solidFill>
                <a:effectLst/>
                <a:uLnTx/>
                <a:uFillTx/>
                <a:latin typeface="Calibri" pitchFamily="34" charset="0"/>
                <a:ea typeface="Calibri" pitchFamily="34" charset="-122"/>
                <a:cs typeface="Calibri" pitchFamily="34" charset="-120"/>
              </a:rPr>
              <a:t>↓ 15%</a:t>
            </a:r>
          </a:p>
        </p:txBody>
      </p:sp>
      <p:sp>
        <p:nvSpPr>
          <p:cNvPr id="25" name="Text 23"/>
          <p:cNvSpPr/>
          <p:nvPr/>
        </p:nvSpPr>
        <p:spPr>
          <a:xfrm>
            <a:off x="9125712" y="3611880"/>
            <a:ext cx="24688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MACE</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 24"/>
          <p:cNvSpPr/>
          <p:nvPr/>
        </p:nvSpPr>
        <p:spPr>
          <a:xfrm>
            <a:off x="9125712" y="4023360"/>
            <a:ext cx="246888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ОР 0.85 (95% ДИ 0.80–0.91)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 25"/>
          <p:cNvSpPr/>
          <p:nvPr/>
        </p:nvSpPr>
        <p:spPr>
          <a:xfrm>
            <a:off x="457200" y="4617720"/>
            <a:ext cx="1124712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Различий по риску острого инфаркта миокарда между бисопрололом и карведилолом не выявлено (ОР 1.03; 95% ДИ 0.93–1.15).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 name="Shape 26"/>
          <p:cNvSpPr/>
          <p:nvPr/>
        </p:nvSpPr>
        <p:spPr>
          <a:xfrm>
            <a:off x="457200" y="5166360"/>
            <a:ext cx="11247120" cy="1280160"/>
          </a:xfrm>
          <a:prstGeom prst="rect">
            <a:avLst/>
          </a:prstGeom>
          <a:solidFill>
            <a:srgbClr val="F4F7FA"/>
          </a:solidFill>
          <a:ln w="12700">
            <a:solidFill>
              <a:srgbClr val="F4F7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Shape 27"/>
          <p:cNvSpPr/>
          <p:nvPr/>
        </p:nvSpPr>
        <p:spPr>
          <a:xfrm>
            <a:off x="457200" y="5166360"/>
            <a:ext cx="73152" cy="1280160"/>
          </a:xfrm>
          <a:prstGeom prst="rect">
            <a:avLst/>
          </a:prstGeom>
          <a:solidFill>
            <a:srgbClr val="21295C"/>
          </a:solidFill>
          <a:ln w="12700">
            <a:solidFill>
              <a:srgbClr val="2129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Text 28"/>
          <p:cNvSpPr/>
          <p:nvPr/>
        </p:nvSpPr>
        <p:spPr>
          <a:xfrm>
            <a:off x="731520" y="5212080"/>
            <a:ext cx="108813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1295C"/>
                </a:solidFill>
                <a:effectLst/>
                <a:uLnTx/>
                <a:uFillTx/>
                <a:latin typeface="Arial" panose="020B0604020202020204" pitchFamily="34" charset="0"/>
                <a:ea typeface="Calibri" pitchFamily="34" charset="-122"/>
                <a:cs typeface="Arial" panose="020B0604020202020204" pitchFamily="34" charset="0"/>
              </a:rPr>
              <a:t>Дозирование бисопролола при нарушении функции почек</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 29"/>
          <p:cNvSpPr/>
          <p:nvPr/>
        </p:nvSpPr>
        <p:spPr>
          <a:xfrm>
            <a:off x="731520" y="5532120"/>
            <a:ext cx="1088136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Стартовая доза: </a:t>
            </a:r>
            <a:r>
              <a:rPr kumimoji="0" lang="en-US" sz="14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2.5 мг 1 раз в сутки</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при почечной или печёночной недостаточности.</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Максимальная доза: </a:t>
            </a:r>
            <a:r>
              <a:rPr kumimoji="0" lang="en-US" sz="1400" b="1" i="0" u="none" strike="noStrike" kern="1200" cap="none" spc="0" normalizeH="0" baseline="0" noProof="0" dirty="0">
                <a:ln>
                  <a:noFill/>
                </a:ln>
                <a:solidFill>
                  <a:srgbClr val="065A82"/>
                </a:solidFill>
                <a:effectLst/>
                <a:uLnTx/>
                <a:uFillTx/>
                <a:latin typeface="Arial" panose="020B0604020202020204" pitchFamily="34" charset="0"/>
                <a:ea typeface="Calibri" pitchFamily="34" charset="-122"/>
                <a:cs typeface="Arial" panose="020B0604020202020204" pitchFamily="34" charset="0"/>
              </a:rPr>
              <a:t>не более 10 мг/сут</a:t>
            </a:r>
            <a:r>
              <a:rPr kumimoji="0" lang="en-US" sz="1400" b="0" i="0" u="none" strike="noStrike" kern="1200" cap="none" spc="0" normalizeH="0" baseline="0" noProof="0" dirty="0">
                <a:ln>
                  <a:noFill/>
                </a:ln>
                <a:solidFill>
                  <a:srgbClr val="1A1A1A"/>
                </a:solidFill>
                <a:effectLst/>
                <a:uLnTx/>
                <a:uFillTx/>
                <a:latin typeface="Arial" panose="020B0604020202020204" pitchFamily="34" charset="0"/>
                <a:ea typeface="Calibri" pitchFamily="34" charset="-122"/>
                <a:cs typeface="Arial" panose="020B0604020202020204" pitchFamily="34" charset="0"/>
              </a:rPr>
              <a:t> при тяжёлой или терминальной ХБП.</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1" u="none" strike="noStrike" kern="1200" cap="none" spc="0" normalizeH="0" baseline="0" noProof="0" dirty="0">
                <a:ln>
                  <a:noFill/>
                </a:ln>
                <a:solidFill>
                  <a:srgbClr val="5A6B7A"/>
                </a:solidFill>
                <a:effectLst/>
                <a:uLnTx/>
                <a:uFillTx/>
                <a:latin typeface="Arial" panose="020B0604020202020204" pitchFamily="34" charset="0"/>
                <a:ea typeface="Calibri" pitchFamily="34" charset="-122"/>
                <a:cs typeface="Arial" panose="020B0604020202020204" pitchFamily="34" charset="0"/>
              </a:rPr>
              <a:t>Период полувыведения увеличивается лишь в ~2 раза по сравнению с нормальной функцией почек — нет значимой кумуляции.</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 30"/>
          <p:cNvSpPr/>
          <p:nvPr/>
        </p:nvSpPr>
        <p:spPr>
          <a:xfrm>
            <a:off x="457200" y="6583680"/>
            <a:ext cx="112471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5.1. Wu PH, et al. Comparative effectiveness of bisoprolol and carvedilol among patients receiving maintenance hemodialysis. Clin Kidney J 2021;14(3):983–990. DOI: 10.1093/</a:t>
            </a:r>
            <a:r>
              <a:rPr kumimoji="0" 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ckj</a:t>
            </a: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/sfaa248</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C8CD4-6D4C-9AA8-E302-206FB5817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D1D42-22FC-F57A-5F58-023D5CF9986B}"/>
              </a:ext>
            </a:extLst>
          </p:cNvPr>
          <p:cNvSpPr txBox="1">
            <a:spLocks/>
          </p:cNvSpPr>
          <p:nvPr/>
        </p:nvSpPr>
        <p:spPr>
          <a:xfrm>
            <a:off x="460418" y="121480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Оптимальная медикаментозная терапия — комплексный подход, направленный на улучшение прогноза и качества жизни пациентов с ИБС</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27075CC3-F15A-F428-8ADB-BA3A287E8CC4}"/>
              </a:ext>
            </a:extLst>
          </p:cNvPr>
          <p:cNvSpPr>
            <a:spLocks noChangeAspect="1"/>
          </p:cNvSpPr>
          <p:nvPr/>
        </p:nvSpPr>
        <p:spPr>
          <a:xfrm>
            <a:off x="443079" y="350102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15F368D6-DFF5-AE88-6A8B-601371569B4E}"/>
              </a:ext>
            </a:extLst>
          </p:cNvPr>
          <p:cNvSpPr>
            <a:spLocks noChangeAspect="1"/>
          </p:cNvSpPr>
          <p:nvPr/>
        </p:nvSpPr>
        <p:spPr>
          <a:xfrm>
            <a:off x="460418" y="3521513"/>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2F1735A4-C019-251E-D0E1-98C1316273F6}"/>
              </a:ext>
            </a:extLst>
          </p:cNvPr>
          <p:cNvSpPr>
            <a:spLocks noChangeAspect="1"/>
          </p:cNvSpPr>
          <p:nvPr/>
        </p:nvSpPr>
        <p:spPr>
          <a:xfrm>
            <a:off x="443079" y="233475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DF1786DA-B342-59B2-2986-79D966438B50}"/>
              </a:ext>
            </a:extLst>
          </p:cNvPr>
          <p:cNvSpPr>
            <a:spLocks noChangeAspect="1"/>
          </p:cNvSpPr>
          <p:nvPr/>
        </p:nvSpPr>
        <p:spPr>
          <a:xfrm>
            <a:off x="460418" y="2355248"/>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D076EEAE-D6D4-BCD8-A0F3-0694E3E6677B}"/>
              </a:ext>
            </a:extLst>
          </p:cNvPr>
          <p:cNvSpPr>
            <a:spLocks noChangeAspect="1"/>
          </p:cNvSpPr>
          <p:nvPr/>
        </p:nvSpPr>
        <p:spPr>
          <a:xfrm>
            <a:off x="443079" y="4667290"/>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BD2B70BF-5DF4-7CA6-FF82-A5D65C4F4926}"/>
              </a:ext>
            </a:extLst>
          </p:cNvPr>
          <p:cNvSpPr>
            <a:spLocks noChangeAspect="1"/>
          </p:cNvSpPr>
          <p:nvPr/>
        </p:nvSpPr>
        <p:spPr>
          <a:xfrm>
            <a:off x="460418" y="4687780"/>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11" name="Arc 10">
            <a:extLst>
              <a:ext uri="{FF2B5EF4-FFF2-40B4-BE49-F238E27FC236}">
                <a16:creationId xmlns:a16="http://schemas.microsoft.com/office/drawing/2014/main" id="{9D0A7683-BFAB-B79C-2263-44E88CCBC3FE}"/>
              </a:ext>
            </a:extLst>
          </p:cNvPr>
          <p:cNvSpPr/>
          <p:nvPr/>
        </p:nvSpPr>
        <p:spPr>
          <a:xfrm flipH="1">
            <a:off x="378664" y="2278266"/>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F563496A-3BB4-E8E7-006D-3CDE3DFDCADA}"/>
              </a:ext>
            </a:extLst>
          </p:cNvPr>
          <p:cNvSpPr/>
          <p:nvPr/>
        </p:nvSpPr>
        <p:spPr>
          <a:xfrm flipH="1">
            <a:off x="378664" y="3444531"/>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9B47A0C9-4182-7A89-D0EA-257E0835DBF4}"/>
              </a:ext>
            </a:extLst>
          </p:cNvPr>
          <p:cNvSpPr/>
          <p:nvPr/>
        </p:nvSpPr>
        <p:spPr>
          <a:xfrm flipH="1">
            <a:off x="378664" y="4610798"/>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0A4F95EB-EC3D-5148-1DAC-B714AB9A21BB}"/>
              </a:ext>
            </a:extLst>
          </p:cNvPr>
          <p:cNvCxnSpPr>
            <a:cxnSpLocks/>
          </p:cNvCxnSpPr>
          <p:nvPr/>
        </p:nvCxnSpPr>
        <p:spPr>
          <a:xfrm>
            <a:off x="913986" y="3350511"/>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E61D746D-5219-02D7-71A1-8F185F0265CA}"/>
              </a:ext>
            </a:extLst>
          </p:cNvPr>
          <p:cNvCxnSpPr>
            <a:cxnSpLocks/>
          </p:cNvCxnSpPr>
          <p:nvPr/>
        </p:nvCxnSpPr>
        <p:spPr>
          <a:xfrm>
            <a:off x="923467" y="4516777"/>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95D521E6-4C21-7FFD-B36A-B747BB9D1BF6}"/>
              </a:ext>
            </a:extLst>
          </p:cNvPr>
          <p:cNvCxnSpPr>
            <a:cxnSpLocks/>
          </p:cNvCxnSpPr>
          <p:nvPr/>
        </p:nvCxnSpPr>
        <p:spPr>
          <a:xfrm>
            <a:off x="923467" y="5683043"/>
            <a:ext cx="10800220" cy="0"/>
          </a:xfrm>
          <a:prstGeom prst="line">
            <a:avLst/>
          </a:prstGeom>
          <a:noFill/>
          <a:ln w="38100" cap="rnd" cmpd="sng" algn="ctr">
            <a:solidFill>
              <a:srgbClr val="43B02A"/>
            </a:solidFill>
            <a:prstDash val="solid"/>
            <a:round/>
          </a:ln>
          <a:effectLst/>
        </p:spPr>
      </p:cxnSp>
      <p:sp>
        <p:nvSpPr>
          <p:cNvPr id="19" name="Rounded Rectangle 69">
            <a:extLst>
              <a:ext uri="{FF2B5EF4-FFF2-40B4-BE49-F238E27FC236}">
                <a16:creationId xmlns:a16="http://schemas.microsoft.com/office/drawing/2014/main" id="{7289233E-4847-1CA1-6FB3-FEEF8A5AF8B6}"/>
              </a:ext>
            </a:extLst>
          </p:cNvPr>
          <p:cNvSpPr>
            <a:spLocks/>
          </p:cNvSpPr>
          <p:nvPr/>
        </p:nvSpPr>
        <p:spPr>
          <a:xfrm>
            <a:off x="1470375" y="2414212"/>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ОМТ при стабильной ИБС — многокомпонентная стратегия</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AF1FFE33-98BE-1F50-FB30-0CDB60B88321}"/>
              </a:ext>
            </a:extLst>
          </p:cNvPr>
          <p:cNvSpPr>
            <a:spLocks/>
          </p:cNvSpPr>
          <p:nvPr/>
        </p:nvSpPr>
        <p:spPr>
          <a:xfrm>
            <a:off x="1470375" y="3580478"/>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Антиишемический выбор определяется гемодинамическим профилем</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1" name="Rounded Rectangle 69">
            <a:extLst>
              <a:ext uri="{FF2B5EF4-FFF2-40B4-BE49-F238E27FC236}">
                <a16:creationId xmlns:a16="http://schemas.microsoft.com/office/drawing/2014/main" id="{CC8A0C43-6E9F-A07D-9A33-57A1080862A7}"/>
              </a:ext>
            </a:extLst>
          </p:cNvPr>
          <p:cNvSpPr>
            <a:spLocks/>
          </p:cNvSpPr>
          <p:nvPr/>
        </p:nvSpPr>
        <p:spPr>
          <a:xfrm>
            <a:off x="1470375" y="4746744"/>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При сочетании АГ + ИБС β-блокаторы и ДГП-БКК выполняют двойную функцию: к</a:t>
            </a:r>
            <a:r>
              <a:rPr kumimoji="0" lang="ru-RU" sz="1600" b="1" i="0" u="none" strike="noStrike" kern="0" cap="none" spc="0" normalizeH="0" baseline="0" noProof="0" dirty="0" err="1">
                <a:ln>
                  <a:noFill/>
                </a:ln>
                <a:solidFill>
                  <a:srgbClr val="2B3A42"/>
                </a:solidFill>
                <a:effectLst/>
                <a:uLnTx/>
                <a:uFillTx/>
                <a:latin typeface="Arial" panose="020B0604020202020204" pitchFamily="34" charset="0"/>
                <a:ea typeface="+mn-ea"/>
                <a:cs typeface="Arial" panose="020B0604020202020204" pitchFamily="34" charset="0"/>
              </a:rPr>
              <a:t>онтроль</a:t>
            </a: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 АД и антиангинальный эффект одновременно</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42851A51-C3BD-5B4F-AE39-272D7183FFD4}"/>
              </a:ext>
            </a:extLst>
          </p:cNvPr>
          <p:cNvSpPr txBox="1"/>
          <p:nvPr/>
        </p:nvSpPr>
        <p:spPr>
          <a:xfrm>
            <a:off x="6314096" y="6365063"/>
            <a:ext cx="48041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ДГП-БКК – </a:t>
            </a:r>
            <a:r>
              <a:rPr kumimoji="0" lang="ru-RU" sz="1200" b="0" i="0" u="none" strike="noStrike" kern="1200" cap="none" spc="0" normalizeH="0" baseline="0" noProof="0" dirty="0" err="1">
                <a:ln>
                  <a:noFill/>
                </a:ln>
                <a:solidFill>
                  <a:prstClr val="black"/>
                </a:solidFill>
                <a:effectLst/>
                <a:uLnTx/>
                <a:uFillTx/>
                <a:latin typeface="Calibri" panose="020F0502020204030204"/>
                <a:ea typeface="+mn-ea"/>
                <a:cs typeface="+mn-cs"/>
              </a:rPr>
              <a:t>дигидропиридиновые</a:t>
            </a:r>
            <a:r>
              <a:rPr kumimoji="0" lang="ru-RU" sz="1200" b="0" i="0" u="none" strike="noStrike" kern="1200" cap="none" spc="0" normalizeH="0" baseline="0" noProof="0" dirty="0">
                <a:ln>
                  <a:noFill/>
                </a:ln>
                <a:solidFill>
                  <a:prstClr val="black"/>
                </a:solidFill>
                <a:effectLst/>
                <a:uLnTx/>
                <a:uFillTx/>
                <a:latin typeface="Calibri" panose="020F0502020204030204"/>
                <a:ea typeface="+mn-ea"/>
                <a:cs typeface="+mn-cs"/>
              </a:rPr>
              <a:t> блокаторы кальциевых каналов</a:t>
            </a:r>
          </a:p>
        </p:txBody>
      </p:sp>
      <p:sp>
        <p:nvSpPr>
          <p:cNvPr id="14" name="Rectangle: Diagonal Corners Snipped 13">
            <a:extLst>
              <a:ext uri="{FF2B5EF4-FFF2-40B4-BE49-F238E27FC236}">
                <a16:creationId xmlns:a16="http://schemas.microsoft.com/office/drawing/2014/main" id="{45D5EB40-1638-86AD-2EE1-FD6E1F0B6632}"/>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Главное из блока</a:t>
            </a:r>
          </a:p>
        </p:txBody>
      </p:sp>
    </p:spTree>
    <p:extLst>
      <p:ext uri="{BB962C8B-B14F-4D97-AF65-F5344CB8AC3E}">
        <p14:creationId xmlns:p14="http://schemas.microsoft.com/office/powerpoint/2010/main" val="35682103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1324F-52DF-F0F9-5734-27ABCA7FD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4A72C-0AEE-491B-7E78-013E7667590C}"/>
              </a:ext>
            </a:extLst>
          </p:cNvPr>
          <p:cNvSpPr txBox="1">
            <a:spLocks/>
          </p:cNvSpPr>
          <p:nvPr/>
        </p:nvSpPr>
        <p:spPr>
          <a:xfrm>
            <a:off x="375646" y="621237"/>
            <a:ext cx="11338560" cy="768263"/>
          </a:xfrm>
          <a:prstGeom prst="rect">
            <a:avLst/>
          </a:prstGeom>
        </p:spPr>
        <p:txBody>
          <a:bodyPr lIns="91440" tIns="45720" rIns="91440" bIns="45720" anchor="b" anchorCtr="0"/>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Конкор</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АМ — фармакологически и клинически обоснованная комбинация </a:t>
            </a:r>
            <a:r>
              <a:rPr kumimoji="0" lang="ru-RU" sz="2800" b="1" i="0" u="none" strike="noStrike" kern="1200" cap="none" spc="0" normalizeH="0" baseline="0" noProof="0" dirty="0" err="1">
                <a:ln>
                  <a:noFill/>
                </a:ln>
                <a:solidFill>
                  <a:srgbClr val="2B3A42"/>
                </a:solidFill>
                <a:effectLst/>
                <a:uLnTx/>
                <a:uFillTx/>
                <a:latin typeface="Arial" panose="020B0604020202020204"/>
                <a:ea typeface="+mj-ea"/>
                <a:cs typeface="+mj-cs"/>
              </a:rPr>
              <a:t>бисопролола</a:t>
            </a:r>
            <a:r>
              <a:rPr kumimoji="0" lang="ru-RU" sz="2800" b="1" i="0" u="none" strike="noStrike" kern="1200" cap="none" spc="0" normalizeH="0" baseline="0" noProof="0" dirty="0">
                <a:ln>
                  <a:noFill/>
                </a:ln>
                <a:solidFill>
                  <a:srgbClr val="2B3A42"/>
                </a:solidFill>
                <a:effectLst/>
                <a:uLnTx/>
                <a:uFillTx/>
                <a:latin typeface="Arial" panose="020B0604020202020204"/>
                <a:ea typeface="+mj-ea"/>
                <a:cs typeface="+mj-cs"/>
              </a:rPr>
              <a:t> и амлодипина</a:t>
            </a:r>
            <a:endParaRPr kumimoji="0" lang="en-US" sz="2800" b="1" i="0" u="none" strike="noStrike" kern="1200" cap="none" spc="0" normalizeH="0" baseline="0" noProof="0" dirty="0">
              <a:ln>
                <a:noFill/>
              </a:ln>
              <a:solidFill>
                <a:srgbClr val="2B3A42"/>
              </a:solidFill>
              <a:effectLst/>
              <a:uLnTx/>
              <a:uFillTx/>
              <a:latin typeface="Arial" panose="020B0604020202020204"/>
              <a:ea typeface="+mj-ea"/>
              <a:cs typeface="+mj-cs"/>
            </a:endParaRPr>
          </a:p>
        </p:txBody>
      </p:sp>
      <p:sp>
        <p:nvSpPr>
          <p:cNvPr id="3" name="Oval 2">
            <a:extLst>
              <a:ext uri="{FF2B5EF4-FFF2-40B4-BE49-F238E27FC236}">
                <a16:creationId xmlns:a16="http://schemas.microsoft.com/office/drawing/2014/main" id="{7696D3F8-BBA0-B1C7-0BB9-11D96E351ECC}"/>
              </a:ext>
            </a:extLst>
          </p:cNvPr>
          <p:cNvSpPr>
            <a:spLocks noChangeAspect="1"/>
          </p:cNvSpPr>
          <p:nvPr/>
        </p:nvSpPr>
        <p:spPr>
          <a:xfrm>
            <a:off x="443079" y="2804832"/>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4" name="Oval 3">
            <a:extLst>
              <a:ext uri="{FF2B5EF4-FFF2-40B4-BE49-F238E27FC236}">
                <a16:creationId xmlns:a16="http://schemas.microsoft.com/office/drawing/2014/main" id="{5444A50D-E967-AC59-50EA-2EFB9B75F8BA}"/>
              </a:ext>
            </a:extLst>
          </p:cNvPr>
          <p:cNvSpPr>
            <a:spLocks noChangeAspect="1"/>
          </p:cNvSpPr>
          <p:nvPr/>
        </p:nvSpPr>
        <p:spPr>
          <a:xfrm>
            <a:off x="460418" y="2825321"/>
            <a:ext cx="914400" cy="914400"/>
          </a:xfrm>
          <a:prstGeom prst="ellipse">
            <a:avLst/>
          </a:prstGeom>
          <a:solidFill>
            <a:srgbClr val="005587"/>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 name="Oval 4">
            <a:extLst>
              <a:ext uri="{FF2B5EF4-FFF2-40B4-BE49-F238E27FC236}">
                <a16:creationId xmlns:a16="http://schemas.microsoft.com/office/drawing/2014/main" id="{C992C12D-55C8-6F2D-0CA0-939388F44B9F}"/>
              </a:ext>
            </a:extLst>
          </p:cNvPr>
          <p:cNvSpPr>
            <a:spLocks noChangeAspect="1"/>
          </p:cNvSpPr>
          <p:nvPr/>
        </p:nvSpPr>
        <p:spPr>
          <a:xfrm>
            <a:off x="443079" y="1638566"/>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6" name="Oval 5">
            <a:extLst>
              <a:ext uri="{FF2B5EF4-FFF2-40B4-BE49-F238E27FC236}">
                <a16:creationId xmlns:a16="http://schemas.microsoft.com/office/drawing/2014/main" id="{9D9106A7-F103-4D5F-490D-EE0578289B3E}"/>
              </a:ext>
            </a:extLst>
          </p:cNvPr>
          <p:cNvSpPr>
            <a:spLocks noChangeAspect="1"/>
          </p:cNvSpPr>
          <p:nvPr/>
        </p:nvSpPr>
        <p:spPr>
          <a:xfrm>
            <a:off x="460418" y="1659056"/>
            <a:ext cx="914400" cy="914400"/>
          </a:xfrm>
          <a:prstGeom prst="ellipse">
            <a:avLst/>
          </a:prstGeom>
          <a:solidFill>
            <a:srgbClr val="00A3E0"/>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7" name="Oval 6">
            <a:extLst>
              <a:ext uri="{FF2B5EF4-FFF2-40B4-BE49-F238E27FC236}">
                <a16:creationId xmlns:a16="http://schemas.microsoft.com/office/drawing/2014/main" id="{F7E0835A-56C4-87EA-D5A2-1979F3F3F408}"/>
              </a:ext>
            </a:extLst>
          </p:cNvPr>
          <p:cNvSpPr>
            <a:spLocks noChangeAspect="1"/>
          </p:cNvSpPr>
          <p:nvPr/>
        </p:nvSpPr>
        <p:spPr>
          <a:xfrm>
            <a:off x="443079" y="3971098"/>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1EB27B95-AE68-F18C-0575-0D6CD712CBBD}"/>
              </a:ext>
            </a:extLst>
          </p:cNvPr>
          <p:cNvSpPr>
            <a:spLocks noChangeAspect="1"/>
          </p:cNvSpPr>
          <p:nvPr/>
        </p:nvSpPr>
        <p:spPr>
          <a:xfrm>
            <a:off x="460418" y="3991588"/>
            <a:ext cx="914400" cy="914400"/>
          </a:xfrm>
          <a:prstGeom prst="ellipse">
            <a:avLst/>
          </a:prstGeom>
          <a:solidFill>
            <a:srgbClr val="43B02A"/>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p>
        </p:txBody>
      </p:sp>
      <p:sp>
        <p:nvSpPr>
          <p:cNvPr id="9" name="Oval 8">
            <a:extLst>
              <a:ext uri="{FF2B5EF4-FFF2-40B4-BE49-F238E27FC236}">
                <a16:creationId xmlns:a16="http://schemas.microsoft.com/office/drawing/2014/main" id="{6FC39244-1E4A-9554-462D-70EAAD068962}"/>
              </a:ext>
            </a:extLst>
          </p:cNvPr>
          <p:cNvSpPr>
            <a:spLocks noChangeAspect="1"/>
          </p:cNvSpPr>
          <p:nvPr/>
        </p:nvSpPr>
        <p:spPr>
          <a:xfrm>
            <a:off x="443079" y="5137364"/>
            <a:ext cx="941338" cy="959261"/>
          </a:xfrm>
          <a:prstGeom prst="ellipse">
            <a:avLst/>
          </a:prstGeom>
          <a:solidFill>
            <a:srgbClr val="FFFFFF"/>
          </a:solidFill>
          <a:ln w="12700" cap="flat" cmpd="sng" algn="ctr">
            <a:solidFill>
              <a:srgbClr val="FFFFFF"/>
            </a:solidFill>
            <a:prstDash val="solid"/>
            <a:miter lim="800000"/>
          </a:ln>
          <a:effectLst/>
        </p:spPr>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err="1">
              <a:ln>
                <a:noFill/>
              </a:ln>
              <a:solidFill>
                <a:srgbClr val="FFFFFF"/>
              </a:solidFill>
              <a:effectLst/>
              <a:uLnTx/>
              <a:uFillTx/>
              <a:latin typeface="Arial" panose="020B0604020202020204"/>
              <a:ea typeface="+mn-ea"/>
              <a:cs typeface="+mn-cs"/>
            </a:endParaRPr>
          </a:p>
        </p:txBody>
      </p:sp>
      <p:sp>
        <p:nvSpPr>
          <p:cNvPr id="10" name="Oval 9">
            <a:extLst>
              <a:ext uri="{FF2B5EF4-FFF2-40B4-BE49-F238E27FC236}">
                <a16:creationId xmlns:a16="http://schemas.microsoft.com/office/drawing/2014/main" id="{90CE40F8-8E4B-3103-7870-C3BBB24A9E19}"/>
              </a:ext>
            </a:extLst>
          </p:cNvPr>
          <p:cNvSpPr>
            <a:spLocks noChangeAspect="1"/>
          </p:cNvSpPr>
          <p:nvPr/>
        </p:nvSpPr>
        <p:spPr>
          <a:xfrm>
            <a:off x="460418" y="5157854"/>
            <a:ext cx="914400" cy="914400"/>
          </a:xfrm>
          <a:prstGeom prst="ellipse">
            <a:avLst/>
          </a:prstGeom>
          <a:solidFill>
            <a:srgbClr val="00BFB3"/>
          </a:solidFill>
          <a:ln w="12700" cap="flat" cmpd="sng" algn="ctr">
            <a:noFill/>
            <a:prstDash val="solid"/>
            <a:miter lim="800000"/>
          </a:ln>
          <a:effectLst/>
        </p:spPr>
        <p:txBody>
          <a:bodyPr wrap="none" lIns="0" r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4</a:t>
            </a:r>
          </a:p>
        </p:txBody>
      </p:sp>
      <p:sp>
        <p:nvSpPr>
          <p:cNvPr id="11" name="Arc 10">
            <a:extLst>
              <a:ext uri="{FF2B5EF4-FFF2-40B4-BE49-F238E27FC236}">
                <a16:creationId xmlns:a16="http://schemas.microsoft.com/office/drawing/2014/main" id="{0ED012DC-C8DF-D516-7B14-5A1C1B2A3B50}"/>
              </a:ext>
            </a:extLst>
          </p:cNvPr>
          <p:cNvSpPr/>
          <p:nvPr/>
        </p:nvSpPr>
        <p:spPr>
          <a:xfrm flipH="1">
            <a:off x="378664" y="1582074"/>
            <a:ext cx="1070167" cy="1072245"/>
          </a:xfrm>
          <a:prstGeom prst="arc">
            <a:avLst>
              <a:gd name="adj1" fmla="val 16200000"/>
              <a:gd name="adj2" fmla="val 5498192"/>
            </a:avLst>
          </a:prstGeom>
          <a:noFill/>
          <a:ln w="38100" cap="rnd" cmpd="sng" algn="ctr">
            <a:solidFill>
              <a:srgbClr val="00A3E0"/>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2" name="Arc 11">
            <a:extLst>
              <a:ext uri="{FF2B5EF4-FFF2-40B4-BE49-F238E27FC236}">
                <a16:creationId xmlns:a16="http://schemas.microsoft.com/office/drawing/2014/main" id="{9846FE6D-2555-2318-43AF-8EE6D0A149DD}"/>
              </a:ext>
            </a:extLst>
          </p:cNvPr>
          <p:cNvSpPr/>
          <p:nvPr/>
        </p:nvSpPr>
        <p:spPr>
          <a:xfrm flipH="1">
            <a:off x="378664" y="2748339"/>
            <a:ext cx="1070167" cy="1072245"/>
          </a:xfrm>
          <a:prstGeom prst="arc">
            <a:avLst>
              <a:gd name="adj1" fmla="val 16200000"/>
              <a:gd name="adj2" fmla="val 5526258"/>
            </a:avLst>
          </a:prstGeom>
          <a:noFill/>
          <a:ln w="38100" cap="rnd" cmpd="sng" algn="ctr">
            <a:solidFill>
              <a:srgbClr val="005587"/>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B3A42"/>
              </a:solidFill>
              <a:effectLst/>
              <a:uLnTx/>
              <a:uFillTx/>
              <a:latin typeface="Arial" panose="020B0604020202020204"/>
              <a:ea typeface="+mn-ea"/>
              <a:cs typeface="+mn-cs"/>
            </a:endParaRPr>
          </a:p>
        </p:txBody>
      </p:sp>
      <p:sp>
        <p:nvSpPr>
          <p:cNvPr id="13" name="Arc 12">
            <a:extLst>
              <a:ext uri="{FF2B5EF4-FFF2-40B4-BE49-F238E27FC236}">
                <a16:creationId xmlns:a16="http://schemas.microsoft.com/office/drawing/2014/main" id="{C6576048-888A-49D6-3D1F-24443C2CF275}"/>
              </a:ext>
            </a:extLst>
          </p:cNvPr>
          <p:cNvSpPr/>
          <p:nvPr/>
        </p:nvSpPr>
        <p:spPr>
          <a:xfrm flipH="1">
            <a:off x="378664" y="3914606"/>
            <a:ext cx="1070167" cy="1072245"/>
          </a:xfrm>
          <a:prstGeom prst="arc">
            <a:avLst>
              <a:gd name="adj1" fmla="val 16200000"/>
              <a:gd name="adj2" fmla="val 5462501"/>
            </a:avLst>
          </a:prstGeom>
          <a:noFill/>
          <a:ln w="38100" cap="rnd" cmpd="sng" algn="ctr">
            <a:solidFill>
              <a:srgbClr val="43B02A"/>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sp>
        <p:nvSpPr>
          <p:cNvPr id="14" name="Arc 13">
            <a:extLst>
              <a:ext uri="{FF2B5EF4-FFF2-40B4-BE49-F238E27FC236}">
                <a16:creationId xmlns:a16="http://schemas.microsoft.com/office/drawing/2014/main" id="{B984830C-E875-8590-59FF-7CEF5BC16CDA}"/>
              </a:ext>
            </a:extLst>
          </p:cNvPr>
          <p:cNvSpPr/>
          <p:nvPr/>
        </p:nvSpPr>
        <p:spPr>
          <a:xfrm flipH="1">
            <a:off x="378664" y="5080872"/>
            <a:ext cx="1070167" cy="1072245"/>
          </a:xfrm>
          <a:prstGeom prst="arc">
            <a:avLst>
              <a:gd name="adj1" fmla="val 16200000"/>
              <a:gd name="adj2" fmla="val 5505012"/>
            </a:avLst>
          </a:prstGeom>
          <a:noFill/>
          <a:ln w="38100" cap="rnd" cmpd="sng" algn="ctr">
            <a:solidFill>
              <a:srgbClr val="00BFB3"/>
            </a:solid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B3A42"/>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7E5EFA92-A6C1-D71D-E935-077A44820E49}"/>
              </a:ext>
            </a:extLst>
          </p:cNvPr>
          <p:cNvCxnSpPr>
            <a:cxnSpLocks/>
          </p:cNvCxnSpPr>
          <p:nvPr/>
        </p:nvCxnSpPr>
        <p:spPr>
          <a:xfrm>
            <a:off x="913986" y="2654319"/>
            <a:ext cx="10800220" cy="0"/>
          </a:xfrm>
          <a:prstGeom prst="line">
            <a:avLst/>
          </a:prstGeom>
          <a:noFill/>
          <a:ln w="38100" cap="rnd" cmpd="sng" algn="ctr">
            <a:solidFill>
              <a:srgbClr val="00A3E0"/>
            </a:solidFill>
            <a:prstDash val="solid"/>
            <a:round/>
          </a:ln>
          <a:effectLst/>
        </p:spPr>
      </p:cxnSp>
      <p:cxnSp>
        <p:nvCxnSpPr>
          <p:cNvPr id="16" name="Straight Connector 15">
            <a:extLst>
              <a:ext uri="{FF2B5EF4-FFF2-40B4-BE49-F238E27FC236}">
                <a16:creationId xmlns:a16="http://schemas.microsoft.com/office/drawing/2014/main" id="{01DCDD69-9B4C-3C97-793B-B151E0FDBF9C}"/>
              </a:ext>
            </a:extLst>
          </p:cNvPr>
          <p:cNvCxnSpPr>
            <a:cxnSpLocks/>
          </p:cNvCxnSpPr>
          <p:nvPr/>
        </p:nvCxnSpPr>
        <p:spPr>
          <a:xfrm>
            <a:off x="923467" y="3820585"/>
            <a:ext cx="10800220" cy="0"/>
          </a:xfrm>
          <a:prstGeom prst="line">
            <a:avLst/>
          </a:prstGeom>
          <a:noFill/>
          <a:ln w="38100" cap="rnd" cmpd="sng" algn="ctr">
            <a:solidFill>
              <a:srgbClr val="005587"/>
            </a:solidFill>
            <a:prstDash val="solid"/>
            <a:round/>
          </a:ln>
          <a:effectLst/>
        </p:spPr>
      </p:cxnSp>
      <p:cxnSp>
        <p:nvCxnSpPr>
          <p:cNvPr id="17" name="Straight Connector 16">
            <a:extLst>
              <a:ext uri="{FF2B5EF4-FFF2-40B4-BE49-F238E27FC236}">
                <a16:creationId xmlns:a16="http://schemas.microsoft.com/office/drawing/2014/main" id="{C5B741A1-210C-EFEF-DDA0-0F4C4767655E}"/>
              </a:ext>
            </a:extLst>
          </p:cNvPr>
          <p:cNvCxnSpPr>
            <a:cxnSpLocks/>
          </p:cNvCxnSpPr>
          <p:nvPr/>
        </p:nvCxnSpPr>
        <p:spPr>
          <a:xfrm>
            <a:off x="923467" y="4986851"/>
            <a:ext cx="10800220" cy="0"/>
          </a:xfrm>
          <a:prstGeom prst="line">
            <a:avLst/>
          </a:prstGeom>
          <a:noFill/>
          <a:ln w="38100" cap="rnd" cmpd="sng" algn="ctr">
            <a:solidFill>
              <a:srgbClr val="43B02A"/>
            </a:solidFill>
            <a:prstDash val="solid"/>
            <a:round/>
          </a:ln>
          <a:effectLst/>
        </p:spPr>
      </p:cxnSp>
      <p:cxnSp>
        <p:nvCxnSpPr>
          <p:cNvPr id="18" name="Straight Connector 17">
            <a:extLst>
              <a:ext uri="{FF2B5EF4-FFF2-40B4-BE49-F238E27FC236}">
                <a16:creationId xmlns:a16="http://schemas.microsoft.com/office/drawing/2014/main" id="{8FB20227-1DB1-0F7F-9432-B932BCE8D093}"/>
              </a:ext>
            </a:extLst>
          </p:cNvPr>
          <p:cNvCxnSpPr>
            <a:cxnSpLocks/>
          </p:cNvCxnSpPr>
          <p:nvPr/>
        </p:nvCxnSpPr>
        <p:spPr>
          <a:xfrm>
            <a:off x="923467" y="6153117"/>
            <a:ext cx="10800220" cy="0"/>
          </a:xfrm>
          <a:prstGeom prst="line">
            <a:avLst/>
          </a:prstGeom>
          <a:noFill/>
          <a:ln w="38100" cap="rnd" cmpd="sng" algn="ctr">
            <a:solidFill>
              <a:srgbClr val="00BFB3"/>
            </a:solidFill>
            <a:prstDash val="solid"/>
            <a:round/>
          </a:ln>
          <a:effectLst/>
        </p:spPr>
      </p:cxnSp>
      <p:sp>
        <p:nvSpPr>
          <p:cNvPr id="19" name="Rounded Rectangle 69">
            <a:extLst>
              <a:ext uri="{FF2B5EF4-FFF2-40B4-BE49-F238E27FC236}">
                <a16:creationId xmlns:a16="http://schemas.microsoft.com/office/drawing/2014/main" id="{9D1DF7E8-3467-4B4C-59F6-62A9A497E8CE}"/>
              </a:ext>
            </a:extLst>
          </p:cNvPr>
          <p:cNvSpPr>
            <a:spLocks/>
          </p:cNvSpPr>
          <p:nvPr/>
        </p:nvSpPr>
        <p:spPr>
          <a:xfrm>
            <a:off x="1470375" y="1718020"/>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Синергизм антиангинального действия</a:t>
            </a:r>
            <a:endParaRPr kumimoji="0" lang="en-US"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0" name="Rounded Rectangle 69">
            <a:extLst>
              <a:ext uri="{FF2B5EF4-FFF2-40B4-BE49-F238E27FC236}">
                <a16:creationId xmlns:a16="http://schemas.microsoft.com/office/drawing/2014/main" id="{0E915E50-721B-93D6-68BD-9C433C092C97}"/>
              </a:ext>
            </a:extLst>
          </p:cNvPr>
          <p:cNvSpPr>
            <a:spLocks/>
          </p:cNvSpPr>
          <p:nvPr/>
        </p:nvSpPr>
        <p:spPr>
          <a:xfrm>
            <a:off x="1470375" y="2884286"/>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Двойное воздействие на сердечно-сосудистый риск</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1" name="Rounded Rectangle 69">
            <a:extLst>
              <a:ext uri="{FF2B5EF4-FFF2-40B4-BE49-F238E27FC236}">
                <a16:creationId xmlns:a16="http://schemas.microsoft.com/office/drawing/2014/main" id="{1E16A1D2-7D63-A769-3903-BE6FCBE35077}"/>
              </a:ext>
            </a:extLst>
          </p:cNvPr>
          <p:cNvSpPr>
            <a:spLocks/>
          </p:cNvSpPr>
          <p:nvPr/>
        </p:nvSpPr>
        <p:spPr>
          <a:xfrm>
            <a:off x="1470375" y="4050552"/>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FDC обеспечивает лучший контроль АД, чем свободная комбинация</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2" name="Rounded Rectangle 69">
            <a:extLst>
              <a:ext uri="{FF2B5EF4-FFF2-40B4-BE49-F238E27FC236}">
                <a16:creationId xmlns:a16="http://schemas.microsoft.com/office/drawing/2014/main" id="{4A0013FE-1AA5-3506-73B4-BE41D6322E79}"/>
              </a:ext>
            </a:extLst>
          </p:cNvPr>
          <p:cNvSpPr>
            <a:spLocks/>
          </p:cNvSpPr>
          <p:nvPr/>
        </p:nvSpPr>
        <p:spPr>
          <a:xfrm>
            <a:off x="1470375" y="5216818"/>
            <a:ext cx="10278545" cy="816240"/>
          </a:xfrm>
          <a:prstGeom prst="rect">
            <a:avLst/>
          </a:prstGeom>
          <a:noFill/>
          <a:ln w="12700" cap="flat" cmpd="sng" algn="ctr">
            <a:noFill/>
            <a:prstDash val="solid"/>
            <a:miter lim="800000"/>
          </a:ln>
          <a:effectLst/>
        </p:spPr>
        <p:txBody>
          <a:bodyPr rtlCol="0" anchor="ctr" anchorCtr="0"/>
          <a:lstStyle/>
          <a:p>
            <a:pPr marL="0" marR="0" lvl="0" indent="0" algn="l" defTabSz="914400" rtl="0" eaLnBrk="1" fontAlgn="base" latinLnBrk="0" hangingPunct="1">
              <a:lnSpc>
                <a:spcPct val="100000"/>
              </a:lnSpc>
              <a:spcBef>
                <a:spcPts val="0"/>
              </a:spcBef>
              <a:spcAft>
                <a:spcPts val="300"/>
              </a:spcAft>
              <a:buClrTx/>
              <a:buSzTx/>
              <a:buFontTx/>
              <a:buNone/>
              <a:tabLst/>
              <a:defRPr/>
            </a:pPr>
            <a:r>
              <a:rPr kumimoji="0" lang="ru-RU" sz="1600" b="1" i="0" u="none" strike="noStrike" kern="0" cap="none" spc="0" normalizeH="0" baseline="0" noProof="0" dirty="0">
                <a:ln>
                  <a:noFill/>
                </a:ln>
                <a:solidFill>
                  <a:srgbClr val="2B3A42"/>
                </a:solidFill>
                <a:effectLst/>
                <a:uLnTx/>
                <a:uFillTx/>
                <a:latin typeface="Arial" panose="020B0604020202020204" pitchFamily="34" charset="0"/>
                <a:ea typeface="+mn-ea"/>
                <a:cs typeface="Arial" panose="020B0604020202020204" pitchFamily="34" charset="0"/>
              </a:rPr>
              <a:t>ESC 2024: поддержка назначения FDC при ХКС</a:t>
            </a:r>
            <a:endParaRPr kumimoji="0" lang="en-US" sz="1600" b="1" i="0" u="none" strike="noStrike" kern="0" cap="none" spc="0" normalizeH="0" baseline="30000" noProof="0" dirty="0">
              <a:ln>
                <a:noFill/>
              </a:ln>
              <a:solidFill>
                <a:srgbClr val="2B3A42"/>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275DB624-03C6-7A48-1EC3-F33730F8F031}"/>
              </a:ext>
            </a:extLst>
          </p:cNvPr>
          <p:cNvSpPr txBox="1"/>
          <p:nvPr/>
        </p:nvSpPr>
        <p:spPr>
          <a:xfrm>
            <a:off x="8331200" y="6325054"/>
            <a:ext cx="353060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FDC</a:t>
            </a:r>
            <a:r>
              <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rPr>
              <a:t> – фиксированная комбинация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(fixed-dose combination)</a:t>
            </a:r>
            <a:endPar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DB1EEA06-F4CB-D623-6D85-75466B33CE9F}"/>
              </a:ext>
            </a:extLst>
          </p:cNvPr>
          <p:cNvSpPr txBox="1"/>
          <p:nvPr/>
        </p:nvSpPr>
        <p:spPr>
          <a:xfrm>
            <a:off x="3640696" y="200290"/>
            <a:ext cx="832117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err="1">
                <a:ln>
                  <a:noFill/>
                </a:ln>
                <a:solidFill>
                  <a:prstClr val="black"/>
                </a:solidFill>
                <a:effectLst/>
                <a:uLnTx/>
                <a:uFillTx/>
                <a:latin typeface="Calibri" panose="020F0502020204030204"/>
                <a:ea typeface="+mn-ea"/>
                <a:cs typeface="+mn-cs"/>
              </a:rPr>
              <a:t>Конкор</a:t>
            </a:r>
            <a:r>
              <a:rPr kumimoji="0" lang="ru-RU" sz="800" b="0" i="0" u="none" strike="noStrike" kern="1200" cap="none" spc="0" normalizeH="0" baseline="0" noProof="0" dirty="0">
                <a:ln>
                  <a:noFill/>
                </a:ln>
                <a:solidFill>
                  <a:prstClr val="black"/>
                </a:solidFill>
                <a:effectLst/>
                <a:uLnTx/>
                <a:uFillTx/>
                <a:latin typeface="Calibri" panose="020F0502020204030204"/>
                <a:ea typeface="+mn-ea"/>
                <a:cs typeface="+mn-cs"/>
              </a:rPr>
              <a:t>® АМ зарегистрирован для лечения артериальной гипертензии. Представленные данные применимы для пациентов с артериальной гипертензией и сопутствующей ИБС</a:t>
            </a:r>
          </a:p>
        </p:txBody>
      </p:sp>
      <p:sp>
        <p:nvSpPr>
          <p:cNvPr id="23" name="Rectangle: Diagonal Corners Snipped 22">
            <a:extLst>
              <a:ext uri="{FF2B5EF4-FFF2-40B4-BE49-F238E27FC236}">
                <a16:creationId xmlns:a16="http://schemas.microsoft.com/office/drawing/2014/main" id="{DD814495-9F96-516C-CB2E-7A418DFF088F}"/>
              </a:ext>
            </a:extLst>
          </p:cNvPr>
          <p:cNvSpPr/>
          <p:nvPr/>
        </p:nvSpPr>
        <p:spPr>
          <a:xfrm>
            <a:off x="135265" y="54164"/>
            <a:ext cx="3220999" cy="400614"/>
          </a:xfrm>
          <a:prstGeom prst="snip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8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Главное из блока</a:t>
            </a:r>
          </a:p>
        </p:txBody>
      </p:sp>
    </p:spTree>
    <p:extLst>
      <p:ext uri="{BB962C8B-B14F-4D97-AF65-F5344CB8AC3E}">
        <p14:creationId xmlns:p14="http://schemas.microsoft.com/office/powerpoint/2010/main" val="42808688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F222B98-D1B8-36DC-B2E6-3690A8406A98}"/>
              </a:ext>
            </a:extLst>
          </p:cNvPr>
          <p:cNvSpPr>
            <a:spLocks noGrp="1"/>
          </p:cNvSpPr>
          <p:nvPr>
            <p:ph type="title"/>
          </p:nvPr>
        </p:nvSpPr>
        <p:spPr>
          <a:xfrm>
            <a:off x="537913" y="365431"/>
            <a:ext cx="10944225" cy="325952"/>
          </a:xfrm>
        </p:spPr>
        <p:txBody>
          <a:bodyPr>
            <a:noAutofit/>
          </a:bodyPr>
          <a:lstStyle/>
          <a:p>
            <a:r>
              <a:rPr lang="ru-RU" sz="2400" b="1" dirty="0">
                <a:latin typeface="Arial" panose="020B0604020202020204" pitchFamily="34" charset="0"/>
                <a:cs typeface="Arial" panose="020B0604020202020204" pitchFamily="34" charset="0"/>
              </a:rPr>
              <a:t>ОБЩАЯ ХАРАКТЕРИСТИКА ЛЕКАРСТВЕННОГО ПРЕПАРАТА </a:t>
            </a:r>
            <a:endParaRPr lang="en-US" sz="2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C815AC9-FE16-1D18-402A-EB458C6BFCBE}"/>
              </a:ext>
            </a:extLst>
          </p:cNvPr>
          <p:cNvSpPr txBox="1"/>
          <p:nvPr/>
        </p:nvSpPr>
        <p:spPr>
          <a:xfrm>
            <a:off x="3421978" y="5853791"/>
            <a:ext cx="24796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 АМ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ЛП-№(012650)-(РГ-</a:t>
            </a:r>
            <a:r>
              <a:rPr kumimoji="0" lang="en-US"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04ED82F8-641F-F22D-DA95-68A0EA391A52}"/>
              </a:ext>
            </a:extLst>
          </p:cNvPr>
          <p:cNvSpPr txBox="1"/>
          <p:nvPr/>
        </p:nvSpPr>
        <p:spPr>
          <a:xfrm>
            <a:off x="9025731" y="5853791"/>
            <a:ext cx="293952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 НСТ</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ЛП-№(011609)-(РГ-</a:t>
            </a:r>
            <a:r>
              <a:rPr kumimoji="0" lang="en-US"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C1FC5066-0D1C-3A61-A5F2-26ADD4B41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593" y="4047101"/>
            <a:ext cx="2282492" cy="22824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E69B2D1-BB2F-BD5F-6ED5-912AC1C91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862" y="3924203"/>
            <a:ext cx="2479651" cy="247965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987E093-F6CC-9D8E-6555-5E2D3838D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862" y="1080407"/>
            <a:ext cx="2555852" cy="255585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A11E068-69FD-ED54-14EA-B421E78C70E3}"/>
              </a:ext>
            </a:extLst>
          </p:cNvPr>
          <p:cNvSpPr txBox="1"/>
          <p:nvPr/>
        </p:nvSpPr>
        <p:spPr>
          <a:xfrm>
            <a:off x="3421978" y="2922963"/>
            <a:ext cx="267402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r>
              <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rPr>
              <a:t> Кор</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ЛП-№(004360)-(РГ-</a:t>
            </a:r>
            <a:r>
              <a:rPr kumimoji="0" lang="en-US"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34" name="Picture 10">
            <a:extLst>
              <a:ext uri="{FF2B5EF4-FFF2-40B4-BE49-F238E27FC236}">
                <a16:creationId xmlns:a16="http://schemas.microsoft.com/office/drawing/2014/main" id="{FD1FA759-B59D-CD71-6561-74B7225B52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593" y="1080407"/>
            <a:ext cx="2756573" cy="2756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26B8991-842F-40E4-BF8D-E15887CC0333}"/>
              </a:ext>
            </a:extLst>
          </p:cNvPr>
          <p:cNvSpPr txBox="1"/>
          <p:nvPr/>
        </p:nvSpPr>
        <p:spPr>
          <a:xfrm>
            <a:off x="9402558" y="2922963"/>
            <a:ext cx="256270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black"/>
                </a:solidFill>
                <a:effectLst/>
                <a:uLnTx/>
                <a:uFillTx/>
                <a:latin typeface="Aptos" panose="02110004020202020204"/>
                <a:ea typeface="+mn-ea"/>
                <a:cs typeface="+mn-cs"/>
              </a:rPr>
              <a:t>Конкор</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ЛП-№(003852)-(РГ-</a:t>
            </a:r>
            <a:r>
              <a:rPr kumimoji="0" lang="en-US" sz="1800" b="0" i="0" u="none" strike="noStrike" kern="1200" cap="none" spc="0" normalizeH="0" baseline="0" noProof="0" dirty="0">
                <a:ln>
                  <a:noFill/>
                </a:ln>
                <a:solidFill>
                  <a:srgbClr val="323F48"/>
                </a:solidFill>
                <a:effectLst/>
                <a:uLnTx/>
                <a:uFillTx/>
                <a:latin typeface="Calibri" panose="020F0502020204030204" pitchFamily="34" charset="0"/>
                <a:ea typeface="+mn-ea"/>
                <a:cs typeface="Calibri" panose="020F0502020204030204" pitchFamily="34" charset="0"/>
              </a:rPr>
              <a:t>RU)</a:t>
            </a: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37100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MST_COLOR_1" val="0,0,0,Dunkel 1"/>
  <p:tag name="MIO_MST_COLOR_2" val="255,255,255,Hell 1"/>
  <p:tag name="MIO_MST_COLOR_3" val="235,60,150,Dunkel 2"/>
  <p:tag name="MIO_MST_COLOR_4" val="45,190,205,Hell 2"/>
  <p:tag name="MIO_MST_COLOR_5" val="80,50,145,Akzent 1"/>
  <p:tag name="MIO_MST_COLOR_6" val="15,105,175,Akzent 2"/>
  <p:tag name="MIO_MST_COLOR_7" val="165,205,80,Akzent 3"/>
  <p:tag name="MIO_MST_COLOR_8" val="255,200,50,Akzent 4"/>
  <p:tag name="MIO_MST_COLOR_9" val="235,60,150,Akzent 5"/>
  <p:tag name="MIO_MST_COLOR_10" val="20,155,95,Akzent 6"/>
  <p:tag name="MIO_MST_COLOR_11" val="80,50,145,"/>
  <p:tag name="MIO_MST_COLOR_12" val="80,50,145,"/>
  <p:tag name="MIO_PRESI_FIRST_SLIDENUMBER" val="1"/>
  <p:tag name="MIO_FALLBACK_LAYOUT" val="3"/>
  <p:tag name="MIO_SHOW_DATE" val="False"/>
  <p:tag name="MIO_SHOW_FOOTER" val="True"/>
  <p:tag name="MIO_SHOW_PAGENUMBER" val="True"/>
  <p:tag name="MIO_AVOID_BLANK_LAYOUT" val="False"/>
  <p:tag name="MIO_CD_LAYOUT_VALID_AREA" val="False"/>
  <p:tag name="MIO_NUMBER_OF_VALID_LAYOUTS" val="33"/>
  <p:tag name="MIO_HDS" val="True"/>
  <p:tag name="MIO_EK" val="2529"/>
  <p:tag name="MIO_EKGUID" val="4d6beffb-5246-420c-a6d6-d9569b8f0fc9"/>
  <p:tag name="MIO_UPDATE" val="True"/>
  <p:tag name="MIO_VERSION" val="17.02.2017 15:54:53"/>
  <p:tag name="MIO_DBID" val="218709A9-2117-4AF1-A1EA-309C9A305E58"/>
  <p:tag name="MIO_LASTDOWNLOADED" val="24.02.2017 16:22:02"/>
  <p:tag name="MIO_OBJECTNAME" val="Merck EN"/>
  <p:tag name="MIO_LASTEDITORNAME" val="Michaela Kapalla"/>
</p:tagLst>
</file>

<file path=ppt/tags/tag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xml><?xml version="1.0" encoding="utf-8"?>
<p:tagLst xmlns:a="http://schemas.openxmlformats.org/drawingml/2006/main" xmlns:r="http://schemas.openxmlformats.org/officeDocument/2006/relationships" xmlns:p="http://schemas.openxmlformats.org/presentationml/2006/main">
  <p:tag name="MIO_FALLBACK_LAYOUT" val="3"/>
  <p:tag name="MIO_SHOW_DATE" val="False"/>
  <p:tag name="MIO_SHOW_FOOTER" val="True"/>
  <p:tag name="MIO_SHOW_PAGENUMBER" val="True"/>
  <p:tag name="MIO_AVOID_BLANK_LAYOUT" val="True"/>
  <p:tag name="MIO_CD_LAYOUT_VALID_AREA" val="False"/>
  <p:tag name="MIO_NUMBER_OF_VALID_LAYOUTS" val="33"/>
  <p:tag name="MIO_HDS" val="True"/>
  <p:tag name="MIO_EK" val="2529"/>
  <p:tag name="MIO_EKGUID" val="4d6beffb-5246-420c-a6d6-d9569b8f0fc9"/>
  <p:tag name="MIO_UPDATE" val="True"/>
  <p:tag name="MIO_VERSION" val="17.02.2017 15:53:25"/>
  <p:tag name="MIO_DBID" val="218709A9-2117-4AF1-A1EA-309C9A305E58"/>
  <p:tag name="MIO_LASTDOWNLOADED" val="17.02.2017 15:53:25"/>
  <p:tag name="MIO_OBJECTNAME" val="Merck EN"/>
  <p:tag name="MIO_LASTEDITORNAME" val="Michaela Kapalla"/>
  <p:tag name="MIO_CDID" val="102a9723-2449-4cb9-a00f-91adf1e6ccc0"/>
  <p:tag name="MIO_PRESI_FIRST_SLIDENUMBER" val="1"/>
</p:tagLst>
</file>

<file path=ppt/tags/tag5.xml><?xml version="1.0" encoding="utf-8"?>
<p:tagLst xmlns:a="http://schemas.openxmlformats.org/drawingml/2006/main" xmlns:r="http://schemas.openxmlformats.org/officeDocument/2006/relationships" xmlns:p="http://schemas.openxmlformats.org/presentationml/2006/main">
  <p:tag name="MIO_EK" val="2529"/>
  <p:tag name="MIO_FALLBACK_LAYOUT" val="11"/>
  <p:tag name="MIO_SHOW_DATE" val="False"/>
  <p:tag name="MIO_SHOW_FOOTER" val="True"/>
  <p:tag name="MIO_SHOW_PAGENUMBER" val="True"/>
  <p:tag name="MIO_AVOID_BLANK_LAYOUT" val="True"/>
  <p:tag name="MIO_CD_LAYOUT_VALID_AREA" val="False"/>
  <p:tag name="MIO_NUMBER_OF_VALID_LAYOUTS" val="55"/>
  <p:tag name="MIO_HDS" val="True"/>
  <p:tag name="MIO_SKIPVERSION" val="01.01.0001 00:00:00"/>
  <p:tag name="MIO_EKGUID" val="62d91e3d-a864-4e27-99bd-341907070b79"/>
  <p:tag name="MIO_UPDATE" val="True"/>
  <p:tag name="MIO_VERSION" val="15.11.2021 14:49:02"/>
  <p:tag name="MIO_DBID" val="218709A9-2117-4AF1-A1EA-309C9A305E58"/>
  <p:tag name="MIO_LASTDOWNLOADED" val="15.11.2021 14:49:02"/>
  <p:tag name="MIO_OBJECTNAME" val="Master | Color 1"/>
  <p:tag name="MIO_LASTEDITORNAME" val="Jan Bellwinkel"/>
  <p:tag name="MIO_CDID" val="102a9723-2449-4cb9-a00f-91adf1e6ccc0"/>
  <p:tag name="MIO_PRESI_FIRST_SLIDENUMBER" val="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GUID" val="38520943-9002-4e5a-8a01-b2603a3a020e"/>
  <p:tag name="MIO_EKGUID" val="1631d6f8-ae17-4749-bac2-05f5fb2f340a"/>
  <p:tag name="MIO_UPDATE" val="True"/>
  <p:tag name="MIO_VERSION" val="15.11.2021 13:56:23"/>
  <p:tag name="MIO_DBID" val="218709a9-2117-4af1-a1ea-309c9a305e58"/>
  <p:tag name="MIO_LASTDOWNLOADED" val="05.08.2024 14:46:48"/>
  <p:tag name="MIO_OBJECTNAME" val="Title of presentation (3)"/>
  <p:tag name="MIO_LASTEDITORNAME" val="Jan Bellwinkel"/>
</p:tagLst>
</file>

<file path=ppt/tags/tag19.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20.xml><?xml version="1.0" encoding="utf-8"?>
<p:tagLst xmlns:a="http://schemas.openxmlformats.org/drawingml/2006/main" xmlns:r="http://schemas.openxmlformats.org/officeDocument/2006/relationships" xmlns:p="http://schemas.openxmlformats.org/presentationml/2006/main">
  <p:tag name="MIO_GUID" val="f717f3bc-49aa-440e-8e4c-8880a4a395b5"/>
  <p:tag name="MIO_EK" val="2423"/>
  <p:tag name="MIO_UPDATE" val="True"/>
  <p:tag name="MIO_VERSION" val="13.10.2015 14:02:46"/>
  <p:tag name="MIO_DBID" val="218709A9-2117-4AF1-A1EA-309C9A305E57"/>
  <p:tag name="MIO_LASTDOWNLOADED" val="04.11.2015 15:03:05"/>
  <p:tag name="MIO_OBJECTNAME" val="Bar chart"/>
  <p:tag name="MIO_LASTEDITORNAME" val="(Brigitte Schneider)"/>
  <p:tag name="MIO_EK_DESIGN" val="2155"/>
  <p:tag name="MIO_VERSION_DESIGN" val="22.09.2015 11:37:56"/>
  <p:tag name="MIO_DBID_DESIGN" val="218709A9-2117-4AF1-A1EA-309C9A305E57"/>
  <p:tag name="PPSNARRATIONPROPS" val="J:\VISMEDIA\PROJEKTE\AKTUELL\Merck-Approval\2017-HYP-Toolkit\SSML\speech_s42_20170822063426498.mp3"/>
  <p:tag name="HTML_SHAPEINFO" val="&lt;SlideThumbPath val=&quot;Folie74.PNG&quot;/&gt;"/>
  <p:tag name="PPSNARRATION" val="42,1801182160,H:\EXTERN-Achat\Projekte\Merck\Merck-Approval\2017-HYP-Toolkit\RESULT\Internal use documents\2017-08-28 Train the Trainer Slides Sympathetic Overdrive, Hypertension and Beta Blockers (V2 24.3.16)_pptx\Media.ppcx"/>
</p:tagLst>
</file>

<file path=ppt/tags/tag21.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22.xml><?xml version="1.0" encoding="utf-8"?>
<p:tagLst xmlns:a="http://schemas.openxmlformats.org/drawingml/2006/main" xmlns:r="http://schemas.openxmlformats.org/officeDocument/2006/relationships" xmlns:p="http://schemas.openxmlformats.org/presentationml/2006/main">
  <p:tag name="PPSNARRATIONPROPS" val="J:\VISMEDIA\PROJEKTE\AKTUELL\Merck2016-08-CADToolkit\Projekt-KQ\RESULT\SSML\speech_s37_20170810092624903.mp3"/>
  <p:tag name="HTML_SHAPEINFO" val="&lt;SlideThumbPath val=&quot;Folie67.PNG&quot;/&gt;"/>
  <p:tag name="PPSNARRATION" val="37,1489139651,C:\Users\Klaus-Jürgen Quast\Desktop\20170822 Train the Trainer Slides Sympathetic Overdrive, CHD and Beta Blockers_pptx\Media.ppcx"/>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6B27CF8-EBE0-42D1-AB43-3FB0FEE847BE}_67.png&quot;/&gt;&lt;left val=&quot;144&quot;/&gt;&lt;top val=&quot;482&quot;/&gt;&lt;width val=&quot;721&quot;/&gt;&lt;height val=&quot;30&quot;/&gt;&lt;hasText val=&quot;1&quot;/&gt;&lt;/Image&gt;&lt;/ThreeDShapeInfo&gt;"/>
  <p:tag name="PRESENTER_SHAPETEXTINFO" val="&lt;ShapeTextInfo&gt;&lt;TableIndex row=&quot;-1&quot; col=&quot;-1&quot;&gt;&lt;linesCount val=&quot;1&quot;/&gt;&lt;lineCharCount val=&quot;85&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 name="HTML_AUTOSHAPE_INFO" val="&lt;ThreeDShapeInfo&gt;&lt;uuid val=&quot;{028AD7C3-6C97-4F50-BC6C-27517A71C286}&quot;/&gt;&lt;isInvalidForFieldText val=&quot;1&quot;/&gt;&lt;Image&gt;&lt;filename val=&quot;H:\EXTERN-Achat\Projekte\Merck\Merck2016\Merck2016-07-CADToolkit\Merck2016-CADToolkit Hdrv\Projekt-KQ\RESULT Publish\data\asimages\{028AD7C3-6C97-4F50-BC6C-27517A71C286}_67_S.png&quot;/&gt;&lt;left val=&quot;703&quot;/&gt;&lt;top val=&quot;195&quot;/&gt;&lt;width val=&quot;203&quot;/&gt;&lt;height val=&quot;105&quot;/&gt;&lt;hasText val=&quot;0&quot;/&gt;&lt;/Image&gt;&lt;Image&gt;&lt;filename val=&quot;H:\EXTERN-Achat\Projekte\Merck\Merck2016\Merck2016-07-CADToolkit\Merck2016-CADToolkit Hdrv\Projekt-KQ\RESULT Publish\data\asimages\{028AD7C3-6C97-4F50-BC6C-27517A71C286}_67_T.png&quot;/&gt;&lt;left val=&quot;703&quot;/&gt;&lt;top val=&quot;195&quot;/&gt;&lt;width val=&quot;203&quot;/&gt;&lt;height val=&quot;105&quot;/&gt;&lt;hasText val=&quot;1&quot;/&gt;&lt;/Image&gt;&lt;/ThreeDShapeInfo&gt;"/>
  <p:tag name="PRESENTER_SHAPETEXTINFO" val="&lt;ShapeTextInfo&gt;&lt;TableIndex row=&quot;-1&quot; col=&quot;-1&quot;&gt;&lt;linesCount val=&quot;2&quot;/&gt;&lt;lineCharCount val=&quot;17&quot;/&gt;&lt;lineCharCount val=&quot;17&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84104ED0-D4EB-4CA3-A972-4B1E69733492}_67.png&quot;/&gt;&lt;left val=&quot;39&quot;/&gt;&lt;top val=&quot;80&quot;/&gt;&lt;width val=&quot;928&quot;/&gt;&lt;height val=&quot;64&quot;/&gt;&lt;hasText val=&quot;1&quot;/&gt;&lt;/Image&gt;&lt;/ThreeDShapeInfo&gt;"/>
  <p:tag name="PRESENTER_SHAPETEXTINFO" val="&lt;ShapeTextInfo&gt;&lt;TableIndex row=&quot;-1&quot; col=&quot;-1&quot;&gt;&lt;linesCount val=&quot;3&quot;/&gt;&lt;lineCharCount val=&quot;14&quot;/&gt;&lt;lineCharCount val=&quot;113&quot;/&gt;&lt;lineCharCount val=&quot;82&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E3618538-373C-4F85-802E-11050A8935C8}_67.png&quot;/&gt;&lt;left val=&quot;35&quot;/&gt;&lt;top val=&quot;21&quot;/&gt;&lt;width val=&quot;874&quot;/&gt;&lt;height val=&quot;67&quot;/&gt;&lt;hasText val=&quot;1&quot;/&gt;&lt;/Image&gt;&lt;/ThreeDShapeInfo&gt;"/>
  <p:tag name="PRESENTER_SHAPETEXTINFO" val="&lt;ShapeTextInfo&gt;&lt;TableIndex row=&quot;-1&quot; col=&quot;-1&quot;&gt;&lt;linesCount val=&quot;2&quot;/&gt;&lt;lineCharCount val=&quot;67&quot;/&gt;&lt;lineCharCount val=&quot;16&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50D0AB17-E41E-4023-87EA-C6D10F8C8758}_67.png&quot;/&gt;&lt;left val=&quot;50&quot;/&gt;&lt;top val=&quot;145&quot;/&gt;&lt;width val=&quot;717&quot;/&gt;&lt;height val=&quot;336&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HTML_AUTOSHAPE_INFO" val="&lt;ThreeDShapeInfo&gt;&lt;uuid val=&quot;{00CD458E-5E10-4BF0-B8C8-5E9F73B5CBF5}&quot;/&gt;&lt;isInvalidForFieldText val=&quot;1&quot;/&gt;&lt;Image&gt;&lt;filename val=&quot;H:\EXTERN-Achat\Projekte\Merck\Merck2016\Merck2016-07-CADToolkit\Merck2016-CADToolkit Hdrv\Projekt-KQ\RESULT Publish\data\asimages\{00CD458E-5E10-4BF0-B8C8-5E9F73B5CBF5}_67_S.png&quot;/&gt;&lt;left val=&quot;182&quot;/&gt;&lt;top val=&quot;314&quot;/&gt;&lt;width val=&quot;560&quot;/&gt;&lt;height val=&quot;105&quot;/&gt;&lt;hasText val=&quot;0&quot;/&gt;&lt;/Image&gt;&lt;Image&gt;&lt;filename val=&quot;H:\EXTERN-Achat\Projekte\Merck\Merck2016\Merck2016-07-CADToolkit\Merck2016-CADToolkit Hdrv\Projekt-KQ\RESULT Publish\data\asimages\{00CD458E-5E10-4BF0-B8C8-5E9F73B5CBF5}_67_T.png&quot;/&gt;&lt;left val=&quot;182&quot;/&gt;&lt;top val=&quot;315&quot;/&gt;&lt;width val=&quot;560&quot;/&gt;&lt;height val=&quot;102&quot;/&gt;&lt;hasText val=&quot;1&quot;/&gt;&lt;/Image&gt;&lt;/ThreeDShapeInfo&gt;"/>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AUTOSHAPE_INFO" val="&lt;ThreeDShapeInfo&gt;&lt;uuid val=&quot;{4172561A-2B98-499A-9B4D-8B6B6DCE926D}&quot;/&gt;&lt;isInvalidForFieldText val=&quot;1&quot;/&gt;&lt;Image&gt;&lt;filename val=&quot;H:\EXTERN-Achat\Projekte\Merck\Merck2016\Merck2016-07-CADToolkit\Merck2016-CADToolkit Hdrv\Projekt-KQ\RESULT Publish\data\asimages\{4172561A-2B98-499A-9B4D-8B6B6DCE926D}_67_S.png&quot;/&gt;&lt;left val=&quot;182&quot;/&gt;&lt;top val=&quot;315&quot;/&gt;&lt;width val=&quot;560&quot;/&gt;&lt;height val=&quot;102&quot;/&gt;&lt;hasText val=&quot;0&quot;/&gt;&lt;/Image&gt;&lt;Image&gt;&lt;filename val=&quot;H:\EXTERN-Achat\Projekte\Merck\Merck2016\Merck2016-07-CADToolkit\Merck2016-CADToolkit Hdrv\Projekt-KQ\RESULT Publish\data\asimages\{4172561A-2B98-499A-9B4D-8B6B6DCE926D}_67_T.png&quot;/&gt;&lt;left val=&quot;182&quot;/&gt;&lt;top val=&quot;315&quot;/&gt;&lt;width val=&quot;560&quot;/&gt;&lt;height val=&quot;102&quot;/&gt;&lt;hasText val=&quot;1&quot;/&gt;&lt;/Image&gt;&lt;/ThreeDShapeInfo&gt;"/>
  <p:tag name="PRESENTER_SHAPETEXTINFO" val="&lt;ShapeTextInfo&gt;&lt;TableIndex row=&quot;-1&quot; col=&quot;-1&quot;&gt;&lt;linesCount val=&quot;0&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AUTOSHAPE_INFO" val="&lt;ThreeDShapeInfo&gt;&lt;uuid val=&quot;{04FC062F-70CD-4BCC-BF71-E2994099E930}&quot;/&gt;&lt;isInvalidForFieldText val=&quot;1&quot;/&gt;&lt;Image&gt;&lt;filename val=&quot;H:\EXTERN-Achat\Projekte\Merck\Merck2016\Merck2016-07-CADToolkit\Merck2016-CADToolkit Hdrv\Projekt-KQ\RESULT Publish\data\asimages\{04FC062F-70CD-4BCC-BF71-E2994099E930}_67_S.png&quot;/&gt;&lt;left val=&quot;150&quot;/&gt;&lt;top val=&quot;166&quot;/&gt;&lt;width val=&quot;593&quot;/&gt;&lt;height val=&quot;245&quot;/&gt;&lt;hasText val=&quot;0&quot;/&gt;&lt;/Image&gt;&lt;Image&gt;&lt;filename val=&quot;H:\EXTERN-Achat\Projekte\Merck\Merck2016\Merck2016-07-CADToolkit\Merck2016-CADToolkit Hdrv\Projekt-KQ\RESULT Publish\data\asimages\{04FC062F-70CD-4BCC-BF71-E2994099E930}_67_T.png&quot;/&gt;&lt;left val=&quot;150&quot;/&gt;&lt;top val=&quot;168&quot;/&gt;&lt;width val=&quot;593&quot;/&gt;&lt;height val=&quot;243&quot;/&gt;&lt;hasText val=&quot;1&quot;/&gt;&lt;/Image&gt;&lt;/ThreeDShapeInfo&gt;"/>
  <p:tag name="PRESENTER_SHAPETEXTINFO" val="&lt;ShapeTextInfo&gt;&lt;TableIndex row=&quot;-1&quot; col=&quot;-1&quot;&gt;&lt;linesCount val=&quot;0&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E9DE2F1-0067-4999-922E-69287F4D2C2E}_67.png&quot;/&gt;&lt;left val=&quot;153&quot;/&gt;&lt;top val=&quot;175&quot;/&gt;&lt;width val=&quot;217&quot;/&gt;&lt;height val=&quot;60&quot;/&gt;&lt;hasText val=&quot;1&quot;/&gt;&lt;/Image&gt;&lt;/ThreeDShapeInfo&gt;"/>
  <p:tag name="PRESENTER_SHAPETEXTINFO" val="&lt;ShapeTextInfo&gt;&lt;TableIndex row=&quot;-1&quot; col=&quot;-1&quot;&gt;&lt;linesCount val=&quot;2&quot;/&gt;&lt;lineCharCount val=&quot;22&quot;/&gt;&lt;lineCharCount val=&quot;11&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12DB8B65-0C83-4D48-AB6B-E68B1A615333}_67.png&quot;/&gt;&lt;left val=&quot;590&quot;/&gt;&lt;top val=&quot;156&quot;/&gt;&lt;width val=&quot;144&quot;/&gt;&lt;height val=&quot;35&quot;/&gt;&lt;hasText val=&quot;1&quot;/&gt;&lt;/Image&gt;&lt;/ThreeDShapeInfo&gt;"/>
  <p:tag name="PRESENTER_SHAPETEXTINFO" val="&lt;ShapeTextInfo&gt;&lt;TableIndex row=&quot;-1&quot; col=&quot;-1&quot;&gt;&lt;linesCount val=&quot;1&quot;/&gt;&lt;lineCharCount val=&quot;13&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60E306A-A786-4883-A776-5B09C8FA46E4}_67.png&quot;/&gt;&lt;left val=&quot;589&quot;/&gt;&lt;top val=&quot;331&quot;/&gt;&lt;width val=&quot;123&quot;/&gt;&lt;height val=&quot;35&quot;/&gt;&lt;hasText val=&quot;1&quot;/&gt;&lt;/Image&gt;&lt;/ThreeDShapeInfo&gt;"/>
  <p:tag name="PRESENTER_SHAPETEXTINFO" val="&lt;ShapeTextInfo&gt;&lt;TableIndex row=&quot;-1&quot; col=&quot;-1&quot;&gt;&lt;linesCount val=&quot;1&quot;/&gt;&lt;lineCharCount val=&quot;1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VISMEDIA\PROJEKTE\AKTUELL\Merck2016-07-SlidekitIntegration\Projekt-JH\Result\data\asimages\{16EEC225-F89F-4A1E-B832-26201DD364E7}_55.png&quot;/&gt;&lt;left val=&quot;100&quot;/&gt;&lt;top val=&quot;117&quot;/&gt;&lt;width val=&quot;588&quot;/&gt;&lt;height val=&quot;327&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24&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PSNARRATIONPROPS" val="J:\VISMEDIA\PROJEKTE\AKTUELL\Merck2016-08-CADToolkit\Projekt-KQ\RESULT\SSML\speech_s63_20170817095931681.mp3"/>
  <p:tag name="HTML_SHAPEINFO" val="&lt;SlideThumbPath val=&quot;Folie101.PNG&quot;/&gt;"/>
  <p:tag name="PPSNARRATION" val="63,1489139651,C:\Users\Klaus-Jürgen Quast\Desktop\20170822 Train the Trainer Slides Sympathetic Overdrive, CHD and Beta Blockers_pptx\Media.ppcx"/>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AF62DC77-1580-475A-93A5-92E96C14BDF9}_101.png&quot;/&gt;&lt;left val=&quot;39&quot;/&gt;&lt;top val=&quot;53&quot;/&gt;&lt;width val=&quot;849&quot;/&gt;&lt;height val=&quot;64&quot;/&gt;&lt;hasText val=&quot;1&quot;/&gt;&lt;/Image&gt;&lt;/ThreeDShapeInfo&gt;"/>
  <p:tag name="PRESENTER_SHAPETEXTINFO" val="&lt;ShapeTextInfo&gt;&lt;TableIndex row=&quot;-1&quot; col=&quot;-1&quot;&gt;&lt;linesCount val=&quot;3&quot;/&gt;&lt;lineCharCount val=&quot;48&quot;/&gt;&lt;lineCharCount val=&quot;99&quot;/&gt;&lt;lineCharCount val=&quot;53&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AUTOSHAPE_INFO" val="&lt;ThreeDShapeInfo&gt;&lt;uuid val=&quot;{F57E209A-C25E-42BC-8443-B83179356522}&quot;/&gt;&lt;isInvalidForFieldText val=&quot;1&quot;/&gt;&lt;Image&gt;&lt;filename val=&quot;H:\EXTERN-Achat\Projekte\Merck\Merck2016\Merck2016-07-CADToolkit\Merck2016-CADToolkit Hdrv\Projekt-KQ\RESULT Publish\data\asimages\{F57E209A-C25E-42BC-8443-B83179356522}_101_S.png&quot;/&gt;&lt;left val=&quot;253&quot;/&gt;&lt;top val=&quot;429&quot;/&gt;&lt;width val=&quot;165&quot;/&gt;&lt;height val=&quot;33&quot;/&gt;&lt;hasText val=&quot;0&quot;/&gt;&lt;/Image&gt;&lt;Image&gt;&lt;filename val=&quot;H:\EXTERN-Achat\Projekte\Merck\Merck2016\Merck2016-07-CADToolkit\Merck2016-CADToolkit Hdrv\Projekt-KQ\RESULT Publish\data\asimages\{F57E209A-C25E-42BC-8443-B83179356522}_101_T.png&quot;/&gt;&lt;left val=&quot;253&quot;/&gt;&lt;top val=&quot;429&quot;/&gt;&lt;width val=&quot;165&quot;/&gt;&lt;height val=&quot;33&quot;/&gt;&lt;hasText val=&quot;1&quot;/&gt;&lt;/Image&gt;&lt;/ThreeDShapeInfo&gt;"/>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2B83F29-5767-41D0-B0A8-A46368EF7D8A}_101.png&quot;/&gt;&lt;left val=&quot;67&quot;/&gt;&lt;top val=&quot;481&quot;/&gt;&lt;width val=&quot;539&quot;/&gt;&lt;height val=&quot;22&quot;/&gt;&lt;hasText val=&quot;1&quot;/&gt;&lt;/Image&gt;&lt;/ThreeDShapeInfo&gt;"/>
  <p:tag name="PRESENTER_SHAPETEXTINFO" val="&lt;ShapeTextInfo&gt;&lt;TableIndex row=&quot;-1&quot; col=&quot;-1&quot;&gt;&lt;linesCount val=&quot;1&quot;/&gt;&lt;lineCharCount val=&quot;106&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73BAAE01-350D-41B6-A29D-A2CC541B3844}_101.png&quot;/&gt;&lt;left val=&quot;35&quot;/&gt;&lt;top val=&quot;20&quot;/&gt;&lt;width val=&quot;874&quot;/&gt;&lt;height val=&quot;43&quot;/&gt;&lt;hasText val=&quot;1&quot;/&gt;&lt;/Image&gt;&lt;/ThreeDShapeInfo&gt;"/>
  <p:tag name="PRESENTER_SHAPETEXTINFO" val="&lt;ShapeTextInfo&gt;&lt;TableIndex row=&quot;-1&quot; col=&quot;-1&quot;&gt;&lt;linesCount val=&quot;1&quot;/&gt;&lt;lineCharCount val=&quot;72&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HTML_AUTOSHAPE_INFO" val="&lt;ThreeDShapeInfo&gt;&lt;uuid val=&quot;{805DD76C-BD4C-47F9-B2BA-C95ED3B59DC3}&quot;/&gt;&lt;isInvalidForFieldText val=&quot;1&quot;/&gt;&lt;Image&gt;&lt;filename val=&quot;H:\EXTERN-Achat\Projekte\Merck\Merck2016\Merck2016-07-CADToolkit\Merck2016-CADToolkit Hdrv\Projekt-KQ\RESULT Publish\data\asimages\{805DD76C-BD4C-47F9-B2BA-C95ED3B59DC3}_101_S.png&quot;/&gt;&lt;left val=&quot;156&quot;/&gt;&lt;top val=&quot;131&quot;/&gt;&lt;width val=&quot;591&quot;/&gt;&lt;height val=&quot;141&quot;/&gt;&lt;hasText val=&quot;0&quot;/&gt;&lt;/Image&gt;&lt;Image&gt;&lt;filename val=&quot;H:\EXTERN-Achat\Projekte\Merck\Merck2016\Merck2016-07-CADToolkit\Merck2016-CADToolkit Hdrv\Projekt-KQ\RESULT Publish\data\asimages\{805DD76C-BD4C-47F9-B2BA-C95ED3B59DC3}_101_T.png&quot;/&gt;&lt;left val=&quot;156&quot;/&gt;&lt;top val=&quot;131&quot;/&gt;&lt;width val=&quot;591&quot;/&gt;&lt;height val=&quot;141&quot;/&gt;&lt;hasText val=&quot;1&quot;/&gt;&lt;/Image&gt;&lt;/ThreeDShapeInfo&gt;"/>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AUTOSHAPE_INFO" val="&lt;ThreeDShapeInfo&gt;&lt;uuid val=&quot;{3DEBD711-EE67-402C-A0DB-3BF48B94334F}&quot;/&gt;&lt;isInvalidForFieldText val=&quot;1&quot;/&gt;&lt;Image&gt;&lt;filename val=&quot;H:\EXTERN-Achat\Projekte\Merck\Merck2016\Merck2016-07-CADToolkit\Merck2016-CADToolkit Hdrv\Projekt-KQ\RESULT Publish\data\asimages\{3DEBD711-EE67-402C-A0DB-3BF48B94334F}_101_S.png&quot;/&gt;&lt;left val=&quot;156&quot;/&gt;&lt;top val=&quot;133&quot;/&gt;&lt;width val=&quot;591&quot;/&gt;&lt;height val=&quot;89&quot;/&gt;&lt;hasText val=&quot;0&quot;/&gt;&lt;/Image&gt;&lt;Image&gt;&lt;filename val=&quot;H:\EXTERN-Achat\Projekte\Merck\Merck2016\Merck2016-07-CADToolkit\Merck2016-CADToolkit Hdrv\Projekt-KQ\RESULT Publish\data\asimages\{3DEBD711-EE67-402C-A0DB-3BF48B94334F}_101_T.png&quot;/&gt;&lt;left val=&quot;156&quot;/&gt;&lt;top val=&quot;133&quot;/&gt;&lt;width val=&quot;591&quot;/&gt;&lt;height val=&quot;89&quot;/&gt;&lt;hasText val=&quot;1&quot;/&gt;&lt;/Image&gt;&lt;/ThreeDShapeInfo&gt;"/>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2D30D956-2D0B-4804-91C5-C42E65D05D5A}_101.png&quot;/&gt;&lt;left val=&quot;416&quot;/&gt;&lt;top val=&quot;147&quot;/&gt;&lt;width val=&quot;161&quot;/&gt;&lt;height val=&quot;30&quot;/&gt;&lt;hasText val=&quot;1&quot;/&gt;&lt;/Image&gt;&lt;/ThreeDShapeInfo&gt;"/>
  <p:tag name="PRESENTER_SHAPETEXTINFO" val="&lt;ShapeTextInfo&gt;&lt;TableIndex row=&quot;-1&quot; col=&quot;-1&quot;&gt;&lt;linesCount val=&quot;1&quot;/&gt;&lt;lineCharCount val=&quot;2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414805F5-D0C4-47AF-914A-E14CF2DBE2E8}_101.png&quot;/&gt;&lt;left val=&quot;308&quot;/&gt;&lt;top val=&quot;212&quot;/&gt;&lt;width val=&quot;189&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D0EFAC0C-2557-4589-A184-EE01B9B8D304}_101.png&quot;/&gt;&lt;left val=&quot;582&quot;/&gt;&lt;top val=&quot;337&quot;/&gt;&lt;width val=&quot;187&quot;/&gt;&lt;height val=&quot;30&quot;/&gt;&lt;hasText val=&quot;1&quot;/&gt;&lt;/Image&gt;&lt;/ThreeDShapeInfo&gt;"/>
  <p:tag name="PRESENTER_SHAPETEXTINFO" val="&lt;ShapeTextInfo&gt;&lt;TableIndex row=&quot;-1&quot; col=&quot;-1&quot;&gt;&lt;linesCount val=&quot;1&quot;/&gt;&lt;lineCharCount val=&quot;22&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DA0D49B5-DF8D-4F79-AE1A-91C17F1FF665}&quot;/&gt;&lt;isInvalidForFieldText val=&quot;0&quot;/&gt;&lt;Image&gt;&lt;filename val=&quot;H:\EXTERN-Achat\Projekte\Merck\Merck2016\Merck2016-07-CADToolkit\Merck2016-CADToolkit Hdrv\Projekt-KQ\RESULT Publish\data\asimages\{DA0D49B5-DF8D-4F79-AE1A-91C17F1FF665}_101.png&quot;/&gt;&lt;left val=&quot;49&quot;/&gt;&lt;top val=&quot;114&quot;/&gt;&lt;width val=&quot;729&quot;/&gt;&lt;height val=&quot;293&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VCTCREATESHAPEHANDLED" val="0"/>
  <p:tag name="VCT-RADIUS" val="15"/>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A97F5240-E1E8-4139-85D4-138DA8203EFB}_101.png&quot;/&gt;&lt;left val=&quot;767&quot;/&gt;&lt;top val=&quot;154&quot;/&gt;&lt;width val=&quot;133&quot;/&gt;&lt;height val=&quot;180&quot;/&gt;&lt;hasText val=&quot;1&quot;/&gt;&lt;/Image&gt;&lt;/ThreeDShapeInfo&gt;"/>
  <p:tag name="PRESENTER_SHAPETEXTINFO" val="&lt;ShapeTextInfo&gt;&lt;TableIndex row=&quot;-1&quot; col=&quot;-1&quot;&gt;&lt;linesCount val=&quot;7&quot;/&gt;&lt;lineCharCount val=&quot;13&quot;/&gt;&lt;lineCharCount val=&quot;1&quot;/&gt;&lt;lineCharCount val=&quot;2&quot;/&gt;&lt;lineCharCount val=&quot;1&quot;/&gt;&lt;lineCharCount val=&quot;2&quot;/&gt;&lt;lineCharCount val=&quot;1&quot;/&gt;&lt;lineCharCount val=&quot;9&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7797EBE0-36FE-4AD7-A970-7340E2329462}_101.png&quot;/&gt;&lt;left val=&quot;797&quot;/&gt;&lt;top val=&quot;204&quot;/&gt;&lt;width val=&quot;84&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EXTERN-Achat\Projekte\Merck\Merck2016\Merck2016-07-CADToolkit\Merck2016-CADToolkit Hdrv\Projekt-KQ\RESULT Publish\data\asimages\{580F11B8-50F9-4E56-BDB4-A161B7090DC8}_101.png&quot;/&gt;&lt;left val=&quot;800&quot;/&gt;&lt;top val=&quot;254&quot;/&gt;&lt;width val=&quot;8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H:\VISMEDIA\PROJEKTE\AKTUELL\Merck2016-07-SlidekitIntegration\Projekt-JH\Result\data\asimages\{16EEC225-F89F-4A1E-B832-26201DD364E7}_55.png&quot;/&gt;&lt;left val=&quot;100&quot;/&gt;&lt;top val=&quot;117&quot;/&gt;&lt;width val=&quot;588&quot;/&gt;&lt;height val=&quot;327&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2&quot;/&gt;&lt;lineCharCount val=&quot;44&quot;/&gt;&lt;lineCharCount val=&quot;35&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13.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14.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15.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16.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ags/tag117.xml><?xml version="1.0" encoding="utf-8"?>
<p:tagLst xmlns:a="http://schemas.openxmlformats.org/drawingml/2006/main" xmlns:r="http://schemas.openxmlformats.org/officeDocument/2006/relationships" xmlns:p="http://schemas.openxmlformats.org/presentationml/2006/main">
  <p:tag name="MIO_GUID" val="d6759f0e-b63e-44f7-ba05-958f2d59da33"/>
  <p:tag name="MIO_EKGUID" val="fcadf20e-0c34-4fe7-8e3e-6a4ca08190a0"/>
  <p:tag name="MIO_UPDATE" val="True"/>
  <p:tag name="MIO_VERSION" val="15.11.2021 13:58:04"/>
  <p:tag name="MIO_DBID" val="218709a9-2117-4af1-a1ea-309c9a305e58"/>
  <p:tag name="MIO_LASTDOWNLOADED" val="05.08.2024 14:47:08"/>
  <p:tag name="MIO_OBJECTNAME" val="Standard slides"/>
  <p:tag name="MIO_LASTEDITORNAME" val="Jan Bellwinkel"/>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Специальное оформление">
  <a:themeElements>
    <a:clrScheme name="конкор">
      <a:dk1>
        <a:srgbClr val="265374"/>
      </a:dk1>
      <a:lt1>
        <a:srgbClr val="FFFFFF"/>
      </a:lt1>
      <a:dk2>
        <a:srgbClr val="323F48"/>
      </a:dk2>
      <a:lt2>
        <a:srgbClr val="28BECD"/>
      </a:lt2>
      <a:accent1>
        <a:srgbClr val="73C8B3"/>
      </a:accent1>
      <a:accent2>
        <a:srgbClr val="398ACB"/>
      </a:accent2>
      <a:accent3>
        <a:srgbClr val="C1D82E"/>
      </a:accent3>
      <a:accent4>
        <a:srgbClr val="BDDFEB"/>
      </a:accent4>
      <a:accent5>
        <a:srgbClr val="EC736A"/>
      </a:accent5>
      <a:accent6>
        <a:srgbClr val="52328F"/>
      </a:accent6>
      <a:hlink>
        <a:srgbClr val="0068B0"/>
      </a:hlink>
      <a:folHlink>
        <a:srgbClr val="73C8B3"/>
      </a:folHlink>
    </a:clrScheme>
    <a:fontScheme name="Другая 1">
      <a:majorFont>
        <a:latin typeface="Verdana"/>
        <a:ea typeface=""/>
        <a:cs typeface=""/>
      </a:majorFont>
      <a:minorFont>
        <a:latin typeface="Verdan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9525">
          <a:noFill/>
          <a:prstDash val="soli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75000"/>
            </a:schemeClr>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rck Site Management">
  <a:themeElements>
    <a:clrScheme name="Merck neu">
      <a:dk1>
        <a:srgbClr val="000000"/>
      </a:dk1>
      <a:lt1>
        <a:srgbClr val="FFFFFF"/>
      </a:lt1>
      <a:dk2>
        <a:srgbClr val="EB3C96"/>
      </a:dk2>
      <a:lt2>
        <a:srgbClr val="2DBECD"/>
      </a:lt2>
      <a:accent1>
        <a:srgbClr val="503291"/>
      </a:accent1>
      <a:accent2>
        <a:srgbClr val="0F69AF"/>
      </a:accent2>
      <a:accent3>
        <a:srgbClr val="A5CD50"/>
      </a:accent3>
      <a:accent4>
        <a:srgbClr val="FFC832"/>
      </a:accent4>
      <a:accent5>
        <a:srgbClr val="EB3C96"/>
      </a:accent5>
      <a:accent6>
        <a:srgbClr val="149B5F"/>
      </a:accent6>
      <a:hlink>
        <a:srgbClr val="503291"/>
      </a:hlink>
      <a:folHlink>
        <a:srgbClr val="503291"/>
      </a:folHlink>
    </a:clrScheme>
    <a:fontScheme name="Merck">
      <a:majorFont>
        <a:latin typeface="Verdana"/>
        <a:ea typeface=""/>
        <a:cs typeface=""/>
      </a:majorFont>
      <a:minorFont>
        <a:latin typeface="Verdana"/>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9525" cap="flat" cmpd="sng" algn="ctr">
          <a:noFill/>
          <a:prstDash val="solid"/>
        </a:ln>
        <a:effectLst/>
      </a:spPr>
      <a:bodyPr rtlCol="0" anchor="ctr" anchorCtr="0"/>
      <a:lstStyle>
        <a:defPPr marL="0" indent="0" algn="ctr">
          <a:spcBef>
            <a:spcPts val="300"/>
          </a:spcBef>
          <a:spcAft>
            <a:spcPts val="300"/>
          </a:spcAft>
          <a:buClr>
            <a:schemeClr val="bg1"/>
          </a:buClr>
          <a:buSzPct val="100000"/>
          <a:buFont typeface="Arial" panose="020B0604020202020204" pitchFamily="34" charset="0"/>
          <a:buNone/>
          <a:defRPr sz="1600" kern="0" dirty="0" err="1" smtClean="0">
            <a:solidFill>
              <a:srgbClr val="FFFFFF"/>
            </a:solidFill>
            <a:latin typeface="Verdana"/>
          </a:defRPr>
        </a:defPPr>
      </a:lst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R="0" algn="l" defTabSz="914400" rtl="0" eaLnBrk="1" fontAlgn="auto" latinLnBrk="0" hangingPunct="1">
          <a:lnSpc>
            <a:spcPct val="100000"/>
          </a:lnSpc>
          <a:spcBef>
            <a:spcPts val="300"/>
          </a:spcBef>
          <a:spcAft>
            <a:spcPts val="300"/>
          </a:spcAft>
          <a:buClr>
            <a:schemeClr val="accent1"/>
          </a:buClr>
          <a:buSzTx/>
          <a:tabLst/>
          <a:defRPr kumimoji="0" sz="1600" b="0" i="0" u="none" strike="noStrike" kern="1200" cap="none" spc="0" normalizeH="0" baseline="0" noProof="0" dirty="0" err="1" smtClean="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defRPr>
        </a:defPPr>
      </a:lstStyle>
    </a:txDef>
  </a:objectDefaults>
  <a:extraClrSchemeLst/>
  <a:custClrLst>
    <a:custClr name="Rich Purple">
      <a:srgbClr val="503291"/>
    </a:custClr>
    <a:custClr name="Vibrant Magenta">
      <a:srgbClr val="EB3C96"/>
    </a:custClr>
    <a:custClr name="Sensitive Pink">
      <a:srgbClr val="E1C3CD"/>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Blue">
      <a:srgbClr val="0F69AF"/>
    </a:custClr>
    <a:custClr name="Vibrant Cyan">
      <a:srgbClr val="2DBECD"/>
    </a:custClr>
    <a:custClr name="Sensitive Blue">
      <a:srgbClr val="96D7D2"/>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Green">
      <a:srgbClr val="149B5F"/>
    </a:custClr>
    <a:custClr name="Vibrant Green">
      <a:srgbClr val="A5CD50"/>
    </a:custClr>
    <a:custClr name="Sensitive Green">
      <a:srgbClr val="B4DC96"/>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Rich Red">
      <a:srgbClr val="E61E50"/>
    </a:custClr>
    <a:custClr name="Vibrant Yellow">
      <a:srgbClr val="FFC832"/>
    </a:custClr>
    <a:custClr name="Sensitive Yellow">
      <a:srgbClr val="FFDCB9"/>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Merck_Synthetic.potx" id="{86390D52-C63A-4911-959C-A5AB26D2F058}" vid="{814B0B62-417C-4855-BBCD-925CAB229E61}"/>
    </a:ext>
  </a:ext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1178</TotalTime>
  <Words>16640</Words>
  <Application>Microsoft Office PowerPoint</Application>
  <PresentationFormat>Widescreen</PresentationFormat>
  <Paragraphs>1670</Paragraphs>
  <Slides>77</Slides>
  <Notes>50</Notes>
  <HiddenSlides>0</HiddenSlides>
  <MMClips>0</MMClips>
  <ScaleCrop>false</ScaleCrop>
  <HeadingPairs>
    <vt:vector size="8" baseType="variant">
      <vt:variant>
        <vt:lpstr>Fonts Used</vt:lpstr>
      </vt:variant>
      <vt:variant>
        <vt:i4>13</vt:i4>
      </vt:variant>
      <vt:variant>
        <vt:lpstr>Theme</vt:lpstr>
      </vt:variant>
      <vt:variant>
        <vt:i4>5</vt:i4>
      </vt:variant>
      <vt:variant>
        <vt:lpstr>Embedded OLE Servers</vt:lpstr>
      </vt:variant>
      <vt:variant>
        <vt:i4>1</vt:i4>
      </vt:variant>
      <vt:variant>
        <vt:lpstr>Slide Titles</vt:lpstr>
      </vt:variant>
      <vt:variant>
        <vt:i4>77</vt:i4>
      </vt:variant>
    </vt:vector>
  </HeadingPairs>
  <TitlesOfParts>
    <vt:vector size="96" baseType="lpstr">
      <vt:lpstr>Aptos</vt:lpstr>
      <vt:lpstr>Aptos Display</vt:lpstr>
      <vt:lpstr>arial</vt:lpstr>
      <vt:lpstr>arial</vt:lpstr>
      <vt:lpstr>Arial (Headings)</vt:lpstr>
      <vt:lpstr>Arial Narrow</vt:lpstr>
      <vt:lpstr>Calibri</vt:lpstr>
      <vt:lpstr>Calibri Light</vt:lpstr>
      <vt:lpstr>Georgia</vt:lpstr>
      <vt:lpstr>Merck</vt:lpstr>
      <vt:lpstr>Symbol</vt:lpstr>
      <vt:lpstr>Verdana</vt:lpstr>
      <vt:lpstr>Wingdings</vt:lpstr>
      <vt:lpstr>1_Office Theme</vt:lpstr>
      <vt:lpstr>Специальное оформление</vt:lpstr>
      <vt:lpstr>3_Office Theme</vt:lpstr>
      <vt:lpstr>Merck Site Management</vt:lpstr>
      <vt:lpstr>Тема Office</vt:lpstr>
      <vt:lpstr>think-cell Slide</vt:lpstr>
      <vt:lpstr>Фиксированные антиангинальные комбинации при ИБС: кому, когда, зачем</vt:lpstr>
      <vt:lpstr>PowerPoint Presentation</vt:lpstr>
      <vt:lpstr>PowerPoint Presentation</vt:lpstr>
      <vt:lpstr>Разнообразие клинических форм хронического коронарного синдрома (ХКС)  (ESC 2024)</vt:lpstr>
      <vt:lpstr>Различные механизмы развития ишемии миокарда</vt:lpstr>
      <vt:lpstr>PowerPoint Presentation</vt:lpstr>
      <vt:lpstr>С чего начинать антиангинальную терапию?  Позиция в руководствах…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Оптимальная Медикаментозная Терапия</vt:lpstr>
      <vt:lpstr>PowerPoint Presentation</vt:lpstr>
      <vt:lpstr>PowerPoint Presentation</vt:lpstr>
      <vt:lpstr>PowerPoint Presentation</vt:lpstr>
      <vt:lpstr>PowerPoint Presentation</vt:lpstr>
      <vt:lpstr>PowerPoint Presentation</vt:lpstr>
      <vt:lpstr>PowerPoint Presentation</vt:lpstr>
      <vt:lpstr>Оптимальная медикаментозная терапия в эпоху реваскуляризации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Контроль vs иллюзия контроля Почему раздельная терапия создаёт опасную иллюзию, а фиксированная комбинация (FDC) обеспечивает реальное управление результатом</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Время приёма антигипертензивных препаратов не влияет на сердечно-сосудистые исходы</vt:lpstr>
      <vt:lpstr>PowerPoint Presentation</vt:lpstr>
      <vt:lpstr>PowerPoint Presentation</vt:lpstr>
      <vt:lpstr>PowerPoint Presentation</vt:lpstr>
      <vt:lpstr>PowerPoint Presentation</vt:lpstr>
      <vt:lpstr>PowerPoint Presentation</vt:lpstr>
      <vt:lpstr>Прием препаратов при нагрузочных пробах</vt:lpstr>
      <vt:lpstr>PowerPoint Presentation</vt:lpstr>
      <vt:lpstr>PowerPoint Presentation</vt:lpstr>
      <vt:lpstr>Стенокардия / Ишемия без обструктивного поражения коронарных артерий</vt:lpstr>
      <vt:lpstr>PowerPoint Presentation</vt:lpstr>
      <vt:lpstr>PowerPoint Presentation</vt:lpstr>
      <vt:lpstr>PowerPoint Presentation</vt:lpstr>
      <vt:lpstr>Безопасность бисопролола — основа безопасности Конкор® АМ что показывают современные данные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ОБЩАЯ ХАРАКТЕРИСТИКА ЛЕКАРСТВЕННОГО ПРЕПАРАТА </vt:lpstr>
    </vt:vector>
  </TitlesOfParts>
  <Company>Merck KGaA Darmstadt Germany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Evgeny Aronov</dc:creator>
  <cp:lastModifiedBy>Evgeny Aronov</cp:lastModifiedBy>
  <cp:revision>1</cp:revision>
  <dcterms:created xsi:type="dcterms:W3CDTF">2026-06-11T08:49:58Z</dcterms:created>
  <dcterms:modified xsi:type="dcterms:W3CDTF">2026-08-26T18:43:56Z</dcterms:modified>
</cp:coreProperties>
</file>