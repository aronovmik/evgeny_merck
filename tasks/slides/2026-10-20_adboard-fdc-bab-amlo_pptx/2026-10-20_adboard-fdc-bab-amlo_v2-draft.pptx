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ая дека" id="{7a66f5e1-b0f3-8945-f497-7ff98958dc2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Бэкап" id="{b2be7e1d-6131-1d40-bd1a-8b0be8c2138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«Сегодня вопрос не в том, можно ли комбинировать эти классы, — это решено. Вопрос в том, какую пару класть в одну таблетку, когда у пациента три класса».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«Мы не обсуждаем БАБ + амлодипин как антигипертензивную комбинацию. При стенокардии АГ просто решает, кто будет вторым».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«Ни один вариант не идеален. Вопрос в том, какой препарат у вашего пациента корректируют чаще. Если блокатор РААС — вариант А удобнее. Если отёки на амлодипине —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Удалено из v1: Divchev 2017 и фармакоэкономика. До адборда уточнить по полному тексту молекулы в группе 2 и межгрупповой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«Этот слайд важнее предыдущего. Если пациент — гипертоник без стенокардии, разговора о варианте А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называет продукт — противоречит решению «без бренда» для основной деки. Показывать только по вопросу из зала; решение по использованию за Евгением.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09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Черновик v2 · адборд · не для полевого использования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09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5C00"/>
                </a:solidFill>
              </a:rPr>
              <a:t>Бэкап · только по вопросу из зала · решение по использованию за Евгением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Состав фиксированной комбинации выводится из ведущей клинической задачи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Фиксированная комбинация рациональна, когда каждый её компонент работает на ведущую задачу пациента, дозы уже подобраны, а схема остаётся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управляемой</a:t>
            </a:r>
            <a:endParaRPr lang="en-US" sz="1600" dirty="0"/>
          </a:p>
        </p:txBody>
      </p:sp>
      <p:sp>
        <p:nvSpPr>
          <p:cNvPr id="4" name="Карточка 1"/>
          <p:cNvSpPr/>
          <p:nvPr/>
        </p:nvSpPr>
        <p:spPr>
          <a:xfrm>
            <a:off x="731520" y="228600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5" name="Карточка 1 — верх"/>
          <p:cNvSpPr/>
          <p:nvPr/>
        </p:nvSpPr>
        <p:spPr>
          <a:xfrm>
            <a:off x="731520" y="228600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950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Ведущая задача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23697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Что ведущее у этого пациента: симптомы ишемии или контроль АД и прогноз?</a:t>
            </a:r>
            <a:endParaRPr lang="en-US" sz="1350" dirty="0"/>
          </a:p>
        </p:txBody>
      </p:sp>
      <p:sp>
        <p:nvSpPr>
          <p:cNvPr id="9" name="Карточка 2"/>
          <p:cNvSpPr/>
          <p:nvPr/>
        </p:nvSpPr>
        <p:spPr>
          <a:xfrm>
            <a:off x="3470834" y="228600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0" name="Карточка 2 — верх"/>
          <p:cNvSpPr/>
          <p:nvPr/>
        </p:nvSpPr>
        <p:spPr>
          <a:xfrm>
            <a:off x="3470834" y="228600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2002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72002" y="288950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Вклад компонентов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2002" y="323697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Работает ли каждый компонент таблетки на эту задачу?</a:t>
            </a:r>
            <a:endParaRPr lang="en-US" sz="1350" dirty="0"/>
          </a:p>
        </p:txBody>
      </p:sp>
      <p:sp>
        <p:nvSpPr>
          <p:cNvPr id="14" name="Карточка 3"/>
          <p:cNvSpPr/>
          <p:nvPr/>
        </p:nvSpPr>
        <p:spPr>
          <a:xfrm>
            <a:off x="6210148" y="228600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5" name="Карточка 3 — верх"/>
          <p:cNvSpPr/>
          <p:nvPr/>
        </p:nvSpPr>
        <p:spPr>
          <a:xfrm>
            <a:off x="6210148" y="228600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1316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11316" y="288950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Дозы и переносимость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1316" y="323697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Подобраны ли дозы на монокомпонентах и совпадают ли с дозировками FDC?</a:t>
            </a:r>
            <a:endParaRPr lang="en-US" sz="1350" dirty="0"/>
          </a:p>
        </p:txBody>
      </p:sp>
      <p:sp>
        <p:nvSpPr>
          <p:cNvPr id="19" name="Карточка 4"/>
          <p:cNvSpPr/>
          <p:nvPr/>
        </p:nvSpPr>
        <p:spPr>
          <a:xfrm>
            <a:off x="8949461" y="228600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0" name="Карточка 4 — верх"/>
          <p:cNvSpPr/>
          <p:nvPr/>
        </p:nvSpPr>
        <p:spPr>
          <a:xfrm>
            <a:off x="8949461" y="228600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50629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50629" y="288950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Управляемость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50629" y="323697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Можно ли скорректировать препарат с другой целью, не меняя остальные?</a:t>
            </a:r>
            <a:endParaRPr lang="en-US" sz="1350" dirty="0"/>
          </a:p>
        </p:txBody>
      </p:sp>
      <p:sp>
        <p:nvSpPr>
          <p:cNvPr id="24" name="Выноска"/>
          <p:cNvSpPr/>
          <p:nvPr/>
        </p:nvSpPr>
        <p:spPr>
          <a:xfrm>
            <a:off x="731520" y="4434840"/>
            <a:ext cx="10728655" cy="868680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25" name="Выноска — полоса"/>
          <p:cNvSpPr/>
          <p:nvPr/>
        </p:nvSpPr>
        <p:spPr>
          <a:xfrm>
            <a:off x="731520" y="4434840"/>
            <a:ext cx="64008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44348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Рабочее определение.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Рациональная фиксированная комбинация — клинически обоснованная для конкретного пациента, не обязательно единственно возможная. Упрощение схемы само по себе её не обосновывает¹</a:t>
            </a:r>
            <a:endParaRPr lang="en-US" sz="1500" dirty="0"/>
          </a:p>
        </p:txBody>
      </p:sp>
      <p:sp>
        <p:nvSpPr>
          <p:cNvPr id="27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FDC — фиксированная комбинация (fixed-dose combination)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European Medicines Agency. Guideline on clinical development of fixed combination medicinal products. EMA/CHMP/158268/2017. Принято CHMP 23.03.2017, действует с 01.10.2017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Рекомендации обосновывают пару БАБ + ДГП-БКК и упрощение схемы, но не говорят, какую пару фиксировать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accent1"/>
                </a:solidFill>
              </a:rPr>
              <a:t>ПАРА БАБ + ДГП-БКК ПРИ СТЕНОКАРДИИ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406640" y="137160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accent1"/>
                </a:solidFill>
              </a:rPr>
              <a:t>ФИКСИРОВАННАЯ ФОРМА</a:t>
            </a:r>
            <a:endParaRPr lang="en-US" sz="1250" dirty="0"/>
          </a:p>
        </p:txBody>
      </p:sp>
      <p:sp>
        <p:nvSpPr>
          <p:cNvPr id="5" name="Рекомендация 1"/>
          <p:cNvSpPr/>
          <p:nvPr/>
        </p:nvSpPr>
        <p:spPr>
          <a:xfrm>
            <a:off x="731520" y="1691640"/>
            <a:ext cx="6400800" cy="795528"/>
          </a:xfrm>
          <a:prstGeom prst="roundRect">
            <a:avLst>
              <a:gd name="adj" fmla="val 9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7393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КР МЗ РФ, стабильная ИБС 2024¹ · ЕОК I C; УУР C, УДД 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Стенокардия III–IV ФК: при отсутствии противопоказаний — сразу БАБ + ДГП-БКК для достижения ФК I</a:t>
            </a:r>
            <a:endParaRPr lang="en-US" sz="1300" dirty="0"/>
          </a:p>
        </p:txBody>
      </p:sp>
      <p:sp>
        <p:nvSpPr>
          <p:cNvPr id="8" name="Рекомендация 2"/>
          <p:cNvSpPr/>
          <p:nvPr/>
        </p:nvSpPr>
        <p:spPr>
          <a:xfrm>
            <a:off x="731520" y="2560320"/>
            <a:ext cx="6400800" cy="795528"/>
          </a:xfrm>
          <a:prstGeom prst="roundRect">
            <a:avLst>
              <a:gd name="adj" fmla="val 9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64261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КР МЗ РФ, стабильная ИБС 2024¹ · табл. ПА3-5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880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Стандартная терапия, шаг 2: БАБ + ДГП-БКК</a:t>
            </a:r>
            <a:endParaRPr lang="en-US" sz="1300" dirty="0"/>
          </a:p>
        </p:txBody>
      </p:sp>
      <p:sp>
        <p:nvSpPr>
          <p:cNvPr id="11" name="Рекомендация 3"/>
          <p:cNvSpPr/>
          <p:nvPr/>
        </p:nvSpPr>
        <p:spPr>
          <a:xfrm>
            <a:off x="731520" y="3429000"/>
            <a:ext cx="6400800" cy="795528"/>
          </a:xfrm>
          <a:prstGeom prst="roundRect">
            <a:avLst>
              <a:gd name="adj" fmla="val 9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51129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ESC 2024² · IIa B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749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Симптомы не контролируются монотерапией БАБ или БКК — следует рассмотреть БАБ + ДГП-БКК</a:t>
            </a:r>
            <a:endParaRPr lang="en-US" sz="1300" dirty="0"/>
          </a:p>
        </p:txBody>
      </p:sp>
      <p:sp>
        <p:nvSpPr>
          <p:cNvPr id="14" name="Рекомендация 4"/>
          <p:cNvSpPr/>
          <p:nvPr/>
        </p:nvSpPr>
        <p:spPr>
          <a:xfrm>
            <a:off x="731520" y="4297680"/>
            <a:ext cx="6400800" cy="795528"/>
          </a:xfrm>
          <a:prstGeom prst="roundRect">
            <a:avLst>
              <a:gd name="adj" fmla="val 91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37997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КР МЗ РФ, АГ 2024³ · ЕОК/ЕОАГ I A; УУР А, УДД 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17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Пациентам с АГ и симптомами стенокардии рекомендуются ББ и/или АК</a:t>
            </a:r>
            <a:endParaRPr lang="en-US" sz="1300" dirty="0"/>
          </a:p>
        </p:txBody>
      </p:sp>
      <p:sp>
        <p:nvSpPr>
          <p:cNvPr id="17" name="ESC I B"/>
          <p:cNvSpPr/>
          <p:nvPr/>
        </p:nvSpPr>
        <p:spPr>
          <a:xfrm>
            <a:off x="7406640" y="1691640"/>
            <a:ext cx="4053535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0" y="1773936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ESC 2024² · I B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011680"/>
            <a:ext cx="3687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Упрощение схемы, в том числе с помощью фиксированных комбинаций, рекомендуется для повышения приверженности</a:t>
            </a:r>
            <a:endParaRPr lang="en-US" sz="1300" dirty="0"/>
          </a:p>
        </p:txBody>
      </p:sp>
      <p:sp>
        <p:nvSpPr>
          <p:cNvPr id="20" name="Расхождение"/>
          <p:cNvSpPr/>
          <p:nvPr/>
        </p:nvSpPr>
        <p:spPr>
          <a:xfrm>
            <a:off x="7406640" y="2907792"/>
            <a:ext cx="4053535" cy="1280160"/>
          </a:xfrm>
          <a:prstGeom prst="roundRect">
            <a:avLst>
              <a:gd name="adj" fmla="val 5714"/>
            </a:avLst>
          </a:prstGeom>
          <a:solidFill>
            <a:srgbClr val="FFFAF0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589520" y="2999232"/>
            <a:ext cx="368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Расхождение КР МЗ РФ и ESC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24612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КР: при III–IV ФК пара назначается сразу. ESC: после неуспеха монотерапии; вопрос о стартовой комбинации ESC считает открытым</a:t>
            </a:r>
            <a:endParaRPr lang="en-US" sz="1300" dirty="0"/>
          </a:p>
        </p:txBody>
      </p:sp>
      <p:sp>
        <p:nvSpPr>
          <p:cNvPr id="23" name="Плашка"/>
          <p:cNvSpPr/>
          <p:nvPr/>
        </p:nvSpPr>
        <p:spPr>
          <a:xfrm>
            <a:off x="731520" y="5257800"/>
            <a:ext cx="10728655" cy="475488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24" name="Плашка — полоса"/>
          <p:cNvSpPr/>
          <p:nvPr/>
        </p:nvSpPr>
        <p:spPr>
          <a:xfrm>
            <a:off x="731520" y="5257800"/>
            <a:ext cx="64008" cy="4754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5257800"/>
            <a:ext cx="10271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Какую пару класть в одну таблетку, рекомендации не говорят.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Это вопрос к совету</a:t>
            </a:r>
            <a:endParaRPr lang="en-US" sz="1500" dirty="0"/>
          </a:p>
        </p:txBody>
      </p:sp>
      <p:sp>
        <p:nvSpPr>
          <p:cNvPr id="26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БАБ, ББ — бета-адреноблокаторы; (ДГП-)БКК, АК — (дигидропиридиновые) блокаторы кальциевых каналов; ФК — функциональный класс; ЕОК — класс рекомендации ESC; УУР / УДД — уровень убедительности рекомендаций / достоверности доказательств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ишемическая болезнь сердца. Клинические рекомендации 2024. Российский кардиологический журнал. 2024;29(9):6110. doi:10.15829/1560-4071-2024-6110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2. Vrints C, et al. 2024 ESC Guidelines for the management of chronic coronary syndromes. Eur Heart J. 2024;45:3415–3537. doi:10.1093/eurheartj/ehae177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3. Кобалава Ж.Д. и соавт. Артериальная гипертензия у взрослых. Клинические рекомендации 2024. Российский кардиологический журнал. 2024;29(9):6117. doi:10.15829/1560-4071-2024-6117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При стенокардии уровень АД определяет, какой препарат станет партнёром БАБ</a:t>
            </a:r>
            <a:endParaRPr lang="en-US" sz="2400" dirty="0"/>
          </a:p>
        </p:txBody>
      </p:sp>
      <p:sp>
        <p:nvSpPr>
          <p:cNvPr id="3" name="Условие: АГ"/>
          <p:cNvSpPr txBox="1"/>
          <p:nvPr/>
        </p:nvSpPr>
        <p:spPr>
          <a:xfrm>
            <a:off x="731520" y="1417320"/>
            <a:ext cx="5204308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АД выше целевого: сопутствующая АГ</a:t>
            </a:r>
            <a:endParaRPr lang="en-US" sz="1500" dirty="0"/>
          </a:p>
        </p:txBody>
      </p:sp>
      <p:sp>
        <p:nvSpPr>
          <p:cNvPr id="4" name="Условие: пониженное АД"/>
          <p:cNvSpPr txBox="1"/>
          <p:nvPr/>
        </p:nvSpPr>
        <p:spPr>
          <a:xfrm>
            <a:off x="6255868" y="1417320"/>
            <a:ext cx="5204308" cy="475488"/>
          </a:xfrm>
          <a:prstGeom prst="roundRect">
            <a:avLst>
              <a:gd name="adj" fmla="val 15385"/>
            </a:avLst>
          </a:prstGeom>
          <a:solidFill>
            <a:srgbClr val="DFE5EB"/>
          </a:solidFill>
          <a:ln/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404C"/>
                </a:solidFill>
              </a:rPr>
              <a:t>АД пониженное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50794" y="19202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A96"/>
                </a:solidFill>
              </a:rPr>
              <a:t>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75141" y="19202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A96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Результат: АГ"/>
          <p:cNvSpPr/>
          <p:nvPr/>
        </p:nvSpPr>
        <p:spPr>
          <a:xfrm>
            <a:off x="731520" y="2240280"/>
            <a:ext cx="520430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8" name="Пилюля: БАБ"/>
          <p:cNvSpPr txBox="1"/>
          <p:nvPr/>
        </p:nvSpPr>
        <p:spPr>
          <a:xfrm>
            <a:off x="914400" y="2368296"/>
            <a:ext cx="59131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БАБ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97152" y="2368296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Пилюля: ДГП-БКК"/>
          <p:cNvSpPr txBox="1"/>
          <p:nvPr/>
        </p:nvSpPr>
        <p:spPr>
          <a:xfrm>
            <a:off x="1853184" y="2368296"/>
            <a:ext cx="1013968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ДГП-БКК</a:t>
            </a:r>
            <a:endParaRPr lang="en-US" sz="1300" dirty="0"/>
          </a:p>
        </p:txBody>
      </p:sp>
      <p:sp>
        <p:nvSpPr>
          <p:cNvPr id="11" name="Результат: пониженное АД"/>
          <p:cNvSpPr/>
          <p:nvPr/>
        </p:nvSpPr>
        <p:spPr>
          <a:xfrm>
            <a:off x="6255868" y="2240280"/>
            <a:ext cx="520430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2" name="Пилюля: БАБ"/>
          <p:cNvSpPr txBox="1"/>
          <p:nvPr/>
        </p:nvSpPr>
        <p:spPr>
          <a:xfrm>
            <a:off x="6438748" y="2368296"/>
            <a:ext cx="59131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БАБ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21500" y="2368296"/>
            <a:ext cx="4155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 низкой дозе (или не-ДГП-БКК в низкой дозе)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38748" y="2743200"/>
            <a:ext cx="4838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Шаг 2: заменить на ивабрадин*, ранолазин или триметазидин; добавить к шагу 1 — если АД не снижается ниже исходного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52043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КР ИБС 2024¹: БКК рекомендуется назначать при сочетании стабильной стенокардии с АГ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КР АГ 2024², прил. Б4: при АГ и ИБС к иАПФ (БРА) + ББ при стенокардии добавляется ДГП-АК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55868" y="3493008"/>
            <a:ext cx="520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КР ИБС 2024¹, табл. ПА3-5, колонка «пониженное АД», сноска «в»</a:t>
            </a:r>
            <a:endParaRPr lang="en-US" sz="1300" dirty="0"/>
          </a:p>
        </p:txBody>
      </p:sp>
      <p:sp>
        <p:nvSpPr>
          <p:cNvPr id="17" name="Выноска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18" name="Выноска — полоса"/>
          <p:cNvSpPr/>
          <p:nvPr/>
        </p:nvSpPr>
        <p:spPr>
          <a:xfrm>
            <a:off x="731520" y="4206240"/>
            <a:ext cx="64008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2062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Снижение АД до целевых значений — часть устранения приступов стенокардии у пациентов с АГ и ИБС¹.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АГ здесь не отдельная цель, а условие выбора второго антиангинального компонента</a:t>
            </a:r>
            <a:endParaRPr lang="en-US" sz="1500" dirty="0"/>
          </a:p>
        </p:txBody>
      </p:sp>
      <p:sp>
        <p:nvSpPr>
          <p:cNvPr id="20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* Расхождение: ESC 2024 — ивабрадин как дополнительная терапия при ФВ ЛЖ &gt;40% без клинической СН не рекомендован (III B); в КР МЗ РФ ивабрадин — препарат 2-й линии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ИБС. КР 2024. РКЖ. 2024;29(9):6110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2. Кобалава Ж.Д. и соавт. АГ у взрослых. КР 2024. РКЖ. 2024;29(9):6117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Вариант А разводит по разным таблеткам препараты с разными целями: симптомы и прогноз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4416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Условный пациент: БАБ + ДГП-БКК — для симптомов; блокатор РААС — для профилактики ССО при АГ (ЕОК I A)¹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307592" y="171907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Таблетка 1 (FDC)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096512" y="17190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Таблетка 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833872" y="17190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Коррекция блокатора РААС (K⁺, креатинин, гипотензия, кашель)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79792" y="171907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Брадикардия на БАБ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759952" y="1719072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Отёки на амлодипине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85832" y="1719072"/>
            <a:ext cx="13377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Молекула и доза блокатора РААС</a:t>
            </a:r>
            <a:endParaRPr lang="en-US" sz="1050" dirty="0"/>
          </a:p>
        </p:txBody>
      </p:sp>
      <p:sp>
        <p:nvSpPr>
          <p:cNvPr id="10" name="Строка А"/>
          <p:cNvSpPr/>
          <p:nvPr/>
        </p:nvSpPr>
        <p:spPr>
          <a:xfrm>
            <a:off x="731520" y="2286000"/>
            <a:ext cx="5029200" cy="6583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2860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А</a:t>
            </a:r>
            <a:endParaRPr lang="en-US" sz="2200" dirty="0"/>
          </a:p>
        </p:txBody>
      </p:sp>
      <p:sp>
        <p:nvSpPr>
          <p:cNvPr id="12" name="Таблетка: БАБ + ДГП-БКК"/>
          <p:cNvSpPr/>
          <p:nvPr/>
        </p:nvSpPr>
        <p:spPr>
          <a:xfrm>
            <a:off x="1289304" y="2404872"/>
            <a:ext cx="1688592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13" name="Пилюля: БАБ"/>
          <p:cNvSpPr txBox="1"/>
          <p:nvPr/>
        </p:nvSpPr>
        <p:spPr>
          <a:xfrm>
            <a:off x="1344168" y="2459736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14" name="Пилюля: ДГП-БКК"/>
          <p:cNvSpPr txBox="1"/>
          <p:nvPr/>
        </p:nvSpPr>
        <p:spPr>
          <a:xfrm>
            <a:off x="1965960" y="2459736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15" name="Таблетка: Блокатор РААС"/>
          <p:cNvSpPr/>
          <p:nvPr/>
        </p:nvSpPr>
        <p:spPr>
          <a:xfrm>
            <a:off x="4078224" y="2404872"/>
            <a:ext cx="165201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16" name="Пилюля: Блокатор РААС"/>
          <p:cNvSpPr txBox="1"/>
          <p:nvPr/>
        </p:nvSpPr>
        <p:spPr>
          <a:xfrm>
            <a:off x="4133088" y="2459736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17" name="Ячейка А1"/>
          <p:cNvSpPr/>
          <p:nvPr/>
        </p:nvSpPr>
        <p:spPr>
          <a:xfrm>
            <a:off x="5760720" y="2286000"/>
            <a:ext cx="1645920" cy="658368"/>
          </a:xfrm>
          <a:prstGeom prst="rect">
            <a:avLst/>
          </a:prstGeom>
          <a:solidFill>
            <a:srgbClr val="E3F1E8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33872" y="22860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448"/>
                </a:solidFill>
              </a:rPr>
              <a:t>Меняется только таблетка 2</a:t>
            </a:r>
            <a:endParaRPr lang="en-US" sz="1150" dirty="0"/>
          </a:p>
        </p:txBody>
      </p:sp>
      <p:sp>
        <p:nvSpPr>
          <p:cNvPr id="19" name="Ячейка А2"/>
          <p:cNvSpPr/>
          <p:nvPr/>
        </p:nvSpPr>
        <p:spPr>
          <a:xfrm>
            <a:off x="7406640" y="2286000"/>
            <a:ext cx="128016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792" y="228600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Меняется FDC</a:t>
            </a:r>
            <a:endParaRPr lang="en-US" sz="1150" dirty="0"/>
          </a:p>
        </p:txBody>
      </p:sp>
      <p:sp>
        <p:nvSpPr>
          <p:cNvPr id="21" name="Ячейка А3"/>
          <p:cNvSpPr/>
          <p:nvPr/>
        </p:nvSpPr>
        <p:spPr>
          <a:xfrm>
            <a:off x="8686800" y="2286000"/>
            <a:ext cx="132588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59952" y="2286000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Меняется FDC</a:t>
            </a:r>
            <a:endParaRPr lang="en-US" sz="1150" dirty="0"/>
          </a:p>
        </p:txBody>
      </p:sp>
      <p:sp>
        <p:nvSpPr>
          <p:cNvPr id="23" name="Ячейка А4"/>
          <p:cNvSpPr/>
          <p:nvPr/>
        </p:nvSpPr>
        <p:spPr>
          <a:xfrm>
            <a:off x="10012680" y="2286000"/>
            <a:ext cx="1447495" cy="658368"/>
          </a:xfrm>
          <a:prstGeom prst="rect">
            <a:avLst/>
          </a:prstGeom>
          <a:solidFill>
            <a:srgbClr val="E3F1E8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85832" y="2286000"/>
            <a:ext cx="13194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448"/>
                </a:solidFill>
              </a:rPr>
              <a:t>Выбор свободный</a:t>
            </a:r>
            <a:endParaRPr lang="en-US" sz="1150" dirty="0"/>
          </a:p>
        </p:txBody>
      </p:sp>
      <p:sp>
        <p:nvSpPr>
          <p:cNvPr id="25" name="Строка Б"/>
          <p:cNvSpPr/>
          <p:nvPr/>
        </p:nvSpPr>
        <p:spPr>
          <a:xfrm>
            <a:off x="731520" y="3035808"/>
            <a:ext cx="5029200" cy="6583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303580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Б</a:t>
            </a:r>
            <a:endParaRPr lang="en-US" sz="2200" dirty="0"/>
          </a:p>
        </p:txBody>
      </p:sp>
      <p:sp>
        <p:nvSpPr>
          <p:cNvPr id="27" name="Таблетка: БАБ + Блокатор РААС"/>
          <p:cNvSpPr/>
          <p:nvPr/>
        </p:nvSpPr>
        <p:spPr>
          <a:xfrm>
            <a:off x="1289304" y="3154680"/>
            <a:ext cx="2273808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28" name="Пилюля: БАБ"/>
          <p:cNvSpPr txBox="1"/>
          <p:nvPr/>
        </p:nvSpPr>
        <p:spPr>
          <a:xfrm>
            <a:off x="1344168" y="3209544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29" name="Пилюля: Блокатор РААС"/>
          <p:cNvSpPr txBox="1"/>
          <p:nvPr/>
        </p:nvSpPr>
        <p:spPr>
          <a:xfrm>
            <a:off x="1965960" y="3209544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30" name="Таблетка: ДГП-БКК"/>
          <p:cNvSpPr/>
          <p:nvPr/>
        </p:nvSpPr>
        <p:spPr>
          <a:xfrm>
            <a:off x="4078224" y="3154680"/>
            <a:ext cx="106680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31" name="Пилюля: ДГП-БКК"/>
          <p:cNvSpPr txBox="1"/>
          <p:nvPr/>
        </p:nvSpPr>
        <p:spPr>
          <a:xfrm>
            <a:off x="4133088" y="3209544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32" name="Ячейка Б1"/>
          <p:cNvSpPr/>
          <p:nvPr/>
        </p:nvSpPr>
        <p:spPr>
          <a:xfrm>
            <a:off x="5760720" y="3035808"/>
            <a:ext cx="164592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33872" y="303580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FDC заменяют монопрепаратом БАБ</a:t>
            </a:r>
            <a:endParaRPr lang="en-US" sz="1150" dirty="0"/>
          </a:p>
        </p:txBody>
      </p:sp>
      <p:sp>
        <p:nvSpPr>
          <p:cNvPr id="34" name="Ячейка Б2"/>
          <p:cNvSpPr/>
          <p:nvPr/>
        </p:nvSpPr>
        <p:spPr>
          <a:xfrm>
            <a:off x="7406640" y="3035808"/>
            <a:ext cx="128016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79792" y="303580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Меняется FDC</a:t>
            </a:r>
            <a:endParaRPr lang="en-US" sz="1150" dirty="0"/>
          </a:p>
        </p:txBody>
      </p:sp>
      <p:sp>
        <p:nvSpPr>
          <p:cNvPr id="36" name="Ячейка Б3"/>
          <p:cNvSpPr/>
          <p:nvPr/>
        </p:nvSpPr>
        <p:spPr>
          <a:xfrm>
            <a:off x="8686800" y="3035808"/>
            <a:ext cx="1325880" cy="658368"/>
          </a:xfrm>
          <a:prstGeom prst="rect">
            <a:avLst/>
          </a:prstGeom>
          <a:solidFill>
            <a:srgbClr val="E3F1E8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59952" y="303580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448"/>
                </a:solidFill>
              </a:rPr>
              <a:t>Меняется таблетка 2</a:t>
            </a:r>
            <a:endParaRPr lang="en-US" sz="1150" dirty="0"/>
          </a:p>
        </p:txBody>
      </p:sp>
      <p:sp>
        <p:nvSpPr>
          <p:cNvPr id="38" name="Ячейка Б4"/>
          <p:cNvSpPr/>
          <p:nvPr/>
        </p:nvSpPr>
        <p:spPr>
          <a:xfrm>
            <a:off x="10012680" y="3035808"/>
            <a:ext cx="1447495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85832" y="3035808"/>
            <a:ext cx="13194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Ограничен дозировками FDC</a:t>
            </a:r>
            <a:endParaRPr lang="en-US" sz="1150" dirty="0"/>
          </a:p>
        </p:txBody>
      </p:sp>
      <p:sp>
        <p:nvSpPr>
          <p:cNvPr id="40" name="Строка В"/>
          <p:cNvSpPr/>
          <p:nvPr/>
        </p:nvSpPr>
        <p:spPr>
          <a:xfrm>
            <a:off x="731520" y="3785616"/>
            <a:ext cx="5029200" cy="6583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1248" y="378561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В</a:t>
            </a:r>
            <a:endParaRPr lang="en-US" sz="2200" dirty="0"/>
          </a:p>
        </p:txBody>
      </p:sp>
      <p:sp>
        <p:nvSpPr>
          <p:cNvPr id="42" name="Таблетка: ДГП-БКК + Блокатор РААС"/>
          <p:cNvSpPr/>
          <p:nvPr/>
        </p:nvSpPr>
        <p:spPr>
          <a:xfrm>
            <a:off x="1289304" y="3904488"/>
            <a:ext cx="2663952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43" name="Пилюля: ДГП-БКК"/>
          <p:cNvSpPr txBox="1"/>
          <p:nvPr/>
        </p:nvSpPr>
        <p:spPr>
          <a:xfrm>
            <a:off x="1344168" y="3959352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44" name="Пилюля: Блокатор РААС"/>
          <p:cNvSpPr txBox="1"/>
          <p:nvPr/>
        </p:nvSpPr>
        <p:spPr>
          <a:xfrm>
            <a:off x="2356104" y="3959352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45" name="Таблетка: БАБ"/>
          <p:cNvSpPr/>
          <p:nvPr/>
        </p:nvSpPr>
        <p:spPr>
          <a:xfrm>
            <a:off x="4078224" y="3904488"/>
            <a:ext cx="67665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46" name="Пилюля: БАБ"/>
          <p:cNvSpPr txBox="1"/>
          <p:nvPr/>
        </p:nvSpPr>
        <p:spPr>
          <a:xfrm>
            <a:off x="4133088" y="39593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47" name="Ячейка В1"/>
          <p:cNvSpPr/>
          <p:nvPr/>
        </p:nvSpPr>
        <p:spPr>
          <a:xfrm>
            <a:off x="5760720" y="3785616"/>
            <a:ext cx="164592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33872" y="378561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Меняется FDC</a:t>
            </a:r>
            <a:endParaRPr lang="en-US" sz="1150" dirty="0"/>
          </a:p>
        </p:txBody>
      </p:sp>
      <p:sp>
        <p:nvSpPr>
          <p:cNvPr id="49" name="Ячейка В2"/>
          <p:cNvSpPr/>
          <p:nvPr/>
        </p:nvSpPr>
        <p:spPr>
          <a:xfrm>
            <a:off x="7406640" y="3785616"/>
            <a:ext cx="1280160" cy="658368"/>
          </a:xfrm>
          <a:prstGeom prst="rect">
            <a:avLst/>
          </a:prstGeom>
          <a:solidFill>
            <a:srgbClr val="E3F1E8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79792" y="3785616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448"/>
                </a:solidFill>
              </a:rPr>
              <a:t>Меняется таблетка 2</a:t>
            </a:r>
            <a:endParaRPr lang="en-US" sz="1150" dirty="0"/>
          </a:p>
        </p:txBody>
      </p:sp>
      <p:sp>
        <p:nvSpPr>
          <p:cNvPr id="51" name="Ячейка В3"/>
          <p:cNvSpPr/>
          <p:nvPr/>
        </p:nvSpPr>
        <p:spPr>
          <a:xfrm>
            <a:off x="8686800" y="3785616"/>
            <a:ext cx="1325880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759952" y="3785616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Меняется FDC</a:t>
            </a:r>
            <a:endParaRPr lang="en-US" sz="1150" dirty="0"/>
          </a:p>
        </p:txBody>
      </p:sp>
      <p:sp>
        <p:nvSpPr>
          <p:cNvPr id="53" name="Ячейка В4"/>
          <p:cNvSpPr/>
          <p:nvPr/>
        </p:nvSpPr>
        <p:spPr>
          <a:xfrm>
            <a:off x="10012680" y="3785616"/>
            <a:ext cx="1447495" cy="658368"/>
          </a:xfrm>
          <a:prstGeom prst="rect">
            <a:avLst/>
          </a:prstGeom>
          <a:solidFill>
            <a:srgbClr val="FBEFD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85832" y="3785616"/>
            <a:ext cx="13194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5C00"/>
                </a:solidFill>
              </a:rPr>
              <a:t>Ограничен дозировками FDC</a:t>
            </a:r>
            <a:endParaRPr lang="en-US" sz="1150" dirty="0"/>
          </a:p>
        </p:txBody>
      </p:sp>
      <p:sp>
        <p:nvSpPr>
          <p:cNvPr id="55" name="Легенда 1"/>
          <p:cNvSpPr/>
          <p:nvPr/>
        </p:nvSpPr>
        <p:spPr>
          <a:xfrm>
            <a:off x="731520" y="4590288"/>
            <a:ext cx="164592" cy="164592"/>
          </a:xfrm>
          <a:prstGeom prst="rect">
            <a:avLst/>
          </a:prstGeom>
          <a:solidFill>
            <a:srgbClr val="E3F1E8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9264" y="4553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таблетка FDC не меняется</a:t>
            </a:r>
            <a:endParaRPr lang="en-US" sz="1100" dirty="0"/>
          </a:p>
        </p:txBody>
      </p:sp>
      <p:sp>
        <p:nvSpPr>
          <p:cNvPr id="57" name="Легенда 2"/>
          <p:cNvSpPr/>
          <p:nvPr/>
        </p:nvSpPr>
        <p:spPr>
          <a:xfrm>
            <a:off x="3566160" y="4590288"/>
            <a:ext cx="164592" cy="164592"/>
          </a:xfrm>
          <a:prstGeom prst="rect">
            <a:avLst/>
          </a:prstGeom>
          <a:solidFill>
            <a:srgbClr val="FBEFD5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03904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FDC придётся заменить, или она ограничивает выбор</a:t>
            </a:r>
            <a:endParaRPr lang="en-US" sz="1100" dirty="0"/>
          </a:p>
        </p:txBody>
      </p:sp>
      <p:sp>
        <p:nvSpPr>
          <p:cNvPr id="59" name="Плашка"/>
          <p:cNvSpPr/>
          <p:nvPr/>
        </p:nvSpPr>
        <p:spPr>
          <a:xfrm>
            <a:off x="731520" y="4983480"/>
            <a:ext cx="10728655" cy="502920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60" name="Плашка — полоса"/>
          <p:cNvSpPr/>
          <p:nvPr/>
        </p:nvSpPr>
        <p:spPr>
          <a:xfrm>
            <a:off x="731520" y="4983480"/>
            <a:ext cx="64008" cy="502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05840" y="498348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Клиническое рассуждение о схеме, а не результаты исследований.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Прямых сравнений вариантов А, Б и В нет</a:t>
            </a:r>
            <a:endParaRPr lang="en-US" sz="1500" dirty="0"/>
          </a:p>
        </p:txBody>
      </p:sp>
      <p:sp>
        <p:nvSpPr>
          <p:cNvPr id="62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РААС — ренин-ангиотензин-альдостероновая система; ССО — сердечно-сосудистые осложнения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ИБС. КР 2024. РКЖ. 2024;29(9):6110 — разделы 3.1.2.1 (устранение симптомов) и 3.1.2.2 (профилактика ССО)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Фиксация антиангинальной пары на фоне иАПФ сопровождалась уменьшением частоты приступов стенокардии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4416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Скибицкий и соавт., 2015¹ · открытое РКИ · n=61 · АГ + стабильная стенокардия II–III ФК + метаболический синдром · 12 недель</a:t>
            </a:r>
            <a:endParaRPr lang="en-US" sz="1400" dirty="0"/>
          </a:p>
        </p:txBody>
      </p:sp>
      <p:sp>
        <p:nvSpPr>
          <p:cNvPr id="4" name="Скибицкий — данные"/>
          <p:cNvSpPr/>
          <p:nvPr/>
        </p:nvSpPr>
        <p:spPr>
          <a:xfrm>
            <a:off x="731520" y="1783080"/>
            <a:ext cx="63550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Группа 1, n=30</a:t>
            </a:r>
            <a:endParaRPr lang="en-US" sz="1350" dirty="0"/>
          </a:p>
        </p:txBody>
      </p:sp>
      <p:sp>
        <p:nvSpPr>
          <p:cNvPr id="6" name="Таблетка: бисопролол + амлодипин"/>
          <p:cNvSpPr/>
          <p:nvPr/>
        </p:nvSpPr>
        <p:spPr>
          <a:xfrm>
            <a:off x="2606040" y="1984248"/>
            <a:ext cx="256641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7" name="Пилюля: бисопролол"/>
          <p:cNvSpPr txBox="1"/>
          <p:nvPr/>
        </p:nvSpPr>
        <p:spPr>
          <a:xfrm>
            <a:off x="2660904" y="2039112"/>
            <a:ext cx="1249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бисопролол</a:t>
            </a:r>
            <a:endParaRPr lang="en-US" sz="1200" dirty="0"/>
          </a:p>
        </p:txBody>
      </p:sp>
      <p:sp>
        <p:nvSpPr>
          <p:cNvPr id="8" name="Пилюля: амлодипин"/>
          <p:cNvSpPr txBox="1"/>
          <p:nvPr/>
        </p:nvSpPr>
        <p:spPr>
          <a:xfrm>
            <a:off x="3965448" y="2039112"/>
            <a:ext cx="1152144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амлодипин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63896" y="203911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Пилюля: рамиприл"/>
          <p:cNvSpPr txBox="1"/>
          <p:nvPr/>
        </p:nvSpPr>
        <p:spPr>
          <a:xfrm>
            <a:off x="5492496" y="2039112"/>
            <a:ext cx="105460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рамиприл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Группа 2, n=31</a:t>
            </a:r>
            <a:endParaRPr lang="en-US" sz="1350" dirty="0"/>
          </a:p>
        </p:txBody>
      </p:sp>
      <p:sp>
        <p:nvSpPr>
          <p:cNvPr id="12" name="Пилюля: БАБ"/>
          <p:cNvSpPr txBox="1"/>
          <p:nvPr/>
        </p:nvSpPr>
        <p:spPr>
          <a:xfrm>
            <a:off x="2606040" y="2587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587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4" name="Пилюля: ДГП-БКК"/>
          <p:cNvSpPr txBox="1"/>
          <p:nvPr/>
        </p:nvSpPr>
        <p:spPr>
          <a:xfrm>
            <a:off x="3465576" y="2587752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95800" y="2587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6" name="Пилюля: иАПФ"/>
          <p:cNvSpPr txBox="1"/>
          <p:nvPr/>
        </p:nvSpPr>
        <p:spPr>
          <a:xfrm>
            <a:off x="4715256" y="2587752"/>
            <a:ext cx="664464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иАПФ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953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5C00"/>
                </a:solidFill>
                <a:highlight>
                  <a:srgbClr val="FFE6A8"/>
                </a:highlight>
              </a:rPr>
              <a:t>молекулы в группе 2 — уточнить по полному тексту</a:t>
            </a:r>
            <a:endParaRPr lang="en-US" sz="1050" dirty="0"/>
          </a:p>
        </p:txBody>
      </p:sp>
      <p:sp>
        <p:nvSpPr>
          <p:cNvPr id="18" name="Разделитель"/>
          <p:cNvSpPr/>
          <p:nvPr/>
        </p:nvSpPr>
        <p:spPr>
          <a:xfrm>
            <a:off x="960120" y="3319272"/>
            <a:ext cx="5897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410712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Приступы стенокардии в неделю, исходно → 12 недель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Фиксированная схема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Свободная схема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95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3,83 → 0,20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3995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7A91"/>
                </a:solidFill>
              </a:rPr>
              <a:t>4,29 → 1,03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59943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АД через 12 недель сопоставимо: 125/79 и 127/78 мм рт. ст.</a:t>
            </a:r>
            <a:endParaRPr lang="en-US" sz="1200" dirty="0"/>
          </a:p>
        </p:txBody>
      </p:sp>
      <p:sp>
        <p:nvSpPr>
          <p:cNvPr id="25" name="Выноска"/>
          <p:cNvSpPr/>
          <p:nvPr/>
        </p:nvSpPr>
        <p:spPr>
          <a:xfrm>
            <a:off x="7315200" y="1783080"/>
            <a:ext cx="4144975" cy="1600200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26" name="Выноска — полоса"/>
          <p:cNvSpPr/>
          <p:nvPr/>
        </p:nvSpPr>
        <p:spPr>
          <a:xfrm>
            <a:off x="7315200" y="1783080"/>
            <a:ext cx="64008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89520" y="1783080"/>
            <a:ext cx="3687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Фиксированная комбинация бисопролола и амлодипина зарегистрирована для лечения АГ (замещение монокомпонентов в тех же дозах).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Данные получены у пациентов с АГ, стабильной стенокардией II–III ФК и метаболическим синдромом</a:t>
            </a:r>
            <a:endParaRPr lang="en-US" sz="1350" dirty="0"/>
          </a:p>
        </p:txBody>
      </p:sp>
      <p:sp>
        <p:nvSpPr>
          <p:cNvPr id="28" name="Плашка"/>
          <p:cNvSpPr/>
          <p:nvPr/>
        </p:nvSpPr>
        <p:spPr>
          <a:xfrm>
            <a:off x="7315200" y="3566160"/>
            <a:ext cx="4144975" cy="1051560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29" name="Плашка — полоса"/>
          <p:cNvSpPr/>
          <p:nvPr/>
        </p:nvSpPr>
        <p:spPr>
          <a:xfrm>
            <a:off x="7315200" y="3566160"/>
            <a:ext cx="64008" cy="1051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89520" y="3566160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Сравнивались фиксированная и свободная тройка, а не способы фиксации. Межгрупповое сравнение: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highlight>
                  <a:srgbClr val="FFE6A8"/>
                </a:highlight>
              </a:rPr>
              <a:t>p — уточнить по полному тексту</a:t>
            </a:r>
            <a:endParaRPr lang="en-US" sz="1350" dirty="0"/>
          </a:p>
        </p:txBody>
      </p:sp>
      <p:sp>
        <p:nvSpPr>
          <p:cNvPr id="31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Скибицкий В.В. и соавт. Эффективность фиксированной комбинации бисопролола и амлодипина у пациентов с артериальной гипертонией, ишемической болезнью сердца и метаболическим синдромом. Системные гипертензии. 2015;12(1):26–31. doi:10.26442/SG29086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Положения для обсуждения: у какого пациента рационально фиксировать антиангинальную пару</a:t>
            </a:r>
            <a:endParaRPr lang="en-US" sz="2400" dirty="0"/>
          </a:p>
        </p:txBody>
      </p:sp>
      <p:sp>
        <p:nvSpPr>
          <p:cNvPr id="3" name="Критерий 1"/>
          <p:cNvSpPr/>
          <p:nvPr/>
        </p:nvSpPr>
        <p:spPr>
          <a:xfrm>
            <a:off x="731520" y="141732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4" name="Номер 1"/>
          <p:cNvSpPr txBox="1"/>
          <p:nvPr/>
        </p:nvSpPr>
        <p:spPr>
          <a:xfrm>
            <a:off x="886968" y="160934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Ведущая задача.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ИБС подтверждена; ведущая проблема — стенокардия напряжения или её эквиваленты (одышка напряжения) с подтверждённым ишемическим генезом¹</a:t>
            </a:r>
            <a:endParaRPr lang="en-US" sz="1250" dirty="0"/>
          </a:p>
        </p:txBody>
      </p:sp>
      <p:sp>
        <p:nvSpPr>
          <p:cNvPr id="6" name="Критерий 2"/>
          <p:cNvSpPr/>
          <p:nvPr/>
        </p:nvSpPr>
        <p:spPr>
          <a:xfrm>
            <a:off x="731520" y="214884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7" name="Номер 2"/>
          <p:cNvSpPr txBox="1"/>
          <p:nvPr/>
        </p:nvSpPr>
        <p:spPr>
          <a:xfrm>
            <a:off x="886968" y="234086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4884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Нужен БАБ.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ЧСС выше антиангинальной цели, перенесённый ИМ или ФП</a:t>
            </a:r>
            <a:endParaRPr lang="en-US" sz="1250" dirty="0"/>
          </a:p>
        </p:txBody>
      </p:sp>
      <p:sp>
        <p:nvSpPr>
          <p:cNvPr id="9" name="Критерий 3"/>
          <p:cNvSpPr/>
          <p:nvPr/>
        </p:nvSpPr>
        <p:spPr>
          <a:xfrm>
            <a:off x="731520" y="288036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0" name="Номер 3"/>
          <p:cNvSpPr txBox="1"/>
          <p:nvPr/>
        </p:nvSpPr>
        <p:spPr>
          <a:xfrm>
            <a:off x="886968" y="307238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8036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Нужен ДГП-БКК.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Сопутствующая АГ¹ ³ или подозрение на вазомоторный компонент: при необходимости БАБ — сочетать с ДГП-БКК и/или нитратами¹</a:t>
            </a:r>
            <a:endParaRPr lang="en-US" sz="1250" dirty="0"/>
          </a:p>
        </p:txBody>
      </p:sp>
      <p:sp>
        <p:nvSpPr>
          <p:cNvPr id="12" name="Критерий 4"/>
          <p:cNvSpPr/>
          <p:nvPr/>
        </p:nvSpPr>
        <p:spPr>
          <a:xfrm>
            <a:off x="731520" y="361188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3" name="Номер 4"/>
          <p:cNvSpPr txBox="1"/>
          <p:nvPr/>
        </p:nvSpPr>
        <p:spPr>
          <a:xfrm>
            <a:off x="886968" y="38039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1188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Показание к паре.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III–IV ФК — пара сразу (КР, I C) или II ФК без контроля на монотерапии (ESC, IIa B; КР, табл. ПА3-5)¹ ²</a:t>
            </a:r>
            <a:endParaRPr lang="en-US" sz="1250" dirty="0"/>
          </a:p>
        </p:txBody>
      </p:sp>
      <p:sp>
        <p:nvSpPr>
          <p:cNvPr id="15" name="Критерий 5"/>
          <p:cNvSpPr/>
          <p:nvPr/>
        </p:nvSpPr>
        <p:spPr>
          <a:xfrm>
            <a:off x="731520" y="434340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6" name="Номер 5"/>
          <p:cNvSpPr txBox="1"/>
          <p:nvPr/>
        </p:nvSpPr>
        <p:spPr>
          <a:xfrm>
            <a:off x="886968" y="453542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4340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Дозы и переносимость.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Дозы подобраны на монокомпонентах и совпадают с дозировками FDC; нет значимых отёков; ЧСС в допустимом диапазоне</a:t>
            </a:r>
            <a:endParaRPr lang="en-US" sz="1250" dirty="0"/>
          </a:p>
        </p:txBody>
      </p:sp>
      <p:sp>
        <p:nvSpPr>
          <p:cNvPr id="18" name="Критерий 6"/>
          <p:cNvSpPr/>
          <p:nvPr/>
        </p:nvSpPr>
        <p:spPr>
          <a:xfrm>
            <a:off x="731520" y="5074920"/>
            <a:ext cx="69037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9" name="Номер 6"/>
          <p:cNvSpPr txBox="1"/>
          <p:nvPr/>
        </p:nvSpPr>
        <p:spPr>
          <a:xfrm>
            <a:off x="886968" y="526694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07492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Блокатор РААС.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Нужен по своим показаниям, и важна свобода его молекулы и дозы — или противопоказан либо не переносится</a:t>
            </a:r>
            <a:endParaRPr lang="en-US" sz="1250" dirty="0"/>
          </a:p>
        </p:txBody>
      </p:sp>
      <p:sp>
        <p:nvSpPr>
          <p:cNvPr id="21" name="Вопросы совету"/>
          <p:cNvSpPr/>
          <p:nvPr/>
        </p:nvSpPr>
        <p:spPr>
          <a:xfrm>
            <a:off x="7909560" y="1417320"/>
            <a:ext cx="3550615" cy="4251960"/>
          </a:xfrm>
          <a:prstGeom prst="roundRect">
            <a:avLst>
              <a:gd name="adj" fmla="val 3605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83880" y="164592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Вопросы совету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2148840"/>
            <a:ext cx="30476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Какие критерии лишние, каких не хватает?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Какой критерий главный — без него фиксация пары не имеет смысла?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Где граница между «ведущая задача — стенокардия» и «ведущая задача — АГ»?</a:t>
            </a:r>
            <a:endParaRPr lang="en-US" sz="1450" dirty="0"/>
          </a:p>
        </p:txBody>
      </p:sp>
      <p:sp>
        <p:nvSpPr>
          <p:cNvPr id="2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Положения выходят за пределы зарегистрированных показаний FDC бисопролол + амлодипин (АГ, замещение монокомпонентов). Материал для научной дискуссии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ИБС. КР 2024. РКЖ. 2024;29(9):6110 · 2. Vrints C, et al. Eur Heart J. 2024;45:3415–3537 · 3. Кобалава Ж.Д. и соавт. АГ у взрослых. КР 2024. РКЖ. 2024;29(9):6117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Фиксация антиангинальной пары не нужна, если ведущая задача — не стенокардия или пара не переносится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accent1"/>
                </a:solidFill>
              </a:rPr>
              <a:t>КОГДА НЕ ВАРИАНТ А</a:t>
            </a:r>
            <a:endParaRPr lang="en-US" sz="1250" dirty="0"/>
          </a:p>
        </p:txBody>
      </p:sp>
      <p:sp>
        <p:nvSpPr>
          <p:cNvPr id="4" name="Не А 1"/>
          <p:cNvSpPr/>
          <p:nvPr/>
        </p:nvSpPr>
        <p:spPr>
          <a:xfrm>
            <a:off x="731520" y="1691640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6916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91640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АГ без стенокардии и её эквивалентов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→ FDC с блокатором РААС по КР АГ 2024³</a:t>
            </a:r>
            <a:endParaRPr lang="en-US" sz="1250" dirty="0"/>
          </a:p>
        </p:txBody>
      </p:sp>
      <p:sp>
        <p:nvSpPr>
          <p:cNvPr id="7" name="Не А 2"/>
          <p:cNvSpPr/>
          <p:nvPr/>
        </p:nvSpPr>
        <p:spPr>
          <a:xfrm>
            <a:off x="731520" y="2176272"/>
            <a:ext cx="6949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9536" y="21762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176272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Контроль и приверженность на свободной комбинации достигнуты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→ перевод не обязателен³</a:t>
            </a:r>
            <a:endParaRPr lang="en-US" sz="1250" dirty="0"/>
          </a:p>
        </p:txBody>
      </p:sp>
      <p:sp>
        <p:nvSpPr>
          <p:cNvPr id="10" name="Не А 3"/>
          <p:cNvSpPr/>
          <p:nvPr/>
        </p:nvSpPr>
        <p:spPr>
          <a:xfrm>
            <a:off x="731520" y="2788920"/>
            <a:ext cx="6949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9536" y="2788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788920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Антиангинальная цель достигается только при ЧСС &lt;60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→ ограничение инструкции FDC (ЧСС &lt;60 — противопоказание)</a:t>
            </a:r>
            <a:endParaRPr lang="en-US" sz="1250" dirty="0"/>
          </a:p>
        </p:txBody>
      </p:sp>
      <p:sp>
        <p:nvSpPr>
          <p:cNvPr id="13" name="Не А 4"/>
          <p:cNvSpPr/>
          <p:nvPr/>
        </p:nvSpPr>
        <p:spPr>
          <a:xfrm>
            <a:off x="731520" y="3401568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9536" y="340156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401568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ХСН со сниженной ФВ, декомпенсация, неишемическая ХСН III–IV ФК NYHA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16" name="Не А 5"/>
          <p:cNvSpPr/>
          <p:nvPr/>
        </p:nvSpPr>
        <p:spPr>
          <a:xfrm>
            <a:off x="731520" y="3886200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9536" y="38862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886200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Изолированная вазоспастическая стенокардия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→ БКК (ESC, I A)²; БАБ не используются¹</a:t>
            </a:r>
            <a:endParaRPr lang="en-US" sz="1250" dirty="0"/>
          </a:p>
        </p:txBody>
      </p:sp>
      <p:sp>
        <p:nvSpPr>
          <p:cNvPr id="19" name="Не А 6"/>
          <p:cNvSpPr/>
          <p:nvPr/>
        </p:nvSpPr>
        <p:spPr>
          <a:xfrm>
            <a:off x="731520" y="4370832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9536" y="437083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370832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Значимые отёки на амлодипине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2" name="Не А 7"/>
          <p:cNvSpPr/>
          <p:nvPr/>
        </p:nvSpPr>
        <p:spPr>
          <a:xfrm>
            <a:off x="731520" y="4855464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59536" y="4855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855464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Дозы вне дозировок FDC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(например, бисопролол 2,5 или 7,5 мг)</a:t>
            </a:r>
            <a:endParaRPr lang="en-US" sz="1250" dirty="0"/>
          </a:p>
        </p:txBody>
      </p:sp>
      <p:sp>
        <p:nvSpPr>
          <p:cNvPr id="25" name="Не А 8"/>
          <p:cNvSpPr/>
          <p:nvPr/>
        </p:nvSpPr>
        <p:spPr>
          <a:xfrm>
            <a:off x="731520" y="5340096"/>
            <a:ext cx="6949440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59536" y="534009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3F"/>
                </a:solidFill>
              </a:rPr>
              <a:t>×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340096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Нестабильная стенокардия; обструкция выносящего тракта ЛЖ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8" name="Чего мы не знаем"/>
          <p:cNvSpPr/>
          <p:nvPr/>
        </p:nvSpPr>
        <p:spPr>
          <a:xfrm>
            <a:off x="7955280" y="1691640"/>
            <a:ext cx="3504895" cy="3017520"/>
          </a:xfrm>
          <a:prstGeom prst="roundRect">
            <a:avLst>
              <a:gd name="adj" fmla="val 3636"/>
            </a:avLst>
          </a:prstGeom>
          <a:solidFill>
            <a:srgbClr val="FBEFD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11312" y="1874520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5C00"/>
                </a:solidFill>
              </a:rPr>
              <a:t>Чего мы не знаем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2286000"/>
            <a:ext cx="3047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Прямых сравнений вариантов фиксации А, Б и В нет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Влияет ли способ фиксации на приверженность антиангинальной терапии и частоту приступов, не изучено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Как трактовать ограничение по ЧСС при антиангинальной цели 55–60 уд/мин</a:t>
            </a:r>
            <a:endParaRPr lang="en-US" sz="1350" dirty="0"/>
          </a:p>
        </p:txBody>
      </p:sp>
      <p:sp>
        <p:nvSpPr>
          <p:cNvPr id="31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ИБС. КР 2024. РКЖ. 2024;29(9):6110 · 2. Vrints C, et al. Eur Heart J. 2024;45:3415–3537 · 3. Кобалава Ж.Д. и соавт. АГ у взрослых. КР 2024. РКЖ. 2024;29(9):6117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Инструкция FDC бисопролол + амлодипин: показание — АГ, антиангинальная фармакология описана</a:t>
            </a:r>
            <a:endParaRPr lang="en-US" sz="2400" dirty="0"/>
          </a:p>
        </p:txBody>
      </p:sp>
      <p:sp>
        <p:nvSpPr>
          <p:cNvPr id="3" name="Цитата 4.1 · Показания"/>
          <p:cNvSpPr/>
          <p:nvPr/>
        </p:nvSpPr>
        <p:spPr>
          <a:xfrm>
            <a:off x="731520" y="1417320"/>
            <a:ext cx="52500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4" name="Цитата — верх"/>
          <p:cNvSpPr/>
          <p:nvPr/>
        </p:nvSpPr>
        <p:spPr>
          <a:xfrm>
            <a:off x="731520" y="1417320"/>
            <a:ext cx="525002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600200"/>
            <a:ext cx="4884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4.1 · Показания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856232"/>
            <a:ext cx="4884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«артериальная гипертензия: замещение терапии монокомпонентными препаратами амлодипина и бисопролола в тех же дозах»</a:t>
            </a:r>
            <a:endParaRPr lang="en-US" sz="1350" dirty="0"/>
          </a:p>
        </p:txBody>
      </p:sp>
      <p:sp>
        <p:nvSpPr>
          <p:cNvPr id="7" name="Цитата 4.3 · Противопоказания"/>
          <p:cNvSpPr/>
          <p:nvPr/>
        </p:nvSpPr>
        <p:spPr>
          <a:xfrm>
            <a:off x="6210148" y="1417320"/>
            <a:ext cx="52500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8" name="Цитата — верх"/>
          <p:cNvSpPr/>
          <p:nvPr/>
        </p:nvSpPr>
        <p:spPr>
          <a:xfrm>
            <a:off x="6210148" y="1417320"/>
            <a:ext cx="525002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1600200"/>
            <a:ext cx="4884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4.3 · Противопоказания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11316" y="1856232"/>
            <a:ext cx="4884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«выраженная брадикардия (частота сердечных сокращений (ЧСС) менее 60 ударов/мин)»</a:t>
            </a:r>
            <a:endParaRPr lang="en-US" sz="1350" dirty="0"/>
          </a:p>
        </p:txBody>
      </p:sp>
      <p:sp>
        <p:nvSpPr>
          <p:cNvPr id="11" name="Цитата 4.5 · Взаимодействия"/>
          <p:cNvSpPr/>
          <p:nvPr/>
        </p:nvSpPr>
        <p:spPr>
          <a:xfrm>
            <a:off x="731520" y="3017520"/>
            <a:ext cx="52500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2" name="Цитата — верх"/>
          <p:cNvSpPr/>
          <p:nvPr/>
        </p:nvSpPr>
        <p:spPr>
          <a:xfrm>
            <a:off x="731520" y="3017520"/>
            <a:ext cx="525002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3200400"/>
            <a:ext cx="4884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4.5 · Взаимодействия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456432"/>
            <a:ext cx="4884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«У пациентов со стабильной стенокардией амлодипин можно комбинировать с другими антиангинальными средствами, например, с нитратами пролонгированного или короткого действия, бета-адреноблокаторами»</a:t>
            </a:r>
            <a:endParaRPr lang="en-US" sz="1350" dirty="0"/>
          </a:p>
        </p:txBody>
      </p:sp>
      <p:sp>
        <p:nvSpPr>
          <p:cNvPr id="15" name="Цитата 5.1 · Фармакодинамика"/>
          <p:cNvSpPr/>
          <p:nvPr/>
        </p:nvSpPr>
        <p:spPr>
          <a:xfrm>
            <a:off x="6210148" y="3017520"/>
            <a:ext cx="52500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6" name="Цитата — верх"/>
          <p:cNvSpPr/>
          <p:nvPr/>
        </p:nvSpPr>
        <p:spPr>
          <a:xfrm>
            <a:off x="6210148" y="3017520"/>
            <a:ext cx="525002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11316" y="3200400"/>
            <a:ext cx="4884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5.1 · Фармакодинамика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11316" y="3456432"/>
            <a:ext cx="4884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«Данный лекарственный препарат обладает выраженными антигипертензивным и антиангинальным эффектами благодаря взаимодополняющему действию двух активных ингредиентов»</a:t>
            </a:r>
            <a:endParaRPr lang="en-US" sz="1350" dirty="0"/>
          </a:p>
        </p:txBody>
      </p:sp>
      <p:sp>
        <p:nvSpPr>
          <p:cNvPr id="19" name="Плашка"/>
          <p:cNvSpPr/>
          <p:nvPr/>
        </p:nvSpPr>
        <p:spPr>
          <a:xfrm>
            <a:off x="731520" y="4709160"/>
            <a:ext cx="10728655" cy="475488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20" name="Плашка — полоса"/>
          <p:cNvSpPr/>
          <p:nvPr/>
        </p:nvSpPr>
        <p:spPr>
          <a:xfrm>
            <a:off x="731520" y="4709160"/>
            <a:ext cx="64008" cy="4754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709160"/>
            <a:ext cx="10271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Раздел 5.1 описывает фармакологию и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 расширяет показания</a:t>
            </a:r>
            <a:endParaRPr lang="en-US" sz="1500" dirty="0"/>
          </a:p>
        </p:txBody>
      </p:sp>
      <p:sp>
        <p:nvSpPr>
          <p:cNvPr id="22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ОХЛП Конкор® АМ (бисопролол + амлодипин), ЛП-№(012650)-(РГ-RU) от 28.11.2025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Добавление БКК к БАБ уменьшало частоту приступов в метаанализе дополнительной антиангинальной терапии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4416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Belsey et al., 2015¹ · систематический обзор и метаанализ РКИ · 46 исследований · стабильная стенокардия без контроля на монотерапии</a:t>
            </a:r>
            <a:endParaRPr lang="en-US" sz="1350" dirty="0"/>
          </a:p>
        </p:txBody>
      </p:sp>
      <p:graphicFrame>
        <p:nvGraphicFramePr>
          <p:cNvPr id="10" name="Belsey — 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7286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2194560"/>
                <a:gridCol w="20418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Схема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Частота приступов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Время до приступа на нагрузке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Время до депрессии ST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БАБ → + БКК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относительное снижение 0,21 (p=0,002)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SMD 0,30 (p&lt;0,0001)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незначимо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БАБ → + ивабрадин (1 исследование)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незначимо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SMD 0,18 (p&lt;0,0001)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SMD 0,17 (p&lt;0,0001)</a:t>
                      </a:r>
                      <a:endParaRPr lang="en-US" sz="12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Плашка"/>
          <p:cNvSpPr/>
          <p:nvPr/>
        </p:nvSpPr>
        <p:spPr>
          <a:xfrm>
            <a:off x="731520" y="3794760"/>
            <a:ext cx="10728655" cy="658368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6" name="Плашка — полоса"/>
          <p:cNvSpPr/>
          <p:nvPr/>
        </p:nvSpPr>
        <p:spPr>
          <a:xfrm>
            <a:off x="731520" y="3794760"/>
            <a:ext cx="64008" cy="6583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79476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Анализ на уровне классов: БКК не только дигидропиридиновые, молекулы не выделены. Размеры эффекта скромные. Финансирование — A. Menarini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SMD — стандартизированная разность средних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Belsey J, et al. Relative efficacy of antianginal drugs used as add-on therapy in patients with stable angina: a systematic review and meta-analysis. Eur J Prev Cardiol. 2015;22(7):837–848. doi:10.1177/2047487314533217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board FDC">
  <a:themeElements>
    <a:clrScheme name="Adboard FDC">
      <a:dk1>
        <a:srgbClr val="252A31"/>
      </a:dk1>
      <a:lt1>
        <a:srgbClr val="FFFFFF"/>
      </a:lt1>
      <a:dk2>
        <a:srgbClr val="0D5A8C"/>
      </a:dk2>
      <a:lt2>
        <a:srgbClr val="F5F7FA"/>
      </a:lt2>
      <a:accent1>
        <a:srgbClr val="0D5A8C"/>
      </a:accent1>
      <a:accent2>
        <a:srgbClr val="0B4A74"/>
      </a:accent2>
      <a:accent3>
        <a:srgbClr val="0A9FD6"/>
      </a:accent3>
      <a:accent4>
        <a:srgbClr val="F2B627"/>
      </a:accent4>
      <a:accent5>
        <a:srgbClr val="E3A91C"/>
      </a:accent5>
      <a:accent6>
        <a:srgbClr val="5B6470"/>
      </a:accent6>
      <a:hlink>
        <a:srgbClr val="0D5A8C"/>
      </a:hlink>
      <a:folHlink>
        <a:srgbClr val="5B6470"/>
      </a:folHlink>
    </a:clrScheme>
    <a:fontScheme name="Adboard FD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Адборд: фиксация антиангинальной пары — черновик v2</dc:title>
  <dc:subject>PptxGenJS Presentation</dc:subject>
  <dc:creator>Merck Medical Affairs (черновик)</dc:creator>
  <cp:lastModifiedBy>Merck Medical Affairs (черновик)</cp:lastModifiedBy>
  <cp:revision>1</cp:revision>
  <dcterms:created xsi:type="dcterms:W3CDTF">2026-10-20T08:22:50Z</dcterms:created>
  <dcterms:modified xsi:type="dcterms:W3CDTF">2026-10-20T08:22:50Z</dcterms:modified>
</cp:coreProperties>
</file>