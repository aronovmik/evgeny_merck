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Дека адборда (5 слайдов, с правками)" id="{9fa2e23e-0841-6666-fa84-e7fd693a4017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Правки относительно исходного слайда: карточка 01 — вопрос «какая задача ведущая: симптомы или АД и прогноз»; карточка 04 переименована в «Управляемость схемы» — «можно ли скорректировать один препарат, не меняя остальные». Ссылка на EMA оставлена в сноске; аргумент на ней не строить: оппонент спросит, что зарегистрировал регулятор (АГ).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Правки: жёлтая плашка исправлена — в ESC 2024 CCS есть рекомендация I B за упрощение схемы, в т. ч. с помощью фиксированных комбинаций, для приверженности; исходная формулировка «не обосновывают фиксированную форму» была неточной. Добавлена карточка КР АГ 2024 (ББ и/или АК при АГ и стенокардии, I A) — опора, что ДГП-БКК в тройке именно из-за стенокардии. Добавлена строка о расхождении КР и ESC. Исходные цитаты КР (I C) и ESC (IIa B) сверены с первоисточниками.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Правки: колонка «Антиангинальная пара: в одной таблетке / разнесены» (тавтология) заменена колонками последствий. Логика: при коррекции блокатора РААС в варианте А антиангинальная таблетка не меняется; в Б и В меняется FDC. Честно показана обратная сторона: при брадикардии или отёках на амлодипине в варианте А меняется именно FDC. Подзаголовок: вместо «три необходимых класса» — откуда каждый класс. В заголовок добавлено тире. «Недостаточно» → «нет» (сравнений нет). Значки ❑ заменены обычными маркерами.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Правки: удалён Divchev 2017 (другая пара — метопролол + ивабрадин; ивабрадин как дополнительная терапия при ФВ ЛЖ &gt;40% без СН в ESC 2024 — III B, в КР МЗ РФ — 2-я линия; исследование без контроля; FDC другой компании). Удалена фармакоэкономика (цены 2014 года). Добавлен дисклеймер «получены у» (правило 4 репо). Итоговая плашка переписана: исследование сравнивает FDC со свободной тройкой, а не способы фиксации. Перед адбордом уточнить по полному тексту молекулы в группе 2 и межгрупповой p (жёлтые плейсхолдеры).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Правки: «Итоговое положение» → «Положение для обсуждения» и off-label-сноска. Шаг 1 — «стенокардия или её эквиваленты при подтверждённой ишемии». Шаг 3 — коррекция блокатора РААС не затрагивает антиангинальную пару. Добавлена строка «Не вариант А» — прямой ответ на опасение докладчика: при АГ без стенокардии разговора о фиксации этой пары нет. В итоговое положение добавлено тире. Подготовить устно: в ОХЛП FDC «выраженная брадикардия (ЧСС менее 60)» стоит без «до начала терапии», а антиангинальная цель ЧСС 55–60 — нужен ответ медотдела.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097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Исходная дека с правками по итогам совета · адборд · не для полевого использования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UP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1097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5C00"/>
                </a:solidFill>
              </a:rPr>
              <a:t>Бэкап · только по вопросу из зала · решение по использованию за Евгением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Рациональный выбор фиксированной комбинации: от клинической задачи к составу препарата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Рациональность фиксированной комбинации определяется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клинической обоснованностью совместного применения компонентов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их соответствием терапевтической задаче, выбранным дозам, профилю безопасности и возможностью упростить лечение</a:t>
            </a:r>
            <a:endParaRPr lang="en-US" sz="1600" dirty="0"/>
          </a:p>
        </p:txBody>
      </p:sp>
      <p:sp>
        <p:nvSpPr>
          <p:cNvPr id="4" name="Карточка 1"/>
          <p:cNvSpPr/>
          <p:nvPr/>
        </p:nvSpPr>
        <p:spPr>
          <a:xfrm>
            <a:off x="731520" y="2377440"/>
            <a:ext cx="2510714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5" name="Карточка 1 — верх"/>
          <p:cNvSpPr/>
          <p:nvPr/>
        </p:nvSpPr>
        <p:spPr>
          <a:xfrm>
            <a:off x="731520" y="2377440"/>
            <a:ext cx="251071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980944"/>
            <a:ext cx="218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Клиническая задача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328416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14B"/>
                </a:solidFill>
              </a:rPr>
              <a:t>Какая задача ведущая у этого пациента: симптомы или АД и прогноз?</a:t>
            </a:r>
            <a:endParaRPr lang="en-US" sz="1350" dirty="0"/>
          </a:p>
        </p:txBody>
      </p:sp>
      <p:sp>
        <p:nvSpPr>
          <p:cNvPr id="9" name="Карточка 2"/>
          <p:cNvSpPr/>
          <p:nvPr/>
        </p:nvSpPr>
        <p:spPr>
          <a:xfrm>
            <a:off x="3470834" y="2377440"/>
            <a:ext cx="2510714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0" name="Карточка 2 — верх"/>
          <p:cNvSpPr/>
          <p:nvPr/>
        </p:nvSpPr>
        <p:spPr>
          <a:xfrm>
            <a:off x="3470834" y="2377440"/>
            <a:ext cx="251071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72002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72002" y="2980944"/>
            <a:ext cx="218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Выбор компонентов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72002" y="3328416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14B"/>
                </a:solidFill>
              </a:rPr>
              <a:t>Обоснован ли вклад каждого препарата в эту задачу?</a:t>
            </a:r>
            <a:endParaRPr lang="en-US" sz="1350" dirty="0"/>
          </a:p>
        </p:txBody>
      </p:sp>
      <p:sp>
        <p:nvSpPr>
          <p:cNvPr id="14" name="Карточка 3"/>
          <p:cNvSpPr/>
          <p:nvPr/>
        </p:nvSpPr>
        <p:spPr>
          <a:xfrm>
            <a:off x="6210148" y="2377440"/>
            <a:ext cx="2510714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5" name="Карточка 3 — верх"/>
          <p:cNvSpPr/>
          <p:nvPr/>
        </p:nvSpPr>
        <p:spPr>
          <a:xfrm>
            <a:off x="6210148" y="2377440"/>
            <a:ext cx="251071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11316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11316" y="2980944"/>
            <a:ext cx="218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Дозы и безопасность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11316" y="3328416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14B"/>
                </a:solidFill>
              </a:rPr>
              <a:t>Соответствуют ли дозы и переносимость конкретному пациенту?</a:t>
            </a:r>
            <a:endParaRPr lang="en-US" sz="1350" dirty="0"/>
          </a:p>
        </p:txBody>
      </p:sp>
      <p:sp>
        <p:nvSpPr>
          <p:cNvPr id="19" name="Карточка 4"/>
          <p:cNvSpPr/>
          <p:nvPr/>
        </p:nvSpPr>
        <p:spPr>
          <a:xfrm>
            <a:off x="8949461" y="2377440"/>
            <a:ext cx="2510714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20" name="Карточка 4 — верх"/>
          <p:cNvSpPr/>
          <p:nvPr/>
        </p:nvSpPr>
        <p:spPr>
          <a:xfrm>
            <a:off x="8949461" y="2377440"/>
            <a:ext cx="2510714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50629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150629" y="2980944"/>
            <a:ext cx="21815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Управляемость схемы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50629" y="3328416"/>
            <a:ext cx="2144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14B"/>
                </a:solidFill>
              </a:rPr>
              <a:t>Можно ли скорректировать один препарат, не меняя остальные?</a:t>
            </a:r>
            <a:endParaRPr lang="en-US" sz="1350" dirty="0"/>
          </a:p>
        </p:txBody>
      </p:sp>
      <p:sp>
        <p:nvSpPr>
          <p:cNvPr id="24" name="Выноска"/>
          <p:cNvSpPr/>
          <p:nvPr/>
        </p:nvSpPr>
        <p:spPr>
          <a:xfrm>
            <a:off x="731520" y="4526280"/>
            <a:ext cx="10728655" cy="1143000"/>
          </a:xfrm>
          <a:prstGeom prst="rect">
            <a:avLst/>
          </a:prstGeom>
          <a:solidFill>
            <a:srgbClr val="E5EFF5"/>
          </a:solidFill>
          <a:ln/>
        </p:spPr>
      </p:sp>
      <p:sp>
        <p:nvSpPr>
          <p:cNvPr id="25" name="Выноска — полоса"/>
          <p:cNvSpPr/>
          <p:nvPr/>
        </p:nvSpPr>
        <p:spPr>
          <a:xfrm>
            <a:off x="731520" y="4526280"/>
            <a:ext cx="64008" cy="1143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4526280"/>
            <a:ext cx="102714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Рациональная фиксированная комбинация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 — не обязательно единственно возможная или доказанно лучшая, а клинически обоснованная для конкретного пациента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Рабочее определение. Согласуется с принципами EMA: сочетание и вклад каждого компонента должны быть обоснованы, а упрощения схемы самого по себе для этого недостаточно¹</a:t>
            </a:r>
            <a:endParaRPr lang="en-US" sz="1500" dirty="0"/>
          </a:p>
        </p:txBody>
      </p:sp>
      <p:sp>
        <p:nvSpPr>
          <p:cNvPr id="27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European Medicines Agency. Guideline on clinical development of fixed combination medicinal products. EMA/CHMP/158268/2017. Принято CHMP 23.03.2017, действует с 01.10.2017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БАБ + ДГП-БКК: от обоснованного выбора антиангинальных компонентов к вопросу их совместного применения</a:t>
            </a:r>
            <a:endParaRPr lang="en-US" sz="2400" dirty="0"/>
          </a:p>
        </p:txBody>
      </p:sp>
      <p:sp>
        <p:nvSpPr>
          <p:cNvPr id="3" name="Пациент"/>
          <p:cNvSpPr/>
          <p:nvPr/>
        </p:nvSpPr>
        <p:spPr>
          <a:xfrm>
            <a:off x="731520" y="1463040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32688" y="14630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Пациент: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ИБС, стабильная стенокардия напряжения, сопутствующая АГ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21396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A96"/>
                </a:solidFill>
              </a:rPr>
              <a:t>↓</a:t>
            </a:r>
            <a:endParaRPr lang="en-US" sz="1600" dirty="0"/>
          </a:p>
        </p:txBody>
      </p:sp>
      <p:sp>
        <p:nvSpPr>
          <p:cNvPr id="6" name="Индивидуальная оценка"/>
          <p:cNvSpPr/>
          <p:nvPr/>
        </p:nvSpPr>
        <p:spPr>
          <a:xfrm>
            <a:off x="731520" y="2432304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243230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Индивидуальная оценка: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симптомы, ЧСС, АД, сопутствующие заболевания, переносимость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A96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БАБ"/>
          <p:cNvSpPr txBox="1"/>
          <p:nvPr/>
        </p:nvSpPr>
        <p:spPr>
          <a:xfrm>
            <a:off x="731520" y="3401568"/>
            <a:ext cx="2583180" cy="749808"/>
          </a:xfrm>
          <a:prstGeom prst="roundRect">
            <a:avLst>
              <a:gd name="adj" fmla="val 9756"/>
            </a:avLst>
          </a:prstGeom>
          <a:solidFill>
            <a:schemeClr val="accent2"/>
          </a:solidFill>
          <a:ln/>
        </p:spPr>
        <p:txBody>
          <a:bodyPr wrap="square" lIns="177800" tIns="0" rIns="17780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БАБ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антиангинальный компонент</a:t>
            </a:r>
            <a:endParaRPr lang="en-US" sz="1800" dirty="0"/>
          </a:p>
        </p:txBody>
      </p:sp>
      <p:sp>
        <p:nvSpPr>
          <p:cNvPr id="10" name="ДГП-БКК"/>
          <p:cNvSpPr txBox="1"/>
          <p:nvPr/>
        </p:nvSpPr>
        <p:spPr>
          <a:xfrm>
            <a:off x="3726180" y="3401568"/>
            <a:ext cx="2583180" cy="749808"/>
          </a:xfrm>
          <a:prstGeom prst="roundRect">
            <a:avLst>
              <a:gd name="adj" fmla="val 9756"/>
            </a:avLst>
          </a:prstGeom>
          <a:solidFill>
            <a:schemeClr val="accent3"/>
          </a:solidFill>
          <a:ln/>
        </p:spPr>
        <p:txBody>
          <a:bodyPr wrap="square" lIns="177800" tIns="0" rIns="17780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ДГП-БКК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антиангинальный компонент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314700" y="340156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+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4169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A96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Выноска"/>
          <p:cNvSpPr/>
          <p:nvPr/>
        </p:nvSpPr>
        <p:spPr>
          <a:xfrm>
            <a:off x="731520" y="4462272"/>
            <a:ext cx="5577840" cy="475488"/>
          </a:xfrm>
          <a:prstGeom prst="rect">
            <a:avLst/>
          </a:prstGeom>
          <a:solidFill>
            <a:srgbClr val="E5EFF5"/>
          </a:solidFill>
          <a:ln/>
        </p:spPr>
      </p:sp>
      <p:sp>
        <p:nvSpPr>
          <p:cNvPr id="14" name="Выноска — полоса"/>
          <p:cNvSpPr/>
          <p:nvPr/>
        </p:nvSpPr>
        <p:spPr>
          <a:xfrm>
            <a:off x="731520" y="4462272"/>
            <a:ext cx="64008" cy="4754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462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Оба компонента выбраны, дозы подобраны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46304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ОПОРА В РЕКОМЕНДАЦИЯХ</a:t>
            </a:r>
            <a:endParaRPr lang="en-US" sz="1300" dirty="0"/>
          </a:p>
        </p:txBody>
      </p:sp>
      <p:sp>
        <p:nvSpPr>
          <p:cNvPr id="17" name="Рекомендация 1"/>
          <p:cNvSpPr/>
          <p:nvPr/>
        </p:nvSpPr>
        <p:spPr>
          <a:xfrm>
            <a:off x="6675120" y="1810512"/>
            <a:ext cx="4785055" cy="950976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0" y="1901952"/>
            <a:ext cx="441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КР МЗ РФ 2024¹ · ЕОК I C; УУР C, УДД 5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14884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Стенокардия III–IV ФК: при отсутствии противопоказаний — сразу БАБ + ДГП-БКК для достижения I ФК</a:t>
            </a:r>
            <a:endParaRPr lang="en-US" sz="1250" dirty="0"/>
          </a:p>
        </p:txBody>
      </p:sp>
      <p:sp>
        <p:nvSpPr>
          <p:cNvPr id="20" name="Рекомендация 2"/>
          <p:cNvSpPr/>
          <p:nvPr/>
        </p:nvSpPr>
        <p:spPr>
          <a:xfrm>
            <a:off x="6675120" y="2816352"/>
            <a:ext cx="4785055" cy="950976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58000" y="2907792"/>
            <a:ext cx="441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ESC 2024² · IIa B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15468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Симптомы не контролируются монотерапией БАБ или БКК: следует рассмотреть БАБ + ДГП-БКК, если нет противопоказаний</a:t>
            </a:r>
            <a:endParaRPr lang="en-US" sz="1250" dirty="0"/>
          </a:p>
        </p:txBody>
      </p:sp>
      <p:sp>
        <p:nvSpPr>
          <p:cNvPr id="23" name="Рекомендация 3"/>
          <p:cNvSpPr/>
          <p:nvPr/>
        </p:nvSpPr>
        <p:spPr>
          <a:xfrm>
            <a:off x="6675120" y="3822192"/>
            <a:ext cx="4785055" cy="950976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858000" y="3913632"/>
            <a:ext cx="441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КР МЗ РФ, АГ 2024³ · ЕОК/ЕОАГ I A; УУР А, УДД 1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1605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Пациентам с АГ и симптомами стенокардии рекомендуются ББ и/или АК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4846320"/>
            <a:ext cx="4785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F5C00"/>
                </a:solidFill>
              </a:rPr>
              <a:t>Расхождение: КР МЗ РФ — при III–IV ФК пара сразу; ESC — после неуспеха монотерапии</a:t>
            </a:r>
            <a:endParaRPr lang="en-US" sz="1050" dirty="0"/>
          </a:p>
        </p:txBody>
      </p:sp>
      <p:sp>
        <p:nvSpPr>
          <p:cNvPr id="27" name="Плашка"/>
          <p:cNvSpPr/>
          <p:nvPr/>
        </p:nvSpPr>
        <p:spPr>
          <a:xfrm>
            <a:off x="731520" y="5230368"/>
            <a:ext cx="10728655" cy="502920"/>
          </a:xfrm>
          <a:prstGeom prst="rect">
            <a:avLst/>
          </a:prstGeom>
          <a:solidFill>
            <a:srgbClr val="FDF5DC"/>
          </a:solidFill>
          <a:ln/>
        </p:spPr>
      </p:sp>
      <p:sp>
        <p:nvSpPr>
          <p:cNvPr id="28" name="Плашка — полоса"/>
          <p:cNvSpPr/>
          <p:nvPr/>
        </p:nvSpPr>
        <p:spPr>
          <a:xfrm>
            <a:off x="731520" y="5230368"/>
            <a:ext cx="64008" cy="5029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5840" y="5230368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Рекомендации обосновывают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сочетание классов и упрощение схемы (ESC, I B)²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но не выбор пары для фиксации</a:t>
            </a:r>
            <a:endParaRPr lang="en-US" sz="1400" dirty="0"/>
          </a:p>
        </p:txBody>
      </p:sp>
      <p:sp>
        <p:nvSpPr>
          <p:cNvPr id="30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БАБ, ББ — бета-адреноблокаторы; (ДГП-)БКК, АК — (дигидропиридиновые) блокаторы кальциевых каналов; ФК — функциональный класс; ЕОК — класс рекомендации ESC; УУР / УДД — уровень убедительности рекомендаций / достоверности доказательств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Барбараш О.Л. и соавт. Стабильная ишемическая болезнь сердца. Клинические рекомендации 2024. Российский кардиологический журнал. 2024;29(9):6110. doi:10.15829/1560-4071-2024-6110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2. Vrints C, et al. 2024 ESC Guidelines for the management of chronic coronary syndromes. Eur Heart J. 2024;45:3415–3537. doi:10.1093/eurheartj/ehae177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3. Кобалава Ж.Д. и соавт. Артериальная гипертензия у взрослых. Клинические рекомендации 2024. Российский кардиологический журнал. 2024;29(9):6117. doi:10.15829/1560-4071-2024-6117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Какие компоненты целесообразно объединять в фиксированную комбинацию, если ведущая задача — контроль стенокардии?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44168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Условный пациент: БАБ + ДГП-БКК — по стенокардии, блокатор РААС — для профилактики ССО¹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Вариант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916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Таблетка 1: фиксированная комбинация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691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Таблетка 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916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При коррекции блокатора РААС (K⁺, креатинин, кашель)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006840" y="1691640"/>
            <a:ext cx="2453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6"/>
                </a:solidFill>
              </a:rPr>
              <a:t>При брадикардии или отёках на амлодипине</a:t>
            </a:r>
            <a:endParaRPr lang="en-US" sz="1150" dirty="0"/>
          </a:p>
        </p:txBody>
      </p:sp>
      <p:sp>
        <p:nvSpPr>
          <p:cNvPr id="9" name="Строка А"/>
          <p:cNvSpPr/>
          <p:nvPr/>
        </p:nvSpPr>
        <p:spPr>
          <a:xfrm>
            <a:off x="731520" y="2176272"/>
            <a:ext cx="10728655" cy="621792"/>
          </a:xfrm>
          <a:prstGeom prst="rect">
            <a:avLst/>
          </a:prstGeom>
          <a:solidFill>
            <a:srgbClr val="E5EFF5"/>
          </a:solidFill>
          <a:ln/>
        </p:spPr>
      </p:sp>
      <p:sp>
        <p:nvSpPr>
          <p:cNvPr id="10" name="Строка А — полоса"/>
          <p:cNvSpPr/>
          <p:nvPr/>
        </p:nvSpPr>
        <p:spPr>
          <a:xfrm>
            <a:off x="731520" y="2176272"/>
            <a:ext cx="64008" cy="6217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17627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А</a:t>
            </a:r>
            <a:endParaRPr lang="en-US" sz="2200" dirty="0"/>
          </a:p>
        </p:txBody>
      </p:sp>
      <p:sp>
        <p:nvSpPr>
          <p:cNvPr id="12" name="Таблетка: БАБ + ДГП-БКК"/>
          <p:cNvSpPr/>
          <p:nvPr/>
        </p:nvSpPr>
        <p:spPr>
          <a:xfrm>
            <a:off x="1600200" y="2276856"/>
            <a:ext cx="1688592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13" name="Пилюля: БАБ"/>
          <p:cNvSpPr txBox="1"/>
          <p:nvPr/>
        </p:nvSpPr>
        <p:spPr>
          <a:xfrm>
            <a:off x="1655064" y="2331720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БАБ</a:t>
            </a:r>
            <a:endParaRPr lang="en-US" sz="1200" dirty="0"/>
          </a:p>
        </p:txBody>
      </p:sp>
      <p:sp>
        <p:nvSpPr>
          <p:cNvPr id="14" name="Пилюля: ДГП-БКК"/>
          <p:cNvSpPr txBox="1"/>
          <p:nvPr/>
        </p:nvSpPr>
        <p:spPr>
          <a:xfrm>
            <a:off x="2276856" y="2331720"/>
            <a:ext cx="95707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ДГП-БКК</a:t>
            </a:r>
            <a:endParaRPr lang="en-US" sz="1200" dirty="0"/>
          </a:p>
        </p:txBody>
      </p:sp>
      <p:sp>
        <p:nvSpPr>
          <p:cNvPr id="15" name="Таблетка: Блокатор РААС"/>
          <p:cNvSpPr/>
          <p:nvPr/>
        </p:nvSpPr>
        <p:spPr>
          <a:xfrm>
            <a:off x="4389120" y="2276856"/>
            <a:ext cx="1652016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16" name="Пилюля: Блокатор РААС"/>
          <p:cNvSpPr txBox="1"/>
          <p:nvPr/>
        </p:nvSpPr>
        <p:spPr>
          <a:xfrm>
            <a:off x="4443984" y="2331720"/>
            <a:ext cx="1542288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00"/>
                </a:solidFill>
              </a:rPr>
              <a:t>Блокатор РААС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7627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448"/>
                </a:solidFill>
              </a:rPr>
              <a:t>Антиангинальная таблетка не меняется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176272"/>
            <a:ext cx="2407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5C00"/>
                </a:solidFill>
              </a:rPr>
              <a:t>Меняется FDC</a:t>
            </a:r>
            <a:endParaRPr lang="en-US" sz="1250" dirty="0"/>
          </a:p>
        </p:txBody>
      </p:sp>
      <p:sp>
        <p:nvSpPr>
          <p:cNvPr id="19" name="Строка Б"/>
          <p:cNvSpPr/>
          <p:nvPr/>
        </p:nvSpPr>
        <p:spPr>
          <a:xfrm>
            <a:off x="731520" y="2889504"/>
            <a:ext cx="10728655" cy="62179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2889504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Б</a:t>
            </a:r>
            <a:endParaRPr lang="en-US" sz="2200" dirty="0"/>
          </a:p>
        </p:txBody>
      </p:sp>
      <p:sp>
        <p:nvSpPr>
          <p:cNvPr id="21" name="Таблетка: БАБ + Блокатор РААС"/>
          <p:cNvSpPr/>
          <p:nvPr/>
        </p:nvSpPr>
        <p:spPr>
          <a:xfrm>
            <a:off x="1600200" y="2990088"/>
            <a:ext cx="2273808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22" name="Пилюля: БАБ"/>
          <p:cNvSpPr txBox="1"/>
          <p:nvPr/>
        </p:nvSpPr>
        <p:spPr>
          <a:xfrm>
            <a:off x="1655064" y="30449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БАБ</a:t>
            </a:r>
            <a:endParaRPr lang="en-US" sz="1200" dirty="0"/>
          </a:p>
        </p:txBody>
      </p:sp>
      <p:sp>
        <p:nvSpPr>
          <p:cNvPr id="23" name="Пилюля: Блокатор РААС"/>
          <p:cNvSpPr txBox="1"/>
          <p:nvPr/>
        </p:nvSpPr>
        <p:spPr>
          <a:xfrm>
            <a:off x="2276856" y="3044952"/>
            <a:ext cx="1542288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00"/>
                </a:solidFill>
              </a:rPr>
              <a:t>Блокатор РААС</a:t>
            </a:r>
            <a:endParaRPr lang="en-US" sz="1200" dirty="0"/>
          </a:p>
        </p:txBody>
      </p:sp>
      <p:sp>
        <p:nvSpPr>
          <p:cNvPr id="24" name="Таблетка: ДГП-БКК"/>
          <p:cNvSpPr/>
          <p:nvPr/>
        </p:nvSpPr>
        <p:spPr>
          <a:xfrm>
            <a:off x="4389120" y="2990088"/>
            <a:ext cx="1066800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25" name="Пилюля: ДГП-БКК"/>
          <p:cNvSpPr txBox="1"/>
          <p:nvPr/>
        </p:nvSpPr>
        <p:spPr>
          <a:xfrm>
            <a:off x="4443984" y="3044952"/>
            <a:ext cx="95707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ДГП-БКК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88950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5C00"/>
                </a:solidFill>
              </a:rPr>
              <a:t>Меняется FDC: заменить монопрепаратом БАБ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2889504"/>
            <a:ext cx="2407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Брадикардия — FDC; отёки — таблетка 2</a:t>
            </a:r>
            <a:endParaRPr lang="en-US" sz="1250" dirty="0"/>
          </a:p>
        </p:txBody>
      </p:sp>
      <p:sp>
        <p:nvSpPr>
          <p:cNvPr id="28" name="Строка В"/>
          <p:cNvSpPr/>
          <p:nvPr/>
        </p:nvSpPr>
        <p:spPr>
          <a:xfrm>
            <a:off x="731520" y="3602736"/>
            <a:ext cx="10728655" cy="62179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360273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В</a:t>
            </a:r>
            <a:endParaRPr lang="en-US" sz="2200" dirty="0"/>
          </a:p>
        </p:txBody>
      </p:sp>
      <p:sp>
        <p:nvSpPr>
          <p:cNvPr id="30" name="Таблетка: ДГП-БКК + Блокатор РААС"/>
          <p:cNvSpPr/>
          <p:nvPr/>
        </p:nvSpPr>
        <p:spPr>
          <a:xfrm>
            <a:off x="1600200" y="3703320"/>
            <a:ext cx="2663952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31" name="Пилюля: ДГП-БКК"/>
          <p:cNvSpPr txBox="1"/>
          <p:nvPr/>
        </p:nvSpPr>
        <p:spPr>
          <a:xfrm>
            <a:off x="1655064" y="3758184"/>
            <a:ext cx="95707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ДГП-БКК</a:t>
            </a:r>
            <a:endParaRPr lang="en-US" sz="1200" dirty="0"/>
          </a:p>
        </p:txBody>
      </p:sp>
      <p:sp>
        <p:nvSpPr>
          <p:cNvPr id="32" name="Пилюля: Блокатор РААС"/>
          <p:cNvSpPr txBox="1"/>
          <p:nvPr/>
        </p:nvSpPr>
        <p:spPr>
          <a:xfrm>
            <a:off x="2667000" y="3758184"/>
            <a:ext cx="1542288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00"/>
                </a:solidFill>
              </a:rPr>
              <a:t>Блокатор РААС</a:t>
            </a:r>
            <a:endParaRPr lang="en-US" sz="1200" dirty="0"/>
          </a:p>
        </p:txBody>
      </p:sp>
      <p:sp>
        <p:nvSpPr>
          <p:cNvPr id="33" name="Таблетка: БАБ"/>
          <p:cNvSpPr/>
          <p:nvPr/>
        </p:nvSpPr>
        <p:spPr>
          <a:xfrm>
            <a:off x="4389120" y="3703320"/>
            <a:ext cx="676656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34" name="Пилюля: БАБ"/>
          <p:cNvSpPr txBox="1"/>
          <p:nvPr/>
        </p:nvSpPr>
        <p:spPr>
          <a:xfrm>
            <a:off x="4443984" y="3758184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БАБ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360273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5C00"/>
                </a:solidFill>
              </a:rPr>
              <a:t>Меняется FDC с ДГП-БКК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006840" y="3602736"/>
            <a:ext cx="2407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Брадикардия — таблетка 2; отёки — FDC</a:t>
            </a:r>
            <a:endParaRPr lang="en-US" sz="1250" dirty="0"/>
          </a:p>
        </p:txBody>
      </p:sp>
      <p:sp>
        <p:nvSpPr>
          <p:cNvPr id="37" name="Что назначить?"/>
          <p:cNvSpPr/>
          <p:nvPr/>
        </p:nvSpPr>
        <p:spPr>
          <a:xfrm>
            <a:off x="731520" y="4407408"/>
            <a:ext cx="5227168" cy="96012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0120" y="4407408"/>
            <a:ext cx="476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Что назначить?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chemeClr val="bg1"/>
                </a:solidFill>
              </a:rPr>
              <a:t>Выбор БАБ + ДГП-БКК для контроля стенокардии; блокатора РААС — по соответствующим показаниям</a:t>
            </a:r>
            <a:endParaRPr lang="en-US" sz="1400" dirty="0"/>
          </a:p>
        </p:txBody>
      </p:sp>
      <p:sp>
        <p:nvSpPr>
          <p:cNvPr id="39" name="Что объединить?"/>
          <p:cNvSpPr/>
          <p:nvPr/>
        </p:nvSpPr>
        <p:spPr>
          <a:xfrm>
            <a:off x="6233008" y="4407408"/>
            <a:ext cx="5227168" cy="96012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461608" y="4407408"/>
            <a:ext cx="476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Что объединить?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chemeClr val="bg1"/>
                </a:solidFill>
              </a:rPr>
              <a:t>Выбор состава фиксированной комбинации — отдельное решение, зависящее от клинической задачи</a:t>
            </a:r>
            <a:endParaRPr lang="en-US" sz="1400" dirty="0"/>
          </a:p>
        </p:txBody>
      </p:sp>
      <p:sp>
        <p:nvSpPr>
          <p:cNvPr id="41" name="Плашка"/>
          <p:cNvSpPr/>
          <p:nvPr/>
        </p:nvSpPr>
        <p:spPr>
          <a:xfrm>
            <a:off x="731520" y="5486400"/>
            <a:ext cx="10728655" cy="566928"/>
          </a:xfrm>
          <a:prstGeom prst="rect">
            <a:avLst/>
          </a:prstGeom>
          <a:solidFill>
            <a:srgbClr val="FDF5DC"/>
          </a:solidFill>
          <a:ln/>
        </p:spPr>
      </p:sp>
      <p:sp>
        <p:nvSpPr>
          <p:cNvPr id="42" name="Плашка — полоса"/>
          <p:cNvSpPr/>
          <p:nvPr/>
        </p:nvSpPr>
        <p:spPr>
          <a:xfrm>
            <a:off x="731520" y="5486400"/>
            <a:ext cx="64008" cy="56692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05840" y="548640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Назначение трёх классов не предопределяет единственно возможный способ объединения их в две таблетки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Прямых сравнительных данных о превосходстве одного способа фиксации над другим нет</a:t>
            </a:r>
            <a:endParaRPr lang="en-US" sz="1300" dirty="0"/>
          </a:p>
        </p:txBody>
      </p:sp>
      <p:sp>
        <p:nvSpPr>
          <p:cNvPr id="44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РААС — ренин-ангиотензин-альдостероновая система; ССО — сердечно-сосудистые осложнения; FDC — фиксированная комбинация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Барбараш О.Л. и соавт. Стабильная ИБС. КР 2024. РКЖ. 2024;29(9):6110 — разделы 3.1.2.1 (устранение симптомов) и 3.1.2.2 (профилактика ССО, иАПФ/БРА при АГ — ЕОК I A; УУР C, УДД 5)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Фиксация антиангинальной пары на фоне терапии блокаторами РААС: клинический опыт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44168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Скибицкий и соавт., 2015¹ · открытое РКИ · n=61 · АГ + стабильная стенокардия II–III ФК + метаболический синдром · 12 недель</a:t>
            </a:r>
            <a:endParaRPr lang="en-US" sz="1400" dirty="0"/>
          </a:p>
        </p:txBody>
      </p:sp>
      <p:sp>
        <p:nvSpPr>
          <p:cNvPr id="4" name="Скибицкий — данные"/>
          <p:cNvSpPr/>
          <p:nvPr/>
        </p:nvSpPr>
        <p:spPr>
          <a:xfrm>
            <a:off x="731520" y="1783080"/>
            <a:ext cx="635508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39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Группа 1, n=30</a:t>
            </a:r>
            <a:endParaRPr lang="en-US" sz="1350" dirty="0"/>
          </a:p>
        </p:txBody>
      </p:sp>
      <p:sp>
        <p:nvSpPr>
          <p:cNvPr id="6" name="Таблетка: бисопролол + амлодипин"/>
          <p:cNvSpPr/>
          <p:nvPr/>
        </p:nvSpPr>
        <p:spPr>
          <a:xfrm>
            <a:off x="2606040" y="1984248"/>
            <a:ext cx="2566416" cy="4206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2225">
            <a:solidFill>
              <a:srgbClr val="7F8A96"/>
            </a:solidFill>
            <a:prstDash val="solid"/>
          </a:ln>
        </p:spPr>
      </p:sp>
      <p:sp>
        <p:nvSpPr>
          <p:cNvPr id="7" name="Пилюля: бисопролол"/>
          <p:cNvSpPr txBox="1"/>
          <p:nvPr/>
        </p:nvSpPr>
        <p:spPr>
          <a:xfrm>
            <a:off x="2660904" y="2039112"/>
            <a:ext cx="12496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бисопролол</a:t>
            </a:r>
            <a:endParaRPr lang="en-US" sz="1200" dirty="0"/>
          </a:p>
        </p:txBody>
      </p:sp>
      <p:sp>
        <p:nvSpPr>
          <p:cNvPr id="8" name="Пилюля: амлодипин"/>
          <p:cNvSpPr txBox="1"/>
          <p:nvPr/>
        </p:nvSpPr>
        <p:spPr>
          <a:xfrm>
            <a:off x="3965448" y="2039112"/>
            <a:ext cx="1152144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амлодипин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263896" y="203911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</a:t>
            </a:r>
            <a:endParaRPr lang="en-US" sz="1400" dirty="0"/>
          </a:p>
        </p:txBody>
      </p:sp>
      <p:sp>
        <p:nvSpPr>
          <p:cNvPr id="10" name="Пилюля: рамиприл"/>
          <p:cNvSpPr txBox="1"/>
          <p:nvPr/>
        </p:nvSpPr>
        <p:spPr>
          <a:xfrm>
            <a:off x="5492496" y="2039112"/>
            <a:ext cx="1054608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00"/>
                </a:solidFill>
              </a:rPr>
              <a:t>рамиприл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87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Группа 2, n=31</a:t>
            </a:r>
            <a:endParaRPr lang="en-US" sz="1350" dirty="0"/>
          </a:p>
        </p:txBody>
      </p:sp>
      <p:sp>
        <p:nvSpPr>
          <p:cNvPr id="12" name="Пилюля: БАБ"/>
          <p:cNvSpPr txBox="1"/>
          <p:nvPr/>
        </p:nvSpPr>
        <p:spPr>
          <a:xfrm>
            <a:off x="2606040" y="2587752"/>
            <a:ext cx="566928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БАБ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58775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</a:t>
            </a:r>
            <a:endParaRPr lang="en-US" sz="1400" dirty="0"/>
          </a:p>
        </p:txBody>
      </p:sp>
      <p:sp>
        <p:nvSpPr>
          <p:cNvPr id="14" name="Пилюля: ДГП-БКК"/>
          <p:cNvSpPr txBox="1"/>
          <p:nvPr/>
        </p:nvSpPr>
        <p:spPr>
          <a:xfrm>
            <a:off x="3465576" y="2587752"/>
            <a:ext cx="95707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ДГП-БКК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95800" y="2587752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</a:t>
            </a:r>
            <a:endParaRPr lang="en-US" sz="1400" dirty="0"/>
          </a:p>
        </p:txBody>
      </p:sp>
      <p:sp>
        <p:nvSpPr>
          <p:cNvPr id="16" name="Пилюля: иАПФ"/>
          <p:cNvSpPr txBox="1"/>
          <p:nvPr/>
        </p:nvSpPr>
        <p:spPr>
          <a:xfrm>
            <a:off x="4715256" y="2587752"/>
            <a:ext cx="664464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00"/>
                </a:solidFill>
              </a:rPr>
              <a:t>иАПФ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9535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F5C00"/>
                </a:solidFill>
                <a:highlight>
                  <a:srgbClr val="FFE6A8"/>
                </a:highlight>
              </a:rPr>
              <a:t>молекулы в группе 2 — уточнить по полному тексту</a:t>
            </a:r>
            <a:endParaRPr lang="en-US" sz="1050" dirty="0"/>
          </a:p>
        </p:txBody>
      </p:sp>
      <p:sp>
        <p:nvSpPr>
          <p:cNvPr id="18" name="Разделитель"/>
          <p:cNvSpPr/>
          <p:nvPr/>
        </p:nvSpPr>
        <p:spPr>
          <a:xfrm>
            <a:off x="960120" y="3319272"/>
            <a:ext cx="58978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3410712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Приступы стенокардии в неделю, исходно → 12 недель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Фиксированная схема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Свободная схема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995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3,83 → 0,20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3995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7A91"/>
                </a:solidFill>
              </a:rPr>
              <a:t>4,29 → 1,03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4599432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АД через 12 недель сопоставимо: 125/79 и 127/78 мм рт. ст.</a:t>
            </a:r>
            <a:endParaRPr lang="en-US" sz="1200" dirty="0"/>
          </a:p>
        </p:txBody>
      </p:sp>
      <p:sp>
        <p:nvSpPr>
          <p:cNvPr id="25" name="Выноска"/>
          <p:cNvSpPr/>
          <p:nvPr/>
        </p:nvSpPr>
        <p:spPr>
          <a:xfrm>
            <a:off x="7315200" y="1783080"/>
            <a:ext cx="4144975" cy="1600200"/>
          </a:xfrm>
          <a:prstGeom prst="rect">
            <a:avLst/>
          </a:prstGeom>
          <a:solidFill>
            <a:srgbClr val="E5EFF5"/>
          </a:solidFill>
          <a:ln/>
        </p:spPr>
      </p:sp>
      <p:sp>
        <p:nvSpPr>
          <p:cNvPr id="26" name="Выноска — полоса"/>
          <p:cNvSpPr/>
          <p:nvPr/>
        </p:nvSpPr>
        <p:spPr>
          <a:xfrm>
            <a:off x="7315200" y="1783080"/>
            <a:ext cx="64008" cy="1600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589520" y="1783080"/>
            <a:ext cx="36877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Фиксированная комбинация бисопролола и амлодипина зарегистрирована для лечения АГ (замещение монокомпонентов в тех же дозах).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Данные получены у пациентов с АГ, стабильной стенокардией II–III ФК и метаболическим синдромом</a:t>
            </a:r>
            <a:endParaRPr lang="en-US" sz="1350" dirty="0"/>
          </a:p>
        </p:txBody>
      </p:sp>
      <p:sp>
        <p:nvSpPr>
          <p:cNvPr id="28" name="Плашка"/>
          <p:cNvSpPr/>
          <p:nvPr/>
        </p:nvSpPr>
        <p:spPr>
          <a:xfrm>
            <a:off x="7315200" y="3566160"/>
            <a:ext cx="4144975" cy="1051560"/>
          </a:xfrm>
          <a:prstGeom prst="rect">
            <a:avLst/>
          </a:prstGeom>
          <a:solidFill>
            <a:srgbClr val="FDF5DC"/>
          </a:solidFill>
          <a:ln/>
        </p:spPr>
      </p:sp>
      <p:sp>
        <p:nvSpPr>
          <p:cNvPr id="29" name="Плашка — полоса"/>
          <p:cNvSpPr/>
          <p:nvPr/>
        </p:nvSpPr>
        <p:spPr>
          <a:xfrm>
            <a:off x="7315200" y="3566160"/>
            <a:ext cx="64008" cy="10515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89520" y="3566160"/>
            <a:ext cx="3687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Сравнивались фиксированная и свободная тройка, а не способы фиксации. Межгрупповое сравнение: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highlight>
                  <a:srgbClr val="FFE6A8"/>
                </a:highlight>
              </a:rPr>
              <a:t>p — уточнить по полному тексту</a:t>
            </a:r>
            <a:endParaRPr lang="en-US" sz="1350" dirty="0"/>
          </a:p>
        </p:txBody>
      </p:sp>
      <p:sp>
        <p:nvSpPr>
          <p:cNvPr id="31" name="Вывод"/>
          <p:cNvSpPr/>
          <p:nvPr/>
        </p:nvSpPr>
        <p:spPr>
          <a:xfrm>
            <a:off x="731520" y="5193792"/>
            <a:ext cx="10728655" cy="65836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05840" y="5193792"/>
            <a:ext cx="10180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Терапия с фиксированной антиангинальной парой на фоне иАПФ сопровождалась улучшением контроля стенокардии. Способы фиксации напрямую не сравнивались</a:t>
            </a:r>
            <a:endParaRPr lang="en-US" sz="1500" dirty="0"/>
          </a:p>
        </p:txBody>
      </p:sp>
      <p:sp>
        <p:nvSpPr>
          <p:cNvPr id="33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иАПФ — ингибитор ангиотензинпревращающего фермента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1. Скибицкий В.В. и соавт. Эффективность фиксированной комбинации бисопролола и амлодипина у пациентов с артериальной гипертонией, ишемической болезнью сердца и метаболическим синдромом. Системные гипертензии. 2015;12(1):26–31. doi:10.26442/SG29086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384048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Когда фиксация двух антиангинальных компонентов является рациональным выбором?</a:t>
            </a:r>
            <a:endParaRPr lang="en-US" sz="2400" dirty="0"/>
          </a:p>
        </p:txBody>
      </p:sp>
      <p:sp>
        <p:nvSpPr>
          <p:cNvPr id="3" name="Шаг 1"/>
          <p:cNvSpPr/>
          <p:nvPr/>
        </p:nvSpPr>
        <p:spPr>
          <a:xfrm>
            <a:off x="731520" y="1417320"/>
            <a:ext cx="3240938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4" name="Шаг 1 — верх"/>
          <p:cNvSpPr/>
          <p:nvPr/>
        </p:nvSpPr>
        <p:spPr>
          <a:xfrm>
            <a:off x="731520" y="1417320"/>
            <a:ext cx="3240938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627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1168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Клиническая задача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60320"/>
            <a:ext cx="28294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У пациента с ИБС и АГ ведущей задачей является контроль симптомов стенокардии или её эквивалентов при подтверждённой ишемии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972458" y="2377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F8A96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Шаг 2"/>
          <p:cNvSpPr/>
          <p:nvPr/>
        </p:nvSpPr>
        <p:spPr>
          <a:xfrm>
            <a:off x="4475378" y="1417320"/>
            <a:ext cx="3240938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0" name="Шаг 2 — верх"/>
          <p:cNvSpPr/>
          <p:nvPr/>
        </p:nvSpPr>
        <p:spPr>
          <a:xfrm>
            <a:off x="4475378" y="1417320"/>
            <a:ext cx="3240938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3978" y="1627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03978" y="201168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Обоснованный выбор компонентов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03978" y="2560320"/>
            <a:ext cx="28294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Для контроля стенокардии уже выбраны БАБ + ДГП-БКК, дозы подобраны и соответствуют дозировкам фиксированной комбинации, переносимость подтверждена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16317" y="2377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F8A96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Шаг 3"/>
          <p:cNvSpPr/>
          <p:nvPr/>
        </p:nvSpPr>
        <p:spPr>
          <a:xfrm>
            <a:off x="8219237" y="1417320"/>
            <a:ext cx="3240938" cy="260604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16" name="Шаг 3 — верх"/>
          <p:cNvSpPr/>
          <p:nvPr/>
        </p:nvSpPr>
        <p:spPr>
          <a:xfrm>
            <a:off x="8219237" y="1417320"/>
            <a:ext cx="3240938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47837" y="1627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47837" y="201168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Рациональная организация лечения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47837" y="2560320"/>
            <a:ext cx="28294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Совместная фиксация БАБ + ДГП-БКК объединяет оба антиангинальных компонента; коррекция блокатора РААС, назначенного отдельно по показаниям, не затрагивает антиангинальную пару</a:t>
            </a:r>
            <a:endParaRPr lang="en-US" sz="1250" dirty="0"/>
          </a:p>
        </p:txBody>
      </p:sp>
      <p:sp>
        <p:nvSpPr>
          <p:cNvPr id="20" name="Положение для обсуждения"/>
          <p:cNvSpPr/>
          <p:nvPr/>
        </p:nvSpPr>
        <p:spPr>
          <a:xfrm>
            <a:off x="731520" y="4160520"/>
            <a:ext cx="10728655" cy="1115568"/>
          </a:xfrm>
          <a:prstGeom prst="roundRect">
            <a:avLst>
              <a:gd name="adj" fmla="val 9836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160520"/>
            <a:ext cx="1018001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100" kern="0" dirty="0">
                <a:solidFill>
                  <a:srgbClr val="9CC9E6"/>
                </a:solidFill>
              </a:rPr>
              <a:t>ПОЛОЖЕНИЕ ДЛЯ ОБСУЖДЕНИЯ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При уже обоснованном выборе БАБ + ДГП-БКК их совместная фиксация — один из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клинически рациональных вариантов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 организации антиангинальной терапии у пациента со стенокардией и сопутствующей АГ</a:t>
            </a:r>
            <a:endParaRPr lang="en-US" sz="1600" dirty="0"/>
          </a:p>
        </p:txBody>
      </p:sp>
      <p:sp>
        <p:nvSpPr>
          <p:cNvPr id="22" name="Не вариант А"/>
          <p:cNvSpPr/>
          <p:nvPr/>
        </p:nvSpPr>
        <p:spPr>
          <a:xfrm>
            <a:off x="731520" y="5394960"/>
            <a:ext cx="10728655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/>
          <a:effectLst>
            <a:outerShdw sx="100000" sy="100000" kx="0" ky="0" algn="bl" rotWithShape="0" blurRad="38100" dist="12700" dir="5400000">
              <a:srgbClr val="1E3246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60120" y="5394960"/>
            <a:ext cx="102714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423F"/>
                </a:solidFill>
              </a:rPr>
              <a:t>Не вариант А: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АГ без стенокардии (FDC с блокатором РААС по КР АГ) · ЧСС &lt;60 на подобранных дозах · ХСН со сниженной ФВ · отёки на амлодипине</a:t>
            </a:r>
            <a:endParaRPr lang="en-US" sz="1250" dirty="0"/>
          </a:p>
        </p:txBody>
      </p:sp>
      <p:sp>
        <p:nvSpPr>
          <p:cNvPr id="24" name="Text 1"/>
          <p:cNvSpPr/>
          <p:nvPr>
            <p:ph idx="102" type="body" hasCustomPrompt="1"/>
          </p:nvPr>
        </p:nvSpPr>
        <p:spPr>
          <a:xfrm>
            <a:off x="731520" y="5943600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Выбор индивидуален и учитывает дозы, безопасность и зарегистрированные показания. Сравнительное превосходство способов фиксации не доказано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Положение выходит за пределы зарегистрированных показаний FDC бисопролол + амлодипин (АГ, замещение монокомпонентов); материал для научной дискуссии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board FDC">
  <a:themeElements>
    <a:clrScheme name="Adboard FDC">
      <a:dk1>
        <a:srgbClr val="252A31"/>
      </a:dk1>
      <a:lt1>
        <a:srgbClr val="FFFFFF"/>
      </a:lt1>
      <a:dk2>
        <a:srgbClr val="0D5A8C"/>
      </a:dk2>
      <a:lt2>
        <a:srgbClr val="F5F7FA"/>
      </a:lt2>
      <a:accent1>
        <a:srgbClr val="0D5A8C"/>
      </a:accent1>
      <a:accent2>
        <a:srgbClr val="0B4A74"/>
      </a:accent2>
      <a:accent3>
        <a:srgbClr val="0A9FD6"/>
      </a:accent3>
      <a:accent4>
        <a:srgbClr val="F2B627"/>
      </a:accent4>
      <a:accent5>
        <a:srgbClr val="E3A91C"/>
      </a:accent5>
      <a:accent6>
        <a:srgbClr val="5B6470"/>
      </a:accent6>
      <a:hlink>
        <a:srgbClr val="0D5A8C"/>
      </a:hlink>
      <a:folHlink>
        <a:srgbClr val="5B6470"/>
      </a:folHlink>
    </a:clrScheme>
    <a:fontScheme name="Adboard FD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Адборд: фиксация антиангинальной пары — исходная дека с правками</dc:title>
  <dc:subject>PptxGenJS Presentation</dc:subject>
  <dc:creator>Merck Medical Affairs (черновик)</dc:creator>
  <cp:lastModifiedBy>Merck Medical Affairs (черновик)</cp:lastModifiedBy>
  <cp:revision>1</cp:revision>
  <dcterms:created xsi:type="dcterms:W3CDTF">2026-10-20T08:22:50Z</dcterms:created>
  <dcterms:modified xsi:type="dcterms:W3CDTF">2026-10-20T08:22:50Z</dcterms:modified>
</cp:coreProperties>
</file>